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756" r:id="rId1"/>
    <p:sldMasterId id="2147483822" r:id="rId2"/>
  </p:sldMasterIdLst>
  <p:notesMasterIdLst>
    <p:notesMasterId r:id="rId48"/>
  </p:notesMasterIdLst>
  <p:handoutMasterIdLst>
    <p:handoutMasterId r:id="rId49"/>
  </p:handoutMasterIdLst>
  <p:sldIdLst>
    <p:sldId id="382" r:id="rId3"/>
    <p:sldId id="701" r:id="rId4"/>
    <p:sldId id="481" r:id="rId5"/>
    <p:sldId id="708" r:id="rId6"/>
    <p:sldId id="702" r:id="rId7"/>
    <p:sldId id="709" r:id="rId8"/>
    <p:sldId id="710" r:id="rId9"/>
    <p:sldId id="711" r:id="rId10"/>
    <p:sldId id="712" r:id="rId11"/>
    <p:sldId id="713" r:id="rId12"/>
    <p:sldId id="714" r:id="rId13"/>
    <p:sldId id="715" r:id="rId14"/>
    <p:sldId id="716" r:id="rId15"/>
    <p:sldId id="717" r:id="rId16"/>
    <p:sldId id="718" r:id="rId17"/>
    <p:sldId id="719" r:id="rId18"/>
    <p:sldId id="720" r:id="rId19"/>
    <p:sldId id="721" r:id="rId20"/>
    <p:sldId id="722" r:id="rId21"/>
    <p:sldId id="723" r:id="rId22"/>
    <p:sldId id="724" r:id="rId23"/>
    <p:sldId id="725" r:id="rId24"/>
    <p:sldId id="726" r:id="rId25"/>
    <p:sldId id="727" r:id="rId26"/>
    <p:sldId id="728" r:id="rId27"/>
    <p:sldId id="729" r:id="rId28"/>
    <p:sldId id="730" r:id="rId29"/>
    <p:sldId id="731" r:id="rId30"/>
    <p:sldId id="732" r:id="rId31"/>
    <p:sldId id="745" r:id="rId32"/>
    <p:sldId id="746" r:id="rId33"/>
    <p:sldId id="747" r:id="rId34"/>
    <p:sldId id="733" r:id="rId35"/>
    <p:sldId id="734" r:id="rId36"/>
    <p:sldId id="736" r:id="rId37"/>
    <p:sldId id="737" r:id="rId38"/>
    <p:sldId id="735" r:id="rId39"/>
    <p:sldId id="738" r:id="rId40"/>
    <p:sldId id="739" r:id="rId41"/>
    <p:sldId id="740" r:id="rId42"/>
    <p:sldId id="741" r:id="rId43"/>
    <p:sldId id="742" r:id="rId44"/>
    <p:sldId id="743" r:id="rId45"/>
    <p:sldId id="744" r:id="rId46"/>
    <p:sldId id="684" r:id="rId47"/>
  </p:sldIdLst>
  <p:sldSz cx="9144000" cy="6858000" type="screen4x3"/>
  <p:notesSz cx="6807200" cy="9939338"/>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A693FF76-3DA0-4C54-B69D-2A34510122B9}">
          <p14:sldIdLst>
            <p14:sldId id="382"/>
            <p14:sldId id="701"/>
            <p14:sldId id="481"/>
            <p14:sldId id="708"/>
            <p14:sldId id="702"/>
            <p14:sldId id="709"/>
            <p14:sldId id="710"/>
            <p14:sldId id="711"/>
            <p14:sldId id="712"/>
            <p14:sldId id="713"/>
            <p14:sldId id="714"/>
            <p14:sldId id="715"/>
            <p14:sldId id="716"/>
            <p14:sldId id="717"/>
            <p14:sldId id="718"/>
            <p14:sldId id="719"/>
            <p14:sldId id="720"/>
            <p14:sldId id="721"/>
            <p14:sldId id="722"/>
            <p14:sldId id="723"/>
            <p14:sldId id="724"/>
            <p14:sldId id="725"/>
            <p14:sldId id="726"/>
            <p14:sldId id="727"/>
            <p14:sldId id="728"/>
            <p14:sldId id="729"/>
            <p14:sldId id="730"/>
            <p14:sldId id="731"/>
            <p14:sldId id="732"/>
            <p14:sldId id="745"/>
            <p14:sldId id="746"/>
            <p14:sldId id="747"/>
            <p14:sldId id="733"/>
            <p14:sldId id="734"/>
            <p14:sldId id="736"/>
            <p14:sldId id="737"/>
            <p14:sldId id="735"/>
            <p14:sldId id="738"/>
            <p14:sldId id="739"/>
            <p14:sldId id="740"/>
            <p14:sldId id="741"/>
            <p14:sldId id="742"/>
            <p14:sldId id="743"/>
            <p14:sldId id="744"/>
          </p14:sldIdLst>
        </p14:section>
        <p14:section name="未命名的章節" id="{7057124F-C2FB-410C-9DAE-0C6B9C7DD835}">
          <p14:sldIdLst>
            <p14:sldId id="68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30">
          <p15:clr>
            <a:srgbClr val="A4A3A4"/>
          </p15:clr>
        </p15:guide>
        <p15:guide id="2" pos="214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0000"/>
    <a:srgbClr val="0066FF"/>
    <a:srgbClr val="0000FF"/>
    <a:srgbClr val="3399FF"/>
    <a:srgbClr val="6699FF"/>
    <a:srgbClr val="99CCFF"/>
    <a:srgbClr val="66CCFF"/>
  </p:clrMru>
  <p:extLst>
    <p:ext uri="{E76CE94A-603C-4142-B9EB-6D1370010A27}">
      <p14:discardImageEditData xmlns:p14="http://schemas.microsoft.com/office/powerpoint/2010/main" val="1"/>
    </p:ext>
    <p:ext uri="{D31A062A-798A-4329-ABDD-BBA856620510}">
      <p14:defaultImageDpi xmlns:p14="http://schemas.microsoft.com/office/powerpoint/2010/main" val="96"/>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等深淺樣式 1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D03447BB-5D67-496B-8E87-E561075AD55C}" styleName="深色樣式 1 - 輔色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505E3EF-67EA-436B-97B2-0124C06EBD24}" styleName="中等深淺樣式 4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中等深淺樣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799B23B-EC83-4686-B30A-512413B5E67A}" styleName="淺色樣式 3 - 輔色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90" autoAdjust="0"/>
    <p:restoredTop sz="94372" autoAdjust="0"/>
  </p:normalViewPr>
  <p:slideViewPr>
    <p:cSldViewPr>
      <p:cViewPr varScale="1">
        <p:scale>
          <a:sx n="101" d="100"/>
          <a:sy n="101" d="100"/>
        </p:scale>
        <p:origin x="1878" y="96"/>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6322"/>
    </p:cViewPr>
  </p:sorterViewPr>
  <p:notesViewPr>
    <p:cSldViewPr>
      <p:cViewPr varScale="1">
        <p:scale>
          <a:sx n="80" d="100"/>
          <a:sy n="80" d="100"/>
        </p:scale>
        <p:origin x="-3996" y="-96"/>
      </p:cViewPr>
      <p:guideLst>
        <p:guide orient="horz" pos="3130"/>
        <p:guide pos="214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9575" cy="4968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56038" y="0"/>
            <a:ext cx="2949575" cy="496888"/>
          </a:xfrm>
          <a:prstGeom prst="rect">
            <a:avLst/>
          </a:prstGeom>
        </p:spPr>
        <p:txBody>
          <a:bodyPr vert="horz" lIns="91440" tIns="45720" rIns="91440" bIns="45720" rtlCol="0"/>
          <a:lstStyle>
            <a:lvl1pPr algn="r">
              <a:defRPr sz="1200"/>
            </a:lvl1pPr>
          </a:lstStyle>
          <a:p>
            <a:fld id="{C55A9855-3F96-4576-AAE2-F318826004DF}" type="datetimeFigureOut">
              <a:rPr lang="zh-TW" altLang="en-US" smtClean="0"/>
              <a:t>2026/9/27</a:t>
            </a:fld>
            <a:endParaRPr lang="zh-TW" altLang="en-US"/>
          </a:p>
        </p:txBody>
      </p:sp>
      <p:sp>
        <p:nvSpPr>
          <p:cNvPr id="4" name="頁尾版面配置區 3"/>
          <p:cNvSpPr>
            <a:spLocks noGrp="1"/>
          </p:cNvSpPr>
          <p:nvPr>
            <p:ph type="ftr" sz="quarter" idx="2"/>
          </p:nvPr>
        </p:nvSpPr>
        <p:spPr>
          <a:xfrm>
            <a:off x="0" y="9440863"/>
            <a:ext cx="2949575" cy="4968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56038" y="9440863"/>
            <a:ext cx="2949575" cy="496887"/>
          </a:xfrm>
          <a:prstGeom prst="rect">
            <a:avLst/>
          </a:prstGeom>
        </p:spPr>
        <p:txBody>
          <a:bodyPr vert="horz" lIns="91440" tIns="45720" rIns="91440" bIns="45720" rtlCol="0" anchor="b"/>
          <a:lstStyle>
            <a:lvl1pPr algn="r">
              <a:defRPr sz="1200"/>
            </a:lvl1pPr>
          </a:lstStyle>
          <a:p>
            <a:fld id="{DF22D098-3D61-4D79-B034-817F8A064088}" type="slidenum">
              <a:rPr lang="zh-TW" altLang="en-US" smtClean="0"/>
              <a:t>‹#›</a:t>
            </a:fld>
            <a:endParaRPr lang="zh-TW" altLang="en-US"/>
          </a:p>
        </p:txBody>
      </p:sp>
    </p:spTree>
    <p:extLst>
      <p:ext uri="{BB962C8B-B14F-4D97-AF65-F5344CB8AC3E}">
        <p14:creationId xmlns:p14="http://schemas.microsoft.com/office/powerpoint/2010/main" val="6306138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3" y="2"/>
            <a:ext cx="2949786" cy="496967"/>
          </a:xfrm>
          <a:prstGeom prst="rect">
            <a:avLst/>
          </a:prstGeom>
        </p:spPr>
        <p:txBody>
          <a:bodyPr vert="horz" lIns="91532" tIns="45765" rIns="91532" bIns="45765" rtlCol="0"/>
          <a:lstStyle>
            <a:lvl1pPr algn="l">
              <a:defRPr sz="1200"/>
            </a:lvl1pPr>
          </a:lstStyle>
          <a:p>
            <a:endParaRPr lang="zh-TW" altLang="en-US"/>
          </a:p>
        </p:txBody>
      </p:sp>
      <p:sp>
        <p:nvSpPr>
          <p:cNvPr id="3" name="日期版面配置區 2"/>
          <p:cNvSpPr>
            <a:spLocks noGrp="1"/>
          </p:cNvSpPr>
          <p:nvPr>
            <p:ph type="dt" idx="1"/>
          </p:nvPr>
        </p:nvSpPr>
        <p:spPr>
          <a:xfrm>
            <a:off x="3855839" y="2"/>
            <a:ext cx="2949786" cy="496967"/>
          </a:xfrm>
          <a:prstGeom prst="rect">
            <a:avLst/>
          </a:prstGeom>
        </p:spPr>
        <p:txBody>
          <a:bodyPr vert="horz" lIns="91532" tIns="45765" rIns="91532" bIns="45765" rtlCol="0"/>
          <a:lstStyle>
            <a:lvl1pPr algn="r">
              <a:defRPr sz="1200"/>
            </a:lvl1pPr>
          </a:lstStyle>
          <a:p>
            <a:fld id="{B38FD96E-D0D4-4DF9-AEB8-F08767C1DA62}" type="datetimeFigureOut">
              <a:rPr lang="zh-TW" altLang="en-US" smtClean="0"/>
              <a:pPr/>
              <a:t>2026/9/27</a:t>
            </a:fld>
            <a:endParaRPr lang="zh-TW" altLang="en-US"/>
          </a:p>
        </p:txBody>
      </p:sp>
      <p:sp>
        <p:nvSpPr>
          <p:cNvPr id="4" name="投影片圖像版面配置區 3"/>
          <p:cNvSpPr>
            <a:spLocks noGrp="1" noRot="1" noChangeAspect="1"/>
          </p:cNvSpPr>
          <p:nvPr>
            <p:ph type="sldImg" idx="2"/>
          </p:nvPr>
        </p:nvSpPr>
        <p:spPr>
          <a:xfrm>
            <a:off x="919163" y="746125"/>
            <a:ext cx="4968875" cy="3725863"/>
          </a:xfrm>
          <a:prstGeom prst="rect">
            <a:avLst/>
          </a:prstGeom>
          <a:noFill/>
          <a:ln w="12700">
            <a:solidFill>
              <a:prstClr val="black"/>
            </a:solidFill>
          </a:ln>
        </p:spPr>
        <p:txBody>
          <a:bodyPr vert="horz" lIns="91532" tIns="45765" rIns="91532" bIns="45765" rtlCol="0" anchor="ctr"/>
          <a:lstStyle/>
          <a:p>
            <a:endParaRPr lang="zh-TW" altLang="en-US"/>
          </a:p>
        </p:txBody>
      </p:sp>
      <p:sp>
        <p:nvSpPr>
          <p:cNvPr id="5" name="備忘稿版面配置區 4"/>
          <p:cNvSpPr>
            <a:spLocks noGrp="1"/>
          </p:cNvSpPr>
          <p:nvPr>
            <p:ph type="body" sz="quarter" idx="3"/>
          </p:nvPr>
        </p:nvSpPr>
        <p:spPr>
          <a:xfrm>
            <a:off x="680721" y="4721186"/>
            <a:ext cx="5445760" cy="4472702"/>
          </a:xfrm>
          <a:prstGeom prst="rect">
            <a:avLst/>
          </a:prstGeom>
        </p:spPr>
        <p:txBody>
          <a:bodyPr vert="horz" lIns="91532" tIns="45765" rIns="91532" bIns="45765"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3" y="9440649"/>
            <a:ext cx="2949786" cy="496967"/>
          </a:xfrm>
          <a:prstGeom prst="rect">
            <a:avLst/>
          </a:prstGeom>
        </p:spPr>
        <p:txBody>
          <a:bodyPr vert="horz" lIns="91532" tIns="45765" rIns="91532" bIns="45765"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5839" y="9440649"/>
            <a:ext cx="2949786" cy="496967"/>
          </a:xfrm>
          <a:prstGeom prst="rect">
            <a:avLst/>
          </a:prstGeom>
        </p:spPr>
        <p:txBody>
          <a:bodyPr vert="horz" lIns="91532" tIns="45765" rIns="91532" bIns="45765" rtlCol="0" anchor="b"/>
          <a:lstStyle>
            <a:lvl1pPr algn="r">
              <a:defRPr sz="1200"/>
            </a:lvl1pPr>
          </a:lstStyle>
          <a:p>
            <a:fld id="{E6E6162F-E6B6-4E89-9406-F1B14BCAC847}" type="slidenum">
              <a:rPr lang="zh-TW" altLang="en-US" smtClean="0"/>
              <a:pPr/>
              <a:t>‹#›</a:t>
            </a:fld>
            <a:endParaRPr lang="zh-TW" altLang="en-US"/>
          </a:p>
        </p:txBody>
      </p:sp>
    </p:spTree>
    <p:extLst>
      <p:ext uri="{BB962C8B-B14F-4D97-AF65-F5344CB8AC3E}">
        <p14:creationId xmlns:p14="http://schemas.microsoft.com/office/powerpoint/2010/main" val="241314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E6E6162F-E6B6-4E89-9406-F1B14BCAC847}" type="slidenum">
              <a:rPr lang="zh-TW" altLang="en-US" smtClean="0">
                <a:solidFill>
                  <a:prstClr val="black"/>
                </a:solidFill>
              </a:rPr>
              <a:pPr/>
              <a:t>0</a:t>
            </a:fld>
            <a:endParaRPr lang="zh-TW" altLang="en-US">
              <a:solidFill>
                <a:prstClr val="black"/>
              </a:solidFill>
            </a:endParaRPr>
          </a:p>
        </p:txBody>
      </p:sp>
    </p:spTree>
    <p:extLst>
      <p:ext uri="{BB962C8B-B14F-4D97-AF65-F5344CB8AC3E}">
        <p14:creationId xmlns:p14="http://schemas.microsoft.com/office/powerpoint/2010/main" val="2512093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solidFill>
                  <a:prstClr val="black"/>
                </a:solidFill>
              </a:rPr>
              <a:pPr/>
              <a:t>1</a:t>
            </a:fld>
            <a:endParaRPr lang="zh-TW" altLang="en-US">
              <a:solidFill>
                <a:prstClr val="black"/>
              </a:solidFill>
            </a:endParaRPr>
          </a:p>
        </p:txBody>
      </p:sp>
    </p:spTree>
    <p:extLst>
      <p:ext uri="{BB962C8B-B14F-4D97-AF65-F5344CB8AC3E}">
        <p14:creationId xmlns:p14="http://schemas.microsoft.com/office/powerpoint/2010/main" val="2686899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solidFill>
                  <a:prstClr val="black"/>
                </a:solidFill>
              </a:rPr>
              <a:pPr/>
              <a:t>2</a:t>
            </a:fld>
            <a:endParaRPr lang="zh-TW" altLang="en-US">
              <a:solidFill>
                <a:prstClr val="black"/>
              </a:solidFill>
            </a:endParaRPr>
          </a:p>
        </p:txBody>
      </p:sp>
    </p:spTree>
    <p:extLst>
      <p:ext uri="{BB962C8B-B14F-4D97-AF65-F5344CB8AC3E}">
        <p14:creationId xmlns:p14="http://schemas.microsoft.com/office/powerpoint/2010/main" val="16382033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solidFill>
                  <a:prstClr val="black"/>
                </a:solidFill>
              </a:rPr>
              <a:pPr/>
              <a:t>7</a:t>
            </a:fld>
            <a:endParaRPr lang="zh-TW" altLang="en-US">
              <a:solidFill>
                <a:prstClr val="black"/>
              </a:solidFill>
            </a:endParaRPr>
          </a:p>
        </p:txBody>
      </p:sp>
    </p:spTree>
    <p:extLst>
      <p:ext uri="{BB962C8B-B14F-4D97-AF65-F5344CB8AC3E}">
        <p14:creationId xmlns:p14="http://schemas.microsoft.com/office/powerpoint/2010/main" val="16330498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solidFill>
                  <a:prstClr val="black"/>
                </a:solidFill>
              </a:rPr>
              <a:pPr/>
              <a:t>16</a:t>
            </a:fld>
            <a:endParaRPr lang="zh-TW" altLang="en-US">
              <a:solidFill>
                <a:prstClr val="black"/>
              </a:solidFill>
            </a:endParaRPr>
          </a:p>
        </p:txBody>
      </p:sp>
    </p:spTree>
    <p:extLst>
      <p:ext uri="{BB962C8B-B14F-4D97-AF65-F5344CB8AC3E}">
        <p14:creationId xmlns:p14="http://schemas.microsoft.com/office/powerpoint/2010/main" val="19088929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solidFill>
                  <a:prstClr val="black"/>
                </a:solidFill>
              </a:rPr>
              <a:pPr/>
              <a:t>19</a:t>
            </a:fld>
            <a:endParaRPr lang="zh-TW" altLang="en-US">
              <a:solidFill>
                <a:prstClr val="black"/>
              </a:solidFill>
            </a:endParaRPr>
          </a:p>
        </p:txBody>
      </p:sp>
    </p:spTree>
    <p:extLst>
      <p:ext uri="{BB962C8B-B14F-4D97-AF65-F5344CB8AC3E}">
        <p14:creationId xmlns:p14="http://schemas.microsoft.com/office/powerpoint/2010/main" val="3353820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solidFill>
                  <a:prstClr val="black"/>
                </a:solidFill>
              </a:rPr>
              <a:pPr/>
              <a:t>32</a:t>
            </a:fld>
            <a:endParaRPr lang="zh-TW" altLang="en-US">
              <a:solidFill>
                <a:prstClr val="black"/>
              </a:solidFill>
            </a:endParaRPr>
          </a:p>
        </p:txBody>
      </p:sp>
    </p:spTree>
    <p:extLst>
      <p:ext uri="{BB962C8B-B14F-4D97-AF65-F5344CB8AC3E}">
        <p14:creationId xmlns:p14="http://schemas.microsoft.com/office/powerpoint/2010/main" val="3353820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solidFill>
                  <a:prstClr val="black"/>
                </a:solidFill>
              </a:rPr>
              <a:pPr/>
              <a:t>38</a:t>
            </a:fld>
            <a:endParaRPr lang="zh-TW" altLang="en-US">
              <a:solidFill>
                <a:prstClr val="black"/>
              </a:solidFill>
            </a:endParaRPr>
          </a:p>
        </p:txBody>
      </p:sp>
    </p:spTree>
    <p:extLst>
      <p:ext uri="{BB962C8B-B14F-4D97-AF65-F5344CB8AC3E}">
        <p14:creationId xmlns:p14="http://schemas.microsoft.com/office/powerpoint/2010/main" val="17118442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solidFill>
                  <a:prstClr val="black"/>
                </a:solidFill>
              </a:rPr>
              <a:pPr/>
              <a:t>41</a:t>
            </a:fld>
            <a:endParaRPr lang="zh-TW" altLang="en-US">
              <a:solidFill>
                <a:prstClr val="black"/>
              </a:solidFill>
            </a:endParaRPr>
          </a:p>
        </p:txBody>
      </p:sp>
    </p:spTree>
    <p:extLst>
      <p:ext uri="{BB962C8B-B14F-4D97-AF65-F5344CB8AC3E}">
        <p14:creationId xmlns:p14="http://schemas.microsoft.com/office/powerpoint/2010/main" val="17118442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24FD4C76-6549-4A04-AF33-74F6F7A9492D}" type="slidenum">
              <a:rPr lang="zh-TW" altLang="en-US" smtClean="0">
                <a:solidFill>
                  <a:prstClr val="black"/>
                </a:solidFill>
              </a:rPr>
              <a:pPr/>
              <a:t>44</a:t>
            </a:fld>
            <a:endParaRPr lang="zh-TW" altLang="en-US">
              <a:solidFill>
                <a:prstClr val="black"/>
              </a:solidFill>
            </a:endParaRPr>
          </a:p>
        </p:txBody>
      </p:sp>
    </p:spTree>
    <p:extLst>
      <p:ext uri="{BB962C8B-B14F-4D97-AF65-F5344CB8AC3E}">
        <p14:creationId xmlns:p14="http://schemas.microsoft.com/office/powerpoint/2010/main" val="6029033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bg>
      <p:bgRef idx="1001">
        <a:schemeClr val="bg1"/>
      </p:bgRef>
    </p:bg>
    <p:spTree>
      <p:nvGrpSpPr>
        <p:cNvPr id="1" name=""/>
        <p:cNvGrpSpPr/>
        <p:nvPr/>
      </p:nvGrpSpPr>
      <p:grpSpPr>
        <a:xfrm>
          <a:off x="0" y="0"/>
          <a:ext cx="0" cy="0"/>
          <a:chOff x="0" y="0"/>
          <a:chExt cx="0" cy="0"/>
        </a:xfrm>
      </p:grpSpPr>
      <p:pic>
        <p:nvPicPr>
          <p:cNvPr id="5" name="圖片 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76798" y="1340768"/>
            <a:ext cx="2965130" cy="3038799"/>
          </a:xfrm>
          <a:prstGeom prst="rect">
            <a:avLst/>
          </a:prstGeom>
        </p:spPr>
      </p:pic>
      <p:sp>
        <p:nvSpPr>
          <p:cNvPr id="2" name="標題 1"/>
          <p:cNvSpPr>
            <a:spLocks noGrp="1"/>
          </p:cNvSpPr>
          <p:nvPr>
            <p:ph type="ctrTitle"/>
          </p:nvPr>
        </p:nvSpPr>
        <p:spPr>
          <a:xfrm>
            <a:off x="823156" y="1715541"/>
            <a:ext cx="7772400" cy="1761027"/>
          </a:xfrm>
          <a:prstGeom prst="rect">
            <a:avLst/>
          </a:prstGeom>
        </p:spPr>
        <p:txBody>
          <a:bodyPr/>
          <a:lstStyle>
            <a:lvl1pPr>
              <a:defRPr>
                <a:solidFill>
                  <a:srgbClr val="6699FF"/>
                </a:solidFill>
                <a:latin typeface="Adobe 繁黑體 Std B"/>
                <a:ea typeface="Adobe 繁黑體 Std B"/>
                <a:cs typeface="Adobe 繁黑體 Std B"/>
              </a:defRPr>
            </a:lvl1pPr>
          </a:lstStyle>
          <a:p>
            <a:r>
              <a:rPr lang="zh-TW" altLang="en-US"/>
              <a:t>按一下以編輯母片標題樣式</a:t>
            </a:r>
            <a:endParaRPr lang="zh-TW" altLang="en-US" dirty="0"/>
          </a:p>
        </p:txBody>
      </p:sp>
      <p:sp>
        <p:nvSpPr>
          <p:cNvPr id="3" name="副標題 2"/>
          <p:cNvSpPr>
            <a:spLocks noGrp="1"/>
          </p:cNvSpPr>
          <p:nvPr>
            <p:ph type="subTitle" idx="1"/>
          </p:nvPr>
        </p:nvSpPr>
        <p:spPr>
          <a:xfrm>
            <a:off x="1403648" y="3717032"/>
            <a:ext cx="6400800" cy="1176536"/>
          </a:xfrm>
        </p:spPr>
        <p:txBody>
          <a:bodyPr/>
          <a:lstStyle>
            <a:lvl1pPr marL="0" indent="0" algn="ctr">
              <a:buNone/>
              <a:defRPr>
                <a:solidFill>
                  <a:srgbClr val="6699FF"/>
                </a:solidFill>
                <a:latin typeface="Adobe 繁黑體 Std B"/>
                <a:ea typeface="Adobe 繁黑體 Std B"/>
                <a:cs typeface="Adobe 繁黑體 Std B"/>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endParaRPr lang="zh-TW" altLang="en-US" dirty="0"/>
          </a:p>
        </p:txBody>
      </p:sp>
      <p:pic>
        <p:nvPicPr>
          <p:cNvPr id="10" name="圖片 9" descr="C:\Users\00531\Desktop\本局母片\局徽\TIPO字版-1.jpg"/>
          <p:cNvPicPr/>
          <p:nvPr/>
        </p:nvPicPr>
        <p:blipFill>
          <a:blip r:embed="rId3" cstate="email">
            <a:clrChange>
              <a:clrFrom>
                <a:srgbClr val="FFFFFE"/>
              </a:clrFrom>
              <a:clrTo>
                <a:srgbClr val="FFFFFE">
                  <a:alpha val="0"/>
                </a:srgbClr>
              </a:clrTo>
            </a:clrChange>
            <a:extLst>
              <a:ext uri="{28A0092B-C50C-407E-A947-70E740481C1C}">
                <a14:useLocalDpi xmlns:a14="http://schemas.microsoft.com/office/drawing/2010/main"/>
              </a:ext>
            </a:extLst>
          </a:blip>
          <a:srcRect/>
          <a:stretch>
            <a:fillRect/>
          </a:stretch>
        </p:blipFill>
        <p:spPr bwMode="auto">
          <a:xfrm>
            <a:off x="2051720" y="2636912"/>
            <a:ext cx="2448272" cy="1584176"/>
          </a:xfrm>
          <a:prstGeom prst="rect">
            <a:avLst/>
          </a:prstGeom>
          <a:noFill/>
          <a:ln>
            <a:noFill/>
          </a:ln>
        </p:spPr>
      </p:pic>
      <p:pic>
        <p:nvPicPr>
          <p:cNvPr id="7" name="圖片 6"/>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31640" y="4462180"/>
            <a:ext cx="6836421" cy="60853"/>
          </a:xfrm>
          <a:prstGeom prst="rect">
            <a:avLst/>
          </a:prstGeom>
        </p:spPr>
      </p:pic>
      <p:pic>
        <p:nvPicPr>
          <p:cNvPr id="8" name="圖片 7"/>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rot="10800000">
            <a:off x="1835697" y="4614580"/>
            <a:ext cx="6836421" cy="60853"/>
          </a:xfrm>
          <a:prstGeom prst="rect">
            <a:avLst/>
          </a:prstGeom>
        </p:spPr>
      </p:pic>
    </p:spTree>
    <p:extLst>
      <p:ext uri="{BB962C8B-B14F-4D97-AF65-F5344CB8AC3E}">
        <p14:creationId xmlns:p14="http://schemas.microsoft.com/office/powerpoint/2010/main" val="403748506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自訂版面配置">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42C442D8-9C80-47F7-991A-AE2212DADCA5}" type="datetime1">
              <a:rPr lang="zh-TW" altLang="en-US" smtClean="0"/>
              <a:t>2026/9/27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1709508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D974B04D-3439-4155-A703-E234727B63F5}" type="datetime1">
              <a:rPr lang="zh-TW" altLang="en-US" smtClean="0"/>
              <a:t>2026/9/27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2077530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539552" y="2954"/>
            <a:ext cx="8229600" cy="761750"/>
          </a:xfrm>
          <a:prstGeom prst="rect">
            <a:avLst/>
          </a:prstGeom>
        </p:spPr>
        <p:txBody>
          <a:bodyPr/>
          <a:lstStyle>
            <a:lvl1pPr>
              <a:defRPr sz="3600">
                <a:latin typeface="微軟正黑體" panose="020B0604030504040204" pitchFamily="34" charset="-120"/>
                <a:ea typeface="微軟正黑體" panose="020B0604030504040204" pitchFamily="34" charset="-120"/>
              </a:defRPr>
            </a:lvl1pPr>
          </a:lstStyle>
          <a:p>
            <a:r>
              <a:rPr lang="zh-TW" altLang="en-US"/>
              <a:t>按一下以編輯母片標題樣式</a:t>
            </a:r>
            <a:endParaRPr lang="zh-TW" altLang="en-US" dirty="0"/>
          </a:p>
        </p:txBody>
      </p:sp>
      <p:sp>
        <p:nvSpPr>
          <p:cNvPr id="3" name="內容版面配置區 2"/>
          <p:cNvSpPr>
            <a:spLocks noGrp="1"/>
          </p:cNvSpPr>
          <p:nvPr>
            <p:ph idx="1"/>
          </p:nvPr>
        </p:nvSpPr>
        <p:spPr>
          <a:xfrm>
            <a:off x="457200" y="980728"/>
            <a:ext cx="8229600" cy="5328592"/>
          </a:xfrm>
        </p:spPr>
        <p:txBody>
          <a:bodyPr/>
          <a:lstStyle>
            <a:lvl1pPr>
              <a:defRPr>
                <a:solidFill>
                  <a:schemeClr val="tx1"/>
                </a:solidFill>
                <a:latin typeface="微軟正黑體" panose="020B0604030504040204" pitchFamily="34" charset="-120"/>
                <a:ea typeface="微軟正黑體" panose="020B0604030504040204" pitchFamily="34" charset="-120"/>
              </a:defRPr>
            </a:lvl1pPr>
            <a:lvl2pPr>
              <a:defRPr>
                <a:solidFill>
                  <a:schemeClr val="tx1"/>
                </a:solidFill>
                <a:latin typeface="微軟正黑體" panose="020B0604030504040204" pitchFamily="34" charset="-120"/>
                <a:ea typeface="微軟正黑體" panose="020B0604030504040204" pitchFamily="34" charset="-120"/>
              </a:defRPr>
            </a:lvl2pPr>
            <a:lvl3pPr>
              <a:defRPr>
                <a:solidFill>
                  <a:schemeClr val="tx1"/>
                </a:solidFill>
                <a:latin typeface="微軟正黑體" panose="020B0604030504040204" pitchFamily="34" charset="-120"/>
                <a:ea typeface="微軟正黑體" panose="020B0604030504040204" pitchFamily="34" charset="-120"/>
              </a:defRPr>
            </a:lvl3pPr>
            <a:lvl4pPr>
              <a:defRPr>
                <a:solidFill>
                  <a:schemeClr val="tx1"/>
                </a:solidFill>
                <a:latin typeface="微軟正黑體" panose="020B0604030504040204" pitchFamily="34" charset="-120"/>
                <a:ea typeface="微軟正黑體" panose="020B0604030504040204" pitchFamily="34" charset="-120"/>
              </a:defRPr>
            </a:lvl4pPr>
            <a:lvl5pPr>
              <a:defRPr>
                <a:solidFill>
                  <a:schemeClr val="tx1"/>
                </a:solidFill>
                <a:latin typeface="微軟正黑體" panose="020B0604030504040204" pitchFamily="34" charset="-120"/>
                <a:ea typeface="微軟正黑體" panose="020B0604030504040204" pitchFamily="34" charset="-120"/>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716E6385-44E4-4C40-81A0-E5CA0A057240}" type="datetime1">
              <a:rPr lang="zh-TW" altLang="en-US" smtClean="0"/>
              <a:t>2026/9/27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399844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BF7B9A50-0BC0-438D-A316-B9E866D145E2}" type="datetime1">
              <a:rPr lang="zh-TW" altLang="en-US" smtClean="0"/>
              <a:t>2026/9/27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5864286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611560" y="0"/>
            <a:ext cx="8229600" cy="1143000"/>
          </a:xfrm>
          <a:prstGeom prst="rect">
            <a:avLst/>
          </a:prstGeom>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53BA2EFE-9673-4B8D-8AAB-FFE12DB95A02}" type="datetime1">
              <a:rPr lang="zh-TW" altLang="en-US" smtClean="0"/>
              <a:t>2026/9/27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3473363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611560" y="0"/>
            <a:ext cx="8229600" cy="1143000"/>
          </a:xfrm>
          <a:prstGeom prst="rect">
            <a:avLst/>
          </a:prstGeo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F6207C1D-2BAD-47FF-8692-8390F4A32171}" type="datetime1">
              <a:rPr lang="zh-TW" altLang="en-US" smtClean="0"/>
              <a:t>2026/9/27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3846966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611560" y="0"/>
            <a:ext cx="8229600" cy="1143000"/>
          </a:xfrm>
          <a:prstGeom prst="rect">
            <a:avLst/>
          </a:prstGeom>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7FF130CC-13BF-4556-B1CC-E41F47AA4FDE}" type="datetime1">
              <a:rPr lang="zh-TW" altLang="en-US" smtClean="0"/>
              <a:t>2026/9/27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581816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BADC52D3-C2E9-4EF2-BBD8-579438826593}" type="datetime1">
              <a:rPr lang="zh-TW" altLang="en-US" smtClean="0"/>
              <a:t>2026/9/27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473091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EA0436D3-B797-47F4-8EC2-0E56D2529CFD}" type="datetime1">
              <a:rPr lang="zh-TW" altLang="en-US" smtClean="0"/>
              <a:t>2026/9/27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1311924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A268FDBD-9D1D-4D8B-9FE7-57ED3383D391}" type="datetime1">
              <a:rPr lang="zh-TW" altLang="en-US" smtClean="0"/>
              <a:t>2026/9/27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29395282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a:xfrm>
            <a:off x="611560" y="0"/>
            <a:ext cx="8229600" cy="1143000"/>
          </a:xfrm>
          <a:prstGeom prst="rect">
            <a:avLst/>
          </a:prstGeom>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A93103C8-556C-4CF7-B50B-277ADBFCA120}" type="datetime1">
              <a:rPr lang="zh-TW" altLang="en-US" smtClean="0"/>
              <a:t>2026/9/27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687766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a:prstGeom prst="rect">
            <a:avLst/>
          </a:prstGeo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A42DC106-07EF-4E7F-90CC-4204CDD1BCD8}" type="datetime1">
              <a:rPr lang="zh-TW" altLang="en-US" smtClean="0"/>
              <a:t>2026/9/27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15513525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自訂版面配置">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D6831F2-BDED-4AEB-AE33-006F9ECCA2C8}" type="datetime1">
              <a:rPr lang="zh-TW" altLang="en-US" smtClean="0"/>
              <a:t>2026/9/27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51D2D507-09EA-4C6F-96ED-053C801F8797}" type="slidenum">
              <a:rPr lang="zh-TW" altLang="en-US" smtClean="0"/>
              <a:pPr/>
              <a:t>‹#›</a:t>
            </a:fld>
            <a:endParaRPr lang="zh-TW" altLang="en-US"/>
          </a:p>
        </p:txBody>
      </p:sp>
    </p:spTree>
    <p:extLst>
      <p:ext uri="{BB962C8B-B14F-4D97-AF65-F5344CB8AC3E}">
        <p14:creationId xmlns:p14="http://schemas.microsoft.com/office/powerpoint/2010/main" val="16001007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標題投影片">
    <p:bg>
      <p:bgRef idx="1001">
        <a:schemeClr val="bg1"/>
      </p:bgRef>
    </p:bg>
    <p:spTree>
      <p:nvGrpSpPr>
        <p:cNvPr id="1" name=""/>
        <p:cNvGrpSpPr/>
        <p:nvPr/>
      </p:nvGrpSpPr>
      <p:grpSpPr>
        <a:xfrm>
          <a:off x="0" y="0"/>
          <a:ext cx="0" cy="0"/>
          <a:chOff x="0" y="0"/>
          <a:chExt cx="0" cy="0"/>
        </a:xfrm>
      </p:grpSpPr>
      <p:pic>
        <p:nvPicPr>
          <p:cNvPr id="11" name="圖片 10" descr="一張含有 燈泡 的圖片&#10;&#10;AI 產生的內容可能不正確。">
            <a:extLst>
              <a:ext uri="{FF2B5EF4-FFF2-40B4-BE49-F238E27FC236}">
                <a16:creationId xmlns:a16="http://schemas.microsoft.com/office/drawing/2014/main" id="{5E7D4647-2F66-9F57-7A50-A71E86CD3AB8}"/>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23528" y="1052736"/>
            <a:ext cx="3617337" cy="3712723"/>
          </a:xfrm>
          <a:prstGeom prst="rect">
            <a:avLst/>
          </a:prstGeom>
        </p:spPr>
      </p:pic>
      <p:sp>
        <p:nvSpPr>
          <p:cNvPr id="2" name="標題 1"/>
          <p:cNvSpPr>
            <a:spLocks noGrp="1"/>
          </p:cNvSpPr>
          <p:nvPr>
            <p:ph type="ctrTitle"/>
          </p:nvPr>
        </p:nvSpPr>
        <p:spPr>
          <a:xfrm>
            <a:off x="823156" y="1715541"/>
            <a:ext cx="7772400" cy="1761027"/>
          </a:xfrm>
          <a:prstGeom prst="rect">
            <a:avLst/>
          </a:prstGeom>
        </p:spPr>
        <p:txBody>
          <a:bodyPr/>
          <a:lstStyle>
            <a:lvl1pPr>
              <a:defRPr>
                <a:solidFill>
                  <a:srgbClr val="6699FF"/>
                </a:solidFill>
                <a:latin typeface="Adobe 繁黑體 Std B"/>
                <a:ea typeface="Adobe 繁黑體 Std B"/>
                <a:cs typeface="Adobe 繁黑體 Std B"/>
              </a:defRPr>
            </a:lvl1pPr>
          </a:lstStyle>
          <a:p>
            <a:r>
              <a:rPr lang="zh-TW" altLang="en-US"/>
              <a:t>按一下以編輯母片標題樣式</a:t>
            </a:r>
            <a:endParaRPr lang="zh-TW" altLang="en-US" dirty="0"/>
          </a:p>
        </p:txBody>
      </p:sp>
      <p:sp>
        <p:nvSpPr>
          <p:cNvPr id="3" name="副標題 2"/>
          <p:cNvSpPr>
            <a:spLocks noGrp="1"/>
          </p:cNvSpPr>
          <p:nvPr>
            <p:ph type="subTitle" idx="1"/>
          </p:nvPr>
        </p:nvSpPr>
        <p:spPr>
          <a:xfrm>
            <a:off x="1403648" y="3717032"/>
            <a:ext cx="6400800" cy="1176536"/>
          </a:xfrm>
        </p:spPr>
        <p:txBody>
          <a:bodyPr/>
          <a:lstStyle>
            <a:lvl1pPr marL="0" indent="0" algn="ctr">
              <a:buNone/>
              <a:defRPr>
                <a:solidFill>
                  <a:srgbClr val="6699FF"/>
                </a:solidFill>
                <a:latin typeface="Adobe 繁黑體 Std B"/>
                <a:ea typeface="Adobe 繁黑體 Std B"/>
                <a:cs typeface="Adobe 繁黑體 Std B"/>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按一下以編輯母片子標題樣式</a:t>
            </a:r>
            <a:endParaRPr lang="zh-TW" altLang="en-US" dirty="0"/>
          </a:p>
        </p:txBody>
      </p:sp>
      <p:pic>
        <p:nvPicPr>
          <p:cNvPr id="7" name="圖片 6"/>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31640" y="4462180"/>
            <a:ext cx="6836421" cy="60853"/>
          </a:xfrm>
          <a:prstGeom prst="rect">
            <a:avLst/>
          </a:prstGeom>
        </p:spPr>
      </p:pic>
      <p:pic>
        <p:nvPicPr>
          <p:cNvPr id="8" name="圖片 7"/>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10800000">
            <a:off x="1835697" y="4614580"/>
            <a:ext cx="6836421" cy="60853"/>
          </a:xfrm>
          <a:prstGeom prst="rect">
            <a:avLst/>
          </a:prstGeom>
        </p:spPr>
      </p:pic>
    </p:spTree>
    <p:extLst>
      <p:ext uri="{BB962C8B-B14F-4D97-AF65-F5344CB8AC3E}">
        <p14:creationId xmlns:p14="http://schemas.microsoft.com/office/powerpoint/2010/main" val="2114938078"/>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自訂版面配置">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42C442D8-9C80-47F7-991A-AE2212DADCA5}" type="datetime1">
              <a:rPr lang="zh-TW" altLang="en-US" smtClean="0"/>
              <a:t>2026/9/27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24392040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1_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D974B04D-3439-4155-A703-E234727B63F5}" type="datetime1">
              <a:rPr lang="zh-TW" altLang="en-US" smtClean="0"/>
              <a:t>2026/9/27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37241271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539552" y="2954"/>
            <a:ext cx="8229600" cy="761750"/>
          </a:xfrm>
          <a:prstGeom prst="rect">
            <a:avLst/>
          </a:prstGeom>
        </p:spPr>
        <p:txBody>
          <a:bodyPr/>
          <a:lstStyle>
            <a:lvl1pPr>
              <a:defRPr sz="3600">
                <a:latin typeface="微軟正黑體" panose="020B0604030504040204" pitchFamily="34" charset="-120"/>
                <a:ea typeface="微軟正黑體" panose="020B0604030504040204" pitchFamily="34" charset="-120"/>
              </a:defRPr>
            </a:lvl1pPr>
          </a:lstStyle>
          <a:p>
            <a:r>
              <a:rPr lang="zh-TW" altLang="en-US"/>
              <a:t>按一下以編輯母片標題樣式</a:t>
            </a:r>
            <a:endParaRPr lang="zh-TW" altLang="en-US" dirty="0"/>
          </a:p>
        </p:txBody>
      </p:sp>
      <p:sp>
        <p:nvSpPr>
          <p:cNvPr id="3" name="內容版面配置區 2"/>
          <p:cNvSpPr>
            <a:spLocks noGrp="1"/>
          </p:cNvSpPr>
          <p:nvPr>
            <p:ph idx="1"/>
          </p:nvPr>
        </p:nvSpPr>
        <p:spPr>
          <a:xfrm>
            <a:off x="457200" y="980728"/>
            <a:ext cx="8229600" cy="5328592"/>
          </a:xfrm>
        </p:spPr>
        <p:txBody>
          <a:bodyPr/>
          <a:lstStyle>
            <a:lvl1pPr>
              <a:defRPr>
                <a:solidFill>
                  <a:schemeClr val="tx1"/>
                </a:solidFill>
                <a:latin typeface="微軟正黑體" panose="020B0604030504040204" pitchFamily="34" charset="-120"/>
                <a:ea typeface="微軟正黑體" panose="020B0604030504040204" pitchFamily="34" charset="-120"/>
              </a:defRPr>
            </a:lvl1pPr>
            <a:lvl2pPr>
              <a:defRPr>
                <a:solidFill>
                  <a:schemeClr val="tx1"/>
                </a:solidFill>
                <a:latin typeface="微軟正黑體" panose="020B0604030504040204" pitchFamily="34" charset="-120"/>
                <a:ea typeface="微軟正黑體" panose="020B0604030504040204" pitchFamily="34" charset="-120"/>
              </a:defRPr>
            </a:lvl2pPr>
            <a:lvl3pPr>
              <a:defRPr>
                <a:solidFill>
                  <a:schemeClr val="tx1"/>
                </a:solidFill>
                <a:latin typeface="微軟正黑體" panose="020B0604030504040204" pitchFamily="34" charset="-120"/>
                <a:ea typeface="微軟正黑體" panose="020B0604030504040204" pitchFamily="34" charset="-120"/>
              </a:defRPr>
            </a:lvl3pPr>
            <a:lvl4pPr>
              <a:defRPr>
                <a:solidFill>
                  <a:schemeClr val="tx1"/>
                </a:solidFill>
                <a:latin typeface="微軟正黑體" panose="020B0604030504040204" pitchFamily="34" charset="-120"/>
                <a:ea typeface="微軟正黑體" panose="020B0604030504040204" pitchFamily="34" charset="-120"/>
              </a:defRPr>
            </a:lvl4pPr>
            <a:lvl5pPr>
              <a:defRPr>
                <a:solidFill>
                  <a:schemeClr val="tx1"/>
                </a:solidFill>
                <a:latin typeface="微軟正黑體" panose="020B0604030504040204" pitchFamily="34" charset="-120"/>
                <a:ea typeface="微軟正黑體" panose="020B0604030504040204" pitchFamily="34" charset="-120"/>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716E6385-44E4-4C40-81A0-E5CA0A057240}" type="datetime1">
              <a:rPr lang="zh-TW" altLang="en-US" smtClean="0"/>
              <a:t>2026/9/27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18250404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1_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539552" y="2954"/>
            <a:ext cx="8229600" cy="761750"/>
          </a:xfrm>
          <a:prstGeom prst="rect">
            <a:avLst/>
          </a:prstGeom>
        </p:spPr>
        <p:txBody>
          <a:bodyPr/>
          <a:lstStyle>
            <a:lvl1pPr>
              <a:defRPr sz="3600">
                <a:latin typeface="微軟正黑體" panose="020B0604030504040204" pitchFamily="34" charset="-120"/>
                <a:ea typeface="微軟正黑體" panose="020B0604030504040204" pitchFamily="34" charset="-120"/>
              </a:defRPr>
            </a:lvl1pPr>
          </a:lstStyle>
          <a:p>
            <a:r>
              <a:rPr lang="zh-TW" altLang="en-US"/>
              <a:t>按一下以編輯母片標題樣式</a:t>
            </a:r>
            <a:endParaRPr lang="zh-TW" altLang="en-US" dirty="0"/>
          </a:p>
        </p:txBody>
      </p:sp>
      <p:sp>
        <p:nvSpPr>
          <p:cNvPr id="3" name="內容版面配置區 2"/>
          <p:cNvSpPr>
            <a:spLocks noGrp="1"/>
          </p:cNvSpPr>
          <p:nvPr>
            <p:ph idx="1"/>
          </p:nvPr>
        </p:nvSpPr>
        <p:spPr>
          <a:xfrm>
            <a:off x="457200" y="980728"/>
            <a:ext cx="8229600" cy="5328592"/>
          </a:xfrm>
        </p:spPr>
        <p:txBody>
          <a:bodyPr/>
          <a:lstStyle>
            <a:lvl1pPr>
              <a:defRPr>
                <a:solidFill>
                  <a:schemeClr val="tx1"/>
                </a:solidFill>
                <a:latin typeface="微軟正黑體" panose="020B0604030504040204" pitchFamily="34" charset="-120"/>
                <a:ea typeface="微軟正黑體" panose="020B0604030504040204" pitchFamily="34" charset="-120"/>
              </a:defRPr>
            </a:lvl1pPr>
            <a:lvl2pPr>
              <a:defRPr>
                <a:solidFill>
                  <a:schemeClr val="tx1"/>
                </a:solidFill>
                <a:latin typeface="微軟正黑體" panose="020B0604030504040204" pitchFamily="34" charset="-120"/>
                <a:ea typeface="微軟正黑體" panose="020B0604030504040204" pitchFamily="34" charset="-120"/>
              </a:defRPr>
            </a:lvl2pPr>
            <a:lvl3pPr>
              <a:defRPr>
                <a:solidFill>
                  <a:schemeClr val="tx1"/>
                </a:solidFill>
                <a:latin typeface="微軟正黑體" panose="020B0604030504040204" pitchFamily="34" charset="-120"/>
                <a:ea typeface="微軟正黑體" panose="020B0604030504040204" pitchFamily="34" charset="-120"/>
              </a:defRPr>
            </a:lvl3pPr>
            <a:lvl4pPr>
              <a:defRPr>
                <a:solidFill>
                  <a:schemeClr val="tx1"/>
                </a:solidFill>
                <a:latin typeface="微軟正黑體" panose="020B0604030504040204" pitchFamily="34" charset="-120"/>
                <a:ea typeface="微軟正黑體" panose="020B0604030504040204" pitchFamily="34" charset="-120"/>
              </a:defRPr>
            </a:lvl4pPr>
            <a:lvl5pPr>
              <a:defRPr>
                <a:solidFill>
                  <a:schemeClr val="tx1"/>
                </a:solidFill>
                <a:latin typeface="微軟正黑體" panose="020B0604030504040204" pitchFamily="34" charset="-120"/>
                <a:ea typeface="微軟正黑體" panose="020B0604030504040204" pitchFamily="34" charset="-120"/>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10354FD9-B00D-48FF-85D9-3561B9EC258A}" type="datetime1">
              <a:rPr lang="zh-TW" altLang="en-US" smtClean="0"/>
              <a:t>2026/9/27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1D2D507-09EA-4C6F-96ED-053C801F8797}" type="slidenum">
              <a:rPr lang="zh-TW" altLang="en-US" smtClean="0"/>
              <a:pPr/>
              <a:t>‹#›</a:t>
            </a:fld>
            <a:endParaRPr lang="zh-TW" altLang="en-US"/>
          </a:p>
        </p:txBody>
      </p:sp>
    </p:spTree>
    <p:extLst>
      <p:ext uri="{BB962C8B-B14F-4D97-AF65-F5344CB8AC3E}">
        <p14:creationId xmlns:p14="http://schemas.microsoft.com/office/powerpoint/2010/main" val="1639675591"/>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BF7B9A50-0BC0-438D-A316-B9E866D145E2}" type="datetime1">
              <a:rPr lang="zh-TW" altLang="en-US" smtClean="0"/>
              <a:t>2026/9/27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38293622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611560" y="0"/>
            <a:ext cx="8229600" cy="1143000"/>
          </a:xfrm>
          <a:prstGeom prst="rect">
            <a:avLst/>
          </a:prstGeom>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53BA2EFE-9673-4B8D-8AAB-FFE12DB95A02}" type="datetime1">
              <a:rPr lang="zh-TW" altLang="en-US" smtClean="0"/>
              <a:t>2026/9/27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42549517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611560" y="0"/>
            <a:ext cx="8229600" cy="1143000"/>
          </a:xfrm>
          <a:prstGeom prst="rect">
            <a:avLst/>
          </a:prstGeo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F6207C1D-2BAD-47FF-8692-8390F4A32171}" type="datetime1">
              <a:rPr lang="zh-TW" altLang="en-US" smtClean="0"/>
              <a:t>2026/9/27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20128737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611560" y="0"/>
            <a:ext cx="8229600" cy="1143000"/>
          </a:xfrm>
          <a:prstGeom prst="rect">
            <a:avLst/>
          </a:prstGeom>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7FF130CC-13BF-4556-B1CC-E41F47AA4FDE}" type="datetime1">
              <a:rPr lang="zh-TW" altLang="en-US" smtClean="0"/>
              <a:t>2026/9/27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36928032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BADC52D3-C2E9-4EF2-BBD8-579438826593}" type="datetime1">
              <a:rPr lang="zh-TW" altLang="en-US" smtClean="0"/>
              <a:t>2026/9/27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33771312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EA0436D3-B797-47F4-8EC2-0E56D2529CFD}" type="datetime1">
              <a:rPr lang="zh-TW" altLang="en-US" smtClean="0"/>
              <a:t>2026/9/27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28282528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A268FDBD-9D1D-4D8B-9FE7-57ED3383D391}" type="datetime1">
              <a:rPr lang="zh-TW" altLang="en-US" smtClean="0"/>
              <a:t>2026/9/27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7184258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a:xfrm>
            <a:off x="611560" y="0"/>
            <a:ext cx="8229600" cy="1143000"/>
          </a:xfrm>
          <a:prstGeom prst="rect">
            <a:avLst/>
          </a:prstGeom>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A93103C8-556C-4CF7-B50B-277ADBFCA120}" type="datetime1">
              <a:rPr lang="zh-TW" altLang="en-US" smtClean="0"/>
              <a:t>2026/9/27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16874634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a:prstGeom prst="rect">
            <a:avLst/>
          </a:prstGeo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A42DC106-07EF-4E7F-90CC-4204CDD1BCD8}" type="datetime1">
              <a:rPr lang="zh-TW" altLang="en-US" smtClean="0"/>
              <a:t>2026/9/27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69620189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_自訂版面配置">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D6831F2-BDED-4AEB-AE33-006F9ECCA2C8}" type="datetime1">
              <a:rPr lang="zh-TW" altLang="en-US" smtClean="0"/>
              <a:t>2026/9/27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51D2D507-09EA-4C6F-96ED-053C801F8797}" type="slidenum">
              <a:rPr lang="zh-TW" altLang="en-US" smtClean="0"/>
              <a:pPr/>
              <a:t>‹#›</a:t>
            </a:fld>
            <a:endParaRPr lang="zh-TW" altLang="en-US"/>
          </a:p>
        </p:txBody>
      </p:sp>
    </p:spTree>
    <p:extLst>
      <p:ext uri="{BB962C8B-B14F-4D97-AF65-F5344CB8AC3E}">
        <p14:creationId xmlns:p14="http://schemas.microsoft.com/office/powerpoint/2010/main" val="1625391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image" Target="../media/image6.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image" Target="../media/image1.jpeg"/><Relationship Id="rId2" Type="http://schemas.openxmlformats.org/officeDocument/2006/relationships/slideLayout" Target="../slideLayouts/slideLayout16.xml"/><Relationship Id="rId16" Type="http://schemas.openxmlformats.org/officeDocument/2006/relationships/theme" Target="../theme/theme2.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圖片 7"/>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3323" y="1"/>
            <a:ext cx="9140677" cy="764703"/>
          </a:xfrm>
          <a:prstGeom prst="rect">
            <a:avLst/>
          </a:prstGeom>
        </p:spPr>
      </p:pic>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rgbClr val="6699FF"/>
                </a:solidFill>
                <a:latin typeface="Adobe 繁黑體 Std B"/>
                <a:ea typeface="Adobe 繁黑體 Std B"/>
                <a:cs typeface="Adobe 繁黑體 Std B"/>
              </a:defRPr>
            </a:lvl1pPr>
          </a:lstStyle>
          <a:p>
            <a:fld id="{10354FD9-B00D-48FF-85D9-3561B9EC258A}" type="datetime1">
              <a:rPr lang="zh-TW" altLang="en-US" smtClean="0"/>
              <a:t>2026/9/27</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rgbClr val="6699FF"/>
                </a:solidFill>
                <a:latin typeface="Adobe 繁黑體 Std B"/>
                <a:ea typeface="Adobe 繁黑體 Std B"/>
                <a:cs typeface="Adobe 繁黑體 Std B"/>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rgbClr val="6699FF"/>
                </a:solidFill>
                <a:latin typeface="Adobe 繁黑體 Std B"/>
                <a:ea typeface="Adobe 繁黑體 Std B"/>
                <a:cs typeface="Adobe 繁黑體 Std B"/>
              </a:defRPr>
            </a:lvl1pPr>
          </a:lstStyle>
          <a:p>
            <a:fld id="{51D2D507-09EA-4C6F-96ED-053C801F8797}" type="slidenum">
              <a:rPr lang="zh-TW" altLang="en-US" smtClean="0"/>
              <a:pPr/>
              <a:t>‹#›</a:t>
            </a:fld>
            <a:endParaRPr lang="zh-TW" altLang="en-US"/>
          </a:p>
        </p:txBody>
      </p:sp>
      <p:pic>
        <p:nvPicPr>
          <p:cNvPr id="11" name="圖片 10" descr="C:\Users\00531\Desktop\本局母片\局徽\TIPO字版-1.jpg"/>
          <p:cNvPicPr/>
          <p:nvPr/>
        </p:nvPicPr>
        <p:blipFill>
          <a:blip r:embed="rId17" cstate="email">
            <a:clrChange>
              <a:clrFrom>
                <a:srgbClr val="FFFFFE"/>
              </a:clrFrom>
              <a:clrTo>
                <a:srgbClr val="FFFFFE">
                  <a:alpha val="0"/>
                </a:srgbClr>
              </a:clrTo>
            </a:clrChange>
            <a:extLst>
              <a:ext uri="{28A0092B-C50C-407E-A947-70E740481C1C}">
                <a14:useLocalDpi xmlns:a14="http://schemas.microsoft.com/office/drawing/2010/main"/>
              </a:ext>
            </a:extLst>
          </a:blip>
          <a:srcRect/>
          <a:stretch>
            <a:fillRect/>
          </a:stretch>
        </p:blipFill>
        <p:spPr bwMode="auto">
          <a:xfrm>
            <a:off x="107505" y="0"/>
            <a:ext cx="1296144" cy="908720"/>
          </a:xfrm>
          <a:prstGeom prst="rect">
            <a:avLst/>
          </a:prstGeom>
          <a:noFill/>
          <a:ln>
            <a:noFill/>
          </a:ln>
        </p:spPr>
      </p:pic>
    </p:spTree>
    <p:extLst>
      <p:ext uri="{BB962C8B-B14F-4D97-AF65-F5344CB8AC3E}">
        <p14:creationId xmlns:p14="http://schemas.microsoft.com/office/powerpoint/2010/main" val="848690897"/>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821" r:id="rId14"/>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rgbClr val="6699FF"/>
          </a:solidFill>
          <a:latin typeface="Adobe 繁黑體 Std B"/>
          <a:ea typeface="Adobe 繁黑體 Std B"/>
          <a:cs typeface="Adobe 繁黑體 Std B"/>
        </a:defRPr>
      </a:lvl1pPr>
      <a:lvl2pPr marL="742950" indent="-285750" algn="l" defTabSz="914400" rtl="0" eaLnBrk="1" latinLnBrk="0" hangingPunct="1">
        <a:spcBef>
          <a:spcPct val="20000"/>
        </a:spcBef>
        <a:buFont typeface="Arial" pitchFamily="34" charset="0"/>
        <a:buChar char="–"/>
        <a:defRPr sz="2800" kern="1200">
          <a:solidFill>
            <a:srgbClr val="6699FF"/>
          </a:solidFill>
          <a:latin typeface="Adobe 繁黑體 Std B"/>
          <a:ea typeface="Adobe 繁黑體 Std B"/>
          <a:cs typeface="Adobe 繁黑體 Std B"/>
        </a:defRPr>
      </a:lvl2pPr>
      <a:lvl3pPr marL="1143000" indent="-228600" algn="l" defTabSz="914400" rtl="0" eaLnBrk="1" latinLnBrk="0" hangingPunct="1">
        <a:spcBef>
          <a:spcPct val="20000"/>
        </a:spcBef>
        <a:buFont typeface="Arial" pitchFamily="34" charset="0"/>
        <a:buChar char="•"/>
        <a:defRPr sz="2400" kern="1200">
          <a:solidFill>
            <a:srgbClr val="6699FF"/>
          </a:solidFill>
          <a:latin typeface="Adobe 繁黑體 Std B"/>
          <a:ea typeface="Adobe 繁黑體 Std B"/>
          <a:cs typeface="Adobe 繁黑體 Std B"/>
        </a:defRPr>
      </a:lvl3pPr>
      <a:lvl4pPr marL="1600200" indent="-228600" algn="l" defTabSz="914400" rtl="0" eaLnBrk="1" latinLnBrk="0" hangingPunct="1">
        <a:spcBef>
          <a:spcPct val="20000"/>
        </a:spcBef>
        <a:buFont typeface="Arial" pitchFamily="34" charset="0"/>
        <a:buChar char="–"/>
        <a:defRPr sz="2000" kern="1200">
          <a:solidFill>
            <a:srgbClr val="6699FF"/>
          </a:solidFill>
          <a:latin typeface="Adobe 繁黑體 Std B"/>
          <a:ea typeface="Adobe 繁黑體 Std B"/>
          <a:cs typeface="Adobe 繁黑體 Std B"/>
        </a:defRPr>
      </a:lvl4pPr>
      <a:lvl5pPr marL="2057400" indent="-228600" algn="l" defTabSz="914400" rtl="0" eaLnBrk="1" latinLnBrk="0" hangingPunct="1">
        <a:spcBef>
          <a:spcPct val="20000"/>
        </a:spcBef>
        <a:buFont typeface="Arial" pitchFamily="34" charset="0"/>
        <a:buChar char="»"/>
        <a:defRPr sz="2000" kern="1200">
          <a:solidFill>
            <a:srgbClr val="6699FF"/>
          </a:solidFill>
          <a:latin typeface="Adobe 繁黑體 Std B"/>
          <a:ea typeface="Adobe 繁黑體 Std B"/>
          <a:cs typeface="Adobe 繁黑體 Std B"/>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圖片 7"/>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3323" y="1"/>
            <a:ext cx="9140677" cy="764703"/>
          </a:xfrm>
          <a:prstGeom prst="rect">
            <a:avLst/>
          </a:prstGeom>
        </p:spPr>
      </p:pic>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rgbClr val="6699FF"/>
                </a:solidFill>
                <a:latin typeface="Adobe 繁黑體 Std B"/>
                <a:ea typeface="Adobe 繁黑體 Std B"/>
                <a:cs typeface="Adobe 繁黑體 Std B"/>
              </a:defRPr>
            </a:lvl1pPr>
          </a:lstStyle>
          <a:p>
            <a:fld id="{10354FD9-B00D-48FF-85D9-3561B9EC258A}" type="datetime1">
              <a:rPr lang="zh-TW" altLang="en-US" smtClean="0"/>
              <a:t>2026/9/27</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rgbClr val="6699FF"/>
                </a:solidFill>
                <a:latin typeface="Adobe 繁黑體 Std B"/>
                <a:ea typeface="Adobe 繁黑體 Std B"/>
                <a:cs typeface="Adobe 繁黑體 Std B"/>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rgbClr val="6699FF"/>
                </a:solidFill>
                <a:latin typeface="Adobe 繁黑體 Std B"/>
                <a:ea typeface="Adobe 繁黑體 Std B"/>
                <a:cs typeface="Adobe 繁黑體 Std B"/>
              </a:defRPr>
            </a:lvl1pPr>
          </a:lstStyle>
          <a:p>
            <a:fld id="{51D2D507-09EA-4C6F-96ED-053C801F8797}" type="slidenum">
              <a:rPr lang="zh-TW" altLang="en-US" smtClean="0"/>
              <a:pPr/>
              <a:t>‹#›</a:t>
            </a:fld>
            <a:endParaRPr lang="zh-TW" altLang="en-US"/>
          </a:p>
        </p:txBody>
      </p:sp>
      <p:pic>
        <p:nvPicPr>
          <p:cNvPr id="10" name="圖片 9" descr="一張含有 燈泡 的圖片&#10;&#10;AI 產生的內容可能不正確。">
            <a:extLst>
              <a:ext uri="{FF2B5EF4-FFF2-40B4-BE49-F238E27FC236}">
                <a16:creationId xmlns:a16="http://schemas.microsoft.com/office/drawing/2014/main" id="{BCF0FE7F-8C44-7632-0D32-DC2A2133BE11}"/>
              </a:ext>
            </a:extLst>
          </p:cNvPr>
          <p:cNvPicPr>
            <a:picLocks noChangeAspect="1"/>
          </p:cNvPicPr>
          <p:nvPr/>
        </p:nvPicPr>
        <p:blipFill>
          <a:blip r:embed="rId18" cstate="email">
            <a:extLst>
              <a:ext uri="{28A0092B-C50C-407E-A947-70E740481C1C}">
                <a14:useLocalDpi xmlns:a14="http://schemas.microsoft.com/office/drawing/2010/main" val="0"/>
              </a:ext>
            </a:extLst>
          </a:blip>
          <a:stretch>
            <a:fillRect/>
          </a:stretch>
        </p:blipFill>
        <p:spPr>
          <a:xfrm>
            <a:off x="179512" y="419"/>
            <a:ext cx="744649" cy="764285"/>
          </a:xfrm>
          <a:prstGeom prst="rect">
            <a:avLst/>
          </a:prstGeom>
        </p:spPr>
      </p:pic>
    </p:spTree>
    <p:extLst>
      <p:ext uri="{BB962C8B-B14F-4D97-AF65-F5344CB8AC3E}">
        <p14:creationId xmlns:p14="http://schemas.microsoft.com/office/powerpoint/2010/main" val="675924538"/>
      </p:ext>
    </p:extLst>
  </p:cSld>
  <p:clrMap bg1="lt1" tx1="dk1" bg2="lt2" tx2="dk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 id="2147483828" r:id="rId6"/>
    <p:sldLayoutId id="2147483829" r:id="rId7"/>
    <p:sldLayoutId id="2147483830" r:id="rId8"/>
    <p:sldLayoutId id="2147483831" r:id="rId9"/>
    <p:sldLayoutId id="2147483832" r:id="rId10"/>
    <p:sldLayoutId id="2147483833" r:id="rId11"/>
    <p:sldLayoutId id="2147483834" r:id="rId12"/>
    <p:sldLayoutId id="2147483835" r:id="rId13"/>
    <p:sldLayoutId id="2147483836" r:id="rId14"/>
    <p:sldLayoutId id="2147483837" r:id="rId1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rgbClr val="6699FF"/>
          </a:solidFill>
          <a:latin typeface="Adobe 繁黑體 Std B"/>
          <a:ea typeface="Adobe 繁黑體 Std B"/>
          <a:cs typeface="Adobe 繁黑體 Std B"/>
        </a:defRPr>
      </a:lvl1pPr>
      <a:lvl2pPr marL="742950" indent="-285750" algn="l" defTabSz="914400" rtl="0" eaLnBrk="1" latinLnBrk="0" hangingPunct="1">
        <a:spcBef>
          <a:spcPct val="20000"/>
        </a:spcBef>
        <a:buFont typeface="Arial" pitchFamily="34" charset="0"/>
        <a:buChar char="–"/>
        <a:defRPr sz="2800" kern="1200">
          <a:solidFill>
            <a:srgbClr val="6699FF"/>
          </a:solidFill>
          <a:latin typeface="Adobe 繁黑體 Std B"/>
          <a:ea typeface="Adobe 繁黑體 Std B"/>
          <a:cs typeface="Adobe 繁黑體 Std B"/>
        </a:defRPr>
      </a:lvl2pPr>
      <a:lvl3pPr marL="1143000" indent="-228600" algn="l" defTabSz="914400" rtl="0" eaLnBrk="1" latinLnBrk="0" hangingPunct="1">
        <a:spcBef>
          <a:spcPct val="20000"/>
        </a:spcBef>
        <a:buFont typeface="Arial" pitchFamily="34" charset="0"/>
        <a:buChar char="•"/>
        <a:defRPr sz="2400" kern="1200">
          <a:solidFill>
            <a:srgbClr val="6699FF"/>
          </a:solidFill>
          <a:latin typeface="Adobe 繁黑體 Std B"/>
          <a:ea typeface="Adobe 繁黑體 Std B"/>
          <a:cs typeface="Adobe 繁黑體 Std B"/>
        </a:defRPr>
      </a:lvl3pPr>
      <a:lvl4pPr marL="1600200" indent="-228600" algn="l" defTabSz="914400" rtl="0" eaLnBrk="1" latinLnBrk="0" hangingPunct="1">
        <a:spcBef>
          <a:spcPct val="20000"/>
        </a:spcBef>
        <a:buFont typeface="Arial" pitchFamily="34" charset="0"/>
        <a:buChar char="–"/>
        <a:defRPr sz="2000" kern="1200">
          <a:solidFill>
            <a:srgbClr val="6699FF"/>
          </a:solidFill>
          <a:latin typeface="Adobe 繁黑體 Std B"/>
          <a:ea typeface="Adobe 繁黑體 Std B"/>
          <a:cs typeface="Adobe 繁黑體 Std B"/>
        </a:defRPr>
      </a:lvl4pPr>
      <a:lvl5pPr marL="2057400" indent="-228600" algn="l" defTabSz="914400" rtl="0" eaLnBrk="1" latinLnBrk="0" hangingPunct="1">
        <a:spcBef>
          <a:spcPct val="20000"/>
        </a:spcBef>
        <a:buFont typeface="Arial" pitchFamily="34" charset="0"/>
        <a:buChar char="»"/>
        <a:defRPr sz="2000" kern="1200">
          <a:solidFill>
            <a:srgbClr val="6699FF"/>
          </a:solidFill>
          <a:latin typeface="Adobe 繁黑體 Std B"/>
          <a:ea typeface="Adobe 繁黑體 Std B"/>
          <a:cs typeface="Adobe 繁黑體 Std B"/>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1.tipo.gov.tw/PatentExamGuide/WORD1/0203.html" TargetMode="Externa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hyperlink" Target="http://www.archive.org/" TargetMode="Externa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8.xml"/><Relationship Id="rId5" Type="http://schemas.openxmlformats.org/officeDocument/2006/relationships/image" Target="../media/image16.png"/><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3419872" y="2905200"/>
            <a:ext cx="5328592" cy="830997"/>
          </a:xfrm>
          <a:prstGeom prst="rect">
            <a:avLst/>
          </a:prstGeom>
        </p:spPr>
        <p:txBody>
          <a:bodyPr wrap="square">
            <a:spAutoFit/>
          </a:bodyPr>
          <a:lstStyle/>
          <a:p>
            <a:pPr algn="ctr"/>
            <a:r>
              <a:rPr lang="zh-TW" altLang="en-US" sz="4800" b="1" dirty="0">
                <a:solidFill>
                  <a:srgbClr val="1F497D">
                    <a:lumMod val="75000"/>
                  </a:srgbClr>
                </a:solidFill>
                <a:latin typeface="微軟正黑體" pitchFamily="34" charset="-120"/>
                <a:ea typeface="微軟正黑體" pitchFamily="34" charset="-120"/>
              </a:rPr>
              <a:t>專利要件</a:t>
            </a:r>
            <a:endParaRPr lang="en-US" altLang="zh-TW" sz="4800" b="1" dirty="0">
              <a:solidFill>
                <a:srgbClr val="1F497D">
                  <a:lumMod val="75000"/>
                </a:srgbClr>
              </a:solidFill>
              <a:latin typeface="微軟正黑體" pitchFamily="34" charset="-120"/>
              <a:ea typeface="微軟正黑體" pitchFamily="34" charset="-120"/>
            </a:endParaRPr>
          </a:p>
        </p:txBody>
      </p:sp>
      <p:sp>
        <p:nvSpPr>
          <p:cNvPr id="7" name="副標題 3"/>
          <p:cNvSpPr>
            <a:spLocks noGrp="1"/>
          </p:cNvSpPr>
          <p:nvPr>
            <p:ph type="subTitle" idx="1"/>
          </p:nvPr>
        </p:nvSpPr>
        <p:spPr>
          <a:xfrm>
            <a:off x="7020272" y="6309320"/>
            <a:ext cx="2022301" cy="404664"/>
          </a:xfrm>
        </p:spPr>
        <p:txBody>
          <a:bodyPr>
            <a:noAutofit/>
          </a:bodyPr>
          <a:lstStyle/>
          <a:p>
            <a:pPr algn="l">
              <a:lnSpc>
                <a:spcPts val="2200"/>
              </a:lnSpc>
            </a:pPr>
            <a:r>
              <a:rPr lang="en-US" altLang="zh-TW" sz="1800" b="1" dirty="0">
                <a:solidFill>
                  <a:srgbClr val="0070C0"/>
                </a:solidFill>
                <a:latin typeface="微軟正黑體" panose="020B0604030504040204" pitchFamily="34" charset="-120"/>
                <a:ea typeface="微軟正黑體" panose="020B0604030504040204" pitchFamily="34" charset="-120"/>
              </a:rPr>
              <a:t>115</a:t>
            </a:r>
            <a:r>
              <a:rPr lang="zh-TW" altLang="en-US" sz="1800" b="1" dirty="0">
                <a:solidFill>
                  <a:srgbClr val="0070C0"/>
                </a:solidFill>
                <a:latin typeface="微軟正黑體" panose="020B0604030504040204" pitchFamily="34" charset="-120"/>
                <a:ea typeface="微軟正黑體" panose="020B0604030504040204" pitchFamily="34" charset="-120"/>
              </a:rPr>
              <a:t>年</a:t>
            </a:r>
            <a:r>
              <a:rPr lang="en-US" altLang="zh-TW" sz="1800" b="1" dirty="0">
                <a:solidFill>
                  <a:srgbClr val="0070C0"/>
                </a:solidFill>
                <a:latin typeface="微軟正黑體" panose="020B0604030504040204" pitchFamily="34" charset="-120"/>
                <a:ea typeface="微軟正黑體" panose="020B0604030504040204" pitchFamily="34" charset="-120"/>
              </a:rPr>
              <a:t>10</a:t>
            </a:r>
            <a:r>
              <a:rPr lang="zh-TW" altLang="en-US" sz="1800" b="1" dirty="0">
                <a:solidFill>
                  <a:srgbClr val="0070C0"/>
                </a:solidFill>
                <a:latin typeface="微軟正黑體" panose="020B0604030504040204" pitchFamily="34" charset="-120"/>
                <a:ea typeface="微軟正黑體" panose="020B0604030504040204" pitchFamily="34" charset="-120"/>
              </a:rPr>
              <a:t>月</a:t>
            </a:r>
            <a:r>
              <a:rPr lang="en-US" altLang="zh-TW" sz="1800" b="1">
                <a:solidFill>
                  <a:srgbClr val="0070C0"/>
                </a:solidFill>
                <a:latin typeface="微軟正黑體" panose="020B0604030504040204" pitchFamily="34" charset="-120"/>
                <a:ea typeface="微軟正黑體" panose="020B0604030504040204" pitchFamily="34" charset="-120"/>
              </a:rPr>
              <a:t>3</a:t>
            </a:r>
            <a:r>
              <a:rPr lang="zh-TW" altLang="en-US" sz="1800" b="1">
                <a:solidFill>
                  <a:srgbClr val="0070C0"/>
                </a:solidFill>
                <a:latin typeface="微軟正黑體" panose="020B0604030504040204" pitchFamily="34" charset="-120"/>
                <a:ea typeface="微軟正黑體" panose="020B0604030504040204" pitchFamily="34" charset="-120"/>
              </a:rPr>
              <a:t>日</a:t>
            </a:r>
            <a:endParaRPr lang="zh-TW" altLang="en-US" sz="1800" b="1" dirty="0">
              <a:solidFill>
                <a:srgbClr val="0070C0"/>
              </a:solidFill>
              <a:latin typeface="微軟正黑體" panose="020B0604030504040204" pitchFamily="34" charset="-120"/>
              <a:ea typeface="微軟正黑體" panose="020B0604030504040204" pitchFamily="34" charset="-120"/>
            </a:endParaRPr>
          </a:p>
        </p:txBody>
      </p:sp>
      <p:sp>
        <p:nvSpPr>
          <p:cNvPr id="10" name="副標題 2"/>
          <p:cNvSpPr txBox="1">
            <a:spLocks/>
          </p:cNvSpPr>
          <p:nvPr/>
        </p:nvSpPr>
        <p:spPr>
          <a:xfrm>
            <a:off x="4067944" y="4727401"/>
            <a:ext cx="3325339" cy="792088"/>
          </a:xfrm>
          <a:prstGeom prst="rect">
            <a:avLst/>
          </a:prstGeom>
          <a:ln>
            <a:miter lim="800000"/>
            <a:headEnd/>
            <a:tailEnd/>
          </a:ln>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rgbClr val="6699FF"/>
                </a:solidFill>
                <a:latin typeface="Adobe 繁黑體 Std B"/>
                <a:ea typeface="Adobe 繁黑體 Std B"/>
                <a:cs typeface="Adobe 繁黑體 Std B"/>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Adobe 繁黑體 Std B"/>
                <a:ea typeface="Adobe 繁黑體 Std B"/>
                <a:cs typeface="Adobe 繁黑體 Std B"/>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Adobe 繁黑體 Std B"/>
                <a:ea typeface="Adobe 繁黑體 Std B"/>
                <a:cs typeface="Adobe 繁黑體 Std B"/>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Adobe 繁黑體 Std B"/>
                <a:ea typeface="Adobe 繁黑體 Std B"/>
                <a:cs typeface="Adobe 繁黑體 Std B"/>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Adobe 繁黑體 Std B"/>
                <a:ea typeface="Adobe 繁黑體 Std B"/>
                <a:cs typeface="Adobe 繁黑體 Std B"/>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nSpc>
                <a:spcPts val="2500"/>
              </a:lnSpc>
              <a:defRPr/>
            </a:pPr>
            <a:r>
              <a:rPr lang="zh-TW" altLang="en-US" sz="2200" dirty="0">
                <a:ln w="10541" cmpd="sng">
                  <a:solidFill>
                    <a:schemeClr val="accent1">
                      <a:shade val="88000"/>
                      <a:satMod val="110000"/>
                    </a:schemeClr>
                  </a:solidFill>
                  <a:prstDash val="solid"/>
                </a:ln>
                <a:solidFill>
                  <a:srgbClr val="000099"/>
                </a:solidFill>
                <a:latin typeface="微軟正黑體" panose="020B0604030504040204" pitchFamily="34" charset="-120"/>
                <a:ea typeface="微軟正黑體" panose="020B0604030504040204" pitchFamily="34" charset="-120"/>
              </a:rPr>
              <a:t>智慧財產及商業法院</a:t>
            </a:r>
          </a:p>
          <a:p>
            <a:pPr>
              <a:defRPr/>
            </a:pPr>
            <a:r>
              <a:rPr lang="zh-TW" altLang="en-US" sz="2200" dirty="0">
                <a:solidFill>
                  <a:srgbClr val="000099"/>
                </a:solidFill>
                <a:latin typeface="微軟正黑體" pitchFamily="34" charset="-120"/>
                <a:ea typeface="微軟正黑體" pitchFamily="34" charset="-120"/>
              </a:rPr>
              <a:t>顏俊仁</a:t>
            </a:r>
          </a:p>
        </p:txBody>
      </p:sp>
    </p:spTree>
    <p:extLst>
      <p:ext uri="{BB962C8B-B14F-4D97-AF65-F5344CB8AC3E}">
        <p14:creationId xmlns:p14="http://schemas.microsoft.com/office/powerpoint/2010/main" val="1479699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大綱 </a:t>
            </a:r>
          </a:p>
        </p:txBody>
      </p:sp>
      <p:sp>
        <p:nvSpPr>
          <p:cNvPr id="3" name="內容版面配置區 2"/>
          <p:cNvSpPr>
            <a:spLocks noGrp="1"/>
          </p:cNvSpPr>
          <p:nvPr>
            <p:ph idx="1"/>
          </p:nvPr>
        </p:nvSpPr>
        <p:spPr/>
        <p:txBody>
          <a:bodyPr>
            <a:normAutofit/>
          </a:bodyPr>
          <a:lstStyle/>
          <a:p>
            <a:r>
              <a:rPr lang="zh-TW" altLang="en-US" sz="3600" dirty="0">
                <a:ln w="9000" cmpd="sng">
                  <a:noFill/>
                  <a:prstDash val="solid"/>
                </a:ln>
              </a:rPr>
              <a:t>產業利用性</a:t>
            </a:r>
            <a:endParaRPr lang="en-US" altLang="zh-TW" sz="3600" dirty="0">
              <a:ln w="9000" cmpd="sng">
                <a:noFill/>
                <a:prstDash val="solid"/>
              </a:ln>
            </a:endParaRPr>
          </a:p>
          <a:p>
            <a:r>
              <a:rPr lang="zh-TW" altLang="en-US" sz="3600" dirty="0">
                <a:ln w="9000" cmpd="sng">
                  <a:noFill/>
                  <a:prstDash val="solid"/>
                </a:ln>
              </a:rPr>
              <a:t>新穎性</a:t>
            </a:r>
            <a:endParaRPr lang="en-US" altLang="zh-TW" sz="3600" dirty="0">
              <a:ln w="9000" cmpd="sng">
                <a:noFill/>
                <a:prstDash val="solid"/>
              </a:ln>
            </a:endParaRPr>
          </a:p>
          <a:p>
            <a:r>
              <a:rPr lang="zh-TW" altLang="en-US" sz="3600" dirty="0">
                <a:ln w="9000" cmpd="sng">
                  <a:noFill/>
                  <a:prstDash val="solid"/>
                </a:ln>
              </a:rPr>
              <a:t>擬制喪失新穎性</a:t>
            </a:r>
            <a:endParaRPr lang="en-US" altLang="zh-TW" sz="3600" dirty="0">
              <a:ln w="9000" cmpd="sng">
                <a:noFill/>
                <a:prstDash val="solid"/>
              </a:ln>
            </a:endParaRPr>
          </a:p>
          <a:p>
            <a:r>
              <a:rPr lang="zh-TW" altLang="en-US" sz="3600" dirty="0">
                <a:ln w="9000" cmpd="sng">
                  <a:noFill/>
                  <a:prstDash val="solid"/>
                </a:ln>
              </a:rPr>
              <a:t>進步性</a:t>
            </a:r>
            <a:endParaRPr lang="en-US" altLang="zh-TW" sz="3600" dirty="0">
              <a:ln w="9000" cmpd="sng">
                <a:noFill/>
                <a:prstDash val="solid"/>
              </a:ln>
            </a:endParaRPr>
          </a:p>
          <a:p>
            <a:r>
              <a:rPr lang="zh-TW" altLang="en-US" sz="3600" dirty="0">
                <a:ln w="9000" cmpd="sng">
                  <a:noFill/>
                  <a:prstDash val="solid"/>
                </a:ln>
              </a:rPr>
              <a:t>喪失新穎性或進步性之例外</a:t>
            </a:r>
            <a:endParaRPr lang="en-US" altLang="zh-TW" sz="3600" dirty="0">
              <a:ln w="9000" cmpd="sng">
                <a:noFill/>
                <a:prstDash val="solid"/>
              </a:ln>
            </a:endParaRPr>
          </a:p>
          <a:p>
            <a:r>
              <a:rPr lang="zh-TW" altLang="en-US" sz="3600" dirty="0">
                <a:ln w="9000" cmpd="sng">
                  <a:noFill/>
                  <a:prstDash val="solid"/>
                </a:ln>
              </a:rPr>
              <a:t>先申請原則</a:t>
            </a:r>
            <a:endParaRPr lang="en-US" altLang="zh-TW" sz="3600" dirty="0">
              <a:ln w="9000" cmpd="sng">
                <a:noFill/>
                <a:prstDash val="solid"/>
              </a:ln>
            </a:endParaRPr>
          </a:p>
          <a:p>
            <a:r>
              <a:rPr lang="zh-TW" altLang="en-US" sz="3600" dirty="0">
                <a:ln w="9000" cmpd="sng">
                  <a:noFill/>
                  <a:prstDash val="solid"/>
                </a:ln>
              </a:rPr>
              <a:t>一案兩請</a:t>
            </a:r>
            <a:endParaRPr lang="en-US" altLang="zh-TW" sz="3600" dirty="0">
              <a:ln w="9000" cmpd="sng">
                <a:noFill/>
                <a:prstDash val="solid"/>
              </a:ln>
            </a:endParaRPr>
          </a:p>
        </p:txBody>
      </p:sp>
      <p:sp>
        <p:nvSpPr>
          <p:cNvPr id="4" name="投影片編號版面配置區 3"/>
          <p:cNvSpPr>
            <a:spLocks noGrp="1"/>
          </p:cNvSpPr>
          <p:nvPr>
            <p:ph type="sldNum" sz="quarter" idx="12"/>
          </p:nvPr>
        </p:nvSpPr>
        <p:spPr/>
        <p:txBody>
          <a:bodyPr/>
          <a:lstStyle/>
          <a:p>
            <a:pPr>
              <a:defRPr/>
            </a:pPr>
            <a:fld id="{B83ACBEE-1837-4398-8376-AF0F7C4E2424}" type="slidenum">
              <a:rPr lang="zh-TW" altLang="en-US" smtClean="0">
                <a:solidFill>
                  <a:prstClr val="black">
                    <a:tint val="75000"/>
                  </a:prstClr>
                </a:solidFill>
              </a:rPr>
              <a:pPr>
                <a:defRPr/>
              </a:pPr>
              <a:t>1</a:t>
            </a:fld>
            <a:endParaRPr lang="zh-TW" altLang="en-US" dirty="0">
              <a:solidFill>
                <a:prstClr val="black">
                  <a:tint val="75000"/>
                </a:prstClr>
              </a:solidFill>
            </a:endParaRPr>
          </a:p>
        </p:txBody>
      </p:sp>
    </p:spTree>
    <p:extLst>
      <p:ext uri="{BB962C8B-B14F-4D97-AF65-F5344CB8AC3E}">
        <p14:creationId xmlns:p14="http://schemas.microsoft.com/office/powerpoint/2010/main" val="36890901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pPr>
              <a:defRPr/>
            </a:pPr>
            <a:fld id="{B83ACBEE-1837-4398-8376-AF0F7C4E2424}" type="slidenum">
              <a:rPr lang="zh-TW" altLang="en-US" smtClean="0">
                <a:solidFill>
                  <a:prstClr val="black">
                    <a:tint val="75000"/>
                  </a:prstClr>
                </a:solidFill>
              </a:rPr>
              <a:pPr>
                <a:defRPr/>
              </a:pPr>
              <a:t>2</a:t>
            </a:fld>
            <a:endParaRPr lang="zh-TW" altLang="en-US">
              <a:solidFill>
                <a:prstClr val="black">
                  <a:tint val="75000"/>
                </a:prstClr>
              </a:solidFill>
            </a:endParaRPr>
          </a:p>
        </p:txBody>
      </p:sp>
      <p:sp>
        <p:nvSpPr>
          <p:cNvPr id="6" name="標題 4"/>
          <p:cNvSpPr txBox="1">
            <a:spLocks/>
          </p:cNvSpPr>
          <p:nvPr/>
        </p:nvSpPr>
        <p:spPr>
          <a:xfrm>
            <a:off x="722313" y="4406900"/>
            <a:ext cx="7772400" cy="136207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800" b="1" kern="1200">
                <a:solidFill>
                  <a:schemeClr val="tx1"/>
                </a:solidFill>
                <a:latin typeface="微軟正黑體" pitchFamily="34" charset="-120"/>
                <a:ea typeface="微軟正黑體" pitchFamily="34" charset="-120"/>
                <a:cs typeface="+mj-cs"/>
              </a:defRPr>
            </a:lvl1pPr>
          </a:lstStyle>
          <a:p>
            <a:pPr algn="l"/>
            <a:r>
              <a:rPr lang="zh-TW" altLang="en-US" sz="5400" dirty="0"/>
              <a:t>產業利用性</a:t>
            </a:r>
          </a:p>
        </p:txBody>
      </p:sp>
    </p:spTree>
    <p:extLst>
      <p:ext uri="{BB962C8B-B14F-4D97-AF65-F5344CB8AC3E}">
        <p14:creationId xmlns:p14="http://schemas.microsoft.com/office/powerpoint/2010/main" val="2101204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91D5294-DB06-29E1-82F7-2FD6F6B8107F}"/>
              </a:ext>
            </a:extLst>
          </p:cNvPr>
          <p:cNvSpPr>
            <a:spLocks noGrp="1"/>
          </p:cNvSpPr>
          <p:nvPr>
            <p:ph type="title"/>
          </p:nvPr>
        </p:nvSpPr>
        <p:spPr/>
        <p:txBody>
          <a:bodyPr/>
          <a:lstStyle/>
          <a:p>
            <a:r>
              <a:rPr lang="zh-TW" altLang="en-US" dirty="0"/>
              <a:t>自行閱讀資料</a:t>
            </a:r>
          </a:p>
        </p:txBody>
      </p:sp>
      <p:sp>
        <p:nvSpPr>
          <p:cNvPr id="4" name="投影片編號版面配置區 3">
            <a:extLst>
              <a:ext uri="{FF2B5EF4-FFF2-40B4-BE49-F238E27FC236}">
                <a16:creationId xmlns:a16="http://schemas.microsoft.com/office/drawing/2014/main" id="{059EA146-7257-54CA-B267-C820E8F0C19C}"/>
              </a:ext>
            </a:extLst>
          </p:cNvPr>
          <p:cNvSpPr>
            <a:spLocks noGrp="1"/>
          </p:cNvSpPr>
          <p:nvPr>
            <p:ph type="sldNum" sz="quarter" idx="12"/>
          </p:nvPr>
        </p:nvSpPr>
        <p:spPr/>
        <p:txBody>
          <a:bodyPr/>
          <a:lstStyle/>
          <a:p>
            <a:fld id="{254D4C32-7A1A-45A5-84ED-81747F1ABFAE}" type="slidenum">
              <a:rPr lang="zh-TW" altLang="en-US" smtClean="0"/>
              <a:t>3</a:t>
            </a:fld>
            <a:endParaRPr lang="zh-TW" altLang="en-US"/>
          </a:p>
        </p:txBody>
      </p:sp>
      <p:sp>
        <p:nvSpPr>
          <p:cNvPr id="7" name="矩形 6">
            <a:extLst>
              <a:ext uri="{FF2B5EF4-FFF2-40B4-BE49-F238E27FC236}">
                <a16:creationId xmlns:a16="http://schemas.microsoft.com/office/drawing/2014/main" id="{9E831BF1-31F8-B84E-C126-062FD7B03D04}"/>
              </a:ext>
            </a:extLst>
          </p:cNvPr>
          <p:cNvSpPr/>
          <p:nvPr/>
        </p:nvSpPr>
        <p:spPr>
          <a:xfrm>
            <a:off x="395536" y="998318"/>
            <a:ext cx="8568952" cy="1323439"/>
          </a:xfrm>
          <a:prstGeom prst="rect">
            <a:avLst/>
          </a:prstGeom>
        </p:spPr>
        <p:txBody>
          <a:bodyPr wrap="square">
            <a:spAutoFit/>
          </a:bodyPr>
          <a:lstStyle/>
          <a:p>
            <a:r>
              <a:rPr lang="zh-TW" altLang="en-US" sz="2000" b="1" dirty="0">
                <a:ln w="9000" cmpd="sng">
                  <a:noFill/>
                  <a:prstDash val="solid"/>
                </a:ln>
                <a:latin typeface="微軟正黑體" panose="020B0604030504040204" pitchFamily="34" charset="-120"/>
                <a:ea typeface="微軟正黑體" panose="020B0604030504040204" pitchFamily="34" charset="-120"/>
              </a:rPr>
              <a:t>專利審查基準 </a:t>
            </a:r>
            <a:endParaRPr lang="en-US" altLang="zh-TW" sz="2000" b="1" dirty="0">
              <a:ln w="9000" cmpd="sng">
                <a:noFill/>
                <a:prstDash val="solid"/>
              </a:ln>
              <a:latin typeface="微軟正黑體" panose="020B0604030504040204" pitchFamily="34" charset="-120"/>
              <a:ea typeface="微軟正黑體" panose="020B0604030504040204" pitchFamily="34" charset="-120"/>
            </a:endParaRPr>
          </a:p>
          <a:p>
            <a:r>
              <a:rPr lang="zh-TW" altLang="en-US" sz="2000" b="1" dirty="0">
                <a:ln w="9000" cmpd="sng">
                  <a:noFill/>
                  <a:prstDash val="solid"/>
                </a:ln>
                <a:latin typeface="微軟正黑體" panose="020B0604030504040204" pitchFamily="34" charset="-120"/>
                <a:ea typeface="微軟正黑體" panose="020B0604030504040204" pitchFamily="34" charset="-120"/>
              </a:rPr>
              <a:t>第二篇 發明專利審查基準 </a:t>
            </a:r>
            <a:endParaRPr lang="en-US" altLang="zh-TW" sz="2000" b="1" dirty="0">
              <a:ln w="9000" cmpd="sng">
                <a:noFill/>
                <a:prstDash val="solid"/>
              </a:ln>
              <a:latin typeface="微軟正黑體" panose="020B0604030504040204" pitchFamily="34" charset="-120"/>
              <a:ea typeface="微軟正黑體" panose="020B0604030504040204" pitchFamily="34" charset="-120"/>
            </a:endParaRPr>
          </a:p>
          <a:p>
            <a:r>
              <a:rPr lang="zh-TW" altLang="en-US" sz="2000" b="1" dirty="0">
                <a:ln w="9000" cmpd="sng">
                  <a:noFill/>
                  <a:prstDash val="solid"/>
                </a:ln>
                <a:latin typeface="微軟正黑體" panose="020B0604030504040204" pitchFamily="34" charset="-120"/>
                <a:ea typeface="微軟正黑體" panose="020B0604030504040204" pitchFamily="34" charset="-120"/>
              </a:rPr>
              <a:t>第三章 專利要件</a:t>
            </a:r>
            <a:endParaRPr lang="en-US" altLang="zh-TW" sz="2000" b="1" dirty="0">
              <a:ln w="9000" cmpd="sng">
                <a:noFill/>
                <a:prstDash val="solid"/>
              </a:ln>
              <a:latin typeface="微軟正黑體" panose="020B0604030504040204" pitchFamily="34" charset="-120"/>
              <a:ea typeface="微軟正黑體" panose="020B0604030504040204" pitchFamily="34" charset="-120"/>
            </a:endParaRPr>
          </a:p>
          <a:p>
            <a:r>
              <a:rPr lang="en-US" altLang="zh-TW" sz="2000" dirty="0">
                <a:ln w="9000" cmpd="sng">
                  <a:noFill/>
                  <a:prstDash val="solid"/>
                </a:ln>
                <a:latin typeface="微軟正黑體" panose="020B0604030504040204" pitchFamily="34" charset="-120"/>
                <a:ea typeface="微軟正黑體" panose="020B0604030504040204" pitchFamily="34" charset="-120"/>
                <a:hlinkClick r:id="rId2"/>
              </a:rPr>
              <a:t>https://www1.tipo.gov.tw/PatentExamGuide/WORD1/0203.html</a:t>
            </a:r>
            <a:endParaRPr lang="en-US" altLang="zh-TW" sz="2000" b="1" dirty="0">
              <a:ln w="9000" cmpd="sng">
                <a:noFill/>
                <a:prstDash val="solid"/>
              </a:ln>
              <a:latin typeface="微軟正黑體" panose="020B0604030504040204" pitchFamily="34" charset="-120"/>
              <a:ea typeface="微軟正黑體" panose="020B0604030504040204" pitchFamily="34" charset="-120"/>
            </a:endParaRPr>
          </a:p>
        </p:txBody>
      </p:sp>
      <p:pic>
        <p:nvPicPr>
          <p:cNvPr id="6" name="圖片 5">
            <a:extLst>
              <a:ext uri="{FF2B5EF4-FFF2-40B4-BE49-F238E27FC236}">
                <a16:creationId xmlns:a16="http://schemas.microsoft.com/office/drawing/2014/main" id="{5C915038-8FB5-7C0B-7469-DF321D8CCD41}"/>
              </a:ext>
            </a:extLst>
          </p:cNvPr>
          <p:cNvPicPr>
            <a:picLocks noChangeAspect="1"/>
          </p:cNvPicPr>
          <p:nvPr/>
        </p:nvPicPr>
        <p:blipFill>
          <a:blip r:embed="rId3"/>
          <a:stretch>
            <a:fillRect/>
          </a:stretch>
        </p:blipFill>
        <p:spPr>
          <a:xfrm>
            <a:off x="395536" y="2531285"/>
            <a:ext cx="2382676" cy="2288000"/>
          </a:xfrm>
          <a:prstGeom prst="rect">
            <a:avLst/>
          </a:prstGeom>
        </p:spPr>
      </p:pic>
    </p:spTree>
    <p:extLst>
      <p:ext uri="{BB962C8B-B14F-4D97-AF65-F5344CB8AC3E}">
        <p14:creationId xmlns:p14="http://schemas.microsoft.com/office/powerpoint/2010/main" val="377824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D33FD33-1EED-9FAF-AC73-0D15FACD1A2B}"/>
              </a:ext>
            </a:extLst>
          </p:cNvPr>
          <p:cNvSpPr>
            <a:spLocks noGrp="1"/>
          </p:cNvSpPr>
          <p:nvPr>
            <p:ph type="title"/>
          </p:nvPr>
        </p:nvSpPr>
        <p:spPr/>
        <p:txBody>
          <a:bodyPr/>
          <a:lstStyle/>
          <a:p>
            <a:r>
              <a:rPr lang="zh-TW" altLang="en-US" dirty="0"/>
              <a:t>產業利用性</a:t>
            </a:r>
          </a:p>
        </p:txBody>
      </p:sp>
      <p:sp>
        <p:nvSpPr>
          <p:cNvPr id="3" name="內容版面配置區 2">
            <a:extLst>
              <a:ext uri="{FF2B5EF4-FFF2-40B4-BE49-F238E27FC236}">
                <a16:creationId xmlns:a16="http://schemas.microsoft.com/office/drawing/2014/main" id="{F4529925-0B0B-2D09-9864-9A87FD041C7D}"/>
              </a:ext>
            </a:extLst>
          </p:cNvPr>
          <p:cNvSpPr>
            <a:spLocks noGrp="1"/>
          </p:cNvSpPr>
          <p:nvPr>
            <p:ph idx="1"/>
          </p:nvPr>
        </p:nvSpPr>
        <p:spPr/>
        <p:txBody>
          <a:bodyPr>
            <a:normAutofit lnSpcReduction="10000"/>
          </a:bodyPr>
          <a:lstStyle/>
          <a:p>
            <a:r>
              <a:rPr lang="zh-TW" altLang="en-US" dirty="0"/>
              <a:t>專利法第</a:t>
            </a:r>
            <a:r>
              <a:rPr lang="en-US" altLang="zh-TW" dirty="0"/>
              <a:t>22</a:t>
            </a:r>
            <a:r>
              <a:rPr lang="zh-TW" altLang="en-US" dirty="0"/>
              <a:t>條第</a:t>
            </a:r>
            <a:r>
              <a:rPr lang="en-US" altLang="zh-TW" dirty="0"/>
              <a:t>1</a:t>
            </a:r>
            <a:r>
              <a:rPr lang="zh-TW" altLang="en-US" dirty="0"/>
              <a:t>項前半段： </a:t>
            </a:r>
          </a:p>
          <a:p>
            <a:pPr lvl="1"/>
            <a:r>
              <a:rPr lang="zh-TW" altLang="en-US" dirty="0"/>
              <a:t>可供產業上利用之發明，無下列情事之一，得依本法申請取得發明專利：</a:t>
            </a:r>
            <a:r>
              <a:rPr lang="en-US" altLang="zh-TW" dirty="0"/>
              <a:t>․․․ </a:t>
            </a:r>
          </a:p>
          <a:p>
            <a:pPr lvl="1"/>
            <a:endParaRPr lang="en-US" altLang="zh-TW" dirty="0"/>
          </a:p>
          <a:p>
            <a:r>
              <a:rPr lang="zh-TW" altLang="en-US" dirty="0"/>
              <a:t>審查基準第二篇第三章</a:t>
            </a:r>
            <a:endParaRPr lang="en-US" altLang="zh-TW" dirty="0"/>
          </a:p>
          <a:p>
            <a:pPr lvl="1"/>
            <a:r>
              <a:rPr lang="zh-TW" altLang="en-US" b="1" u="sng" dirty="0"/>
              <a:t>凡可供產業上利用之發明</a:t>
            </a:r>
            <a:r>
              <a:rPr lang="zh-TW" altLang="en-US" dirty="0"/>
              <a:t>得依本法申請取得發明專利，即指申請專利之發明必須在產業上得以利用</a:t>
            </a:r>
            <a:endParaRPr lang="en-US" altLang="zh-TW" dirty="0"/>
          </a:p>
          <a:p>
            <a:pPr lvl="1"/>
            <a:r>
              <a:rPr lang="zh-TW" altLang="en-US" dirty="0"/>
              <a:t>產業利用性係</a:t>
            </a:r>
            <a:r>
              <a:rPr lang="zh-TW" altLang="en-US" b="1" u="sng" dirty="0"/>
              <a:t>發明本質</a:t>
            </a:r>
            <a:r>
              <a:rPr lang="zh-TW" altLang="en-US" dirty="0"/>
              <a:t>之規定，不須檢索即可判斷，故通常在審查是否具新穎性及進步性之前即應先行判斷</a:t>
            </a:r>
          </a:p>
        </p:txBody>
      </p:sp>
      <p:sp>
        <p:nvSpPr>
          <p:cNvPr id="4" name="投影片編號版面配置區 3">
            <a:extLst>
              <a:ext uri="{FF2B5EF4-FFF2-40B4-BE49-F238E27FC236}">
                <a16:creationId xmlns:a16="http://schemas.microsoft.com/office/drawing/2014/main" id="{B17955C7-4F0C-3124-B3DA-34992C4EB965}"/>
              </a:ext>
            </a:extLst>
          </p:cNvPr>
          <p:cNvSpPr>
            <a:spLocks noGrp="1"/>
          </p:cNvSpPr>
          <p:nvPr>
            <p:ph type="sldNum" sz="quarter" idx="12"/>
          </p:nvPr>
        </p:nvSpPr>
        <p:spPr/>
        <p:txBody>
          <a:bodyPr/>
          <a:lstStyle/>
          <a:p>
            <a:fld id="{254D4C32-7A1A-45A5-84ED-81747F1ABFAE}" type="slidenum">
              <a:rPr lang="zh-TW" altLang="en-US" smtClean="0"/>
              <a:t>4</a:t>
            </a:fld>
            <a:endParaRPr lang="zh-TW" altLang="en-US"/>
          </a:p>
        </p:txBody>
      </p:sp>
    </p:spTree>
    <p:extLst>
      <p:ext uri="{BB962C8B-B14F-4D97-AF65-F5344CB8AC3E}">
        <p14:creationId xmlns:p14="http://schemas.microsoft.com/office/powerpoint/2010/main" val="2978678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DE3E5D12-4A7C-4174-04B4-E44BB42ED13F}"/>
              </a:ext>
            </a:extLst>
          </p:cNvPr>
          <p:cNvSpPr>
            <a:spLocks noGrp="1"/>
          </p:cNvSpPr>
          <p:nvPr>
            <p:ph type="title"/>
          </p:nvPr>
        </p:nvSpPr>
        <p:spPr/>
        <p:txBody>
          <a:bodyPr/>
          <a:lstStyle/>
          <a:p>
            <a:r>
              <a:rPr lang="zh-TW" altLang="en-US" dirty="0"/>
              <a:t>產業利用性</a:t>
            </a:r>
          </a:p>
        </p:txBody>
      </p:sp>
      <p:sp>
        <p:nvSpPr>
          <p:cNvPr id="3" name="內容版面配置區 2">
            <a:extLst>
              <a:ext uri="{FF2B5EF4-FFF2-40B4-BE49-F238E27FC236}">
                <a16:creationId xmlns:a16="http://schemas.microsoft.com/office/drawing/2014/main" id="{A7ED533A-E5FB-BA65-0FD4-D8A31586DA7E}"/>
              </a:ext>
            </a:extLst>
          </p:cNvPr>
          <p:cNvSpPr>
            <a:spLocks noGrp="1"/>
          </p:cNvSpPr>
          <p:nvPr>
            <p:ph idx="1"/>
          </p:nvPr>
        </p:nvSpPr>
        <p:spPr>
          <a:xfrm>
            <a:off x="457200" y="980727"/>
            <a:ext cx="8507288" cy="5740747"/>
          </a:xfrm>
        </p:spPr>
        <p:txBody>
          <a:bodyPr>
            <a:normAutofit fontScale="85000" lnSpcReduction="20000"/>
          </a:bodyPr>
          <a:lstStyle/>
          <a:p>
            <a:pPr>
              <a:lnSpc>
                <a:spcPct val="120000"/>
              </a:lnSpc>
            </a:pPr>
            <a:r>
              <a:rPr lang="zh-TW" altLang="en-US" dirty="0"/>
              <a:t>產業之定義</a:t>
            </a:r>
            <a:endParaRPr lang="en-US" altLang="zh-TW" dirty="0"/>
          </a:p>
          <a:p>
            <a:pPr lvl="1">
              <a:lnSpc>
                <a:spcPct val="120000"/>
              </a:lnSpc>
            </a:pPr>
            <a:r>
              <a:rPr lang="zh-TW" altLang="en-US" dirty="0"/>
              <a:t>專利法所稱產業應屬</a:t>
            </a:r>
            <a:r>
              <a:rPr lang="zh-TW" altLang="en-US" b="1" u="sng" dirty="0"/>
              <a:t>廣義</a:t>
            </a:r>
            <a:r>
              <a:rPr lang="zh-TW" altLang="en-US" dirty="0"/>
              <a:t>，包含</a:t>
            </a:r>
            <a:r>
              <a:rPr lang="zh-TW" altLang="en-US" u="sng" dirty="0"/>
              <a:t>任何領域中利用自然法則之技術思想而有技術性的活動</a:t>
            </a:r>
            <a:r>
              <a:rPr lang="zh-TW" altLang="en-US" dirty="0"/>
              <a:t>，例如工業、農業、林業、漁業、牧業、礦業、水產業等，甚至包含運輸業、通訊業、商業等</a:t>
            </a:r>
            <a:endParaRPr lang="en-US" altLang="zh-TW" dirty="0"/>
          </a:p>
          <a:p>
            <a:pPr>
              <a:lnSpc>
                <a:spcPct val="120000"/>
              </a:lnSpc>
            </a:pPr>
            <a:r>
              <a:rPr lang="zh-TW" altLang="en-US" dirty="0"/>
              <a:t>申請專利之發明</a:t>
            </a:r>
            <a:r>
              <a:rPr lang="zh-TW" altLang="en-US" u="sng" dirty="0"/>
              <a:t>在產業上能被製造或使用</a:t>
            </a:r>
            <a:r>
              <a:rPr lang="zh-TW" altLang="en-US" dirty="0"/>
              <a:t>，則認定該發明可供產業上利用，具產業利用性</a:t>
            </a:r>
            <a:endParaRPr lang="en-US" altLang="zh-TW" dirty="0"/>
          </a:p>
          <a:p>
            <a:pPr lvl="1">
              <a:lnSpc>
                <a:spcPct val="120000"/>
              </a:lnSpc>
            </a:pPr>
            <a:r>
              <a:rPr lang="zh-TW" altLang="en-US" b="1" dirty="0"/>
              <a:t>理論上可行但</a:t>
            </a:r>
            <a:r>
              <a:rPr lang="zh-TW" altLang="en-US" b="1" u="sng" dirty="0"/>
              <a:t>實際上顯然不能被製造或使用之發明</a:t>
            </a:r>
            <a:r>
              <a:rPr lang="zh-TW" altLang="en-US" u="sng" dirty="0"/>
              <a:t>，仍不具產業利用性</a:t>
            </a:r>
            <a:r>
              <a:rPr lang="zh-TW" altLang="en-US" dirty="0"/>
              <a:t>，例如為防止臭氧層減少而導致紫外線增加，以吸收紫外線之塑膠膜包覆整個地球表面的方法</a:t>
            </a:r>
            <a:r>
              <a:rPr lang="en-US" altLang="zh-TW" dirty="0"/>
              <a:t>[</a:t>
            </a:r>
            <a:r>
              <a:rPr lang="zh-TW" altLang="en-US" dirty="0"/>
              <a:t>不切實際</a:t>
            </a:r>
            <a:r>
              <a:rPr lang="en-US" altLang="zh-TW" dirty="0"/>
              <a:t>]</a:t>
            </a:r>
          </a:p>
          <a:p>
            <a:pPr lvl="1">
              <a:lnSpc>
                <a:spcPct val="120000"/>
              </a:lnSpc>
            </a:pPr>
            <a:r>
              <a:rPr lang="zh-TW" altLang="en-US" u="sng" dirty="0"/>
              <a:t>考量發明之本質</a:t>
            </a:r>
            <a:r>
              <a:rPr lang="zh-TW" altLang="en-US" dirty="0"/>
              <a:t>或說明書中記載該發明可供產業上利用之方式，若認定申請專利之發明</a:t>
            </a:r>
            <a:r>
              <a:rPr lang="zh-TW" altLang="en-US" b="1" dirty="0"/>
              <a:t>不能被製造或不能被使用</a:t>
            </a:r>
            <a:r>
              <a:rPr lang="en-US" altLang="zh-TW" b="1" dirty="0"/>
              <a:t>[</a:t>
            </a:r>
            <a:r>
              <a:rPr lang="zh-TW" altLang="en-US" dirty="0"/>
              <a:t>先天上不可行</a:t>
            </a:r>
            <a:r>
              <a:rPr lang="en-US" altLang="zh-TW" dirty="0"/>
              <a:t>]</a:t>
            </a:r>
            <a:endParaRPr lang="zh-TW" altLang="en-US" dirty="0"/>
          </a:p>
        </p:txBody>
      </p:sp>
      <p:sp>
        <p:nvSpPr>
          <p:cNvPr id="4" name="投影片編號版面配置區 3">
            <a:extLst>
              <a:ext uri="{FF2B5EF4-FFF2-40B4-BE49-F238E27FC236}">
                <a16:creationId xmlns:a16="http://schemas.microsoft.com/office/drawing/2014/main" id="{6FC7DF09-C58A-C465-986F-15725E792F06}"/>
              </a:ext>
            </a:extLst>
          </p:cNvPr>
          <p:cNvSpPr>
            <a:spLocks noGrp="1"/>
          </p:cNvSpPr>
          <p:nvPr>
            <p:ph type="sldNum" sz="quarter" idx="12"/>
          </p:nvPr>
        </p:nvSpPr>
        <p:spPr/>
        <p:txBody>
          <a:bodyPr/>
          <a:lstStyle/>
          <a:p>
            <a:fld id="{254D4C32-7A1A-45A5-84ED-81747F1ABFAE}" type="slidenum">
              <a:rPr lang="zh-TW" altLang="en-US" smtClean="0"/>
              <a:t>5</a:t>
            </a:fld>
            <a:endParaRPr lang="zh-TW" altLang="en-US"/>
          </a:p>
        </p:txBody>
      </p:sp>
    </p:spTree>
    <p:extLst>
      <p:ext uri="{BB962C8B-B14F-4D97-AF65-F5344CB8AC3E}">
        <p14:creationId xmlns:p14="http://schemas.microsoft.com/office/powerpoint/2010/main" val="1326369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DE3E5D12-4A7C-4174-04B4-E44BB42ED13F}"/>
              </a:ext>
            </a:extLst>
          </p:cNvPr>
          <p:cNvSpPr>
            <a:spLocks noGrp="1"/>
          </p:cNvSpPr>
          <p:nvPr>
            <p:ph type="title"/>
          </p:nvPr>
        </p:nvSpPr>
        <p:spPr/>
        <p:txBody>
          <a:bodyPr/>
          <a:lstStyle/>
          <a:p>
            <a:r>
              <a:rPr lang="zh-TW" altLang="en-US" dirty="0"/>
              <a:t>產業利用性</a:t>
            </a:r>
          </a:p>
        </p:txBody>
      </p:sp>
      <p:sp>
        <p:nvSpPr>
          <p:cNvPr id="4" name="投影片編號版面配置區 3">
            <a:extLst>
              <a:ext uri="{FF2B5EF4-FFF2-40B4-BE49-F238E27FC236}">
                <a16:creationId xmlns:a16="http://schemas.microsoft.com/office/drawing/2014/main" id="{6FC7DF09-C58A-C465-986F-15725E792F06}"/>
              </a:ext>
            </a:extLst>
          </p:cNvPr>
          <p:cNvSpPr>
            <a:spLocks noGrp="1"/>
          </p:cNvSpPr>
          <p:nvPr>
            <p:ph type="sldNum" sz="quarter" idx="12"/>
          </p:nvPr>
        </p:nvSpPr>
        <p:spPr/>
        <p:txBody>
          <a:bodyPr/>
          <a:lstStyle/>
          <a:p>
            <a:fld id="{254D4C32-7A1A-45A5-84ED-81747F1ABFAE}" type="slidenum">
              <a:rPr lang="zh-TW" altLang="en-US" smtClean="0"/>
              <a:t>6</a:t>
            </a:fld>
            <a:endParaRPr lang="zh-TW" altLang="en-US"/>
          </a:p>
        </p:txBody>
      </p:sp>
      <p:sp>
        <p:nvSpPr>
          <p:cNvPr id="6" name="文字方塊 5">
            <a:extLst>
              <a:ext uri="{FF2B5EF4-FFF2-40B4-BE49-F238E27FC236}">
                <a16:creationId xmlns:a16="http://schemas.microsoft.com/office/drawing/2014/main" id="{01F8E328-61E1-8384-0766-B09F1CE0EDCF}"/>
              </a:ext>
            </a:extLst>
          </p:cNvPr>
          <p:cNvSpPr txBox="1"/>
          <p:nvPr/>
        </p:nvSpPr>
        <p:spPr>
          <a:xfrm>
            <a:off x="2429272" y="908720"/>
            <a:ext cx="4285456" cy="400110"/>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ctr"/>
            <a:r>
              <a:rPr lang="zh-TW" altLang="en-US" sz="2000" dirty="0">
                <a:latin typeface="微軟正黑體" panose="020B0604030504040204" pitchFamily="34" charset="-120"/>
                <a:ea typeface="微軟正黑體" panose="020B0604030504040204" pitchFamily="34" charset="-120"/>
              </a:rPr>
              <a:t>產業利用性與可據以實現要件之差異</a:t>
            </a:r>
          </a:p>
        </p:txBody>
      </p:sp>
      <p:graphicFrame>
        <p:nvGraphicFramePr>
          <p:cNvPr id="7" name="表格 6">
            <a:extLst>
              <a:ext uri="{FF2B5EF4-FFF2-40B4-BE49-F238E27FC236}">
                <a16:creationId xmlns:a16="http://schemas.microsoft.com/office/drawing/2014/main" id="{FAAF7B5B-AB54-1839-7D90-627B13326464}"/>
              </a:ext>
            </a:extLst>
          </p:cNvPr>
          <p:cNvGraphicFramePr>
            <a:graphicFrameLocks noGrp="1"/>
          </p:cNvGraphicFramePr>
          <p:nvPr>
            <p:extLst>
              <p:ext uri="{D42A27DB-BD31-4B8C-83A1-F6EECF244321}">
                <p14:modId xmlns:p14="http://schemas.microsoft.com/office/powerpoint/2010/main" val="3518069967"/>
              </p:ext>
            </p:extLst>
          </p:nvPr>
        </p:nvGraphicFramePr>
        <p:xfrm>
          <a:off x="611560" y="1452846"/>
          <a:ext cx="8229600" cy="4222271"/>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3261545018"/>
                    </a:ext>
                  </a:extLst>
                </a:gridCol>
                <a:gridCol w="4114800">
                  <a:extLst>
                    <a:ext uri="{9D8B030D-6E8A-4147-A177-3AD203B41FA5}">
                      <a16:colId xmlns:a16="http://schemas.microsoft.com/office/drawing/2014/main" val="2469991308"/>
                    </a:ext>
                  </a:extLst>
                </a:gridCol>
              </a:tblGrid>
              <a:tr h="555358">
                <a:tc>
                  <a:txBody>
                    <a:bodyPr/>
                    <a:lstStyle/>
                    <a:p>
                      <a:pPr algn="ctr"/>
                      <a:r>
                        <a:rPr lang="zh-TW" altLang="en-US" sz="2000" dirty="0">
                          <a:latin typeface="微軟正黑體" panose="020B0604030504040204" pitchFamily="34" charset="-120"/>
                          <a:ea typeface="微軟正黑體" panose="020B0604030504040204" pitchFamily="34" charset="-120"/>
                        </a:rPr>
                        <a:t>產業利用性</a:t>
                      </a:r>
                    </a:p>
                  </a:txBody>
                  <a:tcPr anchor="ctr"/>
                </a:tc>
                <a:tc>
                  <a:txBody>
                    <a:bodyPr/>
                    <a:lstStyle/>
                    <a:p>
                      <a:pPr algn="ctr"/>
                      <a:r>
                        <a:rPr lang="zh-TW" altLang="en-US" sz="2000" dirty="0">
                          <a:latin typeface="微軟正黑體" panose="020B0604030504040204" pitchFamily="34" charset="-120"/>
                          <a:ea typeface="微軟正黑體" panose="020B0604030504040204" pitchFamily="34" charset="-120"/>
                        </a:rPr>
                        <a:t>可據以實現要件</a:t>
                      </a:r>
                    </a:p>
                  </a:txBody>
                  <a:tcPr anchor="ctr"/>
                </a:tc>
                <a:extLst>
                  <a:ext uri="{0D108BD9-81ED-4DB2-BD59-A6C34878D82A}">
                    <a16:rowId xmlns:a16="http://schemas.microsoft.com/office/drawing/2014/main" val="2836121394"/>
                  </a:ext>
                </a:extLst>
              </a:tr>
              <a:tr h="1576593">
                <a:tc>
                  <a:txBody>
                    <a:bodyPr/>
                    <a:lstStyle/>
                    <a:p>
                      <a:pPr algn="l"/>
                      <a:r>
                        <a:rPr lang="en-US" altLang="zh-TW" sz="2000" dirty="0">
                          <a:latin typeface="微軟正黑體" panose="020B0604030504040204" pitchFamily="34" charset="-120"/>
                          <a:ea typeface="微軟正黑體" panose="020B0604030504040204" pitchFamily="34" charset="-120"/>
                        </a:rPr>
                        <a:t>[</a:t>
                      </a:r>
                      <a:r>
                        <a:rPr lang="zh-TW" altLang="en-US" sz="2000" dirty="0">
                          <a:latin typeface="微軟正黑體" panose="020B0604030504040204" pitchFamily="34" charset="-120"/>
                          <a:ea typeface="微軟正黑體" panose="020B0604030504040204" pitchFamily="34" charset="-120"/>
                        </a:rPr>
                        <a:t>考慮發明本質</a:t>
                      </a:r>
                      <a:r>
                        <a:rPr lang="en-US" altLang="zh-TW" sz="2000" dirty="0">
                          <a:latin typeface="微軟正黑體" panose="020B0604030504040204" pitchFamily="34" charset="-120"/>
                          <a:ea typeface="微軟正黑體" panose="020B0604030504040204" pitchFamily="34" charset="-120"/>
                        </a:rPr>
                        <a:t>]</a:t>
                      </a:r>
                    </a:p>
                    <a:p>
                      <a:pPr algn="l"/>
                      <a:r>
                        <a:rPr lang="zh-TW" altLang="en-US" sz="2000" dirty="0">
                          <a:latin typeface="微軟正黑體" panose="020B0604030504040204" pitchFamily="34" charset="-120"/>
                          <a:ea typeface="微軟正黑體" panose="020B0604030504040204" pitchFamily="34" charset="-120"/>
                        </a:rPr>
                        <a:t>申請專利之發明必須</a:t>
                      </a:r>
                      <a:r>
                        <a:rPr lang="zh-TW" altLang="en-US" sz="2000" b="1" u="sng" dirty="0">
                          <a:latin typeface="微軟正黑體" panose="020B0604030504040204" pitchFamily="34" charset="-120"/>
                          <a:ea typeface="微軟正黑體" panose="020B0604030504040204" pitchFamily="34" charset="-120"/>
                        </a:rPr>
                        <a:t>能被製造或使用</a:t>
                      </a:r>
                    </a:p>
                  </a:txBody>
                  <a:tcPr>
                    <a:solidFill>
                      <a:schemeClr val="accent1">
                        <a:lumMod val="20000"/>
                        <a:lumOff val="80000"/>
                      </a:schemeClr>
                    </a:solidFill>
                  </a:tcPr>
                </a:tc>
                <a:tc>
                  <a:txBody>
                    <a:bodyPr/>
                    <a:lstStyle/>
                    <a:p>
                      <a:pPr algn="l"/>
                      <a:r>
                        <a:rPr lang="en-US" altLang="zh-TW" sz="2000" dirty="0">
                          <a:latin typeface="微軟正黑體" panose="020B0604030504040204" pitchFamily="34" charset="-120"/>
                          <a:ea typeface="微軟正黑體" panose="020B0604030504040204" pitchFamily="34" charset="-120"/>
                        </a:rPr>
                        <a:t>[</a:t>
                      </a:r>
                      <a:r>
                        <a:rPr lang="zh-TW" altLang="en-US" sz="2000" dirty="0">
                          <a:latin typeface="微軟正黑體" panose="020B0604030504040204" pitchFamily="34" charset="-120"/>
                          <a:ea typeface="微軟正黑體" panose="020B0604030504040204" pitchFamily="34" charset="-120"/>
                        </a:rPr>
                        <a:t>考慮揭露是否明確且充分</a:t>
                      </a:r>
                      <a:r>
                        <a:rPr lang="en-US" altLang="zh-TW" sz="2000" dirty="0">
                          <a:latin typeface="微軟正黑體" panose="020B0604030504040204" pitchFamily="34" charset="-120"/>
                          <a:ea typeface="微軟正黑體" panose="020B0604030504040204" pitchFamily="34" charset="-120"/>
                        </a:rPr>
                        <a:t>]</a:t>
                      </a:r>
                    </a:p>
                    <a:p>
                      <a:pPr algn="l"/>
                      <a:r>
                        <a:rPr lang="zh-TW" altLang="en-US" sz="2000" dirty="0">
                          <a:latin typeface="微軟正黑體" panose="020B0604030504040204" pitchFamily="34" charset="-120"/>
                          <a:ea typeface="微軟正黑體" panose="020B0604030504040204" pitchFamily="34" charset="-120"/>
                        </a:rPr>
                        <a:t>說明書的記載必須使該發明所屬技術領域中具有通常知識者，無須過度實驗即能瞭解申請專利之發明，而</a:t>
                      </a:r>
                      <a:r>
                        <a:rPr lang="zh-TW" altLang="en-US" sz="2000" b="1" u="sng" dirty="0">
                          <a:latin typeface="微軟正黑體" panose="020B0604030504040204" pitchFamily="34" charset="-120"/>
                          <a:ea typeface="微軟正黑體" panose="020B0604030504040204" pitchFamily="34" charset="-120"/>
                        </a:rPr>
                        <a:t>可據以製造及使用</a:t>
                      </a:r>
                    </a:p>
                  </a:txBody>
                  <a:tcPr>
                    <a:solidFill>
                      <a:schemeClr val="accent1">
                        <a:lumMod val="20000"/>
                        <a:lumOff val="80000"/>
                      </a:schemeClr>
                    </a:solidFill>
                  </a:tcPr>
                </a:tc>
                <a:extLst>
                  <a:ext uri="{0D108BD9-81ED-4DB2-BD59-A6C34878D82A}">
                    <a16:rowId xmlns:a16="http://schemas.microsoft.com/office/drawing/2014/main" val="3716829417"/>
                  </a:ext>
                </a:extLst>
              </a:tr>
              <a:tr h="2051473">
                <a:tc>
                  <a:txBody>
                    <a:bodyPr/>
                    <a:lstStyle/>
                    <a:p>
                      <a:pPr marL="342900" indent="-342900" algn="l">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先審究、層次低</a:t>
                      </a:r>
                      <a:endParaRPr lang="en-US" altLang="zh-TW" sz="2000" dirty="0">
                        <a:latin typeface="微軟正黑體" panose="020B0604030504040204" pitchFamily="34" charset="-120"/>
                        <a:ea typeface="微軟正黑體" panose="020B0604030504040204" pitchFamily="34" charset="-120"/>
                      </a:endParaRPr>
                    </a:p>
                    <a:p>
                      <a:pPr marL="800100" lvl="1" indent="-342900" algn="l">
                        <a:buFont typeface="Wingdings" panose="05000000000000000000" pitchFamily="2" charset="2"/>
                        <a:buChar char="Ø"/>
                      </a:pPr>
                      <a:r>
                        <a:rPr lang="zh-TW" altLang="en-US" sz="2000" dirty="0"/>
                        <a:t>不具產業利用性，亦不可能據以實現</a:t>
                      </a:r>
                      <a:endParaRPr lang="zh-TW" altLang="en-US" sz="2000" dirty="0">
                        <a:latin typeface="微軟正黑體" panose="020B0604030504040204" pitchFamily="34" charset="-120"/>
                        <a:ea typeface="微軟正黑體" panose="020B0604030504040204" pitchFamily="34" charset="-120"/>
                      </a:endParaRPr>
                    </a:p>
                  </a:txBody>
                  <a:tcPr>
                    <a:solidFill>
                      <a:schemeClr val="accent1">
                        <a:lumMod val="20000"/>
                        <a:lumOff val="80000"/>
                      </a:schemeClr>
                    </a:solidFill>
                  </a:tcPr>
                </a:tc>
                <a:tc>
                  <a:txBody>
                    <a:bodyPr/>
                    <a:lstStyle/>
                    <a:p>
                      <a:pPr marL="342900" indent="-342900" algn="l">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後審究、層次高</a:t>
                      </a:r>
                      <a:endParaRPr lang="en-US" altLang="zh-TW" sz="2000" dirty="0">
                        <a:latin typeface="微軟正黑體" panose="020B0604030504040204" pitchFamily="34" charset="-120"/>
                        <a:ea typeface="微軟正黑體" panose="020B0604030504040204" pitchFamily="34" charset="-120"/>
                      </a:endParaRPr>
                    </a:p>
                    <a:p>
                      <a:pPr marL="800100" lvl="1" indent="-342900" algn="l">
                        <a:buFont typeface="Wingdings" panose="05000000000000000000" pitchFamily="2" charset="2"/>
                        <a:buChar char="Ø"/>
                      </a:pPr>
                      <a:r>
                        <a:rPr lang="zh-TW" altLang="en-US" sz="2000" dirty="0">
                          <a:latin typeface="微軟正黑體" panose="020B0604030504040204" pitchFamily="34" charset="-120"/>
                          <a:ea typeface="微軟正黑體" panose="020B0604030504040204" pitchFamily="34" charset="-120"/>
                        </a:rPr>
                        <a:t>發明實際上有被製造或使用之可能性，具有產業利用性；惟若其</a:t>
                      </a:r>
                      <a:r>
                        <a:rPr lang="zh-TW" altLang="en-US" sz="2000" u="sng" dirty="0">
                          <a:latin typeface="微軟正黑體" panose="020B0604030504040204" pitchFamily="34" charset="-120"/>
                          <a:ea typeface="微軟正黑體" panose="020B0604030504040204" pitchFamily="34" charset="-120"/>
                        </a:rPr>
                        <a:t>說明書中未記載如何製造及使用該發明時</a:t>
                      </a:r>
                      <a:r>
                        <a:rPr lang="zh-TW" altLang="en-US" sz="2000" dirty="0">
                          <a:latin typeface="微軟正黑體" panose="020B0604030504040204" pitchFamily="34" charset="-120"/>
                          <a:ea typeface="微軟正黑體" panose="020B0604030504040204" pitchFamily="34" charset="-120"/>
                        </a:rPr>
                        <a:t>，則違反可據以實現要件</a:t>
                      </a:r>
                      <a:endParaRPr lang="en-US" altLang="zh-TW" sz="2000" dirty="0">
                        <a:latin typeface="微軟正黑體" panose="020B0604030504040204" pitchFamily="34" charset="-120"/>
                        <a:ea typeface="微軟正黑體" panose="020B0604030504040204" pitchFamily="34" charset="-120"/>
                      </a:endParaRPr>
                    </a:p>
                  </a:txBody>
                  <a:tcPr>
                    <a:solidFill>
                      <a:schemeClr val="accent1">
                        <a:lumMod val="20000"/>
                        <a:lumOff val="80000"/>
                      </a:schemeClr>
                    </a:solidFill>
                  </a:tcPr>
                </a:tc>
                <a:extLst>
                  <a:ext uri="{0D108BD9-81ED-4DB2-BD59-A6C34878D82A}">
                    <a16:rowId xmlns:a16="http://schemas.microsoft.com/office/drawing/2014/main" val="4146496935"/>
                  </a:ext>
                </a:extLst>
              </a:tr>
            </a:tbl>
          </a:graphicData>
        </a:graphic>
      </p:graphicFrame>
    </p:spTree>
    <p:extLst>
      <p:ext uri="{BB962C8B-B14F-4D97-AF65-F5344CB8AC3E}">
        <p14:creationId xmlns:p14="http://schemas.microsoft.com/office/powerpoint/2010/main" val="878027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pPr>
              <a:defRPr/>
            </a:pPr>
            <a:fld id="{B83ACBEE-1837-4398-8376-AF0F7C4E2424}" type="slidenum">
              <a:rPr lang="zh-TW" altLang="en-US" smtClean="0">
                <a:solidFill>
                  <a:prstClr val="black">
                    <a:tint val="75000"/>
                  </a:prstClr>
                </a:solidFill>
              </a:rPr>
              <a:pPr>
                <a:defRPr/>
              </a:pPr>
              <a:t>7</a:t>
            </a:fld>
            <a:endParaRPr lang="zh-TW" altLang="en-US">
              <a:solidFill>
                <a:prstClr val="black">
                  <a:tint val="75000"/>
                </a:prstClr>
              </a:solidFill>
            </a:endParaRPr>
          </a:p>
        </p:txBody>
      </p:sp>
      <p:sp>
        <p:nvSpPr>
          <p:cNvPr id="6" name="標題 4"/>
          <p:cNvSpPr txBox="1">
            <a:spLocks/>
          </p:cNvSpPr>
          <p:nvPr/>
        </p:nvSpPr>
        <p:spPr>
          <a:xfrm>
            <a:off x="722313" y="4406900"/>
            <a:ext cx="7772400" cy="136207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800" b="1" kern="1200">
                <a:solidFill>
                  <a:schemeClr val="tx1"/>
                </a:solidFill>
                <a:latin typeface="微軟正黑體" pitchFamily="34" charset="-120"/>
                <a:ea typeface="微軟正黑體" pitchFamily="34" charset="-120"/>
                <a:cs typeface="+mj-cs"/>
              </a:defRPr>
            </a:lvl1pPr>
          </a:lstStyle>
          <a:p>
            <a:pPr algn="l"/>
            <a:r>
              <a:rPr lang="zh-TW" altLang="en-US" sz="5400" dirty="0"/>
              <a:t>新穎性</a:t>
            </a:r>
          </a:p>
        </p:txBody>
      </p:sp>
    </p:spTree>
    <p:extLst>
      <p:ext uri="{BB962C8B-B14F-4D97-AF65-F5344CB8AC3E}">
        <p14:creationId xmlns:p14="http://schemas.microsoft.com/office/powerpoint/2010/main" val="11679260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DE3E5D12-4A7C-4174-04B4-E44BB42ED13F}"/>
              </a:ext>
            </a:extLst>
          </p:cNvPr>
          <p:cNvSpPr>
            <a:spLocks noGrp="1"/>
          </p:cNvSpPr>
          <p:nvPr>
            <p:ph type="title"/>
          </p:nvPr>
        </p:nvSpPr>
        <p:spPr/>
        <p:txBody>
          <a:bodyPr/>
          <a:lstStyle/>
          <a:p>
            <a:r>
              <a:rPr lang="zh-TW" altLang="en-US" dirty="0"/>
              <a:t>新穎性</a:t>
            </a:r>
          </a:p>
        </p:txBody>
      </p:sp>
      <p:sp>
        <p:nvSpPr>
          <p:cNvPr id="3" name="內容版面配置區 2">
            <a:extLst>
              <a:ext uri="{FF2B5EF4-FFF2-40B4-BE49-F238E27FC236}">
                <a16:creationId xmlns:a16="http://schemas.microsoft.com/office/drawing/2014/main" id="{A7ED533A-E5FB-BA65-0FD4-D8A31586DA7E}"/>
              </a:ext>
            </a:extLst>
          </p:cNvPr>
          <p:cNvSpPr>
            <a:spLocks noGrp="1"/>
          </p:cNvSpPr>
          <p:nvPr>
            <p:ph idx="1"/>
          </p:nvPr>
        </p:nvSpPr>
        <p:spPr>
          <a:xfrm>
            <a:off x="457200" y="873719"/>
            <a:ext cx="8507288" cy="2640127"/>
          </a:xfrm>
        </p:spPr>
        <p:txBody>
          <a:bodyPr>
            <a:normAutofit fontScale="77500" lnSpcReduction="20000"/>
          </a:bodyPr>
          <a:lstStyle/>
          <a:p>
            <a:r>
              <a:rPr lang="zh-TW" altLang="en-US" dirty="0"/>
              <a:t>專利法第</a:t>
            </a:r>
            <a:r>
              <a:rPr lang="en-US" altLang="zh-TW" dirty="0"/>
              <a:t>22</a:t>
            </a:r>
            <a:r>
              <a:rPr lang="zh-TW" altLang="en-US" dirty="0"/>
              <a:t>條第</a:t>
            </a:r>
            <a:r>
              <a:rPr lang="en-US" altLang="zh-TW" dirty="0"/>
              <a:t>1</a:t>
            </a:r>
            <a:r>
              <a:rPr lang="zh-TW" altLang="en-US" dirty="0"/>
              <a:t>項</a:t>
            </a:r>
          </a:p>
          <a:p>
            <a:pPr lvl="1"/>
            <a:r>
              <a:rPr lang="zh-TW" altLang="en-US" dirty="0"/>
              <a:t>可供產業上利用之發明，無下列情事之一，得依本法申請取得發明專利： </a:t>
            </a:r>
          </a:p>
          <a:p>
            <a:pPr marL="857250" lvl="2" indent="0">
              <a:buNone/>
            </a:pPr>
            <a:r>
              <a:rPr lang="zh-TW" altLang="en-US" dirty="0"/>
              <a:t>一、申請前已見於刊物者。 </a:t>
            </a:r>
          </a:p>
          <a:p>
            <a:pPr marL="857250" lvl="2" indent="0">
              <a:buNone/>
            </a:pPr>
            <a:r>
              <a:rPr lang="zh-TW" altLang="en-US" dirty="0"/>
              <a:t>二、申請前已公開實施者。 </a:t>
            </a:r>
          </a:p>
          <a:p>
            <a:pPr marL="857250" lvl="2" indent="0">
              <a:buNone/>
            </a:pPr>
            <a:r>
              <a:rPr lang="zh-TW" altLang="en-US" dirty="0"/>
              <a:t>三、申請前已為公眾所知悉者。</a:t>
            </a:r>
            <a:endParaRPr lang="en-US" altLang="zh-TW" dirty="0"/>
          </a:p>
          <a:p>
            <a:pPr marL="514350" indent="-457200"/>
            <a:r>
              <a:rPr lang="zh-TW" altLang="en-US" dirty="0"/>
              <a:t>申請專利之發明未構成</a:t>
            </a:r>
            <a:r>
              <a:rPr lang="zh-TW" altLang="en-US" b="1" u="sng" dirty="0"/>
              <a:t>先前技術的一部分</a:t>
            </a:r>
            <a:r>
              <a:rPr lang="zh-TW" altLang="en-US" dirty="0"/>
              <a:t>時，稱該發明具新穎性。</a:t>
            </a:r>
          </a:p>
        </p:txBody>
      </p:sp>
      <p:sp>
        <p:nvSpPr>
          <p:cNvPr id="4" name="投影片編號版面配置區 3">
            <a:extLst>
              <a:ext uri="{FF2B5EF4-FFF2-40B4-BE49-F238E27FC236}">
                <a16:creationId xmlns:a16="http://schemas.microsoft.com/office/drawing/2014/main" id="{6FC7DF09-C58A-C465-986F-15725E792F06}"/>
              </a:ext>
            </a:extLst>
          </p:cNvPr>
          <p:cNvSpPr>
            <a:spLocks noGrp="1"/>
          </p:cNvSpPr>
          <p:nvPr>
            <p:ph type="sldNum" sz="quarter" idx="12"/>
          </p:nvPr>
        </p:nvSpPr>
        <p:spPr>
          <a:xfrm>
            <a:off x="6948264" y="6356350"/>
            <a:ext cx="2133600" cy="365125"/>
          </a:xfrm>
        </p:spPr>
        <p:txBody>
          <a:bodyPr/>
          <a:lstStyle/>
          <a:p>
            <a:fld id="{254D4C32-7A1A-45A5-84ED-81747F1ABFAE}" type="slidenum">
              <a:rPr lang="zh-TW" altLang="en-US" smtClean="0"/>
              <a:t>8</a:t>
            </a:fld>
            <a:endParaRPr lang="zh-TW" altLang="en-US" dirty="0"/>
          </a:p>
        </p:txBody>
      </p:sp>
      <p:grpSp>
        <p:nvGrpSpPr>
          <p:cNvPr id="15" name="群組 14">
            <a:extLst>
              <a:ext uri="{FF2B5EF4-FFF2-40B4-BE49-F238E27FC236}">
                <a16:creationId xmlns:a16="http://schemas.microsoft.com/office/drawing/2014/main" id="{A1D27A07-7043-9240-E5C0-A83E73FA3122}"/>
              </a:ext>
            </a:extLst>
          </p:cNvPr>
          <p:cNvGrpSpPr/>
          <p:nvPr/>
        </p:nvGrpSpPr>
        <p:grpSpPr>
          <a:xfrm>
            <a:off x="4355976" y="3626661"/>
            <a:ext cx="4425852" cy="3094814"/>
            <a:chOff x="4885800" y="3500200"/>
            <a:chExt cx="3896028" cy="3167549"/>
          </a:xfrm>
        </p:grpSpPr>
        <p:sp>
          <p:nvSpPr>
            <p:cNvPr id="12" name="內容版面配置區 2">
              <a:extLst>
                <a:ext uri="{FF2B5EF4-FFF2-40B4-BE49-F238E27FC236}">
                  <a16:creationId xmlns:a16="http://schemas.microsoft.com/office/drawing/2014/main" id="{ACD347E4-547B-88BC-DC10-661948D45474}"/>
                </a:ext>
              </a:extLst>
            </p:cNvPr>
            <p:cNvSpPr txBox="1">
              <a:spLocks/>
            </p:cNvSpPr>
            <p:nvPr/>
          </p:nvSpPr>
          <p:spPr>
            <a:xfrm>
              <a:off x="4885800" y="3500200"/>
              <a:ext cx="3896028" cy="3167549"/>
            </a:xfrm>
            <a:prstGeom prst="rect">
              <a:avLst/>
            </a:prstGeom>
          </p:spPr>
          <p:style>
            <a:lnRef idx="2">
              <a:schemeClr val="dk1"/>
            </a:lnRef>
            <a:fillRef idx="1">
              <a:schemeClr val="lt1"/>
            </a:fillRef>
            <a:effectRef idx="0">
              <a:schemeClr val="dk1"/>
            </a:effectRef>
            <a:fontRef idx="minor">
              <a:schemeClr val="dk1"/>
            </a:fontRef>
          </p:style>
          <p:txBody>
            <a:bodyPr vert="horz" lIns="36000" tIns="45720" rIns="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軟正黑體" panose="020B0604030504040204" pitchFamily="34" charset="-120"/>
                  <a:ea typeface="微軟正黑體" panose="020B0604030504040204" pitchFamily="34" charset="-120"/>
                  <a:cs typeface="Adobe 繁黑體 Std B"/>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軟正黑體" panose="020B0604030504040204" pitchFamily="34" charset="-120"/>
                  <a:ea typeface="微軟正黑體" panose="020B0604030504040204" pitchFamily="34" charset="-120"/>
                  <a:cs typeface="Adobe 繁黑體 Std B"/>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軟正黑體" panose="020B0604030504040204" pitchFamily="34" charset="-120"/>
                  <a:ea typeface="微軟正黑體" panose="020B0604030504040204" pitchFamily="34" charset="-120"/>
                  <a:cs typeface="Adobe 繁黑體 Std B"/>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軟正黑體" panose="020B0604030504040204" pitchFamily="34" charset="-120"/>
                  <a:ea typeface="微軟正黑體" panose="020B0604030504040204" pitchFamily="34" charset="-120"/>
                  <a:cs typeface="Adobe 繁黑體 Std B"/>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軟正黑體" panose="020B0604030504040204" pitchFamily="34" charset="-120"/>
                  <a:ea typeface="微軟正黑體" panose="020B0604030504040204" pitchFamily="34" charset="-120"/>
                  <a:cs typeface="Adobe 繁黑體 Std B"/>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indent="-174625">
                <a:lnSpc>
                  <a:spcPts val="2100"/>
                </a:lnSpc>
                <a:spcBef>
                  <a:spcPts val="0"/>
                </a:spcBef>
              </a:pPr>
              <a:r>
                <a:rPr lang="zh-TW" altLang="en-US" sz="1800" dirty="0"/>
                <a:t>先前技術</a:t>
              </a:r>
              <a:endParaRPr lang="en-US" altLang="zh-TW" sz="1800" dirty="0"/>
            </a:p>
            <a:p>
              <a:pPr marL="360363" lvl="1" indent="-198438">
                <a:lnSpc>
                  <a:spcPts val="2100"/>
                </a:lnSpc>
                <a:spcBef>
                  <a:spcPts val="0"/>
                </a:spcBef>
              </a:pPr>
              <a:r>
                <a:rPr lang="zh-TW" altLang="en-US" sz="1800" dirty="0"/>
                <a:t>申請前所有能為公眾得知之資訊</a:t>
              </a:r>
              <a:endParaRPr lang="en-US" altLang="zh-TW" sz="1800" dirty="0"/>
            </a:p>
            <a:p>
              <a:pPr marL="360363" lvl="1" indent="-198438">
                <a:lnSpc>
                  <a:spcPts val="2100"/>
                </a:lnSpc>
                <a:spcBef>
                  <a:spcPts val="0"/>
                </a:spcBef>
              </a:pPr>
              <a:r>
                <a:rPr lang="zh-TW" altLang="en-US" sz="1800" dirty="0"/>
                <a:t>不限於</a:t>
              </a:r>
              <a:r>
                <a:rPr lang="zh-TW" altLang="en-US" sz="1800" u="sng" dirty="0"/>
                <a:t>世界上任何</a:t>
              </a:r>
              <a:r>
                <a:rPr lang="zh-TW" altLang="en-US" sz="1800" dirty="0"/>
                <a:t>地方、任何語言或任何形式</a:t>
              </a:r>
              <a:endParaRPr lang="en-US" altLang="zh-TW" sz="1800" dirty="0"/>
            </a:p>
            <a:p>
              <a:pPr marL="360363" lvl="1" indent="-198438">
                <a:lnSpc>
                  <a:spcPts val="2100"/>
                </a:lnSpc>
                <a:spcBef>
                  <a:spcPts val="0"/>
                </a:spcBef>
              </a:pPr>
              <a:r>
                <a:rPr lang="zh-TW" altLang="en-US" sz="1800" dirty="0"/>
                <a:t>不以公眾實際上已真正獲知其技術內容為必要</a:t>
              </a:r>
              <a:endParaRPr lang="en-US" altLang="zh-TW" sz="1800" dirty="0"/>
            </a:p>
            <a:p>
              <a:pPr marL="360363" lvl="1" indent="-198438">
                <a:lnSpc>
                  <a:spcPts val="2100"/>
                </a:lnSpc>
                <a:spcBef>
                  <a:spcPts val="0"/>
                </a:spcBef>
              </a:pPr>
              <a:r>
                <a:rPr lang="zh-TW" altLang="en-US" sz="1800" dirty="0"/>
                <a:t>負有保密義務之人所知悉應保密之技術不屬於先前技術</a:t>
              </a:r>
              <a:endParaRPr lang="en-US" altLang="zh-TW" sz="1800" dirty="0"/>
            </a:p>
            <a:p>
              <a:pPr marL="360363" lvl="1" indent="-198438">
                <a:lnSpc>
                  <a:spcPts val="2100"/>
                </a:lnSpc>
                <a:spcBef>
                  <a:spcPts val="0"/>
                </a:spcBef>
              </a:pPr>
              <a:r>
                <a:rPr lang="zh-TW" altLang="en-US" sz="1800" dirty="0"/>
                <a:t>若其違反保密義務而洩漏技術，以致該技術內容能為公眾得知時，則該技術屬於先前技術</a:t>
              </a:r>
              <a:endParaRPr lang="en-US" altLang="zh-TW" sz="1800" dirty="0"/>
            </a:p>
          </p:txBody>
        </p:sp>
        <p:sp>
          <p:nvSpPr>
            <p:cNvPr id="14" name="矩形: 圓角 13">
              <a:extLst>
                <a:ext uri="{FF2B5EF4-FFF2-40B4-BE49-F238E27FC236}">
                  <a16:creationId xmlns:a16="http://schemas.microsoft.com/office/drawing/2014/main" id="{06D96F04-FDB0-EB33-D24D-E95FE206B08D}"/>
                </a:ext>
              </a:extLst>
            </p:cNvPr>
            <p:cNvSpPr/>
            <p:nvPr/>
          </p:nvSpPr>
          <p:spPr>
            <a:xfrm>
              <a:off x="5232136" y="3798541"/>
              <a:ext cx="604481" cy="270446"/>
            </a:xfrm>
            <a:prstGeom prst="roundRect">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2100"/>
                </a:lnSpc>
              </a:pPr>
              <a:endParaRPr lang="zh-TW" altLang="en-US"/>
            </a:p>
          </p:txBody>
        </p:sp>
      </p:grpSp>
      <p:sp>
        <p:nvSpPr>
          <p:cNvPr id="16" name="圖說文字: 直線不加上框線 15">
            <a:extLst>
              <a:ext uri="{FF2B5EF4-FFF2-40B4-BE49-F238E27FC236}">
                <a16:creationId xmlns:a16="http://schemas.microsoft.com/office/drawing/2014/main" id="{6FE30919-E64C-BFDE-84F5-2DB79FE7141D}"/>
              </a:ext>
            </a:extLst>
          </p:cNvPr>
          <p:cNvSpPr/>
          <p:nvPr/>
        </p:nvSpPr>
        <p:spPr>
          <a:xfrm>
            <a:off x="6444208" y="3209620"/>
            <a:ext cx="2438544" cy="365125"/>
          </a:xfrm>
          <a:prstGeom prst="callout1">
            <a:avLst>
              <a:gd name="adj1" fmla="val 53384"/>
              <a:gd name="adj2" fmla="val -1153"/>
              <a:gd name="adj3" fmla="val 197755"/>
              <a:gd name="adj4" fmla="val -39529"/>
            </a:avLst>
          </a:prstGeom>
          <a:noFill/>
          <a:ln>
            <a:tailEnd type="stealth"/>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zh-TW" altLang="en-US" b="1" dirty="0">
                <a:solidFill>
                  <a:srgbClr val="FF0000"/>
                </a:solidFill>
                <a:latin typeface="微軟正黑體" panose="020B0604030504040204" pitchFamily="34" charset="-120"/>
                <a:ea typeface="微軟正黑體" panose="020B0604030504040204" pitchFamily="34" charset="-120"/>
              </a:rPr>
              <a:t>申請日或優先權日之前</a:t>
            </a:r>
          </a:p>
        </p:txBody>
      </p:sp>
      <p:sp>
        <p:nvSpPr>
          <p:cNvPr id="17" name="矩形 16">
            <a:extLst>
              <a:ext uri="{FF2B5EF4-FFF2-40B4-BE49-F238E27FC236}">
                <a16:creationId xmlns:a16="http://schemas.microsoft.com/office/drawing/2014/main" id="{C015F4C2-4003-4DBB-3F1A-056D3F3F4783}"/>
              </a:ext>
            </a:extLst>
          </p:cNvPr>
          <p:cNvSpPr/>
          <p:nvPr/>
        </p:nvSpPr>
        <p:spPr>
          <a:xfrm>
            <a:off x="395536" y="4135319"/>
            <a:ext cx="1440160" cy="123789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TW" altLang="en-US" sz="1800" b="1" dirty="0">
                <a:latin typeface="微軟正黑體" panose="020B0604030504040204" pitchFamily="34" charset="-120"/>
                <a:ea typeface="微軟正黑體" panose="020B0604030504040204" pitchFamily="34" charset="-120"/>
              </a:rPr>
              <a:t>技術特徵</a:t>
            </a:r>
            <a:r>
              <a:rPr lang="en-US" altLang="zh-TW" sz="1800" b="1" dirty="0">
                <a:latin typeface="微軟正黑體" panose="020B0604030504040204" pitchFamily="34" charset="-120"/>
                <a:ea typeface="微軟正黑體" panose="020B0604030504040204" pitchFamily="34" charset="-120"/>
              </a:rPr>
              <a:t>A</a:t>
            </a:r>
            <a:r>
              <a:rPr lang="zh-TW" altLang="en-US" sz="1800" b="1" dirty="0">
                <a:latin typeface="微軟正黑體" panose="020B0604030504040204" pitchFamily="34" charset="-120"/>
                <a:ea typeface="微軟正黑體" panose="020B0604030504040204" pitchFamily="34" charset="-120"/>
              </a:rPr>
              <a:t>技術特徵</a:t>
            </a:r>
            <a:r>
              <a:rPr lang="en-US" altLang="zh-TW" sz="1800" b="1" dirty="0">
                <a:latin typeface="微軟正黑體" panose="020B0604030504040204" pitchFamily="34" charset="-120"/>
                <a:ea typeface="微軟正黑體" panose="020B0604030504040204" pitchFamily="34" charset="-120"/>
              </a:rPr>
              <a:t>B</a:t>
            </a:r>
          </a:p>
          <a:p>
            <a:pPr algn="ctr"/>
            <a:r>
              <a:rPr lang="zh-TW" altLang="en-US" sz="1800" b="1" dirty="0">
                <a:latin typeface="微軟正黑體" panose="020B0604030504040204" pitchFamily="34" charset="-120"/>
                <a:ea typeface="微軟正黑體" panose="020B0604030504040204" pitchFamily="34" charset="-120"/>
              </a:rPr>
              <a:t>技術特徵</a:t>
            </a:r>
            <a:r>
              <a:rPr lang="en-US" altLang="zh-TW" b="1" dirty="0">
                <a:latin typeface="微軟正黑體" panose="020B0604030504040204" pitchFamily="34" charset="-120"/>
                <a:ea typeface="微軟正黑體" panose="020B0604030504040204" pitchFamily="34" charset="-120"/>
              </a:rPr>
              <a:t>C</a:t>
            </a:r>
            <a:endParaRPr lang="en-US" altLang="zh-TW" sz="1800" b="1" dirty="0">
              <a:latin typeface="微軟正黑體" panose="020B0604030504040204" pitchFamily="34" charset="-120"/>
              <a:ea typeface="微軟正黑體" panose="020B0604030504040204" pitchFamily="34" charset="-120"/>
            </a:endParaRPr>
          </a:p>
        </p:txBody>
      </p:sp>
      <p:sp>
        <p:nvSpPr>
          <p:cNvPr id="18" name="矩形 17">
            <a:extLst>
              <a:ext uri="{FF2B5EF4-FFF2-40B4-BE49-F238E27FC236}">
                <a16:creationId xmlns:a16="http://schemas.microsoft.com/office/drawing/2014/main" id="{DBE01906-0674-BDFD-8FFD-9BCFD3963C2E}"/>
              </a:ext>
            </a:extLst>
          </p:cNvPr>
          <p:cNvSpPr/>
          <p:nvPr/>
        </p:nvSpPr>
        <p:spPr>
          <a:xfrm>
            <a:off x="2229131" y="4138517"/>
            <a:ext cx="1440160" cy="8026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TW" altLang="en-US" sz="1800" b="1" dirty="0">
                <a:latin typeface="微軟正黑體" panose="020B0604030504040204" pitchFamily="34" charset="-120"/>
                <a:ea typeface="微軟正黑體" panose="020B0604030504040204" pitchFamily="34" charset="-120"/>
              </a:rPr>
              <a:t>技術特徵</a:t>
            </a:r>
            <a:r>
              <a:rPr lang="en-US" altLang="zh-TW" sz="1800" b="1" dirty="0">
                <a:latin typeface="微軟正黑體" panose="020B0604030504040204" pitchFamily="34" charset="-120"/>
                <a:ea typeface="微軟正黑體" panose="020B0604030504040204" pitchFamily="34" charset="-120"/>
              </a:rPr>
              <a:t>A</a:t>
            </a:r>
          </a:p>
          <a:p>
            <a:pPr algn="ctr"/>
            <a:r>
              <a:rPr lang="zh-TW" altLang="en-US" sz="1800" b="1" dirty="0">
                <a:latin typeface="微軟正黑體" panose="020B0604030504040204" pitchFamily="34" charset="-120"/>
                <a:ea typeface="微軟正黑體" panose="020B0604030504040204" pitchFamily="34" charset="-120"/>
              </a:rPr>
              <a:t>技術特徵</a:t>
            </a:r>
            <a:r>
              <a:rPr lang="en-US" altLang="zh-TW" b="1" dirty="0">
                <a:latin typeface="微軟正黑體" panose="020B0604030504040204" pitchFamily="34" charset="-120"/>
                <a:ea typeface="微軟正黑體" panose="020B0604030504040204" pitchFamily="34" charset="-120"/>
              </a:rPr>
              <a:t>B</a:t>
            </a:r>
            <a:endParaRPr lang="en-US" altLang="zh-TW" sz="1800" b="1" dirty="0">
              <a:latin typeface="微軟正黑體" panose="020B0604030504040204" pitchFamily="34" charset="-120"/>
              <a:ea typeface="微軟正黑體" panose="020B0604030504040204" pitchFamily="34" charset="-120"/>
            </a:endParaRPr>
          </a:p>
        </p:txBody>
      </p:sp>
      <p:sp>
        <p:nvSpPr>
          <p:cNvPr id="20" name="文字方塊 19">
            <a:extLst>
              <a:ext uri="{FF2B5EF4-FFF2-40B4-BE49-F238E27FC236}">
                <a16:creationId xmlns:a16="http://schemas.microsoft.com/office/drawing/2014/main" id="{03BFBB4A-C5DC-3D90-B072-8FE9C73FA579}"/>
              </a:ext>
            </a:extLst>
          </p:cNvPr>
          <p:cNvSpPr txBox="1"/>
          <p:nvPr/>
        </p:nvSpPr>
        <p:spPr>
          <a:xfrm>
            <a:off x="543383" y="3703743"/>
            <a:ext cx="1133872" cy="341376"/>
          </a:xfrm>
          <a:prstGeom prst="rect">
            <a:avLst/>
          </a:prstGeom>
        </p:spPr>
        <p:style>
          <a:lnRef idx="1">
            <a:schemeClr val="accent2"/>
          </a:lnRef>
          <a:fillRef idx="2">
            <a:schemeClr val="accent2"/>
          </a:fillRef>
          <a:effectRef idx="1">
            <a:schemeClr val="accent2"/>
          </a:effectRef>
          <a:fontRef idx="minor">
            <a:schemeClr val="dk1"/>
          </a:fontRef>
        </p:style>
        <p:txBody>
          <a:bodyPr wrap="square" lIns="36000" rIns="36000">
            <a:spAutoFit/>
          </a:bodyPr>
          <a:lstStyle/>
          <a:p>
            <a:pPr marL="174625" indent="-174625" algn="ctr">
              <a:lnSpc>
                <a:spcPts val="2100"/>
              </a:lnSpc>
              <a:spcBef>
                <a:spcPts val="0"/>
              </a:spcBef>
            </a:pPr>
            <a:r>
              <a:rPr lang="zh-TW" altLang="en-US" sz="1600" b="1" dirty="0">
                <a:latin typeface="微軟正黑體" panose="020B0604030504040204" pitchFamily="34" charset="-120"/>
                <a:ea typeface="微軟正黑體" panose="020B0604030504040204" pitchFamily="34" charset="-120"/>
              </a:rPr>
              <a:t>先前技術</a:t>
            </a:r>
            <a:endParaRPr lang="en-US" altLang="zh-TW" sz="1600" b="1" dirty="0">
              <a:latin typeface="微軟正黑體" panose="020B0604030504040204" pitchFamily="34" charset="-120"/>
              <a:ea typeface="微軟正黑體" panose="020B0604030504040204" pitchFamily="34" charset="-120"/>
            </a:endParaRPr>
          </a:p>
        </p:txBody>
      </p:sp>
      <p:sp>
        <p:nvSpPr>
          <p:cNvPr id="21" name="文字方塊 20">
            <a:extLst>
              <a:ext uri="{FF2B5EF4-FFF2-40B4-BE49-F238E27FC236}">
                <a16:creationId xmlns:a16="http://schemas.microsoft.com/office/drawing/2014/main" id="{4BE6B394-14C9-7E8B-A707-6FFB59DFC268}"/>
              </a:ext>
            </a:extLst>
          </p:cNvPr>
          <p:cNvSpPr txBox="1"/>
          <p:nvPr/>
        </p:nvSpPr>
        <p:spPr>
          <a:xfrm>
            <a:off x="2382275" y="3703743"/>
            <a:ext cx="1133872" cy="341376"/>
          </a:xfrm>
          <a:prstGeom prst="rect">
            <a:avLst/>
          </a:prstGeom>
        </p:spPr>
        <p:style>
          <a:lnRef idx="1">
            <a:schemeClr val="accent2"/>
          </a:lnRef>
          <a:fillRef idx="2">
            <a:schemeClr val="accent2"/>
          </a:fillRef>
          <a:effectRef idx="1">
            <a:schemeClr val="accent2"/>
          </a:effectRef>
          <a:fontRef idx="minor">
            <a:schemeClr val="dk1"/>
          </a:fontRef>
        </p:style>
        <p:txBody>
          <a:bodyPr wrap="square" lIns="36000" rIns="36000">
            <a:spAutoFit/>
          </a:bodyPr>
          <a:lstStyle/>
          <a:p>
            <a:pPr marL="174625" indent="-174625" algn="ctr">
              <a:lnSpc>
                <a:spcPts val="2100"/>
              </a:lnSpc>
              <a:spcBef>
                <a:spcPts val="0"/>
              </a:spcBef>
            </a:pPr>
            <a:r>
              <a:rPr lang="zh-TW" altLang="en-US" sz="1600" b="1" dirty="0">
                <a:latin typeface="微軟正黑體" panose="020B0604030504040204" pitchFamily="34" charset="-120"/>
                <a:ea typeface="微軟正黑體" panose="020B0604030504040204" pitchFamily="34" charset="-120"/>
              </a:rPr>
              <a:t>申請之發明</a:t>
            </a:r>
            <a:endParaRPr lang="en-US" altLang="zh-TW" sz="1600" b="1" dirty="0">
              <a:latin typeface="微軟正黑體" panose="020B0604030504040204" pitchFamily="34" charset="-120"/>
              <a:ea typeface="微軟正黑體" panose="020B0604030504040204" pitchFamily="34" charset="-120"/>
            </a:endParaRPr>
          </a:p>
        </p:txBody>
      </p:sp>
      <p:sp>
        <p:nvSpPr>
          <p:cNvPr id="22" name="橢圓 21">
            <a:extLst>
              <a:ext uri="{FF2B5EF4-FFF2-40B4-BE49-F238E27FC236}">
                <a16:creationId xmlns:a16="http://schemas.microsoft.com/office/drawing/2014/main" id="{FC316D86-858B-89B1-ACBA-9AB64E024C66}"/>
              </a:ext>
            </a:extLst>
          </p:cNvPr>
          <p:cNvSpPr/>
          <p:nvPr/>
        </p:nvSpPr>
        <p:spPr>
          <a:xfrm>
            <a:off x="2123728" y="5157192"/>
            <a:ext cx="1800200" cy="14401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圖說文字: 折線 22">
            <a:extLst>
              <a:ext uri="{FF2B5EF4-FFF2-40B4-BE49-F238E27FC236}">
                <a16:creationId xmlns:a16="http://schemas.microsoft.com/office/drawing/2014/main" id="{B4B3E747-4FC5-2B96-6CF3-2307A4096B13}"/>
              </a:ext>
            </a:extLst>
          </p:cNvPr>
          <p:cNvSpPr/>
          <p:nvPr/>
        </p:nvSpPr>
        <p:spPr>
          <a:xfrm>
            <a:off x="323528" y="5805264"/>
            <a:ext cx="1104572" cy="378332"/>
          </a:xfrm>
          <a:prstGeom prst="borderCallout2">
            <a:avLst>
              <a:gd name="adj1" fmla="val 37804"/>
              <a:gd name="adj2" fmla="val 99114"/>
              <a:gd name="adj3" fmla="val 53682"/>
              <a:gd name="adj4" fmla="val 125886"/>
              <a:gd name="adj5" fmla="val 47841"/>
              <a:gd name="adj6" fmla="val 158991"/>
            </a:avLst>
          </a:prstGeom>
          <a:ln>
            <a:tailEnd type="arrow"/>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zh-TW" altLang="en-US" sz="1600" b="1" dirty="0">
                <a:latin typeface="微軟正黑體" panose="020B0604030504040204" pitchFamily="34" charset="-120"/>
                <a:ea typeface="微軟正黑體" panose="020B0604030504040204" pitchFamily="34" charset="-120"/>
              </a:rPr>
              <a:t>申請之發明</a:t>
            </a:r>
            <a:endParaRPr lang="en-US" altLang="zh-TW" sz="1600" b="1" dirty="0">
              <a:latin typeface="微軟正黑體" panose="020B0604030504040204" pitchFamily="34" charset="-120"/>
              <a:ea typeface="微軟正黑體" panose="020B0604030504040204" pitchFamily="34" charset="-120"/>
            </a:endParaRPr>
          </a:p>
        </p:txBody>
      </p:sp>
      <p:sp>
        <p:nvSpPr>
          <p:cNvPr id="24" name="橢圓 23">
            <a:extLst>
              <a:ext uri="{FF2B5EF4-FFF2-40B4-BE49-F238E27FC236}">
                <a16:creationId xmlns:a16="http://schemas.microsoft.com/office/drawing/2014/main" id="{A0A375E9-C147-D1C8-52DD-CF9301C3DD31}"/>
              </a:ext>
            </a:extLst>
          </p:cNvPr>
          <p:cNvSpPr/>
          <p:nvPr/>
        </p:nvSpPr>
        <p:spPr>
          <a:xfrm>
            <a:off x="2382275" y="5565839"/>
            <a:ext cx="1469645" cy="790511"/>
          </a:xfrm>
          <a:prstGeom prst="ellipse">
            <a:avLst/>
          </a:prstGeom>
        </p:spPr>
        <p:style>
          <a:lnRef idx="1">
            <a:schemeClr val="accent2"/>
          </a:lnRef>
          <a:fillRef idx="2">
            <a:schemeClr val="accent2"/>
          </a:fillRef>
          <a:effectRef idx="1">
            <a:schemeClr val="accent2"/>
          </a:effectRef>
          <a:fontRef idx="minor">
            <a:schemeClr val="dk1"/>
          </a:fontRef>
        </p:style>
        <p:txBody>
          <a:bodyPr lIns="36000" rIns="36000" rtlCol="0" anchor="ctr"/>
          <a:lstStyle/>
          <a:p>
            <a:pPr algn="ctr"/>
            <a:r>
              <a:rPr lang="zh-TW" altLang="en-US" b="1" dirty="0">
                <a:latin typeface="微軟正黑體" panose="020B0604030504040204" pitchFamily="34" charset="-120"/>
                <a:ea typeface="微軟正黑體" panose="020B0604030504040204" pitchFamily="34" charset="-120"/>
              </a:rPr>
              <a:t>先前技術</a:t>
            </a:r>
          </a:p>
        </p:txBody>
      </p:sp>
    </p:spTree>
    <p:extLst>
      <p:ext uri="{BB962C8B-B14F-4D97-AF65-F5344CB8AC3E}">
        <p14:creationId xmlns:p14="http://schemas.microsoft.com/office/powerpoint/2010/main" val="1211021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DE3E5D12-4A7C-4174-04B4-E44BB42ED13F}"/>
              </a:ext>
            </a:extLst>
          </p:cNvPr>
          <p:cNvSpPr>
            <a:spLocks noGrp="1"/>
          </p:cNvSpPr>
          <p:nvPr>
            <p:ph type="title"/>
          </p:nvPr>
        </p:nvSpPr>
        <p:spPr/>
        <p:txBody>
          <a:bodyPr/>
          <a:lstStyle/>
          <a:p>
            <a:r>
              <a:rPr lang="zh-TW" altLang="en-US" dirty="0"/>
              <a:t>新穎性</a:t>
            </a:r>
          </a:p>
        </p:txBody>
      </p:sp>
      <p:sp>
        <p:nvSpPr>
          <p:cNvPr id="3" name="內容版面配置區 2">
            <a:extLst>
              <a:ext uri="{FF2B5EF4-FFF2-40B4-BE49-F238E27FC236}">
                <a16:creationId xmlns:a16="http://schemas.microsoft.com/office/drawing/2014/main" id="{A7ED533A-E5FB-BA65-0FD4-D8A31586DA7E}"/>
              </a:ext>
            </a:extLst>
          </p:cNvPr>
          <p:cNvSpPr>
            <a:spLocks noGrp="1"/>
          </p:cNvSpPr>
          <p:nvPr>
            <p:ph idx="1"/>
          </p:nvPr>
        </p:nvSpPr>
        <p:spPr>
          <a:xfrm>
            <a:off x="457200" y="908719"/>
            <a:ext cx="8507288" cy="5812755"/>
          </a:xfrm>
        </p:spPr>
        <p:txBody>
          <a:bodyPr>
            <a:normAutofit fontScale="77500" lnSpcReduction="20000"/>
          </a:bodyPr>
          <a:lstStyle/>
          <a:p>
            <a:pPr>
              <a:lnSpc>
                <a:spcPct val="110000"/>
              </a:lnSpc>
            </a:pPr>
            <a:r>
              <a:rPr lang="zh-TW" altLang="en-US" dirty="0"/>
              <a:t>已見於刊物</a:t>
            </a:r>
            <a:endParaRPr lang="en-US" altLang="zh-TW" dirty="0"/>
          </a:p>
          <a:p>
            <a:pPr lvl="1">
              <a:lnSpc>
                <a:spcPct val="110000"/>
              </a:lnSpc>
            </a:pPr>
            <a:r>
              <a:rPr lang="zh-TW" altLang="en-US" dirty="0"/>
              <a:t>形式不以紙本形式之文書為限</a:t>
            </a:r>
            <a:endParaRPr lang="en-US" altLang="zh-TW" dirty="0"/>
          </a:p>
          <a:p>
            <a:pPr lvl="1">
              <a:lnSpc>
                <a:spcPct val="110000"/>
              </a:lnSpc>
            </a:pPr>
            <a:r>
              <a:rPr lang="zh-TW" altLang="en-US" dirty="0"/>
              <a:t>有</a:t>
            </a:r>
            <a:r>
              <a:rPr lang="zh-TW" altLang="en-US" b="1" u="sng" dirty="0"/>
              <a:t>明確證據</a:t>
            </a:r>
            <a:r>
              <a:rPr lang="zh-TW" altLang="en-US" dirty="0"/>
              <a:t>顯示該刊物</a:t>
            </a:r>
            <a:r>
              <a:rPr lang="zh-TW" altLang="en-US" b="1" u="sng" dirty="0"/>
              <a:t>尚未處於能為公眾得知之狀態</a:t>
            </a:r>
            <a:r>
              <a:rPr lang="zh-TW" altLang="en-US" dirty="0"/>
              <a:t>，則不得認定其已公開</a:t>
            </a:r>
            <a:endParaRPr lang="en-US" altLang="zh-TW" dirty="0"/>
          </a:p>
          <a:p>
            <a:pPr lvl="2">
              <a:lnSpc>
                <a:spcPct val="110000"/>
              </a:lnSpc>
            </a:pPr>
            <a:r>
              <a:rPr lang="zh-TW" altLang="en-US" dirty="0"/>
              <a:t>印有「內部文件」或「機密文件」之文書，除非有明確證據顯示其已對外公開，不得認定能為公眾得知</a:t>
            </a:r>
            <a:endParaRPr lang="en-US" altLang="zh-TW" dirty="0"/>
          </a:p>
          <a:p>
            <a:pPr lvl="1">
              <a:lnSpc>
                <a:spcPct val="110000"/>
              </a:lnSpc>
            </a:pPr>
            <a:r>
              <a:rPr lang="zh-TW" altLang="en-US" dirty="0"/>
              <a:t>公開日</a:t>
            </a:r>
            <a:endParaRPr lang="en-US" altLang="zh-TW" dirty="0"/>
          </a:p>
          <a:p>
            <a:pPr lvl="2">
              <a:lnSpc>
                <a:spcPct val="110000"/>
              </a:lnSpc>
            </a:pPr>
            <a:r>
              <a:rPr lang="zh-TW" altLang="en-US" dirty="0"/>
              <a:t>依發行日</a:t>
            </a:r>
            <a:endParaRPr lang="en-US" altLang="zh-TW" dirty="0"/>
          </a:p>
          <a:p>
            <a:pPr lvl="2">
              <a:lnSpc>
                <a:spcPct val="110000"/>
              </a:lnSpc>
            </a:pPr>
            <a:r>
              <a:rPr lang="zh-TW" altLang="en-US" dirty="0"/>
              <a:t>依推定：外國刊物輸入國內日期、刊載在其他刊物者以其他刊物之公開日、有再版時以初版之發行日為公開日</a:t>
            </a:r>
            <a:endParaRPr lang="en-US" altLang="zh-TW" dirty="0"/>
          </a:p>
          <a:p>
            <a:pPr lvl="1">
              <a:lnSpc>
                <a:spcPct val="110000"/>
              </a:lnSpc>
            </a:pPr>
            <a:r>
              <a:rPr lang="zh-TW" altLang="en-US" dirty="0"/>
              <a:t>網路之資訊之公開日</a:t>
            </a:r>
            <a:endParaRPr lang="en-US" altLang="zh-TW" dirty="0"/>
          </a:p>
          <a:p>
            <a:pPr lvl="2">
              <a:lnSpc>
                <a:spcPct val="110000"/>
              </a:lnSpc>
            </a:pPr>
            <a:r>
              <a:rPr lang="zh-TW" altLang="en-US" dirty="0"/>
              <a:t>網路檔案服務提供的網頁資訊，例如網站時光回溯器（</a:t>
            </a:r>
            <a:r>
              <a:rPr lang="en-US" altLang="zh-TW" dirty="0"/>
              <a:t>Wayback Machine</a:t>
            </a:r>
            <a:r>
              <a:rPr lang="zh-TW" altLang="en-US" dirty="0"/>
              <a:t>，</a:t>
            </a:r>
            <a:r>
              <a:rPr lang="en-US" altLang="zh-TW" dirty="0">
                <a:hlinkClick r:id="rId2"/>
              </a:rPr>
              <a:t>www.archive.org</a:t>
            </a:r>
            <a:r>
              <a:rPr lang="zh-TW" altLang="en-US" dirty="0"/>
              <a:t>）</a:t>
            </a:r>
            <a:endParaRPr lang="en-US" altLang="zh-TW" dirty="0"/>
          </a:p>
          <a:p>
            <a:pPr lvl="2">
              <a:lnSpc>
                <a:spcPct val="110000"/>
              </a:lnSpc>
            </a:pPr>
            <a:r>
              <a:rPr lang="zh-TW" altLang="en-US" dirty="0"/>
              <a:t>網頁或檔案變更歷程之時間戳記（</a:t>
            </a:r>
            <a:r>
              <a:rPr lang="en-US" altLang="zh-TW" dirty="0"/>
              <a:t>timestamp</a:t>
            </a:r>
            <a:r>
              <a:rPr lang="zh-TW" altLang="en-US" dirty="0"/>
              <a:t>）</a:t>
            </a:r>
            <a:endParaRPr lang="en-US" altLang="zh-TW" dirty="0"/>
          </a:p>
          <a:p>
            <a:pPr lvl="2">
              <a:lnSpc>
                <a:spcPct val="110000"/>
              </a:lnSpc>
            </a:pPr>
            <a:r>
              <a:rPr lang="zh-TW" altLang="en-US" dirty="0"/>
              <a:t>網路之檔案目錄（</a:t>
            </a:r>
            <a:r>
              <a:rPr lang="en-US" altLang="zh-TW" dirty="0"/>
              <a:t>file directory</a:t>
            </a:r>
            <a:r>
              <a:rPr lang="zh-TW" altLang="en-US" dirty="0"/>
              <a:t>）或自動加註資訊等電腦產生的時間戳記，例如部落格（</a:t>
            </a:r>
            <a:r>
              <a:rPr lang="en-US" altLang="zh-TW" dirty="0"/>
              <a:t>blog</a:t>
            </a:r>
            <a:r>
              <a:rPr lang="zh-TW" altLang="en-US" dirty="0"/>
              <a:t>）文章</a:t>
            </a:r>
            <a:endParaRPr lang="en-US" altLang="zh-TW" dirty="0"/>
          </a:p>
          <a:p>
            <a:pPr lvl="2">
              <a:lnSpc>
                <a:spcPct val="110000"/>
              </a:lnSpc>
            </a:pPr>
            <a:r>
              <a:rPr lang="zh-TW" altLang="en-US" dirty="0"/>
              <a:t>網站搜尋引擎提供的索引日期（</a:t>
            </a:r>
            <a:r>
              <a:rPr lang="en-US" altLang="zh-TW" dirty="0"/>
              <a:t>indexing date</a:t>
            </a:r>
            <a:r>
              <a:rPr lang="zh-TW" altLang="en-US" dirty="0"/>
              <a:t>）：</a:t>
            </a:r>
            <a:r>
              <a:rPr lang="en-US" altLang="zh-TW" dirty="0"/>
              <a:t>google</a:t>
            </a:r>
            <a:r>
              <a:rPr lang="zh-TW" altLang="en-US" dirty="0"/>
              <a:t>的頁庫存檔（</a:t>
            </a:r>
            <a:r>
              <a:rPr lang="en-US" altLang="zh-TW" dirty="0"/>
              <a:t>cached</a:t>
            </a:r>
            <a:r>
              <a:rPr lang="zh-TW" altLang="en-US" dirty="0"/>
              <a:t>）</a:t>
            </a:r>
          </a:p>
        </p:txBody>
      </p:sp>
      <p:sp>
        <p:nvSpPr>
          <p:cNvPr id="4" name="投影片編號版面配置區 3">
            <a:extLst>
              <a:ext uri="{FF2B5EF4-FFF2-40B4-BE49-F238E27FC236}">
                <a16:creationId xmlns:a16="http://schemas.microsoft.com/office/drawing/2014/main" id="{6FC7DF09-C58A-C465-986F-15725E792F06}"/>
              </a:ext>
            </a:extLst>
          </p:cNvPr>
          <p:cNvSpPr>
            <a:spLocks noGrp="1"/>
          </p:cNvSpPr>
          <p:nvPr>
            <p:ph type="sldNum" sz="quarter" idx="12"/>
          </p:nvPr>
        </p:nvSpPr>
        <p:spPr>
          <a:xfrm>
            <a:off x="6948264" y="6356350"/>
            <a:ext cx="2133600" cy="365125"/>
          </a:xfrm>
        </p:spPr>
        <p:txBody>
          <a:bodyPr/>
          <a:lstStyle/>
          <a:p>
            <a:fld id="{254D4C32-7A1A-45A5-84ED-81747F1ABFAE}" type="slidenum">
              <a:rPr lang="zh-TW" altLang="en-US" smtClean="0"/>
              <a:t>9</a:t>
            </a:fld>
            <a:endParaRPr lang="zh-TW" altLang="en-US" dirty="0"/>
          </a:p>
        </p:txBody>
      </p:sp>
    </p:spTree>
    <p:extLst>
      <p:ext uri="{BB962C8B-B14F-4D97-AF65-F5344CB8AC3E}">
        <p14:creationId xmlns:p14="http://schemas.microsoft.com/office/powerpoint/2010/main" val="1982036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DE3E5D12-4A7C-4174-04B4-E44BB42ED13F}"/>
              </a:ext>
            </a:extLst>
          </p:cNvPr>
          <p:cNvSpPr>
            <a:spLocks noGrp="1"/>
          </p:cNvSpPr>
          <p:nvPr>
            <p:ph type="title"/>
          </p:nvPr>
        </p:nvSpPr>
        <p:spPr/>
        <p:txBody>
          <a:bodyPr/>
          <a:lstStyle/>
          <a:p>
            <a:r>
              <a:rPr lang="zh-TW" altLang="en-US" dirty="0"/>
              <a:t>新穎性</a:t>
            </a:r>
          </a:p>
        </p:txBody>
      </p:sp>
      <p:sp>
        <p:nvSpPr>
          <p:cNvPr id="3" name="內容版面配置區 2">
            <a:extLst>
              <a:ext uri="{FF2B5EF4-FFF2-40B4-BE49-F238E27FC236}">
                <a16:creationId xmlns:a16="http://schemas.microsoft.com/office/drawing/2014/main" id="{A7ED533A-E5FB-BA65-0FD4-D8A31586DA7E}"/>
              </a:ext>
            </a:extLst>
          </p:cNvPr>
          <p:cNvSpPr>
            <a:spLocks noGrp="1"/>
          </p:cNvSpPr>
          <p:nvPr>
            <p:ph idx="1"/>
          </p:nvPr>
        </p:nvSpPr>
        <p:spPr>
          <a:xfrm>
            <a:off x="457200" y="908719"/>
            <a:ext cx="8507288" cy="5812755"/>
          </a:xfrm>
        </p:spPr>
        <p:txBody>
          <a:bodyPr>
            <a:normAutofit/>
          </a:bodyPr>
          <a:lstStyle/>
          <a:p>
            <a:r>
              <a:rPr lang="zh-TW" altLang="en-US" dirty="0"/>
              <a:t>已公開實施</a:t>
            </a:r>
            <a:endParaRPr lang="en-US" altLang="zh-TW" dirty="0"/>
          </a:p>
          <a:p>
            <a:pPr lvl="1"/>
            <a:r>
              <a:rPr lang="zh-TW" altLang="en-US" dirty="0"/>
              <a:t>專利法所稱之實施，包含</a:t>
            </a:r>
            <a:r>
              <a:rPr lang="zh-TW" altLang="en-US" u="sng" dirty="0"/>
              <a:t>製造、為販賣之要約、販賣、使用或為上述目的而進口</a:t>
            </a:r>
            <a:r>
              <a:rPr lang="zh-TW" altLang="en-US" dirty="0"/>
              <a:t>等行為</a:t>
            </a:r>
            <a:endParaRPr lang="en-US" altLang="zh-TW" dirty="0"/>
          </a:p>
          <a:p>
            <a:pPr lvl="1"/>
            <a:r>
              <a:rPr lang="zh-TW" altLang="en-US" dirty="0"/>
              <a:t>公開實施，指透過前述行為而揭露技術內容，使該技術能為</a:t>
            </a:r>
            <a:r>
              <a:rPr lang="zh-TW" altLang="en-US" b="1" u="sng" dirty="0"/>
              <a:t>公眾得知之狀態</a:t>
            </a:r>
            <a:r>
              <a:rPr lang="zh-TW" altLang="en-US" dirty="0"/>
              <a:t>，不以公眾實際上已實施或已真正獲知該技術內容為必要</a:t>
            </a:r>
            <a:endParaRPr lang="en-US" altLang="zh-TW" dirty="0"/>
          </a:p>
          <a:p>
            <a:r>
              <a:rPr lang="zh-TW" altLang="en-US" dirty="0"/>
              <a:t>已為公眾所知悉</a:t>
            </a:r>
            <a:endParaRPr lang="en-US" altLang="zh-TW" dirty="0"/>
          </a:p>
          <a:p>
            <a:pPr lvl="1"/>
            <a:r>
              <a:rPr lang="zh-TW" altLang="en-US" dirty="0"/>
              <a:t>以</a:t>
            </a:r>
            <a:r>
              <a:rPr lang="zh-TW" altLang="en-US" b="1" u="sng" dirty="0"/>
              <a:t>口語或展示</a:t>
            </a:r>
            <a:r>
              <a:rPr lang="zh-TW" altLang="en-US" dirty="0"/>
              <a:t>等方式揭露技術內容，例如藉口語交談、演講、會議、廣播或電視報導等方式，或藉公開展示圖面、照片模型、樣品等方式，使該技術能為公眾得知之狀態，並不以公眾實際上已聽聞、閱覽或已真正獲知該技術內容為必要</a:t>
            </a:r>
          </a:p>
        </p:txBody>
      </p:sp>
      <p:sp>
        <p:nvSpPr>
          <p:cNvPr id="4" name="投影片編號版面配置區 3">
            <a:extLst>
              <a:ext uri="{FF2B5EF4-FFF2-40B4-BE49-F238E27FC236}">
                <a16:creationId xmlns:a16="http://schemas.microsoft.com/office/drawing/2014/main" id="{6FC7DF09-C58A-C465-986F-15725E792F06}"/>
              </a:ext>
            </a:extLst>
          </p:cNvPr>
          <p:cNvSpPr>
            <a:spLocks noGrp="1"/>
          </p:cNvSpPr>
          <p:nvPr>
            <p:ph type="sldNum" sz="quarter" idx="12"/>
          </p:nvPr>
        </p:nvSpPr>
        <p:spPr>
          <a:xfrm>
            <a:off x="6948264" y="6356350"/>
            <a:ext cx="2133600" cy="365125"/>
          </a:xfrm>
        </p:spPr>
        <p:txBody>
          <a:bodyPr/>
          <a:lstStyle/>
          <a:p>
            <a:fld id="{254D4C32-7A1A-45A5-84ED-81747F1ABFAE}" type="slidenum">
              <a:rPr lang="zh-TW" altLang="en-US" smtClean="0"/>
              <a:t>10</a:t>
            </a:fld>
            <a:endParaRPr lang="zh-TW" altLang="en-US" dirty="0"/>
          </a:p>
        </p:txBody>
      </p:sp>
    </p:spTree>
    <p:extLst>
      <p:ext uri="{BB962C8B-B14F-4D97-AF65-F5344CB8AC3E}">
        <p14:creationId xmlns:p14="http://schemas.microsoft.com/office/powerpoint/2010/main" val="3338203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DE3E5D12-4A7C-4174-04B4-E44BB42ED13F}"/>
              </a:ext>
            </a:extLst>
          </p:cNvPr>
          <p:cNvSpPr>
            <a:spLocks noGrp="1"/>
          </p:cNvSpPr>
          <p:nvPr>
            <p:ph type="title"/>
          </p:nvPr>
        </p:nvSpPr>
        <p:spPr/>
        <p:txBody>
          <a:bodyPr/>
          <a:lstStyle/>
          <a:p>
            <a:r>
              <a:rPr lang="zh-TW" altLang="en-US" dirty="0"/>
              <a:t>新穎性</a:t>
            </a:r>
          </a:p>
        </p:txBody>
      </p:sp>
      <p:sp>
        <p:nvSpPr>
          <p:cNvPr id="3" name="內容版面配置區 2">
            <a:extLst>
              <a:ext uri="{FF2B5EF4-FFF2-40B4-BE49-F238E27FC236}">
                <a16:creationId xmlns:a16="http://schemas.microsoft.com/office/drawing/2014/main" id="{A7ED533A-E5FB-BA65-0FD4-D8A31586DA7E}"/>
              </a:ext>
            </a:extLst>
          </p:cNvPr>
          <p:cNvSpPr>
            <a:spLocks noGrp="1"/>
          </p:cNvSpPr>
          <p:nvPr>
            <p:ph idx="1"/>
          </p:nvPr>
        </p:nvSpPr>
        <p:spPr>
          <a:xfrm>
            <a:off x="457200" y="908719"/>
            <a:ext cx="8507288" cy="5812755"/>
          </a:xfrm>
        </p:spPr>
        <p:txBody>
          <a:bodyPr>
            <a:normAutofit fontScale="92500"/>
          </a:bodyPr>
          <a:lstStyle/>
          <a:p>
            <a:r>
              <a:rPr lang="zh-TW" altLang="en-US" dirty="0"/>
              <a:t>新穎性之審查原則</a:t>
            </a:r>
            <a:endParaRPr lang="en-US" altLang="zh-TW" dirty="0"/>
          </a:p>
          <a:p>
            <a:pPr lvl="1">
              <a:buFont typeface="Wingdings" panose="05000000000000000000" pitchFamily="2" charset="2"/>
              <a:buChar char="Ø"/>
            </a:pPr>
            <a:r>
              <a:rPr lang="zh-TW" altLang="en-US" dirty="0"/>
              <a:t>逐項審查</a:t>
            </a:r>
            <a:endParaRPr lang="en-US" altLang="zh-TW" dirty="0"/>
          </a:p>
          <a:p>
            <a:pPr lvl="2">
              <a:buFont typeface="Arial" panose="020B0604020202020204" pitchFamily="34" charset="0"/>
              <a:buChar char="‒"/>
            </a:pPr>
            <a:r>
              <a:rPr lang="zh-TW" altLang="en-US" dirty="0"/>
              <a:t>以每一請求項所載之發明為對象</a:t>
            </a:r>
            <a:endParaRPr lang="en-US" altLang="zh-TW" dirty="0"/>
          </a:p>
          <a:p>
            <a:pPr lvl="2">
              <a:buFont typeface="Arial" panose="020B0604020202020204" pitchFamily="34" charset="0"/>
              <a:buChar char="‒"/>
            </a:pPr>
            <a:r>
              <a:rPr lang="zh-TW" altLang="en-US" dirty="0"/>
              <a:t>以擇一形式記載之請求項，應就各選項所界定之發明為對象分別審查</a:t>
            </a:r>
            <a:endParaRPr lang="en-US" altLang="zh-TW" dirty="0"/>
          </a:p>
          <a:p>
            <a:pPr lvl="2">
              <a:buFont typeface="Arial" panose="020B0604020202020204" pitchFamily="34" charset="0"/>
              <a:buChar char="‒"/>
            </a:pPr>
            <a:r>
              <a:rPr lang="zh-TW" altLang="en-US" dirty="0"/>
              <a:t>獨立項具新穎性時，其附屬項當然具新穎性</a:t>
            </a:r>
            <a:endParaRPr lang="en-US" altLang="zh-TW" dirty="0"/>
          </a:p>
          <a:p>
            <a:pPr lvl="1">
              <a:buFont typeface="Wingdings" panose="05000000000000000000" pitchFamily="2" charset="2"/>
              <a:buChar char="Ø"/>
            </a:pPr>
            <a:r>
              <a:rPr lang="zh-TW" altLang="en-US" dirty="0"/>
              <a:t>單獨比對</a:t>
            </a:r>
            <a:endParaRPr lang="en-US" altLang="zh-TW" dirty="0"/>
          </a:p>
          <a:p>
            <a:pPr lvl="2">
              <a:buFont typeface="Arial" panose="020B0604020202020204" pitchFamily="34" charset="0"/>
              <a:buChar char="‒"/>
            </a:pPr>
            <a:r>
              <a:rPr lang="zh-TW" altLang="en-US" dirty="0"/>
              <a:t>就申請專利之發明與</a:t>
            </a:r>
            <a:r>
              <a:rPr lang="zh-TW" altLang="en-US" b="1" u="sng" dirty="0"/>
              <a:t>單一先前技術單獨比對</a:t>
            </a:r>
            <a:endParaRPr lang="en-US" altLang="zh-TW" b="1" u="sng" dirty="0"/>
          </a:p>
          <a:p>
            <a:pPr lvl="3">
              <a:buFont typeface="Wingdings" panose="05000000000000000000" pitchFamily="2" charset="2"/>
              <a:buChar char="ü"/>
            </a:pPr>
            <a:r>
              <a:rPr lang="zh-TW" altLang="en-US" dirty="0"/>
              <a:t>不得就該發明與多份引證文件中之全部或部分技術內容的結合</a:t>
            </a:r>
            <a:endParaRPr lang="en-US" altLang="zh-TW" dirty="0"/>
          </a:p>
          <a:p>
            <a:pPr lvl="3">
              <a:buFont typeface="Wingdings" panose="05000000000000000000" pitchFamily="2" charset="2"/>
              <a:buChar char="ü"/>
            </a:pPr>
            <a:r>
              <a:rPr lang="zh-TW" altLang="en-US" dirty="0"/>
              <a:t>不得就一份引證文件中之部分技術內容的結合</a:t>
            </a:r>
            <a:endParaRPr lang="en-US" altLang="zh-TW" dirty="0"/>
          </a:p>
          <a:p>
            <a:pPr lvl="3">
              <a:buFont typeface="Wingdings" panose="05000000000000000000" pitchFamily="2" charset="2"/>
              <a:buChar char="ü"/>
            </a:pPr>
            <a:r>
              <a:rPr lang="zh-TW" altLang="en-US" dirty="0"/>
              <a:t>不得就引證文件中之技術內容與其他公開形式（已公開實施或已為公眾所知悉）之先前技術的結合</a:t>
            </a:r>
            <a:endParaRPr lang="en-US" altLang="zh-TW" dirty="0"/>
          </a:p>
          <a:p>
            <a:pPr lvl="3">
              <a:buFont typeface="Wingdings" panose="05000000000000000000" pitchFamily="2" charset="2"/>
              <a:buChar char="ü"/>
            </a:pPr>
            <a:r>
              <a:rPr lang="zh-TW" altLang="en-US" dirty="0"/>
              <a:t>引證文件中明確記載另一參考文件時，若該參考文件於引證文件公開日之前已能為公眾得知，則該參考文件的教示被視為引證文件的一部分</a:t>
            </a:r>
          </a:p>
        </p:txBody>
      </p:sp>
      <p:sp>
        <p:nvSpPr>
          <p:cNvPr id="4" name="投影片編號版面配置區 3">
            <a:extLst>
              <a:ext uri="{FF2B5EF4-FFF2-40B4-BE49-F238E27FC236}">
                <a16:creationId xmlns:a16="http://schemas.microsoft.com/office/drawing/2014/main" id="{6FC7DF09-C58A-C465-986F-15725E792F06}"/>
              </a:ext>
            </a:extLst>
          </p:cNvPr>
          <p:cNvSpPr>
            <a:spLocks noGrp="1"/>
          </p:cNvSpPr>
          <p:nvPr>
            <p:ph type="sldNum" sz="quarter" idx="12"/>
          </p:nvPr>
        </p:nvSpPr>
        <p:spPr>
          <a:xfrm>
            <a:off x="6948264" y="6356350"/>
            <a:ext cx="2133600" cy="365125"/>
          </a:xfrm>
        </p:spPr>
        <p:txBody>
          <a:bodyPr/>
          <a:lstStyle/>
          <a:p>
            <a:fld id="{254D4C32-7A1A-45A5-84ED-81747F1ABFAE}" type="slidenum">
              <a:rPr lang="zh-TW" altLang="en-US" smtClean="0"/>
              <a:t>11</a:t>
            </a:fld>
            <a:endParaRPr lang="zh-TW" altLang="en-US" dirty="0"/>
          </a:p>
        </p:txBody>
      </p:sp>
    </p:spTree>
    <p:extLst>
      <p:ext uri="{BB962C8B-B14F-4D97-AF65-F5344CB8AC3E}">
        <p14:creationId xmlns:p14="http://schemas.microsoft.com/office/powerpoint/2010/main" val="10277653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DE3E5D12-4A7C-4174-04B4-E44BB42ED13F}"/>
              </a:ext>
            </a:extLst>
          </p:cNvPr>
          <p:cNvSpPr>
            <a:spLocks noGrp="1"/>
          </p:cNvSpPr>
          <p:nvPr>
            <p:ph type="title"/>
          </p:nvPr>
        </p:nvSpPr>
        <p:spPr/>
        <p:txBody>
          <a:bodyPr/>
          <a:lstStyle/>
          <a:p>
            <a:r>
              <a:rPr lang="zh-TW" altLang="en-US" dirty="0"/>
              <a:t>新穎性</a:t>
            </a:r>
          </a:p>
        </p:txBody>
      </p:sp>
      <p:sp>
        <p:nvSpPr>
          <p:cNvPr id="3" name="內容版面配置區 2">
            <a:extLst>
              <a:ext uri="{FF2B5EF4-FFF2-40B4-BE49-F238E27FC236}">
                <a16:creationId xmlns:a16="http://schemas.microsoft.com/office/drawing/2014/main" id="{A7ED533A-E5FB-BA65-0FD4-D8A31586DA7E}"/>
              </a:ext>
            </a:extLst>
          </p:cNvPr>
          <p:cNvSpPr>
            <a:spLocks noGrp="1"/>
          </p:cNvSpPr>
          <p:nvPr>
            <p:ph idx="1"/>
          </p:nvPr>
        </p:nvSpPr>
        <p:spPr>
          <a:xfrm>
            <a:off x="457200" y="908719"/>
            <a:ext cx="8435280" cy="5812756"/>
          </a:xfrm>
        </p:spPr>
        <p:txBody>
          <a:bodyPr>
            <a:normAutofit fontScale="77500" lnSpcReduction="20000"/>
          </a:bodyPr>
          <a:lstStyle/>
          <a:p>
            <a:pPr>
              <a:lnSpc>
                <a:spcPct val="120000"/>
              </a:lnSpc>
            </a:pPr>
            <a:r>
              <a:rPr lang="zh-TW" altLang="en-US" dirty="0"/>
              <a:t>判斷基準</a:t>
            </a:r>
            <a:endParaRPr lang="en-US" altLang="zh-TW" dirty="0"/>
          </a:p>
          <a:p>
            <a:pPr lvl="1">
              <a:lnSpc>
                <a:spcPct val="120000"/>
              </a:lnSpc>
            </a:pPr>
            <a:r>
              <a:rPr lang="zh-TW" altLang="en-US" dirty="0"/>
              <a:t>完全相同</a:t>
            </a:r>
            <a:endParaRPr lang="en-US" altLang="zh-TW" dirty="0"/>
          </a:p>
          <a:p>
            <a:pPr lvl="2">
              <a:lnSpc>
                <a:spcPct val="120000"/>
              </a:lnSpc>
            </a:pPr>
            <a:r>
              <a:rPr lang="zh-TW" altLang="en-US" dirty="0"/>
              <a:t>發明與先前技術在形式上及實質上均無任何差異</a:t>
            </a:r>
            <a:endParaRPr lang="en-US" altLang="zh-TW" dirty="0"/>
          </a:p>
          <a:p>
            <a:pPr lvl="1">
              <a:lnSpc>
                <a:spcPct val="120000"/>
              </a:lnSpc>
            </a:pPr>
            <a:r>
              <a:rPr lang="zh-TW" altLang="en-US" dirty="0"/>
              <a:t>差異僅在於文字之記載形式或能直接且無歧異得知之技術特徵</a:t>
            </a:r>
            <a:endParaRPr lang="en-US" altLang="zh-TW" dirty="0"/>
          </a:p>
          <a:p>
            <a:pPr lvl="2">
              <a:lnSpc>
                <a:spcPct val="120000"/>
              </a:lnSpc>
            </a:pPr>
            <a:r>
              <a:rPr lang="zh-TW" altLang="en-US" dirty="0"/>
              <a:t>差異僅在於文字之記載形式，但實質上並無差異者</a:t>
            </a:r>
            <a:endParaRPr lang="en-US" altLang="zh-TW" dirty="0"/>
          </a:p>
          <a:p>
            <a:pPr lvl="2">
              <a:lnSpc>
                <a:spcPct val="120000"/>
              </a:lnSpc>
            </a:pPr>
            <a:r>
              <a:rPr lang="zh-TW" altLang="en-US" dirty="0"/>
              <a:t>差異僅在於</a:t>
            </a:r>
            <a:r>
              <a:rPr lang="zh-TW" altLang="en-US" b="1" u="sng" dirty="0"/>
              <a:t>部分相對應的技術特徵</a:t>
            </a:r>
            <a:r>
              <a:rPr lang="zh-TW" altLang="en-US" dirty="0"/>
              <a:t>，而該發明所屬技術領域中具有通常知識者</a:t>
            </a:r>
            <a:r>
              <a:rPr lang="zh-TW" altLang="en-US" b="1" u="sng" dirty="0"/>
              <a:t>基於先前技術形式上明確記載的技術內容</a:t>
            </a:r>
            <a:r>
              <a:rPr lang="zh-TW" altLang="en-US" dirty="0"/>
              <a:t>，即能直接且無歧異得知其</a:t>
            </a:r>
            <a:r>
              <a:rPr lang="zh-TW" altLang="en-US" b="1" u="sng" dirty="0"/>
              <a:t>實質上單獨隱含或整體隱含</a:t>
            </a:r>
            <a:r>
              <a:rPr lang="zh-TW" altLang="en-US" dirty="0"/>
              <a:t>申請專利之發明中相對應的技術特徵</a:t>
            </a:r>
            <a:endParaRPr lang="en-US" altLang="zh-TW" dirty="0"/>
          </a:p>
          <a:p>
            <a:pPr lvl="2">
              <a:lnSpc>
                <a:spcPct val="120000"/>
              </a:lnSpc>
            </a:pPr>
            <a:r>
              <a:rPr lang="zh-TW" altLang="en-US" dirty="0"/>
              <a:t>先前技術揭露之技術特徵</a:t>
            </a:r>
            <a:r>
              <a:rPr lang="zh-TW" altLang="en-US" b="1" u="sng" dirty="0"/>
              <a:t>包含數個意義</a:t>
            </a:r>
            <a:r>
              <a:rPr lang="zh-TW" altLang="en-US" dirty="0"/>
              <a:t>，申請專利之發明僅限定其中一個意義，則</a:t>
            </a:r>
            <a:r>
              <a:rPr lang="zh-TW" altLang="en-US" b="1" u="sng" dirty="0"/>
              <a:t>不得認定</a:t>
            </a:r>
            <a:r>
              <a:rPr lang="zh-TW" altLang="en-US" dirty="0"/>
              <a:t>該發明中之技術特徵由該先前技術即能直接且無歧異得知</a:t>
            </a:r>
            <a:endParaRPr lang="en-US" altLang="zh-TW" dirty="0"/>
          </a:p>
          <a:p>
            <a:pPr lvl="1">
              <a:lnSpc>
                <a:spcPct val="120000"/>
              </a:lnSpc>
            </a:pPr>
            <a:r>
              <a:rPr lang="zh-TW" altLang="en-US" dirty="0"/>
              <a:t>差異僅在於相對應之技術特徵的上、下位概念</a:t>
            </a:r>
            <a:endParaRPr lang="en-US" altLang="zh-TW" dirty="0"/>
          </a:p>
          <a:p>
            <a:pPr lvl="2">
              <a:lnSpc>
                <a:spcPct val="120000"/>
              </a:lnSpc>
            </a:pPr>
            <a:r>
              <a:rPr lang="zh-TW" altLang="en-US" b="1" u="sng" dirty="0"/>
              <a:t>先前技術為下位概念發明</a:t>
            </a:r>
            <a:r>
              <a:rPr lang="zh-TW" altLang="en-US" dirty="0"/>
              <a:t>，由於其內容已隱含或建議其所揭露 之技術特徵可以適用於其所屬之上位概念發明，故下位概念發明之公開會使其所屬之上位概念發明不具新穎性</a:t>
            </a:r>
            <a:endParaRPr lang="en-US" altLang="zh-TW" dirty="0"/>
          </a:p>
        </p:txBody>
      </p:sp>
      <p:sp>
        <p:nvSpPr>
          <p:cNvPr id="4" name="投影片編號版面配置區 3">
            <a:extLst>
              <a:ext uri="{FF2B5EF4-FFF2-40B4-BE49-F238E27FC236}">
                <a16:creationId xmlns:a16="http://schemas.microsoft.com/office/drawing/2014/main" id="{6FC7DF09-C58A-C465-986F-15725E792F06}"/>
              </a:ext>
            </a:extLst>
          </p:cNvPr>
          <p:cNvSpPr>
            <a:spLocks noGrp="1"/>
          </p:cNvSpPr>
          <p:nvPr>
            <p:ph type="sldNum" sz="quarter" idx="12"/>
          </p:nvPr>
        </p:nvSpPr>
        <p:spPr>
          <a:xfrm>
            <a:off x="6948264" y="6356350"/>
            <a:ext cx="2133600" cy="365125"/>
          </a:xfrm>
        </p:spPr>
        <p:txBody>
          <a:bodyPr/>
          <a:lstStyle/>
          <a:p>
            <a:fld id="{254D4C32-7A1A-45A5-84ED-81747F1ABFAE}" type="slidenum">
              <a:rPr lang="zh-TW" altLang="en-US" smtClean="0"/>
              <a:t>12</a:t>
            </a:fld>
            <a:endParaRPr lang="zh-TW" altLang="en-US" dirty="0"/>
          </a:p>
        </p:txBody>
      </p:sp>
    </p:spTree>
    <p:extLst>
      <p:ext uri="{BB962C8B-B14F-4D97-AF65-F5344CB8AC3E}">
        <p14:creationId xmlns:p14="http://schemas.microsoft.com/office/powerpoint/2010/main" val="2800553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DE3E5D12-4A7C-4174-04B4-E44BB42ED13F}"/>
              </a:ext>
            </a:extLst>
          </p:cNvPr>
          <p:cNvSpPr>
            <a:spLocks noGrp="1"/>
          </p:cNvSpPr>
          <p:nvPr>
            <p:ph type="title"/>
          </p:nvPr>
        </p:nvSpPr>
        <p:spPr/>
        <p:txBody>
          <a:bodyPr/>
          <a:lstStyle/>
          <a:p>
            <a:r>
              <a:rPr lang="zh-TW" altLang="en-US" dirty="0"/>
              <a:t>新穎性</a:t>
            </a:r>
          </a:p>
        </p:txBody>
      </p:sp>
      <p:sp>
        <p:nvSpPr>
          <p:cNvPr id="3" name="內容版面配置區 2">
            <a:extLst>
              <a:ext uri="{FF2B5EF4-FFF2-40B4-BE49-F238E27FC236}">
                <a16:creationId xmlns:a16="http://schemas.microsoft.com/office/drawing/2014/main" id="{A7ED533A-E5FB-BA65-0FD4-D8A31586DA7E}"/>
              </a:ext>
            </a:extLst>
          </p:cNvPr>
          <p:cNvSpPr>
            <a:spLocks noGrp="1"/>
          </p:cNvSpPr>
          <p:nvPr>
            <p:ph idx="1"/>
          </p:nvPr>
        </p:nvSpPr>
        <p:spPr>
          <a:xfrm>
            <a:off x="457200" y="908719"/>
            <a:ext cx="8435280" cy="5812756"/>
          </a:xfrm>
        </p:spPr>
        <p:txBody>
          <a:bodyPr>
            <a:normAutofit/>
          </a:bodyPr>
          <a:lstStyle/>
          <a:p>
            <a:pPr>
              <a:lnSpc>
                <a:spcPct val="120000"/>
              </a:lnSpc>
            </a:pPr>
            <a:r>
              <a:rPr lang="zh-TW" altLang="en-US" dirty="0"/>
              <a:t>特定請求項及選擇發明</a:t>
            </a:r>
            <a:endParaRPr lang="en-US" altLang="zh-TW" dirty="0"/>
          </a:p>
          <a:p>
            <a:pPr lvl="1">
              <a:lnSpc>
                <a:spcPct val="120000"/>
              </a:lnSpc>
            </a:pPr>
            <a:r>
              <a:rPr lang="zh-TW" altLang="en-US" dirty="0"/>
              <a:t>以製造方法界定物之請求項</a:t>
            </a:r>
            <a:endParaRPr lang="en-US" altLang="zh-TW" dirty="0"/>
          </a:p>
          <a:p>
            <a:pPr lvl="2">
              <a:lnSpc>
                <a:spcPct val="120000"/>
              </a:lnSpc>
            </a:pPr>
            <a:r>
              <a:rPr lang="zh-TW" altLang="en-US" dirty="0"/>
              <a:t>其申請專利之發明應為請求項所載之製造方法所賦予特性之物本身，亦即其是否具備新穎性或進步性並非由製造方法決定，而係由該物本身決定</a:t>
            </a:r>
            <a:endParaRPr lang="en-US" altLang="zh-TW" dirty="0"/>
          </a:p>
          <a:p>
            <a:pPr lvl="2">
              <a:lnSpc>
                <a:spcPct val="120000"/>
              </a:lnSpc>
            </a:pPr>
            <a:r>
              <a:rPr lang="zh-TW" altLang="en-US" dirty="0"/>
              <a:t>申請專利之發明為</a:t>
            </a:r>
            <a:r>
              <a:rPr lang="zh-TW" altLang="en-US" u="sng" dirty="0"/>
              <a:t>方法</a:t>
            </a:r>
            <a:r>
              <a:rPr lang="en-US" altLang="zh-TW" u="sng" dirty="0"/>
              <a:t>P</a:t>
            </a:r>
            <a:r>
              <a:rPr lang="zh-TW" altLang="en-US" u="sng" dirty="0"/>
              <a:t>（步驟</a:t>
            </a:r>
            <a:r>
              <a:rPr lang="en-US" altLang="zh-TW" u="sng" dirty="0"/>
              <a:t>P1</a:t>
            </a:r>
            <a:r>
              <a:rPr lang="zh-TW" altLang="en-US" u="sng" dirty="0"/>
              <a:t>、</a:t>
            </a:r>
            <a:r>
              <a:rPr lang="en-US" altLang="zh-TW" u="sng" dirty="0"/>
              <a:t>P2</a:t>
            </a:r>
            <a:r>
              <a:rPr lang="zh-TW" altLang="en-US" u="sng" dirty="0"/>
              <a:t>、</a:t>
            </a:r>
            <a:r>
              <a:rPr lang="en-US" altLang="zh-TW" u="sng" dirty="0"/>
              <a:t>……</a:t>
            </a:r>
            <a:r>
              <a:rPr lang="zh-TW" altLang="en-US" u="sng" dirty="0"/>
              <a:t>及</a:t>
            </a:r>
            <a:r>
              <a:rPr lang="en-US" altLang="zh-TW" u="sng" dirty="0" err="1"/>
              <a:t>Pn</a:t>
            </a:r>
            <a:r>
              <a:rPr lang="zh-TW" altLang="en-US" u="sng" dirty="0"/>
              <a:t>）所製得之蛋白質</a:t>
            </a:r>
            <a:r>
              <a:rPr lang="zh-TW" altLang="en-US" dirty="0"/>
              <a:t>，若以</a:t>
            </a:r>
            <a:r>
              <a:rPr lang="zh-TW" altLang="en-US" u="sng" dirty="0"/>
              <a:t>不同的方法</a:t>
            </a:r>
            <a:r>
              <a:rPr lang="en-US" altLang="zh-TW" u="sng" dirty="0"/>
              <a:t>Q</a:t>
            </a:r>
            <a:r>
              <a:rPr lang="zh-TW" altLang="en-US" u="sng" dirty="0"/>
              <a:t>所製得的蛋白質</a:t>
            </a:r>
            <a:r>
              <a:rPr lang="en-US" altLang="zh-TW" u="sng" dirty="0"/>
              <a:t>Z</a:t>
            </a:r>
            <a:r>
              <a:rPr lang="zh-TW" altLang="en-US" u="sng" dirty="0"/>
              <a:t>與所請求的蛋白質名稱相同且具有由方法</a:t>
            </a:r>
            <a:r>
              <a:rPr lang="en-US" altLang="zh-TW" u="sng" dirty="0"/>
              <a:t>P</a:t>
            </a:r>
            <a:r>
              <a:rPr lang="zh-TW" altLang="en-US" u="sng" dirty="0"/>
              <a:t>所得之相同特性</a:t>
            </a:r>
            <a:r>
              <a:rPr lang="zh-TW" altLang="en-US" dirty="0"/>
              <a:t>，且蛋白質</a:t>
            </a:r>
            <a:r>
              <a:rPr lang="en-US" altLang="zh-TW" dirty="0"/>
              <a:t>Z</a:t>
            </a:r>
            <a:r>
              <a:rPr lang="zh-TW" altLang="en-US" dirty="0"/>
              <a:t>為先前技術時，則無論方法</a:t>
            </a:r>
            <a:r>
              <a:rPr lang="en-US" altLang="zh-TW" dirty="0"/>
              <a:t>P</a:t>
            </a:r>
            <a:r>
              <a:rPr lang="zh-TW" altLang="en-US" dirty="0"/>
              <a:t>於申請時是否已經能為公眾得知，所請求的蛋白質不具新穎性</a:t>
            </a:r>
            <a:endParaRPr lang="en-US" altLang="zh-TW" dirty="0"/>
          </a:p>
        </p:txBody>
      </p:sp>
      <p:sp>
        <p:nvSpPr>
          <p:cNvPr id="4" name="投影片編號版面配置區 3">
            <a:extLst>
              <a:ext uri="{FF2B5EF4-FFF2-40B4-BE49-F238E27FC236}">
                <a16:creationId xmlns:a16="http://schemas.microsoft.com/office/drawing/2014/main" id="{6FC7DF09-C58A-C465-986F-15725E792F06}"/>
              </a:ext>
            </a:extLst>
          </p:cNvPr>
          <p:cNvSpPr>
            <a:spLocks noGrp="1"/>
          </p:cNvSpPr>
          <p:nvPr>
            <p:ph type="sldNum" sz="quarter" idx="12"/>
          </p:nvPr>
        </p:nvSpPr>
        <p:spPr>
          <a:xfrm>
            <a:off x="6948264" y="6356350"/>
            <a:ext cx="2133600" cy="365125"/>
          </a:xfrm>
        </p:spPr>
        <p:txBody>
          <a:bodyPr/>
          <a:lstStyle/>
          <a:p>
            <a:fld id="{254D4C32-7A1A-45A5-84ED-81747F1ABFAE}" type="slidenum">
              <a:rPr lang="zh-TW" altLang="en-US" smtClean="0"/>
              <a:t>13</a:t>
            </a:fld>
            <a:endParaRPr lang="zh-TW" altLang="en-US" dirty="0"/>
          </a:p>
        </p:txBody>
      </p:sp>
    </p:spTree>
    <p:extLst>
      <p:ext uri="{BB962C8B-B14F-4D97-AF65-F5344CB8AC3E}">
        <p14:creationId xmlns:p14="http://schemas.microsoft.com/office/powerpoint/2010/main" val="4162252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DE3E5D12-4A7C-4174-04B4-E44BB42ED13F}"/>
              </a:ext>
            </a:extLst>
          </p:cNvPr>
          <p:cNvSpPr>
            <a:spLocks noGrp="1"/>
          </p:cNvSpPr>
          <p:nvPr>
            <p:ph type="title"/>
          </p:nvPr>
        </p:nvSpPr>
        <p:spPr/>
        <p:txBody>
          <a:bodyPr/>
          <a:lstStyle/>
          <a:p>
            <a:r>
              <a:rPr lang="zh-TW" altLang="en-US" dirty="0"/>
              <a:t>新穎性</a:t>
            </a:r>
          </a:p>
        </p:txBody>
      </p:sp>
      <p:sp>
        <p:nvSpPr>
          <p:cNvPr id="3" name="內容版面配置區 2">
            <a:extLst>
              <a:ext uri="{FF2B5EF4-FFF2-40B4-BE49-F238E27FC236}">
                <a16:creationId xmlns:a16="http://schemas.microsoft.com/office/drawing/2014/main" id="{A7ED533A-E5FB-BA65-0FD4-D8A31586DA7E}"/>
              </a:ext>
            </a:extLst>
          </p:cNvPr>
          <p:cNvSpPr>
            <a:spLocks noGrp="1"/>
          </p:cNvSpPr>
          <p:nvPr>
            <p:ph idx="1"/>
          </p:nvPr>
        </p:nvSpPr>
        <p:spPr>
          <a:xfrm>
            <a:off x="457200" y="908719"/>
            <a:ext cx="8435280" cy="5812756"/>
          </a:xfrm>
        </p:spPr>
        <p:txBody>
          <a:bodyPr>
            <a:normAutofit fontScale="92500" lnSpcReduction="10000"/>
          </a:bodyPr>
          <a:lstStyle/>
          <a:p>
            <a:pPr lvl="1">
              <a:lnSpc>
                <a:spcPct val="120000"/>
              </a:lnSpc>
            </a:pPr>
            <a:r>
              <a:rPr lang="zh-TW" altLang="en-US" dirty="0"/>
              <a:t>以用途界定物之請求項</a:t>
            </a:r>
            <a:endParaRPr lang="en-US" altLang="zh-TW" dirty="0"/>
          </a:p>
          <a:p>
            <a:pPr lvl="2">
              <a:lnSpc>
                <a:spcPct val="120000"/>
              </a:lnSpc>
            </a:pPr>
            <a:r>
              <a:rPr lang="zh-TW" altLang="en-US" dirty="0"/>
              <a:t>所請求保護之物適合用於所界定之特殊用途，至於實際的限定作用，則取決於</a:t>
            </a:r>
            <a:r>
              <a:rPr lang="zh-TW" altLang="en-US" u="sng" dirty="0"/>
              <a:t>該用途特徵是否對所請求保護之物產生影響</a:t>
            </a:r>
            <a:r>
              <a:rPr lang="zh-TW" altLang="en-US" dirty="0"/>
              <a:t>，亦即該用途是否隱含申請專利之物具有適用該用途之某種特定結構及</a:t>
            </a:r>
            <a:r>
              <a:rPr lang="en-US" altLang="zh-TW" dirty="0"/>
              <a:t>/</a:t>
            </a:r>
            <a:r>
              <a:rPr lang="zh-TW" altLang="en-US" dirty="0"/>
              <a:t>或組成</a:t>
            </a:r>
            <a:endParaRPr lang="en-US" altLang="zh-TW" dirty="0"/>
          </a:p>
          <a:p>
            <a:pPr lvl="2">
              <a:lnSpc>
                <a:spcPct val="120000"/>
              </a:lnSpc>
            </a:pPr>
            <a:r>
              <a:rPr lang="zh-TW" altLang="en-US" dirty="0"/>
              <a:t>「用於熔化鋼鐵之鑄模」，該「用於熔化鋼鐵」之用途隱含具有能</a:t>
            </a:r>
            <a:r>
              <a:rPr lang="zh-TW" altLang="en-US" u="sng" dirty="0"/>
              <a:t>產生高熔點特性之結構及</a:t>
            </a:r>
            <a:r>
              <a:rPr lang="en-US" altLang="zh-TW" u="sng" dirty="0"/>
              <a:t>/</a:t>
            </a:r>
            <a:r>
              <a:rPr lang="zh-TW" altLang="en-US" u="sng" dirty="0"/>
              <a:t>或組成</a:t>
            </a:r>
            <a:r>
              <a:rPr lang="zh-TW" altLang="en-US" dirty="0"/>
              <a:t>，對申請標的「鑄模」具有限定作用，雖然具有低熔點的塑膠製冰盒亦屬一種鑄模，但不致於落入前述請求項之範圍，具有新穎性</a:t>
            </a:r>
            <a:endParaRPr lang="en-US" altLang="zh-TW" dirty="0"/>
          </a:p>
          <a:p>
            <a:pPr lvl="2">
              <a:lnSpc>
                <a:spcPct val="120000"/>
              </a:lnSpc>
            </a:pPr>
            <a:r>
              <a:rPr lang="zh-TW" altLang="en-US" dirty="0"/>
              <a:t>「用於起重機之吊鈎」，該「用於起重機」之用途</a:t>
            </a:r>
            <a:r>
              <a:rPr lang="zh-TW" altLang="en-US" u="sng" dirty="0"/>
              <a:t>隱含具有特定尺寸及強度之結構</a:t>
            </a:r>
            <a:r>
              <a:rPr lang="zh-TW" altLang="en-US" dirty="0"/>
              <a:t>，對申請標的「吊鈎」具有限定作用，雖然釣魚用之魚鈎亦具有相似之形狀，但不致於落入前述請求項之範圍，具有新穎性</a:t>
            </a:r>
            <a:endParaRPr lang="en-US" altLang="zh-TW" dirty="0"/>
          </a:p>
        </p:txBody>
      </p:sp>
      <p:sp>
        <p:nvSpPr>
          <p:cNvPr id="4" name="投影片編號版面配置區 3">
            <a:extLst>
              <a:ext uri="{FF2B5EF4-FFF2-40B4-BE49-F238E27FC236}">
                <a16:creationId xmlns:a16="http://schemas.microsoft.com/office/drawing/2014/main" id="{6FC7DF09-C58A-C465-986F-15725E792F06}"/>
              </a:ext>
            </a:extLst>
          </p:cNvPr>
          <p:cNvSpPr>
            <a:spLocks noGrp="1"/>
          </p:cNvSpPr>
          <p:nvPr>
            <p:ph type="sldNum" sz="quarter" idx="12"/>
          </p:nvPr>
        </p:nvSpPr>
        <p:spPr>
          <a:xfrm>
            <a:off x="6948264" y="6356350"/>
            <a:ext cx="2133600" cy="365125"/>
          </a:xfrm>
        </p:spPr>
        <p:txBody>
          <a:bodyPr/>
          <a:lstStyle/>
          <a:p>
            <a:fld id="{254D4C32-7A1A-45A5-84ED-81747F1ABFAE}" type="slidenum">
              <a:rPr lang="zh-TW" altLang="en-US" smtClean="0"/>
              <a:t>14</a:t>
            </a:fld>
            <a:endParaRPr lang="zh-TW" altLang="en-US" dirty="0"/>
          </a:p>
        </p:txBody>
      </p:sp>
    </p:spTree>
    <p:extLst>
      <p:ext uri="{BB962C8B-B14F-4D97-AF65-F5344CB8AC3E}">
        <p14:creationId xmlns:p14="http://schemas.microsoft.com/office/powerpoint/2010/main" val="13021644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DE3E5D12-4A7C-4174-04B4-E44BB42ED13F}"/>
              </a:ext>
            </a:extLst>
          </p:cNvPr>
          <p:cNvSpPr>
            <a:spLocks noGrp="1"/>
          </p:cNvSpPr>
          <p:nvPr>
            <p:ph type="title"/>
          </p:nvPr>
        </p:nvSpPr>
        <p:spPr/>
        <p:txBody>
          <a:bodyPr/>
          <a:lstStyle/>
          <a:p>
            <a:r>
              <a:rPr lang="zh-TW" altLang="en-US" dirty="0"/>
              <a:t>新穎性</a:t>
            </a:r>
          </a:p>
        </p:txBody>
      </p:sp>
      <p:sp>
        <p:nvSpPr>
          <p:cNvPr id="3" name="內容版面配置區 2">
            <a:extLst>
              <a:ext uri="{FF2B5EF4-FFF2-40B4-BE49-F238E27FC236}">
                <a16:creationId xmlns:a16="http://schemas.microsoft.com/office/drawing/2014/main" id="{A7ED533A-E5FB-BA65-0FD4-D8A31586DA7E}"/>
              </a:ext>
            </a:extLst>
          </p:cNvPr>
          <p:cNvSpPr>
            <a:spLocks noGrp="1"/>
          </p:cNvSpPr>
          <p:nvPr>
            <p:ph idx="1"/>
          </p:nvPr>
        </p:nvSpPr>
        <p:spPr>
          <a:xfrm>
            <a:off x="457200" y="908719"/>
            <a:ext cx="8435280" cy="5812756"/>
          </a:xfrm>
        </p:spPr>
        <p:txBody>
          <a:bodyPr>
            <a:normAutofit fontScale="92500"/>
          </a:bodyPr>
          <a:lstStyle/>
          <a:p>
            <a:pPr lvl="1">
              <a:lnSpc>
                <a:spcPct val="120000"/>
              </a:lnSpc>
            </a:pPr>
            <a:r>
              <a:rPr lang="zh-TW" altLang="en-US" dirty="0"/>
              <a:t>用途請求項</a:t>
            </a:r>
            <a:endParaRPr lang="en-US" altLang="zh-TW" dirty="0"/>
          </a:p>
          <a:p>
            <a:pPr lvl="2">
              <a:lnSpc>
                <a:spcPct val="120000"/>
              </a:lnSpc>
            </a:pPr>
            <a:r>
              <a:rPr lang="zh-TW" altLang="en-US" dirty="0"/>
              <a:t>用途請求項之可專利性在於發現物之未知特性後，根據使用目的將該物使用於前所未知之特定用途，故通常係僅適用於經由物的構造或名稱較難以理解該物應如何被使用的技術領域，例如化學物質之用途的技術領域</a:t>
            </a:r>
            <a:endParaRPr lang="en-US" altLang="zh-TW" dirty="0"/>
          </a:p>
          <a:p>
            <a:pPr lvl="1">
              <a:lnSpc>
                <a:spcPct val="120000"/>
              </a:lnSpc>
            </a:pPr>
            <a:r>
              <a:rPr lang="zh-TW" altLang="en-US" dirty="0"/>
              <a:t>選擇發明</a:t>
            </a:r>
            <a:endParaRPr lang="en-US" altLang="zh-TW" dirty="0"/>
          </a:p>
          <a:p>
            <a:pPr lvl="2">
              <a:lnSpc>
                <a:spcPct val="120000"/>
              </a:lnSpc>
            </a:pPr>
            <a:r>
              <a:rPr lang="zh-TW" altLang="en-US" dirty="0"/>
              <a:t>選擇發明係由先前技術已知之較大的群組或範圍中，選擇其中未特定揭露之個別成分（</a:t>
            </a:r>
            <a:r>
              <a:rPr lang="en-US" altLang="zh-TW" dirty="0"/>
              <a:t>individual elements</a:t>
            </a:r>
            <a:r>
              <a:rPr lang="zh-TW" altLang="en-US" dirty="0"/>
              <a:t>）、次群組（</a:t>
            </a:r>
            <a:r>
              <a:rPr lang="en-US" altLang="zh-TW" dirty="0"/>
              <a:t>sub-sets</a:t>
            </a:r>
            <a:r>
              <a:rPr lang="zh-TW" altLang="en-US" dirty="0"/>
              <a:t>）或次範圍（</a:t>
            </a:r>
            <a:r>
              <a:rPr lang="en-US" altLang="zh-TW" dirty="0"/>
              <a:t>sub-ranges</a:t>
            </a:r>
            <a:r>
              <a:rPr lang="zh-TW" altLang="en-US" dirty="0"/>
              <a:t>）之發明，常見於化學及材料技術領域。判斷選擇發明之新穎性，須考量先前技術的整體內容</a:t>
            </a:r>
            <a:r>
              <a:rPr lang="zh-TW" altLang="en-US" u="sng" dirty="0"/>
              <a:t>是否已特定揭露</a:t>
            </a:r>
            <a:r>
              <a:rPr lang="zh-TW" altLang="en-US" dirty="0"/>
              <a:t>（</a:t>
            </a:r>
            <a:r>
              <a:rPr lang="en-US" altLang="zh-TW" dirty="0"/>
              <a:t>specifically disclosed</a:t>
            </a:r>
            <a:r>
              <a:rPr lang="zh-TW" altLang="en-US" dirty="0"/>
              <a:t>）所選出的個別成分、次群組或次範圍</a:t>
            </a:r>
            <a:endParaRPr lang="en-US" altLang="zh-TW" dirty="0"/>
          </a:p>
        </p:txBody>
      </p:sp>
      <p:sp>
        <p:nvSpPr>
          <p:cNvPr id="4" name="投影片編號版面配置區 3">
            <a:extLst>
              <a:ext uri="{FF2B5EF4-FFF2-40B4-BE49-F238E27FC236}">
                <a16:creationId xmlns:a16="http://schemas.microsoft.com/office/drawing/2014/main" id="{6FC7DF09-C58A-C465-986F-15725E792F06}"/>
              </a:ext>
            </a:extLst>
          </p:cNvPr>
          <p:cNvSpPr>
            <a:spLocks noGrp="1"/>
          </p:cNvSpPr>
          <p:nvPr>
            <p:ph type="sldNum" sz="quarter" idx="12"/>
          </p:nvPr>
        </p:nvSpPr>
        <p:spPr>
          <a:xfrm>
            <a:off x="6948264" y="6356350"/>
            <a:ext cx="2133600" cy="365125"/>
          </a:xfrm>
        </p:spPr>
        <p:txBody>
          <a:bodyPr/>
          <a:lstStyle/>
          <a:p>
            <a:fld id="{254D4C32-7A1A-45A5-84ED-81747F1ABFAE}" type="slidenum">
              <a:rPr lang="zh-TW" altLang="en-US" smtClean="0"/>
              <a:t>15</a:t>
            </a:fld>
            <a:endParaRPr lang="zh-TW" altLang="en-US" dirty="0"/>
          </a:p>
        </p:txBody>
      </p:sp>
    </p:spTree>
    <p:extLst>
      <p:ext uri="{BB962C8B-B14F-4D97-AF65-F5344CB8AC3E}">
        <p14:creationId xmlns:p14="http://schemas.microsoft.com/office/powerpoint/2010/main" val="8415766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pPr>
              <a:defRPr/>
            </a:pPr>
            <a:fld id="{B83ACBEE-1837-4398-8376-AF0F7C4E2424}" type="slidenum">
              <a:rPr lang="zh-TW" altLang="en-US" smtClean="0">
                <a:solidFill>
                  <a:prstClr val="black">
                    <a:tint val="75000"/>
                  </a:prstClr>
                </a:solidFill>
              </a:rPr>
              <a:pPr>
                <a:defRPr/>
              </a:pPr>
              <a:t>16</a:t>
            </a:fld>
            <a:endParaRPr lang="zh-TW" altLang="en-US">
              <a:solidFill>
                <a:prstClr val="black">
                  <a:tint val="75000"/>
                </a:prstClr>
              </a:solidFill>
            </a:endParaRPr>
          </a:p>
        </p:txBody>
      </p:sp>
      <p:sp>
        <p:nvSpPr>
          <p:cNvPr id="6" name="標題 4"/>
          <p:cNvSpPr txBox="1">
            <a:spLocks/>
          </p:cNvSpPr>
          <p:nvPr/>
        </p:nvSpPr>
        <p:spPr>
          <a:xfrm>
            <a:off x="722313" y="4406900"/>
            <a:ext cx="7772400" cy="136207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800" b="1" kern="1200">
                <a:solidFill>
                  <a:schemeClr val="tx1"/>
                </a:solidFill>
                <a:latin typeface="微軟正黑體" pitchFamily="34" charset="-120"/>
                <a:ea typeface="微軟正黑體" pitchFamily="34" charset="-120"/>
                <a:cs typeface="+mj-cs"/>
              </a:defRPr>
            </a:lvl1pPr>
          </a:lstStyle>
          <a:p>
            <a:pPr algn="l"/>
            <a:r>
              <a:rPr lang="zh-TW" altLang="en-US" sz="5400" dirty="0"/>
              <a:t>擬制喪失新穎性</a:t>
            </a:r>
          </a:p>
        </p:txBody>
      </p:sp>
    </p:spTree>
    <p:extLst>
      <p:ext uri="{BB962C8B-B14F-4D97-AF65-F5344CB8AC3E}">
        <p14:creationId xmlns:p14="http://schemas.microsoft.com/office/powerpoint/2010/main" val="24611366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DE3E5D12-4A7C-4174-04B4-E44BB42ED13F}"/>
              </a:ext>
            </a:extLst>
          </p:cNvPr>
          <p:cNvSpPr>
            <a:spLocks noGrp="1"/>
          </p:cNvSpPr>
          <p:nvPr>
            <p:ph type="title"/>
          </p:nvPr>
        </p:nvSpPr>
        <p:spPr/>
        <p:txBody>
          <a:bodyPr/>
          <a:lstStyle/>
          <a:p>
            <a:r>
              <a:rPr lang="zh-TW" altLang="en-US" dirty="0"/>
              <a:t>擬制喪失新穎性</a:t>
            </a:r>
          </a:p>
        </p:txBody>
      </p:sp>
      <p:sp>
        <p:nvSpPr>
          <p:cNvPr id="6" name="內容版面配置區 5">
            <a:extLst>
              <a:ext uri="{FF2B5EF4-FFF2-40B4-BE49-F238E27FC236}">
                <a16:creationId xmlns:a16="http://schemas.microsoft.com/office/drawing/2014/main" id="{F19CC652-7BC5-383D-7D7F-EF20D5A04538}"/>
              </a:ext>
            </a:extLst>
          </p:cNvPr>
          <p:cNvSpPr>
            <a:spLocks noGrp="1"/>
          </p:cNvSpPr>
          <p:nvPr>
            <p:ph idx="1"/>
          </p:nvPr>
        </p:nvSpPr>
        <p:spPr>
          <a:xfrm>
            <a:off x="457200" y="980728"/>
            <a:ext cx="8229600" cy="2736304"/>
          </a:xfrm>
        </p:spPr>
        <p:txBody>
          <a:bodyPr>
            <a:normAutofit fontScale="92500"/>
          </a:bodyPr>
          <a:lstStyle/>
          <a:p>
            <a:r>
              <a:rPr lang="zh-TW" altLang="en-US" dirty="0"/>
              <a:t>專利法第</a:t>
            </a:r>
            <a:r>
              <a:rPr lang="en-US" altLang="zh-TW" dirty="0"/>
              <a:t>23</a:t>
            </a:r>
            <a:r>
              <a:rPr lang="zh-TW" altLang="en-US" dirty="0"/>
              <a:t>條</a:t>
            </a:r>
          </a:p>
          <a:p>
            <a:pPr lvl="1"/>
            <a:r>
              <a:rPr lang="zh-TW" altLang="en-US" b="0" i="0" dirty="0">
                <a:solidFill>
                  <a:srgbClr val="000000"/>
                </a:solidFill>
                <a:effectLst/>
                <a:highlight>
                  <a:srgbClr val="F9FBFB"/>
                </a:highlight>
              </a:rPr>
              <a:t>申請專利之發明，與</a:t>
            </a:r>
            <a:r>
              <a:rPr lang="zh-TW" altLang="en-US" b="1" i="0" u="sng" dirty="0">
                <a:solidFill>
                  <a:srgbClr val="000000"/>
                </a:solidFill>
                <a:effectLst/>
                <a:highlight>
                  <a:srgbClr val="F9FBFB"/>
                </a:highlight>
              </a:rPr>
              <a:t>申請在先</a:t>
            </a:r>
            <a:r>
              <a:rPr lang="zh-TW" altLang="en-US" b="0" i="0" dirty="0">
                <a:solidFill>
                  <a:srgbClr val="000000"/>
                </a:solidFill>
                <a:effectLst/>
                <a:highlight>
                  <a:srgbClr val="F9FBFB"/>
                </a:highlight>
              </a:rPr>
              <a:t>而在其</a:t>
            </a:r>
            <a:r>
              <a:rPr lang="zh-TW" altLang="en-US" b="1" i="0" u="sng" dirty="0">
                <a:solidFill>
                  <a:srgbClr val="000000"/>
                </a:solidFill>
                <a:effectLst/>
                <a:highlight>
                  <a:srgbClr val="F9FBFB"/>
                </a:highlight>
              </a:rPr>
              <a:t>申請後始公開或公告之發明或新型專利</a:t>
            </a:r>
            <a:r>
              <a:rPr lang="zh-TW" altLang="en-US" b="0" i="0" dirty="0">
                <a:solidFill>
                  <a:srgbClr val="000000"/>
                </a:solidFill>
                <a:effectLst/>
                <a:highlight>
                  <a:srgbClr val="F9FBFB"/>
                </a:highlight>
              </a:rPr>
              <a:t>申請案所附說明書、申請專利範圍或圖式</a:t>
            </a:r>
            <a:r>
              <a:rPr lang="zh-TW" altLang="en-US" b="1" i="0" u="sng" dirty="0">
                <a:solidFill>
                  <a:srgbClr val="000000"/>
                </a:solidFill>
                <a:effectLst/>
                <a:highlight>
                  <a:srgbClr val="F9FBFB"/>
                </a:highlight>
              </a:rPr>
              <a:t>載明之內容相同者</a:t>
            </a:r>
            <a:r>
              <a:rPr lang="zh-TW" altLang="en-US" b="0" i="0" dirty="0">
                <a:solidFill>
                  <a:srgbClr val="000000"/>
                </a:solidFill>
                <a:effectLst/>
                <a:highlight>
                  <a:srgbClr val="F9FBFB"/>
                </a:highlight>
              </a:rPr>
              <a:t>，不得取得發明專利。但其申請人與申請在先之發明或新型專利申請案之申請人相同者，不在此限。</a:t>
            </a:r>
            <a:endParaRPr lang="zh-TW" altLang="en-US" dirty="0"/>
          </a:p>
        </p:txBody>
      </p:sp>
      <p:sp>
        <p:nvSpPr>
          <p:cNvPr id="4" name="投影片編號版面配置區 3">
            <a:extLst>
              <a:ext uri="{FF2B5EF4-FFF2-40B4-BE49-F238E27FC236}">
                <a16:creationId xmlns:a16="http://schemas.microsoft.com/office/drawing/2014/main" id="{6FC7DF09-C58A-C465-986F-15725E792F06}"/>
              </a:ext>
            </a:extLst>
          </p:cNvPr>
          <p:cNvSpPr>
            <a:spLocks noGrp="1"/>
          </p:cNvSpPr>
          <p:nvPr>
            <p:ph type="sldNum" sz="quarter" idx="12"/>
          </p:nvPr>
        </p:nvSpPr>
        <p:spPr>
          <a:xfrm>
            <a:off x="6948264" y="6356350"/>
            <a:ext cx="2133600" cy="365125"/>
          </a:xfrm>
        </p:spPr>
        <p:txBody>
          <a:bodyPr/>
          <a:lstStyle/>
          <a:p>
            <a:fld id="{254D4C32-7A1A-45A5-84ED-81747F1ABFAE}" type="slidenum">
              <a:rPr lang="zh-TW" altLang="en-US" smtClean="0"/>
              <a:t>17</a:t>
            </a:fld>
            <a:endParaRPr lang="zh-TW" altLang="en-US" dirty="0"/>
          </a:p>
        </p:txBody>
      </p:sp>
      <p:sp>
        <p:nvSpPr>
          <p:cNvPr id="8" name="文字方塊 7">
            <a:extLst>
              <a:ext uri="{FF2B5EF4-FFF2-40B4-BE49-F238E27FC236}">
                <a16:creationId xmlns:a16="http://schemas.microsoft.com/office/drawing/2014/main" id="{C949B013-9E0B-87EF-67C7-229D3185E079}"/>
              </a:ext>
            </a:extLst>
          </p:cNvPr>
          <p:cNvSpPr txBox="1"/>
          <p:nvPr/>
        </p:nvSpPr>
        <p:spPr>
          <a:xfrm>
            <a:off x="539552" y="3748390"/>
            <a:ext cx="1944216" cy="369332"/>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zh-TW" altLang="en-US" b="1" dirty="0">
                <a:latin typeface="微軟正黑體" panose="020B0604030504040204" pitchFamily="34" charset="-120"/>
                <a:ea typeface="微軟正黑體" panose="020B0604030504040204" pitchFamily="34" charset="-120"/>
              </a:rPr>
              <a:t>擬制喪失新穎性</a:t>
            </a:r>
          </a:p>
        </p:txBody>
      </p:sp>
      <p:grpSp>
        <p:nvGrpSpPr>
          <p:cNvPr id="2" name="群組 1"/>
          <p:cNvGrpSpPr/>
          <p:nvPr/>
        </p:nvGrpSpPr>
        <p:grpSpPr>
          <a:xfrm>
            <a:off x="611560" y="4211796"/>
            <a:ext cx="8075240" cy="2494148"/>
            <a:chOff x="611560" y="4211796"/>
            <a:chExt cx="8075240" cy="2494148"/>
          </a:xfrm>
        </p:grpSpPr>
        <p:cxnSp>
          <p:nvCxnSpPr>
            <p:cNvPr id="10" name="直線單箭頭接點 9">
              <a:extLst>
                <a:ext uri="{FF2B5EF4-FFF2-40B4-BE49-F238E27FC236}">
                  <a16:creationId xmlns:a16="http://schemas.microsoft.com/office/drawing/2014/main" id="{EE788D0E-EC96-36E1-41E9-C55678655865}"/>
                </a:ext>
              </a:extLst>
            </p:cNvPr>
            <p:cNvCxnSpPr/>
            <p:nvPr/>
          </p:nvCxnSpPr>
          <p:spPr>
            <a:xfrm>
              <a:off x="611560" y="4725144"/>
              <a:ext cx="8075240" cy="0"/>
            </a:xfrm>
            <a:prstGeom prst="straightConnector1">
              <a:avLst/>
            </a:prstGeom>
            <a:ln w="41275">
              <a:tailEnd type="triangle"/>
            </a:ln>
          </p:spPr>
          <p:style>
            <a:lnRef idx="1">
              <a:schemeClr val="accent1"/>
            </a:lnRef>
            <a:fillRef idx="0">
              <a:schemeClr val="accent1"/>
            </a:fillRef>
            <a:effectRef idx="0">
              <a:schemeClr val="accent1"/>
            </a:effectRef>
            <a:fontRef idx="minor">
              <a:schemeClr val="tx1"/>
            </a:fontRef>
          </p:style>
        </p:cxnSp>
        <p:grpSp>
          <p:nvGrpSpPr>
            <p:cNvPr id="17" name="群組 16">
              <a:extLst>
                <a:ext uri="{FF2B5EF4-FFF2-40B4-BE49-F238E27FC236}">
                  <a16:creationId xmlns:a16="http://schemas.microsoft.com/office/drawing/2014/main" id="{A430E2C1-4839-0C52-FDBA-EE97E3488217}"/>
                </a:ext>
              </a:extLst>
            </p:cNvPr>
            <p:cNvGrpSpPr/>
            <p:nvPr/>
          </p:nvGrpSpPr>
          <p:grpSpPr>
            <a:xfrm>
              <a:off x="3239852" y="4211796"/>
              <a:ext cx="1800200" cy="1034680"/>
              <a:chOff x="3239852" y="4211796"/>
              <a:chExt cx="1800200" cy="1034680"/>
            </a:xfrm>
          </p:grpSpPr>
          <p:cxnSp>
            <p:nvCxnSpPr>
              <p:cNvPr id="13" name="直線接點 12">
                <a:extLst>
                  <a:ext uri="{FF2B5EF4-FFF2-40B4-BE49-F238E27FC236}">
                    <a16:creationId xmlns:a16="http://schemas.microsoft.com/office/drawing/2014/main" id="{AE77A9CB-E1A7-5446-022C-5647ECA3E2E3}"/>
                  </a:ext>
                </a:extLst>
              </p:cNvPr>
              <p:cNvCxnSpPr/>
              <p:nvPr/>
            </p:nvCxnSpPr>
            <p:spPr>
              <a:xfrm>
                <a:off x="4139952" y="4581128"/>
                <a:ext cx="0" cy="288032"/>
              </a:xfrm>
              <a:prstGeom prst="line">
                <a:avLst/>
              </a:prstGeom>
              <a:ln w="34925"/>
            </p:spPr>
            <p:style>
              <a:lnRef idx="1">
                <a:schemeClr val="accent2"/>
              </a:lnRef>
              <a:fillRef idx="0">
                <a:schemeClr val="accent2"/>
              </a:fillRef>
              <a:effectRef idx="0">
                <a:schemeClr val="accent2"/>
              </a:effectRef>
              <a:fontRef idx="minor">
                <a:schemeClr val="tx1"/>
              </a:fontRef>
            </p:style>
          </p:cxnSp>
          <p:sp>
            <p:nvSpPr>
              <p:cNvPr id="15" name="文字方塊 14">
                <a:extLst>
                  <a:ext uri="{FF2B5EF4-FFF2-40B4-BE49-F238E27FC236}">
                    <a16:creationId xmlns:a16="http://schemas.microsoft.com/office/drawing/2014/main" id="{E4719584-4998-495E-29B5-AD52C88FC9BC}"/>
                  </a:ext>
                </a:extLst>
              </p:cNvPr>
              <p:cNvSpPr txBox="1"/>
              <p:nvPr/>
            </p:nvSpPr>
            <p:spPr>
              <a:xfrm>
                <a:off x="3239852" y="4211796"/>
                <a:ext cx="1800200" cy="369332"/>
              </a:xfrm>
              <a:prstGeom prst="rect">
                <a:avLst/>
              </a:prstGeom>
              <a:noFill/>
            </p:spPr>
            <p:txBody>
              <a:bodyPr wrap="square">
                <a:spAutoFit/>
              </a:bodyPr>
              <a:lstStyle/>
              <a:p>
                <a:r>
                  <a:rPr lang="zh-TW" altLang="en-US" b="1" i="0" dirty="0">
                    <a:solidFill>
                      <a:srgbClr val="FF0000"/>
                    </a:solidFill>
                    <a:effectLst/>
                    <a:highlight>
                      <a:srgbClr val="F9FBFB"/>
                    </a:highlight>
                    <a:latin typeface="微軟正黑體" panose="020B0604030504040204" pitchFamily="34" charset="-120"/>
                    <a:ea typeface="微軟正黑體" panose="020B0604030504040204" pitchFamily="34" charset="-120"/>
                  </a:rPr>
                  <a:t>申請專利之發明</a:t>
                </a:r>
                <a:endParaRPr lang="zh-TW" altLang="en-US" b="1" dirty="0">
                  <a:solidFill>
                    <a:srgbClr val="FF0000"/>
                  </a:solidFill>
                  <a:latin typeface="微軟正黑體" panose="020B0604030504040204" pitchFamily="34" charset="-120"/>
                  <a:ea typeface="微軟正黑體" panose="020B0604030504040204" pitchFamily="34" charset="-120"/>
                </a:endParaRPr>
              </a:p>
            </p:txBody>
          </p:sp>
          <p:sp>
            <p:nvSpPr>
              <p:cNvPr id="16" name="文字方塊 15">
                <a:extLst>
                  <a:ext uri="{FF2B5EF4-FFF2-40B4-BE49-F238E27FC236}">
                    <a16:creationId xmlns:a16="http://schemas.microsoft.com/office/drawing/2014/main" id="{180031A8-A259-7BA4-73ED-A62B333EDAC8}"/>
                  </a:ext>
                </a:extLst>
              </p:cNvPr>
              <p:cNvSpPr txBox="1"/>
              <p:nvPr/>
            </p:nvSpPr>
            <p:spPr>
              <a:xfrm>
                <a:off x="3239852" y="4877144"/>
                <a:ext cx="1800200" cy="369332"/>
              </a:xfrm>
              <a:prstGeom prst="rect">
                <a:avLst/>
              </a:prstGeom>
              <a:noFill/>
            </p:spPr>
            <p:txBody>
              <a:bodyPr wrap="square">
                <a:spAutoFit/>
              </a:bodyPr>
              <a:lstStyle/>
              <a:p>
                <a:pPr algn="ctr"/>
                <a:r>
                  <a:rPr lang="en-US" altLang="zh-TW" b="1" dirty="0">
                    <a:solidFill>
                      <a:srgbClr val="FF0000"/>
                    </a:solidFill>
                    <a:latin typeface="微軟正黑體" panose="020B0604030504040204" pitchFamily="34" charset="-120"/>
                    <a:ea typeface="微軟正黑體" panose="020B0604030504040204" pitchFamily="34" charset="-120"/>
                  </a:rPr>
                  <a:t>112/8/8</a:t>
                </a:r>
                <a:r>
                  <a:rPr lang="zh-TW" altLang="en-US" b="1" dirty="0">
                    <a:solidFill>
                      <a:srgbClr val="FF0000"/>
                    </a:solidFill>
                    <a:latin typeface="微軟正黑體" panose="020B0604030504040204" pitchFamily="34" charset="-120"/>
                    <a:ea typeface="微軟正黑體" panose="020B0604030504040204" pitchFamily="34" charset="-120"/>
                  </a:rPr>
                  <a:t>申請</a:t>
                </a:r>
              </a:p>
            </p:txBody>
          </p:sp>
        </p:grpSp>
        <p:grpSp>
          <p:nvGrpSpPr>
            <p:cNvPr id="18" name="群組 17">
              <a:extLst>
                <a:ext uri="{FF2B5EF4-FFF2-40B4-BE49-F238E27FC236}">
                  <a16:creationId xmlns:a16="http://schemas.microsoft.com/office/drawing/2014/main" id="{1D8E20CF-2D8B-3ED1-F706-E20B5E4FAFBE}"/>
                </a:ext>
              </a:extLst>
            </p:cNvPr>
            <p:cNvGrpSpPr/>
            <p:nvPr/>
          </p:nvGrpSpPr>
          <p:grpSpPr>
            <a:xfrm>
              <a:off x="1331640" y="4220924"/>
              <a:ext cx="1800200" cy="1034680"/>
              <a:chOff x="3239852" y="4211796"/>
              <a:chExt cx="1800200" cy="1034680"/>
            </a:xfrm>
          </p:grpSpPr>
          <p:cxnSp>
            <p:nvCxnSpPr>
              <p:cNvPr id="19" name="直線接點 18">
                <a:extLst>
                  <a:ext uri="{FF2B5EF4-FFF2-40B4-BE49-F238E27FC236}">
                    <a16:creationId xmlns:a16="http://schemas.microsoft.com/office/drawing/2014/main" id="{29A72B70-67AF-C216-D652-620E5BAD978F}"/>
                  </a:ext>
                </a:extLst>
              </p:cNvPr>
              <p:cNvCxnSpPr/>
              <p:nvPr/>
            </p:nvCxnSpPr>
            <p:spPr>
              <a:xfrm>
                <a:off x="4139952" y="4581128"/>
                <a:ext cx="0" cy="288032"/>
              </a:xfrm>
              <a:prstGeom prst="line">
                <a:avLst/>
              </a:prstGeom>
              <a:ln w="34925"/>
            </p:spPr>
            <p:style>
              <a:lnRef idx="1">
                <a:schemeClr val="accent2"/>
              </a:lnRef>
              <a:fillRef idx="0">
                <a:schemeClr val="accent2"/>
              </a:fillRef>
              <a:effectRef idx="0">
                <a:schemeClr val="accent2"/>
              </a:effectRef>
              <a:fontRef idx="minor">
                <a:schemeClr val="tx1"/>
              </a:fontRef>
            </p:style>
          </p:cxnSp>
          <p:sp>
            <p:nvSpPr>
              <p:cNvPr id="20" name="文字方塊 19">
                <a:extLst>
                  <a:ext uri="{FF2B5EF4-FFF2-40B4-BE49-F238E27FC236}">
                    <a16:creationId xmlns:a16="http://schemas.microsoft.com/office/drawing/2014/main" id="{D16330D3-1597-CE42-70C9-C18DBC163D5A}"/>
                  </a:ext>
                </a:extLst>
              </p:cNvPr>
              <p:cNvSpPr txBox="1"/>
              <p:nvPr/>
            </p:nvSpPr>
            <p:spPr>
              <a:xfrm>
                <a:off x="3239852" y="4211796"/>
                <a:ext cx="1800200" cy="369332"/>
              </a:xfrm>
              <a:prstGeom prst="rect">
                <a:avLst/>
              </a:prstGeom>
              <a:noFill/>
            </p:spPr>
            <p:txBody>
              <a:bodyPr wrap="square">
                <a:spAutoFit/>
              </a:bodyPr>
              <a:lstStyle/>
              <a:p>
                <a:pPr algn="ctr"/>
                <a:r>
                  <a:rPr lang="zh-TW" altLang="en-US" b="1" dirty="0">
                    <a:latin typeface="微軟正黑體" panose="020B0604030504040204" pitchFamily="34" charset="-120"/>
                    <a:ea typeface="微軟正黑體" panose="020B0604030504040204" pitchFamily="34" charset="-120"/>
                  </a:rPr>
                  <a:t>先申請案</a:t>
                </a:r>
              </a:p>
            </p:txBody>
          </p:sp>
          <p:sp>
            <p:nvSpPr>
              <p:cNvPr id="21" name="文字方塊 20">
                <a:extLst>
                  <a:ext uri="{FF2B5EF4-FFF2-40B4-BE49-F238E27FC236}">
                    <a16:creationId xmlns:a16="http://schemas.microsoft.com/office/drawing/2014/main" id="{751B193B-1DD9-F8A7-BAF9-331A7D809290}"/>
                  </a:ext>
                </a:extLst>
              </p:cNvPr>
              <p:cNvSpPr txBox="1"/>
              <p:nvPr/>
            </p:nvSpPr>
            <p:spPr>
              <a:xfrm>
                <a:off x="3239852" y="4877144"/>
                <a:ext cx="1800200" cy="369332"/>
              </a:xfrm>
              <a:prstGeom prst="rect">
                <a:avLst/>
              </a:prstGeom>
              <a:noFill/>
            </p:spPr>
            <p:txBody>
              <a:bodyPr wrap="square">
                <a:spAutoFit/>
              </a:bodyPr>
              <a:lstStyle/>
              <a:p>
                <a:pPr algn="ctr"/>
                <a:r>
                  <a:rPr lang="en-US" altLang="zh-TW" b="1" dirty="0">
                    <a:latin typeface="微軟正黑體" panose="020B0604030504040204" pitchFamily="34" charset="-120"/>
                    <a:ea typeface="微軟正黑體" panose="020B0604030504040204" pitchFamily="34" charset="-120"/>
                  </a:rPr>
                  <a:t>112/1/8</a:t>
                </a:r>
                <a:r>
                  <a:rPr lang="zh-TW" altLang="en-US" b="1" dirty="0">
                    <a:latin typeface="微軟正黑體" panose="020B0604030504040204" pitchFamily="34" charset="-120"/>
                    <a:ea typeface="微軟正黑體" panose="020B0604030504040204" pitchFamily="34" charset="-120"/>
                  </a:rPr>
                  <a:t>申請</a:t>
                </a:r>
              </a:p>
            </p:txBody>
          </p:sp>
        </p:grpSp>
        <p:grpSp>
          <p:nvGrpSpPr>
            <p:cNvPr id="22" name="群組 21">
              <a:extLst>
                <a:ext uri="{FF2B5EF4-FFF2-40B4-BE49-F238E27FC236}">
                  <a16:creationId xmlns:a16="http://schemas.microsoft.com/office/drawing/2014/main" id="{FA4CEBB9-0F57-68E6-DA1F-36F75E4A3D8A}"/>
                </a:ext>
              </a:extLst>
            </p:cNvPr>
            <p:cNvGrpSpPr/>
            <p:nvPr/>
          </p:nvGrpSpPr>
          <p:grpSpPr>
            <a:xfrm>
              <a:off x="5148064" y="4224122"/>
              <a:ext cx="1800200" cy="1034680"/>
              <a:chOff x="3239852" y="4211796"/>
              <a:chExt cx="1800200" cy="1034680"/>
            </a:xfrm>
          </p:grpSpPr>
          <p:cxnSp>
            <p:nvCxnSpPr>
              <p:cNvPr id="23" name="直線接點 22">
                <a:extLst>
                  <a:ext uri="{FF2B5EF4-FFF2-40B4-BE49-F238E27FC236}">
                    <a16:creationId xmlns:a16="http://schemas.microsoft.com/office/drawing/2014/main" id="{E38A36A8-E3F9-32CC-E1DC-468583633B54}"/>
                  </a:ext>
                </a:extLst>
              </p:cNvPr>
              <p:cNvCxnSpPr/>
              <p:nvPr/>
            </p:nvCxnSpPr>
            <p:spPr>
              <a:xfrm>
                <a:off x="4139952" y="4581128"/>
                <a:ext cx="0" cy="288032"/>
              </a:xfrm>
              <a:prstGeom prst="line">
                <a:avLst/>
              </a:prstGeom>
              <a:ln w="34925"/>
            </p:spPr>
            <p:style>
              <a:lnRef idx="1">
                <a:schemeClr val="accent2"/>
              </a:lnRef>
              <a:fillRef idx="0">
                <a:schemeClr val="accent2"/>
              </a:fillRef>
              <a:effectRef idx="0">
                <a:schemeClr val="accent2"/>
              </a:effectRef>
              <a:fontRef idx="minor">
                <a:schemeClr val="tx1"/>
              </a:fontRef>
            </p:style>
          </p:cxnSp>
          <p:sp>
            <p:nvSpPr>
              <p:cNvPr id="24" name="文字方塊 23">
                <a:extLst>
                  <a:ext uri="{FF2B5EF4-FFF2-40B4-BE49-F238E27FC236}">
                    <a16:creationId xmlns:a16="http://schemas.microsoft.com/office/drawing/2014/main" id="{DA1F4D6F-39F7-10FE-27D9-2FF43A3E5FE8}"/>
                  </a:ext>
                </a:extLst>
              </p:cNvPr>
              <p:cNvSpPr txBox="1"/>
              <p:nvPr/>
            </p:nvSpPr>
            <p:spPr>
              <a:xfrm>
                <a:off x="3239852" y="4211796"/>
                <a:ext cx="1800200" cy="369332"/>
              </a:xfrm>
              <a:prstGeom prst="rect">
                <a:avLst/>
              </a:prstGeom>
              <a:noFill/>
            </p:spPr>
            <p:txBody>
              <a:bodyPr wrap="square">
                <a:spAutoFit/>
              </a:bodyPr>
              <a:lstStyle/>
              <a:p>
                <a:pPr algn="ctr"/>
                <a:r>
                  <a:rPr lang="zh-TW" altLang="en-US" b="1" dirty="0">
                    <a:latin typeface="微軟正黑體" panose="020B0604030504040204" pitchFamily="34" charset="-120"/>
                    <a:ea typeface="微軟正黑體" panose="020B0604030504040204" pitchFamily="34" charset="-120"/>
                  </a:rPr>
                  <a:t>先申請案</a:t>
                </a:r>
              </a:p>
            </p:txBody>
          </p:sp>
          <p:sp>
            <p:nvSpPr>
              <p:cNvPr id="25" name="文字方塊 24">
                <a:extLst>
                  <a:ext uri="{FF2B5EF4-FFF2-40B4-BE49-F238E27FC236}">
                    <a16:creationId xmlns:a16="http://schemas.microsoft.com/office/drawing/2014/main" id="{9A3FA1D5-2B7D-411E-BE4C-5FE4601F228A}"/>
                  </a:ext>
                </a:extLst>
              </p:cNvPr>
              <p:cNvSpPr txBox="1"/>
              <p:nvPr/>
            </p:nvSpPr>
            <p:spPr>
              <a:xfrm>
                <a:off x="3239852" y="4877144"/>
                <a:ext cx="1800200" cy="369332"/>
              </a:xfrm>
              <a:prstGeom prst="rect">
                <a:avLst/>
              </a:prstGeom>
              <a:noFill/>
            </p:spPr>
            <p:txBody>
              <a:bodyPr wrap="square">
                <a:spAutoFit/>
              </a:bodyPr>
              <a:lstStyle/>
              <a:p>
                <a:pPr algn="ctr"/>
                <a:r>
                  <a:rPr lang="en-US" altLang="zh-TW" b="1" dirty="0">
                    <a:latin typeface="微軟正黑體" panose="020B0604030504040204" pitchFamily="34" charset="-120"/>
                    <a:ea typeface="微軟正黑體" panose="020B0604030504040204" pitchFamily="34" charset="-120"/>
                  </a:rPr>
                  <a:t>113/6/8</a:t>
                </a:r>
                <a:r>
                  <a:rPr lang="zh-TW" altLang="en-US" b="1" dirty="0">
                    <a:latin typeface="微軟正黑體" panose="020B0604030504040204" pitchFamily="34" charset="-120"/>
                    <a:ea typeface="微軟正黑體" panose="020B0604030504040204" pitchFamily="34" charset="-120"/>
                  </a:rPr>
                  <a:t>公開</a:t>
                </a:r>
              </a:p>
            </p:txBody>
          </p:sp>
        </p:grpSp>
        <p:sp>
          <p:nvSpPr>
            <p:cNvPr id="26" name="矩形 25">
              <a:extLst>
                <a:ext uri="{FF2B5EF4-FFF2-40B4-BE49-F238E27FC236}">
                  <a16:creationId xmlns:a16="http://schemas.microsoft.com/office/drawing/2014/main" id="{050D7751-F4CA-9A7E-DCCC-4BD03621F040}"/>
                </a:ext>
              </a:extLst>
            </p:cNvPr>
            <p:cNvSpPr/>
            <p:nvPr/>
          </p:nvSpPr>
          <p:spPr>
            <a:xfrm>
              <a:off x="1586277" y="5328733"/>
              <a:ext cx="1440160" cy="9085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TW" altLang="en-US" sz="1800" b="1" dirty="0">
                  <a:latin typeface="微軟正黑體" panose="020B0604030504040204" pitchFamily="34" charset="-120"/>
                  <a:ea typeface="微軟正黑體" panose="020B0604030504040204" pitchFamily="34" charset="-120"/>
                </a:rPr>
                <a:t>技術特徵</a:t>
              </a:r>
              <a:r>
                <a:rPr lang="en-US" altLang="zh-TW" sz="1800" b="1" dirty="0">
                  <a:latin typeface="微軟正黑體" panose="020B0604030504040204" pitchFamily="34" charset="-120"/>
                  <a:ea typeface="微軟正黑體" panose="020B0604030504040204" pitchFamily="34" charset="-120"/>
                </a:rPr>
                <a:t>A</a:t>
              </a:r>
              <a:r>
                <a:rPr lang="zh-TW" altLang="en-US" sz="1800" b="1" dirty="0">
                  <a:latin typeface="微軟正黑體" panose="020B0604030504040204" pitchFamily="34" charset="-120"/>
                  <a:ea typeface="微軟正黑體" panose="020B0604030504040204" pitchFamily="34" charset="-120"/>
                </a:rPr>
                <a:t>技術特徵</a:t>
              </a:r>
              <a:r>
                <a:rPr lang="en-US" altLang="zh-TW" sz="1800" b="1" dirty="0">
                  <a:latin typeface="微軟正黑體" panose="020B0604030504040204" pitchFamily="34" charset="-120"/>
                  <a:ea typeface="微軟正黑體" panose="020B0604030504040204" pitchFamily="34" charset="-120"/>
                </a:rPr>
                <a:t>B</a:t>
              </a:r>
            </a:p>
            <a:p>
              <a:pPr algn="ctr"/>
              <a:r>
                <a:rPr lang="zh-TW" altLang="en-US" sz="1800" b="1" dirty="0">
                  <a:latin typeface="微軟正黑體" panose="020B0604030504040204" pitchFamily="34" charset="-120"/>
                  <a:ea typeface="微軟正黑體" panose="020B0604030504040204" pitchFamily="34" charset="-120"/>
                </a:rPr>
                <a:t>技術特徵</a:t>
              </a:r>
              <a:r>
                <a:rPr lang="en-US" altLang="zh-TW" b="1" dirty="0">
                  <a:latin typeface="微軟正黑體" panose="020B0604030504040204" pitchFamily="34" charset="-120"/>
                  <a:ea typeface="微軟正黑體" panose="020B0604030504040204" pitchFamily="34" charset="-120"/>
                </a:rPr>
                <a:t>C</a:t>
              </a:r>
              <a:endParaRPr lang="en-US" altLang="zh-TW" sz="1800" b="1" dirty="0">
                <a:latin typeface="微軟正黑體" panose="020B0604030504040204" pitchFamily="34" charset="-120"/>
                <a:ea typeface="微軟正黑體" panose="020B0604030504040204" pitchFamily="34" charset="-120"/>
              </a:endParaRPr>
            </a:p>
          </p:txBody>
        </p:sp>
        <p:sp>
          <p:nvSpPr>
            <p:cNvPr id="27" name="矩形 26">
              <a:extLst>
                <a:ext uri="{FF2B5EF4-FFF2-40B4-BE49-F238E27FC236}">
                  <a16:creationId xmlns:a16="http://schemas.microsoft.com/office/drawing/2014/main" id="{F846A81B-03C0-CF7D-EA90-C08A99400946}"/>
                </a:ext>
              </a:extLst>
            </p:cNvPr>
            <p:cNvSpPr/>
            <p:nvPr/>
          </p:nvSpPr>
          <p:spPr>
            <a:xfrm>
              <a:off x="3419872" y="5331931"/>
              <a:ext cx="1440160" cy="61734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TW" altLang="en-US" sz="1800" b="1" dirty="0">
                  <a:latin typeface="微軟正黑體" panose="020B0604030504040204" pitchFamily="34" charset="-120"/>
                  <a:ea typeface="微軟正黑體" panose="020B0604030504040204" pitchFamily="34" charset="-120"/>
                </a:rPr>
                <a:t>技術特徵</a:t>
              </a:r>
              <a:r>
                <a:rPr lang="en-US" altLang="zh-TW" sz="1800" b="1" dirty="0">
                  <a:latin typeface="微軟正黑體" panose="020B0604030504040204" pitchFamily="34" charset="-120"/>
                  <a:ea typeface="微軟正黑體" panose="020B0604030504040204" pitchFamily="34" charset="-120"/>
                </a:rPr>
                <a:t>A</a:t>
              </a:r>
            </a:p>
            <a:p>
              <a:pPr algn="ctr"/>
              <a:r>
                <a:rPr lang="zh-TW" altLang="en-US" sz="1800" b="1" dirty="0">
                  <a:latin typeface="微軟正黑體" panose="020B0604030504040204" pitchFamily="34" charset="-120"/>
                  <a:ea typeface="微軟正黑體" panose="020B0604030504040204" pitchFamily="34" charset="-120"/>
                </a:rPr>
                <a:t>技術特徵</a:t>
              </a:r>
              <a:r>
                <a:rPr lang="en-US" altLang="zh-TW" b="1" dirty="0">
                  <a:latin typeface="微軟正黑體" panose="020B0604030504040204" pitchFamily="34" charset="-120"/>
                  <a:ea typeface="微軟正黑體" panose="020B0604030504040204" pitchFamily="34" charset="-120"/>
                </a:rPr>
                <a:t>B</a:t>
              </a:r>
              <a:endParaRPr lang="en-US" altLang="zh-TW" sz="1800" b="1" dirty="0">
                <a:latin typeface="微軟正黑體" panose="020B0604030504040204" pitchFamily="34" charset="-120"/>
                <a:ea typeface="微軟正黑體" panose="020B0604030504040204" pitchFamily="34" charset="-120"/>
              </a:endParaRPr>
            </a:p>
          </p:txBody>
        </p:sp>
        <p:sp>
          <p:nvSpPr>
            <p:cNvPr id="28" name="圖說文字: 直線不加上框線 27">
              <a:extLst>
                <a:ext uri="{FF2B5EF4-FFF2-40B4-BE49-F238E27FC236}">
                  <a16:creationId xmlns:a16="http://schemas.microsoft.com/office/drawing/2014/main" id="{D8C40DE4-A146-768E-E462-97F86DF4CD22}"/>
                </a:ext>
              </a:extLst>
            </p:cNvPr>
            <p:cNvSpPr/>
            <p:nvPr/>
          </p:nvSpPr>
          <p:spPr>
            <a:xfrm>
              <a:off x="4644008" y="6093296"/>
              <a:ext cx="3816424" cy="612648"/>
            </a:xfrm>
            <a:prstGeom prst="callout1">
              <a:avLst>
                <a:gd name="adj1" fmla="val 42568"/>
                <a:gd name="adj2" fmla="val -1706"/>
                <a:gd name="adj3" fmla="val -12937"/>
                <a:gd name="adj4" fmla="val -13099"/>
              </a:avLst>
            </a:pr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rgbClr val="C00000"/>
                  </a:solidFill>
                  <a:latin typeface="微軟正黑體" panose="020B0604030504040204" pitchFamily="34" charset="-120"/>
                  <a:ea typeface="微軟正黑體" panose="020B0604030504040204" pitchFamily="34" charset="-120"/>
                </a:rPr>
                <a:t>因先申請案，申請專利之發明擬制喪失新穎性</a:t>
              </a:r>
            </a:p>
          </p:txBody>
        </p:sp>
      </p:grpSp>
    </p:spTree>
    <p:extLst>
      <p:ext uri="{BB962C8B-B14F-4D97-AF65-F5344CB8AC3E}">
        <p14:creationId xmlns:p14="http://schemas.microsoft.com/office/powerpoint/2010/main" val="2576104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DE3E5D12-4A7C-4174-04B4-E44BB42ED13F}"/>
              </a:ext>
            </a:extLst>
          </p:cNvPr>
          <p:cNvSpPr>
            <a:spLocks noGrp="1"/>
          </p:cNvSpPr>
          <p:nvPr>
            <p:ph type="title"/>
          </p:nvPr>
        </p:nvSpPr>
        <p:spPr/>
        <p:txBody>
          <a:bodyPr/>
          <a:lstStyle/>
          <a:p>
            <a:r>
              <a:rPr lang="zh-TW" altLang="en-US" dirty="0"/>
              <a:t>擬制喪失新穎性</a:t>
            </a:r>
          </a:p>
        </p:txBody>
      </p:sp>
      <p:sp>
        <p:nvSpPr>
          <p:cNvPr id="3" name="內容版面配置區 2">
            <a:extLst>
              <a:ext uri="{FF2B5EF4-FFF2-40B4-BE49-F238E27FC236}">
                <a16:creationId xmlns:a16="http://schemas.microsoft.com/office/drawing/2014/main" id="{A7ED533A-E5FB-BA65-0FD4-D8A31586DA7E}"/>
              </a:ext>
            </a:extLst>
          </p:cNvPr>
          <p:cNvSpPr>
            <a:spLocks noGrp="1"/>
          </p:cNvSpPr>
          <p:nvPr>
            <p:ph idx="1"/>
          </p:nvPr>
        </p:nvSpPr>
        <p:spPr>
          <a:xfrm>
            <a:off x="457200" y="908719"/>
            <a:ext cx="8435280" cy="5812756"/>
          </a:xfrm>
        </p:spPr>
        <p:txBody>
          <a:bodyPr>
            <a:normAutofit/>
          </a:bodyPr>
          <a:lstStyle/>
          <a:p>
            <a:pPr>
              <a:lnSpc>
                <a:spcPct val="120000"/>
              </a:lnSpc>
            </a:pPr>
            <a:r>
              <a:rPr lang="zh-TW" altLang="en-US" dirty="0"/>
              <a:t>判斷基準</a:t>
            </a:r>
            <a:endParaRPr lang="en-US" altLang="zh-TW" dirty="0"/>
          </a:p>
          <a:p>
            <a:pPr lvl="1">
              <a:lnSpc>
                <a:spcPct val="120000"/>
              </a:lnSpc>
            </a:pPr>
            <a:r>
              <a:rPr lang="zh-TW" altLang="en-US" dirty="0"/>
              <a:t>完全相同</a:t>
            </a:r>
            <a:endParaRPr lang="en-US" altLang="zh-TW" dirty="0"/>
          </a:p>
          <a:p>
            <a:pPr lvl="1">
              <a:lnSpc>
                <a:spcPct val="120000"/>
              </a:lnSpc>
            </a:pPr>
            <a:r>
              <a:rPr lang="zh-TW" altLang="en-US" dirty="0"/>
              <a:t>差異僅在於文字之記載形式或能直接且無歧異得知之技術特徵</a:t>
            </a:r>
            <a:endParaRPr lang="en-US" altLang="zh-TW" dirty="0"/>
          </a:p>
          <a:p>
            <a:pPr lvl="1">
              <a:lnSpc>
                <a:spcPct val="120000"/>
              </a:lnSpc>
            </a:pPr>
            <a:r>
              <a:rPr lang="zh-TW" altLang="en-US" dirty="0"/>
              <a:t>差異僅在於相對應之技術特徵的上、下位概念</a:t>
            </a:r>
            <a:endParaRPr lang="en-US" altLang="zh-TW" dirty="0"/>
          </a:p>
          <a:p>
            <a:pPr lvl="1">
              <a:lnSpc>
                <a:spcPct val="120000"/>
              </a:lnSpc>
            </a:pPr>
            <a:r>
              <a:rPr lang="zh-TW" altLang="en-US" dirty="0"/>
              <a:t>差異僅在於依通常知識即能直接置換的技術特徵</a:t>
            </a:r>
            <a:endParaRPr lang="en-US" altLang="zh-TW" dirty="0"/>
          </a:p>
          <a:p>
            <a:pPr lvl="2">
              <a:lnSpc>
                <a:spcPct val="120000"/>
              </a:lnSpc>
            </a:pPr>
            <a:r>
              <a:rPr lang="zh-TW" altLang="en-US" dirty="0"/>
              <a:t>例如引證文件已記載固定元件為螺釘，而該螺釘在該引證文件所記載之技術手段中</a:t>
            </a:r>
            <a:r>
              <a:rPr lang="zh-TW" altLang="en-US" b="1" u="sng" dirty="0"/>
              <a:t>僅須具備「固定」及「可鬆脫」的功能，由於螺栓亦包含該二項功能</a:t>
            </a:r>
            <a:r>
              <a:rPr lang="zh-TW" altLang="en-US" dirty="0"/>
              <a:t>，若申請專利之發明中僅將該引證文件之螺釘置換為螺栓，應屬依通常知識的直接置換</a:t>
            </a:r>
            <a:endParaRPr lang="en-US" altLang="zh-TW" dirty="0"/>
          </a:p>
        </p:txBody>
      </p:sp>
      <p:sp>
        <p:nvSpPr>
          <p:cNvPr id="4" name="投影片編號版面配置區 3">
            <a:extLst>
              <a:ext uri="{FF2B5EF4-FFF2-40B4-BE49-F238E27FC236}">
                <a16:creationId xmlns:a16="http://schemas.microsoft.com/office/drawing/2014/main" id="{6FC7DF09-C58A-C465-986F-15725E792F06}"/>
              </a:ext>
            </a:extLst>
          </p:cNvPr>
          <p:cNvSpPr>
            <a:spLocks noGrp="1"/>
          </p:cNvSpPr>
          <p:nvPr>
            <p:ph type="sldNum" sz="quarter" idx="12"/>
          </p:nvPr>
        </p:nvSpPr>
        <p:spPr>
          <a:xfrm>
            <a:off x="6948264" y="6356350"/>
            <a:ext cx="2133600" cy="365125"/>
          </a:xfrm>
        </p:spPr>
        <p:txBody>
          <a:bodyPr/>
          <a:lstStyle/>
          <a:p>
            <a:fld id="{254D4C32-7A1A-45A5-84ED-81747F1ABFAE}" type="slidenum">
              <a:rPr lang="zh-TW" altLang="en-US" smtClean="0"/>
              <a:t>18</a:t>
            </a:fld>
            <a:endParaRPr lang="zh-TW" altLang="en-US" dirty="0"/>
          </a:p>
        </p:txBody>
      </p:sp>
    </p:spTree>
    <p:extLst>
      <p:ext uri="{BB962C8B-B14F-4D97-AF65-F5344CB8AC3E}">
        <p14:creationId xmlns:p14="http://schemas.microsoft.com/office/powerpoint/2010/main" val="15823734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pPr>
              <a:defRPr/>
            </a:pPr>
            <a:fld id="{B83ACBEE-1837-4398-8376-AF0F7C4E2424}" type="slidenum">
              <a:rPr lang="zh-TW" altLang="en-US" smtClean="0">
                <a:solidFill>
                  <a:prstClr val="black">
                    <a:tint val="75000"/>
                  </a:prstClr>
                </a:solidFill>
              </a:rPr>
              <a:pPr>
                <a:defRPr/>
              </a:pPr>
              <a:t>19</a:t>
            </a:fld>
            <a:endParaRPr lang="zh-TW" altLang="en-US">
              <a:solidFill>
                <a:prstClr val="black">
                  <a:tint val="75000"/>
                </a:prstClr>
              </a:solidFill>
            </a:endParaRPr>
          </a:p>
        </p:txBody>
      </p:sp>
      <p:sp>
        <p:nvSpPr>
          <p:cNvPr id="6" name="標題 4"/>
          <p:cNvSpPr txBox="1">
            <a:spLocks/>
          </p:cNvSpPr>
          <p:nvPr/>
        </p:nvSpPr>
        <p:spPr>
          <a:xfrm>
            <a:off x="722313" y="4406900"/>
            <a:ext cx="7772400" cy="136207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800" b="1" kern="1200">
                <a:solidFill>
                  <a:schemeClr val="tx1"/>
                </a:solidFill>
                <a:latin typeface="微軟正黑體" pitchFamily="34" charset="-120"/>
                <a:ea typeface="微軟正黑體" pitchFamily="34" charset="-120"/>
                <a:cs typeface="+mj-cs"/>
              </a:defRPr>
            </a:lvl1pPr>
          </a:lstStyle>
          <a:p>
            <a:pPr algn="l"/>
            <a:r>
              <a:rPr lang="zh-TW" altLang="en-US" sz="5400"/>
              <a:t>進步性</a:t>
            </a:r>
            <a:endParaRPr lang="zh-TW" altLang="en-US" sz="5400" dirty="0"/>
          </a:p>
        </p:txBody>
      </p:sp>
    </p:spTree>
    <p:extLst>
      <p:ext uri="{BB962C8B-B14F-4D97-AF65-F5344CB8AC3E}">
        <p14:creationId xmlns:p14="http://schemas.microsoft.com/office/powerpoint/2010/main" val="8557385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主意图标电灯泡- Pixabay上的免费图片- Pixabay">
            <a:extLst>
              <a:ext uri="{FF2B5EF4-FFF2-40B4-BE49-F238E27FC236}">
                <a16:creationId xmlns:a16="http://schemas.microsoft.com/office/drawing/2014/main" id="{E3E78419-B9A0-2817-B6DA-AEE30A683B55}"/>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167095" y="4849307"/>
            <a:ext cx="1158076" cy="1158076"/>
          </a:xfrm>
          <a:prstGeom prst="rect">
            <a:avLst/>
          </a:prstGeom>
          <a:noFill/>
          <a:extLst>
            <a:ext uri="{909E8E84-426E-40DD-AFC4-6F175D3DCCD1}">
              <a14:hiddenFill xmlns:a14="http://schemas.microsoft.com/office/drawing/2010/main">
                <a:solidFill>
                  <a:srgbClr val="FFFFFF"/>
                </a:solidFill>
              </a14:hiddenFill>
            </a:ext>
          </a:extLst>
        </p:spPr>
      </p:pic>
      <p:sp>
        <p:nvSpPr>
          <p:cNvPr id="5" name="標題 1">
            <a:extLst>
              <a:ext uri="{FF2B5EF4-FFF2-40B4-BE49-F238E27FC236}">
                <a16:creationId xmlns:a16="http://schemas.microsoft.com/office/drawing/2014/main" id="{DE3E5D12-4A7C-4174-04B4-E44BB42ED13F}"/>
              </a:ext>
            </a:extLst>
          </p:cNvPr>
          <p:cNvSpPr>
            <a:spLocks noGrp="1"/>
          </p:cNvSpPr>
          <p:nvPr>
            <p:ph type="title"/>
          </p:nvPr>
        </p:nvSpPr>
        <p:spPr/>
        <p:txBody>
          <a:bodyPr/>
          <a:lstStyle/>
          <a:p>
            <a:r>
              <a:rPr lang="zh-TW" altLang="en-US" dirty="0"/>
              <a:t>進步性</a:t>
            </a:r>
          </a:p>
        </p:txBody>
      </p:sp>
      <p:sp>
        <p:nvSpPr>
          <p:cNvPr id="6" name="內容版面配置區 5">
            <a:extLst>
              <a:ext uri="{FF2B5EF4-FFF2-40B4-BE49-F238E27FC236}">
                <a16:creationId xmlns:a16="http://schemas.microsoft.com/office/drawing/2014/main" id="{F19CC652-7BC5-383D-7D7F-EF20D5A04538}"/>
              </a:ext>
            </a:extLst>
          </p:cNvPr>
          <p:cNvSpPr>
            <a:spLocks noGrp="1"/>
          </p:cNvSpPr>
          <p:nvPr>
            <p:ph idx="1"/>
          </p:nvPr>
        </p:nvSpPr>
        <p:spPr>
          <a:xfrm>
            <a:off x="457200" y="980728"/>
            <a:ext cx="8229600" cy="3850275"/>
          </a:xfrm>
        </p:spPr>
        <p:txBody>
          <a:bodyPr>
            <a:normAutofit fontScale="70000" lnSpcReduction="20000"/>
          </a:bodyPr>
          <a:lstStyle/>
          <a:p>
            <a:pPr>
              <a:lnSpc>
                <a:spcPct val="120000"/>
              </a:lnSpc>
            </a:pPr>
            <a:r>
              <a:rPr lang="zh-TW" altLang="en-US" dirty="0"/>
              <a:t>專利法第</a:t>
            </a:r>
            <a:r>
              <a:rPr lang="en-US" altLang="zh-TW" dirty="0"/>
              <a:t>22</a:t>
            </a:r>
            <a:r>
              <a:rPr lang="zh-TW" altLang="en-US" dirty="0"/>
              <a:t>條第</a:t>
            </a:r>
            <a:r>
              <a:rPr lang="en-US" altLang="zh-TW" dirty="0"/>
              <a:t>2</a:t>
            </a:r>
            <a:r>
              <a:rPr lang="zh-TW" altLang="en-US" dirty="0"/>
              <a:t>項</a:t>
            </a:r>
          </a:p>
          <a:p>
            <a:pPr lvl="1">
              <a:lnSpc>
                <a:spcPct val="120000"/>
              </a:lnSpc>
            </a:pPr>
            <a:r>
              <a:rPr lang="zh-TW" altLang="en-US" b="0" i="0" dirty="0">
                <a:solidFill>
                  <a:srgbClr val="000000"/>
                </a:solidFill>
                <a:effectLst/>
                <a:highlight>
                  <a:srgbClr val="F9FBFB"/>
                </a:highlight>
              </a:rPr>
              <a:t>發明雖無前項各款所列情事，但為其所屬技術領域中具有通常知識者</a:t>
            </a:r>
            <a:r>
              <a:rPr lang="zh-TW" altLang="en-US" b="1" i="0" dirty="0">
                <a:solidFill>
                  <a:srgbClr val="000000"/>
                </a:solidFill>
                <a:effectLst/>
                <a:highlight>
                  <a:srgbClr val="F9FBFB"/>
                </a:highlight>
              </a:rPr>
              <a:t>依申請前之先前技術所能</a:t>
            </a:r>
            <a:r>
              <a:rPr lang="zh-TW" altLang="en-US" b="1" i="0" dirty="0">
                <a:solidFill>
                  <a:srgbClr val="FF0000"/>
                </a:solidFill>
                <a:effectLst/>
                <a:highlight>
                  <a:srgbClr val="F9FBFB"/>
                </a:highlight>
              </a:rPr>
              <a:t>輕易完成</a:t>
            </a:r>
            <a:r>
              <a:rPr lang="zh-TW" altLang="en-US" b="1" i="0" dirty="0">
                <a:solidFill>
                  <a:srgbClr val="000000"/>
                </a:solidFill>
                <a:effectLst/>
                <a:highlight>
                  <a:srgbClr val="F9FBFB"/>
                </a:highlight>
              </a:rPr>
              <a:t>時</a:t>
            </a:r>
            <a:r>
              <a:rPr lang="zh-TW" altLang="en-US" b="0" i="0" dirty="0">
                <a:solidFill>
                  <a:srgbClr val="000000"/>
                </a:solidFill>
                <a:effectLst/>
                <a:highlight>
                  <a:srgbClr val="F9FBFB"/>
                </a:highlight>
              </a:rPr>
              <a:t>，仍不得取得發明專利。</a:t>
            </a:r>
            <a:endParaRPr lang="en-US" altLang="zh-TW" b="0" i="0" dirty="0">
              <a:solidFill>
                <a:srgbClr val="000000"/>
              </a:solidFill>
              <a:effectLst/>
              <a:highlight>
                <a:srgbClr val="F9FBFB"/>
              </a:highlight>
            </a:endParaRPr>
          </a:p>
          <a:p>
            <a:pPr>
              <a:lnSpc>
                <a:spcPct val="120000"/>
              </a:lnSpc>
            </a:pPr>
            <a:r>
              <a:rPr lang="zh-TW" altLang="en-US" dirty="0">
                <a:solidFill>
                  <a:srgbClr val="000000"/>
                </a:solidFill>
                <a:highlight>
                  <a:srgbClr val="F9FBFB"/>
                </a:highlight>
              </a:rPr>
              <a:t>審查基準</a:t>
            </a:r>
            <a:endParaRPr lang="en-US" altLang="zh-TW" dirty="0">
              <a:solidFill>
                <a:srgbClr val="000000"/>
              </a:solidFill>
              <a:highlight>
                <a:srgbClr val="F9FBFB"/>
              </a:highlight>
            </a:endParaRPr>
          </a:p>
          <a:p>
            <a:pPr lvl="1">
              <a:lnSpc>
                <a:spcPct val="120000"/>
              </a:lnSpc>
            </a:pPr>
            <a:r>
              <a:rPr lang="zh-TW" altLang="en-US" dirty="0"/>
              <a:t>申請專利之發明與先前技術雖</a:t>
            </a:r>
            <a:r>
              <a:rPr lang="zh-TW" altLang="en-US" b="1" dirty="0"/>
              <a:t>有差異</a:t>
            </a:r>
            <a:r>
              <a:rPr lang="zh-TW" altLang="en-US" dirty="0"/>
              <a:t>，但為該發明所屬技術領域中具有通常知識者依先前技術所能輕易完成時，稱該發明不具進步性。</a:t>
            </a:r>
            <a:r>
              <a:rPr lang="en-US" altLang="zh-TW" dirty="0"/>
              <a:t>(</a:t>
            </a:r>
            <a:r>
              <a:rPr lang="en-US" altLang="zh-TW" dirty="0">
                <a:solidFill>
                  <a:srgbClr val="000000"/>
                </a:solidFill>
                <a:highlight>
                  <a:srgbClr val="F9FBFB"/>
                </a:highlight>
              </a:rPr>
              <a:t>2-3-15</a:t>
            </a:r>
            <a:r>
              <a:rPr lang="en-US" altLang="zh-TW" dirty="0"/>
              <a:t>)</a:t>
            </a:r>
          </a:p>
          <a:p>
            <a:pPr lvl="1">
              <a:lnSpc>
                <a:spcPct val="120000"/>
              </a:lnSpc>
            </a:pPr>
            <a:r>
              <a:rPr lang="zh-TW" altLang="en-US" dirty="0"/>
              <a:t>以申請時之相關先前技術為基礎，利用申請時之通常知識，即能預期（</a:t>
            </a:r>
            <a:r>
              <a:rPr lang="en-US" altLang="zh-TW" dirty="0"/>
              <a:t>expect</a:t>
            </a:r>
            <a:r>
              <a:rPr lang="zh-TW" altLang="en-US" dirty="0"/>
              <a:t>）得到該發明者，則該發明之整體對於該發明所屬技術領域中具有通常知識者係</a:t>
            </a:r>
            <a:r>
              <a:rPr lang="zh-TW" altLang="en-US" b="1" dirty="0">
                <a:solidFill>
                  <a:srgbClr val="FF0000"/>
                </a:solidFill>
              </a:rPr>
              <a:t>顯而易知</a:t>
            </a:r>
            <a:r>
              <a:rPr lang="zh-TW" altLang="en-US" dirty="0"/>
              <a:t>者，亦即能被輕易完成。顯而易知與輕易完成為同一概念。</a:t>
            </a:r>
            <a:r>
              <a:rPr lang="en-US" altLang="zh-TW" dirty="0"/>
              <a:t>(</a:t>
            </a:r>
            <a:r>
              <a:rPr lang="en-US" altLang="zh-TW" dirty="0">
                <a:solidFill>
                  <a:srgbClr val="000000"/>
                </a:solidFill>
                <a:highlight>
                  <a:srgbClr val="F9FBFB"/>
                </a:highlight>
              </a:rPr>
              <a:t>2-3-16</a:t>
            </a:r>
            <a:r>
              <a:rPr lang="en-US" altLang="zh-TW" dirty="0"/>
              <a:t>)</a:t>
            </a:r>
            <a:endParaRPr lang="zh-TW" altLang="en-US" dirty="0"/>
          </a:p>
        </p:txBody>
      </p:sp>
      <p:sp>
        <p:nvSpPr>
          <p:cNvPr id="4" name="投影片編號版面配置區 3">
            <a:extLst>
              <a:ext uri="{FF2B5EF4-FFF2-40B4-BE49-F238E27FC236}">
                <a16:creationId xmlns:a16="http://schemas.microsoft.com/office/drawing/2014/main" id="{6FC7DF09-C58A-C465-986F-15725E792F06}"/>
              </a:ext>
            </a:extLst>
          </p:cNvPr>
          <p:cNvSpPr>
            <a:spLocks noGrp="1"/>
          </p:cNvSpPr>
          <p:nvPr>
            <p:ph type="sldNum" sz="quarter" idx="12"/>
          </p:nvPr>
        </p:nvSpPr>
        <p:spPr>
          <a:xfrm>
            <a:off x="6948264" y="6356350"/>
            <a:ext cx="2133600" cy="365125"/>
          </a:xfrm>
        </p:spPr>
        <p:txBody>
          <a:bodyPr/>
          <a:lstStyle/>
          <a:p>
            <a:fld id="{254D4C32-7A1A-45A5-84ED-81747F1ABFAE}" type="slidenum">
              <a:rPr lang="zh-TW" altLang="en-US" smtClean="0"/>
              <a:t>20</a:t>
            </a:fld>
            <a:endParaRPr lang="zh-TW" altLang="en-US" dirty="0"/>
          </a:p>
        </p:txBody>
      </p:sp>
      <p:sp>
        <p:nvSpPr>
          <p:cNvPr id="3" name="矩形 2">
            <a:extLst>
              <a:ext uri="{FF2B5EF4-FFF2-40B4-BE49-F238E27FC236}">
                <a16:creationId xmlns:a16="http://schemas.microsoft.com/office/drawing/2014/main" id="{E5F80B97-C53B-4A1A-3D7A-76F0B624C21E}"/>
              </a:ext>
            </a:extLst>
          </p:cNvPr>
          <p:cNvSpPr/>
          <p:nvPr/>
        </p:nvSpPr>
        <p:spPr>
          <a:xfrm>
            <a:off x="3458078" y="5428345"/>
            <a:ext cx="1440160" cy="123789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87313"/>
            <a:r>
              <a:rPr lang="zh-TW" altLang="en-US" sz="1800" b="1" dirty="0">
                <a:latin typeface="微軟正黑體" panose="020B0604030504040204" pitchFamily="34" charset="-120"/>
                <a:ea typeface="微軟正黑體" panose="020B0604030504040204" pitchFamily="34" charset="-120"/>
              </a:rPr>
              <a:t>技術特徵</a:t>
            </a:r>
            <a:r>
              <a:rPr lang="en-US" altLang="zh-TW" sz="1800" b="1" dirty="0">
                <a:latin typeface="微軟正黑體" panose="020B0604030504040204" pitchFamily="34" charset="-120"/>
                <a:ea typeface="微軟正黑體" panose="020B0604030504040204" pitchFamily="34" charset="-120"/>
              </a:rPr>
              <a:t>A</a:t>
            </a:r>
            <a:r>
              <a:rPr lang="zh-TW" altLang="en-US" sz="1800" b="1" dirty="0">
                <a:latin typeface="微軟正黑體" panose="020B0604030504040204" pitchFamily="34" charset="-120"/>
                <a:ea typeface="微軟正黑體" panose="020B0604030504040204" pitchFamily="34" charset="-120"/>
              </a:rPr>
              <a:t>技術特徵</a:t>
            </a:r>
            <a:r>
              <a:rPr lang="en-US" altLang="zh-TW" sz="1800" b="1" dirty="0">
                <a:latin typeface="微軟正黑體" panose="020B0604030504040204" pitchFamily="34" charset="-120"/>
                <a:ea typeface="微軟正黑體" panose="020B0604030504040204" pitchFamily="34" charset="-120"/>
              </a:rPr>
              <a:t>B</a:t>
            </a:r>
          </a:p>
          <a:p>
            <a:pPr marL="87313"/>
            <a:r>
              <a:rPr lang="zh-TW" altLang="en-US" sz="1800" b="1" dirty="0">
                <a:latin typeface="微軟正黑體" panose="020B0604030504040204" pitchFamily="34" charset="-120"/>
                <a:ea typeface="微軟正黑體" panose="020B0604030504040204" pitchFamily="34" charset="-120"/>
              </a:rPr>
              <a:t>技術特徵</a:t>
            </a:r>
            <a:r>
              <a:rPr lang="en-US" altLang="zh-TW" b="1" dirty="0">
                <a:latin typeface="微軟正黑體" panose="020B0604030504040204" pitchFamily="34" charset="-120"/>
                <a:ea typeface="微軟正黑體" panose="020B0604030504040204" pitchFamily="34" charset="-120"/>
              </a:rPr>
              <a:t>C’</a:t>
            </a:r>
            <a:endParaRPr lang="en-US" altLang="zh-TW" sz="1800" b="1" dirty="0">
              <a:latin typeface="微軟正黑體" panose="020B0604030504040204" pitchFamily="34" charset="-120"/>
              <a:ea typeface="微軟正黑體" panose="020B0604030504040204" pitchFamily="34" charset="-120"/>
            </a:endParaRPr>
          </a:p>
        </p:txBody>
      </p:sp>
      <p:sp>
        <p:nvSpPr>
          <p:cNvPr id="7" name="文字方塊 6">
            <a:extLst>
              <a:ext uri="{FF2B5EF4-FFF2-40B4-BE49-F238E27FC236}">
                <a16:creationId xmlns:a16="http://schemas.microsoft.com/office/drawing/2014/main" id="{3655B5D4-BD00-AD57-717C-7E09A8E2C035}"/>
              </a:ext>
            </a:extLst>
          </p:cNvPr>
          <p:cNvSpPr txBox="1"/>
          <p:nvPr/>
        </p:nvSpPr>
        <p:spPr>
          <a:xfrm>
            <a:off x="3605925" y="4996769"/>
            <a:ext cx="1133872" cy="341376"/>
          </a:xfrm>
          <a:prstGeom prst="rect">
            <a:avLst/>
          </a:prstGeom>
        </p:spPr>
        <p:style>
          <a:lnRef idx="1">
            <a:schemeClr val="accent2"/>
          </a:lnRef>
          <a:fillRef idx="2">
            <a:schemeClr val="accent2"/>
          </a:fillRef>
          <a:effectRef idx="1">
            <a:schemeClr val="accent2"/>
          </a:effectRef>
          <a:fontRef idx="minor">
            <a:schemeClr val="dk1"/>
          </a:fontRef>
        </p:style>
        <p:txBody>
          <a:bodyPr wrap="square" lIns="36000" rIns="36000">
            <a:spAutoFit/>
          </a:bodyPr>
          <a:lstStyle/>
          <a:p>
            <a:pPr marL="174625" indent="-174625" algn="ctr">
              <a:lnSpc>
                <a:spcPts val="2100"/>
              </a:lnSpc>
              <a:spcBef>
                <a:spcPts val="0"/>
              </a:spcBef>
            </a:pPr>
            <a:r>
              <a:rPr lang="zh-TW" altLang="en-US" sz="1600" b="1" dirty="0">
                <a:latin typeface="微軟正黑體" panose="020B0604030504040204" pitchFamily="34" charset="-120"/>
                <a:ea typeface="微軟正黑體" panose="020B0604030504040204" pitchFamily="34" charset="-120"/>
              </a:rPr>
              <a:t>先前技術</a:t>
            </a:r>
            <a:endParaRPr lang="en-US" altLang="zh-TW" sz="1600" b="1" dirty="0">
              <a:latin typeface="微軟正黑體" panose="020B0604030504040204" pitchFamily="34" charset="-120"/>
              <a:ea typeface="微軟正黑體" panose="020B0604030504040204" pitchFamily="34" charset="-120"/>
            </a:endParaRPr>
          </a:p>
        </p:txBody>
      </p:sp>
      <p:sp>
        <p:nvSpPr>
          <p:cNvPr id="9" name="矩形 8">
            <a:extLst>
              <a:ext uri="{FF2B5EF4-FFF2-40B4-BE49-F238E27FC236}">
                <a16:creationId xmlns:a16="http://schemas.microsoft.com/office/drawing/2014/main" id="{4FBE1C92-F3AE-2106-5BD8-259CB26F2A6B}"/>
              </a:ext>
            </a:extLst>
          </p:cNvPr>
          <p:cNvSpPr/>
          <p:nvPr/>
        </p:nvSpPr>
        <p:spPr>
          <a:xfrm>
            <a:off x="1007220" y="5431463"/>
            <a:ext cx="1440160" cy="123789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TW" altLang="en-US" sz="1800" b="1" dirty="0">
                <a:latin typeface="微軟正黑體" panose="020B0604030504040204" pitchFamily="34" charset="-120"/>
                <a:ea typeface="微軟正黑體" panose="020B0604030504040204" pitchFamily="34" charset="-120"/>
              </a:rPr>
              <a:t>技術特徵</a:t>
            </a:r>
            <a:r>
              <a:rPr lang="en-US" altLang="zh-TW" sz="1800" b="1" dirty="0">
                <a:latin typeface="微軟正黑體" panose="020B0604030504040204" pitchFamily="34" charset="-120"/>
                <a:ea typeface="微軟正黑體" panose="020B0604030504040204" pitchFamily="34" charset="-120"/>
              </a:rPr>
              <a:t>A</a:t>
            </a:r>
            <a:r>
              <a:rPr lang="zh-TW" altLang="en-US" sz="1800" b="1" dirty="0">
                <a:latin typeface="微軟正黑體" panose="020B0604030504040204" pitchFamily="34" charset="-120"/>
                <a:ea typeface="微軟正黑體" panose="020B0604030504040204" pitchFamily="34" charset="-120"/>
              </a:rPr>
              <a:t>技術特徵</a:t>
            </a:r>
            <a:r>
              <a:rPr lang="en-US" altLang="zh-TW" sz="1800" b="1" dirty="0">
                <a:latin typeface="微軟正黑體" panose="020B0604030504040204" pitchFamily="34" charset="-120"/>
                <a:ea typeface="微軟正黑體" panose="020B0604030504040204" pitchFamily="34" charset="-120"/>
              </a:rPr>
              <a:t>B</a:t>
            </a:r>
          </a:p>
          <a:p>
            <a:pPr algn="ctr"/>
            <a:r>
              <a:rPr lang="zh-TW" altLang="en-US" sz="1800" b="1" dirty="0">
                <a:latin typeface="微軟正黑體" panose="020B0604030504040204" pitchFamily="34" charset="-120"/>
                <a:ea typeface="微軟正黑體" panose="020B0604030504040204" pitchFamily="34" charset="-120"/>
              </a:rPr>
              <a:t>技術特徵</a:t>
            </a:r>
            <a:r>
              <a:rPr lang="en-US" altLang="zh-TW" b="1" dirty="0">
                <a:latin typeface="微軟正黑體" panose="020B0604030504040204" pitchFamily="34" charset="-120"/>
                <a:ea typeface="微軟正黑體" panose="020B0604030504040204" pitchFamily="34" charset="-120"/>
              </a:rPr>
              <a:t>C</a:t>
            </a:r>
            <a:r>
              <a:rPr lang="zh-TW" altLang="en-US" sz="1800" b="1" dirty="0">
                <a:latin typeface="微軟正黑體" panose="020B0604030504040204" pitchFamily="34" charset="-120"/>
                <a:ea typeface="微軟正黑體" panose="020B0604030504040204" pitchFamily="34" charset="-120"/>
              </a:rPr>
              <a:t>技術特徵</a:t>
            </a:r>
            <a:r>
              <a:rPr lang="en-US" altLang="zh-TW" sz="1800" b="1" dirty="0">
                <a:latin typeface="微軟正黑體" panose="020B0604030504040204" pitchFamily="34" charset="-120"/>
                <a:ea typeface="微軟正黑體" panose="020B0604030504040204" pitchFamily="34" charset="-120"/>
              </a:rPr>
              <a:t>D</a:t>
            </a:r>
          </a:p>
        </p:txBody>
      </p:sp>
      <p:sp>
        <p:nvSpPr>
          <p:cNvPr id="11" name="文字方塊 10">
            <a:extLst>
              <a:ext uri="{FF2B5EF4-FFF2-40B4-BE49-F238E27FC236}">
                <a16:creationId xmlns:a16="http://schemas.microsoft.com/office/drawing/2014/main" id="{F372EA34-59E5-7D2C-A592-376728B35DC0}"/>
              </a:ext>
            </a:extLst>
          </p:cNvPr>
          <p:cNvSpPr txBox="1"/>
          <p:nvPr/>
        </p:nvSpPr>
        <p:spPr>
          <a:xfrm>
            <a:off x="1155067" y="4999887"/>
            <a:ext cx="1133872" cy="341376"/>
          </a:xfrm>
          <a:prstGeom prst="rect">
            <a:avLst/>
          </a:prstGeom>
        </p:spPr>
        <p:style>
          <a:lnRef idx="1">
            <a:schemeClr val="accent3"/>
          </a:lnRef>
          <a:fillRef idx="2">
            <a:schemeClr val="accent3"/>
          </a:fillRef>
          <a:effectRef idx="1">
            <a:schemeClr val="accent3"/>
          </a:effectRef>
          <a:fontRef idx="minor">
            <a:schemeClr val="dk1"/>
          </a:fontRef>
        </p:style>
        <p:txBody>
          <a:bodyPr wrap="square" lIns="36000" rIns="36000">
            <a:spAutoFit/>
          </a:bodyPr>
          <a:lstStyle/>
          <a:p>
            <a:pPr marL="174625" indent="-174625" algn="ctr">
              <a:lnSpc>
                <a:spcPts val="2100"/>
              </a:lnSpc>
              <a:spcBef>
                <a:spcPts val="0"/>
              </a:spcBef>
            </a:pPr>
            <a:r>
              <a:rPr lang="zh-TW" altLang="en-US" sz="1600" b="1" dirty="0">
                <a:latin typeface="微軟正黑體" panose="020B0604030504040204" pitchFamily="34" charset="-120"/>
                <a:ea typeface="微軟正黑體" panose="020B0604030504040204" pitchFamily="34" charset="-120"/>
              </a:rPr>
              <a:t>申請之發明</a:t>
            </a:r>
            <a:endParaRPr lang="en-US" altLang="zh-TW" sz="1600" b="1" dirty="0">
              <a:latin typeface="微軟正黑體" panose="020B0604030504040204" pitchFamily="34" charset="-120"/>
              <a:ea typeface="微軟正黑體" panose="020B0604030504040204" pitchFamily="34" charset="-120"/>
            </a:endParaRPr>
          </a:p>
        </p:txBody>
      </p:sp>
      <p:sp>
        <p:nvSpPr>
          <p:cNvPr id="12" name="箭號: 燕尾形向右 11">
            <a:extLst>
              <a:ext uri="{FF2B5EF4-FFF2-40B4-BE49-F238E27FC236}">
                <a16:creationId xmlns:a16="http://schemas.microsoft.com/office/drawing/2014/main" id="{E6F4E161-FBB9-3A12-7C28-353EF6A6ED9B}"/>
              </a:ext>
            </a:extLst>
          </p:cNvPr>
          <p:cNvSpPr/>
          <p:nvPr/>
        </p:nvSpPr>
        <p:spPr>
          <a:xfrm>
            <a:off x="2596568" y="5601109"/>
            <a:ext cx="648072" cy="767110"/>
          </a:xfrm>
          <a:prstGeom prst="notchedRigh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p>
        </p:txBody>
      </p:sp>
      <p:sp>
        <p:nvSpPr>
          <p:cNvPr id="14" name="加號 13">
            <a:extLst>
              <a:ext uri="{FF2B5EF4-FFF2-40B4-BE49-F238E27FC236}">
                <a16:creationId xmlns:a16="http://schemas.microsoft.com/office/drawing/2014/main" id="{700A0918-D1BD-C9AA-B0A6-1481ED60FADF}"/>
              </a:ext>
            </a:extLst>
          </p:cNvPr>
          <p:cNvSpPr/>
          <p:nvPr/>
        </p:nvSpPr>
        <p:spPr>
          <a:xfrm>
            <a:off x="4923223" y="5766474"/>
            <a:ext cx="474594" cy="490947"/>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9" name="圖形 28" descr="使用者 以實心填滿">
            <a:extLst>
              <a:ext uri="{FF2B5EF4-FFF2-40B4-BE49-F238E27FC236}">
                <a16:creationId xmlns:a16="http://schemas.microsoft.com/office/drawing/2014/main" id="{8F0711EB-6552-C6C4-861E-482801C3C0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79827" y="5343021"/>
            <a:ext cx="914400" cy="914400"/>
          </a:xfrm>
          <a:prstGeom prst="rect">
            <a:avLst/>
          </a:prstGeom>
        </p:spPr>
      </p:pic>
      <p:sp>
        <p:nvSpPr>
          <p:cNvPr id="30" name="文字方塊 29">
            <a:extLst>
              <a:ext uri="{FF2B5EF4-FFF2-40B4-BE49-F238E27FC236}">
                <a16:creationId xmlns:a16="http://schemas.microsoft.com/office/drawing/2014/main" id="{D8149CBE-B043-C729-4662-BA5AF46AAB47}"/>
              </a:ext>
            </a:extLst>
          </p:cNvPr>
          <p:cNvSpPr txBox="1"/>
          <p:nvPr/>
        </p:nvSpPr>
        <p:spPr>
          <a:xfrm>
            <a:off x="5467613" y="6072755"/>
            <a:ext cx="1338828" cy="369332"/>
          </a:xfrm>
          <a:prstGeom prst="rect">
            <a:avLst/>
          </a:prstGeom>
          <a:no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通常知識者</a:t>
            </a:r>
          </a:p>
        </p:txBody>
      </p:sp>
      <p:sp>
        <p:nvSpPr>
          <p:cNvPr id="31" name="文字方塊 30">
            <a:extLst>
              <a:ext uri="{FF2B5EF4-FFF2-40B4-BE49-F238E27FC236}">
                <a16:creationId xmlns:a16="http://schemas.microsoft.com/office/drawing/2014/main" id="{1E381D8B-43FB-3705-C7B8-AA8AB9688CA5}"/>
              </a:ext>
            </a:extLst>
          </p:cNvPr>
          <p:cNvSpPr txBox="1"/>
          <p:nvPr/>
        </p:nvSpPr>
        <p:spPr>
          <a:xfrm>
            <a:off x="7022689" y="4921203"/>
            <a:ext cx="1396536" cy="923330"/>
          </a:xfrm>
          <a:prstGeom prst="rect">
            <a:avLst/>
          </a:prstGeom>
          <a:noFill/>
        </p:spPr>
        <p:txBody>
          <a:bodyPr wrap="none" rtlCol="0">
            <a:spAutoFit/>
          </a:bodyPr>
          <a:lstStyle/>
          <a:p>
            <a:pPr marL="285750" indent="-285750">
              <a:buFont typeface="Wingdings" panose="05000000000000000000" pitchFamily="2" charset="2"/>
              <a:buChar char="ü"/>
            </a:pPr>
            <a:r>
              <a:rPr lang="zh-TW" altLang="en-US" dirty="0">
                <a:latin typeface="微軟正黑體" panose="020B0604030504040204" pitchFamily="34" charset="-120"/>
                <a:ea typeface="微軟正黑體" panose="020B0604030504040204" pitchFamily="34" charset="-120"/>
              </a:rPr>
              <a:t>結合</a:t>
            </a:r>
          </a:p>
          <a:p>
            <a:pPr marL="285750" indent="-285750">
              <a:buFont typeface="Wingdings" panose="05000000000000000000" pitchFamily="2" charset="2"/>
              <a:buChar char="ü"/>
            </a:pPr>
            <a:r>
              <a:rPr lang="zh-TW" altLang="en-US" dirty="0">
                <a:latin typeface="微軟正黑體" panose="020B0604030504040204" pitchFamily="34" charset="-120"/>
                <a:ea typeface="微軟正黑體" panose="020B0604030504040204" pitchFamily="34" charset="-120"/>
              </a:rPr>
              <a:t>簡單變更</a:t>
            </a:r>
          </a:p>
          <a:p>
            <a:pPr marL="285750" indent="-285750">
              <a:buFont typeface="Wingdings" panose="05000000000000000000" pitchFamily="2" charset="2"/>
              <a:buChar char="ü"/>
            </a:pPr>
            <a:r>
              <a:rPr lang="zh-TW" altLang="en-US" dirty="0">
                <a:latin typeface="微軟正黑體" panose="020B0604030504040204" pitchFamily="34" charset="-120"/>
                <a:ea typeface="微軟正黑體" panose="020B0604030504040204" pitchFamily="34" charset="-120"/>
              </a:rPr>
              <a:t>單純拼湊</a:t>
            </a:r>
          </a:p>
        </p:txBody>
      </p:sp>
    </p:spTree>
    <p:extLst>
      <p:ext uri="{BB962C8B-B14F-4D97-AF65-F5344CB8AC3E}">
        <p14:creationId xmlns:p14="http://schemas.microsoft.com/office/powerpoint/2010/main" val="26868204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DE3E5D12-4A7C-4174-04B4-E44BB42ED13F}"/>
              </a:ext>
            </a:extLst>
          </p:cNvPr>
          <p:cNvSpPr>
            <a:spLocks noGrp="1"/>
          </p:cNvSpPr>
          <p:nvPr>
            <p:ph type="title"/>
          </p:nvPr>
        </p:nvSpPr>
        <p:spPr/>
        <p:txBody>
          <a:bodyPr/>
          <a:lstStyle/>
          <a:p>
            <a:r>
              <a:rPr lang="zh-TW" altLang="en-US" dirty="0"/>
              <a:t>進步性</a:t>
            </a:r>
          </a:p>
        </p:txBody>
      </p:sp>
      <p:sp>
        <p:nvSpPr>
          <p:cNvPr id="6" name="內容版面配置區 5">
            <a:extLst>
              <a:ext uri="{FF2B5EF4-FFF2-40B4-BE49-F238E27FC236}">
                <a16:creationId xmlns:a16="http://schemas.microsoft.com/office/drawing/2014/main" id="{F19CC652-7BC5-383D-7D7F-EF20D5A04538}"/>
              </a:ext>
            </a:extLst>
          </p:cNvPr>
          <p:cNvSpPr>
            <a:spLocks noGrp="1"/>
          </p:cNvSpPr>
          <p:nvPr>
            <p:ph idx="1"/>
          </p:nvPr>
        </p:nvSpPr>
        <p:spPr>
          <a:xfrm>
            <a:off x="457200" y="980729"/>
            <a:ext cx="8229600" cy="2443188"/>
          </a:xfrm>
        </p:spPr>
        <p:txBody>
          <a:bodyPr>
            <a:normAutofit fontScale="77500" lnSpcReduction="20000"/>
          </a:bodyPr>
          <a:lstStyle/>
          <a:p>
            <a:r>
              <a:rPr lang="zh-TW" altLang="en-US" dirty="0"/>
              <a:t>結合比對</a:t>
            </a:r>
            <a:endParaRPr lang="en-US" altLang="zh-TW" dirty="0"/>
          </a:p>
          <a:p>
            <a:pPr lvl="1"/>
            <a:r>
              <a:rPr lang="zh-TW" altLang="en-US" b="1" dirty="0"/>
              <a:t>多份引證文件</a:t>
            </a:r>
            <a:r>
              <a:rPr lang="zh-TW" altLang="en-US" dirty="0"/>
              <a:t>中之全部或部分技術內容的結合</a:t>
            </a:r>
            <a:endParaRPr lang="en-US" altLang="zh-TW" dirty="0"/>
          </a:p>
          <a:p>
            <a:pPr lvl="1"/>
            <a:r>
              <a:rPr lang="zh-TW" altLang="en-US" dirty="0"/>
              <a:t>一份引證文件中不同部分之技術內容的結合</a:t>
            </a:r>
            <a:endParaRPr lang="en-US" altLang="zh-TW" dirty="0"/>
          </a:p>
          <a:p>
            <a:pPr lvl="1"/>
            <a:r>
              <a:rPr lang="zh-TW" altLang="en-US" dirty="0"/>
              <a:t>引證文件中之技術內容</a:t>
            </a:r>
            <a:r>
              <a:rPr lang="zh-TW" altLang="en-US" b="1" dirty="0"/>
              <a:t>與其他公開形式</a:t>
            </a:r>
            <a:r>
              <a:rPr lang="zh-TW" altLang="en-US" dirty="0"/>
              <a:t>（已公開實施或已為公眾所知悉）之先前技術的技術內容之結合</a:t>
            </a:r>
            <a:endParaRPr lang="en-US" altLang="zh-TW" dirty="0"/>
          </a:p>
          <a:p>
            <a:pPr lvl="1"/>
            <a:r>
              <a:rPr lang="zh-TW" altLang="en-US" dirty="0"/>
              <a:t>引證文件中之技術內容與</a:t>
            </a:r>
            <a:r>
              <a:rPr lang="zh-TW" altLang="en-US" b="1" dirty="0"/>
              <a:t>通常知識</a:t>
            </a:r>
            <a:r>
              <a:rPr lang="zh-TW" altLang="en-US" dirty="0"/>
              <a:t>的結合</a:t>
            </a:r>
            <a:endParaRPr lang="en-US" altLang="zh-TW" dirty="0"/>
          </a:p>
          <a:p>
            <a:pPr lvl="1"/>
            <a:r>
              <a:rPr lang="zh-TW" altLang="en-US" dirty="0"/>
              <a:t>其他公開形式之先前技術的技術內容與通常知識的結合</a:t>
            </a:r>
          </a:p>
        </p:txBody>
      </p:sp>
      <p:sp>
        <p:nvSpPr>
          <p:cNvPr id="4" name="投影片編號版面配置區 3">
            <a:extLst>
              <a:ext uri="{FF2B5EF4-FFF2-40B4-BE49-F238E27FC236}">
                <a16:creationId xmlns:a16="http://schemas.microsoft.com/office/drawing/2014/main" id="{6FC7DF09-C58A-C465-986F-15725E792F06}"/>
              </a:ext>
            </a:extLst>
          </p:cNvPr>
          <p:cNvSpPr>
            <a:spLocks noGrp="1"/>
          </p:cNvSpPr>
          <p:nvPr>
            <p:ph type="sldNum" sz="quarter" idx="12"/>
          </p:nvPr>
        </p:nvSpPr>
        <p:spPr>
          <a:xfrm>
            <a:off x="6948264" y="6356350"/>
            <a:ext cx="2133600" cy="365125"/>
          </a:xfrm>
        </p:spPr>
        <p:txBody>
          <a:bodyPr/>
          <a:lstStyle/>
          <a:p>
            <a:fld id="{254D4C32-7A1A-45A5-84ED-81747F1ABFAE}" type="slidenum">
              <a:rPr lang="zh-TW" altLang="en-US" smtClean="0"/>
              <a:t>21</a:t>
            </a:fld>
            <a:endParaRPr lang="zh-TW" altLang="en-US" dirty="0"/>
          </a:p>
        </p:txBody>
      </p:sp>
      <p:sp>
        <p:nvSpPr>
          <p:cNvPr id="2" name="矩形 1">
            <a:extLst>
              <a:ext uri="{FF2B5EF4-FFF2-40B4-BE49-F238E27FC236}">
                <a16:creationId xmlns:a16="http://schemas.microsoft.com/office/drawing/2014/main" id="{6ED16B9B-9089-0E2E-7ACF-59EB42014189}"/>
              </a:ext>
            </a:extLst>
          </p:cNvPr>
          <p:cNvSpPr/>
          <p:nvPr/>
        </p:nvSpPr>
        <p:spPr>
          <a:xfrm>
            <a:off x="1765130" y="4363257"/>
            <a:ext cx="1440160" cy="123789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87313"/>
            <a:r>
              <a:rPr lang="zh-TW" altLang="en-US" sz="1800" b="1" dirty="0">
                <a:latin typeface="微軟正黑體" panose="020B0604030504040204" pitchFamily="34" charset="-120"/>
                <a:ea typeface="微軟正黑體" panose="020B0604030504040204" pitchFamily="34" charset="-120"/>
              </a:rPr>
              <a:t>技術特徵</a:t>
            </a:r>
            <a:r>
              <a:rPr lang="en-US" altLang="zh-TW" sz="1800" b="1" dirty="0">
                <a:latin typeface="微軟正黑體" panose="020B0604030504040204" pitchFamily="34" charset="-120"/>
                <a:ea typeface="微軟正黑體" panose="020B0604030504040204" pitchFamily="34" charset="-120"/>
              </a:rPr>
              <a:t>A</a:t>
            </a:r>
            <a:r>
              <a:rPr lang="zh-TW" altLang="en-US" sz="1800" b="1" dirty="0">
                <a:latin typeface="微軟正黑體" panose="020B0604030504040204" pitchFamily="34" charset="-120"/>
                <a:ea typeface="微軟正黑體" panose="020B0604030504040204" pitchFamily="34" charset="-120"/>
              </a:rPr>
              <a:t>技術特徵</a:t>
            </a:r>
            <a:r>
              <a:rPr lang="en-US" altLang="zh-TW" sz="1800" b="1" dirty="0">
                <a:latin typeface="微軟正黑體" panose="020B0604030504040204" pitchFamily="34" charset="-120"/>
                <a:ea typeface="微軟正黑體" panose="020B0604030504040204" pitchFamily="34" charset="-120"/>
              </a:rPr>
              <a:t>B</a:t>
            </a:r>
          </a:p>
          <a:p>
            <a:pPr marL="87313"/>
            <a:r>
              <a:rPr lang="zh-TW" altLang="en-US" sz="1800" b="1" dirty="0">
                <a:latin typeface="微軟正黑體" panose="020B0604030504040204" pitchFamily="34" charset="-120"/>
                <a:ea typeface="微軟正黑體" panose="020B0604030504040204" pitchFamily="34" charset="-120"/>
              </a:rPr>
              <a:t>技術特徵</a:t>
            </a:r>
            <a:r>
              <a:rPr lang="en-US" altLang="zh-TW" b="1" dirty="0">
                <a:latin typeface="微軟正黑體" panose="020B0604030504040204" pitchFamily="34" charset="-120"/>
                <a:ea typeface="微軟正黑體" panose="020B0604030504040204" pitchFamily="34" charset="-120"/>
              </a:rPr>
              <a:t>C’</a:t>
            </a:r>
            <a:endParaRPr lang="en-US" altLang="zh-TW" sz="1800" b="1" dirty="0">
              <a:latin typeface="微軟正黑體" panose="020B0604030504040204" pitchFamily="34" charset="-120"/>
              <a:ea typeface="微軟正黑體" panose="020B0604030504040204" pitchFamily="34" charset="-120"/>
            </a:endParaRPr>
          </a:p>
        </p:txBody>
      </p:sp>
      <p:sp>
        <p:nvSpPr>
          <p:cNvPr id="8" name="文字方塊 7">
            <a:extLst>
              <a:ext uri="{FF2B5EF4-FFF2-40B4-BE49-F238E27FC236}">
                <a16:creationId xmlns:a16="http://schemas.microsoft.com/office/drawing/2014/main" id="{912E736B-C18B-EA5B-4565-DB7016B2A563}"/>
              </a:ext>
            </a:extLst>
          </p:cNvPr>
          <p:cNvSpPr txBox="1"/>
          <p:nvPr/>
        </p:nvSpPr>
        <p:spPr>
          <a:xfrm>
            <a:off x="1912977" y="3931681"/>
            <a:ext cx="1133872" cy="341376"/>
          </a:xfrm>
          <a:prstGeom prst="rect">
            <a:avLst/>
          </a:prstGeom>
        </p:spPr>
        <p:style>
          <a:lnRef idx="1">
            <a:schemeClr val="accent2"/>
          </a:lnRef>
          <a:fillRef idx="2">
            <a:schemeClr val="accent2"/>
          </a:fillRef>
          <a:effectRef idx="1">
            <a:schemeClr val="accent2"/>
          </a:effectRef>
          <a:fontRef idx="minor">
            <a:schemeClr val="dk1"/>
          </a:fontRef>
        </p:style>
        <p:txBody>
          <a:bodyPr wrap="square" lIns="36000" rIns="36000">
            <a:spAutoFit/>
          </a:bodyPr>
          <a:lstStyle/>
          <a:p>
            <a:pPr marL="174625" indent="-174625" algn="ctr">
              <a:lnSpc>
                <a:spcPts val="2100"/>
              </a:lnSpc>
              <a:spcBef>
                <a:spcPts val="0"/>
              </a:spcBef>
            </a:pPr>
            <a:r>
              <a:rPr lang="zh-TW" altLang="en-US" sz="1600" b="1" dirty="0">
                <a:latin typeface="微軟正黑體" panose="020B0604030504040204" pitchFamily="34" charset="-120"/>
                <a:ea typeface="微軟正黑體" panose="020B0604030504040204" pitchFamily="34" charset="-120"/>
              </a:rPr>
              <a:t>先前技術</a:t>
            </a:r>
            <a:endParaRPr lang="en-US" altLang="zh-TW" sz="1600" b="1" dirty="0">
              <a:latin typeface="微軟正黑體" panose="020B0604030504040204" pitchFamily="34" charset="-120"/>
              <a:ea typeface="微軟正黑體" panose="020B0604030504040204" pitchFamily="34" charset="-120"/>
            </a:endParaRPr>
          </a:p>
        </p:txBody>
      </p:sp>
      <p:grpSp>
        <p:nvGrpSpPr>
          <p:cNvPr id="23" name="群組 22">
            <a:extLst>
              <a:ext uri="{FF2B5EF4-FFF2-40B4-BE49-F238E27FC236}">
                <a16:creationId xmlns:a16="http://schemas.microsoft.com/office/drawing/2014/main" id="{3B3317E1-DD13-8415-E0DF-32AE6C3405E2}"/>
              </a:ext>
            </a:extLst>
          </p:cNvPr>
          <p:cNvGrpSpPr/>
          <p:nvPr/>
        </p:nvGrpSpPr>
        <p:grpSpPr>
          <a:xfrm>
            <a:off x="4022221" y="3975262"/>
            <a:ext cx="4110347" cy="1782977"/>
            <a:chOff x="3784227" y="3975262"/>
            <a:chExt cx="4110347" cy="1782977"/>
          </a:xfrm>
        </p:grpSpPr>
        <p:pic>
          <p:nvPicPr>
            <p:cNvPr id="10" name="Picture 8" descr="过程循环信息- Pixabay上的免费图片- Pixabay">
              <a:extLst>
                <a:ext uri="{FF2B5EF4-FFF2-40B4-BE49-F238E27FC236}">
                  <a16:creationId xmlns:a16="http://schemas.microsoft.com/office/drawing/2014/main" id="{99002E5F-675D-304F-E7FC-8AD2A0D85BD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364088" y="4417049"/>
              <a:ext cx="950625" cy="946169"/>
            </a:xfrm>
            <a:prstGeom prst="rect">
              <a:avLst/>
            </a:prstGeom>
            <a:noFill/>
            <a:extLst>
              <a:ext uri="{909E8E84-426E-40DD-AFC4-6F175D3DCCD1}">
                <a14:hiddenFill xmlns:a14="http://schemas.microsoft.com/office/drawing/2010/main">
                  <a:solidFill>
                    <a:srgbClr val="FFFFFF"/>
                  </a:solidFill>
                </a14:hiddenFill>
              </a:ext>
            </a:extLst>
          </p:spPr>
        </p:pic>
        <p:sp>
          <p:nvSpPr>
            <p:cNvPr id="15" name="文字方塊 14">
              <a:extLst>
                <a:ext uri="{FF2B5EF4-FFF2-40B4-BE49-F238E27FC236}">
                  <a16:creationId xmlns:a16="http://schemas.microsoft.com/office/drawing/2014/main" id="{3FB8E220-24F0-321B-FF07-C6C40CF679E1}"/>
                </a:ext>
              </a:extLst>
            </p:cNvPr>
            <p:cNvSpPr txBox="1"/>
            <p:nvPr/>
          </p:nvSpPr>
          <p:spPr>
            <a:xfrm>
              <a:off x="5477486" y="4705467"/>
              <a:ext cx="723828" cy="369332"/>
            </a:xfrm>
            <a:prstGeom prst="rect">
              <a:avLst/>
            </a:prstGeom>
            <a:noFill/>
          </p:spPr>
          <p:txBody>
            <a:bodyPr wrap="square">
              <a:spAutoFit/>
            </a:bodyPr>
            <a:lstStyle/>
            <a:p>
              <a:pPr algn="ctr"/>
              <a:r>
                <a:rPr lang="zh-TW" altLang="en-US" b="1" dirty="0">
                  <a:latin typeface="微軟正黑體" panose="020B0604030504040204" pitchFamily="34" charset="-120"/>
                  <a:ea typeface="微軟正黑體" panose="020B0604030504040204" pitchFamily="34" charset="-120"/>
                </a:rPr>
                <a:t>結合</a:t>
              </a:r>
            </a:p>
          </p:txBody>
        </p:sp>
        <p:sp>
          <p:nvSpPr>
            <p:cNvPr id="17" name="文字方塊 16">
              <a:extLst>
                <a:ext uri="{FF2B5EF4-FFF2-40B4-BE49-F238E27FC236}">
                  <a16:creationId xmlns:a16="http://schemas.microsoft.com/office/drawing/2014/main" id="{5B995E6E-29A6-E8F0-027E-69CBC1274996}"/>
                </a:ext>
              </a:extLst>
            </p:cNvPr>
            <p:cNvSpPr txBox="1"/>
            <p:nvPr/>
          </p:nvSpPr>
          <p:spPr>
            <a:xfrm>
              <a:off x="4355976" y="4007260"/>
              <a:ext cx="1284360" cy="369332"/>
            </a:xfrm>
            <a:prstGeom prst="rect">
              <a:avLst/>
            </a:prstGeom>
            <a:noFill/>
            <a:ln>
              <a:solidFill>
                <a:schemeClr val="accent1"/>
              </a:solidFill>
            </a:ln>
          </p:spPr>
          <p:txBody>
            <a:bodyPr wrap="square">
              <a:spAutoFit/>
            </a:bodyPr>
            <a:lstStyle/>
            <a:p>
              <a:r>
                <a:rPr lang="zh-TW" altLang="en-US" b="1" dirty="0"/>
                <a:t>引證文件</a:t>
              </a:r>
              <a:r>
                <a:rPr lang="en-US" altLang="zh-TW" b="1" dirty="0"/>
                <a:t>1</a:t>
              </a:r>
              <a:endParaRPr lang="zh-TW" altLang="en-US" dirty="0"/>
            </a:p>
          </p:txBody>
        </p:sp>
        <p:sp>
          <p:nvSpPr>
            <p:cNvPr id="18" name="文字方塊 17">
              <a:extLst>
                <a:ext uri="{FF2B5EF4-FFF2-40B4-BE49-F238E27FC236}">
                  <a16:creationId xmlns:a16="http://schemas.microsoft.com/office/drawing/2014/main" id="{CB0DC3D6-A67F-39EF-143A-C6823696F9B9}"/>
                </a:ext>
              </a:extLst>
            </p:cNvPr>
            <p:cNvSpPr txBox="1"/>
            <p:nvPr/>
          </p:nvSpPr>
          <p:spPr>
            <a:xfrm>
              <a:off x="6148842" y="3975262"/>
              <a:ext cx="1284360" cy="369332"/>
            </a:xfrm>
            <a:prstGeom prst="rect">
              <a:avLst/>
            </a:prstGeom>
            <a:noFill/>
            <a:ln>
              <a:solidFill>
                <a:schemeClr val="accent1"/>
              </a:solidFill>
            </a:ln>
          </p:spPr>
          <p:txBody>
            <a:bodyPr wrap="square">
              <a:spAutoFit/>
            </a:bodyPr>
            <a:lstStyle/>
            <a:p>
              <a:r>
                <a:rPr lang="zh-TW" altLang="en-US" b="1" dirty="0"/>
                <a:t>引證文件</a:t>
              </a:r>
              <a:r>
                <a:rPr lang="en-US" altLang="zh-TW" b="1" dirty="0"/>
                <a:t>2</a:t>
              </a:r>
              <a:endParaRPr lang="zh-TW" altLang="en-US" dirty="0"/>
            </a:p>
          </p:txBody>
        </p:sp>
        <p:sp>
          <p:nvSpPr>
            <p:cNvPr id="19" name="文字方塊 18">
              <a:extLst>
                <a:ext uri="{FF2B5EF4-FFF2-40B4-BE49-F238E27FC236}">
                  <a16:creationId xmlns:a16="http://schemas.microsoft.com/office/drawing/2014/main" id="{F7B3F834-E1A2-52F4-4CFC-A3E34012AD6B}"/>
                </a:ext>
              </a:extLst>
            </p:cNvPr>
            <p:cNvSpPr txBox="1"/>
            <p:nvPr/>
          </p:nvSpPr>
          <p:spPr>
            <a:xfrm>
              <a:off x="6610214" y="4633013"/>
              <a:ext cx="1284360" cy="369332"/>
            </a:xfrm>
            <a:prstGeom prst="rect">
              <a:avLst/>
            </a:prstGeom>
            <a:noFill/>
            <a:ln>
              <a:solidFill>
                <a:schemeClr val="accent1"/>
              </a:solidFill>
            </a:ln>
          </p:spPr>
          <p:txBody>
            <a:bodyPr wrap="square">
              <a:spAutoFit/>
            </a:bodyPr>
            <a:lstStyle/>
            <a:p>
              <a:r>
                <a:rPr lang="zh-TW" altLang="en-US" b="1" dirty="0"/>
                <a:t>引證文件</a:t>
              </a:r>
              <a:r>
                <a:rPr lang="en-US" altLang="zh-TW" b="1" dirty="0"/>
                <a:t>n</a:t>
              </a:r>
              <a:endParaRPr lang="zh-TW" altLang="en-US" dirty="0"/>
            </a:p>
          </p:txBody>
        </p:sp>
        <p:sp>
          <p:nvSpPr>
            <p:cNvPr id="20" name="文字方塊 19">
              <a:extLst>
                <a:ext uri="{FF2B5EF4-FFF2-40B4-BE49-F238E27FC236}">
                  <a16:creationId xmlns:a16="http://schemas.microsoft.com/office/drawing/2014/main" id="{3674F79C-99FB-6FB0-DE57-2CF133312811}"/>
                </a:ext>
              </a:extLst>
            </p:cNvPr>
            <p:cNvSpPr txBox="1"/>
            <p:nvPr/>
          </p:nvSpPr>
          <p:spPr>
            <a:xfrm>
              <a:off x="3784227" y="4698083"/>
              <a:ext cx="1284360" cy="369332"/>
            </a:xfrm>
            <a:prstGeom prst="rect">
              <a:avLst/>
            </a:prstGeom>
            <a:noFill/>
            <a:ln>
              <a:solidFill>
                <a:schemeClr val="accent1"/>
              </a:solidFill>
            </a:ln>
          </p:spPr>
          <p:txBody>
            <a:bodyPr wrap="square">
              <a:spAutoFit/>
            </a:bodyPr>
            <a:lstStyle/>
            <a:p>
              <a:r>
                <a:rPr lang="zh-TW" altLang="en-US" b="1" dirty="0">
                  <a:latin typeface="微軟正黑體" panose="020B0604030504040204" pitchFamily="34" charset="-120"/>
                  <a:ea typeface="微軟正黑體" panose="020B0604030504040204" pitchFamily="34" charset="-120"/>
                </a:rPr>
                <a:t>通常知識</a:t>
              </a:r>
            </a:p>
          </p:txBody>
        </p:sp>
        <p:sp>
          <p:nvSpPr>
            <p:cNvPr id="21" name="文字方塊 20">
              <a:extLst>
                <a:ext uri="{FF2B5EF4-FFF2-40B4-BE49-F238E27FC236}">
                  <a16:creationId xmlns:a16="http://schemas.microsoft.com/office/drawing/2014/main" id="{B3F67A92-4B72-DB73-ACD0-654BB8889A88}"/>
                </a:ext>
              </a:extLst>
            </p:cNvPr>
            <p:cNvSpPr txBox="1"/>
            <p:nvPr/>
          </p:nvSpPr>
          <p:spPr>
            <a:xfrm>
              <a:off x="4355976" y="5388907"/>
              <a:ext cx="1284360" cy="369332"/>
            </a:xfrm>
            <a:prstGeom prst="rect">
              <a:avLst/>
            </a:prstGeom>
            <a:noFill/>
            <a:ln>
              <a:solidFill>
                <a:schemeClr val="accent1"/>
              </a:solidFill>
            </a:ln>
          </p:spPr>
          <p:txBody>
            <a:bodyPr wrap="square">
              <a:spAutoFit/>
            </a:bodyPr>
            <a:lstStyle/>
            <a:p>
              <a:r>
                <a:rPr lang="zh-TW" altLang="en-US" b="1" dirty="0">
                  <a:latin typeface="微軟正黑體" panose="020B0604030504040204" pitchFamily="34" charset="-120"/>
                  <a:ea typeface="微軟正黑體" panose="020B0604030504040204" pitchFamily="34" charset="-120"/>
                </a:rPr>
                <a:t>公開實施</a:t>
              </a:r>
            </a:p>
          </p:txBody>
        </p:sp>
        <p:sp>
          <p:nvSpPr>
            <p:cNvPr id="22" name="文字方塊 21">
              <a:extLst>
                <a:ext uri="{FF2B5EF4-FFF2-40B4-BE49-F238E27FC236}">
                  <a16:creationId xmlns:a16="http://schemas.microsoft.com/office/drawing/2014/main" id="{A0E3666A-1EF9-5EA3-5C35-988CB5228F44}"/>
                </a:ext>
              </a:extLst>
            </p:cNvPr>
            <p:cNvSpPr txBox="1"/>
            <p:nvPr/>
          </p:nvSpPr>
          <p:spPr>
            <a:xfrm>
              <a:off x="6148842" y="5382470"/>
              <a:ext cx="1440160" cy="369332"/>
            </a:xfrm>
            <a:prstGeom prst="rect">
              <a:avLst/>
            </a:prstGeom>
            <a:noFill/>
            <a:ln>
              <a:solidFill>
                <a:schemeClr val="accent1"/>
              </a:solidFill>
            </a:ln>
          </p:spPr>
          <p:txBody>
            <a:bodyPr wrap="square">
              <a:spAutoFit/>
            </a:bodyPr>
            <a:lstStyle/>
            <a:p>
              <a:r>
                <a:rPr lang="zh-TW" altLang="en-US" b="1" dirty="0">
                  <a:latin typeface="微軟正黑體" panose="020B0604030504040204" pitchFamily="34" charset="-120"/>
                  <a:ea typeface="微軟正黑體" panose="020B0604030504040204" pitchFamily="34" charset="-120"/>
                </a:rPr>
                <a:t>公眾所知悉</a:t>
              </a:r>
            </a:p>
          </p:txBody>
        </p:sp>
      </p:grpSp>
      <p:sp>
        <p:nvSpPr>
          <p:cNvPr id="24" name="等於 23">
            <a:extLst>
              <a:ext uri="{FF2B5EF4-FFF2-40B4-BE49-F238E27FC236}">
                <a16:creationId xmlns:a16="http://schemas.microsoft.com/office/drawing/2014/main" id="{60BAB7B5-381C-515E-0276-3026A2059E54}"/>
              </a:ext>
            </a:extLst>
          </p:cNvPr>
          <p:cNvSpPr/>
          <p:nvPr/>
        </p:nvSpPr>
        <p:spPr>
          <a:xfrm>
            <a:off x="3297280" y="4597193"/>
            <a:ext cx="602349" cy="585318"/>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42506452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DE3E5D12-4A7C-4174-04B4-E44BB42ED13F}"/>
              </a:ext>
            </a:extLst>
          </p:cNvPr>
          <p:cNvSpPr>
            <a:spLocks noGrp="1"/>
          </p:cNvSpPr>
          <p:nvPr>
            <p:ph type="title"/>
          </p:nvPr>
        </p:nvSpPr>
        <p:spPr/>
        <p:txBody>
          <a:bodyPr/>
          <a:lstStyle/>
          <a:p>
            <a:r>
              <a:rPr lang="zh-TW" altLang="en-US" dirty="0"/>
              <a:t>進步性</a:t>
            </a:r>
          </a:p>
        </p:txBody>
      </p:sp>
      <p:sp>
        <p:nvSpPr>
          <p:cNvPr id="6" name="內容版面配置區 5">
            <a:extLst>
              <a:ext uri="{FF2B5EF4-FFF2-40B4-BE49-F238E27FC236}">
                <a16:creationId xmlns:a16="http://schemas.microsoft.com/office/drawing/2014/main" id="{F19CC652-7BC5-383D-7D7F-EF20D5A04538}"/>
              </a:ext>
            </a:extLst>
          </p:cNvPr>
          <p:cNvSpPr>
            <a:spLocks noGrp="1"/>
          </p:cNvSpPr>
          <p:nvPr>
            <p:ph idx="1"/>
          </p:nvPr>
        </p:nvSpPr>
        <p:spPr>
          <a:xfrm>
            <a:off x="457200" y="908720"/>
            <a:ext cx="8229600" cy="5812755"/>
          </a:xfrm>
        </p:spPr>
        <p:txBody>
          <a:bodyPr>
            <a:normAutofit fontScale="62500" lnSpcReduction="20000"/>
          </a:bodyPr>
          <a:lstStyle/>
          <a:p>
            <a:r>
              <a:rPr lang="zh-TW" altLang="en-US" sz="3500" dirty="0"/>
              <a:t>判斷步驟</a:t>
            </a:r>
            <a:endParaRPr lang="en-US" altLang="zh-TW" sz="3500" dirty="0"/>
          </a:p>
          <a:p>
            <a:pPr marL="457200" lvl="1" indent="0">
              <a:buNone/>
            </a:pPr>
            <a:r>
              <a:rPr lang="zh-TW" altLang="en-US" sz="3200" dirty="0"/>
              <a:t>步驟 </a:t>
            </a:r>
            <a:r>
              <a:rPr lang="en-US" altLang="zh-TW" sz="3200" dirty="0"/>
              <a:t>1</a:t>
            </a:r>
            <a:r>
              <a:rPr lang="zh-TW" altLang="en-US" sz="3200" dirty="0"/>
              <a:t>：確定</a:t>
            </a:r>
            <a:r>
              <a:rPr lang="zh-TW" altLang="en-US" sz="3200" b="1" dirty="0"/>
              <a:t>申請專利之發明</a:t>
            </a:r>
            <a:r>
              <a:rPr lang="zh-TW" altLang="en-US" sz="3200" dirty="0"/>
              <a:t>的範圍</a:t>
            </a:r>
            <a:endParaRPr lang="en-US" altLang="zh-TW" sz="3200" dirty="0"/>
          </a:p>
          <a:p>
            <a:pPr marL="1339850" lvl="1" indent="0">
              <a:buFont typeface="Wingdings" panose="05000000000000000000" pitchFamily="2" charset="2"/>
              <a:buChar char="Ø"/>
            </a:pPr>
            <a:r>
              <a:rPr lang="zh-TW" altLang="en-US" dirty="0"/>
              <a:t>文字所界定的範圍</a:t>
            </a:r>
            <a:endParaRPr lang="en-US" altLang="zh-TW" dirty="0"/>
          </a:p>
          <a:p>
            <a:pPr marL="1339850" lvl="1" indent="0">
              <a:buFont typeface="Wingdings" panose="05000000000000000000" pitchFamily="2" charset="2"/>
              <a:buChar char="Ø"/>
            </a:pPr>
            <a:r>
              <a:rPr lang="zh-TW" altLang="en-US" dirty="0"/>
              <a:t>不得引入說明書、圖式內容</a:t>
            </a:r>
            <a:endParaRPr lang="en-US" altLang="zh-TW" dirty="0"/>
          </a:p>
          <a:p>
            <a:pPr marL="457200" lvl="1" indent="0">
              <a:buNone/>
            </a:pPr>
            <a:r>
              <a:rPr lang="zh-TW" altLang="en-US" sz="3200" dirty="0"/>
              <a:t>步驟 </a:t>
            </a:r>
            <a:r>
              <a:rPr lang="en-US" altLang="zh-TW" sz="3200" dirty="0"/>
              <a:t>2</a:t>
            </a:r>
            <a:r>
              <a:rPr lang="zh-TW" altLang="en-US" sz="3200" dirty="0"/>
              <a:t>：確定相關</a:t>
            </a:r>
            <a:r>
              <a:rPr lang="zh-TW" altLang="en-US" sz="3200" b="1" dirty="0"/>
              <a:t>先前技術</a:t>
            </a:r>
            <a:r>
              <a:rPr lang="zh-TW" altLang="en-US" sz="3200" dirty="0"/>
              <a:t>所揭露之內容</a:t>
            </a:r>
            <a:endParaRPr lang="en-US" altLang="zh-TW" sz="3200" dirty="0"/>
          </a:p>
          <a:p>
            <a:pPr marL="1703388" lvl="1" indent="-1246188">
              <a:buNone/>
            </a:pPr>
            <a:r>
              <a:rPr lang="zh-TW" altLang="en-US" sz="3200" dirty="0"/>
              <a:t>步驟 </a:t>
            </a:r>
            <a:r>
              <a:rPr lang="en-US" altLang="zh-TW" sz="3200" dirty="0"/>
              <a:t>3</a:t>
            </a:r>
            <a:r>
              <a:rPr lang="zh-TW" altLang="en-US" sz="3200" dirty="0"/>
              <a:t>：確定該發明所屬技術領域中具有</a:t>
            </a:r>
            <a:r>
              <a:rPr lang="zh-TW" altLang="en-US" sz="3200" b="1" dirty="0"/>
              <a:t>通常知識者</a:t>
            </a:r>
            <a:r>
              <a:rPr lang="zh-TW" altLang="en-US" sz="3200" dirty="0"/>
              <a:t>之技術水準</a:t>
            </a:r>
            <a:endParaRPr lang="en-US" altLang="zh-TW" sz="3200" dirty="0"/>
          </a:p>
          <a:p>
            <a:pPr marL="1339850" lvl="1" indent="0">
              <a:buFont typeface="Wingdings" panose="05000000000000000000" pitchFamily="2" charset="2"/>
              <a:buChar char="Ø"/>
            </a:pPr>
            <a:r>
              <a:rPr lang="zh-TW" altLang="en-US" dirty="0"/>
              <a:t>確定該技術水準時，可考量下列因素</a:t>
            </a:r>
            <a:endParaRPr lang="en-US" altLang="zh-TW" dirty="0"/>
          </a:p>
          <a:p>
            <a:pPr marL="1790700" lvl="2" indent="0">
              <a:buFont typeface="Wingdings" panose="05000000000000000000" pitchFamily="2" charset="2"/>
              <a:buChar char="ü"/>
            </a:pPr>
            <a:r>
              <a:rPr lang="zh-TW" altLang="en-US" sz="2900" dirty="0"/>
              <a:t>該技術（</a:t>
            </a:r>
            <a:r>
              <a:rPr lang="en-US" altLang="zh-TW" sz="2900" dirty="0"/>
              <a:t>art</a:t>
            </a:r>
            <a:r>
              <a:rPr lang="zh-TW" altLang="en-US" sz="2900" dirty="0"/>
              <a:t>）所面臨問題之類型</a:t>
            </a:r>
            <a:endParaRPr lang="en-US" altLang="zh-TW" sz="2900" dirty="0"/>
          </a:p>
          <a:p>
            <a:pPr marL="1790700" lvl="2" indent="0">
              <a:buFont typeface="Wingdings" panose="05000000000000000000" pitchFamily="2" charset="2"/>
              <a:buChar char="ü"/>
            </a:pPr>
            <a:r>
              <a:rPr lang="zh-TW" altLang="en-US" sz="2900" dirty="0"/>
              <a:t>先前技術解決該等問題之技術手段</a:t>
            </a:r>
            <a:endParaRPr lang="en-US" altLang="zh-TW" sz="2900" dirty="0"/>
          </a:p>
          <a:p>
            <a:pPr marL="1790700" lvl="2" indent="0">
              <a:buFont typeface="Wingdings" panose="05000000000000000000" pitchFamily="2" charset="2"/>
              <a:buChar char="ü"/>
            </a:pPr>
            <a:r>
              <a:rPr lang="zh-TW" altLang="en-US" sz="2900" dirty="0"/>
              <a:t>發明所屬技術領域之創新速度</a:t>
            </a:r>
            <a:endParaRPr lang="en-US" altLang="zh-TW" sz="2900" dirty="0"/>
          </a:p>
          <a:p>
            <a:pPr marL="1790700" lvl="2" indent="0">
              <a:buFont typeface="Wingdings" panose="05000000000000000000" pitchFamily="2" charset="2"/>
              <a:buChar char="ü"/>
            </a:pPr>
            <a:r>
              <a:rPr lang="zh-TW" altLang="en-US" sz="2900" dirty="0"/>
              <a:t>該科技（</a:t>
            </a:r>
            <a:r>
              <a:rPr lang="en-US" altLang="zh-TW" sz="2900" dirty="0"/>
              <a:t>technology</a:t>
            </a:r>
            <a:r>
              <a:rPr lang="zh-TW" altLang="en-US" sz="2900" dirty="0"/>
              <a:t>）之複雜度</a:t>
            </a:r>
            <a:endParaRPr lang="en-US" altLang="zh-TW" sz="2900" dirty="0"/>
          </a:p>
          <a:p>
            <a:pPr marL="1790700" lvl="2" indent="0">
              <a:buFont typeface="Wingdings" panose="05000000000000000000" pitchFamily="2" charset="2"/>
              <a:buChar char="ü"/>
            </a:pPr>
            <a:r>
              <a:rPr lang="zh-TW" altLang="en-US" sz="2900" dirty="0"/>
              <a:t>該領域（</a:t>
            </a:r>
            <a:r>
              <a:rPr lang="en-US" altLang="zh-TW" sz="2900" dirty="0"/>
              <a:t>field</a:t>
            </a:r>
            <a:r>
              <a:rPr lang="zh-TW" altLang="en-US" sz="2900" dirty="0"/>
              <a:t>）實務從事者之教育水準</a:t>
            </a:r>
            <a:endParaRPr lang="en-US" altLang="zh-TW" sz="2900" dirty="0"/>
          </a:p>
          <a:p>
            <a:pPr marL="1339850" lvl="1" indent="0">
              <a:buFont typeface="Wingdings" panose="05000000000000000000" pitchFamily="2" charset="2"/>
              <a:buChar char="Ø"/>
            </a:pPr>
            <a:r>
              <a:rPr lang="zh-TW" altLang="en-US" dirty="0"/>
              <a:t>若由相關先前技術之內容即足以反映或認定該發明所屬技術領域中具有通常知識者之技術水準，則可逕行確定該技術水準，無須另外考量上述因素</a:t>
            </a:r>
            <a:endParaRPr lang="en-US" altLang="zh-TW" dirty="0"/>
          </a:p>
          <a:p>
            <a:pPr marL="1879600" lvl="1" indent="-1422400">
              <a:buNone/>
            </a:pPr>
            <a:r>
              <a:rPr lang="zh-TW" altLang="en-US" sz="3200" dirty="0"/>
              <a:t>步驟 </a:t>
            </a:r>
            <a:r>
              <a:rPr lang="en-US" altLang="zh-TW" sz="3200" dirty="0"/>
              <a:t>4</a:t>
            </a:r>
            <a:r>
              <a:rPr lang="zh-TW" altLang="en-US" sz="3200" dirty="0"/>
              <a:t>：確認該發明與相關先前技術所揭露之內容間的</a:t>
            </a:r>
            <a:r>
              <a:rPr lang="zh-TW" altLang="en-US" sz="3200" b="1" dirty="0"/>
              <a:t>差異</a:t>
            </a:r>
            <a:endParaRPr lang="en-US" altLang="zh-TW" sz="3200" b="1" dirty="0"/>
          </a:p>
          <a:p>
            <a:pPr marL="1797050" lvl="1" indent="-457200">
              <a:buFont typeface="Wingdings" panose="05000000000000000000" pitchFamily="2" charset="2"/>
              <a:buChar char="Ø"/>
            </a:pPr>
            <a:r>
              <a:rPr lang="zh-TW" altLang="en-US" dirty="0"/>
              <a:t>該作為比對基礎之單一引證，稱為「</a:t>
            </a:r>
            <a:r>
              <a:rPr lang="zh-TW" altLang="en-US" b="1" dirty="0"/>
              <a:t>主要引證</a:t>
            </a:r>
            <a:r>
              <a:rPr lang="zh-TW" altLang="en-US" dirty="0"/>
              <a:t>」，其餘作為論理之引證稱為「其他引證」 </a:t>
            </a:r>
            <a:endParaRPr lang="en-US" altLang="zh-TW" dirty="0"/>
          </a:p>
          <a:p>
            <a:pPr marL="1439863" lvl="1" indent="-982663">
              <a:buNone/>
            </a:pPr>
            <a:r>
              <a:rPr lang="zh-TW" altLang="en-US" sz="3200" dirty="0"/>
              <a:t>步驟 </a:t>
            </a:r>
            <a:r>
              <a:rPr lang="en-US" altLang="zh-TW" sz="3200" dirty="0"/>
              <a:t>5</a:t>
            </a:r>
            <a:r>
              <a:rPr lang="zh-TW" altLang="en-US" sz="3200" dirty="0"/>
              <a:t>：該發明所屬技術領域中具有通常知識者參酌相關先前技術所揭露之內容及申請時之通常知識，</a:t>
            </a:r>
            <a:r>
              <a:rPr lang="zh-TW" altLang="en-US" sz="3200" b="1" dirty="0"/>
              <a:t>是否能輕易完成申請專利之發明</a:t>
            </a:r>
          </a:p>
        </p:txBody>
      </p:sp>
      <p:sp>
        <p:nvSpPr>
          <p:cNvPr id="4" name="投影片編號版面配置區 3">
            <a:extLst>
              <a:ext uri="{FF2B5EF4-FFF2-40B4-BE49-F238E27FC236}">
                <a16:creationId xmlns:a16="http://schemas.microsoft.com/office/drawing/2014/main" id="{6FC7DF09-C58A-C465-986F-15725E792F06}"/>
              </a:ext>
            </a:extLst>
          </p:cNvPr>
          <p:cNvSpPr>
            <a:spLocks noGrp="1"/>
          </p:cNvSpPr>
          <p:nvPr>
            <p:ph type="sldNum" sz="quarter" idx="12"/>
          </p:nvPr>
        </p:nvSpPr>
        <p:spPr>
          <a:xfrm>
            <a:off x="6948264" y="6356350"/>
            <a:ext cx="2133600" cy="365125"/>
          </a:xfrm>
        </p:spPr>
        <p:txBody>
          <a:bodyPr/>
          <a:lstStyle/>
          <a:p>
            <a:fld id="{254D4C32-7A1A-45A5-84ED-81747F1ABFAE}" type="slidenum">
              <a:rPr lang="zh-TW" altLang="en-US" smtClean="0"/>
              <a:t>22</a:t>
            </a:fld>
            <a:endParaRPr lang="zh-TW" altLang="en-US" dirty="0"/>
          </a:p>
        </p:txBody>
      </p:sp>
    </p:spTree>
    <p:extLst>
      <p:ext uri="{BB962C8B-B14F-4D97-AF65-F5344CB8AC3E}">
        <p14:creationId xmlns:p14="http://schemas.microsoft.com/office/powerpoint/2010/main" val="26478789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DE3E5D12-4A7C-4174-04B4-E44BB42ED13F}"/>
              </a:ext>
            </a:extLst>
          </p:cNvPr>
          <p:cNvSpPr>
            <a:spLocks noGrp="1"/>
          </p:cNvSpPr>
          <p:nvPr>
            <p:ph type="title"/>
          </p:nvPr>
        </p:nvSpPr>
        <p:spPr/>
        <p:txBody>
          <a:bodyPr/>
          <a:lstStyle/>
          <a:p>
            <a:r>
              <a:rPr lang="zh-TW" altLang="en-US" dirty="0"/>
              <a:t>進步性</a:t>
            </a:r>
          </a:p>
        </p:txBody>
      </p:sp>
      <p:sp>
        <p:nvSpPr>
          <p:cNvPr id="6" name="內容版面配置區 5">
            <a:extLst>
              <a:ext uri="{FF2B5EF4-FFF2-40B4-BE49-F238E27FC236}">
                <a16:creationId xmlns:a16="http://schemas.microsoft.com/office/drawing/2014/main" id="{F19CC652-7BC5-383D-7D7F-EF20D5A04538}"/>
              </a:ext>
            </a:extLst>
          </p:cNvPr>
          <p:cNvSpPr>
            <a:spLocks noGrp="1"/>
          </p:cNvSpPr>
          <p:nvPr>
            <p:ph idx="1"/>
          </p:nvPr>
        </p:nvSpPr>
        <p:spPr>
          <a:xfrm>
            <a:off x="323528" y="833564"/>
            <a:ext cx="8640960" cy="761751"/>
          </a:xfrm>
        </p:spPr>
        <p:style>
          <a:lnRef idx="1">
            <a:schemeClr val="accent4"/>
          </a:lnRef>
          <a:fillRef idx="2">
            <a:schemeClr val="accent4"/>
          </a:fillRef>
          <a:effectRef idx="1">
            <a:schemeClr val="accent4"/>
          </a:effectRef>
          <a:fontRef idx="minor">
            <a:schemeClr val="dk1"/>
          </a:fontRef>
        </p:style>
        <p:txBody>
          <a:bodyPr anchor="ctr" anchorCtr="0">
            <a:normAutofit fontScale="62500" lnSpcReduction="20000"/>
          </a:bodyPr>
          <a:lstStyle/>
          <a:p>
            <a:pPr marL="989013" lvl="1" indent="-989013">
              <a:buNone/>
            </a:pPr>
            <a:r>
              <a:rPr lang="zh-TW" altLang="en-US" sz="3200" dirty="0"/>
              <a:t>步驟 </a:t>
            </a:r>
            <a:r>
              <a:rPr lang="en-US" altLang="zh-TW" sz="3200" dirty="0"/>
              <a:t>5</a:t>
            </a:r>
            <a:r>
              <a:rPr lang="zh-TW" altLang="en-US" sz="3200" dirty="0"/>
              <a:t>：該發明所屬技術領域中具有通常知識者參酌相關先前技術所揭露之內容及申請時之通常知識，</a:t>
            </a:r>
            <a:r>
              <a:rPr lang="zh-TW" altLang="en-US" sz="3200" b="1" dirty="0"/>
              <a:t>是否能輕易完成申請專利之發明</a:t>
            </a:r>
          </a:p>
        </p:txBody>
      </p:sp>
      <p:sp>
        <p:nvSpPr>
          <p:cNvPr id="4" name="投影片編號版面配置區 3">
            <a:extLst>
              <a:ext uri="{FF2B5EF4-FFF2-40B4-BE49-F238E27FC236}">
                <a16:creationId xmlns:a16="http://schemas.microsoft.com/office/drawing/2014/main" id="{6FC7DF09-C58A-C465-986F-15725E792F06}"/>
              </a:ext>
            </a:extLst>
          </p:cNvPr>
          <p:cNvSpPr>
            <a:spLocks noGrp="1"/>
          </p:cNvSpPr>
          <p:nvPr>
            <p:ph type="sldNum" sz="quarter" idx="12"/>
          </p:nvPr>
        </p:nvSpPr>
        <p:spPr>
          <a:xfrm>
            <a:off x="6948264" y="6356350"/>
            <a:ext cx="2133600" cy="365125"/>
          </a:xfrm>
        </p:spPr>
        <p:txBody>
          <a:bodyPr/>
          <a:lstStyle/>
          <a:p>
            <a:fld id="{254D4C32-7A1A-45A5-84ED-81747F1ABFAE}" type="slidenum">
              <a:rPr lang="zh-TW" altLang="en-US" smtClean="0"/>
              <a:t>23</a:t>
            </a:fld>
            <a:endParaRPr lang="zh-TW" altLang="en-US" dirty="0"/>
          </a:p>
        </p:txBody>
      </p:sp>
      <p:grpSp>
        <p:nvGrpSpPr>
          <p:cNvPr id="35" name="群組 34">
            <a:extLst>
              <a:ext uri="{FF2B5EF4-FFF2-40B4-BE49-F238E27FC236}">
                <a16:creationId xmlns:a16="http://schemas.microsoft.com/office/drawing/2014/main" id="{EF4D980E-081B-AA8C-82B1-D672D97BCF92}"/>
              </a:ext>
            </a:extLst>
          </p:cNvPr>
          <p:cNvGrpSpPr/>
          <p:nvPr/>
        </p:nvGrpSpPr>
        <p:grpSpPr>
          <a:xfrm>
            <a:off x="1020048" y="2121679"/>
            <a:ext cx="7127800" cy="4549232"/>
            <a:chOff x="1020048" y="2121679"/>
            <a:chExt cx="7127800" cy="4549232"/>
          </a:xfrm>
        </p:grpSpPr>
        <p:sp>
          <p:nvSpPr>
            <p:cNvPr id="2" name="流程圖: 決策 1">
              <a:extLst>
                <a:ext uri="{FF2B5EF4-FFF2-40B4-BE49-F238E27FC236}">
                  <a16:creationId xmlns:a16="http://schemas.microsoft.com/office/drawing/2014/main" id="{30882971-251F-943E-BDA5-08B007BE1CE9}"/>
                </a:ext>
              </a:extLst>
            </p:cNvPr>
            <p:cNvSpPr/>
            <p:nvPr/>
          </p:nvSpPr>
          <p:spPr>
            <a:xfrm>
              <a:off x="3464450" y="3287480"/>
              <a:ext cx="2365412" cy="1440160"/>
            </a:xfrm>
            <a:prstGeom prst="flowChartDecision">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zh-TW" altLang="en-US" sz="1600" dirty="0">
                  <a:latin typeface="微軟正黑體" panose="020B0604030504040204" pitchFamily="34" charset="-120"/>
                  <a:ea typeface="微軟正黑體" panose="020B0604030504040204" pitchFamily="34" charset="-120"/>
                </a:rPr>
                <a:t>是否有「否定進步性之因素」</a:t>
              </a:r>
            </a:p>
          </p:txBody>
        </p:sp>
        <p:sp>
          <p:nvSpPr>
            <p:cNvPr id="3" name="流程圖: 決策 2">
              <a:extLst>
                <a:ext uri="{FF2B5EF4-FFF2-40B4-BE49-F238E27FC236}">
                  <a16:creationId xmlns:a16="http://schemas.microsoft.com/office/drawing/2014/main" id="{036E3206-455A-56C7-61C3-88AC9915C2EA}"/>
                </a:ext>
              </a:extLst>
            </p:cNvPr>
            <p:cNvSpPr/>
            <p:nvPr/>
          </p:nvSpPr>
          <p:spPr>
            <a:xfrm>
              <a:off x="3476976" y="5230751"/>
              <a:ext cx="2365412" cy="1440160"/>
            </a:xfrm>
            <a:prstGeom prst="flowChartDecision">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zh-TW" altLang="en-US" sz="1600" dirty="0">
                  <a:latin typeface="微軟正黑體" panose="020B0604030504040204" pitchFamily="34" charset="-120"/>
                  <a:ea typeface="微軟正黑體" panose="020B0604030504040204" pitchFamily="34" charset="-120"/>
                </a:rPr>
                <a:t>是否有「肯定進步性之因素」</a:t>
              </a:r>
            </a:p>
          </p:txBody>
        </p:sp>
        <p:cxnSp>
          <p:nvCxnSpPr>
            <p:cNvPr id="8" name="直線單箭頭接點 7">
              <a:extLst>
                <a:ext uri="{FF2B5EF4-FFF2-40B4-BE49-F238E27FC236}">
                  <a16:creationId xmlns:a16="http://schemas.microsoft.com/office/drawing/2014/main" id="{9BF32DDA-DDCD-A813-3BBD-F605C178DB68}"/>
                </a:ext>
              </a:extLst>
            </p:cNvPr>
            <p:cNvCxnSpPr>
              <a:cxnSpLocks/>
            </p:cNvCxnSpPr>
            <p:nvPr/>
          </p:nvCxnSpPr>
          <p:spPr>
            <a:xfrm>
              <a:off x="4631482" y="2783424"/>
              <a:ext cx="3148" cy="504056"/>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9" name="直線單箭頭接點 8">
              <a:extLst>
                <a:ext uri="{FF2B5EF4-FFF2-40B4-BE49-F238E27FC236}">
                  <a16:creationId xmlns:a16="http://schemas.microsoft.com/office/drawing/2014/main" id="{679D42FF-FE01-321D-9467-85A8BBBA4023}"/>
                </a:ext>
              </a:extLst>
            </p:cNvPr>
            <p:cNvCxnSpPr/>
            <p:nvPr/>
          </p:nvCxnSpPr>
          <p:spPr>
            <a:xfrm>
              <a:off x="4641826" y="4727640"/>
              <a:ext cx="3148" cy="504056"/>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11" name="文字方塊 10">
              <a:extLst>
                <a:ext uri="{FF2B5EF4-FFF2-40B4-BE49-F238E27FC236}">
                  <a16:creationId xmlns:a16="http://schemas.microsoft.com/office/drawing/2014/main" id="{9620CA01-56C9-B45E-8840-16BB518EB9C0}"/>
                </a:ext>
              </a:extLst>
            </p:cNvPr>
            <p:cNvSpPr txBox="1"/>
            <p:nvPr/>
          </p:nvSpPr>
          <p:spPr>
            <a:xfrm>
              <a:off x="3910544" y="2121679"/>
              <a:ext cx="1487616" cy="663687"/>
            </a:xfrm>
            <a:prstGeom prst="rect">
              <a:avLst/>
            </a:prstGeom>
            <a:ln/>
          </p:spPr>
          <p:style>
            <a:lnRef idx="2">
              <a:schemeClr val="dk1"/>
            </a:lnRef>
            <a:fillRef idx="1">
              <a:schemeClr val="lt1"/>
            </a:fillRef>
            <a:effectRef idx="0">
              <a:schemeClr val="dk1"/>
            </a:effectRef>
            <a:fontRef idx="minor">
              <a:schemeClr val="dk1"/>
            </a:fontRef>
          </p:style>
          <p:txBody>
            <a:bodyPr wrap="square">
              <a:spAutoFit/>
            </a:bodyPr>
            <a:lstStyle/>
            <a:p>
              <a:pPr algn="ctr"/>
              <a:r>
                <a:rPr lang="zh-TW" altLang="en-US" dirty="0">
                  <a:latin typeface="微軟正黑體" panose="020B0604030504040204" pitchFamily="34" charset="-120"/>
                  <a:ea typeface="微軟正黑體" panose="020B0604030504040204" pitchFamily="34" charset="-120"/>
                </a:rPr>
                <a:t>建立不具進步性之論理</a:t>
              </a:r>
            </a:p>
          </p:txBody>
        </p:sp>
        <p:sp>
          <p:nvSpPr>
            <p:cNvPr id="14" name="文字方塊 13">
              <a:extLst>
                <a:ext uri="{FF2B5EF4-FFF2-40B4-BE49-F238E27FC236}">
                  <a16:creationId xmlns:a16="http://schemas.microsoft.com/office/drawing/2014/main" id="{F461A1C9-1973-03AB-1FD5-10B4F29C4DDE}"/>
                </a:ext>
              </a:extLst>
            </p:cNvPr>
            <p:cNvSpPr txBox="1"/>
            <p:nvPr/>
          </p:nvSpPr>
          <p:spPr>
            <a:xfrm>
              <a:off x="6660232" y="5760890"/>
              <a:ext cx="1487616" cy="369332"/>
            </a:xfrm>
            <a:prstGeom prst="rect">
              <a:avLst/>
            </a:prstGeom>
            <a:ln/>
          </p:spPr>
          <p:style>
            <a:lnRef idx="2">
              <a:schemeClr val="dk1"/>
            </a:lnRef>
            <a:fillRef idx="1">
              <a:schemeClr val="lt1"/>
            </a:fillRef>
            <a:effectRef idx="0">
              <a:schemeClr val="dk1"/>
            </a:effectRef>
            <a:fontRef idx="minor">
              <a:schemeClr val="dk1"/>
            </a:fontRef>
          </p:style>
          <p:txBody>
            <a:bodyPr wrap="square">
              <a:spAutoFit/>
            </a:bodyPr>
            <a:lstStyle/>
            <a:p>
              <a:pPr algn="ctr"/>
              <a:r>
                <a:rPr lang="zh-TW" altLang="en-US" dirty="0">
                  <a:latin typeface="微軟正黑體" panose="020B0604030504040204" pitchFamily="34" charset="-120"/>
                  <a:ea typeface="微軟正黑體" panose="020B0604030504040204" pitchFamily="34" charset="-120"/>
                </a:rPr>
                <a:t>不具進步性</a:t>
              </a:r>
            </a:p>
          </p:txBody>
        </p:sp>
        <p:sp>
          <p:nvSpPr>
            <p:cNvPr id="15" name="文字方塊 14">
              <a:extLst>
                <a:ext uri="{FF2B5EF4-FFF2-40B4-BE49-F238E27FC236}">
                  <a16:creationId xmlns:a16="http://schemas.microsoft.com/office/drawing/2014/main" id="{1983FAEC-9075-4432-1B6D-893CE4ECDA9E}"/>
                </a:ext>
              </a:extLst>
            </p:cNvPr>
            <p:cNvSpPr txBox="1"/>
            <p:nvPr/>
          </p:nvSpPr>
          <p:spPr>
            <a:xfrm>
              <a:off x="1020048" y="5760890"/>
              <a:ext cx="1487616" cy="369332"/>
            </a:xfrm>
            <a:prstGeom prst="rect">
              <a:avLst/>
            </a:prstGeom>
            <a:ln/>
          </p:spPr>
          <p:style>
            <a:lnRef idx="2">
              <a:schemeClr val="dk1"/>
            </a:lnRef>
            <a:fillRef idx="1">
              <a:schemeClr val="lt1"/>
            </a:fillRef>
            <a:effectRef idx="0">
              <a:schemeClr val="dk1"/>
            </a:effectRef>
            <a:fontRef idx="minor">
              <a:schemeClr val="dk1"/>
            </a:fontRef>
          </p:style>
          <p:txBody>
            <a:bodyPr wrap="square">
              <a:spAutoFit/>
            </a:bodyPr>
            <a:lstStyle/>
            <a:p>
              <a:pPr algn="ctr"/>
              <a:r>
                <a:rPr lang="zh-TW" altLang="en-US" dirty="0">
                  <a:latin typeface="微軟正黑體" panose="020B0604030504040204" pitchFamily="34" charset="-120"/>
                  <a:ea typeface="微軟正黑體" panose="020B0604030504040204" pitchFamily="34" charset="-120"/>
                </a:rPr>
                <a:t>具進步性</a:t>
              </a:r>
            </a:p>
          </p:txBody>
        </p:sp>
        <p:cxnSp>
          <p:nvCxnSpPr>
            <p:cNvPr id="17" name="直線單箭頭接點 16">
              <a:extLst>
                <a:ext uri="{FF2B5EF4-FFF2-40B4-BE49-F238E27FC236}">
                  <a16:creationId xmlns:a16="http://schemas.microsoft.com/office/drawing/2014/main" id="{185DCBAA-7D23-896E-01AF-D3310827F90C}"/>
                </a:ext>
              </a:extLst>
            </p:cNvPr>
            <p:cNvCxnSpPr>
              <a:stCxn id="3" idx="3"/>
              <a:endCxn id="14" idx="1"/>
            </p:cNvCxnSpPr>
            <p:nvPr/>
          </p:nvCxnSpPr>
          <p:spPr>
            <a:xfrm flipV="1">
              <a:off x="5842388" y="5945556"/>
              <a:ext cx="817844" cy="5275"/>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a:extLst>
                <a:ext uri="{FF2B5EF4-FFF2-40B4-BE49-F238E27FC236}">
                  <a16:creationId xmlns:a16="http://schemas.microsoft.com/office/drawing/2014/main" id="{83D5A5EE-F497-4793-E41C-364C4CB3F9E3}"/>
                </a:ext>
              </a:extLst>
            </p:cNvPr>
            <p:cNvCxnSpPr>
              <a:cxnSpLocks/>
              <a:stCxn id="3" idx="1"/>
              <a:endCxn id="15" idx="3"/>
            </p:cNvCxnSpPr>
            <p:nvPr/>
          </p:nvCxnSpPr>
          <p:spPr>
            <a:xfrm flipH="1" flipV="1">
              <a:off x="2507664" y="5945556"/>
              <a:ext cx="969312" cy="5275"/>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22" name="接點: 肘形 21">
              <a:extLst>
                <a:ext uri="{FF2B5EF4-FFF2-40B4-BE49-F238E27FC236}">
                  <a16:creationId xmlns:a16="http://schemas.microsoft.com/office/drawing/2014/main" id="{ACF5B464-3F3D-DEB7-29B8-A80D3E02A427}"/>
                </a:ext>
              </a:extLst>
            </p:cNvPr>
            <p:cNvCxnSpPr>
              <a:cxnSpLocks/>
              <a:stCxn id="2" idx="1"/>
              <a:endCxn id="15" idx="0"/>
            </p:cNvCxnSpPr>
            <p:nvPr/>
          </p:nvCxnSpPr>
          <p:spPr>
            <a:xfrm rot="10800000" flipV="1">
              <a:off x="1763856" y="4007560"/>
              <a:ext cx="1700594" cy="1753330"/>
            </a:xfrm>
            <a:prstGeom prst="bentConnector2">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24" name="文字方塊 23">
              <a:extLst>
                <a:ext uri="{FF2B5EF4-FFF2-40B4-BE49-F238E27FC236}">
                  <a16:creationId xmlns:a16="http://schemas.microsoft.com/office/drawing/2014/main" id="{A1833737-5793-73FB-F330-FE605ADB8060}"/>
                </a:ext>
              </a:extLst>
            </p:cNvPr>
            <p:cNvSpPr txBox="1"/>
            <p:nvPr/>
          </p:nvSpPr>
          <p:spPr>
            <a:xfrm>
              <a:off x="3042102" y="4149460"/>
              <a:ext cx="485800" cy="369332"/>
            </a:xfrm>
            <a:prstGeom prst="rect">
              <a:avLst/>
            </a:prstGeom>
            <a:noFill/>
          </p:spPr>
          <p:txBody>
            <a:bodyPr wrap="square">
              <a:spAutoFit/>
            </a:bodyPr>
            <a:lstStyle/>
            <a:p>
              <a:r>
                <a:rPr lang="zh-TW" altLang="en-US" sz="1800" dirty="0">
                  <a:latin typeface="微軟正黑體" panose="020B0604030504040204" pitchFamily="34" charset="-120"/>
                  <a:ea typeface="微軟正黑體" panose="020B0604030504040204" pitchFamily="34" charset="-120"/>
                </a:rPr>
                <a:t>否</a:t>
              </a:r>
              <a:endParaRPr lang="zh-TW" altLang="en-US" dirty="0"/>
            </a:p>
          </p:txBody>
        </p:sp>
        <p:sp>
          <p:nvSpPr>
            <p:cNvPr id="25" name="文字方塊 24">
              <a:extLst>
                <a:ext uri="{FF2B5EF4-FFF2-40B4-BE49-F238E27FC236}">
                  <a16:creationId xmlns:a16="http://schemas.microsoft.com/office/drawing/2014/main" id="{9F56306E-191B-61F0-641B-13E1626F4A2A}"/>
                </a:ext>
              </a:extLst>
            </p:cNvPr>
            <p:cNvSpPr txBox="1"/>
            <p:nvPr/>
          </p:nvSpPr>
          <p:spPr>
            <a:xfrm>
              <a:off x="5765510" y="5513406"/>
              <a:ext cx="485800" cy="369332"/>
            </a:xfrm>
            <a:prstGeom prst="rect">
              <a:avLst/>
            </a:prstGeom>
            <a:noFill/>
          </p:spPr>
          <p:txBody>
            <a:bodyPr wrap="square">
              <a:spAutoFit/>
            </a:bodyPr>
            <a:lstStyle/>
            <a:p>
              <a:r>
                <a:rPr lang="zh-TW" altLang="en-US" sz="1800" dirty="0">
                  <a:latin typeface="微軟正黑體" panose="020B0604030504040204" pitchFamily="34" charset="-120"/>
                  <a:ea typeface="微軟正黑體" panose="020B0604030504040204" pitchFamily="34" charset="-120"/>
                </a:rPr>
                <a:t>否</a:t>
              </a:r>
              <a:endParaRPr lang="zh-TW" altLang="en-US" dirty="0"/>
            </a:p>
          </p:txBody>
        </p:sp>
        <p:sp>
          <p:nvSpPr>
            <p:cNvPr id="26" name="文字方塊 25">
              <a:extLst>
                <a:ext uri="{FF2B5EF4-FFF2-40B4-BE49-F238E27FC236}">
                  <a16:creationId xmlns:a16="http://schemas.microsoft.com/office/drawing/2014/main" id="{89174222-9616-2128-3A1E-313D6FE272A3}"/>
                </a:ext>
              </a:extLst>
            </p:cNvPr>
            <p:cNvSpPr txBox="1"/>
            <p:nvPr/>
          </p:nvSpPr>
          <p:spPr>
            <a:xfrm>
              <a:off x="3042102" y="5504196"/>
              <a:ext cx="485800" cy="369332"/>
            </a:xfrm>
            <a:prstGeom prst="rect">
              <a:avLst/>
            </a:prstGeom>
            <a:noFill/>
          </p:spPr>
          <p:txBody>
            <a:bodyPr wrap="square">
              <a:spAutoFit/>
            </a:bodyPr>
            <a:lstStyle/>
            <a:p>
              <a:r>
                <a:rPr lang="zh-TW" altLang="en-US" dirty="0">
                  <a:latin typeface="微軟正黑體" panose="020B0604030504040204" pitchFamily="34" charset="-120"/>
                  <a:ea typeface="微軟正黑體" panose="020B0604030504040204" pitchFamily="34" charset="-120"/>
                </a:rPr>
                <a:t>是</a:t>
              </a:r>
            </a:p>
          </p:txBody>
        </p:sp>
        <p:sp>
          <p:nvSpPr>
            <p:cNvPr id="30" name="文字方塊 29">
              <a:extLst>
                <a:ext uri="{FF2B5EF4-FFF2-40B4-BE49-F238E27FC236}">
                  <a16:creationId xmlns:a16="http://schemas.microsoft.com/office/drawing/2014/main" id="{A9AC4733-A9A9-41B6-5F36-40604E2EF9F7}"/>
                </a:ext>
              </a:extLst>
            </p:cNvPr>
            <p:cNvSpPr txBox="1"/>
            <p:nvPr/>
          </p:nvSpPr>
          <p:spPr>
            <a:xfrm>
              <a:off x="4703043" y="4699559"/>
              <a:ext cx="485800" cy="369332"/>
            </a:xfrm>
            <a:prstGeom prst="rect">
              <a:avLst/>
            </a:prstGeom>
            <a:noFill/>
          </p:spPr>
          <p:txBody>
            <a:bodyPr wrap="square">
              <a:spAutoFit/>
            </a:bodyPr>
            <a:lstStyle/>
            <a:p>
              <a:r>
                <a:rPr lang="zh-TW" altLang="en-US" dirty="0">
                  <a:latin typeface="微軟正黑體" panose="020B0604030504040204" pitchFamily="34" charset="-120"/>
                  <a:ea typeface="微軟正黑體" panose="020B0604030504040204" pitchFamily="34" charset="-120"/>
                </a:rPr>
                <a:t>是</a:t>
              </a:r>
            </a:p>
          </p:txBody>
        </p:sp>
      </p:grpSp>
      <p:grpSp>
        <p:nvGrpSpPr>
          <p:cNvPr id="40" name="群組 39">
            <a:extLst>
              <a:ext uri="{FF2B5EF4-FFF2-40B4-BE49-F238E27FC236}">
                <a16:creationId xmlns:a16="http://schemas.microsoft.com/office/drawing/2014/main" id="{2D1F3A01-A199-BD71-539C-410E2F1D9465}"/>
              </a:ext>
            </a:extLst>
          </p:cNvPr>
          <p:cNvGrpSpPr/>
          <p:nvPr/>
        </p:nvGrpSpPr>
        <p:grpSpPr>
          <a:xfrm>
            <a:off x="191038" y="1750109"/>
            <a:ext cx="3252196" cy="2072784"/>
            <a:chOff x="191038" y="1750109"/>
            <a:chExt cx="3156826" cy="2072784"/>
          </a:xfrm>
        </p:grpSpPr>
        <p:sp>
          <p:nvSpPr>
            <p:cNvPr id="36" name="AutoShape 196">
              <a:extLst>
                <a:ext uri="{FF2B5EF4-FFF2-40B4-BE49-F238E27FC236}">
                  <a16:creationId xmlns:a16="http://schemas.microsoft.com/office/drawing/2014/main" id="{C4A77C56-A59F-9CDA-34C6-9C13C060F525}"/>
                </a:ext>
              </a:extLst>
            </p:cNvPr>
            <p:cNvSpPr>
              <a:spLocks noChangeArrowheads="1"/>
            </p:cNvSpPr>
            <p:nvPr/>
          </p:nvSpPr>
          <p:spPr bwMode="auto">
            <a:xfrm>
              <a:off x="240172" y="2081718"/>
              <a:ext cx="3060606" cy="1741175"/>
            </a:xfrm>
            <a:prstGeom prst="roundRect">
              <a:avLst>
                <a:gd name="adj" fmla="val 3727"/>
              </a:avLst>
            </a:prstGeom>
            <a:solidFill>
              <a:schemeClr val="bg1">
                <a:alpha val="50000"/>
              </a:schemeClr>
            </a:solidFill>
            <a:ln w="9525">
              <a:noFill/>
              <a:round/>
              <a:headEnd/>
              <a:tailEnd/>
            </a:ln>
            <a:effectLst>
              <a:outerShdw blurRad="50800" dist="38100" dir="5400000" algn="t" rotWithShape="0">
                <a:prstClr val="black">
                  <a:alpha val="40000"/>
                </a:prstClr>
              </a:outerShdw>
            </a:effectLst>
          </p:spPr>
          <p:txBody>
            <a:bodyPr wrap="none" lIns="91425" tIns="45713" rIns="91425" bIns="45713" anchor="ctr"/>
            <a:lstStyle/>
            <a:p>
              <a:pPr algn="ctr">
                <a:lnSpc>
                  <a:spcPct val="140000"/>
                </a:lnSpc>
                <a:buClr>
                  <a:schemeClr val="bg1"/>
                </a:buClr>
                <a:defRPr/>
              </a:pPr>
              <a:endParaRPr lang="zh-CN" altLang="zh-CN" sz="8800" b="1">
                <a:solidFill>
                  <a:srgbClr val="FFFF00"/>
                </a:solidFill>
                <a:latin typeface="微軟正黑體" panose="020B0604030504040204" pitchFamily="34" charset="-120"/>
                <a:ea typeface="微軟正黑體" panose="020B0604030504040204" pitchFamily="34" charset="-120"/>
              </a:endParaRPr>
            </a:p>
          </p:txBody>
        </p:sp>
        <p:sp>
          <p:nvSpPr>
            <p:cNvPr id="37" name="AutoShape 182">
              <a:extLst>
                <a:ext uri="{FF2B5EF4-FFF2-40B4-BE49-F238E27FC236}">
                  <a16:creationId xmlns:a16="http://schemas.microsoft.com/office/drawing/2014/main" id="{54D78998-77B7-655C-CD53-DFCA97E77DEC}"/>
                </a:ext>
              </a:extLst>
            </p:cNvPr>
            <p:cNvSpPr>
              <a:spLocks noChangeArrowheads="1"/>
            </p:cNvSpPr>
            <p:nvPr/>
          </p:nvSpPr>
          <p:spPr bwMode="auto">
            <a:xfrm>
              <a:off x="191038" y="1750109"/>
              <a:ext cx="3156826" cy="317609"/>
            </a:xfrm>
            <a:prstGeom prst="roundRect">
              <a:avLst>
                <a:gd name="adj" fmla="val 9028"/>
              </a:avLst>
            </a:prstGeom>
            <a:ln>
              <a:headEnd/>
              <a:tailEnd/>
            </a:ln>
          </p:spPr>
          <p:style>
            <a:lnRef idx="1">
              <a:schemeClr val="accent3"/>
            </a:lnRef>
            <a:fillRef idx="2">
              <a:schemeClr val="accent3"/>
            </a:fillRef>
            <a:effectRef idx="1">
              <a:schemeClr val="accent3"/>
            </a:effectRef>
            <a:fontRef idx="minor">
              <a:schemeClr val="dk1"/>
            </a:fontRef>
          </p:style>
          <p:txBody>
            <a:bodyPr wrap="none" lIns="91425" tIns="45713" rIns="91425" bIns="45713" anchor="ctr"/>
            <a:lstStyle/>
            <a:p>
              <a:pPr algn="ctr">
                <a:lnSpc>
                  <a:spcPct val="140000"/>
                </a:lnSpc>
                <a:buClr>
                  <a:schemeClr val="bg1"/>
                </a:buClr>
                <a:defRPr/>
              </a:pPr>
              <a:r>
                <a:rPr lang="zh-TW" altLang="en-US" sz="1600" dirty="0">
                  <a:latin typeface="微軟正黑體" panose="020B0604030504040204" pitchFamily="34" charset="-120"/>
                  <a:ea typeface="微軟正黑體" panose="020B0604030504040204" pitchFamily="34" charset="-120"/>
                </a:rPr>
                <a:t>肯定進步性之因素</a:t>
              </a:r>
              <a:endParaRPr lang="zh-CN" altLang="zh-CN" sz="1600" b="1" dirty="0">
                <a:solidFill>
                  <a:srgbClr val="FFFF00"/>
                </a:solidFill>
                <a:latin typeface="微軟正黑體" panose="020B0604030504040204" pitchFamily="34" charset="-120"/>
                <a:ea typeface="微軟正黑體" panose="020B0604030504040204" pitchFamily="34" charset="-120"/>
              </a:endParaRPr>
            </a:p>
          </p:txBody>
        </p:sp>
        <p:sp>
          <p:nvSpPr>
            <p:cNvPr id="38" name="Text Box 228">
              <a:extLst>
                <a:ext uri="{FF2B5EF4-FFF2-40B4-BE49-F238E27FC236}">
                  <a16:creationId xmlns:a16="http://schemas.microsoft.com/office/drawing/2014/main" id="{A3EE9B8B-0E2A-C89F-50B9-7F429517F9E6}"/>
                </a:ext>
              </a:extLst>
            </p:cNvPr>
            <p:cNvSpPr txBox="1">
              <a:spLocks noChangeArrowheads="1"/>
            </p:cNvSpPr>
            <p:nvPr/>
          </p:nvSpPr>
          <p:spPr bwMode="auto">
            <a:xfrm>
              <a:off x="323528" y="2121679"/>
              <a:ext cx="2977249" cy="1677033"/>
            </a:xfrm>
            <a:prstGeom prst="rect">
              <a:avLst/>
            </a:prstGeom>
            <a:noFill/>
            <a:ln w="9525">
              <a:noFill/>
              <a:miter lim="800000"/>
              <a:headEnd/>
              <a:tailEnd/>
            </a:ln>
          </p:spPr>
          <p:txBody>
            <a:bodyPr wrap="square" lIns="0" tIns="0" rIns="0" bIns="0">
              <a:noAutofit/>
            </a:bodyPr>
            <a:lstStyle/>
            <a:p>
              <a:pPr marL="285750" indent="-285750">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反向教示</a:t>
              </a:r>
              <a:endParaRPr lang="en-US" altLang="zh-TW" sz="1600"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有利功效</a:t>
              </a:r>
              <a:endParaRPr lang="en-US" altLang="zh-TW" sz="1600"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輔助性判斷因素</a:t>
              </a:r>
              <a:endParaRPr lang="en-US" altLang="zh-TW" sz="1600" dirty="0">
                <a:latin typeface="微軟正黑體" panose="020B0604030504040204" pitchFamily="34" charset="-120"/>
                <a:ea typeface="微軟正黑體" panose="020B0604030504040204" pitchFamily="34" charset="-120"/>
              </a:endParaRPr>
            </a:p>
            <a:p>
              <a:pPr marL="742950" lvl="1" indent="-285750">
                <a:buFont typeface="Wingdings" panose="05000000000000000000" pitchFamily="2" charset="2"/>
                <a:buChar char="ü"/>
              </a:pPr>
              <a:r>
                <a:rPr lang="zh-TW" altLang="en-US" sz="1600" dirty="0">
                  <a:latin typeface="微軟正黑體" panose="020B0604030504040204" pitchFamily="34" charset="-120"/>
                  <a:ea typeface="微軟正黑體" panose="020B0604030504040204" pitchFamily="34" charset="-120"/>
                </a:rPr>
                <a:t>發明具有無法預期之功效</a:t>
              </a:r>
              <a:endParaRPr lang="en-US" altLang="zh-TW" sz="1600" dirty="0">
                <a:latin typeface="微軟正黑體" panose="020B0604030504040204" pitchFamily="34" charset="-120"/>
                <a:ea typeface="微軟正黑體" panose="020B0604030504040204" pitchFamily="34" charset="-120"/>
              </a:endParaRPr>
            </a:p>
            <a:p>
              <a:pPr marL="742950" lvl="1" indent="-285750">
                <a:buFont typeface="Wingdings" panose="05000000000000000000" pitchFamily="2" charset="2"/>
                <a:buChar char="ü"/>
              </a:pPr>
              <a:r>
                <a:rPr lang="zh-TW" altLang="en-US" sz="1600" dirty="0">
                  <a:latin typeface="微軟正黑體" panose="020B0604030504040204" pitchFamily="34" charset="-120"/>
                  <a:ea typeface="微軟正黑體" panose="020B0604030504040204" pitchFamily="34" charset="-120"/>
                </a:rPr>
                <a:t>發明解決長期存在的問題</a:t>
              </a:r>
              <a:endParaRPr lang="en-US" altLang="zh-TW" sz="1600" dirty="0">
                <a:latin typeface="微軟正黑體" panose="020B0604030504040204" pitchFamily="34" charset="-120"/>
                <a:ea typeface="微軟正黑體" panose="020B0604030504040204" pitchFamily="34" charset="-120"/>
              </a:endParaRPr>
            </a:p>
            <a:p>
              <a:pPr marL="742950" lvl="1" indent="-285750">
                <a:buFont typeface="Wingdings" panose="05000000000000000000" pitchFamily="2" charset="2"/>
                <a:buChar char="ü"/>
              </a:pPr>
              <a:r>
                <a:rPr lang="zh-TW" altLang="en-US" sz="1600" dirty="0">
                  <a:latin typeface="微軟正黑體" panose="020B0604030504040204" pitchFamily="34" charset="-120"/>
                  <a:ea typeface="微軟正黑體" panose="020B0604030504040204" pitchFamily="34" charset="-120"/>
                </a:rPr>
                <a:t>發明克服技術偏見</a:t>
              </a:r>
              <a:endParaRPr lang="en-US" altLang="zh-TW" sz="1600" dirty="0">
                <a:latin typeface="微軟正黑體" panose="020B0604030504040204" pitchFamily="34" charset="-120"/>
                <a:ea typeface="微軟正黑體" panose="020B0604030504040204" pitchFamily="34" charset="-120"/>
              </a:endParaRPr>
            </a:p>
            <a:p>
              <a:pPr marL="742950" lvl="1" indent="-285750">
                <a:buFont typeface="Wingdings" panose="05000000000000000000" pitchFamily="2" charset="2"/>
                <a:buChar char="ü"/>
              </a:pPr>
              <a:r>
                <a:rPr lang="zh-TW" altLang="en-US" sz="1600" dirty="0">
                  <a:latin typeface="微軟正黑體" panose="020B0604030504040204" pitchFamily="34" charset="-120"/>
                  <a:ea typeface="微軟正黑體" panose="020B0604030504040204" pitchFamily="34" charset="-120"/>
                </a:rPr>
                <a:t>發明獲得商業上的成功</a:t>
              </a:r>
              <a:endParaRPr lang="ko-KR" altLang="en-US" sz="1600" dirty="0">
                <a:latin typeface="微軟正黑體" panose="020B0604030504040204" pitchFamily="34" charset="-120"/>
                <a:ea typeface="微软雅黑" pitchFamily="34" charset="-122"/>
              </a:endParaRPr>
            </a:p>
          </p:txBody>
        </p:sp>
      </p:grpSp>
      <p:grpSp>
        <p:nvGrpSpPr>
          <p:cNvPr id="41" name="群組 40">
            <a:extLst>
              <a:ext uri="{FF2B5EF4-FFF2-40B4-BE49-F238E27FC236}">
                <a16:creationId xmlns:a16="http://schemas.microsoft.com/office/drawing/2014/main" id="{9909D723-38A4-AF55-593E-94FB3A07326B}"/>
              </a:ext>
            </a:extLst>
          </p:cNvPr>
          <p:cNvGrpSpPr/>
          <p:nvPr/>
        </p:nvGrpSpPr>
        <p:grpSpPr>
          <a:xfrm>
            <a:off x="5696552" y="1750109"/>
            <a:ext cx="3252196" cy="2072784"/>
            <a:chOff x="191038" y="1750109"/>
            <a:chExt cx="3156826" cy="2072784"/>
          </a:xfrm>
        </p:grpSpPr>
        <p:sp>
          <p:nvSpPr>
            <p:cNvPr id="42" name="AutoShape 196">
              <a:extLst>
                <a:ext uri="{FF2B5EF4-FFF2-40B4-BE49-F238E27FC236}">
                  <a16:creationId xmlns:a16="http://schemas.microsoft.com/office/drawing/2014/main" id="{D7D86613-7327-EA4B-8520-9846414FE5FE}"/>
                </a:ext>
              </a:extLst>
            </p:cNvPr>
            <p:cNvSpPr>
              <a:spLocks noChangeArrowheads="1"/>
            </p:cNvSpPr>
            <p:nvPr/>
          </p:nvSpPr>
          <p:spPr bwMode="auto">
            <a:xfrm>
              <a:off x="240172" y="2081718"/>
              <a:ext cx="3060606" cy="1741175"/>
            </a:xfrm>
            <a:prstGeom prst="roundRect">
              <a:avLst>
                <a:gd name="adj" fmla="val 3727"/>
              </a:avLst>
            </a:prstGeom>
            <a:solidFill>
              <a:schemeClr val="bg1">
                <a:alpha val="50000"/>
              </a:schemeClr>
            </a:solidFill>
            <a:ln w="9525">
              <a:noFill/>
              <a:round/>
              <a:headEnd/>
              <a:tailEnd/>
            </a:ln>
            <a:effectLst>
              <a:outerShdw blurRad="50800" dist="38100" dir="5400000" algn="t" rotWithShape="0">
                <a:prstClr val="black">
                  <a:alpha val="40000"/>
                </a:prstClr>
              </a:outerShdw>
            </a:effectLst>
          </p:spPr>
          <p:txBody>
            <a:bodyPr wrap="none" lIns="91425" tIns="45713" rIns="91425" bIns="45713" anchor="ctr"/>
            <a:lstStyle/>
            <a:p>
              <a:pPr algn="ctr">
                <a:lnSpc>
                  <a:spcPct val="140000"/>
                </a:lnSpc>
                <a:buClr>
                  <a:schemeClr val="bg1"/>
                </a:buClr>
                <a:defRPr/>
              </a:pPr>
              <a:endParaRPr lang="zh-CN" altLang="zh-CN" sz="8800" b="1">
                <a:solidFill>
                  <a:srgbClr val="FFFF00"/>
                </a:solidFill>
                <a:latin typeface="微軟正黑體" panose="020B0604030504040204" pitchFamily="34" charset="-120"/>
                <a:ea typeface="微軟正黑體" panose="020B0604030504040204" pitchFamily="34" charset="-120"/>
              </a:endParaRPr>
            </a:p>
          </p:txBody>
        </p:sp>
        <p:sp>
          <p:nvSpPr>
            <p:cNvPr id="43" name="AutoShape 182">
              <a:extLst>
                <a:ext uri="{FF2B5EF4-FFF2-40B4-BE49-F238E27FC236}">
                  <a16:creationId xmlns:a16="http://schemas.microsoft.com/office/drawing/2014/main" id="{C8F581AF-49EF-DF46-FAA0-5FB85C5B4E3B}"/>
                </a:ext>
              </a:extLst>
            </p:cNvPr>
            <p:cNvSpPr>
              <a:spLocks noChangeArrowheads="1"/>
            </p:cNvSpPr>
            <p:nvPr/>
          </p:nvSpPr>
          <p:spPr bwMode="auto">
            <a:xfrm>
              <a:off x="191038" y="1750109"/>
              <a:ext cx="3156826" cy="317609"/>
            </a:xfrm>
            <a:prstGeom prst="roundRect">
              <a:avLst>
                <a:gd name="adj" fmla="val 9028"/>
              </a:avLst>
            </a:prstGeom>
            <a:ln>
              <a:headEnd/>
              <a:tailEnd/>
            </a:ln>
          </p:spPr>
          <p:style>
            <a:lnRef idx="1">
              <a:schemeClr val="accent2"/>
            </a:lnRef>
            <a:fillRef idx="2">
              <a:schemeClr val="accent2"/>
            </a:fillRef>
            <a:effectRef idx="1">
              <a:schemeClr val="accent2"/>
            </a:effectRef>
            <a:fontRef idx="minor">
              <a:schemeClr val="dk1"/>
            </a:fontRef>
          </p:style>
          <p:txBody>
            <a:bodyPr wrap="none" lIns="91425" tIns="45713" rIns="91425" bIns="45713" anchor="ctr"/>
            <a:lstStyle/>
            <a:p>
              <a:pPr algn="ctr">
                <a:lnSpc>
                  <a:spcPct val="140000"/>
                </a:lnSpc>
                <a:buClr>
                  <a:schemeClr val="bg1"/>
                </a:buClr>
                <a:defRPr/>
              </a:pPr>
              <a:r>
                <a:rPr lang="zh-TW" altLang="en-US" sz="1600" dirty="0">
                  <a:latin typeface="微軟正黑體" panose="020B0604030504040204" pitchFamily="34" charset="-120"/>
                  <a:ea typeface="微軟正黑體" panose="020B0604030504040204" pitchFamily="34" charset="-120"/>
                </a:rPr>
                <a:t>否定進步性之因素</a:t>
              </a:r>
              <a:endParaRPr lang="zh-CN" altLang="zh-CN" sz="1600" b="1" dirty="0">
                <a:solidFill>
                  <a:srgbClr val="FFFF00"/>
                </a:solidFill>
                <a:latin typeface="微軟正黑體" panose="020B0604030504040204" pitchFamily="34" charset="-120"/>
                <a:ea typeface="微軟正黑體" panose="020B0604030504040204" pitchFamily="34" charset="-120"/>
              </a:endParaRPr>
            </a:p>
          </p:txBody>
        </p:sp>
        <p:sp>
          <p:nvSpPr>
            <p:cNvPr id="44" name="Text Box 228">
              <a:extLst>
                <a:ext uri="{FF2B5EF4-FFF2-40B4-BE49-F238E27FC236}">
                  <a16:creationId xmlns:a16="http://schemas.microsoft.com/office/drawing/2014/main" id="{A761FF0D-459C-8ECC-CB88-8A0DF0F531D7}"/>
                </a:ext>
              </a:extLst>
            </p:cNvPr>
            <p:cNvSpPr txBox="1">
              <a:spLocks noChangeArrowheads="1"/>
            </p:cNvSpPr>
            <p:nvPr/>
          </p:nvSpPr>
          <p:spPr bwMode="auto">
            <a:xfrm>
              <a:off x="323528" y="2121679"/>
              <a:ext cx="2977249" cy="1677033"/>
            </a:xfrm>
            <a:prstGeom prst="rect">
              <a:avLst/>
            </a:prstGeom>
            <a:noFill/>
            <a:ln w="9525">
              <a:noFill/>
              <a:miter lim="800000"/>
              <a:headEnd/>
              <a:tailEnd/>
            </a:ln>
          </p:spPr>
          <p:txBody>
            <a:bodyPr wrap="square" lIns="0" tIns="0" rIns="0" bIns="0">
              <a:noAutofit/>
            </a:bodyPr>
            <a:lstStyle/>
            <a:p>
              <a:pPr marL="285750" indent="-285750">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有動機能結合複數引證</a:t>
              </a:r>
              <a:endParaRPr lang="en-US" altLang="zh-TW" sz="1600" dirty="0">
                <a:latin typeface="微軟正黑體" panose="020B0604030504040204" pitchFamily="34" charset="-120"/>
                <a:ea typeface="微軟正黑體" panose="020B0604030504040204" pitchFamily="34" charset="-120"/>
              </a:endParaRPr>
            </a:p>
            <a:p>
              <a:pPr marL="742950" lvl="1" indent="-285750">
                <a:buFont typeface="Wingdings" panose="05000000000000000000" pitchFamily="2" charset="2"/>
                <a:buChar char="ü"/>
              </a:pPr>
              <a:r>
                <a:rPr lang="zh-TW" altLang="en-US" sz="1600" dirty="0">
                  <a:latin typeface="微軟正黑體" panose="020B0604030504040204" pitchFamily="34" charset="-120"/>
                  <a:ea typeface="微軟正黑體" panose="020B0604030504040204" pitchFamily="34" charset="-120"/>
                </a:rPr>
                <a:t>技術領域之關連性</a:t>
              </a:r>
              <a:endParaRPr lang="en-US" altLang="zh-TW" sz="1600" dirty="0">
                <a:latin typeface="微軟正黑體" panose="020B0604030504040204" pitchFamily="34" charset="-120"/>
                <a:ea typeface="微軟正黑體" panose="020B0604030504040204" pitchFamily="34" charset="-120"/>
              </a:endParaRPr>
            </a:p>
            <a:p>
              <a:pPr marL="742950" lvl="1" indent="-285750">
                <a:buFont typeface="Wingdings" panose="05000000000000000000" pitchFamily="2" charset="2"/>
                <a:buChar char="ü"/>
              </a:pPr>
              <a:r>
                <a:rPr lang="zh-TW" altLang="en-US" sz="1600" dirty="0">
                  <a:latin typeface="微軟正黑體" panose="020B0604030504040204" pitchFamily="34" charset="-120"/>
                  <a:ea typeface="微軟正黑體" panose="020B0604030504040204" pitchFamily="34" charset="-120"/>
                </a:rPr>
                <a:t>所欲解決問題之共通性</a:t>
              </a:r>
              <a:endParaRPr lang="en-US" altLang="zh-TW" sz="1600" dirty="0">
                <a:latin typeface="微軟正黑體" panose="020B0604030504040204" pitchFamily="34" charset="-120"/>
                <a:ea typeface="微軟正黑體" panose="020B0604030504040204" pitchFamily="34" charset="-120"/>
              </a:endParaRPr>
            </a:p>
            <a:p>
              <a:pPr marL="742950" lvl="1" indent="-285750">
                <a:buFont typeface="Wingdings" panose="05000000000000000000" pitchFamily="2" charset="2"/>
                <a:buChar char="ü"/>
              </a:pPr>
              <a:r>
                <a:rPr lang="zh-TW" altLang="en-US" sz="1600" dirty="0">
                  <a:latin typeface="微軟正黑體" panose="020B0604030504040204" pitchFamily="34" charset="-120"/>
                  <a:ea typeface="微軟正黑體" panose="020B0604030504040204" pitchFamily="34" charset="-120"/>
                </a:rPr>
                <a:t>功能或作用之共通性</a:t>
              </a:r>
              <a:endParaRPr lang="en-US" altLang="zh-TW" sz="1600" dirty="0">
                <a:latin typeface="微軟正黑體" panose="020B0604030504040204" pitchFamily="34" charset="-120"/>
                <a:ea typeface="微軟正黑體" panose="020B0604030504040204" pitchFamily="34" charset="-120"/>
              </a:endParaRPr>
            </a:p>
            <a:p>
              <a:pPr marL="742950" lvl="1" indent="-285750">
                <a:buFont typeface="Wingdings" panose="05000000000000000000" pitchFamily="2" charset="2"/>
                <a:buChar char="ü"/>
              </a:pPr>
              <a:r>
                <a:rPr lang="zh-TW" altLang="en-US" sz="1600" dirty="0">
                  <a:latin typeface="微軟正黑體" panose="020B0604030504040204" pitchFamily="34" charset="-120"/>
                  <a:ea typeface="微軟正黑體" panose="020B0604030504040204" pitchFamily="34" charset="-120"/>
                </a:rPr>
                <a:t>教示或建議</a:t>
              </a:r>
              <a:endParaRPr lang="en-US" altLang="zh-TW" sz="1600"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簡單變更</a:t>
              </a:r>
              <a:endParaRPr lang="en-US" altLang="zh-TW" sz="1600"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單純拼湊 </a:t>
              </a:r>
              <a:endParaRPr lang="ko-KR" altLang="en-US" sz="1600" dirty="0">
                <a:latin typeface="微軟正黑體" panose="020B0604030504040204" pitchFamily="34" charset="-120"/>
                <a:ea typeface="微软雅黑" pitchFamily="34" charset="-122"/>
              </a:endParaRPr>
            </a:p>
          </p:txBody>
        </p:sp>
      </p:grpSp>
    </p:spTree>
    <p:extLst>
      <p:ext uri="{BB962C8B-B14F-4D97-AF65-F5344CB8AC3E}">
        <p14:creationId xmlns:p14="http://schemas.microsoft.com/office/powerpoint/2010/main" val="31577357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DE3E5D12-4A7C-4174-04B4-E44BB42ED13F}"/>
              </a:ext>
            </a:extLst>
          </p:cNvPr>
          <p:cNvSpPr>
            <a:spLocks noGrp="1"/>
          </p:cNvSpPr>
          <p:nvPr>
            <p:ph type="title"/>
          </p:nvPr>
        </p:nvSpPr>
        <p:spPr/>
        <p:txBody>
          <a:bodyPr/>
          <a:lstStyle/>
          <a:p>
            <a:r>
              <a:rPr lang="zh-TW" altLang="en-US" dirty="0"/>
              <a:t>進步性</a:t>
            </a:r>
            <a:r>
              <a:rPr lang="en-US" altLang="zh-TW" dirty="0"/>
              <a:t>-</a:t>
            </a:r>
            <a:r>
              <a:rPr lang="zh-TW" altLang="en-US" dirty="0"/>
              <a:t>否定進步性</a:t>
            </a:r>
          </a:p>
        </p:txBody>
      </p:sp>
      <p:sp>
        <p:nvSpPr>
          <p:cNvPr id="10" name="內容版面配置區 9">
            <a:extLst>
              <a:ext uri="{FF2B5EF4-FFF2-40B4-BE49-F238E27FC236}">
                <a16:creationId xmlns:a16="http://schemas.microsoft.com/office/drawing/2014/main" id="{B942D791-A400-700D-0362-EC57CF9F37C8}"/>
              </a:ext>
            </a:extLst>
          </p:cNvPr>
          <p:cNvSpPr>
            <a:spLocks noGrp="1"/>
          </p:cNvSpPr>
          <p:nvPr>
            <p:ph idx="1"/>
          </p:nvPr>
        </p:nvSpPr>
        <p:spPr>
          <a:xfrm>
            <a:off x="457200" y="980728"/>
            <a:ext cx="8229600" cy="3384376"/>
          </a:xfrm>
        </p:spPr>
        <p:txBody>
          <a:bodyPr>
            <a:normAutofit fontScale="70000" lnSpcReduction="20000"/>
          </a:bodyPr>
          <a:lstStyle/>
          <a:p>
            <a:r>
              <a:rPr lang="zh-TW" altLang="en-US" dirty="0"/>
              <a:t>有動機能結合複數引證</a:t>
            </a:r>
            <a:r>
              <a:rPr lang="zh-TW" altLang="en-US" sz="3100" dirty="0"/>
              <a:t>：</a:t>
            </a:r>
            <a:r>
              <a:rPr lang="zh-TW" altLang="en-US" sz="3100" b="1" dirty="0"/>
              <a:t>判斷主要引證之技術內容</a:t>
            </a:r>
            <a:r>
              <a:rPr lang="en-US" altLang="zh-TW" sz="3100" b="1" dirty="0"/>
              <a:t>A</a:t>
            </a:r>
            <a:r>
              <a:rPr lang="zh-TW" altLang="en-US" sz="3100" b="1" dirty="0"/>
              <a:t>與其他引證之技術內容</a:t>
            </a:r>
            <a:r>
              <a:rPr lang="en-US" altLang="zh-TW" sz="3100" b="1" dirty="0"/>
              <a:t>B</a:t>
            </a:r>
            <a:r>
              <a:rPr lang="zh-TW" altLang="en-US" sz="3100" b="1" dirty="0"/>
              <a:t>是否有動機能結合</a:t>
            </a:r>
            <a:endParaRPr lang="en-US" altLang="zh-TW" sz="3100" b="1" dirty="0"/>
          </a:p>
          <a:p>
            <a:pPr lvl="1"/>
            <a:r>
              <a:rPr lang="zh-TW" altLang="en-US" dirty="0"/>
              <a:t>技術領域之關連性</a:t>
            </a:r>
            <a:endParaRPr lang="en-US" altLang="zh-TW" dirty="0"/>
          </a:p>
          <a:p>
            <a:pPr lvl="2"/>
            <a:r>
              <a:rPr lang="zh-TW" altLang="en-US" dirty="0"/>
              <a:t>複數引證之技術內容的技術領域是否相同或相關予以判斷</a:t>
            </a:r>
            <a:endParaRPr lang="en-US" altLang="zh-TW" dirty="0"/>
          </a:p>
          <a:p>
            <a:pPr lvl="1"/>
            <a:r>
              <a:rPr lang="zh-TW" altLang="en-US" dirty="0"/>
              <a:t>所欲解決問題之共通性</a:t>
            </a:r>
            <a:endParaRPr lang="en-US" altLang="zh-TW" dirty="0"/>
          </a:p>
          <a:p>
            <a:pPr lvl="2"/>
            <a:r>
              <a:rPr lang="zh-TW" altLang="en-US" dirty="0"/>
              <a:t>複數引證之技術內容是否包含實質相同之所欲解決問題予以判斷</a:t>
            </a:r>
            <a:endParaRPr lang="en-US" altLang="zh-TW" dirty="0"/>
          </a:p>
          <a:p>
            <a:pPr lvl="1"/>
            <a:r>
              <a:rPr lang="zh-TW" altLang="en-US" dirty="0"/>
              <a:t>功能或作用之共通性</a:t>
            </a:r>
            <a:endParaRPr lang="en-US" altLang="zh-TW" dirty="0"/>
          </a:p>
          <a:p>
            <a:pPr lvl="2"/>
            <a:r>
              <a:rPr lang="zh-TW" altLang="en-US" dirty="0"/>
              <a:t>複數引證之技術內容是否包含實質相同之功能或作用予以判斷</a:t>
            </a:r>
            <a:endParaRPr lang="en-US" altLang="zh-TW" dirty="0"/>
          </a:p>
          <a:p>
            <a:pPr lvl="1"/>
            <a:r>
              <a:rPr lang="zh-TW" altLang="en-US" dirty="0"/>
              <a:t>教示或建議</a:t>
            </a:r>
            <a:endParaRPr lang="en-US" altLang="zh-TW" dirty="0"/>
          </a:p>
          <a:p>
            <a:pPr lvl="2"/>
            <a:r>
              <a:rPr lang="zh-TW" altLang="en-US" dirty="0"/>
              <a:t>若相關引證之技術內容中已明確記載或實質隱含結合不同引證之技術內容的教示或建議</a:t>
            </a:r>
          </a:p>
        </p:txBody>
      </p:sp>
      <p:sp>
        <p:nvSpPr>
          <p:cNvPr id="4" name="投影片編號版面配置區 3">
            <a:extLst>
              <a:ext uri="{FF2B5EF4-FFF2-40B4-BE49-F238E27FC236}">
                <a16:creationId xmlns:a16="http://schemas.microsoft.com/office/drawing/2014/main" id="{6FC7DF09-C58A-C465-986F-15725E792F06}"/>
              </a:ext>
            </a:extLst>
          </p:cNvPr>
          <p:cNvSpPr>
            <a:spLocks noGrp="1"/>
          </p:cNvSpPr>
          <p:nvPr>
            <p:ph type="sldNum" sz="quarter" idx="12"/>
          </p:nvPr>
        </p:nvSpPr>
        <p:spPr>
          <a:xfrm>
            <a:off x="6948264" y="6356350"/>
            <a:ext cx="2133600" cy="365125"/>
          </a:xfrm>
        </p:spPr>
        <p:txBody>
          <a:bodyPr/>
          <a:lstStyle/>
          <a:p>
            <a:fld id="{254D4C32-7A1A-45A5-84ED-81747F1ABFAE}" type="slidenum">
              <a:rPr lang="zh-TW" altLang="en-US" smtClean="0"/>
              <a:t>24</a:t>
            </a:fld>
            <a:endParaRPr lang="zh-TW" altLang="en-US" dirty="0"/>
          </a:p>
        </p:txBody>
      </p:sp>
      <p:sp>
        <p:nvSpPr>
          <p:cNvPr id="16" name="矩形 15">
            <a:extLst>
              <a:ext uri="{FF2B5EF4-FFF2-40B4-BE49-F238E27FC236}">
                <a16:creationId xmlns:a16="http://schemas.microsoft.com/office/drawing/2014/main" id="{6D710DFF-6B6A-0B0D-8DE0-9BE8E8FC92EE}"/>
              </a:ext>
            </a:extLst>
          </p:cNvPr>
          <p:cNvSpPr/>
          <p:nvPr/>
        </p:nvSpPr>
        <p:spPr>
          <a:xfrm>
            <a:off x="1619672" y="4471501"/>
            <a:ext cx="1440160" cy="123789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87313" algn="ctr"/>
            <a:r>
              <a:rPr lang="zh-TW" altLang="en-US" sz="1800" b="1" dirty="0">
                <a:latin typeface="微軟正黑體" panose="020B0604030504040204" pitchFamily="34" charset="-120"/>
                <a:ea typeface="微軟正黑體" panose="020B0604030504040204" pitchFamily="34" charset="-120"/>
              </a:rPr>
              <a:t>引證</a:t>
            </a:r>
            <a:r>
              <a:rPr lang="en-US" altLang="zh-TW" sz="1800" b="1" dirty="0">
                <a:latin typeface="微軟正黑體" panose="020B0604030504040204" pitchFamily="34" charset="-120"/>
                <a:ea typeface="微軟正黑體" panose="020B0604030504040204" pitchFamily="34" charset="-120"/>
              </a:rPr>
              <a:t>1</a:t>
            </a:r>
          </a:p>
          <a:p>
            <a:pPr marL="87313" algn="ctr"/>
            <a:r>
              <a:rPr lang="en-US" altLang="zh-TW" b="1" dirty="0">
                <a:latin typeface="微軟正黑體" panose="020B0604030504040204" pitchFamily="34" charset="-120"/>
                <a:ea typeface="微軟正黑體" panose="020B0604030504040204" pitchFamily="34" charset="-120"/>
              </a:rPr>
              <a:t>(</a:t>
            </a:r>
            <a:r>
              <a:rPr lang="zh-TW" altLang="en-US" b="1" dirty="0">
                <a:latin typeface="微軟正黑體" panose="020B0604030504040204" pitchFamily="34" charset="-120"/>
                <a:ea typeface="微軟正黑體" panose="020B0604030504040204" pitchFamily="34" charset="-120"/>
              </a:rPr>
              <a:t>主要引證</a:t>
            </a:r>
            <a:r>
              <a:rPr lang="en-US" altLang="zh-TW" b="1" dirty="0">
                <a:latin typeface="微軟正黑體" panose="020B0604030504040204" pitchFamily="34" charset="-120"/>
                <a:ea typeface="微軟正黑體" panose="020B0604030504040204" pitchFamily="34" charset="-120"/>
              </a:rPr>
              <a:t>)</a:t>
            </a:r>
            <a:endParaRPr lang="en-US" altLang="zh-TW" sz="1800" b="1" dirty="0">
              <a:latin typeface="微軟正黑體" panose="020B0604030504040204" pitchFamily="34" charset="-120"/>
              <a:ea typeface="微軟正黑體" panose="020B0604030504040204" pitchFamily="34" charset="-120"/>
            </a:endParaRPr>
          </a:p>
        </p:txBody>
      </p:sp>
      <p:sp>
        <p:nvSpPr>
          <p:cNvPr id="20" name="矩形 19">
            <a:extLst>
              <a:ext uri="{FF2B5EF4-FFF2-40B4-BE49-F238E27FC236}">
                <a16:creationId xmlns:a16="http://schemas.microsoft.com/office/drawing/2014/main" id="{F4496EAA-7612-7E4A-CF17-93A6AD53989B}"/>
              </a:ext>
            </a:extLst>
          </p:cNvPr>
          <p:cNvSpPr/>
          <p:nvPr/>
        </p:nvSpPr>
        <p:spPr>
          <a:xfrm>
            <a:off x="6579751" y="4445633"/>
            <a:ext cx="1440160" cy="123789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87313" algn="ctr"/>
            <a:r>
              <a:rPr lang="zh-TW" altLang="en-US" sz="1800" b="1" dirty="0">
                <a:latin typeface="微軟正黑體" panose="020B0604030504040204" pitchFamily="34" charset="-120"/>
                <a:ea typeface="微軟正黑體" panose="020B0604030504040204" pitchFamily="34" charset="-120"/>
              </a:rPr>
              <a:t>引證</a:t>
            </a:r>
            <a:r>
              <a:rPr lang="en-US" altLang="zh-TW" sz="1800" b="1" dirty="0">
                <a:latin typeface="微軟正黑體" panose="020B0604030504040204" pitchFamily="34" charset="-120"/>
                <a:ea typeface="微軟正黑體" panose="020B0604030504040204" pitchFamily="34" charset="-120"/>
              </a:rPr>
              <a:t>2</a:t>
            </a:r>
          </a:p>
          <a:p>
            <a:pPr marL="87313" algn="ctr"/>
            <a:r>
              <a:rPr lang="en-US" altLang="zh-TW" b="1" dirty="0">
                <a:latin typeface="微軟正黑體" panose="020B0604030504040204" pitchFamily="34" charset="-120"/>
                <a:ea typeface="微軟正黑體" panose="020B0604030504040204" pitchFamily="34" charset="-120"/>
              </a:rPr>
              <a:t>(</a:t>
            </a:r>
            <a:r>
              <a:rPr lang="zh-TW" altLang="en-US" b="1" dirty="0">
                <a:latin typeface="微軟正黑體" panose="020B0604030504040204" pitchFamily="34" charset="-120"/>
                <a:ea typeface="微軟正黑體" panose="020B0604030504040204" pitchFamily="34" charset="-120"/>
              </a:rPr>
              <a:t>其他引證</a:t>
            </a:r>
            <a:r>
              <a:rPr lang="en-US" altLang="zh-TW" b="1" dirty="0">
                <a:latin typeface="微軟正黑體" panose="020B0604030504040204" pitchFamily="34" charset="-120"/>
                <a:ea typeface="微軟正黑體" panose="020B0604030504040204" pitchFamily="34" charset="-120"/>
              </a:rPr>
              <a:t>)</a:t>
            </a:r>
            <a:endParaRPr lang="en-US" altLang="zh-TW" sz="1800" b="1" dirty="0">
              <a:latin typeface="微軟正黑體" panose="020B0604030504040204" pitchFamily="34" charset="-120"/>
              <a:ea typeface="微軟正黑體" panose="020B0604030504040204" pitchFamily="34" charset="-120"/>
            </a:endParaRPr>
          </a:p>
        </p:txBody>
      </p:sp>
      <p:sp>
        <p:nvSpPr>
          <p:cNvPr id="23" name="文字方塊 22">
            <a:extLst>
              <a:ext uri="{FF2B5EF4-FFF2-40B4-BE49-F238E27FC236}">
                <a16:creationId xmlns:a16="http://schemas.microsoft.com/office/drawing/2014/main" id="{49E8C332-09B6-915D-E776-4DF6FE1CCAD8}"/>
              </a:ext>
            </a:extLst>
          </p:cNvPr>
          <p:cNvSpPr txBox="1"/>
          <p:nvPr/>
        </p:nvSpPr>
        <p:spPr>
          <a:xfrm>
            <a:off x="3453784" y="4445633"/>
            <a:ext cx="2342351" cy="369332"/>
          </a:xfrm>
          <a:prstGeom prst="rect">
            <a:avLst/>
          </a:prstGeom>
          <a:noFill/>
        </p:spPr>
        <p:txBody>
          <a:bodyPr wrap="square" anchor="ctr" anchorCtr="0">
            <a:spAutoFit/>
          </a:bodyPr>
          <a:lstStyle/>
          <a:p>
            <a:pPr marL="0" lvl="1"/>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技術領域之關連性</a:t>
            </a:r>
            <a:endParaRPr lang="en-US" altLang="zh-TW" dirty="0">
              <a:latin typeface="微軟正黑體" panose="020B0604030504040204" pitchFamily="34" charset="-120"/>
              <a:ea typeface="微軟正黑體" panose="020B0604030504040204" pitchFamily="34" charset="-120"/>
            </a:endParaRPr>
          </a:p>
        </p:txBody>
      </p:sp>
      <p:sp>
        <p:nvSpPr>
          <p:cNvPr id="27" name="文字方塊 26">
            <a:extLst>
              <a:ext uri="{FF2B5EF4-FFF2-40B4-BE49-F238E27FC236}">
                <a16:creationId xmlns:a16="http://schemas.microsoft.com/office/drawing/2014/main" id="{AAE60999-9139-1C9D-9B7E-C9B6DD13110E}"/>
              </a:ext>
            </a:extLst>
          </p:cNvPr>
          <p:cNvSpPr txBox="1"/>
          <p:nvPr/>
        </p:nvSpPr>
        <p:spPr>
          <a:xfrm>
            <a:off x="3453784" y="4799766"/>
            <a:ext cx="2774400" cy="369332"/>
          </a:xfrm>
          <a:prstGeom prst="rect">
            <a:avLst/>
          </a:prstGeom>
          <a:noFill/>
        </p:spPr>
        <p:txBody>
          <a:bodyPr wrap="square" anchor="ctr" anchorCtr="0">
            <a:spAutoFit/>
          </a:bodyPr>
          <a:lstStyle/>
          <a:p>
            <a:pPr marL="0" lvl="1"/>
            <a:r>
              <a:rPr lang="en-US" altLang="zh-TW" dirty="0">
                <a:latin typeface="微軟正黑體" panose="020B0604030504040204" pitchFamily="34" charset="-120"/>
                <a:ea typeface="微軟正黑體" panose="020B0604030504040204" pitchFamily="34" charset="-120"/>
              </a:rPr>
              <a:t>(2)</a:t>
            </a:r>
            <a:r>
              <a:rPr lang="zh-TW" altLang="en-US" dirty="0">
                <a:latin typeface="微軟正黑體" panose="020B0604030504040204" pitchFamily="34" charset="-120"/>
                <a:ea typeface="微軟正黑體" panose="020B0604030504040204" pitchFamily="34" charset="-120"/>
              </a:rPr>
              <a:t>所欲解決問題之共通性</a:t>
            </a:r>
          </a:p>
        </p:txBody>
      </p:sp>
      <p:sp>
        <p:nvSpPr>
          <p:cNvPr id="28" name="文字方塊 27">
            <a:extLst>
              <a:ext uri="{FF2B5EF4-FFF2-40B4-BE49-F238E27FC236}">
                <a16:creationId xmlns:a16="http://schemas.microsoft.com/office/drawing/2014/main" id="{96F32B8A-E00B-05F9-4344-C7257C707960}"/>
              </a:ext>
            </a:extLst>
          </p:cNvPr>
          <p:cNvSpPr txBox="1"/>
          <p:nvPr/>
        </p:nvSpPr>
        <p:spPr>
          <a:xfrm>
            <a:off x="3453785" y="5153901"/>
            <a:ext cx="2558374" cy="369332"/>
          </a:xfrm>
          <a:prstGeom prst="rect">
            <a:avLst/>
          </a:prstGeom>
          <a:noFill/>
        </p:spPr>
        <p:txBody>
          <a:bodyPr wrap="square" anchor="ctr" anchorCtr="0">
            <a:spAutoFit/>
          </a:bodyPr>
          <a:lstStyle/>
          <a:p>
            <a:pPr marL="0" lvl="1"/>
            <a:r>
              <a:rPr lang="en-US" altLang="zh-TW" dirty="0"/>
              <a:t>(3)</a:t>
            </a:r>
            <a:r>
              <a:rPr lang="zh-TW" altLang="en-US" dirty="0"/>
              <a:t>功能或作用之</a:t>
            </a:r>
            <a:r>
              <a:rPr lang="zh-TW" altLang="en-US" dirty="0">
                <a:latin typeface="微軟正黑體" panose="020B0604030504040204" pitchFamily="34" charset="-120"/>
                <a:ea typeface="微軟正黑體" panose="020B0604030504040204" pitchFamily="34" charset="-120"/>
              </a:rPr>
              <a:t>關連性</a:t>
            </a:r>
            <a:endParaRPr lang="en-US" altLang="zh-TW" dirty="0">
              <a:latin typeface="微軟正黑體" panose="020B0604030504040204" pitchFamily="34" charset="-120"/>
              <a:ea typeface="微軟正黑體" panose="020B0604030504040204" pitchFamily="34" charset="-120"/>
            </a:endParaRPr>
          </a:p>
        </p:txBody>
      </p:sp>
      <p:sp>
        <p:nvSpPr>
          <p:cNvPr id="29" name="文字方塊 28">
            <a:extLst>
              <a:ext uri="{FF2B5EF4-FFF2-40B4-BE49-F238E27FC236}">
                <a16:creationId xmlns:a16="http://schemas.microsoft.com/office/drawing/2014/main" id="{CEC07492-8815-AF07-FF61-E2B56E190405}"/>
              </a:ext>
            </a:extLst>
          </p:cNvPr>
          <p:cNvSpPr txBox="1"/>
          <p:nvPr/>
        </p:nvSpPr>
        <p:spPr>
          <a:xfrm>
            <a:off x="3453785" y="5508035"/>
            <a:ext cx="2016224" cy="369332"/>
          </a:xfrm>
          <a:prstGeom prst="rect">
            <a:avLst/>
          </a:prstGeom>
          <a:noFill/>
        </p:spPr>
        <p:txBody>
          <a:bodyPr wrap="square" anchor="ctr" anchorCtr="0">
            <a:spAutoFit/>
          </a:bodyPr>
          <a:lstStyle/>
          <a:p>
            <a:pPr marL="0" lvl="1"/>
            <a:r>
              <a:rPr lang="en-US" altLang="zh-TW" dirty="0"/>
              <a:t>(4)</a:t>
            </a:r>
            <a:r>
              <a:rPr lang="zh-TW" altLang="en-US" dirty="0"/>
              <a:t>教示或建議</a:t>
            </a:r>
            <a:endParaRPr lang="en-US" altLang="zh-TW" dirty="0"/>
          </a:p>
        </p:txBody>
      </p:sp>
      <p:sp>
        <p:nvSpPr>
          <p:cNvPr id="31" name="圖說文字: 直線 30">
            <a:extLst>
              <a:ext uri="{FF2B5EF4-FFF2-40B4-BE49-F238E27FC236}">
                <a16:creationId xmlns:a16="http://schemas.microsoft.com/office/drawing/2014/main" id="{7055C4D1-F3C3-4DB3-1F1A-31997040170D}"/>
              </a:ext>
            </a:extLst>
          </p:cNvPr>
          <p:cNvSpPr/>
          <p:nvPr/>
        </p:nvSpPr>
        <p:spPr>
          <a:xfrm>
            <a:off x="1492612" y="6075894"/>
            <a:ext cx="6696744" cy="612648"/>
          </a:xfrm>
          <a:prstGeom prst="borderCallout1">
            <a:avLst>
              <a:gd name="adj1" fmla="val -304"/>
              <a:gd name="adj2" fmla="val 51659"/>
              <a:gd name="adj3" fmla="val -31990"/>
              <a:gd name="adj4" fmla="val 51618"/>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TW" altLang="en-US" dirty="0">
                <a:latin typeface="微軟正黑體" panose="020B0604030504040204" pitchFamily="34" charset="-120"/>
                <a:ea typeface="微軟正黑體" panose="020B0604030504040204" pitchFamily="34" charset="-120"/>
              </a:rPr>
              <a:t>通常須具備</a:t>
            </a:r>
            <a:r>
              <a:rPr lang="zh-TW" altLang="en-US" dirty="0">
                <a:latin typeface="微軟正黑體" panose="020B0604030504040204" pitchFamily="34" charset="-120"/>
                <a:ea typeface="微軟正黑體" panose="020B0604030504040204" pitchFamily="34" charset="-120"/>
                <a:sym typeface="Wingdings" panose="05000000000000000000" pitchFamily="2" charset="2"/>
              </a:rPr>
              <a:t>：</a:t>
            </a:r>
            <a:r>
              <a:rPr lang="en-US" altLang="zh-TW" dirty="0">
                <a:latin typeface="微軟正黑體" panose="020B0604030504040204" pitchFamily="34" charset="-120"/>
                <a:ea typeface="微軟正黑體" panose="020B0604030504040204" pitchFamily="34" charset="-120"/>
                <a:sym typeface="Wingdings" panose="05000000000000000000" pitchFamily="2" charset="2"/>
              </a:rPr>
              <a:t>(1)+(2</a:t>
            </a:r>
            <a:r>
              <a:rPr lang="zh-TW" altLang="en-US" dirty="0">
                <a:latin typeface="微軟正黑體" panose="020B0604030504040204" pitchFamily="34" charset="-120"/>
                <a:ea typeface="微軟正黑體" panose="020B0604030504040204" pitchFamily="34" charset="-120"/>
                <a:sym typeface="Wingdings" panose="05000000000000000000" pitchFamily="2" charset="2"/>
              </a:rPr>
              <a:t>、</a:t>
            </a:r>
            <a:r>
              <a:rPr lang="en-US" altLang="zh-TW" dirty="0">
                <a:latin typeface="微軟正黑體" panose="020B0604030504040204" pitchFamily="34" charset="-120"/>
                <a:ea typeface="微軟正黑體" panose="020B0604030504040204" pitchFamily="34" charset="-120"/>
                <a:sym typeface="Wingdings" panose="05000000000000000000" pitchFamily="2" charset="2"/>
              </a:rPr>
              <a:t>3</a:t>
            </a:r>
            <a:r>
              <a:rPr lang="zh-TW" altLang="en-US" dirty="0">
                <a:latin typeface="微軟正黑體" panose="020B0604030504040204" pitchFamily="34" charset="-120"/>
                <a:ea typeface="微軟正黑體" panose="020B0604030504040204" pitchFamily="34" charset="-120"/>
                <a:sym typeface="Wingdings" panose="05000000000000000000" pitchFamily="2" charset="2"/>
              </a:rPr>
              <a:t>、</a:t>
            </a:r>
            <a:r>
              <a:rPr lang="en-US" altLang="zh-TW" dirty="0">
                <a:latin typeface="微軟正黑體" panose="020B0604030504040204" pitchFamily="34" charset="-120"/>
                <a:ea typeface="微軟正黑體" panose="020B0604030504040204" pitchFamily="34" charset="-120"/>
                <a:sym typeface="Wingdings" panose="05000000000000000000" pitchFamily="2" charset="2"/>
              </a:rPr>
              <a:t>4)</a:t>
            </a:r>
            <a:r>
              <a:rPr lang="zh-TW" altLang="en-US" dirty="0">
                <a:latin typeface="微軟正黑體" panose="020B0604030504040204" pitchFamily="34" charset="-120"/>
                <a:ea typeface="微軟正黑體" panose="020B0604030504040204" pitchFamily="34" charset="-120"/>
                <a:sym typeface="Wingdings" panose="05000000000000000000" pitchFamily="2" charset="2"/>
              </a:rPr>
              <a:t>至少</a:t>
            </a:r>
            <a:r>
              <a:rPr lang="en-US" altLang="zh-TW" dirty="0">
                <a:latin typeface="微軟正黑體" panose="020B0604030504040204" pitchFamily="34" charset="-120"/>
                <a:ea typeface="微軟正黑體" panose="020B0604030504040204" pitchFamily="34" charset="-120"/>
                <a:sym typeface="Wingdings" panose="05000000000000000000" pitchFamily="2" charset="2"/>
              </a:rPr>
              <a:t>2</a:t>
            </a:r>
            <a:r>
              <a:rPr lang="zh-TW" altLang="en-US" dirty="0">
                <a:latin typeface="微軟正黑體" panose="020B0604030504040204" pitchFamily="34" charset="-120"/>
                <a:ea typeface="微軟正黑體" panose="020B0604030504040204" pitchFamily="34" charset="-120"/>
                <a:sym typeface="Wingdings" panose="05000000000000000000" pitchFamily="2" charset="2"/>
              </a:rPr>
              <a:t>動機；</a:t>
            </a:r>
            <a:endParaRPr lang="en-US" altLang="zh-TW" dirty="0">
              <a:latin typeface="微軟正黑體" panose="020B0604030504040204" pitchFamily="34" charset="-120"/>
              <a:ea typeface="微軟正黑體" panose="020B0604030504040204" pitchFamily="34" charset="-120"/>
              <a:sym typeface="Wingdings" panose="05000000000000000000" pitchFamily="2" charset="2"/>
            </a:endParaRPr>
          </a:p>
          <a:p>
            <a:pPr algn="ctr"/>
            <a:r>
              <a:rPr lang="en-US" altLang="zh-TW" dirty="0">
                <a:latin typeface="微軟正黑體" panose="020B0604030504040204" pitchFamily="34" charset="-120"/>
                <a:ea typeface="微軟正黑體" panose="020B0604030504040204" pitchFamily="34" charset="-120"/>
                <a:sym typeface="Wingdings" panose="05000000000000000000" pitchFamily="2" charset="2"/>
              </a:rPr>
              <a:t>(4)1</a:t>
            </a:r>
            <a:r>
              <a:rPr lang="zh-TW" altLang="en-US" dirty="0">
                <a:latin typeface="微軟正黑體" panose="020B0604030504040204" pitchFamily="34" charset="-120"/>
                <a:ea typeface="微軟正黑體" panose="020B0604030504040204" pitchFamily="34" charset="-120"/>
                <a:sym typeface="Wingdings" panose="05000000000000000000" pitchFamily="2" charset="2"/>
              </a:rPr>
              <a:t>強烈動機</a:t>
            </a:r>
            <a:endParaRPr lang="zh-TW" altLang="en-US" dirty="0">
              <a:latin typeface="微軟正黑體" panose="020B0604030504040204" pitchFamily="34" charset="-120"/>
              <a:ea typeface="微軟正黑體" panose="020B0604030504040204" pitchFamily="34" charset="-120"/>
            </a:endParaRPr>
          </a:p>
        </p:txBody>
      </p:sp>
      <p:sp>
        <p:nvSpPr>
          <p:cNvPr id="33" name="弧形 32">
            <a:extLst>
              <a:ext uri="{FF2B5EF4-FFF2-40B4-BE49-F238E27FC236}">
                <a16:creationId xmlns:a16="http://schemas.microsoft.com/office/drawing/2014/main" id="{751AAA3D-B63D-FCB9-E522-1EC2788532B0}"/>
              </a:ext>
            </a:extLst>
          </p:cNvPr>
          <p:cNvSpPr/>
          <p:nvPr/>
        </p:nvSpPr>
        <p:spPr>
          <a:xfrm>
            <a:off x="2339752" y="4003053"/>
            <a:ext cx="5040560" cy="1520468"/>
          </a:xfrm>
          <a:prstGeom prst="arc">
            <a:avLst>
              <a:gd name="adj1" fmla="val 11287003"/>
              <a:gd name="adj2" fmla="val 21107206"/>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9" name="文字方塊 38">
            <a:extLst>
              <a:ext uri="{FF2B5EF4-FFF2-40B4-BE49-F238E27FC236}">
                <a16:creationId xmlns:a16="http://schemas.microsoft.com/office/drawing/2014/main" id="{42BF76D8-AA5F-6498-CE0A-9C44853529E5}"/>
              </a:ext>
            </a:extLst>
          </p:cNvPr>
          <p:cNvSpPr txBox="1"/>
          <p:nvPr/>
        </p:nvSpPr>
        <p:spPr>
          <a:xfrm>
            <a:off x="4077072" y="3968573"/>
            <a:ext cx="1565920" cy="369332"/>
          </a:xfrm>
          <a:prstGeom prst="rect">
            <a:avLst/>
          </a:prstGeom>
          <a:noFill/>
        </p:spPr>
        <p:txBody>
          <a:bodyPr wrap="square">
            <a:spAutoFit/>
          </a:bodyPr>
          <a:lstStyle/>
          <a:p>
            <a:r>
              <a:rPr lang="zh-TW" altLang="en-US" b="1" dirty="0">
                <a:solidFill>
                  <a:srgbClr val="FF0000"/>
                </a:solidFill>
                <a:latin typeface="微軟正黑體" panose="020B0604030504040204" pitchFamily="34" charset="-120"/>
                <a:ea typeface="微軟正黑體" panose="020B0604030504040204" pitchFamily="34" charset="-120"/>
              </a:rPr>
              <a:t>有動機能結合</a:t>
            </a:r>
          </a:p>
        </p:txBody>
      </p:sp>
    </p:spTree>
    <p:extLst>
      <p:ext uri="{BB962C8B-B14F-4D97-AF65-F5344CB8AC3E}">
        <p14:creationId xmlns:p14="http://schemas.microsoft.com/office/powerpoint/2010/main" val="40921598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DE3E5D12-4A7C-4174-04B4-E44BB42ED13F}"/>
              </a:ext>
            </a:extLst>
          </p:cNvPr>
          <p:cNvSpPr>
            <a:spLocks noGrp="1"/>
          </p:cNvSpPr>
          <p:nvPr>
            <p:ph type="title"/>
          </p:nvPr>
        </p:nvSpPr>
        <p:spPr/>
        <p:txBody>
          <a:bodyPr/>
          <a:lstStyle/>
          <a:p>
            <a:r>
              <a:rPr lang="zh-TW" altLang="en-US" dirty="0"/>
              <a:t>進步性</a:t>
            </a:r>
            <a:r>
              <a:rPr lang="en-US" altLang="zh-TW" dirty="0"/>
              <a:t>-</a:t>
            </a:r>
            <a:r>
              <a:rPr lang="zh-TW" altLang="en-US" dirty="0"/>
              <a:t>否定進步性</a:t>
            </a:r>
          </a:p>
        </p:txBody>
      </p:sp>
      <p:sp>
        <p:nvSpPr>
          <p:cNvPr id="10" name="內容版面配置區 9">
            <a:extLst>
              <a:ext uri="{FF2B5EF4-FFF2-40B4-BE49-F238E27FC236}">
                <a16:creationId xmlns:a16="http://schemas.microsoft.com/office/drawing/2014/main" id="{B942D791-A400-700D-0362-EC57CF9F37C8}"/>
              </a:ext>
            </a:extLst>
          </p:cNvPr>
          <p:cNvSpPr>
            <a:spLocks noGrp="1"/>
          </p:cNvSpPr>
          <p:nvPr>
            <p:ph idx="1"/>
          </p:nvPr>
        </p:nvSpPr>
        <p:spPr>
          <a:xfrm>
            <a:off x="457200" y="980728"/>
            <a:ext cx="8229600" cy="5616624"/>
          </a:xfrm>
        </p:spPr>
        <p:txBody>
          <a:bodyPr>
            <a:normAutofit fontScale="85000" lnSpcReduction="20000"/>
          </a:bodyPr>
          <a:lstStyle/>
          <a:p>
            <a:pPr>
              <a:lnSpc>
                <a:spcPct val="120000"/>
              </a:lnSpc>
            </a:pPr>
            <a:r>
              <a:rPr lang="zh-TW" altLang="en-US" dirty="0"/>
              <a:t>簡單變更</a:t>
            </a:r>
            <a:endParaRPr lang="en-US" altLang="zh-TW" dirty="0"/>
          </a:p>
          <a:p>
            <a:pPr lvl="1">
              <a:lnSpc>
                <a:spcPct val="120000"/>
              </a:lnSpc>
            </a:pPr>
            <a:r>
              <a:rPr lang="zh-TW" altLang="en-US" dirty="0"/>
              <a:t>通常知識者於</a:t>
            </a:r>
            <a:r>
              <a:rPr lang="zh-TW" altLang="en-US" b="1" dirty="0"/>
              <a:t>解決特定問題</a:t>
            </a:r>
            <a:r>
              <a:rPr lang="zh-TW" altLang="en-US" dirty="0"/>
              <a:t>時，能</a:t>
            </a:r>
            <a:r>
              <a:rPr lang="zh-TW" altLang="en-US" b="1" dirty="0"/>
              <a:t>利用申請時之通常知識</a:t>
            </a:r>
            <a:r>
              <a:rPr lang="zh-TW" altLang="en-US" dirty="0"/>
              <a:t>，將單一引證之</a:t>
            </a:r>
            <a:r>
              <a:rPr lang="zh-TW" altLang="en-US" b="1" dirty="0"/>
              <a:t>差異技術特徵</a:t>
            </a:r>
            <a:r>
              <a:rPr lang="zh-TW" altLang="en-US" b="1" u="sng" dirty="0"/>
              <a:t>簡單</a:t>
            </a:r>
            <a:r>
              <a:rPr lang="zh-TW" altLang="en-US" dirty="0"/>
              <a:t>地進行</a:t>
            </a:r>
            <a:r>
              <a:rPr lang="zh-TW" altLang="en-US" b="1" dirty="0"/>
              <a:t>修飾、置換、省略或轉用</a:t>
            </a:r>
            <a:r>
              <a:rPr lang="zh-TW" altLang="en-US" dirty="0"/>
              <a:t>等而完成申請專利之發明者，則該發明為單一引證之技術內容的「簡單變更」</a:t>
            </a:r>
            <a:endParaRPr lang="en-US" altLang="zh-TW" dirty="0"/>
          </a:p>
          <a:p>
            <a:pPr lvl="1">
              <a:lnSpc>
                <a:spcPct val="120000"/>
              </a:lnSpc>
            </a:pPr>
            <a:r>
              <a:rPr lang="zh-TW" altLang="en-US" dirty="0"/>
              <a:t>「簡單變更」與「有動機能結合複數引證」，二者除分別考量外，亦可能有</a:t>
            </a:r>
            <a:r>
              <a:rPr lang="zh-TW" altLang="en-US" b="1" dirty="0"/>
              <a:t>合併考量</a:t>
            </a:r>
            <a:r>
              <a:rPr lang="zh-TW" altLang="en-US" dirty="0"/>
              <a:t>之情況</a:t>
            </a:r>
            <a:endParaRPr lang="en-US" altLang="zh-TW" dirty="0"/>
          </a:p>
          <a:p>
            <a:pPr>
              <a:lnSpc>
                <a:spcPct val="120000"/>
              </a:lnSpc>
            </a:pPr>
            <a:r>
              <a:rPr lang="zh-TW" altLang="en-US" dirty="0"/>
              <a:t>單純拼湊</a:t>
            </a:r>
            <a:endParaRPr lang="en-US" altLang="zh-TW" dirty="0"/>
          </a:p>
          <a:p>
            <a:pPr lvl="1">
              <a:lnSpc>
                <a:spcPct val="120000"/>
              </a:lnSpc>
            </a:pPr>
            <a:r>
              <a:rPr lang="zh-TW" altLang="en-US" dirty="0"/>
              <a:t>若申請專利之發明（例如電子錶筆）僅是</a:t>
            </a:r>
            <a:r>
              <a:rPr lang="zh-TW" altLang="en-US" b="1" dirty="0"/>
              <a:t>單純結合</a:t>
            </a:r>
            <a:r>
              <a:rPr lang="zh-TW" altLang="en-US" dirty="0"/>
              <a:t>複數引證（電子錶與筆）之技術內容，結合後之發明的各技術特徵於功能上</a:t>
            </a:r>
            <a:r>
              <a:rPr lang="zh-TW" altLang="en-US" b="1" dirty="0"/>
              <a:t>並未相互作用</a:t>
            </a:r>
            <a:r>
              <a:rPr lang="zh-TW" altLang="en-US" dirty="0"/>
              <a:t>，仍以其原先之方式各別作用，致結合後之發明的功效僅為結合前各引證之技術內容的功效之總合者，則該發明為複數引證之技術內容的「單純拼湊」</a:t>
            </a:r>
            <a:endParaRPr lang="en-US" altLang="zh-TW" dirty="0"/>
          </a:p>
        </p:txBody>
      </p:sp>
      <p:sp>
        <p:nvSpPr>
          <p:cNvPr id="4" name="投影片編號版面配置區 3">
            <a:extLst>
              <a:ext uri="{FF2B5EF4-FFF2-40B4-BE49-F238E27FC236}">
                <a16:creationId xmlns:a16="http://schemas.microsoft.com/office/drawing/2014/main" id="{6FC7DF09-C58A-C465-986F-15725E792F06}"/>
              </a:ext>
            </a:extLst>
          </p:cNvPr>
          <p:cNvSpPr>
            <a:spLocks noGrp="1"/>
          </p:cNvSpPr>
          <p:nvPr>
            <p:ph type="sldNum" sz="quarter" idx="12"/>
          </p:nvPr>
        </p:nvSpPr>
        <p:spPr>
          <a:xfrm>
            <a:off x="6948264" y="6356350"/>
            <a:ext cx="2133600" cy="365125"/>
          </a:xfrm>
        </p:spPr>
        <p:txBody>
          <a:bodyPr/>
          <a:lstStyle/>
          <a:p>
            <a:fld id="{254D4C32-7A1A-45A5-84ED-81747F1ABFAE}" type="slidenum">
              <a:rPr lang="zh-TW" altLang="en-US" smtClean="0"/>
              <a:t>25</a:t>
            </a:fld>
            <a:endParaRPr lang="zh-TW" altLang="en-US" dirty="0"/>
          </a:p>
        </p:txBody>
      </p:sp>
    </p:spTree>
    <p:extLst>
      <p:ext uri="{BB962C8B-B14F-4D97-AF65-F5344CB8AC3E}">
        <p14:creationId xmlns:p14="http://schemas.microsoft.com/office/powerpoint/2010/main" val="22864019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DE3E5D12-4A7C-4174-04B4-E44BB42ED13F}"/>
              </a:ext>
            </a:extLst>
          </p:cNvPr>
          <p:cNvSpPr>
            <a:spLocks noGrp="1"/>
          </p:cNvSpPr>
          <p:nvPr>
            <p:ph type="title"/>
          </p:nvPr>
        </p:nvSpPr>
        <p:spPr/>
        <p:txBody>
          <a:bodyPr/>
          <a:lstStyle/>
          <a:p>
            <a:r>
              <a:rPr lang="zh-TW" altLang="en-US" dirty="0"/>
              <a:t>進步性</a:t>
            </a:r>
            <a:r>
              <a:rPr lang="en-US" altLang="zh-TW" dirty="0"/>
              <a:t>-</a:t>
            </a:r>
            <a:r>
              <a:rPr lang="zh-TW" altLang="en-US" dirty="0"/>
              <a:t>肯定進步性</a:t>
            </a:r>
          </a:p>
        </p:txBody>
      </p:sp>
      <p:sp>
        <p:nvSpPr>
          <p:cNvPr id="10" name="內容版面配置區 9">
            <a:extLst>
              <a:ext uri="{FF2B5EF4-FFF2-40B4-BE49-F238E27FC236}">
                <a16:creationId xmlns:a16="http://schemas.microsoft.com/office/drawing/2014/main" id="{B942D791-A400-700D-0362-EC57CF9F37C8}"/>
              </a:ext>
            </a:extLst>
          </p:cNvPr>
          <p:cNvSpPr>
            <a:spLocks noGrp="1"/>
          </p:cNvSpPr>
          <p:nvPr>
            <p:ph idx="1"/>
          </p:nvPr>
        </p:nvSpPr>
        <p:spPr>
          <a:xfrm>
            <a:off x="457200" y="980728"/>
            <a:ext cx="8229600" cy="3528392"/>
          </a:xfrm>
        </p:spPr>
        <p:txBody>
          <a:bodyPr>
            <a:normAutofit fontScale="70000" lnSpcReduction="20000"/>
          </a:bodyPr>
          <a:lstStyle/>
          <a:p>
            <a:pPr>
              <a:lnSpc>
                <a:spcPct val="120000"/>
              </a:lnSpc>
            </a:pPr>
            <a:r>
              <a:rPr lang="zh-TW" altLang="en-US" dirty="0"/>
              <a:t>反向教示</a:t>
            </a:r>
            <a:endParaRPr lang="en-US" altLang="zh-TW" dirty="0"/>
          </a:p>
          <a:p>
            <a:pPr lvl="1">
              <a:lnSpc>
                <a:spcPct val="120000"/>
              </a:lnSpc>
            </a:pPr>
            <a:r>
              <a:rPr lang="zh-TW" altLang="en-US" dirty="0"/>
              <a:t>相關引證中已</a:t>
            </a:r>
            <a:r>
              <a:rPr lang="zh-TW" altLang="en-US" b="1" dirty="0"/>
              <a:t>明確記載</a:t>
            </a:r>
            <a:r>
              <a:rPr lang="zh-TW" altLang="en-US" dirty="0"/>
              <a:t>或</a:t>
            </a:r>
            <a:r>
              <a:rPr lang="zh-TW" altLang="en-US" b="1" dirty="0"/>
              <a:t>實質隱含</a:t>
            </a:r>
            <a:r>
              <a:rPr lang="zh-TW" altLang="en-US" dirty="0"/>
              <a:t>有關排除申請專利之發明的</a:t>
            </a:r>
            <a:r>
              <a:rPr lang="zh-TW" altLang="en-US" u="sng" dirty="0"/>
              <a:t>教示或建議</a:t>
            </a:r>
            <a:endParaRPr lang="en-US" altLang="zh-TW" u="sng" dirty="0"/>
          </a:p>
          <a:p>
            <a:pPr lvl="2">
              <a:lnSpc>
                <a:spcPct val="120000"/>
              </a:lnSpc>
            </a:pPr>
            <a:r>
              <a:rPr lang="zh-TW" altLang="en-US" dirty="0"/>
              <a:t>引證中已揭露申請專利之發明的相關技術特徵係</a:t>
            </a:r>
            <a:r>
              <a:rPr lang="zh-TW" altLang="en-US" b="1" dirty="0"/>
              <a:t>無法結合</a:t>
            </a:r>
            <a:r>
              <a:rPr lang="zh-TW" altLang="en-US" dirty="0"/>
              <a:t>者</a:t>
            </a:r>
            <a:endParaRPr lang="en-US" altLang="zh-TW" u="sng" dirty="0"/>
          </a:p>
          <a:p>
            <a:pPr lvl="2">
              <a:lnSpc>
                <a:spcPct val="120000"/>
              </a:lnSpc>
            </a:pPr>
            <a:r>
              <a:rPr lang="zh-TW" altLang="en-US" dirty="0"/>
              <a:t>基於引證所揭露之技術內容，該發明所屬技術領域中具有通常知識者將</a:t>
            </a:r>
            <a:r>
              <a:rPr lang="zh-TW" altLang="en-US" b="1" dirty="0"/>
              <a:t>被勸阻</a:t>
            </a:r>
            <a:r>
              <a:rPr lang="zh-TW" altLang="en-US" dirty="0"/>
              <a:t>而不會依循該等技術內容所採的途徑者</a:t>
            </a:r>
            <a:endParaRPr lang="en-US" altLang="zh-TW" dirty="0"/>
          </a:p>
          <a:p>
            <a:pPr lvl="1">
              <a:lnSpc>
                <a:spcPct val="120000"/>
              </a:lnSpc>
            </a:pPr>
            <a:r>
              <a:rPr lang="zh-TW" altLang="en-US" dirty="0"/>
              <a:t>若先前技術僅揭露</a:t>
            </a:r>
            <a:r>
              <a:rPr lang="zh-TW" altLang="en-US" b="1" dirty="0"/>
              <a:t>較佳實施方式</a:t>
            </a:r>
            <a:r>
              <a:rPr lang="zh-TW" altLang="en-US" dirty="0"/>
              <a:t>，或僅</a:t>
            </a:r>
            <a:r>
              <a:rPr lang="zh-TW" altLang="en-US" b="1" dirty="0"/>
              <a:t>揭露一種以上的擇一形式記載</a:t>
            </a:r>
            <a:r>
              <a:rPr lang="zh-TW" altLang="en-US" dirty="0"/>
              <a:t>，而申請專利之發明並非較佳實施方式，或為擇一形式記載之其中一種，由於該先前技術並未明確排除申請專利之發明，因此，對於申請專利之發明未構成反向教示</a:t>
            </a:r>
            <a:endParaRPr lang="en-US" altLang="zh-TW" u="sng" dirty="0"/>
          </a:p>
        </p:txBody>
      </p:sp>
      <p:sp>
        <p:nvSpPr>
          <p:cNvPr id="4" name="投影片編號版面配置區 3">
            <a:extLst>
              <a:ext uri="{FF2B5EF4-FFF2-40B4-BE49-F238E27FC236}">
                <a16:creationId xmlns:a16="http://schemas.microsoft.com/office/drawing/2014/main" id="{6FC7DF09-C58A-C465-986F-15725E792F06}"/>
              </a:ext>
            </a:extLst>
          </p:cNvPr>
          <p:cNvSpPr>
            <a:spLocks noGrp="1"/>
          </p:cNvSpPr>
          <p:nvPr>
            <p:ph type="sldNum" sz="quarter" idx="12"/>
          </p:nvPr>
        </p:nvSpPr>
        <p:spPr>
          <a:xfrm>
            <a:off x="6948264" y="6356350"/>
            <a:ext cx="2133600" cy="365125"/>
          </a:xfrm>
        </p:spPr>
        <p:txBody>
          <a:bodyPr/>
          <a:lstStyle/>
          <a:p>
            <a:fld id="{254D4C32-7A1A-45A5-84ED-81747F1ABFAE}" type="slidenum">
              <a:rPr lang="zh-TW" altLang="en-US" smtClean="0"/>
              <a:t>26</a:t>
            </a:fld>
            <a:endParaRPr lang="zh-TW" altLang="en-US" dirty="0"/>
          </a:p>
        </p:txBody>
      </p:sp>
      <p:sp>
        <p:nvSpPr>
          <p:cNvPr id="2" name="矩形 1">
            <a:extLst>
              <a:ext uri="{FF2B5EF4-FFF2-40B4-BE49-F238E27FC236}">
                <a16:creationId xmlns:a16="http://schemas.microsoft.com/office/drawing/2014/main" id="{7983200D-40D5-8BB7-EF13-645163F0DD03}"/>
              </a:ext>
            </a:extLst>
          </p:cNvPr>
          <p:cNvSpPr/>
          <p:nvPr/>
        </p:nvSpPr>
        <p:spPr>
          <a:xfrm>
            <a:off x="3458078" y="5428345"/>
            <a:ext cx="1440160" cy="123789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87313"/>
            <a:r>
              <a:rPr lang="zh-TW" altLang="en-US" sz="1800" b="1" dirty="0">
                <a:latin typeface="微軟正黑體" panose="020B0604030504040204" pitchFamily="34" charset="-120"/>
                <a:ea typeface="微軟正黑體" panose="020B0604030504040204" pitchFamily="34" charset="-120"/>
              </a:rPr>
              <a:t>技術特徵</a:t>
            </a:r>
            <a:r>
              <a:rPr lang="en-US" altLang="zh-TW" sz="1800" b="1" dirty="0">
                <a:latin typeface="微軟正黑體" panose="020B0604030504040204" pitchFamily="34" charset="-120"/>
                <a:ea typeface="微軟正黑體" panose="020B0604030504040204" pitchFamily="34" charset="-120"/>
              </a:rPr>
              <a:t>A</a:t>
            </a:r>
            <a:r>
              <a:rPr lang="zh-TW" altLang="en-US" sz="1800" b="1" dirty="0">
                <a:latin typeface="微軟正黑體" panose="020B0604030504040204" pitchFamily="34" charset="-120"/>
                <a:ea typeface="微軟正黑體" panose="020B0604030504040204" pitchFamily="34" charset="-120"/>
              </a:rPr>
              <a:t>技術特徵</a:t>
            </a:r>
            <a:r>
              <a:rPr lang="en-US" altLang="zh-TW" sz="1800" b="1" dirty="0">
                <a:latin typeface="微軟正黑體" panose="020B0604030504040204" pitchFamily="34" charset="-120"/>
                <a:ea typeface="微軟正黑體" panose="020B0604030504040204" pitchFamily="34" charset="-120"/>
              </a:rPr>
              <a:t>B</a:t>
            </a:r>
          </a:p>
          <a:p>
            <a:pPr marL="87313"/>
            <a:r>
              <a:rPr lang="zh-TW" altLang="en-US" sz="1800" b="1" dirty="0">
                <a:latin typeface="微軟正黑體" panose="020B0604030504040204" pitchFamily="34" charset="-120"/>
                <a:ea typeface="微軟正黑體" panose="020B0604030504040204" pitchFamily="34" charset="-120"/>
              </a:rPr>
              <a:t>技術特徵</a:t>
            </a:r>
            <a:r>
              <a:rPr lang="en-US" altLang="zh-TW" b="1" dirty="0">
                <a:latin typeface="微軟正黑體" panose="020B0604030504040204" pitchFamily="34" charset="-120"/>
                <a:ea typeface="微軟正黑體" panose="020B0604030504040204" pitchFamily="34" charset="-120"/>
              </a:rPr>
              <a:t>C</a:t>
            </a:r>
            <a:r>
              <a:rPr lang="zh-TW" altLang="en-US" sz="1800" b="1" dirty="0">
                <a:latin typeface="微軟正黑體" panose="020B0604030504040204" pitchFamily="34" charset="-120"/>
                <a:ea typeface="微軟正黑體" panose="020B0604030504040204" pitchFamily="34" charset="-120"/>
              </a:rPr>
              <a:t>技術特徵</a:t>
            </a:r>
            <a:r>
              <a:rPr lang="en-US" altLang="zh-TW" sz="1800" b="1" dirty="0">
                <a:latin typeface="微軟正黑體" panose="020B0604030504040204" pitchFamily="34" charset="-120"/>
                <a:ea typeface="微軟正黑體" panose="020B0604030504040204" pitchFamily="34" charset="-120"/>
              </a:rPr>
              <a:t>E</a:t>
            </a:r>
            <a:endParaRPr lang="en-US" altLang="zh-TW" b="1" dirty="0">
              <a:latin typeface="微軟正黑體" panose="020B0604030504040204" pitchFamily="34" charset="-120"/>
              <a:ea typeface="微軟正黑體" panose="020B0604030504040204" pitchFamily="34" charset="-120"/>
            </a:endParaRPr>
          </a:p>
        </p:txBody>
      </p:sp>
      <p:sp>
        <p:nvSpPr>
          <p:cNvPr id="3" name="文字方塊 2">
            <a:extLst>
              <a:ext uri="{FF2B5EF4-FFF2-40B4-BE49-F238E27FC236}">
                <a16:creationId xmlns:a16="http://schemas.microsoft.com/office/drawing/2014/main" id="{87B26102-4B96-5484-8264-4F08C5A81DC9}"/>
              </a:ext>
            </a:extLst>
          </p:cNvPr>
          <p:cNvSpPr txBox="1"/>
          <p:nvPr/>
        </p:nvSpPr>
        <p:spPr>
          <a:xfrm>
            <a:off x="3605925" y="4996769"/>
            <a:ext cx="1133872" cy="341376"/>
          </a:xfrm>
          <a:prstGeom prst="rect">
            <a:avLst/>
          </a:prstGeom>
        </p:spPr>
        <p:style>
          <a:lnRef idx="1">
            <a:schemeClr val="accent2"/>
          </a:lnRef>
          <a:fillRef idx="2">
            <a:schemeClr val="accent2"/>
          </a:fillRef>
          <a:effectRef idx="1">
            <a:schemeClr val="accent2"/>
          </a:effectRef>
          <a:fontRef idx="minor">
            <a:schemeClr val="dk1"/>
          </a:fontRef>
        </p:style>
        <p:txBody>
          <a:bodyPr wrap="square" lIns="36000" rIns="36000">
            <a:spAutoFit/>
          </a:bodyPr>
          <a:lstStyle/>
          <a:p>
            <a:pPr marL="174625" indent="-174625" algn="ctr">
              <a:lnSpc>
                <a:spcPts val="2100"/>
              </a:lnSpc>
              <a:spcBef>
                <a:spcPts val="0"/>
              </a:spcBef>
            </a:pPr>
            <a:r>
              <a:rPr lang="zh-TW" altLang="en-US" sz="1600" b="1" dirty="0">
                <a:latin typeface="微軟正黑體" panose="020B0604030504040204" pitchFamily="34" charset="-120"/>
                <a:ea typeface="微軟正黑體" panose="020B0604030504040204" pitchFamily="34" charset="-120"/>
              </a:rPr>
              <a:t>先前技術</a:t>
            </a:r>
            <a:r>
              <a:rPr lang="en-US" altLang="zh-TW" sz="1600" b="1" dirty="0">
                <a:latin typeface="微軟正黑體" panose="020B0604030504040204" pitchFamily="34" charset="-120"/>
                <a:ea typeface="微軟正黑體" panose="020B0604030504040204" pitchFamily="34" charset="-120"/>
              </a:rPr>
              <a:t>1</a:t>
            </a:r>
          </a:p>
        </p:txBody>
      </p:sp>
      <p:sp>
        <p:nvSpPr>
          <p:cNvPr id="6" name="矩形 5">
            <a:extLst>
              <a:ext uri="{FF2B5EF4-FFF2-40B4-BE49-F238E27FC236}">
                <a16:creationId xmlns:a16="http://schemas.microsoft.com/office/drawing/2014/main" id="{D9091021-3ECB-EA9E-F08F-F5F19DFE1CB9}"/>
              </a:ext>
            </a:extLst>
          </p:cNvPr>
          <p:cNvSpPr/>
          <p:nvPr/>
        </p:nvSpPr>
        <p:spPr>
          <a:xfrm>
            <a:off x="1007220" y="5431463"/>
            <a:ext cx="1440160" cy="123789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TW" altLang="en-US" sz="1800" b="1" dirty="0">
                <a:latin typeface="微軟正黑體" panose="020B0604030504040204" pitchFamily="34" charset="-120"/>
                <a:ea typeface="微軟正黑體" panose="020B0604030504040204" pitchFamily="34" charset="-120"/>
              </a:rPr>
              <a:t>技術特徵</a:t>
            </a:r>
            <a:r>
              <a:rPr lang="en-US" altLang="zh-TW" sz="1800" b="1" dirty="0">
                <a:latin typeface="微軟正黑體" panose="020B0604030504040204" pitchFamily="34" charset="-120"/>
                <a:ea typeface="微軟正黑體" panose="020B0604030504040204" pitchFamily="34" charset="-120"/>
              </a:rPr>
              <a:t>A</a:t>
            </a:r>
            <a:r>
              <a:rPr lang="zh-TW" altLang="en-US" sz="1800" b="1" dirty="0">
                <a:latin typeface="微軟正黑體" panose="020B0604030504040204" pitchFamily="34" charset="-120"/>
                <a:ea typeface="微軟正黑體" panose="020B0604030504040204" pitchFamily="34" charset="-120"/>
              </a:rPr>
              <a:t>技術特徵</a:t>
            </a:r>
            <a:r>
              <a:rPr lang="en-US" altLang="zh-TW" sz="1800" b="1" dirty="0">
                <a:latin typeface="微軟正黑體" panose="020B0604030504040204" pitchFamily="34" charset="-120"/>
                <a:ea typeface="微軟正黑體" panose="020B0604030504040204" pitchFamily="34" charset="-120"/>
              </a:rPr>
              <a:t>B</a:t>
            </a:r>
          </a:p>
          <a:p>
            <a:pPr algn="ctr"/>
            <a:r>
              <a:rPr lang="zh-TW" altLang="en-US" sz="1800" b="1" dirty="0">
                <a:latin typeface="微軟正黑體" panose="020B0604030504040204" pitchFamily="34" charset="-120"/>
                <a:ea typeface="微軟正黑體" panose="020B0604030504040204" pitchFamily="34" charset="-120"/>
              </a:rPr>
              <a:t>技術特徵</a:t>
            </a:r>
            <a:r>
              <a:rPr lang="en-US" altLang="zh-TW" b="1" dirty="0">
                <a:latin typeface="微軟正黑體" panose="020B0604030504040204" pitchFamily="34" charset="-120"/>
                <a:ea typeface="微軟正黑體" panose="020B0604030504040204" pitchFamily="34" charset="-120"/>
              </a:rPr>
              <a:t>C</a:t>
            </a:r>
            <a:r>
              <a:rPr lang="zh-TW" altLang="en-US" sz="1800" b="1" dirty="0">
                <a:latin typeface="微軟正黑體" panose="020B0604030504040204" pitchFamily="34" charset="-120"/>
                <a:ea typeface="微軟正黑體" panose="020B0604030504040204" pitchFamily="34" charset="-120"/>
              </a:rPr>
              <a:t>技術特徵</a:t>
            </a:r>
            <a:r>
              <a:rPr lang="en-US" altLang="zh-TW" sz="1800" b="1" dirty="0">
                <a:latin typeface="微軟正黑體" panose="020B0604030504040204" pitchFamily="34" charset="-120"/>
                <a:ea typeface="微軟正黑體" panose="020B0604030504040204" pitchFamily="34" charset="-120"/>
              </a:rPr>
              <a:t>D</a:t>
            </a:r>
          </a:p>
        </p:txBody>
      </p:sp>
      <p:sp>
        <p:nvSpPr>
          <p:cNvPr id="7" name="文字方塊 6">
            <a:extLst>
              <a:ext uri="{FF2B5EF4-FFF2-40B4-BE49-F238E27FC236}">
                <a16:creationId xmlns:a16="http://schemas.microsoft.com/office/drawing/2014/main" id="{51F329B7-B449-0794-C2E8-D1C97F7751AB}"/>
              </a:ext>
            </a:extLst>
          </p:cNvPr>
          <p:cNvSpPr txBox="1"/>
          <p:nvPr/>
        </p:nvSpPr>
        <p:spPr>
          <a:xfrm>
            <a:off x="1155067" y="4999887"/>
            <a:ext cx="1133872" cy="341376"/>
          </a:xfrm>
          <a:prstGeom prst="rect">
            <a:avLst/>
          </a:prstGeom>
        </p:spPr>
        <p:style>
          <a:lnRef idx="1">
            <a:schemeClr val="accent3"/>
          </a:lnRef>
          <a:fillRef idx="2">
            <a:schemeClr val="accent3"/>
          </a:fillRef>
          <a:effectRef idx="1">
            <a:schemeClr val="accent3"/>
          </a:effectRef>
          <a:fontRef idx="minor">
            <a:schemeClr val="dk1"/>
          </a:fontRef>
        </p:style>
        <p:txBody>
          <a:bodyPr wrap="square" lIns="36000" rIns="36000">
            <a:spAutoFit/>
          </a:bodyPr>
          <a:lstStyle/>
          <a:p>
            <a:pPr marL="174625" indent="-174625" algn="ctr">
              <a:lnSpc>
                <a:spcPts val="2100"/>
              </a:lnSpc>
              <a:spcBef>
                <a:spcPts val="0"/>
              </a:spcBef>
            </a:pPr>
            <a:r>
              <a:rPr lang="zh-TW" altLang="en-US" sz="1600" b="1" dirty="0">
                <a:latin typeface="微軟正黑體" panose="020B0604030504040204" pitchFamily="34" charset="-120"/>
                <a:ea typeface="微軟正黑體" panose="020B0604030504040204" pitchFamily="34" charset="-120"/>
              </a:rPr>
              <a:t>申請之發明</a:t>
            </a:r>
            <a:endParaRPr lang="en-US" altLang="zh-TW" sz="1600" b="1" dirty="0">
              <a:latin typeface="微軟正黑體" panose="020B0604030504040204" pitchFamily="34" charset="-120"/>
              <a:ea typeface="微軟正黑體" panose="020B0604030504040204" pitchFamily="34" charset="-120"/>
            </a:endParaRPr>
          </a:p>
        </p:txBody>
      </p:sp>
      <p:sp>
        <p:nvSpPr>
          <p:cNvPr id="8" name="矩形 7">
            <a:extLst>
              <a:ext uri="{FF2B5EF4-FFF2-40B4-BE49-F238E27FC236}">
                <a16:creationId xmlns:a16="http://schemas.microsoft.com/office/drawing/2014/main" id="{6DCEC721-78C8-E78F-A08E-4DDFD1227176}"/>
              </a:ext>
            </a:extLst>
          </p:cNvPr>
          <p:cNvSpPr/>
          <p:nvPr/>
        </p:nvSpPr>
        <p:spPr>
          <a:xfrm>
            <a:off x="7164288" y="5428345"/>
            <a:ext cx="1440160" cy="123789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87313"/>
            <a:r>
              <a:rPr lang="zh-TW" altLang="en-US" sz="1800" b="1" dirty="0">
                <a:latin typeface="微軟正黑體" panose="020B0604030504040204" pitchFamily="34" charset="-120"/>
                <a:ea typeface="微軟正黑體" panose="020B0604030504040204" pitchFamily="34" charset="-120"/>
              </a:rPr>
              <a:t>技術特徵</a:t>
            </a:r>
            <a:r>
              <a:rPr lang="en-US" altLang="zh-TW" sz="1800" b="1" dirty="0">
                <a:latin typeface="微軟正黑體" panose="020B0604030504040204" pitchFamily="34" charset="-120"/>
                <a:ea typeface="微軟正黑體" panose="020B0604030504040204" pitchFamily="34" charset="-120"/>
              </a:rPr>
              <a:t>A’</a:t>
            </a:r>
            <a:r>
              <a:rPr lang="zh-TW" altLang="en-US" sz="1800" b="1" dirty="0">
                <a:latin typeface="微軟正黑體" panose="020B0604030504040204" pitchFamily="34" charset="-120"/>
                <a:ea typeface="微軟正黑體" panose="020B0604030504040204" pitchFamily="34" charset="-120"/>
              </a:rPr>
              <a:t>技術特徵</a:t>
            </a:r>
            <a:r>
              <a:rPr lang="en-US" altLang="zh-TW" sz="1800" b="1" dirty="0">
                <a:latin typeface="微軟正黑體" panose="020B0604030504040204" pitchFamily="34" charset="-120"/>
                <a:ea typeface="微軟正黑體" panose="020B0604030504040204" pitchFamily="34" charset="-120"/>
              </a:rPr>
              <a:t>B’</a:t>
            </a:r>
          </a:p>
          <a:p>
            <a:pPr marL="87313"/>
            <a:r>
              <a:rPr lang="zh-TW" altLang="en-US" b="1" dirty="0">
                <a:latin typeface="微軟正黑體" panose="020B0604030504040204" pitchFamily="34" charset="-120"/>
                <a:ea typeface="微軟正黑體" panose="020B0604030504040204" pitchFamily="34" charset="-120"/>
              </a:rPr>
              <a:t>技術特徵</a:t>
            </a:r>
            <a:r>
              <a:rPr lang="en-US" altLang="zh-TW" b="1" dirty="0">
                <a:latin typeface="微軟正黑體" panose="020B0604030504040204" pitchFamily="34" charset="-120"/>
                <a:ea typeface="微軟正黑體" panose="020B0604030504040204" pitchFamily="34" charset="-120"/>
              </a:rPr>
              <a:t>D</a:t>
            </a:r>
          </a:p>
          <a:p>
            <a:pPr marL="87313"/>
            <a:r>
              <a:rPr lang="zh-TW" altLang="en-US" sz="1800" b="1" dirty="0">
                <a:latin typeface="微軟正黑體" panose="020B0604030504040204" pitchFamily="34" charset="-120"/>
                <a:ea typeface="微軟正黑體" panose="020B0604030504040204" pitchFamily="34" charset="-120"/>
              </a:rPr>
              <a:t>技術特徵</a:t>
            </a:r>
            <a:r>
              <a:rPr lang="en-US" altLang="zh-TW" sz="1800" b="1" dirty="0">
                <a:latin typeface="微軟正黑體" panose="020B0604030504040204" pitchFamily="34" charset="-120"/>
                <a:ea typeface="微軟正黑體" panose="020B0604030504040204" pitchFamily="34" charset="-120"/>
              </a:rPr>
              <a:t>E</a:t>
            </a:r>
            <a:endParaRPr lang="en-US" altLang="zh-TW" b="1" dirty="0">
              <a:latin typeface="微軟正黑體" panose="020B0604030504040204" pitchFamily="34" charset="-120"/>
              <a:ea typeface="微軟正黑體" panose="020B0604030504040204" pitchFamily="34" charset="-120"/>
            </a:endParaRPr>
          </a:p>
        </p:txBody>
      </p:sp>
      <p:sp>
        <p:nvSpPr>
          <p:cNvPr id="9" name="文字方塊 8">
            <a:extLst>
              <a:ext uri="{FF2B5EF4-FFF2-40B4-BE49-F238E27FC236}">
                <a16:creationId xmlns:a16="http://schemas.microsoft.com/office/drawing/2014/main" id="{D2E41587-0502-FC65-C1D0-DF00E5818054}"/>
              </a:ext>
            </a:extLst>
          </p:cNvPr>
          <p:cNvSpPr txBox="1"/>
          <p:nvPr/>
        </p:nvSpPr>
        <p:spPr>
          <a:xfrm>
            <a:off x="7312135" y="4996769"/>
            <a:ext cx="1133872" cy="341376"/>
          </a:xfrm>
          <a:prstGeom prst="rect">
            <a:avLst/>
          </a:prstGeom>
        </p:spPr>
        <p:style>
          <a:lnRef idx="1">
            <a:schemeClr val="accent2"/>
          </a:lnRef>
          <a:fillRef idx="2">
            <a:schemeClr val="accent2"/>
          </a:fillRef>
          <a:effectRef idx="1">
            <a:schemeClr val="accent2"/>
          </a:effectRef>
          <a:fontRef idx="minor">
            <a:schemeClr val="dk1"/>
          </a:fontRef>
        </p:style>
        <p:txBody>
          <a:bodyPr wrap="square" lIns="36000" rIns="36000">
            <a:spAutoFit/>
          </a:bodyPr>
          <a:lstStyle/>
          <a:p>
            <a:pPr marL="174625" indent="-174625" algn="ctr">
              <a:lnSpc>
                <a:spcPts val="2100"/>
              </a:lnSpc>
              <a:spcBef>
                <a:spcPts val="0"/>
              </a:spcBef>
            </a:pPr>
            <a:r>
              <a:rPr lang="zh-TW" altLang="en-US" sz="1600" b="1" dirty="0">
                <a:latin typeface="微軟正黑體" panose="020B0604030504040204" pitchFamily="34" charset="-120"/>
                <a:ea typeface="微軟正黑體" panose="020B0604030504040204" pitchFamily="34" charset="-120"/>
              </a:rPr>
              <a:t>先前技術</a:t>
            </a:r>
            <a:r>
              <a:rPr lang="en-US" altLang="zh-TW" sz="1600" b="1" dirty="0">
                <a:latin typeface="微軟正黑體" panose="020B0604030504040204" pitchFamily="34" charset="-120"/>
                <a:ea typeface="微軟正黑體" panose="020B0604030504040204" pitchFamily="34" charset="-120"/>
              </a:rPr>
              <a:t>2</a:t>
            </a:r>
          </a:p>
        </p:txBody>
      </p:sp>
      <p:pic>
        <p:nvPicPr>
          <p:cNvPr id="1028" name="Picture 4" descr="无负白板- Pixabay上的免费图片- Pixabay">
            <a:extLst>
              <a:ext uri="{FF2B5EF4-FFF2-40B4-BE49-F238E27FC236}">
                <a16:creationId xmlns:a16="http://schemas.microsoft.com/office/drawing/2014/main" id="{E69A0A23-516B-E773-5CA7-733A2954AD7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046166" y="4359276"/>
            <a:ext cx="2068520" cy="1460892"/>
          </a:xfrm>
          <a:prstGeom prst="rect">
            <a:avLst/>
          </a:prstGeom>
          <a:noFill/>
          <a:extLst>
            <a:ext uri="{909E8E84-426E-40DD-AFC4-6F175D3DCCD1}">
              <a14:hiddenFill xmlns:a14="http://schemas.microsoft.com/office/drawing/2010/main">
                <a:solidFill>
                  <a:srgbClr val="FFFFFF"/>
                </a:solidFill>
              </a14:hiddenFill>
            </a:ext>
          </a:extLst>
        </p:spPr>
      </p:pic>
      <p:sp>
        <p:nvSpPr>
          <p:cNvPr id="12" name="文字方塊 11">
            <a:extLst>
              <a:ext uri="{FF2B5EF4-FFF2-40B4-BE49-F238E27FC236}">
                <a16:creationId xmlns:a16="http://schemas.microsoft.com/office/drawing/2014/main" id="{CF2B4967-3B31-082C-04AB-D9A8A16EBC5A}"/>
              </a:ext>
            </a:extLst>
          </p:cNvPr>
          <p:cNvSpPr txBox="1"/>
          <p:nvPr/>
        </p:nvSpPr>
        <p:spPr>
          <a:xfrm>
            <a:off x="5848746" y="4649751"/>
            <a:ext cx="1319925" cy="338554"/>
          </a:xfrm>
          <a:prstGeom prst="rect">
            <a:avLst/>
          </a:prstGeom>
          <a:noFill/>
        </p:spPr>
        <p:txBody>
          <a:bodyPr wrap="square">
            <a:spAutoFit/>
          </a:bodyPr>
          <a:lstStyle/>
          <a:p>
            <a:r>
              <a:rPr lang="zh-TW" altLang="en-US" sz="1600" b="1" dirty="0">
                <a:latin typeface="微軟正黑體" panose="020B0604030504040204" pitchFamily="34" charset="-120"/>
                <a:ea typeface="微軟正黑體" panose="020B0604030504040204" pitchFamily="34" charset="-120"/>
              </a:rPr>
              <a:t>技術特徵</a:t>
            </a:r>
            <a:r>
              <a:rPr lang="en-US" altLang="zh-TW" sz="1600" b="1" dirty="0">
                <a:latin typeface="微軟正黑體" panose="020B0604030504040204" pitchFamily="34" charset="-120"/>
                <a:ea typeface="微軟正黑體" panose="020B0604030504040204" pitchFamily="34" charset="-120"/>
              </a:rPr>
              <a:t>E</a:t>
            </a:r>
            <a:endParaRPr lang="zh-TW" altLang="en-US" sz="1600" dirty="0"/>
          </a:p>
        </p:txBody>
      </p:sp>
      <p:sp>
        <p:nvSpPr>
          <p:cNvPr id="13" name="箭號: 弧形上彎 12">
            <a:extLst>
              <a:ext uri="{FF2B5EF4-FFF2-40B4-BE49-F238E27FC236}">
                <a16:creationId xmlns:a16="http://schemas.microsoft.com/office/drawing/2014/main" id="{1A9BEBBD-AD0E-B546-29FF-CD7B8A226BF4}"/>
              </a:ext>
            </a:extLst>
          </p:cNvPr>
          <p:cNvSpPr/>
          <p:nvPr/>
        </p:nvSpPr>
        <p:spPr>
          <a:xfrm rot="20239272">
            <a:off x="5165271" y="6123167"/>
            <a:ext cx="1258815" cy="494996"/>
          </a:xfrm>
          <a:prstGeom prst="curvedUpArrow">
            <a:avLst/>
          </a:prstGeom>
          <a:solidFill>
            <a:schemeClr val="accent1">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5" name="文字方塊 14">
            <a:extLst>
              <a:ext uri="{FF2B5EF4-FFF2-40B4-BE49-F238E27FC236}">
                <a16:creationId xmlns:a16="http://schemas.microsoft.com/office/drawing/2014/main" id="{65EBF0CD-3439-ECF1-8972-EA4CFC0AE234}"/>
              </a:ext>
            </a:extLst>
          </p:cNvPr>
          <p:cNvSpPr txBox="1"/>
          <p:nvPr/>
        </p:nvSpPr>
        <p:spPr>
          <a:xfrm>
            <a:off x="5706380" y="6184436"/>
            <a:ext cx="1133872" cy="372457"/>
          </a:xfrm>
          <a:prstGeom prst="rect">
            <a:avLst/>
          </a:prstGeom>
          <a:noFill/>
        </p:spPr>
        <p:txBody>
          <a:bodyPr wrap="square">
            <a:spAutoFit/>
            <a:scene3d>
              <a:camera prst="obliqueBottomRight"/>
              <a:lightRig rig="threePt" dir="t"/>
            </a:scene3d>
          </a:bodyPr>
          <a:lstStyle/>
          <a:p>
            <a:r>
              <a:rPr lang="zh-TW" altLang="en-US" b="1" dirty="0">
                <a:solidFill>
                  <a:srgbClr val="FF0000"/>
                </a:solidFill>
                <a:latin typeface="微軟正黑體" panose="020B0604030504040204" pitchFamily="34" charset="-120"/>
                <a:ea typeface="微軟正黑體" panose="020B0604030504040204" pitchFamily="34" charset="-120"/>
              </a:rPr>
              <a:t>無法結合</a:t>
            </a:r>
          </a:p>
        </p:txBody>
      </p:sp>
      <p:sp>
        <p:nvSpPr>
          <p:cNvPr id="17" name="箭號: 有線條的向右箭號 16">
            <a:extLst>
              <a:ext uri="{FF2B5EF4-FFF2-40B4-BE49-F238E27FC236}">
                <a16:creationId xmlns:a16="http://schemas.microsoft.com/office/drawing/2014/main" id="{FF9C8796-2727-8B01-03E3-56E8CAACD471}"/>
              </a:ext>
            </a:extLst>
          </p:cNvPr>
          <p:cNvSpPr/>
          <p:nvPr/>
        </p:nvSpPr>
        <p:spPr>
          <a:xfrm flipH="1">
            <a:off x="2595307" y="5770438"/>
            <a:ext cx="665321" cy="553710"/>
          </a:xfrm>
          <a:prstGeom prst="stripedRightArrow">
            <a:avLst/>
          </a:prstGeom>
          <a:solidFill>
            <a:schemeClr val="accent1">
              <a:alpha val="9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乘號 19">
            <a:extLst>
              <a:ext uri="{FF2B5EF4-FFF2-40B4-BE49-F238E27FC236}">
                <a16:creationId xmlns:a16="http://schemas.microsoft.com/office/drawing/2014/main" id="{C08BB91F-7002-D943-0920-F906F0AA364D}"/>
              </a:ext>
            </a:extLst>
          </p:cNvPr>
          <p:cNvSpPr/>
          <p:nvPr/>
        </p:nvSpPr>
        <p:spPr>
          <a:xfrm>
            <a:off x="2513450" y="5590093"/>
            <a:ext cx="914400" cy="914400"/>
          </a:xfrm>
          <a:prstGeom prst="mathMultiply">
            <a:avLst>
              <a:gd name="adj1" fmla="val 6499"/>
            </a:avLst>
          </a:prstGeom>
          <a:ln w="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1719944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DE3E5D12-4A7C-4174-04B4-E44BB42ED13F}"/>
              </a:ext>
            </a:extLst>
          </p:cNvPr>
          <p:cNvSpPr>
            <a:spLocks noGrp="1"/>
          </p:cNvSpPr>
          <p:nvPr>
            <p:ph type="title"/>
          </p:nvPr>
        </p:nvSpPr>
        <p:spPr/>
        <p:txBody>
          <a:bodyPr/>
          <a:lstStyle/>
          <a:p>
            <a:r>
              <a:rPr lang="zh-TW" altLang="en-US" dirty="0"/>
              <a:t>進步性</a:t>
            </a:r>
            <a:r>
              <a:rPr lang="en-US" altLang="zh-TW" dirty="0"/>
              <a:t>-</a:t>
            </a:r>
            <a:r>
              <a:rPr lang="zh-TW" altLang="en-US" dirty="0"/>
              <a:t>肯定進步性</a:t>
            </a:r>
          </a:p>
        </p:txBody>
      </p:sp>
      <p:sp>
        <p:nvSpPr>
          <p:cNvPr id="10" name="內容版面配置區 9">
            <a:extLst>
              <a:ext uri="{FF2B5EF4-FFF2-40B4-BE49-F238E27FC236}">
                <a16:creationId xmlns:a16="http://schemas.microsoft.com/office/drawing/2014/main" id="{B942D791-A400-700D-0362-EC57CF9F37C8}"/>
              </a:ext>
            </a:extLst>
          </p:cNvPr>
          <p:cNvSpPr>
            <a:spLocks noGrp="1"/>
          </p:cNvSpPr>
          <p:nvPr>
            <p:ph idx="1"/>
          </p:nvPr>
        </p:nvSpPr>
        <p:spPr>
          <a:xfrm>
            <a:off x="457200" y="980728"/>
            <a:ext cx="8229600" cy="2808312"/>
          </a:xfrm>
        </p:spPr>
        <p:txBody>
          <a:bodyPr>
            <a:normAutofit fontScale="70000" lnSpcReduction="20000"/>
          </a:bodyPr>
          <a:lstStyle/>
          <a:p>
            <a:pPr>
              <a:lnSpc>
                <a:spcPct val="120000"/>
              </a:lnSpc>
            </a:pPr>
            <a:r>
              <a:rPr lang="zh-TW" altLang="en-US" dirty="0"/>
              <a:t>有利功效</a:t>
            </a:r>
            <a:endParaRPr lang="en-US" altLang="zh-TW" dirty="0"/>
          </a:p>
          <a:p>
            <a:pPr lvl="1">
              <a:lnSpc>
                <a:spcPct val="120000"/>
              </a:lnSpc>
            </a:pPr>
            <a:r>
              <a:rPr lang="zh-TW" altLang="en-US" dirty="0"/>
              <a:t>包括</a:t>
            </a:r>
            <a:endParaRPr lang="en-US" altLang="zh-TW" dirty="0"/>
          </a:p>
          <a:p>
            <a:pPr lvl="2">
              <a:lnSpc>
                <a:spcPct val="120000"/>
              </a:lnSpc>
            </a:pPr>
            <a:r>
              <a:rPr lang="zh-TW" altLang="en-US" dirty="0"/>
              <a:t>申請時之</a:t>
            </a:r>
            <a:r>
              <a:rPr lang="zh-TW" altLang="en-US" b="1" dirty="0"/>
              <a:t>說明書</a:t>
            </a:r>
            <a:r>
              <a:rPr lang="zh-TW" altLang="en-US" dirty="0"/>
              <a:t>中所記載之有利功效 </a:t>
            </a:r>
            <a:endParaRPr lang="en-US" altLang="zh-TW" dirty="0"/>
          </a:p>
          <a:p>
            <a:pPr lvl="2">
              <a:lnSpc>
                <a:spcPct val="120000"/>
              </a:lnSpc>
            </a:pPr>
            <a:r>
              <a:rPr lang="zh-TW" altLang="en-US" dirty="0"/>
              <a:t>申請人於</a:t>
            </a:r>
            <a:r>
              <a:rPr lang="zh-TW" altLang="en-US" b="1" dirty="0"/>
              <a:t>修正或申復時</a:t>
            </a:r>
            <a:r>
              <a:rPr lang="zh-TW" altLang="en-US" dirty="0"/>
              <a:t>所主張之有利功效 </a:t>
            </a:r>
            <a:endParaRPr lang="en-US" altLang="zh-TW" dirty="0"/>
          </a:p>
          <a:p>
            <a:pPr lvl="1">
              <a:lnSpc>
                <a:spcPct val="120000"/>
              </a:lnSpc>
            </a:pPr>
            <a:r>
              <a:rPr lang="zh-TW" altLang="en-US" dirty="0"/>
              <a:t>實現該發明之技術手段所</a:t>
            </a:r>
            <a:r>
              <a:rPr lang="zh-TW" altLang="en-US" b="1" dirty="0"/>
              <a:t>直接產生的技術效果，</a:t>
            </a:r>
            <a:r>
              <a:rPr lang="zh-TW" altLang="en-US" u="sng" dirty="0"/>
              <a:t>若非明確記載或推導之有利功效，則不予考量 </a:t>
            </a:r>
            <a:endParaRPr lang="en-US" altLang="zh-TW" u="sng" dirty="0"/>
          </a:p>
          <a:p>
            <a:pPr lvl="1">
              <a:lnSpc>
                <a:spcPct val="120000"/>
              </a:lnSpc>
            </a:pPr>
            <a:r>
              <a:rPr lang="zh-TW" altLang="en-US" dirty="0"/>
              <a:t>若該</a:t>
            </a:r>
            <a:r>
              <a:rPr lang="zh-TW" altLang="en-US" b="1" dirty="0"/>
              <a:t>有利功效為「無法預期之功效」</a:t>
            </a:r>
            <a:r>
              <a:rPr lang="zh-TW" altLang="en-US" dirty="0"/>
              <a:t>，則於判斷是否具有肯定進步性之因素時，得視為</a:t>
            </a:r>
            <a:r>
              <a:rPr lang="zh-TW" altLang="en-US" b="1" dirty="0"/>
              <a:t>有力</a:t>
            </a:r>
            <a:r>
              <a:rPr lang="zh-TW" altLang="en-US" dirty="0"/>
              <a:t>之情事 </a:t>
            </a:r>
            <a:r>
              <a:rPr lang="zh-TW" altLang="en-US" b="1" u="sng" dirty="0"/>
              <a:t> </a:t>
            </a:r>
            <a:endParaRPr lang="en-US" altLang="zh-TW" b="1" u="sng" dirty="0"/>
          </a:p>
        </p:txBody>
      </p:sp>
      <p:sp>
        <p:nvSpPr>
          <p:cNvPr id="4" name="投影片編號版面配置區 3">
            <a:extLst>
              <a:ext uri="{FF2B5EF4-FFF2-40B4-BE49-F238E27FC236}">
                <a16:creationId xmlns:a16="http://schemas.microsoft.com/office/drawing/2014/main" id="{6FC7DF09-C58A-C465-986F-15725E792F06}"/>
              </a:ext>
            </a:extLst>
          </p:cNvPr>
          <p:cNvSpPr>
            <a:spLocks noGrp="1"/>
          </p:cNvSpPr>
          <p:nvPr>
            <p:ph type="sldNum" sz="quarter" idx="12"/>
          </p:nvPr>
        </p:nvSpPr>
        <p:spPr>
          <a:xfrm>
            <a:off x="6948264" y="6356350"/>
            <a:ext cx="2133600" cy="365125"/>
          </a:xfrm>
        </p:spPr>
        <p:txBody>
          <a:bodyPr/>
          <a:lstStyle/>
          <a:p>
            <a:fld id="{254D4C32-7A1A-45A5-84ED-81747F1ABFAE}" type="slidenum">
              <a:rPr lang="zh-TW" altLang="en-US" smtClean="0"/>
              <a:t>27</a:t>
            </a:fld>
            <a:endParaRPr lang="zh-TW" altLang="en-US" dirty="0"/>
          </a:p>
        </p:txBody>
      </p:sp>
      <p:grpSp>
        <p:nvGrpSpPr>
          <p:cNvPr id="28" name="群組 27"/>
          <p:cNvGrpSpPr/>
          <p:nvPr/>
        </p:nvGrpSpPr>
        <p:grpSpPr>
          <a:xfrm>
            <a:off x="636762" y="4064212"/>
            <a:ext cx="8079110" cy="1845486"/>
            <a:chOff x="1064891" y="4091628"/>
            <a:chExt cx="8079110" cy="1845486"/>
          </a:xfrm>
        </p:grpSpPr>
        <p:grpSp>
          <p:nvGrpSpPr>
            <p:cNvPr id="27" name="群組 26"/>
            <p:cNvGrpSpPr/>
            <p:nvPr/>
          </p:nvGrpSpPr>
          <p:grpSpPr>
            <a:xfrm>
              <a:off x="1064891" y="4091628"/>
              <a:ext cx="6195015" cy="1845486"/>
              <a:chOff x="1259632" y="4091628"/>
              <a:chExt cx="6195015" cy="1845486"/>
            </a:xfrm>
          </p:grpSpPr>
          <p:sp>
            <p:nvSpPr>
              <p:cNvPr id="18" name="矩形 17">
                <a:extLst>
                  <a:ext uri="{FF2B5EF4-FFF2-40B4-BE49-F238E27FC236}">
                    <a16:creationId xmlns:a16="http://schemas.microsoft.com/office/drawing/2014/main" id="{D9091021-3ECB-EA9E-F08F-F5F19DFE1CB9}"/>
                  </a:ext>
                </a:extLst>
              </p:cNvPr>
              <p:cNvSpPr/>
              <p:nvPr/>
            </p:nvSpPr>
            <p:spPr>
              <a:xfrm>
                <a:off x="1259632" y="4523205"/>
                <a:ext cx="1440160" cy="61894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TW" altLang="en-US" b="1" dirty="0">
                    <a:latin typeface="微軟正黑體" panose="020B0604030504040204" pitchFamily="34" charset="-120"/>
                    <a:ea typeface="微軟正黑體" panose="020B0604030504040204" pitchFamily="34" charset="-120"/>
                  </a:rPr>
                  <a:t>說明書</a:t>
                </a:r>
                <a:endParaRPr lang="en-US" altLang="zh-TW" sz="1800" b="1" dirty="0">
                  <a:latin typeface="微軟正黑體" panose="020B0604030504040204" pitchFamily="34" charset="-120"/>
                  <a:ea typeface="微軟正黑體" panose="020B0604030504040204" pitchFamily="34" charset="-120"/>
                </a:endParaRPr>
              </a:p>
            </p:txBody>
          </p:sp>
          <p:sp>
            <p:nvSpPr>
              <p:cNvPr id="19" name="文字方塊 18">
                <a:extLst>
                  <a:ext uri="{FF2B5EF4-FFF2-40B4-BE49-F238E27FC236}">
                    <a16:creationId xmlns:a16="http://schemas.microsoft.com/office/drawing/2014/main" id="{51F329B7-B449-0794-C2E8-D1C97F7751AB}"/>
                  </a:ext>
                </a:extLst>
              </p:cNvPr>
              <p:cNvSpPr txBox="1"/>
              <p:nvPr/>
            </p:nvSpPr>
            <p:spPr>
              <a:xfrm>
                <a:off x="1407479" y="4091628"/>
                <a:ext cx="1133872" cy="341376"/>
              </a:xfrm>
              <a:prstGeom prst="rect">
                <a:avLst/>
              </a:prstGeom>
            </p:spPr>
            <p:style>
              <a:lnRef idx="1">
                <a:schemeClr val="accent3"/>
              </a:lnRef>
              <a:fillRef idx="2">
                <a:schemeClr val="accent3"/>
              </a:fillRef>
              <a:effectRef idx="1">
                <a:schemeClr val="accent3"/>
              </a:effectRef>
              <a:fontRef idx="minor">
                <a:schemeClr val="dk1"/>
              </a:fontRef>
            </p:style>
            <p:txBody>
              <a:bodyPr wrap="square" lIns="36000" rIns="36000">
                <a:spAutoFit/>
              </a:bodyPr>
              <a:lstStyle/>
              <a:p>
                <a:pPr marL="174625" indent="-174625" algn="ctr">
                  <a:lnSpc>
                    <a:spcPts val="2100"/>
                  </a:lnSpc>
                  <a:spcBef>
                    <a:spcPts val="0"/>
                  </a:spcBef>
                </a:pPr>
                <a:r>
                  <a:rPr lang="zh-TW" altLang="en-US" sz="1600" b="1" dirty="0">
                    <a:latin typeface="微軟正黑體" panose="020B0604030504040204" pitchFamily="34" charset="-120"/>
                    <a:ea typeface="微軟正黑體" panose="020B0604030504040204" pitchFamily="34" charset="-120"/>
                  </a:rPr>
                  <a:t>申請之發明</a:t>
                </a:r>
                <a:endParaRPr lang="en-US" altLang="zh-TW" sz="1600" b="1" dirty="0">
                  <a:latin typeface="微軟正黑體" panose="020B0604030504040204" pitchFamily="34" charset="-120"/>
                  <a:ea typeface="微軟正黑體" panose="020B0604030504040204" pitchFamily="34" charset="-120"/>
                </a:endParaRPr>
              </a:p>
            </p:txBody>
          </p:sp>
          <p:sp>
            <p:nvSpPr>
              <p:cNvPr id="21" name="矩形 20">
                <a:extLst>
                  <a:ext uri="{FF2B5EF4-FFF2-40B4-BE49-F238E27FC236}">
                    <a16:creationId xmlns:a16="http://schemas.microsoft.com/office/drawing/2014/main" id="{D9091021-3ECB-EA9E-F08F-F5F19DFE1CB9}"/>
                  </a:ext>
                </a:extLst>
              </p:cNvPr>
              <p:cNvSpPr/>
              <p:nvPr/>
            </p:nvSpPr>
            <p:spPr>
              <a:xfrm>
                <a:off x="1271269" y="5170440"/>
                <a:ext cx="1440160" cy="61894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TW" altLang="en-US" sz="1800" b="1" dirty="0">
                    <a:latin typeface="微軟正黑體" panose="020B0604030504040204" pitchFamily="34" charset="-120"/>
                    <a:ea typeface="微軟正黑體" panose="020B0604030504040204" pitchFamily="34" charset="-120"/>
                  </a:rPr>
                  <a:t>申復或修正</a:t>
                </a:r>
                <a:endParaRPr lang="en-US" altLang="zh-TW" sz="1800" b="1" dirty="0">
                  <a:latin typeface="微軟正黑體" panose="020B0604030504040204" pitchFamily="34" charset="-120"/>
                  <a:ea typeface="微軟正黑體" panose="020B0604030504040204" pitchFamily="34" charset="-120"/>
                </a:endParaRPr>
              </a:p>
            </p:txBody>
          </p:sp>
          <p:sp>
            <p:nvSpPr>
              <p:cNvPr id="14" name="＞形箭號 13"/>
              <p:cNvSpPr/>
              <p:nvPr/>
            </p:nvSpPr>
            <p:spPr>
              <a:xfrm>
                <a:off x="2843808" y="4877957"/>
                <a:ext cx="484632" cy="484632"/>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6" name="矩形 15"/>
              <p:cNvSpPr/>
              <p:nvPr/>
            </p:nvSpPr>
            <p:spPr>
              <a:xfrm>
                <a:off x="3712013" y="4523205"/>
                <a:ext cx="1107996" cy="369332"/>
              </a:xfrm>
              <a:prstGeom prst="rect">
                <a:avLst/>
              </a:prstGeom>
            </p:spPr>
            <p:txBody>
              <a:bodyPr wrap="none">
                <a:spAutoFit/>
              </a:bodyPr>
              <a:lstStyle/>
              <a:p>
                <a:r>
                  <a:rPr lang="zh-TW" altLang="en-US" b="1" dirty="0">
                    <a:latin typeface="微軟正黑體" panose="020B0604030504040204" pitchFamily="34" charset="-120"/>
                    <a:ea typeface="微軟正黑體" panose="020B0604030504040204" pitchFamily="34" charset="-120"/>
                  </a:rPr>
                  <a:t>技術效果</a:t>
                </a:r>
                <a:endParaRPr lang="zh-TW" altLang="en-US" dirty="0">
                  <a:latin typeface="微軟正黑體" panose="020B0604030504040204" pitchFamily="34" charset="-120"/>
                  <a:ea typeface="微軟正黑體" panose="020B0604030504040204" pitchFamily="34" charset="-120"/>
                </a:endParaRPr>
              </a:p>
            </p:txBody>
          </p:sp>
          <p:sp>
            <p:nvSpPr>
              <p:cNvPr id="23" name="矩形 22"/>
              <p:cNvSpPr/>
              <p:nvPr/>
            </p:nvSpPr>
            <p:spPr>
              <a:xfrm>
                <a:off x="3712013" y="5295248"/>
                <a:ext cx="1107996" cy="369332"/>
              </a:xfrm>
              <a:prstGeom prst="rect">
                <a:avLst/>
              </a:prstGeom>
            </p:spPr>
            <p:txBody>
              <a:bodyPr wrap="none">
                <a:spAutoFit/>
              </a:bodyPr>
              <a:lstStyle/>
              <a:p>
                <a:r>
                  <a:rPr lang="zh-TW" altLang="en-US" b="1" dirty="0">
                    <a:latin typeface="微軟正黑體" panose="020B0604030504040204" pitchFamily="34" charset="-120"/>
                    <a:ea typeface="微軟正黑體" panose="020B0604030504040204" pitchFamily="34" charset="-120"/>
                  </a:rPr>
                  <a:t>商業效果</a:t>
                </a:r>
                <a:endParaRPr lang="zh-TW" altLang="en-US" dirty="0">
                  <a:latin typeface="微軟正黑體" panose="020B0604030504040204" pitchFamily="34" charset="-120"/>
                  <a:ea typeface="微軟正黑體" panose="020B0604030504040204" pitchFamily="34" charset="-120"/>
                </a:endParaRPr>
              </a:p>
            </p:txBody>
          </p:sp>
          <p:sp>
            <p:nvSpPr>
              <p:cNvPr id="22" name="乘號 21"/>
              <p:cNvSpPr/>
              <p:nvPr/>
            </p:nvSpPr>
            <p:spPr>
              <a:xfrm>
                <a:off x="3808811" y="5022714"/>
                <a:ext cx="914400" cy="914400"/>
              </a:xfrm>
              <a:prstGeom prst="mathMultiply">
                <a:avLst>
                  <a:gd name="adj1" fmla="val 8705"/>
                </a:avLst>
              </a:prstGeom>
              <a:solidFill>
                <a:srgbClr val="FF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矩形 24"/>
              <p:cNvSpPr/>
              <p:nvPr/>
            </p:nvSpPr>
            <p:spPr>
              <a:xfrm>
                <a:off x="5508104" y="4877957"/>
                <a:ext cx="1946543" cy="461665"/>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TW" altLang="en-US" sz="2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軟正黑體" panose="020B0604030504040204" pitchFamily="34" charset="-120"/>
                    <a:ea typeface="微軟正黑體" panose="020B0604030504040204" pitchFamily="34" charset="-120"/>
                  </a:rPr>
                  <a:t>有利功效</a:t>
                </a:r>
                <a:endParaRPr lang="en-US" altLang="zh-TW" sz="2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軟正黑體" panose="020B0604030504040204" pitchFamily="34" charset="-120"/>
                  <a:ea typeface="微軟正黑體" panose="020B0604030504040204" pitchFamily="34" charset="-120"/>
                </a:endParaRPr>
              </a:p>
            </p:txBody>
          </p:sp>
          <p:sp>
            <p:nvSpPr>
              <p:cNvPr id="26" name="＞形箭號 25"/>
              <p:cNvSpPr/>
              <p:nvPr/>
            </p:nvSpPr>
            <p:spPr>
              <a:xfrm>
                <a:off x="5121772" y="4877957"/>
                <a:ext cx="484632" cy="484632"/>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sp>
          <p:nvSpPr>
            <p:cNvPr id="29" name="＞形箭號 28"/>
            <p:cNvSpPr/>
            <p:nvPr/>
          </p:nvSpPr>
          <p:spPr>
            <a:xfrm>
              <a:off x="7017590" y="4892537"/>
              <a:ext cx="484632" cy="484632"/>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30" name="矩形 29"/>
            <p:cNvSpPr/>
            <p:nvPr/>
          </p:nvSpPr>
          <p:spPr>
            <a:xfrm>
              <a:off x="7596337" y="4877957"/>
              <a:ext cx="1547664" cy="461665"/>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TW" altLang="en-US" sz="2400" b="1" spc="50" dirty="0">
                  <a:ln w="11430"/>
                  <a:solidFill>
                    <a:srgbClr val="7030A0"/>
                  </a:solidFill>
                  <a:effectLst>
                    <a:outerShdw blurRad="76200" dist="50800" dir="5400000" algn="tl" rotWithShape="0">
                      <a:srgbClr val="000000">
                        <a:alpha val="65000"/>
                      </a:srgbClr>
                    </a:outerShdw>
                  </a:effectLst>
                  <a:latin typeface="微軟正黑體" panose="020B0604030504040204" pitchFamily="34" charset="-120"/>
                  <a:ea typeface="微軟正黑體" panose="020B0604030504040204" pitchFamily="34" charset="-120"/>
                </a:rPr>
                <a:t>具進步性</a:t>
              </a:r>
              <a:endParaRPr lang="en-US" altLang="zh-TW" sz="2400" b="1" spc="50" dirty="0">
                <a:ln w="11430"/>
                <a:solidFill>
                  <a:srgbClr val="7030A0"/>
                </a:solidFill>
                <a:effectLst>
                  <a:outerShdw blurRad="76200" dist="50800" dir="5400000" algn="tl" rotWithShape="0">
                    <a:srgbClr val="000000">
                      <a:alpha val="65000"/>
                    </a:srgbClr>
                  </a:outerShdw>
                </a:effectLst>
                <a:latin typeface="微軟正黑體" panose="020B0604030504040204" pitchFamily="34" charset="-120"/>
                <a:ea typeface="微軟正黑體" panose="020B0604030504040204" pitchFamily="34" charset="-120"/>
              </a:endParaRPr>
            </a:p>
          </p:txBody>
        </p:sp>
      </p:grpSp>
    </p:spTree>
    <p:extLst>
      <p:ext uri="{BB962C8B-B14F-4D97-AF65-F5344CB8AC3E}">
        <p14:creationId xmlns:p14="http://schemas.microsoft.com/office/powerpoint/2010/main" val="21743015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DE3E5D12-4A7C-4174-04B4-E44BB42ED13F}"/>
              </a:ext>
            </a:extLst>
          </p:cNvPr>
          <p:cNvSpPr>
            <a:spLocks noGrp="1"/>
          </p:cNvSpPr>
          <p:nvPr>
            <p:ph type="title"/>
          </p:nvPr>
        </p:nvSpPr>
        <p:spPr/>
        <p:txBody>
          <a:bodyPr/>
          <a:lstStyle/>
          <a:p>
            <a:r>
              <a:rPr lang="zh-TW" altLang="en-US" dirty="0"/>
              <a:t>進步性</a:t>
            </a:r>
            <a:r>
              <a:rPr lang="en-US" altLang="zh-TW" dirty="0"/>
              <a:t>-</a:t>
            </a:r>
            <a:r>
              <a:rPr lang="zh-TW" altLang="en-US" dirty="0"/>
              <a:t>肯定進步性</a:t>
            </a:r>
          </a:p>
        </p:txBody>
      </p:sp>
      <p:sp>
        <p:nvSpPr>
          <p:cNvPr id="10" name="內容版面配置區 9">
            <a:extLst>
              <a:ext uri="{FF2B5EF4-FFF2-40B4-BE49-F238E27FC236}">
                <a16:creationId xmlns:a16="http://schemas.microsoft.com/office/drawing/2014/main" id="{B942D791-A400-700D-0362-EC57CF9F37C8}"/>
              </a:ext>
            </a:extLst>
          </p:cNvPr>
          <p:cNvSpPr>
            <a:spLocks noGrp="1"/>
          </p:cNvSpPr>
          <p:nvPr>
            <p:ph idx="1"/>
          </p:nvPr>
        </p:nvSpPr>
        <p:spPr>
          <a:xfrm>
            <a:off x="457200" y="844545"/>
            <a:ext cx="8229600" cy="3672408"/>
          </a:xfrm>
        </p:spPr>
        <p:txBody>
          <a:bodyPr>
            <a:normAutofit fontScale="62500" lnSpcReduction="20000"/>
          </a:bodyPr>
          <a:lstStyle/>
          <a:p>
            <a:pPr>
              <a:lnSpc>
                <a:spcPct val="120000"/>
              </a:lnSpc>
            </a:pPr>
            <a:r>
              <a:rPr lang="zh-TW" altLang="en-US" dirty="0"/>
              <a:t>輔助判斷因素</a:t>
            </a:r>
            <a:endParaRPr lang="en-US" altLang="zh-TW" dirty="0"/>
          </a:p>
          <a:p>
            <a:pPr lvl="1">
              <a:lnSpc>
                <a:spcPct val="120000"/>
              </a:lnSpc>
            </a:pPr>
            <a:r>
              <a:rPr lang="zh-TW" altLang="en-US" dirty="0"/>
              <a:t>發明具有無法預期之功效</a:t>
            </a:r>
            <a:endParaRPr lang="en-US" altLang="zh-TW" dirty="0"/>
          </a:p>
          <a:p>
            <a:pPr lvl="2">
              <a:lnSpc>
                <a:spcPct val="120000"/>
              </a:lnSpc>
            </a:pPr>
            <a:r>
              <a:rPr lang="zh-TW" altLang="en-US" sz="2600" dirty="0"/>
              <a:t>可預期：功效對於通常知識者而言，係發明申請時能夠預期者</a:t>
            </a:r>
            <a:endParaRPr lang="en-US" altLang="zh-TW" sz="2600" dirty="0"/>
          </a:p>
          <a:p>
            <a:pPr lvl="2">
              <a:lnSpc>
                <a:spcPct val="120000"/>
              </a:lnSpc>
            </a:pPr>
            <a:r>
              <a:rPr lang="zh-TW" altLang="en-US" sz="2600" dirty="0"/>
              <a:t>不可預期：通常知識者而言，係該發明申請時無法預期者</a:t>
            </a:r>
            <a:endParaRPr lang="en-US" altLang="zh-TW" sz="2600" dirty="0"/>
          </a:p>
          <a:p>
            <a:pPr lvl="1">
              <a:lnSpc>
                <a:spcPct val="120000"/>
              </a:lnSpc>
            </a:pPr>
            <a:r>
              <a:rPr lang="zh-TW" altLang="en-US" dirty="0"/>
              <a:t>發明解決長期存在的問題</a:t>
            </a:r>
            <a:endParaRPr lang="en-US" altLang="zh-TW" dirty="0"/>
          </a:p>
          <a:p>
            <a:pPr lvl="2">
              <a:lnSpc>
                <a:spcPct val="120000"/>
              </a:lnSpc>
            </a:pPr>
            <a:r>
              <a:rPr lang="zh-TW" altLang="en-US" sz="2600" dirty="0"/>
              <a:t>長期存在的問題</a:t>
            </a:r>
            <a:r>
              <a:rPr lang="zh-TW" altLang="en-US" sz="2600" dirty="0">
                <a:sym typeface="Wingdings" panose="05000000000000000000" pitchFamily="2" charset="2"/>
              </a:rPr>
              <a:t>：</a:t>
            </a:r>
            <a:r>
              <a:rPr lang="en-US" altLang="zh-TW" sz="2600" dirty="0">
                <a:sym typeface="Wingdings" panose="05000000000000000000" pitchFamily="2" charset="2"/>
              </a:rPr>
              <a:t>(1)</a:t>
            </a:r>
            <a:r>
              <a:rPr lang="zh-TW" altLang="en-US" sz="2600" dirty="0"/>
              <a:t>公認為長期存在的問題；</a:t>
            </a:r>
            <a:r>
              <a:rPr lang="en-US" altLang="zh-TW" sz="2600" dirty="0"/>
              <a:t>(2)</a:t>
            </a:r>
            <a:r>
              <a:rPr lang="zh-TW" altLang="en-US" sz="2600" dirty="0"/>
              <a:t>發明申請前始終未被解決；</a:t>
            </a:r>
            <a:r>
              <a:rPr lang="en-US" altLang="zh-TW" sz="2600" dirty="0"/>
              <a:t>(3)</a:t>
            </a:r>
            <a:r>
              <a:rPr lang="zh-TW" altLang="en-US" sz="2600" dirty="0"/>
              <a:t>發明能成功解決該問題</a:t>
            </a:r>
            <a:endParaRPr lang="en-US" altLang="zh-TW" sz="2600" dirty="0"/>
          </a:p>
          <a:p>
            <a:pPr lvl="1">
              <a:lnSpc>
                <a:spcPct val="120000"/>
              </a:lnSpc>
            </a:pPr>
            <a:r>
              <a:rPr lang="zh-TW" altLang="en-US" dirty="0"/>
              <a:t>發明克服技術偏見</a:t>
            </a:r>
            <a:endParaRPr lang="en-US" altLang="zh-TW" dirty="0"/>
          </a:p>
          <a:p>
            <a:pPr lvl="2">
              <a:lnSpc>
                <a:spcPct val="120000"/>
              </a:lnSpc>
            </a:pPr>
            <a:r>
              <a:rPr lang="zh-TW" altLang="en-US" sz="2600" dirty="0"/>
              <a:t>採用因技術偏見而被捨棄之技術手段，該技術手段能解決該問題</a:t>
            </a:r>
            <a:endParaRPr lang="en-US" altLang="zh-TW" sz="2600" dirty="0"/>
          </a:p>
          <a:p>
            <a:pPr lvl="1">
              <a:lnSpc>
                <a:spcPct val="120000"/>
              </a:lnSpc>
            </a:pPr>
            <a:r>
              <a:rPr lang="zh-TW" altLang="en-US" dirty="0"/>
              <a:t>發明獲得商業上的成功</a:t>
            </a:r>
            <a:endParaRPr lang="en-US" altLang="zh-TW" dirty="0"/>
          </a:p>
          <a:p>
            <a:pPr lvl="2">
              <a:lnSpc>
                <a:spcPct val="120000"/>
              </a:lnSpc>
            </a:pPr>
            <a:r>
              <a:rPr lang="zh-TW" altLang="en-US" sz="2600" dirty="0"/>
              <a:t>商業上獲得成功，且其係由該發明之技術特徵所</a:t>
            </a:r>
            <a:r>
              <a:rPr lang="zh-TW" altLang="en-US" sz="2600" b="1" dirty="0"/>
              <a:t>直接導致</a:t>
            </a:r>
            <a:r>
              <a:rPr lang="zh-TW" altLang="en-US" sz="2600" dirty="0"/>
              <a:t>，而非因其他因素如銷售技巧或廣告宣傳所造成者</a:t>
            </a:r>
            <a:endParaRPr lang="en-US" altLang="zh-TW" sz="2600" b="1" u="sng" dirty="0"/>
          </a:p>
        </p:txBody>
      </p:sp>
      <p:sp>
        <p:nvSpPr>
          <p:cNvPr id="4" name="投影片編號版面配置區 3">
            <a:extLst>
              <a:ext uri="{FF2B5EF4-FFF2-40B4-BE49-F238E27FC236}">
                <a16:creationId xmlns:a16="http://schemas.microsoft.com/office/drawing/2014/main" id="{6FC7DF09-C58A-C465-986F-15725E792F06}"/>
              </a:ext>
            </a:extLst>
          </p:cNvPr>
          <p:cNvSpPr>
            <a:spLocks noGrp="1"/>
          </p:cNvSpPr>
          <p:nvPr>
            <p:ph type="sldNum" sz="quarter" idx="12"/>
          </p:nvPr>
        </p:nvSpPr>
        <p:spPr>
          <a:xfrm>
            <a:off x="6948264" y="6356350"/>
            <a:ext cx="2133600" cy="365125"/>
          </a:xfrm>
        </p:spPr>
        <p:txBody>
          <a:bodyPr/>
          <a:lstStyle/>
          <a:p>
            <a:fld id="{254D4C32-7A1A-45A5-84ED-81747F1ABFAE}" type="slidenum">
              <a:rPr lang="zh-TW" altLang="en-US" smtClean="0"/>
              <a:t>28</a:t>
            </a:fld>
            <a:endParaRPr lang="zh-TW" altLang="en-US" dirty="0"/>
          </a:p>
        </p:txBody>
      </p:sp>
      <p:grpSp>
        <p:nvGrpSpPr>
          <p:cNvPr id="3" name="群組 2"/>
          <p:cNvGrpSpPr/>
          <p:nvPr/>
        </p:nvGrpSpPr>
        <p:grpSpPr>
          <a:xfrm>
            <a:off x="1480005" y="4581128"/>
            <a:ext cx="6504392" cy="2072784"/>
            <a:chOff x="1691680" y="4581128"/>
            <a:chExt cx="6504392" cy="2072784"/>
          </a:xfrm>
        </p:grpSpPr>
        <p:grpSp>
          <p:nvGrpSpPr>
            <p:cNvPr id="20" name="群組 19">
              <a:extLst>
                <a:ext uri="{FF2B5EF4-FFF2-40B4-BE49-F238E27FC236}">
                  <a16:creationId xmlns:a16="http://schemas.microsoft.com/office/drawing/2014/main" id="{2D1F3A01-A199-BD71-539C-410E2F1D9465}"/>
                </a:ext>
              </a:extLst>
            </p:cNvPr>
            <p:cNvGrpSpPr/>
            <p:nvPr/>
          </p:nvGrpSpPr>
          <p:grpSpPr>
            <a:xfrm>
              <a:off x="1691680" y="4581128"/>
              <a:ext cx="3252196" cy="2072784"/>
              <a:chOff x="191038" y="1750109"/>
              <a:chExt cx="3156826" cy="2072784"/>
            </a:xfrm>
          </p:grpSpPr>
          <p:sp>
            <p:nvSpPr>
              <p:cNvPr id="24" name="AutoShape 196">
                <a:extLst>
                  <a:ext uri="{FF2B5EF4-FFF2-40B4-BE49-F238E27FC236}">
                    <a16:creationId xmlns:a16="http://schemas.microsoft.com/office/drawing/2014/main" id="{C4A77C56-A59F-9CDA-34C6-9C13C060F525}"/>
                  </a:ext>
                </a:extLst>
              </p:cNvPr>
              <p:cNvSpPr>
                <a:spLocks noChangeArrowheads="1"/>
              </p:cNvSpPr>
              <p:nvPr/>
            </p:nvSpPr>
            <p:spPr bwMode="auto">
              <a:xfrm>
                <a:off x="240172" y="2081718"/>
                <a:ext cx="3060606" cy="1741175"/>
              </a:xfrm>
              <a:prstGeom prst="roundRect">
                <a:avLst>
                  <a:gd name="adj" fmla="val 3727"/>
                </a:avLst>
              </a:prstGeom>
              <a:solidFill>
                <a:schemeClr val="bg1">
                  <a:alpha val="50000"/>
                </a:schemeClr>
              </a:solidFill>
              <a:ln w="9525">
                <a:noFill/>
                <a:round/>
                <a:headEnd/>
                <a:tailEnd/>
              </a:ln>
              <a:effectLst>
                <a:outerShdw blurRad="50800" dist="38100" dir="5400000" algn="t" rotWithShape="0">
                  <a:prstClr val="black">
                    <a:alpha val="40000"/>
                  </a:prstClr>
                </a:outerShdw>
              </a:effectLst>
            </p:spPr>
            <p:txBody>
              <a:bodyPr wrap="none" lIns="91425" tIns="45713" rIns="91425" bIns="45713" anchor="ctr"/>
              <a:lstStyle/>
              <a:p>
                <a:pPr algn="ctr">
                  <a:lnSpc>
                    <a:spcPct val="140000"/>
                  </a:lnSpc>
                  <a:buClr>
                    <a:schemeClr val="bg1"/>
                  </a:buClr>
                  <a:defRPr/>
                </a:pPr>
                <a:endParaRPr lang="zh-CN" altLang="zh-CN">
                  <a:solidFill>
                    <a:srgbClr val="FFFF00"/>
                  </a:solidFill>
                  <a:latin typeface="微軟正黑體" panose="020B0604030504040204" pitchFamily="34" charset="-120"/>
                  <a:ea typeface="微軟正黑體" panose="020B0604030504040204" pitchFamily="34" charset="-120"/>
                </a:endParaRPr>
              </a:p>
            </p:txBody>
          </p:sp>
          <p:sp>
            <p:nvSpPr>
              <p:cNvPr id="31" name="AutoShape 182">
                <a:extLst>
                  <a:ext uri="{FF2B5EF4-FFF2-40B4-BE49-F238E27FC236}">
                    <a16:creationId xmlns:a16="http://schemas.microsoft.com/office/drawing/2014/main" id="{54D78998-77B7-655C-CD53-DFCA97E77DEC}"/>
                  </a:ext>
                </a:extLst>
              </p:cNvPr>
              <p:cNvSpPr>
                <a:spLocks noChangeArrowheads="1"/>
              </p:cNvSpPr>
              <p:nvPr/>
            </p:nvSpPr>
            <p:spPr bwMode="auto">
              <a:xfrm>
                <a:off x="191038" y="1750109"/>
                <a:ext cx="3156826" cy="317609"/>
              </a:xfrm>
              <a:prstGeom prst="roundRect">
                <a:avLst>
                  <a:gd name="adj" fmla="val 9028"/>
                </a:avLst>
              </a:prstGeom>
              <a:ln>
                <a:headEnd/>
                <a:tailEnd/>
              </a:ln>
            </p:spPr>
            <p:style>
              <a:lnRef idx="1">
                <a:schemeClr val="accent3"/>
              </a:lnRef>
              <a:fillRef idx="2">
                <a:schemeClr val="accent3"/>
              </a:fillRef>
              <a:effectRef idx="1">
                <a:schemeClr val="accent3"/>
              </a:effectRef>
              <a:fontRef idx="minor">
                <a:schemeClr val="dk1"/>
              </a:fontRef>
            </p:style>
            <p:txBody>
              <a:bodyPr wrap="none" lIns="91425" tIns="45713" rIns="91425" bIns="45713" anchor="ctr"/>
              <a:lstStyle/>
              <a:p>
                <a:pPr algn="ctr">
                  <a:lnSpc>
                    <a:spcPct val="140000"/>
                  </a:lnSpc>
                  <a:buClr>
                    <a:schemeClr val="bg1"/>
                  </a:buClr>
                  <a:defRPr/>
                </a:pPr>
                <a:r>
                  <a:rPr lang="zh-TW" altLang="en-US" b="1" dirty="0">
                    <a:solidFill>
                      <a:schemeClr val="tx1"/>
                    </a:solidFill>
                    <a:latin typeface="微軟正黑體" panose="020B0604030504040204" pitchFamily="34" charset="-120"/>
                    <a:ea typeface="微軟正黑體" panose="020B0604030504040204" pitchFamily="34" charset="-120"/>
                  </a:rPr>
                  <a:t>有利功效</a:t>
                </a:r>
                <a:endParaRPr lang="zh-CN" altLang="zh-CN" b="1" dirty="0">
                  <a:solidFill>
                    <a:schemeClr val="tx1"/>
                  </a:solidFill>
                  <a:latin typeface="微軟正黑體" panose="020B0604030504040204" pitchFamily="34" charset="-120"/>
                  <a:ea typeface="微軟正黑體" panose="020B0604030504040204" pitchFamily="34" charset="-120"/>
                </a:endParaRPr>
              </a:p>
            </p:txBody>
          </p:sp>
          <p:sp>
            <p:nvSpPr>
              <p:cNvPr id="32" name="Text Box 228">
                <a:extLst>
                  <a:ext uri="{FF2B5EF4-FFF2-40B4-BE49-F238E27FC236}">
                    <a16:creationId xmlns:a16="http://schemas.microsoft.com/office/drawing/2014/main" id="{A3EE9B8B-0E2A-C89F-50B9-7F429517F9E6}"/>
                  </a:ext>
                </a:extLst>
              </p:cNvPr>
              <p:cNvSpPr txBox="1">
                <a:spLocks noChangeArrowheads="1"/>
              </p:cNvSpPr>
              <p:nvPr/>
            </p:nvSpPr>
            <p:spPr bwMode="auto">
              <a:xfrm>
                <a:off x="323528" y="2121679"/>
                <a:ext cx="2977249" cy="1677033"/>
              </a:xfrm>
              <a:prstGeom prst="rect">
                <a:avLst/>
              </a:prstGeom>
              <a:noFill/>
              <a:ln w="9525">
                <a:noFill/>
                <a:miter lim="800000"/>
                <a:headEnd/>
                <a:tailEnd/>
              </a:ln>
            </p:spPr>
            <p:txBody>
              <a:bodyPr wrap="square" lIns="0" tIns="0" rIns="0" bIns="0">
                <a:noAutofit/>
              </a:bodyPr>
              <a:lstStyle/>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技術手段所直接產生</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對照先前技術之功效</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b="1" i="1" dirty="0">
                    <a:latin typeface="微軟正黑體" panose="020B0604030504040204" pitchFamily="34" charset="-120"/>
                    <a:ea typeface="微軟正黑體" panose="020B0604030504040204" pitchFamily="34" charset="-120"/>
                  </a:rPr>
                  <a:t>技術效果</a:t>
                </a:r>
                <a:endParaRPr lang="en-US" altLang="zh-TW" b="1" i="1"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b="1" i="1" dirty="0">
                    <a:latin typeface="微軟正黑體" panose="020B0604030504040204" pitchFamily="34" charset="-120"/>
                    <a:ea typeface="微軟正黑體" panose="020B0604030504040204" pitchFamily="34" charset="-120"/>
                  </a:rPr>
                  <a:t>非限定無法預期</a:t>
                </a:r>
                <a:endParaRPr lang="en-US" altLang="zh-TW" b="1" i="1"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b="1" i="1" dirty="0">
                    <a:latin typeface="微軟正黑體" panose="020B0604030504040204" pitchFamily="34" charset="-120"/>
                    <a:ea typeface="微軟正黑體" panose="020B0604030504040204" pitchFamily="34" charset="-120"/>
                  </a:rPr>
                  <a:t>進步性判斷因素</a:t>
                </a:r>
                <a:endParaRPr lang="en-US" altLang="zh-TW" b="1" i="1"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b="1" i="1" dirty="0">
                    <a:latin typeface="微軟正黑體" panose="020B0604030504040204" pitchFamily="34" charset="-120"/>
                    <a:ea typeface="微軟正黑體" panose="020B0604030504040204" pitchFamily="34" charset="-120"/>
                  </a:rPr>
                  <a:t>由審查人員主動判斷</a:t>
                </a:r>
                <a:endParaRPr lang="en-US" altLang="zh-TW" b="1" i="1"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endParaRPr lang="ko-KR" altLang="en-US" dirty="0">
                  <a:latin typeface="微軟正黑體" panose="020B0604030504040204" pitchFamily="34" charset="-120"/>
                  <a:ea typeface="微软雅黑" pitchFamily="34" charset="-122"/>
                </a:endParaRPr>
              </a:p>
            </p:txBody>
          </p:sp>
        </p:grpSp>
        <p:grpSp>
          <p:nvGrpSpPr>
            <p:cNvPr id="33" name="群組 32">
              <a:extLst>
                <a:ext uri="{FF2B5EF4-FFF2-40B4-BE49-F238E27FC236}">
                  <a16:creationId xmlns:a16="http://schemas.microsoft.com/office/drawing/2014/main" id="{9909D723-38A4-AF55-593E-94FB3A07326B}"/>
                </a:ext>
              </a:extLst>
            </p:cNvPr>
            <p:cNvGrpSpPr/>
            <p:nvPr/>
          </p:nvGrpSpPr>
          <p:grpSpPr>
            <a:xfrm>
              <a:off x="4943876" y="4581128"/>
              <a:ext cx="3252196" cy="2072784"/>
              <a:chOff x="191038" y="1750109"/>
              <a:chExt cx="3156826" cy="2072784"/>
            </a:xfrm>
          </p:grpSpPr>
          <p:sp>
            <p:nvSpPr>
              <p:cNvPr id="34" name="AutoShape 196">
                <a:extLst>
                  <a:ext uri="{FF2B5EF4-FFF2-40B4-BE49-F238E27FC236}">
                    <a16:creationId xmlns:a16="http://schemas.microsoft.com/office/drawing/2014/main" id="{D7D86613-7327-EA4B-8520-9846414FE5FE}"/>
                  </a:ext>
                </a:extLst>
              </p:cNvPr>
              <p:cNvSpPr>
                <a:spLocks noChangeArrowheads="1"/>
              </p:cNvSpPr>
              <p:nvPr/>
            </p:nvSpPr>
            <p:spPr bwMode="auto">
              <a:xfrm>
                <a:off x="240172" y="2081718"/>
                <a:ext cx="3060606" cy="1741175"/>
              </a:xfrm>
              <a:prstGeom prst="roundRect">
                <a:avLst>
                  <a:gd name="adj" fmla="val 3727"/>
                </a:avLst>
              </a:prstGeom>
              <a:solidFill>
                <a:schemeClr val="bg1">
                  <a:alpha val="50000"/>
                </a:schemeClr>
              </a:solidFill>
              <a:ln w="9525">
                <a:noFill/>
                <a:round/>
                <a:headEnd/>
                <a:tailEnd/>
              </a:ln>
              <a:effectLst>
                <a:outerShdw blurRad="50800" dist="38100" dir="5400000" algn="t" rotWithShape="0">
                  <a:prstClr val="black">
                    <a:alpha val="40000"/>
                  </a:prstClr>
                </a:outerShdw>
              </a:effectLst>
            </p:spPr>
            <p:txBody>
              <a:bodyPr wrap="none" lIns="91425" tIns="45713" rIns="91425" bIns="45713" anchor="ctr"/>
              <a:lstStyle/>
              <a:p>
                <a:pPr algn="ctr">
                  <a:lnSpc>
                    <a:spcPct val="140000"/>
                  </a:lnSpc>
                  <a:buClr>
                    <a:schemeClr val="bg1"/>
                  </a:buClr>
                  <a:defRPr/>
                </a:pPr>
                <a:endParaRPr lang="zh-CN" altLang="zh-CN">
                  <a:solidFill>
                    <a:srgbClr val="FFFF00"/>
                  </a:solidFill>
                  <a:latin typeface="微軟正黑體" panose="020B0604030504040204" pitchFamily="34" charset="-120"/>
                  <a:ea typeface="微軟正黑體" panose="020B0604030504040204" pitchFamily="34" charset="-120"/>
                </a:endParaRPr>
              </a:p>
            </p:txBody>
          </p:sp>
          <p:sp>
            <p:nvSpPr>
              <p:cNvPr id="35" name="AutoShape 182">
                <a:extLst>
                  <a:ext uri="{FF2B5EF4-FFF2-40B4-BE49-F238E27FC236}">
                    <a16:creationId xmlns:a16="http://schemas.microsoft.com/office/drawing/2014/main" id="{C8F581AF-49EF-DF46-FAA0-5FB85C5B4E3B}"/>
                  </a:ext>
                </a:extLst>
              </p:cNvPr>
              <p:cNvSpPr>
                <a:spLocks noChangeArrowheads="1"/>
              </p:cNvSpPr>
              <p:nvPr/>
            </p:nvSpPr>
            <p:spPr bwMode="auto">
              <a:xfrm>
                <a:off x="191038" y="1750109"/>
                <a:ext cx="3156826" cy="317609"/>
              </a:xfrm>
              <a:prstGeom prst="roundRect">
                <a:avLst>
                  <a:gd name="adj" fmla="val 9028"/>
                </a:avLst>
              </a:prstGeom>
              <a:ln>
                <a:headEnd/>
                <a:tailEnd/>
              </a:ln>
            </p:spPr>
            <p:style>
              <a:lnRef idx="1">
                <a:schemeClr val="accent2"/>
              </a:lnRef>
              <a:fillRef idx="2">
                <a:schemeClr val="accent2"/>
              </a:fillRef>
              <a:effectRef idx="1">
                <a:schemeClr val="accent2"/>
              </a:effectRef>
              <a:fontRef idx="minor">
                <a:schemeClr val="dk1"/>
              </a:fontRef>
            </p:style>
            <p:txBody>
              <a:bodyPr wrap="none" lIns="91425" tIns="45713" rIns="91425" bIns="45713" anchor="ctr"/>
              <a:lstStyle/>
              <a:p>
                <a:pPr algn="ctr">
                  <a:lnSpc>
                    <a:spcPct val="140000"/>
                  </a:lnSpc>
                  <a:buClr>
                    <a:schemeClr val="bg1"/>
                  </a:buClr>
                  <a:defRPr/>
                </a:pPr>
                <a:r>
                  <a:rPr lang="zh-TW" altLang="en-US" b="1" dirty="0">
                    <a:solidFill>
                      <a:schemeClr val="tx1"/>
                    </a:solidFill>
                    <a:latin typeface="微軟正黑體" panose="020B0604030504040204" pitchFamily="34" charset="-120"/>
                    <a:ea typeface="微軟正黑體" panose="020B0604030504040204" pitchFamily="34" charset="-120"/>
                  </a:rPr>
                  <a:t>無法預期之功效</a:t>
                </a:r>
                <a:endParaRPr lang="zh-CN" altLang="zh-CN" b="1" dirty="0">
                  <a:solidFill>
                    <a:schemeClr val="tx1"/>
                  </a:solidFill>
                  <a:latin typeface="微軟正黑體" panose="020B0604030504040204" pitchFamily="34" charset="-120"/>
                  <a:ea typeface="微軟正黑體" panose="020B0604030504040204" pitchFamily="34" charset="-120"/>
                </a:endParaRPr>
              </a:p>
            </p:txBody>
          </p:sp>
          <p:sp>
            <p:nvSpPr>
              <p:cNvPr id="36" name="Text Box 228">
                <a:extLst>
                  <a:ext uri="{FF2B5EF4-FFF2-40B4-BE49-F238E27FC236}">
                    <a16:creationId xmlns:a16="http://schemas.microsoft.com/office/drawing/2014/main" id="{A761FF0D-459C-8ECC-CB88-8A0DF0F531D7}"/>
                  </a:ext>
                </a:extLst>
              </p:cNvPr>
              <p:cNvSpPr txBox="1">
                <a:spLocks noChangeArrowheads="1"/>
              </p:cNvSpPr>
              <p:nvPr/>
            </p:nvSpPr>
            <p:spPr bwMode="auto">
              <a:xfrm>
                <a:off x="323528" y="2121679"/>
                <a:ext cx="2977249" cy="1677033"/>
              </a:xfrm>
              <a:prstGeom prst="rect">
                <a:avLst/>
              </a:prstGeom>
              <a:noFill/>
              <a:ln w="9525">
                <a:noFill/>
                <a:miter lim="800000"/>
                <a:headEnd/>
                <a:tailEnd/>
              </a:ln>
            </p:spPr>
            <p:txBody>
              <a:bodyPr wrap="square" lIns="0" tIns="0" rIns="0" bIns="0">
                <a:noAutofit/>
              </a:bodyPr>
              <a:lstStyle/>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技術手段所直接產生</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對照先前技術之功效</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b="1" i="1" dirty="0">
                    <a:latin typeface="微軟正黑體" panose="020B0604030504040204" pitchFamily="34" charset="-120"/>
                    <a:ea typeface="微軟正黑體" panose="020B0604030504040204" pitchFamily="34" charset="-120"/>
                  </a:rPr>
                  <a:t>未限定技術效果</a:t>
                </a:r>
                <a:endParaRPr lang="en-US" altLang="zh-TW" b="1" i="1"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b="1" i="1" dirty="0">
                    <a:latin typeface="微軟正黑體" panose="020B0604030504040204" pitchFamily="34" charset="-120"/>
                    <a:ea typeface="微軟正黑體" panose="020B0604030504040204" pitchFamily="34" charset="-120"/>
                  </a:rPr>
                  <a:t>無法預期</a:t>
                </a:r>
                <a:endParaRPr lang="en-US" altLang="zh-TW" b="1" i="1"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b="1" i="1" dirty="0">
                    <a:latin typeface="微軟正黑體" panose="020B0604030504040204" pitchFamily="34" charset="-120"/>
                    <a:ea typeface="微軟正黑體" panose="020B0604030504040204" pitchFamily="34" charset="-120"/>
                  </a:rPr>
                  <a:t>輔助判斷</a:t>
                </a:r>
                <a:endParaRPr lang="en-US" altLang="zh-TW" b="1" i="1"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b="1" i="1" dirty="0">
                    <a:latin typeface="微軟正黑體" panose="020B0604030504040204" pitchFamily="34" charset="-120"/>
                    <a:ea typeface="微軟正黑體" panose="020B0604030504040204" pitchFamily="34" charset="-120"/>
                  </a:rPr>
                  <a:t>由申請人發動</a:t>
                </a:r>
                <a:endParaRPr lang="ko-KR" altLang="en-US" b="1" i="1" dirty="0">
                  <a:latin typeface="微軟正黑體" panose="020B0604030504040204" pitchFamily="34" charset="-120"/>
                  <a:ea typeface="微软雅黑" pitchFamily="34" charset="-122"/>
                </a:endParaRPr>
              </a:p>
            </p:txBody>
          </p:sp>
        </p:grpSp>
      </p:grpSp>
    </p:spTree>
    <p:extLst>
      <p:ext uri="{BB962C8B-B14F-4D97-AF65-F5344CB8AC3E}">
        <p14:creationId xmlns:p14="http://schemas.microsoft.com/office/powerpoint/2010/main" val="17110758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案例</a:t>
            </a:r>
          </a:p>
        </p:txBody>
      </p:sp>
      <p:sp>
        <p:nvSpPr>
          <p:cNvPr id="4" name="投影片編號版面配置區 3"/>
          <p:cNvSpPr>
            <a:spLocks noGrp="1"/>
          </p:cNvSpPr>
          <p:nvPr>
            <p:ph type="sldNum" sz="quarter" idx="12"/>
          </p:nvPr>
        </p:nvSpPr>
        <p:spPr/>
        <p:txBody>
          <a:bodyPr/>
          <a:lstStyle/>
          <a:p>
            <a:fld id="{254D4C32-7A1A-45A5-84ED-81747F1ABFAE}" type="slidenum">
              <a:rPr lang="zh-TW" altLang="en-US" smtClean="0"/>
              <a:t>29</a:t>
            </a:fld>
            <a:endParaRPr lang="zh-TW" altLang="en-US"/>
          </a:p>
        </p:txBody>
      </p:sp>
      <p:sp>
        <p:nvSpPr>
          <p:cNvPr id="5" name="矩形 4"/>
          <p:cNvSpPr/>
          <p:nvPr/>
        </p:nvSpPr>
        <p:spPr>
          <a:xfrm>
            <a:off x="179512" y="836712"/>
            <a:ext cx="8856984" cy="3456384"/>
          </a:xfrm>
          <a:prstGeom prst="rect">
            <a:avLst/>
          </a:prstGeom>
        </p:spPr>
        <p:style>
          <a:lnRef idx="1">
            <a:schemeClr val="accent5"/>
          </a:lnRef>
          <a:fillRef idx="2">
            <a:schemeClr val="accent5"/>
          </a:fillRef>
          <a:effectRef idx="1">
            <a:schemeClr val="accent5"/>
          </a:effectRef>
          <a:fontRef idx="minor">
            <a:schemeClr val="dk1"/>
          </a:fontRef>
        </p:style>
        <p:txBody>
          <a:bodyPr wrap="square">
            <a:noAutofit/>
          </a:bodyPr>
          <a:lstStyle/>
          <a:p>
            <a:r>
              <a:rPr lang="zh-TW" altLang="en-US" sz="1700" b="1" u="sng" dirty="0">
                <a:latin typeface="微軟正黑體" panose="020B0604030504040204" pitchFamily="34" charset="-120"/>
                <a:ea typeface="微軟正黑體" panose="020B0604030504040204" pitchFamily="34" charset="-120"/>
              </a:rPr>
              <a:t>發明名稱</a:t>
            </a:r>
            <a:r>
              <a:rPr lang="zh-TW" altLang="en-US" sz="1700" dirty="0">
                <a:latin typeface="微軟正黑體" panose="020B0604030504040204" pitchFamily="34" charset="-120"/>
                <a:ea typeface="微軟正黑體" panose="020B0604030504040204" pitchFamily="34" charset="-120"/>
              </a:rPr>
              <a:t>：人工智慧賦能動態影像辨識電子病歷同步產出系統及方法</a:t>
            </a:r>
            <a:endParaRPr lang="en-US" altLang="zh-TW" sz="1700" dirty="0">
              <a:latin typeface="微軟正黑體" panose="020B0604030504040204" pitchFamily="34" charset="-120"/>
              <a:ea typeface="微軟正黑體" panose="020B0604030504040204" pitchFamily="34" charset="-120"/>
            </a:endParaRPr>
          </a:p>
          <a:p>
            <a:pPr marL="449263" indent="-449263"/>
            <a:r>
              <a:rPr lang="zh-TW" altLang="en-US" sz="1700" b="1" u="sng" dirty="0">
                <a:latin typeface="微軟正黑體" panose="020B0604030504040204" pitchFamily="34" charset="-120"/>
                <a:ea typeface="微軟正黑體" panose="020B0604030504040204" pitchFamily="34" charset="-120"/>
              </a:rPr>
              <a:t>欲解決問題</a:t>
            </a:r>
            <a:r>
              <a:rPr lang="zh-TW" altLang="en-US" sz="1700" dirty="0">
                <a:latin typeface="微軟正黑體" panose="020B0604030504040204" pitchFamily="34" charset="-120"/>
                <a:ea typeface="微軟正黑體" panose="020B0604030504040204" pitchFamily="34" charset="-120"/>
              </a:rPr>
              <a:t>：常見的醫學動態影像檢查，如內視鏡或超音波，其檢查結果通常會產出一圖文整合參照之檢查報告，或稱為電子病歷。檢查者於檢查完成後，檢查者或是判讀者仍須藉由參考已經存檔之影像，</a:t>
            </a:r>
            <a:r>
              <a:rPr lang="zh-TW" altLang="en-US" sz="1700" b="1" u="sng" dirty="0">
                <a:latin typeface="微軟正黑體" panose="020B0604030504040204" pitchFamily="34" charset="-120"/>
                <a:ea typeface="微軟正黑體" panose="020B0604030504040204" pitchFamily="34" charset="-120"/>
              </a:rPr>
              <a:t>手動繕打以完成檢查報告及電子病歷</a:t>
            </a:r>
            <a:r>
              <a:rPr lang="zh-TW" altLang="en-US" sz="1700" dirty="0">
                <a:latin typeface="微軟正黑體" panose="020B0604030504040204" pitchFamily="34" charset="-120"/>
                <a:ea typeface="微軟正黑體" panose="020B0604030504040204" pitchFamily="34" charset="-120"/>
              </a:rPr>
              <a:t>。</a:t>
            </a:r>
            <a:endParaRPr lang="en-US" altLang="zh-TW" sz="1700" dirty="0">
              <a:latin typeface="微軟正黑體" panose="020B0604030504040204" pitchFamily="34" charset="-120"/>
              <a:ea typeface="微軟正黑體" panose="020B0604030504040204" pitchFamily="34" charset="-120"/>
            </a:endParaRPr>
          </a:p>
          <a:p>
            <a:pPr marL="449263" indent="-449263"/>
            <a:r>
              <a:rPr lang="zh-TW" altLang="en-US" sz="1700" b="1" u="sng" dirty="0">
                <a:latin typeface="微軟正黑體" panose="020B0604030504040204" pitchFamily="34" charset="-120"/>
                <a:ea typeface="微軟正黑體" panose="020B0604030504040204" pitchFamily="34" charset="-120"/>
              </a:rPr>
              <a:t>技術手段</a:t>
            </a:r>
            <a:r>
              <a:rPr lang="zh-TW" altLang="en-US" sz="1700" dirty="0">
                <a:latin typeface="微軟正黑體" panose="020B0604030504040204" pitchFamily="34" charset="-120"/>
                <a:ea typeface="微軟正黑體" panose="020B0604030504040204" pitchFamily="34" charset="-120"/>
              </a:rPr>
              <a:t>：提出一種人工智慧賦能動態影像辨識電子病歷同步產出系統。系統包含：</a:t>
            </a:r>
            <a:r>
              <a:rPr lang="zh-TW" altLang="en-US" sz="1700" u="sng" dirty="0">
                <a:latin typeface="微軟正黑體" panose="020B0604030504040204" pitchFamily="34" charset="-120"/>
                <a:ea typeface="微軟正黑體" panose="020B0604030504040204" pitchFamily="34" charset="-120"/>
              </a:rPr>
              <a:t>影像接收與處理模組</a:t>
            </a:r>
            <a:r>
              <a:rPr lang="zh-TW" altLang="en-US" sz="1700" dirty="0">
                <a:latin typeface="微軟正黑體" panose="020B0604030504040204" pitchFamily="34" charset="-120"/>
                <a:ea typeface="微軟正黑體" panose="020B0604030504040204" pitchFamily="34" charset="-120"/>
              </a:rPr>
              <a:t>，用於接收動態影像；</a:t>
            </a:r>
            <a:r>
              <a:rPr lang="zh-TW" altLang="en-US" sz="1700" u="sng" dirty="0">
                <a:latin typeface="微軟正黑體" panose="020B0604030504040204" pitchFamily="34" charset="-120"/>
                <a:ea typeface="微軟正黑體" panose="020B0604030504040204" pitchFamily="34" charset="-120"/>
              </a:rPr>
              <a:t>人工智慧動態影像識別模組</a:t>
            </a:r>
            <a:r>
              <a:rPr lang="zh-TW" altLang="en-US" sz="1700" dirty="0">
                <a:latin typeface="微軟正黑體" panose="020B0604030504040204" pitchFamily="34" charset="-120"/>
                <a:ea typeface="微軟正黑體" panose="020B0604030504040204" pitchFamily="34" charset="-120"/>
              </a:rPr>
              <a:t>，內含已訓練之模型，用於識別動態影像；</a:t>
            </a:r>
            <a:r>
              <a:rPr lang="zh-TW" altLang="en-US" sz="1700" u="sng" dirty="0">
                <a:latin typeface="微軟正黑體" panose="020B0604030504040204" pitchFamily="34" charset="-120"/>
                <a:ea typeface="微軟正黑體" panose="020B0604030504040204" pitchFamily="34" charset="-120"/>
              </a:rPr>
              <a:t>物件定位與標記模組</a:t>
            </a:r>
            <a:r>
              <a:rPr lang="zh-TW" altLang="en-US" sz="1700" dirty="0">
                <a:latin typeface="微軟正黑體" panose="020B0604030504040204" pitchFamily="34" charset="-120"/>
                <a:ea typeface="微軟正黑體" panose="020B0604030504040204" pitchFamily="34" charset="-120"/>
              </a:rPr>
              <a:t>，用於在已經識別的動態影像上，產生定位與標記資訊；</a:t>
            </a:r>
            <a:r>
              <a:rPr lang="zh-TW" altLang="en-US" sz="1700" u="sng" dirty="0">
                <a:latin typeface="微軟正黑體" panose="020B0604030504040204" pitchFamily="34" charset="-120"/>
                <a:ea typeface="微軟正黑體" panose="020B0604030504040204" pitchFamily="34" charset="-120"/>
              </a:rPr>
              <a:t>資料彙整處理模組</a:t>
            </a:r>
            <a:r>
              <a:rPr lang="zh-TW" altLang="en-US" sz="1700" dirty="0">
                <a:latin typeface="微軟正黑體" panose="020B0604030504040204" pitchFamily="34" charset="-120"/>
                <a:ea typeface="微軟正黑體" panose="020B0604030504040204" pitchFamily="34" charset="-120"/>
              </a:rPr>
              <a:t>，用於將已具有定位與標記資訊的動態影像彙整成標準輸出格式；以及電子病歷產生模組，用於將標準輸出格式以電子病歷輸出。</a:t>
            </a:r>
            <a:endParaRPr lang="en-US" altLang="zh-TW" sz="1700" dirty="0">
              <a:latin typeface="微軟正黑體" panose="020B0604030504040204" pitchFamily="34" charset="-120"/>
              <a:ea typeface="微軟正黑體" panose="020B0604030504040204" pitchFamily="34" charset="-120"/>
            </a:endParaRPr>
          </a:p>
          <a:p>
            <a:pPr marL="982663" indent="-982663"/>
            <a:r>
              <a:rPr lang="zh-TW" altLang="en-US" sz="1700" b="1" u="sng" dirty="0">
                <a:latin typeface="微軟正黑體" panose="020B0604030504040204" pitchFamily="34" charset="-120"/>
                <a:ea typeface="微軟正黑體" panose="020B0604030504040204" pitchFamily="34" charset="-120"/>
              </a:rPr>
              <a:t>功效</a:t>
            </a:r>
            <a:r>
              <a:rPr lang="zh-TW" altLang="en-US" sz="1700" dirty="0">
                <a:latin typeface="微軟正黑體" panose="020B0604030504040204" pitchFamily="34" charset="-120"/>
                <a:ea typeface="微軟正黑體" panose="020B0604030504040204" pitchFamily="34" charset="-120"/>
              </a:rPr>
              <a:t>：</a:t>
            </a:r>
            <a:r>
              <a:rPr lang="en-US" altLang="zh-TW" sz="1700" dirty="0">
                <a:latin typeface="微軟正黑體" panose="020B0604030504040204" pitchFamily="34" charset="-120"/>
                <a:ea typeface="微軟正黑體" panose="020B0604030504040204" pitchFamily="34" charset="-120"/>
              </a:rPr>
              <a:t>1</a:t>
            </a:r>
            <a:r>
              <a:rPr lang="zh-TW" altLang="en-US" sz="1700" dirty="0">
                <a:latin typeface="微軟正黑體" panose="020B0604030504040204" pitchFamily="34" charset="-120"/>
                <a:ea typeface="微軟正黑體" panose="020B0604030504040204" pitchFamily="34" charset="-120"/>
              </a:rPr>
              <a:t>、以人工智慧自動判讀動態影像，協助檢查者或是判讀者同步分析辨識所見影像內容，避免漏看病徵，並能加速檢查過程。</a:t>
            </a:r>
            <a:endParaRPr lang="en-US" altLang="zh-TW" sz="1700" dirty="0">
              <a:latin typeface="微軟正黑體" panose="020B0604030504040204" pitchFamily="34" charset="-120"/>
              <a:ea typeface="微軟正黑體" panose="020B0604030504040204" pitchFamily="34" charset="-120"/>
            </a:endParaRPr>
          </a:p>
          <a:p>
            <a:pPr marL="982663" indent="-339725"/>
            <a:r>
              <a:rPr lang="en-US" altLang="zh-TW" sz="1700" dirty="0">
                <a:latin typeface="微軟正黑體" panose="020B0604030504040204" pitchFamily="34" charset="-120"/>
                <a:ea typeface="微軟正黑體" panose="020B0604030504040204" pitchFamily="34" charset="-120"/>
              </a:rPr>
              <a:t>2</a:t>
            </a:r>
            <a:r>
              <a:rPr lang="zh-TW" altLang="en-US" sz="1700" dirty="0">
                <a:latin typeface="微軟正黑體" panose="020B0604030504040204" pitchFamily="34" charset="-120"/>
                <a:ea typeface="微軟正黑體" panose="020B0604030504040204" pitchFamily="34" charset="-120"/>
              </a:rPr>
              <a:t>、輔助檢查者或是判讀者並自動產出電子病歷，省卻檢查者或是判讀者編寫報告的時間並提高報告的品質。</a:t>
            </a:r>
          </a:p>
        </p:txBody>
      </p:sp>
      <p:pic>
        <p:nvPicPr>
          <p:cNvPr id="1027" name="Picture 3"/>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79512" y="4310773"/>
            <a:ext cx="1800200" cy="2554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9" name="群組 18"/>
          <p:cNvGrpSpPr/>
          <p:nvPr/>
        </p:nvGrpSpPr>
        <p:grpSpPr>
          <a:xfrm>
            <a:off x="1875459" y="5055615"/>
            <a:ext cx="6800997" cy="1623037"/>
            <a:chOff x="1875459" y="5055615"/>
            <a:chExt cx="6800997" cy="1623037"/>
          </a:xfrm>
        </p:grpSpPr>
        <p:pic>
          <p:nvPicPr>
            <p:cNvPr id="13" name="Picture 4"/>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241245" y="5095939"/>
              <a:ext cx="1505970" cy="8565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875459" y="5141905"/>
              <a:ext cx="1419489" cy="807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1878185" y="6309320"/>
              <a:ext cx="1569169" cy="369332"/>
            </a:xfrm>
            <a:prstGeom prst="rect">
              <a:avLst/>
            </a:prstGeom>
          </p:spPr>
          <p:txBody>
            <a:bodyPr wrap="square">
              <a:spAutoFit/>
            </a:bodyPr>
            <a:lstStyle/>
            <a:p>
              <a:r>
                <a:rPr lang="en-US" altLang="zh-TW" sz="900" dirty="0"/>
                <a:t>https://darenclinic.com.tw/services/sonography/</a:t>
              </a:r>
              <a:endParaRPr lang="zh-TW" altLang="en-US" sz="900" dirty="0"/>
            </a:p>
          </p:txBody>
        </p:sp>
        <p:sp>
          <p:nvSpPr>
            <p:cNvPr id="7" name="矩形 6"/>
            <p:cNvSpPr/>
            <p:nvPr/>
          </p:nvSpPr>
          <p:spPr>
            <a:xfrm>
              <a:off x="2087727" y="6010615"/>
              <a:ext cx="1082348" cy="307777"/>
            </a:xfrm>
            <a:prstGeom prst="rect">
              <a:avLst/>
            </a:prstGeom>
          </p:spPr>
          <p:txBody>
            <a:bodyPr wrap="none">
              <a:spAutoFit/>
            </a:bodyPr>
            <a:lstStyle/>
            <a:p>
              <a:r>
                <a:rPr lang="zh-TW" altLang="en-US" sz="1400" dirty="0">
                  <a:latin typeface="微軟正黑體" panose="020B0604030504040204" pitchFamily="34" charset="-120"/>
                  <a:ea typeface="微軟正黑體" panose="020B0604030504040204" pitchFamily="34" charset="-120"/>
                </a:rPr>
                <a:t>超音波影像</a:t>
              </a:r>
            </a:p>
          </p:txBody>
        </p:sp>
        <p:sp>
          <p:nvSpPr>
            <p:cNvPr id="8" name="向右箭號 7"/>
            <p:cNvSpPr/>
            <p:nvPr/>
          </p:nvSpPr>
          <p:spPr>
            <a:xfrm>
              <a:off x="3354049" y="5345844"/>
              <a:ext cx="288032"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圓角矩形 8"/>
            <p:cNvSpPr/>
            <p:nvPr/>
          </p:nvSpPr>
          <p:spPr>
            <a:xfrm>
              <a:off x="3752855" y="5095938"/>
              <a:ext cx="1069268" cy="85334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400" dirty="0">
                  <a:latin typeface="微軟正黑體" panose="020B0604030504040204" pitchFamily="34" charset="-120"/>
                  <a:ea typeface="微軟正黑體" panose="020B0604030504040204" pitchFamily="34" charset="-120"/>
                </a:rPr>
                <a:t>AI</a:t>
              </a:r>
              <a:r>
                <a:rPr lang="zh-TW" altLang="en-US" sz="1400" dirty="0">
                  <a:latin typeface="微軟正黑體" panose="020B0604030504040204" pitchFamily="34" charset="-120"/>
                  <a:ea typeface="微軟正黑體" panose="020B0604030504040204" pitchFamily="34" charset="-120"/>
                </a:rPr>
                <a:t>動態影像辨識模組</a:t>
              </a:r>
            </a:p>
          </p:txBody>
        </p:sp>
        <p:sp>
          <p:nvSpPr>
            <p:cNvPr id="14" name="向右箭號 13"/>
            <p:cNvSpPr/>
            <p:nvPr/>
          </p:nvSpPr>
          <p:spPr>
            <a:xfrm>
              <a:off x="4890013" y="5345844"/>
              <a:ext cx="288032"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5" name="直線單箭頭接點 14"/>
            <p:cNvCxnSpPr/>
            <p:nvPr/>
          </p:nvCxnSpPr>
          <p:spPr>
            <a:xfrm flipV="1">
              <a:off x="6406299" y="5716075"/>
              <a:ext cx="0" cy="17181"/>
            </a:xfrm>
            <a:prstGeom prst="straightConnector1">
              <a:avLst/>
            </a:prstGeom>
            <a:ln w="28575">
              <a:solidFill>
                <a:srgbClr val="FFFF00"/>
              </a:solidFill>
              <a:tailEnd type="arrow"/>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5737175" y="6018364"/>
              <a:ext cx="543739" cy="307777"/>
            </a:xfrm>
            <a:prstGeom prst="rect">
              <a:avLst/>
            </a:prstGeom>
          </p:spPr>
          <p:txBody>
            <a:bodyPr wrap="none">
              <a:spAutoFit/>
            </a:bodyPr>
            <a:lstStyle/>
            <a:p>
              <a:r>
                <a:rPr lang="zh-TW" altLang="en-US" sz="1400" dirty="0">
                  <a:latin typeface="微軟正黑體" panose="020B0604030504040204" pitchFamily="34" charset="-120"/>
                  <a:ea typeface="微軟正黑體" panose="020B0604030504040204" pitchFamily="34" charset="-120"/>
                </a:rPr>
                <a:t>標記</a:t>
              </a:r>
            </a:p>
          </p:txBody>
        </p:sp>
        <p:sp>
          <p:nvSpPr>
            <p:cNvPr id="22" name="向右箭號 21"/>
            <p:cNvSpPr/>
            <p:nvPr/>
          </p:nvSpPr>
          <p:spPr>
            <a:xfrm>
              <a:off x="6798016" y="5345844"/>
              <a:ext cx="288032"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029" name="Picture 5"/>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7164288" y="5055615"/>
              <a:ext cx="1512168" cy="8979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5" name="矩形 24"/>
            <p:cNvSpPr/>
            <p:nvPr/>
          </p:nvSpPr>
          <p:spPr>
            <a:xfrm>
              <a:off x="7529964" y="6037062"/>
              <a:ext cx="902811" cy="307777"/>
            </a:xfrm>
            <a:prstGeom prst="rect">
              <a:avLst/>
            </a:prstGeom>
          </p:spPr>
          <p:txBody>
            <a:bodyPr wrap="none">
              <a:spAutoFit/>
            </a:bodyPr>
            <a:lstStyle/>
            <a:p>
              <a:r>
                <a:rPr lang="zh-TW" altLang="en-US" sz="1400" dirty="0">
                  <a:latin typeface="微軟正黑體" panose="020B0604030504040204" pitchFamily="34" charset="-120"/>
                  <a:ea typeface="微軟正黑體" panose="020B0604030504040204" pitchFamily="34" charset="-120"/>
                </a:rPr>
                <a:t>電子病歷</a:t>
              </a:r>
            </a:p>
          </p:txBody>
        </p:sp>
      </p:grpSp>
    </p:spTree>
    <p:extLst>
      <p:ext uri="{BB962C8B-B14F-4D97-AF65-F5344CB8AC3E}">
        <p14:creationId xmlns:p14="http://schemas.microsoft.com/office/powerpoint/2010/main" val="6025069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案例</a:t>
            </a:r>
          </a:p>
        </p:txBody>
      </p:sp>
      <p:sp>
        <p:nvSpPr>
          <p:cNvPr id="4" name="投影片編號版面配置區 3"/>
          <p:cNvSpPr>
            <a:spLocks noGrp="1"/>
          </p:cNvSpPr>
          <p:nvPr>
            <p:ph type="sldNum" sz="quarter" idx="12"/>
          </p:nvPr>
        </p:nvSpPr>
        <p:spPr/>
        <p:txBody>
          <a:bodyPr/>
          <a:lstStyle/>
          <a:p>
            <a:fld id="{254D4C32-7A1A-45A5-84ED-81747F1ABFAE}" type="slidenum">
              <a:rPr lang="zh-TW" altLang="en-US" smtClean="0"/>
              <a:t>30</a:t>
            </a:fld>
            <a:endParaRPr lang="zh-TW" altLang="en-US"/>
          </a:p>
        </p:txBody>
      </p:sp>
      <p:graphicFrame>
        <p:nvGraphicFramePr>
          <p:cNvPr id="6" name="表格 5"/>
          <p:cNvGraphicFramePr>
            <a:graphicFrameLocks noGrp="1"/>
          </p:cNvGraphicFramePr>
          <p:nvPr>
            <p:extLst>
              <p:ext uri="{D42A27DB-BD31-4B8C-83A1-F6EECF244321}">
                <p14:modId xmlns:p14="http://schemas.microsoft.com/office/powerpoint/2010/main" val="647291470"/>
              </p:ext>
            </p:extLst>
          </p:nvPr>
        </p:nvGraphicFramePr>
        <p:xfrm>
          <a:off x="107504" y="908719"/>
          <a:ext cx="8856984" cy="5830025"/>
        </p:xfrm>
        <a:graphic>
          <a:graphicData uri="http://schemas.openxmlformats.org/drawingml/2006/table">
            <a:tbl>
              <a:tblPr firstRow="1" bandRow="1">
                <a:tableStyleId>{5C22544A-7EE6-4342-B048-85BDC9FD1C3A}</a:tableStyleId>
              </a:tblPr>
              <a:tblGrid>
                <a:gridCol w="4176464">
                  <a:extLst>
                    <a:ext uri="{9D8B030D-6E8A-4147-A177-3AD203B41FA5}">
                      <a16:colId xmlns:a16="http://schemas.microsoft.com/office/drawing/2014/main" val="20000"/>
                    </a:ext>
                  </a:extLst>
                </a:gridCol>
                <a:gridCol w="4680520">
                  <a:extLst>
                    <a:ext uri="{9D8B030D-6E8A-4147-A177-3AD203B41FA5}">
                      <a16:colId xmlns:a16="http://schemas.microsoft.com/office/drawing/2014/main" val="20001"/>
                    </a:ext>
                  </a:extLst>
                </a:gridCol>
              </a:tblGrid>
              <a:tr h="144017">
                <a:tc>
                  <a:txBody>
                    <a:bodyPr/>
                    <a:lstStyle/>
                    <a:p>
                      <a:pPr algn="ctr"/>
                      <a:r>
                        <a:rPr lang="zh-TW" altLang="en-US" sz="1450" dirty="0">
                          <a:latin typeface="微軟正黑體" panose="020B0604030504040204" pitchFamily="34" charset="-120"/>
                          <a:ea typeface="微軟正黑體" panose="020B0604030504040204" pitchFamily="34" charset="-120"/>
                        </a:rPr>
                        <a:t>請求項</a:t>
                      </a:r>
                      <a:r>
                        <a:rPr lang="en-US" altLang="zh-TW" sz="1450" dirty="0">
                          <a:latin typeface="微軟正黑體" panose="020B0604030504040204" pitchFamily="34" charset="-120"/>
                          <a:ea typeface="微軟正黑體" panose="020B0604030504040204" pitchFamily="34" charset="-120"/>
                        </a:rPr>
                        <a:t>1</a:t>
                      </a:r>
                      <a:endParaRPr lang="zh-TW" altLang="en-US" sz="1450" dirty="0">
                        <a:latin typeface="微軟正黑體" panose="020B0604030504040204" pitchFamily="34" charset="-120"/>
                        <a:ea typeface="微軟正黑體" panose="020B0604030504040204" pitchFamily="34" charset="-12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TW" altLang="en-US" sz="1300" dirty="0">
                          <a:latin typeface="微軟正黑體" panose="020B0604030504040204" pitchFamily="34" charset="-120"/>
                          <a:ea typeface="微軟正黑體" panose="020B0604030504040204" pitchFamily="34" charset="-120"/>
                        </a:rPr>
                        <a:t>引證</a:t>
                      </a:r>
                      <a:r>
                        <a:rPr lang="en-US" altLang="zh-TW" sz="1300" dirty="0">
                          <a:latin typeface="微軟正黑體" panose="020B0604030504040204" pitchFamily="34" charset="-120"/>
                          <a:ea typeface="微軟正黑體" panose="020B0604030504040204" pitchFamily="34" charset="-120"/>
                        </a:rPr>
                        <a:t>A</a:t>
                      </a:r>
                      <a:r>
                        <a:rPr lang="zh-TW" altLang="en-US" sz="1300" dirty="0">
                          <a:latin typeface="微軟正黑體" panose="020B0604030504040204" pitchFamily="34" charset="-120"/>
                          <a:ea typeface="微軟正黑體" panose="020B0604030504040204" pitchFamily="34" charset="-120"/>
                        </a:rPr>
                        <a:t>：</a:t>
                      </a:r>
                      <a:r>
                        <a:rPr lang="en-US" altLang="zh-TW" sz="1300" dirty="0">
                          <a:latin typeface="微軟正黑體" panose="020B0604030504040204" pitchFamily="34" charset="-120"/>
                          <a:ea typeface="微軟正黑體" panose="020B0604030504040204" pitchFamily="34" charset="-120"/>
                        </a:rPr>
                        <a:t>TWI711050B</a:t>
                      </a:r>
                      <a:r>
                        <a:rPr lang="zh-TW" altLang="en-US" sz="1300" dirty="0">
                          <a:latin typeface="微軟正黑體" panose="020B0604030504040204" pitchFamily="34" charset="-120"/>
                          <a:ea typeface="微軟正黑體" panose="020B0604030504040204" pitchFamily="34" charset="-120"/>
                        </a:rPr>
                        <a:t> 醫療影像辨識裝置及醫療影像辨識方法</a:t>
                      </a:r>
                    </a:p>
                  </a:txBody>
                  <a:tcPr/>
                </a:tc>
                <a:extLst>
                  <a:ext uri="{0D108BD9-81ED-4DB2-BD59-A6C34878D82A}">
                    <a16:rowId xmlns:a16="http://schemas.microsoft.com/office/drawing/2014/main" val="10000"/>
                  </a:ext>
                </a:extLst>
              </a:tr>
              <a:tr h="2187665">
                <a:tc>
                  <a:txBody>
                    <a:bodyPr/>
                    <a:lstStyle/>
                    <a:p>
                      <a:r>
                        <a:rPr lang="zh-TW" altLang="en-US" sz="1450" dirty="0">
                          <a:latin typeface="微軟正黑體" panose="020B0604030504040204" pitchFamily="34" charset="-120"/>
                          <a:ea typeface="微軟正黑體" panose="020B0604030504040204" pitchFamily="34" charset="-120"/>
                        </a:rPr>
                        <a:t>一種人工智慧賦能動態影像辨識電子病歷同步產出系統</a:t>
                      </a:r>
                    </a:p>
                  </a:txBody>
                  <a:tcPr/>
                </a:tc>
                <a:tc>
                  <a:txBody>
                    <a:bodyPr/>
                    <a:lstStyle/>
                    <a:p>
                      <a:r>
                        <a:rPr lang="zh-TW" altLang="en-US" sz="1450" dirty="0">
                          <a:latin typeface="微軟正黑體" panose="020B0604030504040204" pitchFamily="34" charset="-120"/>
                          <a:ea typeface="微軟正黑體" panose="020B0604030504040204" pitchFamily="34" charset="-120"/>
                        </a:rPr>
                        <a:t>圖</a:t>
                      </a:r>
                      <a:r>
                        <a:rPr lang="en-US" altLang="zh-TW" sz="1450" dirty="0">
                          <a:latin typeface="微軟正黑體" panose="020B0604030504040204" pitchFamily="34" charset="-120"/>
                          <a:ea typeface="微軟正黑體" panose="020B0604030504040204" pitchFamily="34" charset="-120"/>
                        </a:rPr>
                        <a:t>1</a:t>
                      </a:r>
                      <a:endParaRPr lang="zh-TW" altLang="en-US" sz="1450" dirty="0">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0001"/>
                  </a:ext>
                </a:extLst>
              </a:tr>
              <a:tr h="156592">
                <a:tc>
                  <a:txBody>
                    <a:bodyPr/>
                    <a:lstStyle/>
                    <a:p>
                      <a:r>
                        <a:rPr lang="zh-TW" altLang="en-US" sz="1450" dirty="0">
                          <a:latin typeface="微軟正黑體" panose="020B0604030504040204" pitchFamily="34" charset="-120"/>
                          <a:ea typeface="微軟正黑體" panose="020B0604030504040204" pitchFamily="34" charset="-120"/>
                        </a:rPr>
                        <a:t>其包含：</a:t>
                      </a:r>
                      <a:r>
                        <a:rPr lang="zh-TW" altLang="en-US" sz="1450" u="sng" dirty="0">
                          <a:latin typeface="微軟正黑體" panose="020B0604030504040204" pitchFamily="34" charset="-120"/>
                          <a:ea typeface="微軟正黑體" panose="020B0604030504040204" pitchFamily="34" charset="-120"/>
                        </a:rPr>
                        <a:t>影像接收與處理模組</a:t>
                      </a:r>
                      <a:r>
                        <a:rPr lang="zh-TW" altLang="en-US" sz="1450" dirty="0">
                          <a:latin typeface="微軟正黑體" panose="020B0604030504040204" pitchFamily="34" charset="-120"/>
                          <a:ea typeface="微軟正黑體" panose="020B0604030504040204" pitchFamily="34" charset="-120"/>
                        </a:rPr>
                        <a:t>，用於接收動態影像；</a:t>
                      </a:r>
                    </a:p>
                  </a:txBody>
                  <a:tcPr/>
                </a:tc>
                <a:tc>
                  <a:txBody>
                    <a:bodyPr/>
                    <a:lstStyle/>
                    <a:p>
                      <a:r>
                        <a:rPr lang="zh-TW" altLang="en-US" sz="1450" dirty="0">
                          <a:latin typeface="微軟正黑體" panose="020B0604030504040204" pitchFamily="34" charset="-120"/>
                          <a:ea typeface="微軟正黑體" panose="020B0604030504040204" pitchFamily="34" charset="-120"/>
                        </a:rPr>
                        <a:t>圖</a:t>
                      </a:r>
                      <a:r>
                        <a:rPr lang="en-US" altLang="zh-TW" sz="1450" dirty="0">
                          <a:latin typeface="微軟正黑體" panose="020B0604030504040204" pitchFamily="34" charset="-120"/>
                          <a:ea typeface="微軟正黑體" panose="020B0604030504040204" pitchFamily="34" charset="-120"/>
                        </a:rPr>
                        <a:t>1</a:t>
                      </a:r>
                      <a:r>
                        <a:rPr lang="zh-TW" altLang="en-US" sz="1450" dirty="0">
                          <a:latin typeface="微軟正黑體" panose="020B0604030504040204" pitchFamily="34" charset="-120"/>
                          <a:ea typeface="微軟正黑體" panose="020B0604030504040204" pitchFamily="34" charset="-120"/>
                        </a:rPr>
                        <a:t>，</a:t>
                      </a:r>
                      <a:r>
                        <a:rPr lang="en-US" altLang="zh-TW" sz="1450" dirty="0">
                          <a:latin typeface="微軟正黑體" panose="020B0604030504040204" pitchFamily="34" charset="-120"/>
                          <a:ea typeface="微軟正黑體" panose="020B0604030504040204" pitchFamily="34" charset="-120"/>
                        </a:rPr>
                        <a:t>100</a:t>
                      </a:r>
                      <a:r>
                        <a:rPr lang="zh-TW" altLang="en-US" sz="1450" dirty="0">
                          <a:latin typeface="微軟正黑體" panose="020B0604030504040204" pitchFamily="34" charset="-120"/>
                          <a:ea typeface="微軟正黑體" panose="020B0604030504040204" pitchFamily="34" charset="-120"/>
                        </a:rPr>
                        <a:t>。第</a:t>
                      </a:r>
                      <a:r>
                        <a:rPr lang="en-US" altLang="zh-TW" sz="1450" dirty="0">
                          <a:latin typeface="微軟正黑體" panose="020B0604030504040204" pitchFamily="34" charset="-120"/>
                          <a:ea typeface="微軟正黑體" panose="020B0604030504040204" pitchFamily="34" charset="-120"/>
                        </a:rPr>
                        <a:t>[0036]</a:t>
                      </a:r>
                      <a:r>
                        <a:rPr lang="zh-TW" altLang="en-US" sz="1450" dirty="0">
                          <a:latin typeface="微軟正黑體" panose="020B0604030504040204" pitchFamily="34" charset="-120"/>
                          <a:ea typeface="微軟正黑體" panose="020B0604030504040204" pitchFamily="34" charset="-120"/>
                        </a:rPr>
                        <a:t>段，接收超音波影像。</a:t>
                      </a:r>
                    </a:p>
                  </a:txBody>
                  <a:tcPr/>
                </a:tc>
                <a:extLst>
                  <a:ext uri="{0D108BD9-81ED-4DB2-BD59-A6C34878D82A}">
                    <a16:rowId xmlns:a16="http://schemas.microsoft.com/office/drawing/2014/main" val="10002"/>
                  </a:ext>
                </a:extLst>
              </a:tr>
              <a:tr h="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50" u="sng" dirty="0">
                          <a:latin typeface="微軟正黑體" panose="020B0604030504040204" pitchFamily="34" charset="-120"/>
                          <a:ea typeface="微軟正黑體" panose="020B0604030504040204" pitchFamily="34" charset="-120"/>
                        </a:rPr>
                        <a:t>人工智慧動態影像識別模組</a:t>
                      </a:r>
                      <a:r>
                        <a:rPr lang="zh-TW" altLang="en-US" sz="1450" dirty="0">
                          <a:latin typeface="微軟正黑體" panose="020B0604030504040204" pitchFamily="34" charset="-120"/>
                          <a:ea typeface="微軟正黑體" panose="020B0604030504040204" pitchFamily="34" charset="-120"/>
                        </a:rPr>
                        <a:t>，其內含訓練之模型，用於識別該動態影像；</a:t>
                      </a:r>
                    </a:p>
                  </a:txBody>
                  <a:tcPr/>
                </a:tc>
                <a:tc>
                  <a:txBody>
                    <a:bodyPr/>
                    <a:lstStyle/>
                    <a:p>
                      <a:r>
                        <a:rPr lang="zh-TW" altLang="en-US" sz="1450" dirty="0">
                          <a:latin typeface="微軟正黑體" panose="020B0604030504040204" pitchFamily="34" charset="-120"/>
                          <a:ea typeface="微軟正黑體" panose="020B0604030504040204" pitchFamily="34" charset="-120"/>
                        </a:rPr>
                        <a:t>第</a:t>
                      </a:r>
                      <a:r>
                        <a:rPr lang="en-US" altLang="zh-TW" sz="1450" dirty="0">
                          <a:latin typeface="微軟正黑體" panose="020B0604030504040204" pitchFamily="34" charset="-120"/>
                          <a:ea typeface="微軟正黑體" panose="020B0604030504040204" pitchFamily="34" charset="-120"/>
                        </a:rPr>
                        <a:t>[0006]</a:t>
                      </a:r>
                      <a:r>
                        <a:rPr lang="zh-TW" altLang="en-US" sz="1450" dirty="0">
                          <a:latin typeface="微軟正黑體" panose="020B0604030504040204" pitchFamily="34" charset="-120"/>
                          <a:ea typeface="微軟正黑體" panose="020B0604030504040204" pitchFamily="34" charset="-120"/>
                        </a:rPr>
                        <a:t>段</a:t>
                      </a:r>
                    </a:p>
                  </a:txBody>
                  <a:tcPr/>
                </a:tc>
                <a:extLst>
                  <a:ext uri="{0D108BD9-81ED-4DB2-BD59-A6C34878D82A}">
                    <a16:rowId xmlns:a16="http://schemas.microsoft.com/office/drawing/2014/main" val="10003"/>
                  </a:ext>
                </a:extLst>
              </a:tr>
              <a:tr h="13943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50" u="sng" dirty="0">
                          <a:latin typeface="微軟正黑體" panose="020B0604030504040204" pitchFamily="34" charset="-120"/>
                          <a:ea typeface="微軟正黑體" panose="020B0604030504040204" pitchFamily="34" charset="-120"/>
                        </a:rPr>
                        <a:t>物件定位與標記模組</a:t>
                      </a:r>
                      <a:r>
                        <a:rPr lang="zh-TW" altLang="en-US" sz="1450" dirty="0">
                          <a:latin typeface="微軟正黑體" panose="020B0604030504040204" pitchFamily="34" charset="-120"/>
                          <a:ea typeface="微軟正黑體" panose="020B0604030504040204" pitchFamily="34" charset="-120"/>
                        </a:rPr>
                        <a:t>，用於在已經識別的該動態影像上，產生定位與標記資訊；</a:t>
                      </a:r>
                    </a:p>
                  </a:txBody>
                  <a:tcPr/>
                </a:tc>
                <a:tc>
                  <a:txBody>
                    <a:bodyPr/>
                    <a:lstStyle/>
                    <a:p>
                      <a:pPr marL="285750" indent="-285750">
                        <a:buFont typeface="Arial" panose="020B0604020202020204" pitchFamily="34" charset="0"/>
                        <a:buChar char="•"/>
                      </a:pPr>
                      <a:r>
                        <a:rPr lang="zh-TW" altLang="en-US" sz="1450" dirty="0">
                          <a:latin typeface="微軟正黑體" panose="020B0604030504040204" pitchFamily="34" charset="-120"/>
                          <a:ea typeface="微軟正黑體" panose="020B0604030504040204" pitchFamily="34" charset="-120"/>
                        </a:rPr>
                        <a:t>第</a:t>
                      </a:r>
                      <a:r>
                        <a:rPr lang="en-US" altLang="zh-TW" sz="1450" dirty="0">
                          <a:latin typeface="微軟正黑體" panose="020B0604030504040204" pitchFamily="34" charset="-120"/>
                          <a:ea typeface="微軟正黑體" panose="020B0604030504040204" pitchFamily="34" charset="-120"/>
                        </a:rPr>
                        <a:t>[0037]</a:t>
                      </a:r>
                      <a:r>
                        <a:rPr lang="zh-TW" altLang="en-US" sz="1450" dirty="0">
                          <a:latin typeface="微軟正黑體" panose="020B0604030504040204" pitchFamily="34" charset="-120"/>
                          <a:ea typeface="微軟正黑體" panose="020B0604030504040204" pitchFamily="34" charset="-120"/>
                        </a:rPr>
                        <a:t>段；器官辨識模型相當於物件定位模組。第</a:t>
                      </a:r>
                      <a:r>
                        <a:rPr lang="en-US" altLang="zh-TW" sz="1450" dirty="0">
                          <a:latin typeface="微軟正黑體" panose="020B0604030504040204" pitchFamily="34" charset="-120"/>
                          <a:ea typeface="微軟正黑體" panose="020B0604030504040204" pitchFamily="34" charset="-120"/>
                        </a:rPr>
                        <a:t>[0038]</a:t>
                      </a:r>
                      <a:r>
                        <a:rPr lang="zh-TW" altLang="en-US" sz="1450" dirty="0">
                          <a:latin typeface="微軟正黑體" panose="020B0604030504040204" pitchFamily="34" charset="-120"/>
                          <a:ea typeface="微軟正黑體" panose="020B0604030504040204" pitchFamily="34" charset="-120"/>
                        </a:rPr>
                        <a:t>、</a:t>
                      </a:r>
                      <a:r>
                        <a:rPr lang="en-US" altLang="zh-TW" sz="1450" dirty="0">
                          <a:latin typeface="微軟正黑體" panose="020B0604030504040204" pitchFamily="34" charset="-120"/>
                          <a:ea typeface="微軟正黑體" panose="020B0604030504040204" pitchFamily="34" charset="-120"/>
                        </a:rPr>
                        <a:t>[0039]</a:t>
                      </a:r>
                      <a:r>
                        <a:rPr lang="zh-TW" altLang="en-US" sz="1450" dirty="0">
                          <a:latin typeface="微軟正黑體" panose="020B0604030504040204" pitchFamily="34" charset="-120"/>
                          <a:ea typeface="微軟正黑體" panose="020B0604030504040204" pitchFamily="34" charset="-120"/>
                        </a:rPr>
                        <a:t>段；器官的病症模型及聯合特徵擷取器相當於物件標記模組。</a:t>
                      </a:r>
                      <a:endParaRPr lang="en-US" altLang="zh-TW" sz="1450"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1450" dirty="0">
                          <a:latin typeface="微軟正黑體" panose="020B0604030504040204" pitchFamily="34" charset="-120"/>
                          <a:ea typeface="微軟正黑體" panose="020B0604030504040204" pitchFamily="34" charset="-120"/>
                        </a:rPr>
                        <a:t>第</a:t>
                      </a:r>
                      <a:r>
                        <a:rPr lang="en-US" altLang="zh-TW" sz="1450" dirty="0">
                          <a:latin typeface="微軟正黑體" panose="020B0604030504040204" pitchFamily="34" charset="-120"/>
                          <a:ea typeface="微軟正黑體" panose="020B0604030504040204" pitchFamily="34" charset="-120"/>
                        </a:rPr>
                        <a:t>[0037]</a:t>
                      </a:r>
                      <a:r>
                        <a:rPr lang="zh-TW" altLang="en-US" sz="1450" dirty="0">
                          <a:latin typeface="微軟正黑體" panose="020B0604030504040204" pitchFamily="34" charset="-120"/>
                          <a:ea typeface="微軟正黑體" panose="020B0604030504040204" pitchFamily="34" charset="-120"/>
                        </a:rPr>
                        <a:t>段；以方框標記出器官；第</a:t>
                      </a:r>
                      <a:r>
                        <a:rPr lang="en-US" altLang="zh-TW" sz="1450" dirty="0">
                          <a:latin typeface="微軟正黑體" panose="020B0604030504040204" pitchFamily="34" charset="-120"/>
                          <a:ea typeface="微軟正黑體" panose="020B0604030504040204" pitchFamily="34" charset="-120"/>
                        </a:rPr>
                        <a:t>[0039]</a:t>
                      </a:r>
                      <a:r>
                        <a:rPr lang="zh-TW" altLang="en-US" sz="1450" dirty="0">
                          <a:latin typeface="微軟正黑體" panose="020B0604030504040204" pitchFamily="34" charset="-120"/>
                          <a:ea typeface="微軟正黑體" panose="020B0604030504040204" pitchFamily="34" charset="-120"/>
                        </a:rPr>
                        <a:t>、</a:t>
                      </a:r>
                      <a:r>
                        <a:rPr lang="en-US" altLang="zh-TW" sz="1450" dirty="0">
                          <a:latin typeface="微軟正黑體" panose="020B0604030504040204" pitchFamily="34" charset="-120"/>
                          <a:ea typeface="微軟正黑體" panose="020B0604030504040204" pitchFamily="34" charset="-120"/>
                        </a:rPr>
                        <a:t>[0041]</a:t>
                      </a:r>
                      <a:r>
                        <a:rPr lang="zh-TW" altLang="en-US" sz="1450" dirty="0">
                          <a:latin typeface="微軟正黑體" panose="020B0604030504040204" pitchFamily="34" charset="-120"/>
                          <a:ea typeface="微軟正黑體" panose="020B0604030504040204" pitchFamily="34" charset="-120"/>
                        </a:rPr>
                        <a:t>段；標記出病症位置。</a:t>
                      </a:r>
                    </a:p>
                  </a:txBody>
                  <a:tcPr/>
                </a:tc>
                <a:extLst>
                  <a:ext uri="{0D108BD9-81ED-4DB2-BD59-A6C34878D82A}">
                    <a16:rowId xmlns:a16="http://schemas.microsoft.com/office/drawing/2014/main" val="10004"/>
                  </a:ext>
                </a:extLst>
              </a:tr>
              <a:tr h="12912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50" u="sng" dirty="0">
                          <a:latin typeface="微軟正黑體" panose="020B0604030504040204" pitchFamily="34" charset="-120"/>
                          <a:ea typeface="微軟正黑體" panose="020B0604030504040204" pitchFamily="34" charset="-120"/>
                        </a:rPr>
                        <a:t>資料彙整處理模組</a:t>
                      </a:r>
                      <a:r>
                        <a:rPr lang="zh-TW" altLang="en-US" sz="1450" dirty="0">
                          <a:latin typeface="微軟正黑體" panose="020B0604030504040204" pitchFamily="34" charset="-120"/>
                          <a:ea typeface="微軟正黑體" panose="020B0604030504040204" pitchFamily="34" charset="-120"/>
                        </a:rPr>
                        <a:t>，用於將已具有該定位與標記資訊的該動態影像彙整成標準輸出格式；以及</a:t>
                      </a:r>
                    </a:p>
                  </a:txBody>
                  <a:tcPr/>
                </a:tc>
                <a:tc>
                  <a:txBody>
                    <a:bodyPr/>
                    <a:lstStyle/>
                    <a:p>
                      <a:r>
                        <a:rPr lang="zh-TW" altLang="en-US" sz="1450" dirty="0">
                          <a:latin typeface="微軟正黑體" panose="020B0604030504040204" pitchFamily="34" charset="-120"/>
                          <a:ea typeface="微軟正黑體" panose="020B0604030504040204" pitchFamily="34" charset="-120"/>
                        </a:rPr>
                        <a:t>第</a:t>
                      </a:r>
                      <a:r>
                        <a:rPr lang="en-US" altLang="zh-TW" sz="1450" dirty="0">
                          <a:latin typeface="微軟正黑體" panose="020B0604030504040204" pitchFamily="34" charset="-120"/>
                          <a:ea typeface="微軟正黑體" panose="020B0604030504040204" pitchFamily="34" charset="-120"/>
                        </a:rPr>
                        <a:t>[0039]~[0045]</a:t>
                      </a:r>
                      <a:r>
                        <a:rPr lang="zh-TW" altLang="en-US" sz="1450" dirty="0">
                          <a:latin typeface="微軟正黑體" panose="020B0604030504040204" pitchFamily="34" charset="-120"/>
                          <a:ea typeface="微軟正黑體" panose="020B0604030504040204" pitchFamily="34" charset="-120"/>
                        </a:rPr>
                        <a:t>段；利用特徵擷取器、卷積神經網路、語意分析產生疾病特徵、位置及嚴重程度。</a:t>
                      </a:r>
                    </a:p>
                  </a:txBody>
                  <a:tcPr/>
                </a:tc>
                <a:extLst>
                  <a:ext uri="{0D108BD9-81ED-4DB2-BD59-A6C34878D82A}">
                    <a16:rowId xmlns:a16="http://schemas.microsoft.com/office/drawing/2014/main" val="10005"/>
                  </a:ext>
                </a:extLst>
              </a:tr>
              <a:tr h="49020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50" u="sng" dirty="0">
                          <a:latin typeface="微軟正黑體" panose="020B0604030504040204" pitchFamily="34" charset="-120"/>
                          <a:ea typeface="微軟正黑體" panose="020B0604030504040204" pitchFamily="34" charset="-120"/>
                        </a:rPr>
                        <a:t>電子病歷產生模組</a:t>
                      </a:r>
                      <a:r>
                        <a:rPr lang="zh-TW" altLang="en-US" sz="1450" dirty="0">
                          <a:latin typeface="微軟正黑體" panose="020B0604030504040204" pitchFamily="34" charset="-120"/>
                          <a:ea typeface="微軟正黑體" panose="020B0604030504040204" pitchFamily="34" charset="-120"/>
                        </a:rPr>
                        <a:t>，用於將該標準輸出格式以電子病歷輸出。</a:t>
                      </a:r>
                    </a:p>
                  </a:txBody>
                  <a:tcPr/>
                </a:tc>
                <a:tc>
                  <a:txBody>
                    <a:bodyPr/>
                    <a:lstStyle/>
                    <a:p>
                      <a:pPr marL="0" indent="0">
                        <a:buFont typeface="Arial" panose="020B0604020202020204" pitchFamily="34" charset="0"/>
                        <a:buNone/>
                      </a:pPr>
                      <a:r>
                        <a:rPr lang="zh-TW" altLang="en-US" sz="1450" dirty="0">
                          <a:latin typeface="微軟正黑體" panose="020B0604030504040204" pitchFamily="34" charset="-120"/>
                          <a:ea typeface="微軟正黑體" panose="020B0604030504040204" pitchFamily="34" charset="-120"/>
                        </a:rPr>
                        <a:t>第</a:t>
                      </a:r>
                      <a:r>
                        <a:rPr lang="en-US" altLang="zh-TW" sz="1450" dirty="0">
                          <a:latin typeface="微軟正黑體" panose="020B0604030504040204" pitchFamily="34" charset="-120"/>
                          <a:ea typeface="微軟正黑體" panose="020B0604030504040204" pitchFamily="34" charset="-120"/>
                        </a:rPr>
                        <a:t>[0013]</a:t>
                      </a:r>
                      <a:r>
                        <a:rPr lang="zh-TW" altLang="en-US" sz="1450" dirty="0">
                          <a:latin typeface="微軟正黑體" panose="020B0604030504040204" pitchFamily="34" charset="-120"/>
                          <a:ea typeface="微軟正黑體" panose="020B0604030504040204" pitchFamily="34" charset="-120"/>
                        </a:rPr>
                        <a:t>、</a:t>
                      </a:r>
                      <a:r>
                        <a:rPr lang="en-US" altLang="zh-TW" sz="1450" dirty="0">
                          <a:latin typeface="微軟正黑體" panose="020B0604030504040204" pitchFamily="34" charset="-120"/>
                          <a:ea typeface="微軟正黑體" panose="020B0604030504040204" pitchFamily="34" charset="-120"/>
                        </a:rPr>
                        <a:t>[0045]</a:t>
                      </a:r>
                      <a:r>
                        <a:rPr lang="zh-TW" altLang="en-US" sz="1450" dirty="0">
                          <a:latin typeface="微軟正黑體" panose="020B0604030504040204" pitchFamily="34" charset="-120"/>
                          <a:ea typeface="微軟正黑體" panose="020B0604030504040204" pitchFamily="34" charset="-120"/>
                        </a:rPr>
                        <a:t>段；診斷報告產生模型</a:t>
                      </a:r>
                    </a:p>
                  </a:txBody>
                  <a:tcPr/>
                </a:tc>
                <a:extLst>
                  <a:ext uri="{0D108BD9-81ED-4DB2-BD59-A6C34878D82A}">
                    <a16:rowId xmlns:a16="http://schemas.microsoft.com/office/drawing/2014/main" val="10006"/>
                  </a:ext>
                </a:extLst>
              </a:tr>
            </a:tbl>
          </a:graphicData>
        </a:graphic>
      </p:graphicFrame>
      <p:pic>
        <p:nvPicPr>
          <p:cNvPr id="1029" name="Picture 5"/>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508104" y="1289630"/>
            <a:ext cx="3413119" cy="20882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0" name="Picture 6"/>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34586" y="2060848"/>
            <a:ext cx="3933398" cy="952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96278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案例</a:t>
            </a:r>
          </a:p>
        </p:txBody>
      </p:sp>
      <p:sp>
        <p:nvSpPr>
          <p:cNvPr id="4" name="投影片編號版面配置區 3"/>
          <p:cNvSpPr>
            <a:spLocks noGrp="1"/>
          </p:cNvSpPr>
          <p:nvPr>
            <p:ph type="sldNum" sz="quarter" idx="12"/>
          </p:nvPr>
        </p:nvSpPr>
        <p:spPr/>
        <p:txBody>
          <a:bodyPr/>
          <a:lstStyle/>
          <a:p>
            <a:fld id="{254D4C32-7A1A-45A5-84ED-81747F1ABFAE}" type="slidenum">
              <a:rPr lang="zh-TW" altLang="en-US" smtClean="0"/>
              <a:t>31</a:t>
            </a:fld>
            <a:endParaRPr lang="zh-TW" altLang="en-US"/>
          </a:p>
        </p:txBody>
      </p:sp>
      <p:sp>
        <p:nvSpPr>
          <p:cNvPr id="5" name="矩形 4"/>
          <p:cNvSpPr/>
          <p:nvPr/>
        </p:nvSpPr>
        <p:spPr>
          <a:xfrm>
            <a:off x="179512" y="823973"/>
            <a:ext cx="8856984" cy="1728192"/>
          </a:xfrm>
          <a:prstGeom prst="rect">
            <a:avLst/>
          </a:prstGeom>
        </p:spPr>
        <p:style>
          <a:lnRef idx="1">
            <a:schemeClr val="accent5"/>
          </a:lnRef>
          <a:fillRef idx="2">
            <a:schemeClr val="accent5"/>
          </a:fillRef>
          <a:effectRef idx="1">
            <a:schemeClr val="accent5"/>
          </a:effectRef>
          <a:fontRef idx="minor">
            <a:schemeClr val="dk1"/>
          </a:fontRef>
        </p:style>
        <p:txBody>
          <a:bodyPr wrap="square">
            <a:noAutofit/>
          </a:bodyPr>
          <a:lstStyle/>
          <a:p>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修正請求項</a:t>
            </a:r>
            <a:r>
              <a:rPr lang="en-US" altLang="zh-TW" sz="1500" dirty="0">
                <a:latin typeface="微軟正黑體" panose="020B0604030504040204" pitchFamily="34" charset="-120"/>
                <a:ea typeface="微軟正黑體" panose="020B0604030504040204" pitchFamily="34" charset="-120"/>
              </a:rPr>
              <a:t>1]</a:t>
            </a:r>
            <a:r>
              <a:rPr lang="zh-TW" altLang="en-US" sz="1500" dirty="0">
                <a:latin typeface="微軟正黑體" panose="020B0604030504040204" pitchFamily="34" charset="-120"/>
                <a:ea typeface="微軟正黑體" panose="020B0604030504040204" pitchFamily="34" charset="-120"/>
              </a:rPr>
              <a:t>一種人工智慧賦能動態影像辨識電子病歷同步產出系統，其包含：</a:t>
            </a:r>
          </a:p>
          <a:p>
            <a:pPr indent="449263"/>
            <a:r>
              <a:rPr lang="zh-TW" altLang="en-US" sz="1500" dirty="0">
                <a:latin typeface="微軟正黑體" panose="020B0604030504040204" pitchFamily="34" charset="-120"/>
                <a:ea typeface="微軟正黑體" panose="020B0604030504040204" pitchFamily="34" charset="-120"/>
              </a:rPr>
              <a:t>影像接收與處理模組，用於接收動態影像；</a:t>
            </a:r>
          </a:p>
          <a:p>
            <a:pPr indent="449263"/>
            <a:r>
              <a:rPr lang="zh-TW" altLang="en-US" sz="1500" dirty="0">
                <a:latin typeface="微軟正黑體" panose="020B0604030504040204" pitchFamily="34" charset="-120"/>
                <a:ea typeface="微軟正黑體" panose="020B0604030504040204" pitchFamily="34" charset="-120"/>
              </a:rPr>
              <a:t>人工智慧動態影像識別模組，其內含訓練之模型，用於識別該動態影像；</a:t>
            </a:r>
          </a:p>
          <a:p>
            <a:pPr indent="449263"/>
            <a:r>
              <a:rPr lang="zh-TW" altLang="en-US" sz="1500" dirty="0">
                <a:latin typeface="微軟正黑體" panose="020B0604030504040204" pitchFamily="34" charset="-120"/>
                <a:ea typeface="微軟正黑體" panose="020B0604030504040204" pitchFamily="34" charset="-120"/>
              </a:rPr>
              <a:t>物件定位與標記模組，用於在已經識別的該動態影像上，產生定位與標記資訊；</a:t>
            </a:r>
          </a:p>
          <a:p>
            <a:pPr indent="449263"/>
            <a:r>
              <a:rPr lang="zh-TW" altLang="en-US" sz="1500" dirty="0">
                <a:latin typeface="微軟正黑體" panose="020B0604030504040204" pitchFamily="34" charset="-120"/>
                <a:ea typeface="微軟正黑體" panose="020B0604030504040204" pitchFamily="34" charset="-120"/>
              </a:rPr>
              <a:t>資料彙整處理模組，用於將已具有該定位與標記資訊的該動態影像彙整成標準輸出格式；</a:t>
            </a:r>
          </a:p>
          <a:p>
            <a:pPr indent="449263"/>
            <a:r>
              <a:rPr lang="zh-TW" altLang="en-US" sz="1500" dirty="0">
                <a:latin typeface="微軟正黑體" panose="020B0604030504040204" pitchFamily="34" charset="-120"/>
                <a:ea typeface="微軟正黑體" panose="020B0604030504040204" pitchFamily="34" charset="-120"/>
              </a:rPr>
              <a:t>電子病歷產生模組，用於將該標準輸出格式以電子病歷輸出；以及</a:t>
            </a:r>
          </a:p>
          <a:p>
            <a:pPr indent="449263"/>
            <a:r>
              <a:rPr lang="zh-TW" altLang="en-US" sz="1500" b="1" u="sng" dirty="0">
                <a:latin typeface="微軟正黑體" panose="020B0604030504040204" pitchFamily="34" charset="-120"/>
                <a:ea typeface="微軟正黑體" panose="020B0604030504040204" pitchFamily="34" charset="-120"/>
              </a:rPr>
              <a:t>控制模組，用於讓使用者對產生的該定位與標記進行正確性確認</a:t>
            </a:r>
            <a:r>
              <a:rPr lang="zh-TW" altLang="en-US" sz="1500" dirty="0">
                <a:latin typeface="微軟正黑體" panose="020B0604030504040204" pitchFamily="34" charset="-120"/>
                <a:ea typeface="微軟正黑體" panose="020B0604030504040204" pitchFamily="34" charset="-120"/>
              </a:rPr>
              <a:t>。</a:t>
            </a:r>
          </a:p>
        </p:txBody>
      </p:sp>
      <p:sp>
        <p:nvSpPr>
          <p:cNvPr id="6" name="矩形 5"/>
          <p:cNvSpPr/>
          <p:nvPr/>
        </p:nvSpPr>
        <p:spPr>
          <a:xfrm>
            <a:off x="177693" y="2619566"/>
            <a:ext cx="3456385"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zh-TW" altLang="en-US" sz="1400" dirty="0">
                <a:latin typeface="微軟正黑體" panose="020B0604030504040204" pitchFamily="34" charset="-120"/>
                <a:ea typeface="微軟正黑體" panose="020B0604030504040204" pitchFamily="34" charset="-120"/>
              </a:rPr>
              <a:t>引證</a:t>
            </a:r>
            <a:r>
              <a:rPr lang="en-US" altLang="zh-TW" sz="1400" dirty="0">
                <a:latin typeface="微軟正黑體" panose="020B0604030504040204" pitchFamily="34" charset="-120"/>
                <a:ea typeface="微軟正黑體" panose="020B0604030504040204" pitchFamily="34" charset="-120"/>
              </a:rPr>
              <a:t>B</a:t>
            </a:r>
            <a:r>
              <a:rPr lang="zh-TW" altLang="en-US" sz="1400" dirty="0">
                <a:latin typeface="微軟正黑體" panose="020B0604030504040204" pitchFamily="34" charset="-120"/>
                <a:ea typeface="微軟正黑體" panose="020B0604030504040204" pitchFamily="34" charset="-120"/>
              </a:rPr>
              <a:t>：</a:t>
            </a:r>
            <a:r>
              <a:rPr lang="en-US" altLang="zh-TW" sz="1400" dirty="0">
                <a:latin typeface="微軟正黑體" panose="020B0604030504040204" pitchFamily="34" charset="-120"/>
                <a:ea typeface="微軟正黑體" panose="020B0604030504040204" pitchFamily="34" charset="-120"/>
              </a:rPr>
              <a:t>TW202044278A</a:t>
            </a:r>
            <a:r>
              <a:rPr lang="zh-TW" altLang="en-US" sz="1400" dirty="0">
                <a:latin typeface="微軟正黑體" panose="020B0604030504040204" pitchFamily="34" charset="-120"/>
                <a:ea typeface="微軟正黑體" panose="020B0604030504040204" pitchFamily="34" charset="-120"/>
              </a:rPr>
              <a:t> 通過語音記錄及處理一組織之影像資訊的方法及系統</a:t>
            </a:r>
          </a:p>
        </p:txBody>
      </p:sp>
      <p:sp>
        <p:nvSpPr>
          <p:cNvPr id="7" name="矩形 6"/>
          <p:cNvSpPr/>
          <p:nvPr/>
        </p:nvSpPr>
        <p:spPr>
          <a:xfrm>
            <a:off x="179512" y="3197657"/>
            <a:ext cx="3456384" cy="95410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TW" sz="1400" dirty="0">
                <a:latin typeface="微軟正黑體" panose="020B0604030504040204" pitchFamily="34" charset="-120"/>
                <a:ea typeface="微軟正黑體" panose="020B0604030504040204" pitchFamily="34" charset="-120"/>
              </a:rPr>
              <a:t>【</a:t>
            </a:r>
            <a:r>
              <a:rPr lang="zh-TW" altLang="en-US" sz="1400" b="1" dirty="0">
                <a:latin typeface="微軟正黑體" panose="020B0604030504040204" pitchFamily="34" charset="-120"/>
                <a:ea typeface="微軟正黑體" panose="020B0604030504040204" pitchFamily="34" charset="-120"/>
              </a:rPr>
              <a:t>差異</a:t>
            </a:r>
            <a:r>
              <a:rPr lang="en-US" altLang="zh-TW" sz="1400" dirty="0">
                <a:latin typeface="微軟正黑體" panose="020B0604030504040204" pitchFamily="34" charset="-120"/>
                <a:ea typeface="微軟正黑體" panose="020B0604030504040204" pitchFamily="34" charset="-120"/>
              </a:rPr>
              <a:t>】</a:t>
            </a:r>
          </a:p>
          <a:p>
            <a:r>
              <a:rPr lang="zh-TW" altLang="en-US" sz="1400" dirty="0">
                <a:latin typeface="微軟正黑體" panose="020B0604030504040204" pitchFamily="34" charset="-120"/>
                <a:ea typeface="微軟正黑體" panose="020B0604030504040204" pitchFamily="34" charset="-120"/>
              </a:rPr>
              <a:t>本項與引證</a:t>
            </a:r>
            <a:r>
              <a:rPr lang="en-US" altLang="zh-TW" sz="1400" dirty="0">
                <a:latin typeface="微軟正黑體" panose="020B0604030504040204" pitchFamily="34" charset="-120"/>
                <a:ea typeface="微軟正黑體" panose="020B0604030504040204" pitchFamily="34" charset="-120"/>
              </a:rPr>
              <a:t>A</a:t>
            </a:r>
            <a:r>
              <a:rPr lang="zh-TW" altLang="en-US" sz="1400" dirty="0">
                <a:latin typeface="微軟正黑體" panose="020B0604030504040204" pitchFamily="34" charset="-120"/>
                <a:ea typeface="微軟正黑體" panose="020B0604030504040204" pitchFamily="34" charset="-120"/>
              </a:rPr>
              <a:t>之差異處在於引證</a:t>
            </a:r>
            <a:r>
              <a:rPr lang="en-US" altLang="zh-TW" sz="1400" dirty="0">
                <a:latin typeface="微軟正黑體" panose="020B0604030504040204" pitchFamily="34" charset="-120"/>
                <a:ea typeface="微軟正黑體" panose="020B0604030504040204" pitchFamily="34" charset="-120"/>
              </a:rPr>
              <a:t>A</a:t>
            </a:r>
            <a:r>
              <a:rPr lang="zh-TW" altLang="en-US" sz="1400" dirty="0">
                <a:latin typeface="微軟正黑體" panose="020B0604030504040204" pitchFamily="34" charset="-120"/>
                <a:ea typeface="微軟正黑體" panose="020B0604030504040204" pitchFamily="34" charset="-120"/>
              </a:rPr>
              <a:t>未揭示「控制模組，用於讓使用者對產生的該定位與標記進行正確性確認」。</a:t>
            </a:r>
          </a:p>
        </p:txBody>
      </p:sp>
      <p:sp>
        <p:nvSpPr>
          <p:cNvPr id="8" name="矩形 7"/>
          <p:cNvSpPr/>
          <p:nvPr/>
        </p:nvSpPr>
        <p:spPr>
          <a:xfrm>
            <a:off x="179512" y="4183070"/>
            <a:ext cx="3456384" cy="116955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TW" sz="1400" dirty="0">
                <a:latin typeface="微軟正黑體" panose="020B0604030504040204" pitchFamily="34" charset="-120"/>
                <a:ea typeface="微軟正黑體" panose="020B0604030504040204" pitchFamily="34" charset="-120"/>
              </a:rPr>
              <a:t>【</a:t>
            </a:r>
            <a:r>
              <a:rPr lang="zh-TW" altLang="en-US" sz="1400" b="1" dirty="0">
                <a:latin typeface="微軟正黑體" panose="020B0604030504040204" pitchFamily="34" charset="-120"/>
                <a:ea typeface="微軟正黑體" panose="020B0604030504040204" pitchFamily="34" charset="-120"/>
              </a:rPr>
              <a:t>結合另一引證</a:t>
            </a:r>
            <a:r>
              <a:rPr lang="en-US" altLang="zh-TW" sz="1400" dirty="0">
                <a:latin typeface="微軟正黑體" panose="020B0604030504040204" pitchFamily="34" charset="-120"/>
                <a:ea typeface="微軟正黑體" panose="020B0604030504040204" pitchFamily="34" charset="-120"/>
              </a:rPr>
              <a:t>】</a:t>
            </a:r>
          </a:p>
          <a:p>
            <a:r>
              <a:rPr lang="zh-TW" altLang="en-US" sz="1400" dirty="0">
                <a:latin typeface="微軟正黑體" panose="020B0604030504040204" pitchFamily="34" charset="-120"/>
                <a:ea typeface="微軟正黑體" panose="020B0604030504040204" pitchFamily="34" charset="-120"/>
              </a:rPr>
              <a:t>惟引證</a:t>
            </a:r>
            <a:r>
              <a:rPr lang="en-US" altLang="zh-TW" sz="1400" dirty="0">
                <a:latin typeface="微軟正黑體" panose="020B0604030504040204" pitchFamily="34" charset="-120"/>
                <a:ea typeface="微軟正黑體" panose="020B0604030504040204" pitchFamily="34" charset="-120"/>
              </a:rPr>
              <a:t>B</a:t>
            </a:r>
            <a:r>
              <a:rPr lang="zh-TW" altLang="en-US" sz="1400" dirty="0">
                <a:latin typeface="微軟正黑體" panose="020B0604030504040204" pitchFamily="34" charset="-120"/>
                <a:ea typeface="微軟正黑體" panose="020B0604030504040204" pitchFamily="34" charset="-120"/>
              </a:rPr>
              <a:t>已揭示控制模組</a:t>
            </a:r>
            <a:r>
              <a:rPr lang="en-US" altLang="zh-TW" sz="1400" dirty="0">
                <a:latin typeface="微軟正黑體" panose="020B0604030504040204" pitchFamily="34" charset="-120"/>
                <a:ea typeface="微軟正黑體" panose="020B0604030504040204" pitchFamily="34" charset="-120"/>
              </a:rPr>
              <a:t>【</a:t>
            </a:r>
            <a:r>
              <a:rPr lang="zh-TW" altLang="en-US" sz="1400" dirty="0">
                <a:latin typeface="微軟正黑體" panose="020B0604030504040204" pitchFamily="34" charset="-120"/>
                <a:ea typeface="微軟正黑體" panose="020B0604030504040204" pitchFamily="34" charset="-120"/>
              </a:rPr>
              <a:t>第</a:t>
            </a:r>
            <a:r>
              <a:rPr lang="en-US" altLang="zh-TW" sz="1400" dirty="0">
                <a:latin typeface="微軟正黑體" panose="020B0604030504040204" pitchFamily="34" charset="-120"/>
                <a:ea typeface="微軟正黑體" panose="020B0604030504040204" pitchFamily="34" charset="-120"/>
              </a:rPr>
              <a:t>1</a:t>
            </a:r>
            <a:r>
              <a:rPr lang="zh-TW" altLang="en-US" sz="1400" dirty="0">
                <a:latin typeface="微軟正黑體" panose="020B0604030504040204" pitchFamily="34" charset="-120"/>
                <a:ea typeface="微軟正黑體" panose="020B0604030504040204" pitchFamily="34" charset="-120"/>
              </a:rPr>
              <a:t>圖，</a:t>
            </a:r>
            <a:r>
              <a:rPr lang="en-US" altLang="zh-TW" sz="1400" dirty="0">
                <a:latin typeface="微軟正黑體" panose="020B0604030504040204" pitchFamily="34" charset="-120"/>
                <a:ea typeface="微軟正黑體" panose="020B0604030504040204" pitchFamily="34" charset="-120"/>
              </a:rPr>
              <a:t>120】</a:t>
            </a:r>
            <a:r>
              <a:rPr lang="zh-TW" altLang="en-US" sz="1400" dirty="0">
                <a:latin typeface="微軟正黑體" panose="020B0604030504040204" pitchFamily="34" charset="-120"/>
                <a:ea typeface="微軟正黑體" panose="020B0604030504040204" pitchFamily="34" charset="-120"/>
              </a:rPr>
              <a:t>，用於讓使用者對產生的該定位與標記進行正確性確認</a:t>
            </a:r>
            <a:r>
              <a:rPr lang="en-US" altLang="zh-TW" sz="1400" dirty="0">
                <a:latin typeface="微軟正黑體" panose="020B0604030504040204" pitchFamily="34" charset="-120"/>
                <a:ea typeface="微軟正黑體" panose="020B0604030504040204" pitchFamily="34" charset="-120"/>
              </a:rPr>
              <a:t>【</a:t>
            </a:r>
            <a:r>
              <a:rPr lang="zh-TW" altLang="en-US" sz="1400" dirty="0">
                <a:latin typeface="微軟正黑體" panose="020B0604030504040204" pitchFamily="34" charset="-120"/>
                <a:ea typeface="微軟正黑體" panose="020B0604030504040204" pitchFamily="34" charset="-120"/>
              </a:rPr>
              <a:t>第</a:t>
            </a:r>
            <a:r>
              <a:rPr lang="en-US" altLang="zh-TW" sz="1400" dirty="0">
                <a:latin typeface="微軟正黑體" panose="020B0604030504040204" pitchFamily="34" charset="-120"/>
                <a:ea typeface="微軟正黑體" panose="020B0604030504040204" pitchFamily="34" charset="-120"/>
              </a:rPr>
              <a:t>[0055]</a:t>
            </a:r>
            <a:r>
              <a:rPr lang="zh-TW" altLang="en-US" sz="1400" dirty="0">
                <a:latin typeface="微軟正黑體" panose="020B0604030504040204" pitchFamily="34" charset="-120"/>
                <a:ea typeface="微軟正黑體" panose="020B0604030504040204" pitchFamily="34" charset="-120"/>
              </a:rPr>
              <a:t>、</a:t>
            </a:r>
            <a:r>
              <a:rPr lang="en-US" altLang="zh-TW" sz="1400" dirty="0">
                <a:latin typeface="微軟正黑體" panose="020B0604030504040204" pitchFamily="34" charset="-120"/>
                <a:ea typeface="微軟正黑體" panose="020B0604030504040204" pitchFamily="34" charset="-120"/>
              </a:rPr>
              <a:t>[0058]</a:t>
            </a:r>
            <a:r>
              <a:rPr lang="zh-TW" altLang="en-US" sz="1400" dirty="0">
                <a:latin typeface="微軟正黑體" panose="020B0604030504040204" pitchFamily="34" charset="-120"/>
                <a:ea typeface="微軟正黑體" panose="020B0604030504040204" pitchFamily="34" charset="-120"/>
              </a:rPr>
              <a:t>、</a:t>
            </a:r>
            <a:r>
              <a:rPr lang="en-US" altLang="zh-TW" sz="1400" dirty="0">
                <a:latin typeface="微軟正黑體" panose="020B0604030504040204" pitchFamily="34" charset="-120"/>
                <a:ea typeface="微軟正黑體" panose="020B0604030504040204" pitchFamily="34" charset="-120"/>
              </a:rPr>
              <a:t>[0059]</a:t>
            </a:r>
            <a:r>
              <a:rPr lang="zh-TW" altLang="en-US" sz="1400" dirty="0">
                <a:latin typeface="微軟正黑體" panose="020B0604030504040204" pitchFamily="34" charset="-120"/>
                <a:ea typeface="微軟正黑體" panose="020B0604030504040204" pitchFamily="34" charset="-120"/>
              </a:rPr>
              <a:t>段</a:t>
            </a:r>
            <a:r>
              <a:rPr lang="en-US" altLang="zh-TW" sz="1400" dirty="0">
                <a:latin typeface="微軟正黑體" panose="020B0604030504040204" pitchFamily="34" charset="-120"/>
                <a:ea typeface="微軟正黑體" panose="020B0604030504040204" pitchFamily="34" charset="-120"/>
              </a:rPr>
              <a:t>】</a:t>
            </a:r>
            <a:r>
              <a:rPr lang="zh-TW" altLang="en-US" sz="1400" dirty="0">
                <a:latin typeface="微軟正黑體" panose="020B0604030504040204" pitchFamily="34" charset="-120"/>
                <a:ea typeface="微軟正黑體" panose="020B0604030504040204" pitchFamily="34" charset="-120"/>
              </a:rPr>
              <a:t>。</a:t>
            </a:r>
          </a:p>
        </p:txBody>
      </p:sp>
      <p:sp>
        <p:nvSpPr>
          <p:cNvPr id="9" name="矩形 8"/>
          <p:cNvSpPr/>
          <p:nvPr/>
        </p:nvSpPr>
        <p:spPr>
          <a:xfrm>
            <a:off x="179512" y="5383926"/>
            <a:ext cx="3456384" cy="138499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TW" sz="1400" dirty="0">
                <a:latin typeface="微軟正黑體" panose="020B0604030504040204" pitchFamily="34" charset="-120"/>
                <a:ea typeface="微軟正黑體" panose="020B0604030504040204" pitchFamily="34" charset="-120"/>
              </a:rPr>
              <a:t>【</a:t>
            </a:r>
            <a:r>
              <a:rPr lang="zh-TW" altLang="en-US" sz="1400" b="1" dirty="0">
                <a:latin typeface="微軟正黑體" panose="020B0604030504040204" pitchFamily="34" charset="-120"/>
                <a:ea typeface="微軟正黑體" panose="020B0604030504040204" pitchFamily="34" charset="-120"/>
              </a:rPr>
              <a:t>結合動機</a:t>
            </a:r>
            <a:r>
              <a:rPr lang="en-US" altLang="zh-TW" sz="1400" dirty="0">
                <a:latin typeface="微軟正黑體" panose="020B0604030504040204" pitchFamily="34" charset="-120"/>
                <a:ea typeface="微軟正黑體" panose="020B0604030504040204" pitchFamily="34" charset="-120"/>
              </a:rPr>
              <a:t>】</a:t>
            </a:r>
          </a:p>
          <a:p>
            <a:r>
              <a:rPr lang="zh-TW" altLang="en-US" sz="1400" dirty="0">
                <a:latin typeface="微軟正黑體" panose="020B0604030504040204" pitchFamily="34" charset="-120"/>
                <a:ea typeface="微軟正黑體" panose="020B0604030504040204" pitchFamily="34" charset="-120"/>
              </a:rPr>
              <a:t>引證</a:t>
            </a:r>
            <a:r>
              <a:rPr lang="en-US" altLang="zh-TW" sz="1400" dirty="0">
                <a:latin typeface="微軟正黑體" panose="020B0604030504040204" pitchFamily="34" charset="-120"/>
                <a:ea typeface="微軟正黑體" panose="020B0604030504040204" pitchFamily="34" charset="-120"/>
              </a:rPr>
              <a:t>A</a:t>
            </a:r>
            <a:r>
              <a:rPr lang="zh-TW" altLang="en-US" sz="1400" dirty="0">
                <a:latin typeface="微軟正黑體" panose="020B0604030504040204" pitchFamily="34" charset="-120"/>
                <a:ea typeface="微軟正黑體" panose="020B0604030504040204" pitchFamily="34" charset="-120"/>
              </a:rPr>
              <a:t>、</a:t>
            </a:r>
            <a:r>
              <a:rPr lang="en-US" altLang="zh-TW" sz="1400" dirty="0">
                <a:latin typeface="微軟正黑體" panose="020B0604030504040204" pitchFamily="34" charset="-120"/>
                <a:ea typeface="微軟正黑體" panose="020B0604030504040204" pitchFamily="34" charset="-120"/>
              </a:rPr>
              <a:t>B</a:t>
            </a:r>
            <a:r>
              <a:rPr lang="zh-TW" altLang="en-US" sz="1400" dirty="0">
                <a:latin typeface="微軟正黑體" panose="020B0604030504040204" pitchFamily="34" charset="-120"/>
                <a:ea typeface="微軟正黑體" panose="020B0604030504040204" pitchFamily="34" charset="-120"/>
              </a:rPr>
              <a:t>皆為醫療影像辨識、判斷及產出診斷報告之系統，為關連之技術領域，且皆藉由系統輔助醫療人員判斷，其作用、功能具有共通性，故引證</a:t>
            </a:r>
            <a:r>
              <a:rPr lang="en-US" altLang="zh-TW" sz="1400" dirty="0">
                <a:latin typeface="微軟正黑體" panose="020B0604030504040204" pitchFamily="34" charset="-120"/>
                <a:ea typeface="微軟正黑體" panose="020B0604030504040204" pitchFamily="34" charset="-120"/>
              </a:rPr>
              <a:t>A</a:t>
            </a:r>
            <a:r>
              <a:rPr lang="zh-TW" altLang="en-US" sz="1400" dirty="0">
                <a:latin typeface="微軟正黑體" panose="020B0604030504040204" pitchFamily="34" charset="-120"/>
                <a:ea typeface="微軟正黑體" panose="020B0604030504040204" pitchFamily="34" charset="-120"/>
              </a:rPr>
              <a:t>、</a:t>
            </a:r>
            <a:r>
              <a:rPr lang="en-US" altLang="zh-TW" sz="1400" dirty="0">
                <a:latin typeface="微軟正黑體" panose="020B0604030504040204" pitchFamily="34" charset="-120"/>
                <a:ea typeface="微軟正黑體" panose="020B0604030504040204" pitchFamily="34" charset="-120"/>
              </a:rPr>
              <a:t>B</a:t>
            </a:r>
            <a:r>
              <a:rPr lang="zh-TW" altLang="en-US" sz="1400" dirty="0">
                <a:latin typeface="微軟正黑體" panose="020B0604030504040204" pitchFamily="34" charset="-120"/>
                <a:ea typeface="微軟正黑體" panose="020B0604030504040204" pitchFamily="34" charset="-120"/>
              </a:rPr>
              <a:t>結合動機合理。</a:t>
            </a:r>
          </a:p>
        </p:txBody>
      </p:sp>
      <p:pic>
        <p:nvPicPr>
          <p:cNvPr id="1026"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792920" y="2601614"/>
            <a:ext cx="2579279" cy="42168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0" name="表格 9"/>
          <p:cNvGraphicFramePr>
            <a:graphicFrameLocks noGrp="1"/>
          </p:cNvGraphicFramePr>
          <p:nvPr>
            <p:extLst>
              <p:ext uri="{D42A27DB-BD31-4B8C-83A1-F6EECF244321}">
                <p14:modId xmlns:p14="http://schemas.microsoft.com/office/powerpoint/2010/main" val="1629616558"/>
              </p:ext>
            </p:extLst>
          </p:nvPr>
        </p:nvGraphicFramePr>
        <p:xfrm>
          <a:off x="6588224" y="2830101"/>
          <a:ext cx="2332444" cy="3558071"/>
        </p:xfrm>
        <a:graphic>
          <a:graphicData uri="http://schemas.openxmlformats.org/drawingml/2006/table">
            <a:tbl>
              <a:tblPr/>
              <a:tblGrid>
                <a:gridCol w="2332444">
                  <a:extLst>
                    <a:ext uri="{9D8B030D-6E8A-4147-A177-3AD203B41FA5}">
                      <a16:colId xmlns:a16="http://schemas.microsoft.com/office/drawing/2014/main" val="20000"/>
                    </a:ext>
                  </a:extLst>
                </a:gridCol>
              </a:tblGrid>
              <a:tr h="247360">
                <a:tc>
                  <a:txBody>
                    <a:bodyPr/>
                    <a:lstStyle/>
                    <a:p>
                      <a:r>
                        <a:rPr lang="en-US" altLang="zh-TW" sz="1200" dirty="0">
                          <a:latin typeface="微軟正黑體" panose="020B0604030504040204" pitchFamily="34" charset="-120"/>
                          <a:ea typeface="微軟正黑體" panose="020B0604030504040204" pitchFamily="34" charset="-120"/>
                        </a:rPr>
                        <a:t>100:</a:t>
                      </a:r>
                      <a:r>
                        <a:rPr lang="zh-TW" altLang="en-US" sz="1200" dirty="0">
                          <a:latin typeface="微軟正黑體" panose="020B0604030504040204" pitchFamily="34" charset="-120"/>
                          <a:ea typeface="微軟正黑體" panose="020B0604030504040204" pitchFamily="34" charset="-120"/>
                        </a:rPr>
                        <a:t>系統</a:t>
                      </a:r>
                    </a:p>
                  </a:txBody>
                  <a:tcPr marL="87038" marR="87038" marT="43519" marB="43519" anchor="ctr">
                    <a:lnL>
                      <a:noFill/>
                    </a:lnL>
                    <a:lnR>
                      <a:noFill/>
                    </a:lnR>
                    <a:lnT>
                      <a:noFill/>
                    </a:lnT>
                    <a:lnB>
                      <a:noFill/>
                    </a:lnB>
                  </a:tcPr>
                </a:tc>
                <a:extLst>
                  <a:ext uri="{0D108BD9-81ED-4DB2-BD59-A6C34878D82A}">
                    <a16:rowId xmlns:a16="http://schemas.microsoft.com/office/drawing/2014/main" val="10000"/>
                  </a:ext>
                </a:extLst>
              </a:tr>
              <a:tr h="247360">
                <a:tc>
                  <a:txBody>
                    <a:bodyPr/>
                    <a:lstStyle/>
                    <a:p>
                      <a:r>
                        <a:rPr lang="en-US" altLang="zh-TW" sz="1200" dirty="0">
                          <a:latin typeface="微軟正黑體" panose="020B0604030504040204" pitchFamily="34" charset="-120"/>
                          <a:ea typeface="微軟正黑體" panose="020B0604030504040204" pitchFamily="34" charset="-120"/>
                        </a:rPr>
                        <a:t>110:</a:t>
                      </a:r>
                      <a:r>
                        <a:rPr lang="zh-TW" altLang="en-US" sz="1200" dirty="0">
                          <a:latin typeface="微軟正黑體" panose="020B0604030504040204" pitchFamily="34" charset="-120"/>
                          <a:ea typeface="微軟正黑體" panose="020B0604030504040204" pitchFamily="34" charset="-120"/>
                        </a:rPr>
                        <a:t>影像攝錄裝置</a:t>
                      </a:r>
                    </a:p>
                  </a:txBody>
                  <a:tcPr marL="87038" marR="87038" marT="43519" marB="43519" anchor="ctr">
                    <a:lnL>
                      <a:noFill/>
                    </a:lnL>
                    <a:lnR>
                      <a:noFill/>
                    </a:lnR>
                    <a:lnT>
                      <a:noFill/>
                    </a:lnT>
                    <a:lnB>
                      <a:noFill/>
                    </a:lnB>
                  </a:tcPr>
                </a:tc>
                <a:extLst>
                  <a:ext uri="{0D108BD9-81ED-4DB2-BD59-A6C34878D82A}">
                    <a16:rowId xmlns:a16="http://schemas.microsoft.com/office/drawing/2014/main" val="10001"/>
                  </a:ext>
                </a:extLst>
              </a:tr>
              <a:tr h="247360">
                <a:tc>
                  <a:txBody>
                    <a:bodyPr/>
                    <a:lstStyle/>
                    <a:p>
                      <a:r>
                        <a:rPr lang="en-US" altLang="zh-TW" sz="1200">
                          <a:latin typeface="微軟正黑體" panose="020B0604030504040204" pitchFamily="34" charset="-120"/>
                          <a:ea typeface="微軟正黑體" panose="020B0604030504040204" pitchFamily="34" charset="-120"/>
                        </a:rPr>
                        <a:t>111:</a:t>
                      </a:r>
                      <a:r>
                        <a:rPr lang="zh-TW" altLang="en-US" sz="1200">
                          <a:latin typeface="微軟正黑體" panose="020B0604030504040204" pitchFamily="34" charset="-120"/>
                          <a:ea typeface="微軟正黑體" panose="020B0604030504040204" pitchFamily="34" charset="-120"/>
                        </a:rPr>
                        <a:t>攝像機</a:t>
                      </a:r>
                    </a:p>
                  </a:txBody>
                  <a:tcPr marL="87038" marR="87038" marT="43519" marB="43519" anchor="ctr">
                    <a:lnL>
                      <a:noFill/>
                    </a:lnL>
                    <a:lnR>
                      <a:noFill/>
                    </a:lnR>
                    <a:lnT>
                      <a:noFill/>
                    </a:lnT>
                    <a:lnB>
                      <a:noFill/>
                    </a:lnB>
                  </a:tcPr>
                </a:tc>
                <a:extLst>
                  <a:ext uri="{0D108BD9-81ED-4DB2-BD59-A6C34878D82A}">
                    <a16:rowId xmlns:a16="http://schemas.microsoft.com/office/drawing/2014/main" val="10002"/>
                  </a:ext>
                </a:extLst>
              </a:tr>
              <a:tr h="247360">
                <a:tc>
                  <a:txBody>
                    <a:bodyPr/>
                    <a:lstStyle/>
                    <a:p>
                      <a:r>
                        <a:rPr lang="en-US" altLang="zh-TW" sz="1200">
                          <a:latin typeface="微軟正黑體" panose="020B0604030504040204" pitchFamily="34" charset="-120"/>
                          <a:ea typeface="微軟正黑體" panose="020B0604030504040204" pitchFamily="34" charset="-120"/>
                        </a:rPr>
                        <a:t>112:</a:t>
                      </a:r>
                      <a:r>
                        <a:rPr lang="zh-TW" altLang="en-US" sz="1200">
                          <a:latin typeface="微軟正黑體" panose="020B0604030504040204" pitchFamily="34" charset="-120"/>
                          <a:ea typeface="微軟正黑體" panose="020B0604030504040204" pitchFamily="34" charset="-120"/>
                        </a:rPr>
                        <a:t>第一通訊裝置</a:t>
                      </a:r>
                    </a:p>
                  </a:txBody>
                  <a:tcPr marL="87038" marR="87038" marT="43519" marB="43519" anchor="ctr">
                    <a:lnL>
                      <a:noFill/>
                    </a:lnL>
                    <a:lnR>
                      <a:noFill/>
                    </a:lnR>
                    <a:lnT>
                      <a:noFill/>
                    </a:lnT>
                    <a:lnB>
                      <a:noFill/>
                    </a:lnB>
                  </a:tcPr>
                </a:tc>
                <a:extLst>
                  <a:ext uri="{0D108BD9-81ED-4DB2-BD59-A6C34878D82A}">
                    <a16:rowId xmlns:a16="http://schemas.microsoft.com/office/drawing/2014/main" val="10003"/>
                  </a:ext>
                </a:extLst>
              </a:tr>
              <a:tr h="247360">
                <a:tc>
                  <a:txBody>
                    <a:bodyPr/>
                    <a:lstStyle/>
                    <a:p>
                      <a:r>
                        <a:rPr lang="en-US" altLang="zh-TW" sz="1200">
                          <a:latin typeface="微軟正黑體" panose="020B0604030504040204" pitchFamily="34" charset="-120"/>
                          <a:ea typeface="微軟正黑體" panose="020B0604030504040204" pitchFamily="34" charset="-120"/>
                        </a:rPr>
                        <a:t>113:</a:t>
                      </a:r>
                      <a:r>
                        <a:rPr lang="zh-TW" altLang="en-US" sz="1200">
                          <a:latin typeface="微軟正黑體" panose="020B0604030504040204" pitchFamily="34" charset="-120"/>
                          <a:ea typeface="微軟正黑體" panose="020B0604030504040204" pitchFamily="34" charset="-120"/>
                        </a:rPr>
                        <a:t>第一處理器</a:t>
                      </a:r>
                    </a:p>
                  </a:txBody>
                  <a:tcPr marL="87038" marR="87038" marT="43519" marB="43519" anchor="ctr">
                    <a:lnL>
                      <a:noFill/>
                    </a:lnL>
                    <a:lnR>
                      <a:noFill/>
                    </a:lnR>
                    <a:lnT>
                      <a:noFill/>
                    </a:lnT>
                    <a:lnB>
                      <a:noFill/>
                    </a:lnB>
                  </a:tcPr>
                </a:tc>
                <a:extLst>
                  <a:ext uri="{0D108BD9-81ED-4DB2-BD59-A6C34878D82A}">
                    <a16:rowId xmlns:a16="http://schemas.microsoft.com/office/drawing/2014/main" val="10004"/>
                  </a:ext>
                </a:extLst>
              </a:tr>
              <a:tr h="247360">
                <a:tc>
                  <a:txBody>
                    <a:bodyPr/>
                    <a:lstStyle/>
                    <a:p>
                      <a:r>
                        <a:rPr lang="en-US" altLang="zh-TW" sz="1200" dirty="0">
                          <a:latin typeface="微軟正黑體" panose="020B0604030504040204" pitchFamily="34" charset="-120"/>
                          <a:ea typeface="微軟正黑體" panose="020B0604030504040204" pitchFamily="34" charset="-120"/>
                        </a:rPr>
                        <a:t>120:</a:t>
                      </a:r>
                      <a:r>
                        <a:rPr lang="zh-TW" altLang="en-US" sz="1200" dirty="0">
                          <a:latin typeface="微軟正黑體" panose="020B0604030504040204" pitchFamily="34" charset="-120"/>
                          <a:ea typeface="微軟正黑體" panose="020B0604030504040204" pitchFamily="34" charset="-120"/>
                        </a:rPr>
                        <a:t>控制端</a:t>
                      </a:r>
                    </a:p>
                  </a:txBody>
                  <a:tcPr marL="87038" marR="87038" marT="43519" marB="43519" anchor="ctr">
                    <a:lnL>
                      <a:noFill/>
                    </a:lnL>
                    <a:lnR>
                      <a:noFill/>
                    </a:lnR>
                    <a:lnT>
                      <a:noFill/>
                    </a:lnT>
                    <a:lnB>
                      <a:noFill/>
                    </a:lnB>
                  </a:tcPr>
                </a:tc>
                <a:extLst>
                  <a:ext uri="{0D108BD9-81ED-4DB2-BD59-A6C34878D82A}">
                    <a16:rowId xmlns:a16="http://schemas.microsoft.com/office/drawing/2014/main" val="10005"/>
                  </a:ext>
                </a:extLst>
              </a:tr>
              <a:tr h="247360">
                <a:tc>
                  <a:txBody>
                    <a:bodyPr/>
                    <a:lstStyle/>
                    <a:p>
                      <a:r>
                        <a:rPr lang="en-US" altLang="zh-TW" sz="1200">
                          <a:latin typeface="微軟正黑體" panose="020B0604030504040204" pitchFamily="34" charset="-120"/>
                          <a:ea typeface="微軟正黑體" panose="020B0604030504040204" pitchFamily="34" charset="-120"/>
                        </a:rPr>
                        <a:t>121:</a:t>
                      </a:r>
                      <a:r>
                        <a:rPr lang="zh-TW" altLang="en-US" sz="1200">
                          <a:latin typeface="微軟正黑體" panose="020B0604030504040204" pitchFamily="34" charset="-120"/>
                          <a:ea typeface="微軟正黑體" panose="020B0604030504040204" pitchFamily="34" charset="-120"/>
                        </a:rPr>
                        <a:t>第二通訊裝置</a:t>
                      </a:r>
                    </a:p>
                  </a:txBody>
                  <a:tcPr marL="87038" marR="87038" marT="43519" marB="43519" anchor="ctr">
                    <a:lnL>
                      <a:noFill/>
                    </a:lnL>
                    <a:lnR>
                      <a:noFill/>
                    </a:lnR>
                    <a:lnT>
                      <a:noFill/>
                    </a:lnT>
                    <a:lnB>
                      <a:noFill/>
                    </a:lnB>
                  </a:tcPr>
                </a:tc>
                <a:extLst>
                  <a:ext uri="{0D108BD9-81ED-4DB2-BD59-A6C34878D82A}">
                    <a16:rowId xmlns:a16="http://schemas.microsoft.com/office/drawing/2014/main" val="10006"/>
                  </a:ext>
                </a:extLst>
              </a:tr>
              <a:tr h="247360">
                <a:tc>
                  <a:txBody>
                    <a:bodyPr/>
                    <a:lstStyle/>
                    <a:p>
                      <a:r>
                        <a:rPr lang="en-US" altLang="zh-TW" sz="1200">
                          <a:latin typeface="微軟正黑體" panose="020B0604030504040204" pitchFamily="34" charset="-120"/>
                          <a:ea typeface="微軟正黑體" panose="020B0604030504040204" pitchFamily="34" charset="-120"/>
                        </a:rPr>
                        <a:t>122:</a:t>
                      </a:r>
                      <a:r>
                        <a:rPr lang="zh-TW" altLang="en-US" sz="1200">
                          <a:latin typeface="微軟正黑體" panose="020B0604030504040204" pitchFamily="34" charset="-120"/>
                          <a:ea typeface="微軟正黑體" panose="020B0604030504040204" pitchFamily="34" charset="-120"/>
                        </a:rPr>
                        <a:t>儲存裝置</a:t>
                      </a:r>
                    </a:p>
                  </a:txBody>
                  <a:tcPr marL="87038" marR="87038" marT="43519" marB="43519" anchor="ctr">
                    <a:lnL>
                      <a:noFill/>
                    </a:lnL>
                    <a:lnR>
                      <a:noFill/>
                    </a:lnR>
                    <a:lnT>
                      <a:noFill/>
                    </a:lnT>
                    <a:lnB>
                      <a:noFill/>
                    </a:lnB>
                  </a:tcPr>
                </a:tc>
                <a:extLst>
                  <a:ext uri="{0D108BD9-81ED-4DB2-BD59-A6C34878D82A}">
                    <a16:rowId xmlns:a16="http://schemas.microsoft.com/office/drawing/2014/main" val="10007"/>
                  </a:ext>
                </a:extLst>
              </a:tr>
              <a:tr h="247360">
                <a:tc>
                  <a:txBody>
                    <a:bodyPr/>
                    <a:lstStyle/>
                    <a:p>
                      <a:r>
                        <a:rPr lang="en-US" altLang="zh-TW" sz="1200">
                          <a:latin typeface="微軟正黑體" panose="020B0604030504040204" pitchFamily="34" charset="-120"/>
                          <a:ea typeface="微軟正黑體" panose="020B0604030504040204" pitchFamily="34" charset="-120"/>
                        </a:rPr>
                        <a:t>123:</a:t>
                      </a:r>
                      <a:r>
                        <a:rPr lang="zh-TW" altLang="en-US" sz="1200">
                          <a:latin typeface="微軟正黑體" panose="020B0604030504040204" pitchFamily="34" charset="-120"/>
                          <a:ea typeface="微軟正黑體" panose="020B0604030504040204" pitchFamily="34" charset="-120"/>
                        </a:rPr>
                        <a:t>輸入裝置</a:t>
                      </a:r>
                    </a:p>
                  </a:txBody>
                  <a:tcPr marL="87038" marR="87038" marT="43519" marB="43519" anchor="ctr">
                    <a:lnL>
                      <a:noFill/>
                    </a:lnL>
                    <a:lnR>
                      <a:noFill/>
                    </a:lnR>
                    <a:lnT>
                      <a:noFill/>
                    </a:lnT>
                    <a:lnB>
                      <a:noFill/>
                    </a:lnB>
                  </a:tcPr>
                </a:tc>
                <a:extLst>
                  <a:ext uri="{0D108BD9-81ED-4DB2-BD59-A6C34878D82A}">
                    <a16:rowId xmlns:a16="http://schemas.microsoft.com/office/drawing/2014/main" val="10008"/>
                  </a:ext>
                </a:extLst>
              </a:tr>
              <a:tr h="247360">
                <a:tc>
                  <a:txBody>
                    <a:bodyPr/>
                    <a:lstStyle/>
                    <a:p>
                      <a:r>
                        <a:rPr lang="en-US" altLang="zh-TW" sz="1200">
                          <a:latin typeface="微軟正黑體" panose="020B0604030504040204" pitchFamily="34" charset="-120"/>
                          <a:ea typeface="微軟正黑體" panose="020B0604030504040204" pitchFamily="34" charset="-120"/>
                        </a:rPr>
                        <a:t>124:</a:t>
                      </a:r>
                      <a:r>
                        <a:rPr lang="zh-TW" altLang="en-US" sz="1200">
                          <a:latin typeface="微軟正黑體" panose="020B0604030504040204" pitchFamily="34" charset="-120"/>
                          <a:ea typeface="微軟正黑體" panose="020B0604030504040204" pitchFamily="34" charset="-120"/>
                        </a:rPr>
                        <a:t>第二處理器</a:t>
                      </a:r>
                    </a:p>
                  </a:txBody>
                  <a:tcPr marL="87038" marR="87038" marT="43519" marB="43519" anchor="ctr">
                    <a:lnL>
                      <a:noFill/>
                    </a:lnL>
                    <a:lnR>
                      <a:noFill/>
                    </a:lnR>
                    <a:lnT>
                      <a:noFill/>
                    </a:lnT>
                    <a:lnB>
                      <a:noFill/>
                    </a:lnB>
                  </a:tcPr>
                </a:tc>
                <a:extLst>
                  <a:ext uri="{0D108BD9-81ED-4DB2-BD59-A6C34878D82A}">
                    <a16:rowId xmlns:a16="http://schemas.microsoft.com/office/drawing/2014/main" val="10009"/>
                  </a:ext>
                </a:extLst>
              </a:tr>
              <a:tr h="247360">
                <a:tc>
                  <a:txBody>
                    <a:bodyPr/>
                    <a:lstStyle/>
                    <a:p>
                      <a:r>
                        <a:rPr lang="en-US" altLang="zh-TW" sz="1200">
                          <a:latin typeface="微軟正黑體" panose="020B0604030504040204" pitchFamily="34" charset="-120"/>
                          <a:ea typeface="微軟正黑體" panose="020B0604030504040204" pitchFamily="34" charset="-120"/>
                        </a:rPr>
                        <a:t>125:</a:t>
                      </a:r>
                      <a:r>
                        <a:rPr lang="zh-TW" altLang="en-US" sz="1200">
                          <a:latin typeface="微軟正黑體" panose="020B0604030504040204" pitchFamily="34" charset="-120"/>
                          <a:ea typeface="微軟正黑體" panose="020B0604030504040204" pitchFamily="34" charset="-120"/>
                        </a:rPr>
                        <a:t>顯示裝置</a:t>
                      </a:r>
                    </a:p>
                  </a:txBody>
                  <a:tcPr marL="87038" marR="87038" marT="43519" marB="43519" anchor="ctr">
                    <a:lnL>
                      <a:noFill/>
                    </a:lnL>
                    <a:lnR>
                      <a:noFill/>
                    </a:lnR>
                    <a:lnT>
                      <a:noFill/>
                    </a:lnT>
                    <a:lnB>
                      <a:noFill/>
                    </a:lnB>
                  </a:tcPr>
                </a:tc>
                <a:extLst>
                  <a:ext uri="{0D108BD9-81ED-4DB2-BD59-A6C34878D82A}">
                    <a16:rowId xmlns:a16="http://schemas.microsoft.com/office/drawing/2014/main" val="10010"/>
                  </a:ext>
                </a:extLst>
              </a:tr>
              <a:tr h="247360">
                <a:tc>
                  <a:txBody>
                    <a:bodyPr/>
                    <a:lstStyle/>
                    <a:p>
                      <a:r>
                        <a:rPr lang="en-US" altLang="zh-TW" sz="1200">
                          <a:latin typeface="微軟正黑體" panose="020B0604030504040204" pitchFamily="34" charset="-120"/>
                          <a:ea typeface="微軟正黑體" panose="020B0604030504040204" pitchFamily="34" charset="-120"/>
                        </a:rPr>
                        <a:t>133:</a:t>
                      </a:r>
                      <a:r>
                        <a:rPr lang="zh-TW" altLang="en-US" sz="1200">
                          <a:latin typeface="微軟正黑體" panose="020B0604030504040204" pitchFamily="34" charset="-120"/>
                          <a:ea typeface="微軟正黑體" panose="020B0604030504040204" pitchFamily="34" charset="-120"/>
                        </a:rPr>
                        <a:t>病理歷程資料</a:t>
                      </a:r>
                    </a:p>
                  </a:txBody>
                  <a:tcPr marL="87038" marR="87038" marT="43519" marB="43519" anchor="ctr">
                    <a:lnL>
                      <a:noFill/>
                    </a:lnL>
                    <a:lnR>
                      <a:noFill/>
                    </a:lnR>
                    <a:lnT>
                      <a:noFill/>
                    </a:lnT>
                    <a:lnB>
                      <a:noFill/>
                    </a:lnB>
                  </a:tcPr>
                </a:tc>
                <a:extLst>
                  <a:ext uri="{0D108BD9-81ED-4DB2-BD59-A6C34878D82A}">
                    <a16:rowId xmlns:a16="http://schemas.microsoft.com/office/drawing/2014/main" val="10011"/>
                  </a:ext>
                </a:extLst>
              </a:tr>
              <a:tr h="319055">
                <a:tc>
                  <a:txBody>
                    <a:bodyPr/>
                    <a:lstStyle/>
                    <a:p>
                      <a:r>
                        <a:rPr lang="en-US" altLang="zh-TW" sz="1200" dirty="0">
                          <a:latin typeface="微軟正黑體" panose="020B0604030504040204" pitchFamily="34" charset="-120"/>
                          <a:ea typeface="微軟正黑體" panose="020B0604030504040204" pitchFamily="34" charset="-120"/>
                        </a:rPr>
                        <a:t>134:</a:t>
                      </a:r>
                      <a:r>
                        <a:rPr lang="zh-TW" altLang="en-US" sz="1200" dirty="0">
                          <a:latin typeface="微軟正黑體" panose="020B0604030504040204" pitchFamily="34" charset="-120"/>
                          <a:ea typeface="微軟正黑體" panose="020B0604030504040204" pitchFamily="34" charset="-120"/>
                        </a:rPr>
                        <a:t>醫療記錄</a:t>
                      </a:r>
                    </a:p>
                  </a:txBody>
                  <a:tcPr marL="87038" marR="87038" marT="43519" marB="43519" anchor="ctr">
                    <a:lnL>
                      <a:noFill/>
                    </a:lnL>
                    <a:lnR>
                      <a:noFill/>
                    </a:lnR>
                    <a:lnT>
                      <a:noFill/>
                    </a:lnT>
                    <a:lnB>
                      <a:noFill/>
                    </a:lnB>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325185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pPr>
              <a:defRPr/>
            </a:pPr>
            <a:fld id="{B83ACBEE-1837-4398-8376-AF0F7C4E2424}" type="slidenum">
              <a:rPr lang="zh-TW" altLang="en-US" smtClean="0">
                <a:solidFill>
                  <a:prstClr val="black">
                    <a:tint val="75000"/>
                  </a:prstClr>
                </a:solidFill>
              </a:rPr>
              <a:pPr>
                <a:defRPr/>
              </a:pPr>
              <a:t>32</a:t>
            </a:fld>
            <a:endParaRPr lang="zh-TW" altLang="en-US">
              <a:solidFill>
                <a:prstClr val="black">
                  <a:tint val="75000"/>
                </a:prstClr>
              </a:solidFill>
            </a:endParaRPr>
          </a:p>
        </p:txBody>
      </p:sp>
      <p:sp>
        <p:nvSpPr>
          <p:cNvPr id="6" name="標題 4"/>
          <p:cNvSpPr txBox="1">
            <a:spLocks/>
          </p:cNvSpPr>
          <p:nvPr/>
        </p:nvSpPr>
        <p:spPr>
          <a:xfrm>
            <a:off x="722313" y="4406900"/>
            <a:ext cx="7772400" cy="1362075"/>
          </a:xfrm>
          <a:prstGeom prst="rect">
            <a:avLst/>
          </a:prstGeom>
        </p:spPr>
        <p:txBody>
          <a:bodyPr vert="horz" lIns="91440" tIns="45720" rIns="91440" bIns="45720" rtlCol="0" anchor="ctr">
            <a:normAutofit fontScale="92500" lnSpcReduction="20000"/>
          </a:bodyPr>
          <a:lstStyle>
            <a:lvl1pPr algn="ctr" defTabSz="914400" rtl="0" eaLnBrk="1" latinLnBrk="0" hangingPunct="1">
              <a:spcBef>
                <a:spcPct val="0"/>
              </a:spcBef>
              <a:buNone/>
              <a:defRPr sz="3800" b="1" kern="1200">
                <a:solidFill>
                  <a:schemeClr val="tx1"/>
                </a:solidFill>
                <a:latin typeface="微軟正黑體" pitchFamily="34" charset="-120"/>
                <a:ea typeface="微軟正黑體" pitchFamily="34" charset="-120"/>
                <a:cs typeface="+mj-cs"/>
              </a:defRPr>
            </a:lvl1pPr>
          </a:lstStyle>
          <a:p>
            <a:pPr algn="l"/>
            <a:r>
              <a:rPr lang="zh-TW" altLang="en-US" sz="5400" dirty="0"/>
              <a:t>喪失新穎性或進步性之例外</a:t>
            </a:r>
            <a:r>
              <a:rPr lang="en-US" altLang="zh-TW" sz="5400" dirty="0"/>
              <a:t>(</a:t>
            </a:r>
            <a:r>
              <a:rPr lang="zh-TW" altLang="en-US" sz="5400" dirty="0"/>
              <a:t>優惠期</a:t>
            </a:r>
            <a:r>
              <a:rPr lang="en-US" altLang="zh-TW" sz="5400" dirty="0"/>
              <a:t>)</a:t>
            </a:r>
            <a:endParaRPr lang="zh-TW" altLang="en-US" sz="5400" dirty="0"/>
          </a:p>
        </p:txBody>
      </p:sp>
    </p:spTree>
    <p:extLst>
      <p:ext uri="{BB962C8B-B14F-4D97-AF65-F5344CB8AC3E}">
        <p14:creationId xmlns:p14="http://schemas.microsoft.com/office/powerpoint/2010/main" val="36340607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DE3E5D12-4A7C-4174-04B4-E44BB42ED13F}"/>
              </a:ext>
            </a:extLst>
          </p:cNvPr>
          <p:cNvSpPr>
            <a:spLocks noGrp="1"/>
          </p:cNvSpPr>
          <p:nvPr>
            <p:ph type="title"/>
          </p:nvPr>
        </p:nvSpPr>
        <p:spPr/>
        <p:txBody>
          <a:bodyPr/>
          <a:lstStyle/>
          <a:p>
            <a:r>
              <a:rPr lang="zh-TW" altLang="en-US" dirty="0"/>
              <a:t>喪失新穎性或進步性之例外</a:t>
            </a:r>
          </a:p>
        </p:txBody>
      </p:sp>
      <p:sp>
        <p:nvSpPr>
          <p:cNvPr id="10" name="內容版面配置區 9">
            <a:extLst>
              <a:ext uri="{FF2B5EF4-FFF2-40B4-BE49-F238E27FC236}">
                <a16:creationId xmlns:a16="http://schemas.microsoft.com/office/drawing/2014/main" id="{B942D791-A400-700D-0362-EC57CF9F37C8}"/>
              </a:ext>
            </a:extLst>
          </p:cNvPr>
          <p:cNvSpPr>
            <a:spLocks noGrp="1"/>
          </p:cNvSpPr>
          <p:nvPr>
            <p:ph idx="1"/>
          </p:nvPr>
        </p:nvSpPr>
        <p:spPr>
          <a:xfrm>
            <a:off x="457200" y="980728"/>
            <a:ext cx="8229600" cy="5544616"/>
          </a:xfrm>
        </p:spPr>
        <p:txBody>
          <a:bodyPr>
            <a:normAutofit fontScale="62500" lnSpcReduction="20000"/>
          </a:bodyPr>
          <a:lstStyle/>
          <a:p>
            <a:pPr>
              <a:lnSpc>
                <a:spcPct val="120000"/>
              </a:lnSpc>
            </a:pPr>
            <a:r>
              <a:rPr lang="zh-TW" altLang="en-US" dirty="0"/>
              <a:t>專利法第</a:t>
            </a:r>
            <a:r>
              <a:rPr lang="en-US" altLang="zh-TW" dirty="0"/>
              <a:t>22</a:t>
            </a:r>
            <a:r>
              <a:rPr lang="zh-TW" altLang="en-US" dirty="0"/>
              <a:t>條第</a:t>
            </a:r>
            <a:r>
              <a:rPr lang="en-US" altLang="zh-TW" dirty="0"/>
              <a:t>3</a:t>
            </a:r>
            <a:r>
              <a:rPr lang="zh-TW" altLang="en-US" dirty="0"/>
              <a:t>項</a:t>
            </a:r>
            <a:endParaRPr lang="en-US" altLang="zh-TW" dirty="0"/>
          </a:p>
          <a:p>
            <a:pPr lvl="1">
              <a:lnSpc>
                <a:spcPct val="120000"/>
              </a:lnSpc>
            </a:pPr>
            <a:r>
              <a:rPr lang="zh-TW" altLang="en-US" dirty="0"/>
              <a:t>申請人出於本意或非出於本意所致</a:t>
            </a:r>
            <a:r>
              <a:rPr lang="zh-TW" altLang="en-US" b="1" dirty="0"/>
              <a:t>公開之事實發生後十二個月內申請者</a:t>
            </a:r>
            <a:r>
              <a:rPr lang="zh-TW" altLang="en-US" dirty="0"/>
              <a:t>，該</a:t>
            </a:r>
            <a:r>
              <a:rPr lang="zh-TW" altLang="en-US" b="1" u="sng" dirty="0"/>
              <a:t>事實非屬</a:t>
            </a:r>
            <a:r>
              <a:rPr lang="zh-TW" altLang="en-US" dirty="0"/>
              <a:t>第一項各款或前項不得取得發明專利之情事。</a:t>
            </a:r>
          </a:p>
          <a:p>
            <a:pPr>
              <a:lnSpc>
                <a:spcPct val="120000"/>
              </a:lnSpc>
            </a:pPr>
            <a:r>
              <a:rPr lang="zh-TW" altLang="en-US" dirty="0"/>
              <a:t>專利法第</a:t>
            </a:r>
            <a:r>
              <a:rPr lang="en-US" altLang="zh-TW" dirty="0"/>
              <a:t>22</a:t>
            </a:r>
            <a:r>
              <a:rPr lang="zh-TW" altLang="en-US" dirty="0"/>
              <a:t>條第</a:t>
            </a:r>
            <a:r>
              <a:rPr lang="en-US" altLang="zh-TW" dirty="0"/>
              <a:t>4</a:t>
            </a:r>
            <a:r>
              <a:rPr lang="zh-TW" altLang="en-US" dirty="0"/>
              <a:t>項</a:t>
            </a:r>
          </a:p>
          <a:p>
            <a:pPr lvl="1">
              <a:lnSpc>
                <a:spcPct val="120000"/>
              </a:lnSpc>
            </a:pPr>
            <a:r>
              <a:rPr lang="zh-TW" altLang="en-US" dirty="0"/>
              <a:t>因申請專利而在我國或外國依法於公報上所為之公開係出於申請人本意者，不適用前項規定。</a:t>
            </a:r>
            <a:endParaRPr lang="en-US" altLang="zh-TW" dirty="0"/>
          </a:p>
          <a:p>
            <a:pPr>
              <a:lnSpc>
                <a:spcPct val="120000"/>
              </a:lnSpc>
            </a:pPr>
            <a:r>
              <a:rPr lang="zh-TW" altLang="en-US" dirty="0"/>
              <a:t>行為主體</a:t>
            </a:r>
            <a:r>
              <a:rPr lang="en-US" altLang="zh-TW" dirty="0"/>
              <a:t>(</a:t>
            </a:r>
            <a:r>
              <a:rPr lang="zh-TW" altLang="en-US" dirty="0"/>
              <a:t>人</a:t>
            </a:r>
            <a:r>
              <a:rPr lang="en-US" altLang="zh-TW" dirty="0"/>
              <a:t>)</a:t>
            </a:r>
          </a:p>
          <a:p>
            <a:pPr lvl="1">
              <a:lnSpc>
                <a:spcPct val="120000"/>
              </a:lnSpc>
            </a:pPr>
            <a:r>
              <a:rPr lang="zh-TW" altLang="en-US" dirty="0"/>
              <a:t>申請人：</a:t>
            </a:r>
            <a:endParaRPr lang="en-US" altLang="zh-TW" dirty="0"/>
          </a:p>
          <a:p>
            <a:pPr lvl="2">
              <a:lnSpc>
                <a:spcPct val="120000"/>
              </a:lnSpc>
            </a:pPr>
            <a:r>
              <a:rPr lang="zh-TW" altLang="en-US" dirty="0"/>
              <a:t>包含申請人之前權利人</a:t>
            </a:r>
            <a:r>
              <a:rPr lang="en-US" altLang="zh-TW" dirty="0"/>
              <a:t>(</a:t>
            </a:r>
            <a:r>
              <a:rPr lang="zh-TW" altLang="en-US" dirty="0"/>
              <a:t>申請權之被繼承人、讓與人，或申請權人之受雇人或受聘人等</a:t>
            </a:r>
            <a:r>
              <a:rPr lang="en-US" altLang="zh-TW" dirty="0"/>
              <a:t>)</a:t>
            </a:r>
          </a:p>
          <a:p>
            <a:pPr lvl="1">
              <a:lnSpc>
                <a:spcPct val="120000"/>
              </a:lnSpc>
            </a:pPr>
            <a:r>
              <a:rPr lang="zh-TW" altLang="en-US" dirty="0"/>
              <a:t>第三人：</a:t>
            </a:r>
            <a:endParaRPr lang="en-US" altLang="zh-TW" dirty="0"/>
          </a:p>
          <a:p>
            <a:pPr lvl="2">
              <a:lnSpc>
                <a:spcPct val="120000"/>
              </a:lnSpc>
            </a:pPr>
            <a:r>
              <a:rPr lang="zh-TW" altLang="en-US" dirty="0"/>
              <a:t>申請人以外之人，申請人委任、同意、指示之人、違反保密義務或以非法手段脅迫、詐欺、竊取發明之人等</a:t>
            </a:r>
            <a:endParaRPr lang="en-US" altLang="zh-TW" dirty="0"/>
          </a:p>
          <a:p>
            <a:pPr>
              <a:lnSpc>
                <a:spcPct val="120000"/>
              </a:lnSpc>
            </a:pPr>
            <a:r>
              <a:rPr lang="zh-TW" altLang="en-US" dirty="0"/>
              <a:t>公開事實</a:t>
            </a:r>
            <a:r>
              <a:rPr lang="en-US" altLang="zh-TW" dirty="0"/>
              <a:t>(</a:t>
            </a:r>
            <a:r>
              <a:rPr lang="zh-TW" altLang="en-US" dirty="0"/>
              <a:t>事</a:t>
            </a:r>
            <a:r>
              <a:rPr lang="en-US" altLang="zh-TW" dirty="0"/>
              <a:t>)</a:t>
            </a:r>
            <a:r>
              <a:rPr lang="zh-TW" altLang="en-US" dirty="0"/>
              <a:t>：</a:t>
            </a:r>
            <a:endParaRPr lang="en-US" altLang="zh-TW" dirty="0"/>
          </a:p>
          <a:p>
            <a:pPr lvl="1">
              <a:lnSpc>
                <a:spcPct val="120000"/>
              </a:lnSpc>
            </a:pPr>
            <a:r>
              <a:rPr lang="zh-TW" altLang="en-US" dirty="0"/>
              <a:t>出於本意或非出於本意</a:t>
            </a:r>
            <a:endParaRPr lang="en-US" altLang="zh-TW" dirty="0"/>
          </a:p>
          <a:p>
            <a:pPr>
              <a:lnSpc>
                <a:spcPct val="120000"/>
              </a:lnSpc>
            </a:pPr>
            <a:r>
              <a:rPr lang="zh-TW" altLang="en-US" dirty="0"/>
              <a:t>期限</a:t>
            </a:r>
            <a:r>
              <a:rPr lang="en-US" altLang="zh-TW" dirty="0"/>
              <a:t>(</a:t>
            </a:r>
            <a:r>
              <a:rPr lang="zh-TW" altLang="en-US" dirty="0"/>
              <a:t>時</a:t>
            </a:r>
            <a:r>
              <a:rPr lang="en-US" altLang="zh-TW" dirty="0"/>
              <a:t>)</a:t>
            </a:r>
            <a:r>
              <a:rPr lang="zh-TW" altLang="en-US" dirty="0"/>
              <a:t>：</a:t>
            </a:r>
            <a:endParaRPr lang="en-US" altLang="zh-TW" dirty="0"/>
          </a:p>
          <a:p>
            <a:pPr lvl="1">
              <a:lnSpc>
                <a:spcPct val="120000"/>
              </a:lnSpc>
            </a:pPr>
            <a:r>
              <a:rPr lang="zh-TW" altLang="en-US" dirty="0"/>
              <a:t>最早公開事實發生日之次日起算</a:t>
            </a:r>
            <a:r>
              <a:rPr lang="en-US" altLang="zh-TW" dirty="0"/>
              <a:t>12</a:t>
            </a:r>
            <a:r>
              <a:rPr lang="zh-TW" altLang="en-US" dirty="0"/>
              <a:t>個月</a:t>
            </a:r>
            <a:endParaRPr lang="en-US" altLang="zh-TW" dirty="0"/>
          </a:p>
          <a:p>
            <a:pPr>
              <a:lnSpc>
                <a:spcPct val="120000"/>
              </a:lnSpc>
            </a:pPr>
            <a:endParaRPr lang="en-US" altLang="zh-TW" dirty="0"/>
          </a:p>
        </p:txBody>
      </p:sp>
      <p:sp>
        <p:nvSpPr>
          <p:cNvPr id="4" name="投影片編號版面配置區 3">
            <a:extLst>
              <a:ext uri="{FF2B5EF4-FFF2-40B4-BE49-F238E27FC236}">
                <a16:creationId xmlns:a16="http://schemas.microsoft.com/office/drawing/2014/main" id="{6FC7DF09-C58A-C465-986F-15725E792F06}"/>
              </a:ext>
            </a:extLst>
          </p:cNvPr>
          <p:cNvSpPr>
            <a:spLocks noGrp="1"/>
          </p:cNvSpPr>
          <p:nvPr>
            <p:ph type="sldNum" sz="quarter" idx="12"/>
          </p:nvPr>
        </p:nvSpPr>
        <p:spPr>
          <a:xfrm>
            <a:off x="6948264" y="6356350"/>
            <a:ext cx="2133600" cy="365125"/>
          </a:xfrm>
        </p:spPr>
        <p:txBody>
          <a:bodyPr/>
          <a:lstStyle/>
          <a:p>
            <a:fld id="{254D4C32-7A1A-45A5-84ED-81747F1ABFAE}" type="slidenum">
              <a:rPr lang="zh-TW" altLang="en-US" smtClean="0"/>
              <a:t>33</a:t>
            </a:fld>
            <a:endParaRPr lang="zh-TW" altLang="en-US" dirty="0"/>
          </a:p>
        </p:txBody>
      </p:sp>
    </p:spTree>
    <p:extLst>
      <p:ext uri="{BB962C8B-B14F-4D97-AF65-F5344CB8AC3E}">
        <p14:creationId xmlns:p14="http://schemas.microsoft.com/office/powerpoint/2010/main" val="42465526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DE3E5D12-4A7C-4174-04B4-E44BB42ED13F}"/>
              </a:ext>
            </a:extLst>
          </p:cNvPr>
          <p:cNvSpPr>
            <a:spLocks noGrp="1"/>
          </p:cNvSpPr>
          <p:nvPr>
            <p:ph type="title"/>
          </p:nvPr>
        </p:nvSpPr>
        <p:spPr/>
        <p:txBody>
          <a:bodyPr/>
          <a:lstStyle/>
          <a:p>
            <a:r>
              <a:rPr lang="zh-TW" altLang="en-US" dirty="0"/>
              <a:t>喪失新穎性或進步性之例外</a:t>
            </a:r>
          </a:p>
        </p:txBody>
      </p:sp>
      <p:sp>
        <p:nvSpPr>
          <p:cNvPr id="10" name="內容版面配置區 9">
            <a:extLst>
              <a:ext uri="{FF2B5EF4-FFF2-40B4-BE49-F238E27FC236}">
                <a16:creationId xmlns:a16="http://schemas.microsoft.com/office/drawing/2014/main" id="{B942D791-A400-700D-0362-EC57CF9F37C8}"/>
              </a:ext>
            </a:extLst>
          </p:cNvPr>
          <p:cNvSpPr>
            <a:spLocks noGrp="1"/>
          </p:cNvSpPr>
          <p:nvPr>
            <p:ph idx="1"/>
          </p:nvPr>
        </p:nvSpPr>
        <p:spPr>
          <a:xfrm>
            <a:off x="457200" y="980728"/>
            <a:ext cx="8229600" cy="3024336"/>
          </a:xfrm>
        </p:spPr>
        <p:txBody>
          <a:bodyPr>
            <a:normAutofit fontScale="85000" lnSpcReduction="20000"/>
          </a:bodyPr>
          <a:lstStyle/>
          <a:p>
            <a:pPr>
              <a:lnSpc>
                <a:spcPct val="120000"/>
              </a:lnSpc>
            </a:pPr>
            <a:r>
              <a:rPr lang="zh-TW" altLang="en-US" dirty="0"/>
              <a:t>效果</a:t>
            </a:r>
            <a:endParaRPr lang="en-US" altLang="zh-TW" dirty="0"/>
          </a:p>
          <a:p>
            <a:pPr lvl="1">
              <a:lnSpc>
                <a:spcPct val="120000"/>
              </a:lnSpc>
            </a:pPr>
            <a:r>
              <a:rPr lang="zh-TW" altLang="en-US" dirty="0"/>
              <a:t>將公開事實之技術內容，</a:t>
            </a:r>
            <a:r>
              <a:rPr lang="zh-TW" altLang="en-US" b="1" dirty="0"/>
              <a:t>不作為判斷</a:t>
            </a:r>
            <a:r>
              <a:rPr lang="zh-TW" altLang="en-US" dirty="0"/>
              <a:t>申請專利之發明是否具有新穎性或進步性</a:t>
            </a:r>
            <a:r>
              <a:rPr lang="zh-TW" altLang="en-US" b="1" dirty="0"/>
              <a:t>之先前技術</a:t>
            </a:r>
            <a:endParaRPr lang="en-US" altLang="zh-TW" b="1" dirty="0"/>
          </a:p>
          <a:p>
            <a:pPr lvl="1">
              <a:lnSpc>
                <a:spcPct val="120000"/>
              </a:lnSpc>
            </a:pPr>
            <a:r>
              <a:rPr lang="zh-TW" altLang="en-US" dirty="0"/>
              <a:t>不影響判斷發明是否符合專利要件之基準日</a:t>
            </a:r>
            <a:endParaRPr lang="en-US" altLang="zh-TW" dirty="0"/>
          </a:p>
          <a:p>
            <a:pPr marL="457200" lvl="1" indent="0">
              <a:lnSpc>
                <a:spcPct val="120000"/>
              </a:lnSpc>
              <a:spcBef>
                <a:spcPts val="1200"/>
              </a:spcBef>
              <a:buNone/>
            </a:pPr>
            <a:r>
              <a:rPr lang="en-US" altLang="zh-TW" b="1" dirty="0"/>
              <a:t>【</a:t>
            </a:r>
            <a:r>
              <a:rPr lang="zh-TW" altLang="en-US" b="1" dirty="0"/>
              <a:t>優先權</a:t>
            </a:r>
            <a:r>
              <a:rPr lang="zh-TW" altLang="en-US" dirty="0"/>
              <a:t>日至申請日間公開之技術內容均非屬於判斷申請專利之發明是否具有新穎性或進步性之先前技術，</a:t>
            </a:r>
            <a:r>
              <a:rPr lang="zh-TW" altLang="en-US" b="1" dirty="0"/>
              <a:t>會影響判斷發明是否符合專利要件之基準日</a:t>
            </a:r>
            <a:r>
              <a:rPr lang="en-US" altLang="zh-TW" b="1" dirty="0"/>
              <a:t>】</a:t>
            </a:r>
          </a:p>
        </p:txBody>
      </p:sp>
      <p:sp>
        <p:nvSpPr>
          <p:cNvPr id="4" name="投影片編號版面配置區 3">
            <a:extLst>
              <a:ext uri="{FF2B5EF4-FFF2-40B4-BE49-F238E27FC236}">
                <a16:creationId xmlns:a16="http://schemas.microsoft.com/office/drawing/2014/main" id="{6FC7DF09-C58A-C465-986F-15725E792F06}"/>
              </a:ext>
            </a:extLst>
          </p:cNvPr>
          <p:cNvSpPr>
            <a:spLocks noGrp="1"/>
          </p:cNvSpPr>
          <p:nvPr>
            <p:ph type="sldNum" sz="quarter" idx="12"/>
          </p:nvPr>
        </p:nvSpPr>
        <p:spPr>
          <a:xfrm>
            <a:off x="6948264" y="6356350"/>
            <a:ext cx="2133600" cy="365125"/>
          </a:xfrm>
        </p:spPr>
        <p:txBody>
          <a:bodyPr/>
          <a:lstStyle/>
          <a:p>
            <a:fld id="{254D4C32-7A1A-45A5-84ED-81747F1ABFAE}" type="slidenum">
              <a:rPr lang="zh-TW" altLang="en-US" smtClean="0"/>
              <a:t>34</a:t>
            </a:fld>
            <a:endParaRPr lang="zh-TW" altLang="en-US" dirty="0"/>
          </a:p>
        </p:txBody>
      </p:sp>
      <p:grpSp>
        <p:nvGrpSpPr>
          <p:cNvPr id="32" name="群組 31">
            <a:extLst>
              <a:ext uri="{FF2B5EF4-FFF2-40B4-BE49-F238E27FC236}">
                <a16:creationId xmlns:a16="http://schemas.microsoft.com/office/drawing/2014/main" id="{CFBA7105-CA91-BB2B-CEE1-A093DEEC60F8}"/>
              </a:ext>
            </a:extLst>
          </p:cNvPr>
          <p:cNvGrpSpPr/>
          <p:nvPr/>
        </p:nvGrpSpPr>
        <p:grpSpPr>
          <a:xfrm>
            <a:off x="539552" y="4437112"/>
            <a:ext cx="7802662" cy="1321775"/>
            <a:chOff x="212402" y="4505728"/>
            <a:chExt cx="7802662" cy="1321775"/>
          </a:xfrm>
        </p:grpSpPr>
        <p:cxnSp>
          <p:nvCxnSpPr>
            <p:cNvPr id="3" name="直線單箭頭接點 2">
              <a:extLst>
                <a:ext uri="{FF2B5EF4-FFF2-40B4-BE49-F238E27FC236}">
                  <a16:creationId xmlns:a16="http://schemas.microsoft.com/office/drawing/2014/main" id="{2B17427D-344C-BBA9-B07D-6D9DB6357DB4}"/>
                </a:ext>
              </a:extLst>
            </p:cNvPr>
            <p:cNvCxnSpPr>
              <a:cxnSpLocks/>
            </p:cNvCxnSpPr>
            <p:nvPr/>
          </p:nvCxnSpPr>
          <p:spPr>
            <a:xfrm>
              <a:off x="629000" y="5285982"/>
              <a:ext cx="7386064" cy="865"/>
            </a:xfrm>
            <a:prstGeom prst="straightConnector1">
              <a:avLst/>
            </a:prstGeom>
            <a:ln w="41275">
              <a:tailEnd type="triangle"/>
            </a:ln>
          </p:spPr>
          <p:style>
            <a:lnRef idx="1">
              <a:schemeClr val="accent1"/>
            </a:lnRef>
            <a:fillRef idx="0">
              <a:schemeClr val="accent1"/>
            </a:fillRef>
            <a:effectRef idx="0">
              <a:schemeClr val="accent1"/>
            </a:effectRef>
            <a:fontRef idx="minor">
              <a:schemeClr val="tx1"/>
            </a:fontRef>
          </p:style>
        </p:cxnSp>
        <p:grpSp>
          <p:nvGrpSpPr>
            <p:cNvPr id="6" name="群組 5">
              <a:extLst>
                <a:ext uri="{FF2B5EF4-FFF2-40B4-BE49-F238E27FC236}">
                  <a16:creationId xmlns:a16="http://schemas.microsoft.com/office/drawing/2014/main" id="{44845E30-BFB1-BC5E-E608-5F3C84AE0CF4}"/>
                </a:ext>
              </a:extLst>
            </p:cNvPr>
            <p:cNvGrpSpPr/>
            <p:nvPr/>
          </p:nvGrpSpPr>
          <p:grpSpPr>
            <a:xfrm>
              <a:off x="212402" y="4575220"/>
              <a:ext cx="2082803" cy="1252283"/>
              <a:chOff x="1804471" y="847795"/>
              <a:chExt cx="2082803" cy="1252283"/>
            </a:xfrm>
          </p:grpSpPr>
          <p:cxnSp>
            <p:nvCxnSpPr>
              <p:cNvPr id="20" name="直線接點 19">
                <a:extLst>
                  <a:ext uri="{FF2B5EF4-FFF2-40B4-BE49-F238E27FC236}">
                    <a16:creationId xmlns:a16="http://schemas.microsoft.com/office/drawing/2014/main" id="{BF068DE6-D5C3-9060-8F83-670A175E45A7}"/>
                  </a:ext>
                </a:extLst>
              </p:cNvPr>
              <p:cNvCxnSpPr/>
              <p:nvPr/>
            </p:nvCxnSpPr>
            <p:spPr>
              <a:xfrm>
                <a:off x="2845790" y="1434730"/>
                <a:ext cx="0" cy="288032"/>
              </a:xfrm>
              <a:prstGeom prst="line">
                <a:avLst/>
              </a:prstGeom>
              <a:ln w="34925"/>
            </p:spPr>
            <p:style>
              <a:lnRef idx="1">
                <a:schemeClr val="accent2"/>
              </a:lnRef>
              <a:fillRef idx="0">
                <a:schemeClr val="accent2"/>
              </a:fillRef>
              <a:effectRef idx="0">
                <a:schemeClr val="accent2"/>
              </a:effectRef>
              <a:fontRef idx="minor">
                <a:schemeClr val="tx1"/>
              </a:fontRef>
            </p:style>
          </p:cxnSp>
          <p:sp>
            <p:nvSpPr>
              <p:cNvPr id="21" name="文字方塊 20">
                <a:extLst>
                  <a:ext uri="{FF2B5EF4-FFF2-40B4-BE49-F238E27FC236}">
                    <a16:creationId xmlns:a16="http://schemas.microsoft.com/office/drawing/2014/main" id="{BD2640A1-367D-A047-1D7C-84A0D8C59A1D}"/>
                  </a:ext>
                </a:extLst>
              </p:cNvPr>
              <p:cNvSpPr txBox="1"/>
              <p:nvPr/>
            </p:nvSpPr>
            <p:spPr>
              <a:xfrm>
                <a:off x="1804471" y="847795"/>
                <a:ext cx="2082803" cy="646331"/>
              </a:xfrm>
              <a:prstGeom prst="rect">
                <a:avLst/>
              </a:prstGeom>
              <a:noFill/>
            </p:spPr>
            <p:txBody>
              <a:bodyPr wrap="square">
                <a:spAutoFit/>
              </a:bodyPr>
              <a:lstStyle/>
              <a:p>
                <a:pPr algn="ctr"/>
                <a:r>
                  <a:rPr lang="zh-TW" altLang="en-US" b="1" dirty="0">
                    <a:solidFill>
                      <a:srgbClr val="FF0000"/>
                    </a:solidFill>
                    <a:latin typeface="微軟正黑體" panose="020B0604030504040204" pitchFamily="34" charset="-120"/>
                    <a:ea typeface="微軟正黑體" panose="020B0604030504040204" pitchFamily="34" charset="-120"/>
                  </a:rPr>
                  <a:t>乙發明</a:t>
                </a:r>
                <a:r>
                  <a:rPr lang="en-US" altLang="zh-TW" b="1" dirty="0">
                    <a:solidFill>
                      <a:srgbClr val="FF0000"/>
                    </a:solidFill>
                    <a:latin typeface="微軟正黑體" panose="020B0604030504040204" pitchFamily="34" charset="-120"/>
                    <a:ea typeface="微軟正黑體" panose="020B0604030504040204" pitchFamily="34" charset="-120"/>
                  </a:rPr>
                  <a:t>A</a:t>
                </a:r>
              </a:p>
              <a:p>
                <a:pPr algn="ctr"/>
                <a:r>
                  <a:rPr lang="zh-TW" altLang="en-US" b="1" dirty="0">
                    <a:solidFill>
                      <a:srgbClr val="FF0000"/>
                    </a:solidFill>
                    <a:latin typeface="微軟正黑體" panose="020B0604030504040204" pitchFamily="34" charset="-120"/>
                    <a:ea typeface="微軟正黑體" panose="020B0604030504040204" pitchFamily="34" charset="-120"/>
                  </a:rPr>
                  <a:t>國際優先權基礎案</a:t>
                </a:r>
              </a:p>
            </p:txBody>
          </p:sp>
          <p:sp>
            <p:nvSpPr>
              <p:cNvPr id="22" name="文字方塊 21">
                <a:extLst>
                  <a:ext uri="{FF2B5EF4-FFF2-40B4-BE49-F238E27FC236}">
                    <a16:creationId xmlns:a16="http://schemas.microsoft.com/office/drawing/2014/main" id="{D3181165-C7E7-349D-2425-0D6461572322}"/>
                  </a:ext>
                </a:extLst>
              </p:cNvPr>
              <p:cNvSpPr txBox="1"/>
              <p:nvPr/>
            </p:nvSpPr>
            <p:spPr>
              <a:xfrm>
                <a:off x="1945690" y="1730746"/>
                <a:ext cx="1800200" cy="369332"/>
              </a:xfrm>
              <a:prstGeom prst="rect">
                <a:avLst/>
              </a:prstGeom>
              <a:noFill/>
            </p:spPr>
            <p:txBody>
              <a:bodyPr wrap="square">
                <a:spAutoFit/>
              </a:bodyPr>
              <a:lstStyle/>
              <a:p>
                <a:pPr algn="ctr"/>
                <a:r>
                  <a:rPr lang="en-US" altLang="zh-TW" b="1" dirty="0">
                    <a:solidFill>
                      <a:srgbClr val="FF0000"/>
                    </a:solidFill>
                    <a:latin typeface="微軟正黑體" panose="020B0604030504040204" pitchFamily="34" charset="-120"/>
                    <a:ea typeface="微軟正黑體" panose="020B0604030504040204" pitchFamily="34" charset="-120"/>
                  </a:rPr>
                  <a:t>112/12/1</a:t>
                </a:r>
                <a:endParaRPr lang="zh-TW" altLang="en-US" b="1" dirty="0">
                  <a:solidFill>
                    <a:srgbClr val="FF0000"/>
                  </a:solidFill>
                  <a:latin typeface="微軟正黑體" panose="020B0604030504040204" pitchFamily="34" charset="-120"/>
                  <a:ea typeface="微軟正黑體" panose="020B0604030504040204" pitchFamily="34" charset="-120"/>
                </a:endParaRPr>
              </a:p>
            </p:txBody>
          </p:sp>
        </p:grpSp>
        <p:grpSp>
          <p:nvGrpSpPr>
            <p:cNvPr id="8" name="群組 7">
              <a:extLst>
                <a:ext uri="{FF2B5EF4-FFF2-40B4-BE49-F238E27FC236}">
                  <a16:creationId xmlns:a16="http://schemas.microsoft.com/office/drawing/2014/main" id="{663A1D43-507A-9B70-9AB8-CF65C2BF15C5}"/>
                </a:ext>
              </a:extLst>
            </p:cNvPr>
            <p:cNvGrpSpPr/>
            <p:nvPr/>
          </p:nvGrpSpPr>
          <p:grpSpPr>
            <a:xfrm>
              <a:off x="1893160" y="4533217"/>
              <a:ext cx="1800200" cy="1274205"/>
              <a:chOff x="215516" y="842228"/>
              <a:chExt cx="1800200" cy="1274205"/>
            </a:xfrm>
          </p:grpSpPr>
          <p:cxnSp>
            <p:nvCxnSpPr>
              <p:cNvPr id="14" name="直線接點 13">
                <a:extLst>
                  <a:ext uri="{FF2B5EF4-FFF2-40B4-BE49-F238E27FC236}">
                    <a16:creationId xmlns:a16="http://schemas.microsoft.com/office/drawing/2014/main" id="{32CD954E-7E5D-CF63-6C50-FF6847F80A11}"/>
                  </a:ext>
                </a:extLst>
              </p:cNvPr>
              <p:cNvCxnSpPr/>
              <p:nvPr/>
            </p:nvCxnSpPr>
            <p:spPr>
              <a:xfrm>
                <a:off x="1115616" y="1451842"/>
                <a:ext cx="0" cy="288032"/>
              </a:xfrm>
              <a:prstGeom prst="line">
                <a:avLst/>
              </a:prstGeom>
              <a:ln w="34925">
                <a:solidFill>
                  <a:schemeClr val="tx1"/>
                </a:solidFill>
              </a:ln>
            </p:spPr>
            <p:style>
              <a:lnRef idx="1">
                <a:schemeClr val="accent2"/>
              </a:lnRef>
              <a:fillRef idx="0">
                <a:schemeClr val="accent2"/>
              </a:fillRef>
              <a:effectRef idx="0">
                <a:schemeClr val="accent2"/>
              </a:effectRef>
              <a:fontRef idx="minor">
                <a:schemeClr val="tx1"/>
              </a:fontRef>
            </p:style>
          </p:cxnSp>
          <p:sp>
            <p:nvSpPr>
              <p:cNvPr id="15" name="文字方塊 14">
                <a:extLst>
                  <a:ext uri="{FF2B5EF4-FFF2-40B4-BE49-F238E27FC236}">
                    <a16:creationId xmlns:a16="http://schemas.microsoft.com/office/drawing/2014/main" id="{AFB362EE-EF44-E871-217A-56BFC37AEFC5}"/>
                  </a:ext>
                </a:extLst>
              </p:cNvPr>
              <p:cNvSpPr txBox="1"/>
              <p:nvPr/>
            </p:nvSpPr>
            <p:spPr>
              <a:xfrm>
                <a:off x="215516" y="842228"/>
                <a:ext cx="1800200" cy="646331"/>
              </a:xfrm>
              <a:prstGeom prst="rect">
                <a:avLst/>
              </a:prstGeom>
              <a:noFill/>
            </p:spPr>
            <p:txBody>
              <a:bodyPr wrap="square">
                <a:spAutoFit/>
              </a:bodyPr>
              <a:lstStyle/>
              <a:p>
                <a:pPr algn="ctr"/>
                <a:r>
                  <a:rPr lang="zh-TW" altLang="en-US" b="1" dirty="0">
                    <a:latin typeface="微軟正黑體" panose="020B0604030504040204" pitchFamily="34" charset="-120"/>
                    <a:ea typeface="微軟正黑體" panose="020B0604030504040204" pitchFamily="34" charset="-120"/>
                  </a:rPr>
                  <a:t>甲發表</a:t>
                </a:r>
                <a:endParaRPr lang="en-US" altLang="zh-TW" b="1" dirty="0">
                  <a:latin typeface="微軟正黑體" panose="020B0604030504040204" pitchFamily="34" charset="-120"/>
                  <a:ea typeface="微軟正黑體" panose="020B0604030504040204" pitchFamily="34" charset="-120"/>
                </a:endParaRPr>
              </a:p>
              <a:p>
                <a:pPr algn="ctr"/>
                <a:r>
                  <a:rPr lang="zh-TW" altLang="en-US" b="1" dirty="0">
                    <a:latin typeface="微軟正黑體" panose="020B0604030504040204" pitchFamily="34" charset="-120"/>
                    <a:ea typeface="微軟正黑體" panose="020B0604030504040204" pitchFamily="34" charset="-120"/>
                  </a:rPr>
                  <a:t>發明</a:t>
                </a:r>
                <a:r>
                  <a:rPr lang="en-US" altLang="zh-TW" b="1" dirty="0">
                    <a:latin typeface="微軟正黑體" panose="020B0604030504040204" pitchFamily="34" charset="-120"/>
                    <a:ea typeface="微軟正黑體" panose="020B0604030504040204" pitchFamily="34" charset="-120"/>
                  </a:rPr>
                  <a:t>A</a:t>
                </a:r>
                <a:endParaRPr lang="zh-TW" altLang="en-US" b="1" dirty="0">
                  <a:latin typeface="微軟正黑體" panose="020B0604030504040204" pitchFamily="34" charset="-120"/>
                  <a:ea typeface="微軟正黑體" panose="020B0604030504040204" pitchFamily="34" charset="-120"/>
                </a:endParaRPr>
              </a:p>
            </p:txBody>
          </p:sp>
          <p:sp>
            <p:nvSpPr>
              <p:cNvPr id="16" name="文字方塊 15">
                <a:extLst>
                  <a:ext uri="{FF2B5EF4-FFF2-40B4-BE49-F238E27FC236}">
                    <a16:creationId xmlns:a16="http://schemas.microsoft.com/office/drawing/2014/main" id="{7A3C61CB-1798-8003-F3EF-309219D536FE}"/>
                  </a:ext>
                </a:extLst>
              </p:cNvPr>
              <p:cNvSpPr txBox="1"/>
              <p:nvPr/>
            </p:nvSpPr>
            <p:spPr>
              <a:xfrm>
                <a:off x="398163" y="1747101"/>
                <a:ext cx="1434905" cy="369332"/>
              </a:xfrm>
              <a:prstGeom prst="rect">
                <a:avLst/>
              </a:prstGeom>
              <a:noFill/>
            </p:spPr>
            <p:txBody>
              <a:bodyPr wrap="square">
                <a:spAutoFit/>
              </a:bodyPr>
              <a:lstStyle/>
              <a:p>
                <a:pPr algn="ctr"/>
                <a:r>
                  <a:rPr lang="en-US" altLang="zh-TW" b="1" dirty="0">
                    <a:latin typeface="微軟正黑體" panose="020B0604030504040204" pitchFamily="34" charset="-120"/>
                    <a:ea typeface="微軟正黑體" panose="020B0604030504040204" pitchFamily="34" charset="-120"/>
                  </a:rPr>
                  <a:t>113/1/8</a:t>
                </a:r>
                <a:endParaRPr lang="zh-TW" altLang="en-US" b="1" dirty="0">
                  <a:latin typeface="微軟正黑體" panose="020B0604030504040204" pitchFamily="34" charset="-120"/>
                  <a:ea typeface="微軟正黑體" panose="020B0604030504040204" pitchFamily="34" charset="-120"/>
                </a:endParaRPr>
              </a:p>
            </p:txBody>
          </p:sp>
        </p:grpSp>
        <p:grpSp>
          <p:nvGrpSpPr>
            <p:cNvPr id="9" name="群組 8">
              <a:extLst>
                <a:ext uri="{FF2B5EF4-FFF2-40B4-BE49-F238E27FC236}">
                  <a16:creationId xmlns:a16="http://schemas.microsoft.com/office/drawing/2014/main" id="{8747CA47-AAC0-D1D4-44CB-E8290284CA4C}"/>
                </a:ext>
              </a:extLst>
            </p:cNvPr>
            <p:cNvGrpSpPr/>
            <p:nvPr/>
          </p:nvGrpSpPr>
          <p:grpSpPr>
            <a:xfrm>
              <a:off x="4710519" y="4508470"/>
              <a:ext cx="1800200" cy="1252391"/>
              <a:chOff x="1945690" y="847687"/>
              <a:chExt cx="1800200" cy="1252391"/>
            </a:xfrm>
          </p:grpSpPr>
          <p:cxnSp>
            <p:nvCxnSpPr>
              <p:cNvPr id="11" name="直線接點 10">
                <a:extLst>
                  <a:ext uri="{FF2B5EF4-FFF2-40B4-BE49-F238E27FC236}">
                    <a16:creationId xmlns:a16="http://schemas.microsoft.com/office/drawing/2014/main" id="{498A94B5-C929-AD96-5DEF-54DCAA88C4E6}"/>
                  </a:ext>
                </a:extLst>
              </p:cNvPr>
              <p:cNvCxnSpPr/>
              <p:nvPr/>
            </p:nvCxnSpPr>
            <p:spPr>
              <a:xfrm>
                <a:off x="2845790" y="1434730"/>
                <a:ext cx="0" cy="288032"/>
              </a:xfrm>
              <a:prstGeom prst="line">
                <a:avLst/>
              </a:prstGeom>
              <a:ln w="34925"/>
            </p:spPr>
            <p:style>
              <a:lnRef idx="1">
                <a:schemeClr val="accent2"/>
              </a:lnRef>
              <a:fillRef idx="0">
                <a:schemeClr val="accent2"/>
              </a:fillRef>
              <a:effectRef idx="0">
                <a:schemeClr val="accent2"/>
              </a:effectRef>
              <a:fontRef idx="minor">
                <a:schemeClr val="tx1"/>
              </a:fontRef>
            </p:style>
          </p:cxnSp>
          <p:sp>
            <p:nvSpPr>
              <p:cNvPr id="12" name="文字方塊 11">
                <a:extLst>
                  <a:ext uri="{FF2B5EF4-FFF2-40B4-BE49-F238E27FC236}">
                    <a16:creationId xmlns:a16="http://schemas.microsoft.com/office/drawing/2014/main" id="{CB23C178-F062-59B8-BC91-D564BC8BD132}"/>
                  </a:ext>
                </a:extLst>
              </p:cNvPr>
              <p:cNvSpPr txBox="1"/>
              <p:nvPr/>
            </p:nvSpPr>
            <p:spPr>
              <a:xfrm>
                <a:off x="2070713" y="847687"/>
                <a:ext cx="1550154" cy="646331"/>
              </a:xfrm>
              <a:prstGeom prst="rect">
                <a:avLst/>
              </a:prstGeom>
              <a:noFill/>
            </p:spPr>
            <p:txBody>
              <a:bodyPr wrap="square">
                <a:spAutoFit/>
              </a:bodyPr>
              <a:lstStyle/>
              <a:p>
                <a:pPr algn="ctr"/>
                <a:r>
                  <a:rPr lang="zh-TW" altLang="en-US" b="1" dirty="0">
                    <a:solidFill>
                      <a:srgbClr val="FF0000"/>
                    </a:solidFill>
                    <a:latin typeface="微軟正黑體" panose="020B0604030504040204" pitchFamily="34" charset="-120"/>
                    <a:ea typeface="微軟正黑體" panose="020B0604030504040204" pitchFamily="34" charset="-120"/>
                  </a:rPr>
                  <a:t>乙以發明</a:t>
                </a:r>
                <a:r>
                  <a:rPr lang="en-US" altLang="zh-TW" b="1" dirty="0">
                    <a:solidFill>
                      <a:srgbClr val="FF0000"/>
                    </a:solidFill>
                    <a:latin typeface="微軟正黑體" panose="020B0604030504040204" pitchFamily="34" charset="-120"/>
                    <a:ea typeface="微軟正黑體" panose="020B0604030504040204" pitchFamily="34" charset="-120"/>
                  </a:rPr>
                  <a:t>A</a:t>
                </a:r>
              </a:p>
              <a:p>
                <a:pPr algn="ctr"/>
                <a:r>
                  <a:rPr lang="zh-TW" altLang="en-US" b="1" dirty="0">
                    <a:solidFill>
                      <a:srgbClr val="FF0000"/>
                    </a:solidFill>
                    <a:latin typeface="微軟正黑體" panose="020B0604030504040204" pitchFamily="34" charset="-120"/>
                    <a:ea typeface="微軟正黑體" panose="020B0604030504040204" pitchFamily="34" charset="-120"/>
                  </a:rPr>
                  <a:t>申請專利</a:t>
                </a:r>
              </a:p>
            </p:txBody>
          </p:sp>
          <p:sp>
            <p:nvSpPr>
              <p:cNvPr id="13" name="文字方塊 12">
                <a:extLst>
                  <a:ext uri="{FF2B5EF4-FFF2-40B4-BE49-F238E27FC236}">
                    <a16:creationId xmlns:a16="http://schemas.microsoft.com/office/drawing/2014/main" id="{B1365BDF-073F-4349-48A3-045D9C9EAF13}"/>
                  </a:ext>
                </a:extLst>
              </p:cNvPr>
              <p:cNvSpPr txBox="1"/>
              <p:nvPr/>
            </p:nvSpPr>
            <p:spPr>
              <a:xfrm>
                <a:off x="1945690" y="1730746"/>
                <a:ext cx="1800200" cy="369332"/>
              </a:xfrm>
              <a:prstGeom prst="rect">
                <a:avLst/>
              </a:prstGeom>
              <a:noFill/>
            </p:spPr>
            <p:txBody>
              <a:bodyPr wrap="square">
                <a:spAutoFit/>
              </a:bodyPr>
              <a:lstStyle/>
              <a:p>
                <a:pPr algn="ctr"/>
                <a:r>
                  <a:rPr lang="en-US" altLang="zh-TW" b="1" dirty="0">
                    <a:solidFill>
                      <a:srgbClr val="FF0000"/>
                    </a:solidFill>
                    <a:latin typeface="微軟正黑體" panose="020B0604030504040204" pitchFamily="34" charset="-120"/>
                    <a:ea typeface="微軟正黑體" panose="020B0604030504040204" pitchFamily="34" charset="-120"/>
                  </a:rPr>
                  <a:t>113/6/1</a:t>
                </a:r>
                <a:endParaRPr lang="zh-TW" altLang="en-US" b="1" dirty="0">
                  <a:solidFill>
                    <a:srgbClr val="FF0000"/>
                  </a:solidFill>
                  <a:latin typeface="微軟正黑體" panose="020B0604030504040204" pitchFamily="34" charset="-120"/>
                  <a:ea typeface="微軟正黑體" panose="020B0604030504040204" pitchFamily="34" charset="-120"/>
                </a:endParaRPr>
              </a:p>
            </p:txBody>
          </p:sp>
        </p:grpSp>
        <p:grpSp>
          <p:nvGrpSpPr>
            <p:cNvPr id="23" name="群組 22">
              <a:extLst>
                <a:ext uri="{FF2B5EF4-FFF2-40B4-BE49-F238E27FC236}">
                  <a16:creationId xmlns:a16="http://schemas.microsoft.com/office/drawing/2014/main" id="{CDD3213A-B4DD-9C0B-417C-B8F4BE057AEB}"/>
                </a:ext>
              </a:extLst>
            </p:cNvPr>
            <p:cNvGrpSpPr/>
            <p:nvPr/>
          </p:nvGrpSpPr>
          <p:grpSpPr>
            <a:xfrm>
              <a:off x="5884763" y="4505728"/>
              <a:ext cx="1800200" cy="1274205"/>
              <a:chOff x="215516" y="842228"/>
              <a:chExt cx="1800200" cy="1274205"/>
            </a:xfrm>
          </p:grpSpPr>
          <p:cxnSp>
            <p:nvCxnSpPr>
              <p:cNvPr id="24" name="直線接點 23">
                <a:extLst>
                  <a:ext uri="{FF2B5EF4-FFF2-40B4-BE49-F238E27FC236}">
                    <a16:creationId xmlns:a16="http://schemas.microsoft.com/office/drawing/2014/main" id="{AFDDE023-10C7-A820-D45C-51CF5F5BB5D3}"/>
                  </a:ext>
                </a:extLst>
              </p:cNvPr>
              <p:cNvCxnSpPr/>
              <p:nvPr/>
            </p:nvCxnSpPr>
            <p:spPr>
              <a:xfrm>
                <a:off x="1115616" y="1451842"/>
                <a:ext cx="0" cy="288032"/>
              </a:xfrm>
              <a:prstGeom prst="line">
                <a:avLst/>
              </a:prstGeom>
              <a:ln w="34925">
                <a:solidFill>
                  <a:schemeClr val="tx1"/>
                </a:solidFill>
              </a:ln>
            </p:spPr>
            <p:style>
              <a:lnRef idx="1">
                <a:schemeClr val="accent2"/>
              </a:lnRef>
              <a:fillRef idx="0">
                <a:schemeClr val="accent2"/>
              </a:fillRef>
              <a:effectRef idx="0">
                <a:schemeClr val="accent2"/>
              </a:effectRef>
              <a:fontRef idx="minor">
                <a:schemeClr val="tx1"/>
              </a:fontRef>
            </p:style>
          </p:cxnSp>
          <p:sp>
            <p:nvSpPr>
              <p:cNvPr id="25" name="文字方塊 24">
                <a:extLst>
                  <a:ext uri="{FF2B5EF4-FFF2-40B4-BE49-F238E27FC236}">
                    <a16:creationId xmlns:a16="http://schemas.microsoft.com/office/drawing/2014/main" id="{4943FB78-9300-06DF-7733-CCB623C7005C}"/>
                  </a:ext>
                </a:extLst>
              </p:cNvPr>
              <p:cNvSpPr txBox="1"/>
              <p:nvPr/>
            </p:nvSpPr>
            <p:spPr>
              <a:xfrm>
                <a:off x="215516" y="842228"/>
                <a:ext cx="1800200" cy="646331"/>
              </a:xfrm>
              <a:prstGeom prst="rect">
                <a:avLst/>
              </a:prstGeom>
              <a:noFill/>
            </p:spPr>
            <p:txBody>
              <a:bodyPr wrap="square">
                <a:spAutoFit/>
              </a:bodyPr>
              <a:lstStyle/>
              <a:p>
                <a:pPr algn="ctr"/>
                <a:r>
                  <a:rPr lang="zh-TW" altLang="en-US" b="1" dirty="0">
                    <a:latin typeface="微軟正黑體" panose="020B0604030504040204" pitchFamily="34" charset="-120"/>
                    <a:ea typeface="微軟正黑體" panose="020B0604030504040204" pitchFamily="34" charset="-120"/>
                  </a:rPr>
                  <a:t>甲以發明</a:t>
                </a:r>
                <a:r>
                  <a:rPr lang="en-US" altLang="zh-TW" b="1" dirty="0">
                    <a:latin typeface="微軟正黑體" panose="020B0604030504040204" pitchFamily="34" charset="-120"/>
                    <a:ea typeface="微軟正黑體" panose="020B0604030504040204" pitchFamily="34" charset="-120"/>
                  </a:rPr>
                  <a:t>A</a:t>
                </a:r>
              </a:p>
              <a:p>
                <a:pPr algn="ctr"/>
                <a:r>
                  <a:rPr lang="zh-TW" altLang="en-US" b="1" dirty="0">
                    <a:latin typeface="微軟正黑體" panose="020B0604030504040204" pitchFamily="34" charset="-120"/>
                    <a:ea typeface="微軟正黑體" panose="020B0604030504040204" pitchFamily="34" charset="-120"/>
                  </a:rPr>
                  <a:t>申請專利</a:t>
                </a:r>
              </a:p>
            </p:txBody>
          </p:sp>
          <p:sp>
            <p:nvSpPr>
              <p:cNvPr id="26" name="文字方塊 25">
                <a:extLst>
                  <a:ext uri="{FF2B5EF4-FFF2-40B4-BE49-F238E27FC236}">
                    <a16:creationId xmlns:a16="http://schemas.microsoft.com/office/drawing/2014/main" id="{1AAFA6DF-B8FE-A3F3-A96B-A866B8E925BA}"/>
                  </a:ext>
                </a:extLst>
              </p:cNvPr>
              <p:cNvSpPr txBox="1"/>
              <p:nvPr/>
            </p:nvSpPr>
            <p:spPr>
              <a:xfrm>
                <a:off x="398163" y="1747101"/>
                <a:ext cx="1434905" cy="369332"/>
              </a:xfrm>
              <a:prstGeom prst="rect">
                <a:avLst/>
              </a:prstGeom>
              <a:noFill/>
            </p:spPr>
            <p:txBody>
              <a:bodyPr wrap="square">
                <a:spAutoFit/>
              </a:bodyPr>
              <a:lstStyle/>
              <a:p>
                <a:pPr algn="ctr"/>
                <a:r>
                  <a:rPr lang="en-US" altLang="zh-TW" b="1" dirty="0">
                    <a:latin typeface="微軟正黑體" panose="020B0604030504040204" pitchFamily="34" charset="-120"/>
                    <a:ea typeface="微軟正黑體" panose="020B0604030504040204" pitchFamily="34" charset="-120"/>
                  </a:rPr>
                  <a:t>113/8/8</a:t>
                </a:r>
                <a:endParaRPr lang="zh-TW" altLang="en-US" b="1" dirty="0">
                  <a:latin typeface="微軟正黑體" panose="020B0604030504040204" pitchFamily="34" charset="-120"/>
                  <a:ea typeface="微軟正黑體" panose="020B0604030504040204" pitchFamily="34" charset="-120"/>
                </a:endParaRPr>
              </a:p>
            </p:txBody>
          </p:sp>
        </p:grpSp>
        <p:grpSp>
          <p:nvGrpSpPr>
            <p:cNvPr id="27" name="群組 26">
              <a:extLst>
                <a:ext uri="{FF2B5EF4-FFF2-40B4-BE49-F238E27FC236}">
                  <a16:creationId xmlns:a16="http://schemas.microsoft.com/office/drawing/2014/main" id="{BFEE08BC-2532-8F87-FC8E-238C5F5B8BC5}"/>
                </a:ext>
              </a:extLst>
            </p:cNvPr>
            <p:cNvGrpSpPr/>
            <p:nvPr/>
          </p:nvGrpSpPr>
          <p:grpSpPr>
            <a:xfrm>
              <a:off x="3275614" y="4521019"/>
              <a:ext cx="1800200" cy="1274205"/>
              <a:chOff x="215516" y="842228"/>
              <a:chExt cx="1800200" cy="1274205"/>
            </a:xfrm>
          </p:grpSpPr>
          <p:cxnSp>
            <p:nvCxnSpPr>
              <p:cNvPr id="28" name="直線接點 27">
                <a:extLst>
                  <a:ext uri="{FF2B5EF4-FFF2-40B4-BE49-F238E27FC236}">
                    <a16:creationId xmlns:a16="http://schemas.microsoft.com/office/drawing/2014/main" id="{CE4D7695-AD7F-2F3D-5858-6FA4E411D0D0}"/>
                  </a:ext>
                </a:extLst>
              </p:cNvPr>
              <p:cNvCxnSpPr/>
              <p:nvPr/>
            </p:nvCxnSpPr>
            <p:spPr>
              <a:xfrm>
                <a:off x="1115616" y="1451842"/>
                <a:ext cx="0" cy="288032"/>
              </a:xfrm>
              <a:prstGeom prst="line">
                <a:avLst/>
              </a:prstGeom>
              <a:ln w="34925">
                <a:solidFill>
                  <a:schemeClr val="tx1"/>
                </a:solidFill>
              </a:ln>
            </p:spPr>
            <p:style>
              <a:lnRef idx="1">
                <a:schemeClr val="accent2"/>
              </a:lnRef>
              <a:fillRef idx="0">
                <a:schemeClr val="accent2"/>
              </a:fillRef>
              <a:effectRef idx="0">
                <a:schemeClr val="accent2"/>
              </a:effectRef>
              <a:fontRef idx="minor">
                <a:schemeClr val="tx1"/>
              </a:fontRef>
            </p:style>
          </p:cxnSp>
          <p:sp>
            <p:nvSpPr>
              <p:cNvPr id="29" name="文字方塊 28">
                <a:extLst>
                  <a:ext uri="{FF2B5EF4-FFF2-40B4-BE49-F238E27FC236}">
                    <a16:creationId xmlns:a16="http://schemas.microsoft.com/office/drawing/2014/main" id="{1B4B1893-5158-739B-F63A-1570F4CCFD12}"/>
                  </a:ext>
                </a:extLst>
              </p:cNvPr>
              <p:cNvSpPr txBox="1"/>
              <p:nvPr/>
            </p:nvSpPr>
            <p:spPr>
              <a:xfrm>
                <a:off x="215516" y="842228"/>
                <a:ext cx="1800200" cy="646331"/>
              </a:xfrm>
              <a:prstGeom prst="rect">
                <a:avLst/>
              </a:prstGeom>
              <a:noFill/>
            </p:spPr>
            <p:txBody>
              <a:bodyPr wrap="square">
                <a:spAutoFit/>
              </a:bodyPr>
              <a:lstStyle/>
              <a:p>
                <a:pPr algn="ctr"/>
                <a:r>
                  <a:rPr lang="zh-TW" altLang="en-US" b="1" dirty="0">
                    <a:solidFill>
                      <a:schemeClr val="accent6">
                        <a:lumMod val="50000"/>
                      </a:schemeClr>
                    </a:solidFill>
                    <a:latin typeface="微軟正黑體" panose="020B0604030504040204" pitchFamily="34" charset="-120"/>
                    <a:ea typeface="微軟正黑體" panose="020B0604030504040204" pitchFamily="34" charset="-120"/>
                  </a:rPr>
                  <a:t>丙獨立</a:t>
                </a:r>
                <a:endParaRPr lang="en-US" altLang="zh-TW" b="1" dirty="0">
                  <a:solidFill>
                    <a:schemeClr val="accent6">
                      <a:lumMod val="50000"/>
                    </a:schemeClr>
                  </a:solidFill>
                  <a:latin typeface="微軟正黑體" panose="020B0604030504040204" pitchFamily="34" charset="-120"/>
                  <a:ea typeface="微軟正黑體" panose="020B0604030504040204" pitchFamily="34" charset="-120"/>
                </a:endParaRPr>
              </a:p>
              <a:p>
                <a:pPr algn="ctr"/>
                <a:r>
                  <a:rPr lang="zh-TW" altLang="en-US" b="1" dirty="0">
                    <a:solidFill>
                      <a:schemeClr val="accent6">
                        <a:lumMod val="50000"/>
                      </a:schemeClr>
                    </a:solidFill>
                    <a:latin typeface="微軟正黑體" panose="020B0604030504040204" pitchFamily="34" charset="-120"/>
                    <a:ea typeface="微軟正黑體" panose="020B0604030504040204" pitchFamily="34" charset="-120"/>
                  </a:rPr>
                  <a:t>發明</a:t>
                </a:r>
                <a:r>
                  <a:rPr lang="en-US" altLang="zh-TW" b="1" dirty="0">
                    <a:solidFill>
                      <a:schemeClr val="accent6">
                        <a:lumMod val="50000"/>
                      </a:schemeClr>
                    </a:solidFill>
                    <a:latin typeface="微軟正黑體" panose="020B0604030504040204" pitchFamily="34" charset="-120"/>
                    <a:ea typeface="微軟正黑體" panose="020B0604030504040204" pitchFamily="34" charset="-120"/>
                  </a:rPr>
                  <a:t>A</a:t>
                </a:r>
                <a:r>
                  <a:rPr lang="zh-TW" altLang="en-US" b="1" dirty="0">
                    <a:solidFill>
                      <a:schemeClr val="accent6">
                        <a:lumMod val="50000"/>
                      </a:schemeClr>
                    </a:solidFill>
                    <a:latin typeface="微軟正黑體" panose="020B0604030504040204" pitchFamily="34" charset="-120"/>
                    <a:ea typeface="微軟正黑體" panose="020B0604030504040204" pitchFamily="34" charset="-120"/>
                  </a:rPr>
                  <a:t>公開</a:t>
                </a:r>
              </a:p>
            </p:txBody>
          </p:sp>
          <p:sp>
            <p:nvSpPr>
              <p:cNvPr id="30" name="文字方塊 29">
                <a:extLst>
                  <a:ext uri="{FF2B5EF4-FFF2-40B4-BE49-F238E27FC236}">
                    <a16:creationId xmlns:a16="http://schemas.microsoft.com/office/drawing/2014/main" id="{772B3CBA-6EFA-2581-F86C-5730D995EE3F}"/>
                  </a:ext>
                </a:extLst>
              </p:cNvPr>
              <p:cNvSpPr txBox="1"/>
              <p:nvPr/>
            </p:nvSpPr>
            <p:spPr>
              <a:xfrm>
                <a:off x="398163" y="1747101"/>
                <a:ext cx="1434905" cy="369332"/>
              </a:xfrm>
              <a:prstGeom prst="rect">
                <a:avLst/>
              </a:prstGeom>
              <a:noFill/>
            </p:spPr>
            <p:txBody>
              <a:bodyPr wrap="square">
                <a:spAutoFit/>
              </a:bodyPr>
              <a:lstStyle/>
              <a:p>
                <a:pPr algn="ctr"/>
                <a:r>
                  <a:rPr lang="en-US" altLang="zh-TW" b="1" dirty="0">
                    <a:solidFill>
                      <a:schemeClr val="accent6">
                        <a:lumMod val="50000"/>
                      </a:schemeClr>
                    </a:solidFill>
                    <a:latin typeface="微軟正黑體" panose="020B0604030504040204" pitchFamily="34" charset="-120"/>
                    <a:ea typeface="微軟正黑體" panose="020B0604030504040204" pitchFamily="34" charset="-120"/>
                  </a:rPr>
                  <a:t>113/5/8</a:t>
                </a:r>
                <a:endParaRPr lang="zh-TW" altLang="en-US" b="1" dirty="0">
                  <a:solidFill>
                    <a:schemeClr val="accent6">
                      <a:lumMod val="50000"/>
                    </a:schemeClr>
                  </a:solidFill>
                  <a:latin typeface="微軟正黑體" panose="020B0604030504040204" pitchFamily="34" charset="-120"/>
                  <a:ea typeface="微軟正黑體" panose="020B0604030504040204" pitchFamily="34" charset="-120"/>
                </a:endParaRPr>
              </a:p>
            </p:txBody>
          </p:sp>
        </p:grpSp>
      </p:grpSp>
      <p:sp>
        <p:nvSpPr>
          <p:cNvPr id="7" name="文字方塊 6">
            <a:extLst>
              <a:ext uri="{FF2B5EF4-FFF2-40B4-BE49-F238E27FC236}">
                <a16:creationId xmlns:a16="http://schemas.microsoft.com/office/drawing/2014/main" id="{9639B585-7F78-9937-BE09-9F7F98A48AA1}"/>
              </a:ext>
            </a:extLst>
          </p:cNvPr>
          <p:cNvSpPr txBox="1"/>
          <p:nvPr/>
        </p:nvSpPr>
        <p:spPr>
          <a:xfrm>
            <a:off x="625650" y="5915523"/>
            <a:ext cx="4572000" cy="800219"/>
          </a:xfrm>
          <a:prstGeom prst="rect">
            <a:avLst/>
          </a:prstGeom>
          <a:noFill/>
        </p:spPr>
        <p:txBody>
          <a:bodyPr wrap="square">
            <a:spAutoFit/>
          </a:bodyPr>
          <a:lstStyle/>
          <a:p>
            <a:pPr marL="285750" indent="-285750">
              <a:buFont typeface="Wingdings" panose="05000000000000000000" pitchFamily="2" charset="2"/>
              <a:buChar char="u"/>
            </a:pPr>
            <a:r>
              <a:rPr lang="zh-TW" altLang="en-US" b="1" dirty="0">
                <a:latin typeface="微軟正黑體" panose="020B0604030504040204" pitchFamily="34" charset="-120"/>
                <a:ea typeface="微軟正黑體" panose="020B0604030504040204" pitchFamily="34" charset="-120"/>
              </a:rPr>
              <a:t>何者會使甲申請之專利喪失新穎性</a:t>
            </a:r>
            <a:r>
              <a:rPr lang="en-US" altLang="zh-TW" b="1" dirty="0">
                <a:latin typeface="微軟正黑體" panose="020B0604030504040204" pitchFamily="34" charset="-120"/>
                <a:ea typeface="微軟正黑體" panose="020B0604030504040204" pitchFamily="34" charset="-120"/>
              </a:rPr>
              <a:t>?</a:t>
            </a:r>
          </a:p>
          <a:p>
            <a:pPr marL="285750" indent="-285750">
              <a:spcBef>
                <a:spcPts val="1200"/>
              </a:spcBef>
              <a:buFont typeface="Wingdings" panose="05000000000000000000" pitchFamily="2" charset="2"/>
              <a:buChar char="u"/>
            </a:pPr>
            <a:r>
              <a:rPr lang="zh-TW" altLang="en-US" b="1" dirty="0">
                <a:latin typeface="微軟正黑體" panose="020B0604030504040204" pitchFamily="34" charset="-120"/>
                <a:ea typeface="微軟正黑體" panose="020B0604030504040204" pitchFamily="34" charset="-120"/>
              </a:rPr>
              <a:t>何者會使乙申請之專利喪失新穎性</a:t>
            </a:r>
            <a:r>
              <a:rPr lang="en-US" altLang="zh-TW" b="1" dirty="0">
                <a:latin typeface="微軟正黑體" panose="020B0604030504040204" pitchFamily="34" charset="-120"/>
                <a:ea typeface="微軟正黑體" panose="020B0604030504040204" pitchFamily="34" charset="-120"/>
              </a:rPr>
              <a:t>?</a:t>
            </a:r>
          </a:p>
        </p:txBody>
      </p:sp>
    </p:spTree>
    <p:extLst>
      <p:ext uri="{BB962C8B-B14F-4D97-AF65-F5344CB8AC3E}">
        <p14:creationId xmlns:p14="http://schemas.microsoft.com/office/powerpoint/2010/main" val="39444021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DE3E5D12-4A7C-4174-04B4-E44BB42ED13F}"/>
              </a:ext>
            </a:extLst>
          </p:cNvPr>
          <p:cNvSpPr>
            <a:spLocks noGrp="1"/>
          </p:cNvSpPr>
          <p:nvPr>
            <p:ph type="title"/>
          </p:nvPr>
        </p:nvSpPr>
        <p:spPr/>
        <p:txBody>
          <a:bodyPr/>
          <a:lstStyle/>
          <a:p>
            <a:r>
              <a:rPr lang="zh-TW" altLang="en-US" dirty="0"/>
              <a:t>喪失新穎性或進步性之例外</a:t>
            </a:r>
          </a:p>
        </p:txBody>
      </p:sp>
      <p:sp>
        <p:nvSpPr>
          <p:cNvPr id="10" name="內容版面配置區 9">
            <a:extLst>
              <a:ext uri="{FF2B5EF4-FFF2-40B4-BE49-F238E27FC236}">
                <a16:creationId xmlns:a16="http://schemas.microsoft.com/office/drawing/2014/main" id="{B942D791-A400-700D-0362-EC57CF9F37C8}"/>
              </a:ext>
            </a:extLst>
          </p:cNvPr>
          <p:cNvSpPr>
            <a:spLocks noGrp="1"/>
          </p:cNvSpPr>
          <p:nvPr>
            <p:ph idx="1"/>
          </p:nvPr>
        </p:nvSpPr>
        <p:spPr>
          <a:xfrm>
            <a:off x="457200" y="980728"/>
            <a:ext cx="8229600" cy="5616624"/>
          </a:xfrm>
        </p:spPr>
        <p:txBody>
          <a:bodyPr>
            <a:normAutofit fontScale="85000" lnSpcReduction="10000"/>
          </a:bodyPr>
          <a:lstStyle/>
          <a:p>
            <a:pPr algn="just">
              <a:lnSpc>
                <a:spcPct val="120000"/>
              </a:lnSpc>
            </a:pPr>
            <a:r>
              <a:rPr lang="zh-TW" altLang="en-US" dirty="0"/>
              <a:t>研討會論文集載明某篇</a:t>
            </a:r>
            <a:r>
              <a:rPr lang="zh-TW" altLang="en-US" b="1" dirty="0"/>
              <a:t>論文之作者</a:t>
            </a:r>
            <a:r>
              <a:rPr lang="en-US" altLang="zh-TW" b="1" dirty="0"/>
              <a:t>A</a:t>
            </a:r>
            <a:r>
              <a:rPr lang="zh-TW" altLang="en-US" dirty="0"/>
              <a:t>，</a:t>
            </a:r>
            <a:r>
              <a:rPr lang="zh-TW" altLang="en-US" b="1" dirty="0"/>
              <a:t>專利申請人</a:t>
            </a:r>
            <a:r>
              <a:rPr lang="en-US" altLang="zh-TW" b="1" dirty="0"/>
              <a:t>A</a:t>
            </a:r>
            <a:r>
              <a:rPr lang="zh-TW" altLang="en-US" b="1" dirty="0"/>
              <a:t>及</a:t>
            </a:r>
            <a:r>
              <a:rPr lang="en-US" altLang="zh-TW" b="1" dirty="0"/>
              <a:t>B</a:t>
            </a:r>
            <a:r>
              <a:rPr lang="zh-TW" altLang="en-US" dirty="0"/>
              <a:t>於該論文公開後</a:t>
            </a:r>
            <a:r>
              <a:rPr lang="en-US" altLang="zh-TW" dirty="0"/>
              <a:t>12</a:t>
            </a:r>
            <a:r>
              <a:rPr lang="zh-TW" altLang="en-US" dirty="0"/>
              <a:t>個月內申請發明專利，因公開行為主體為申請人，得認定該論文公開係導因於申請人之意願，且申請人於該公開事實發生後</a:t>
            </a:r>
            <a:r>
              <a:rPr lang="en-US" altLang="zh-TW" dirty="0"/>
              <a:t>12</a:t>
            </a:r>
            <a:r>
              <a:rPr lang="zh-TW" altLang="en-US" dirty="0"/>
              <a:t>個月內申請發明專利，因此，該發明適用優惠期。</a:t>
            </a:r>
            <a:endParaRPr lang="en-US" altLang="zh-TW" dirty="0"/>
          </a:p>
          <a:p>
            <a:pPr algn="just">
              <a:lnSpc>
                <a:spcPct val="120000"/>
              </a:lnSpc>
            </a:pPr>
            <a:r>
              <a:rPr lang="zh-TW" altLang="en-US" dirty="0"/>
              <a:t>研討會論文集載明某篇</a:t>
            </a:r>
            <a:r>
              <a:rPr lang="zh-TW" altLang="en-US" b="1" dirty="0"/>
              <a:t>論文之作者</a:t>
            </a:r>
            <a:r>
              <a:rPr lang="en-US" altLang="zh-TW" b="1" dirty="0"/>
              <a:t>A</a:t>
            </a:r>
            <a:r>
              <a:rPr lang="zh-TW" altLang="en-US" b="1" dirty="0"/>
              <a:t>及</a:t>
            </a:r>
            <a:r>
              <a:rPr lang="en-US" altLang="zh-TW" b="1" dirty="0"/>
              <a:t>B</a:t>
            </a:r>
            <a:r>
              <a:rPr lang="zh-TW" altLang="en-US" dirty="0"/>
              <a:t>，專利申請人</a:t>
            </a:r>
            <a:r>
              <a:rPr lang="en-US" altLang="zh-TW" dirty="0"/>
              <a:t>A</a:t>
            </a:r>
            <a:r>
              <a:rPr lang="zh-TW" altLang="en-US" dirty="0"/>
              <a:t>於該論文公開後</a:t>
            </a:r>
            <a:r>
              <a:rPr lang="en-US" altLang="zh-TW" dirty="0"/>
              <a:t>12</a:t>
            </a:r>
            <a:r>
              <a:rPr lang="zh-TW" altLang="en-US" dirty="0"/>
              <a:t>個月內申請發明專利，因公開行為主體包含他人，而</a:t>
            </a:r>
            <a:r>
              <a:rPr lang="zh-TW" altLang="en-US" b="1" dirty="0"/>
              <a:t>可能為他人獨立發明之公開</a:t>
            </a:r>
            <a:r>
              <a:rPr lang="zh-TW" altLang="en-US" dirty="0"/>
              <a:t>，原則上，推定該發明不適用優惠期。若申請人認為該發明適用優惠期，得敘明公開事實、事實發生日，並檢附相關證明文件予以證明。</a:t>
            </a:r>
            <a:endParaRPr lang="en-US" altLang="zh-TW" b="1" dirty="0"/>
          </a:p>
        </p:txBody>
      </p:sp>
      <p:sp>
        <p:nvSpPr>
          <p:cNvPr id="4" name="投影片編號版面配置區 3">
            <a:extLst>
              <a:ext uri="{FF2B5EF4-FFF2-40B4-BE49-F238E27FC236}">
                <a16:creationId xmlns:a16="http://schemas.microsoft.com/office/drawing/2014/main" id="{6FC7DF09-C58A-C465-986F-15725E792F06}"/>
              </a:ext>
            </a:extLst>
          </p:cNvPr>
          <p:cNvSpPr>
            <a:spLocks noGrp="1"/>
          </p:cNvSpPr>
          <p:nvPr>
            <p:ph type="sldNum" sz="quarter" idx="12"/>
          </p:nvPr>
        </p:nvSpPr>
        <p:spPr>
          <a:xfrm>
            <a:off x="6948264" y="6356350"/>
            <a:ext cx="2133600" cy="365125"/>
          </a:xfrm>
        </p:spPr>
        <p:txBody>
          <a:bodyPr/>
          <a:lstStyle/>
          <a:p>
            <a:fld id="{254D4C32-7A1A-45A5-84ED-81747F1ABFAE}" type="slidenum">
              <a:rPr lang="zh-TW" altLang="en-US" smtClean="0"/>
              <a:t>35</a:t>
            </a:fld>
            <a:endParaRPr lang="zh-TW" altLang="en-US" dirty="0"/>
          </a:p>
        </p:txBody>
      </p:sp>
    </p:spTree>
    <p:extLst>
      <p:ext uri="{BB962C8B-B14F-4D97-AF65-F5344CB8AC3E}">
        <p14:creationId xmlns:p14="http://schemas.microsoft.com/office/powerpoint/2010/main" val="9189451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DE3E5D12-4A7C-4174-04B4-E44BB42ED13F}"/>
              </a:ext>
            </a:extLst>
          </p:cNvPr>
          <p:cNvSpPr>
            <a:spLocks noGrp="1"/>
          </p:cNvSpPr>
          <p:nvPr>
            <p:ph type="title"/>
          </p:nvPr>
        </p:nvSpPr>
        <p:spPr/>
        <p:txBody>
          <a:bodyPr/>
          <a:lstStyle/>
          <a:p>
            <a:r>
              <a:rPr lang="zh-TW" altLang="en-US" dirty="0"/>
              <a:t>喪失新穎性或進步性之例外</a:t>
            </a:r>
          </a:p>
        </p:txBody>
      </p:sp>
      <p:sp>
        <p:nvSpPr>
          <p:cNvPr id="4" name="投影片編號版面配置區 3">
            <a:extLst>
              <a:ext uri="{FF2B5EF4-FFF2-40B4-BE49-F238E27FC236}">
                <a16:creationId xmlns:a16="http://schemas.microsoft.com/office/drawing/2014/main" id="{6FC7DF09-C58A-C465-986F-15725E792F06}"/>
              </a:ext>
            </a:extLst>
          </p:cNvPr>
          <p:cNvSpPr>
            <a:spLocks noGrp="1"/>
          </p:cNvSpPr>
          <p:nvPr>
            <p:ph type="sldNum" sz="quarter" idx="12"/>
          </p:nvPr>
        </p:nvSpPr>
        <p:spPr>
          <a:xfrm>
            <a:off x="6948264" y="6356350"/>
            <a:ext cx="2133600" cy="365125"/>
          </a:xfrm>
        </p:spPr>
        <p:txBody>
          <a:bodyPr/>
          <a:lstStyle/>
          <a:p>
            <a:fld id="{254D4C32-7A1A-45A5-84ED-81747F1ABFAE}" type="slidenum">
              <a:rPr lang="zh-TW" altLang="en-US" smtClean="0"/>
              <a:t>36</a:t>
            </a:fld>
            <a:endParaRPr lang="zh-TW" altLang="en-US" dirty="0"/>
          </a:p>
        </p:txBody>
      </p:sp>
      <p:grpSp>
        <p:nvGrpSpPr>
          <p:cNvPr id="32" name="群組 31"/>
          <p:cNvGrpSpPr/>
          <p:nvPr/>
        </p:nvGrpSpPr>
        <p:grpSpPr>
          <a:xfrm>
            <a:off x="467544" y="1671666"/>
            <a:ext cx="8327268" cy="1285924"/>
            <a:chOff x="215516" y="830509"/>
            <a:chExt cx="8327268" cy="1285924"/>
          </a:xfrm>
        </p:grpSpPr>
        <p:cxnSp>
          <p:nvCxnSpPr>
            <p:cNvPr id="7" name="直線單箭頭接點 6">
              <a:extLst>
                <a:ext uri="{FF2B5EF4-FFF2-40B4-BE49-F238E27FC236}">
                  <a16:creationId xmlns:a16="http://schemas.microsoft.com/office/drawing/2014/main" id="{EE788D0E-EC96-36E1-41E9-C55678655865}"/>
                </a:ext>
              </a:extLst>
            </p:cNvPr>
            <p:cNvCxnSpPr/>
            <p:nvPr/>
          </p:nvCxnSpPr>
          <p:spPr>
            <a:xfrm>
              <a:off x="467544" y="1578746"/>
              <a:ext cx="8075240" cy="0"/>
            </a:xfrm>
            <a:prstGeom prst="straightConnector1">
              <a:avLst/>
            </a:prstGeom>
            <a:ln w="41275">
              <a:tailEnd type="triangle"/>
            </a:ln>
          </p:spPr>
          <p:style>
            <a:lnRef idx="1">
              <a:schemeClr val="accent1"/>
            </a:lnRef>
            <a:fillRef idx="0">
              <a:schemeClr val="accent1"/>
            </a:fillRef>
            <a:effectRef idx="0">
              <a:schemeClr val="accent1"/>
            </a:effectRef>
            <a:fontRef idx="minor">
              <a:schemeClr val="tx1"/>
            </a:fontRef>
          </p:style>
        </p:cxnSp>
        <p:grpSp>
          <p:nvGrpSpPr>
            <p:cNvPr id="3" name="群組 2"/>
            <p:cNvGrpSpPr/>
            <p:nvPr/>
          </p:nvGrpSpPr>
          <p:grpSpPr>
            <a:xfrm>
              <a:off x="1945690" y="847687"/>
              <a:ext cx="1800200" cy="1252391"/>
              <a:chOff x="1945690" y="847687"/>
              <a:chExt cx="1800200" cy="1252391"/>
            </a:xfrm>
          </p:grpSpPr>
          <p:cxnSp>
            <p:nvCxnSpPr>
              <p:cNvPr id="21" name="直線接點 20">
                <a:extLst>
                  <a:ext uri="{FF2B5EF4-FFF2-40B4-BE49-F238E27FC236}">
                    <a16:creationId xmlns:a16="http://schemas.microsoft.com/office/drawing/2014/main" id="{AE77A9CB-E1A7-5446-022C-5647ECA3E2E3}"/>
                  </a:ext>
                </a:extLst>
              </p:cNvPr>
              <p:cNvCxnSpPr/>
              <p:nvPr/>
            </p:nvCxnSpPr>
            <p:spPr>
              <a:xfrm>
                <a:off x="2845790" y="1434730"/>
                <a:ext cx="0" cy="288032"/>
              </a:xfrm>
              <a:prstGeom prst="line">
                <a:avLst/>
              </a:prstGeom>
              <a:ln w="34925"/>
            </p:spPr>
            <p:style>
              <a:lnRef idx="1">
                <a:schemeClr val="accent2"/>
              </a:lnRef>
              <a:fillRef idx="0">
                <a:schemeClr val="accent2"/>
              </a:fillRef>
              <a:effectRef idx="0">
                <a:schemeClr val="accent2"/>
              </a:effectRef>
              <a:fontRef idx="minor">
                <a:schemeClr val="tx1"/>
              </a:fontRef>
            </p:style>
          </p:cxnSp>
          <p:sp>
            <p:nvSpPr>
              <p:cNvPr id="22" name="文字方塊 21">
                <a:extLst>
                  <a:ext uri="{FF2B5EF4-FFF2-40B4-BE49-F238E27FC236}">
                    <a16:creationId xmlns:a16="http://schemas.microsoft.com/office/drawing/2014/main" id="{E4719584-4998-495E-29B5-AD52C88FC9BC}"/>
                  </a:ext>
                </a:extLst>
              </p:cNvPr>
              <p:cNvSpPr txBox="1"/>
              <p:nvPr/>
            </p:nvSpPr>
            <p:spPr>
              <a:xfrm>
                <a:off x="2070713" y="847687"/>
                <a:ext cx="1550154" cy="646331"/>
              </a:xfrm>
              <a:prstGeom prst="rect">
                <a:avLst/>
              </a:prstGeom>
              <a:noFill/>
            </p:spPr>
            <p:txBody>
              <a:bodyPr wrap="square">
                <a:spAutoFit/>
              </a:bodyPr>
              <a:lstStyle/>
              <a:p>
                <a:pPr algn="ctr"/>
                <a:r>
                  <a:rPr lang="zh-TW" altLang="en-US" b="1" dirty="0">
                    <a:solidFill>
                      <a:srgbClr val="FF0000"/>
                    </a:solidFill>
                    <a:latin typeface="微軟正黑體" panose="020B0604030504040204" pitchFamily="34" charset="-120"/>
                    <a:ea typeface="微軟正黑體" panose="020B0604030504040204" pitchFamily="34" charset="-120"/>
                  </a:rPr>
                  <a:t>乙以發明</a:t>
                </a:r>
                <a:r>
                  <a:rPr lang="en-US" altLang="zh-TW" b="1" dirty="0">
                    <a:solidFill>
                      <a:srgbClr val="FF0000"/>
                    </a:solidFill>
                    <a:latin typeface="微軟正黑體" panose="020B0604030504040204" pitchFamily="34" charset="-120"/>
                    <a:ea typeface="微軟正黑體" panose="020B0604030504040204" pitchFamily="34" charset="-120"/>
                  </a:rPr>
                  <a:t>A</a:t>
                </a:r>
              </a:p>
              <a:p>
                <a:pPr algn="ctr"/>
                <a:r>
                  <a:rPr lang="zh-TW" altLang="en-US" b="1" dirty="0">
                    <a:solidFill>
                      <a:srgbClr val="FF0000"/>
                    </a:solidFill>
                    <a:latin typeface="微軟正黑體" panose="020B0604030504040204" pitchFamily="34" charset="-120"/>
                    <a:ea typeface="微軟正黑體" panose="020B0604030504040204" pitchFamily="34" charset="-120"/>
                  </a:rPr>
                  <a:t>申請專利</a:t>
                </a:r>
              </a:p>
            </p:txBody>
          </p:sp>
          <p:sp>
            <p:nvSpPr>
              <p:cNvPr id="23" name="文字方塊 22">
                <a:extLst>
                  <a:ext uri="{FF2B5EF4-FFF2-40B4-BE49-F238E27FC236}">
                    <a16:creationId xmlns:a16="http://schemas.microsoft.com/office/drawing/2014/main" id="{180031A8-A259-7BA4-73ED-A62B333EDAC8}"/>
                  </a:ext>
                </a:extLst>
              </p:cNvPr>
              <p:cNvSpPr txBox="1"/>
              <p:nvPr/>
            </p:nvSpPr>
            <p:spPr>
              <a:xfrm>
                <a:off x="1945690" y="1730746"/>
                <a:ext cx="1800200" cy="369332"/>
              </a:xfrm>
              <a:prstGeom prst="rect">
                <a:avLst/>
              </a:prstGeom>
              <a:noFill/>
            </p:spPr>
            <p:txBody>
              <a:bodyPr wrap="square">
                <a:spAutoFit/>
              </a:bodyPr>
              <a:lstStyle/>
              <a:p>
                <a:pPr algn="ctr"/>
                <a:r>
                  <a:rPr lang="en-US" altLang="zh-TW" b="1" dirty="0">
                    <a:solidFill>
                      <a:srgbClr val="FF0000"/>
                    </a:solidFill>
                    <a:latin typeface="微軟正黑體" panose="020B0604030504040204" pitchFamily="34" charset="-120"/>
                    <a:ea typeface="微軟正黑體" panose="020B0604030504040204" pitchFamily="34" charset="-120"/>
                  </a:rPr>
                  <a:t>112/12/1</a:t>
                </a:r>
                <a:endParaRPr lang="zh-TW" altLang="en-US" b="1" dirty="0">
                  <a:solidFill>
                    <a:srgbClr val="FF0000"/>
                  </a:solidFill>
                  <a:latin typeface="微軟正黑體" panose="020B0604030504040204" pitchFamily="34" charset="-120"/>
                  <a:ea typeface="微軟正黑體" panose="020B0604030504040204" pitchFamily="34" charset="-120"/>
                </a:endParaRPr>
              </a:p>
            </p:txBody>
          </p:sp>
        </p:grpSp>
        <p:grpSp>
          <p:nvGrpSpPr>
            <p:cNvPr id="2" name="群組 1"/>
            <p:cNvGrpSpPr/>
            <p:nvPr/>
          </p:nvGrpSpPr>
          <p:grpSpPr>
            <a:xfrm>
              <a:off x="215516" y="842228"/>
              <a:ext cx="1800200" cy="1274205"/>
              <a:chOff x="215516" y="842228"/>
              <a:chExt cx="1800200" cy="1274205"/>
            </a:xfrm>
          </p:grpSpPr>
          <p:cxnSp>
            <p:nvCxnSpPr>
              <p:cNvPr id="18" name="直線接點 17">
                <a:extLst>
                  <a:ext uri="{FF2B5EF4-FFF2-40B4-BE49-F238E27FC236}">
                    <a16:creationId xmlns:a16="http://schemas.microsoft.com/office/drawing/2014/main" id="{29A72B70-67AF-C216-D652-620E5BAD978F}"/>
                  </a:ext>
                </a:extLst>
              </p:cNvPr>
              <p:cNvCxnSpPr/>
              <p:nvPr/>
            </p:nvCxnSpPr>
            <p:spPr>
              <a:xfrm>
                <a:off x="1115616" y="1451842"/>
                <a:ext cx="0" cy="288032"/>
              </a:xfrm>
              <a:prstGeom prst="line">
                <a:avLst/>
              </a:prstGeom>
              <a:ln w="34925">
                <a:solidFill>
                  <a:schemeClr val="tx1"/>
                </a:solidFill>
              </a:ln>
            </p:spPr>
            <p:style>
              <a:lnRef idx="1">
                <a:schemeClr val="accent2"/>
              </a:lnRef>
              <a:fillRef idx="0">
                <a:schemeClr val="accent2"/>
              </a:fillRef>
              <a:effectRef idx="0">
                <a:schemeClr val="accent2"/>
              </a:effectRef>
              <a:fontRef idx="minor">
                <a:schemeClr val="tx1"/>
              </a:fontRef>
            </p:style>
          </p:cxnSp>
          <p:sp>
            <p:nvSpPr>
              <p:cNvPr id="19" name="文字方塊 18">
                <a:extLst>
                  <a:ext uri="{FF2B5EF4-FFF2-40B4-BE49-F238E27FC236}">
                    <a16:creationId xmlns:a16="http://schemas.microsoft.com/office/drawing/2014/main" id="{D16330D3-1597-CE42-70C9-C18DBC163D5A}"/>
                  </a:ext>
                </a:extLst>
              </p:cNvPr>
              <p:cNvSpPr txBox="1"/>
              <p:nvPr/>
            </p:nvSpPr>
            <p:spPr>
              <a:xfrm>
                <a:off x="215516" y="842228"/>
                <a:ext cx="1800200" cy="646331"/>
              </a:xfrm>
              <a:prstGeom prst="rect">
                <a:avLst/>
              </a:prstGeom>
              <a:noFill/>
            </p:spPr>
            <p:txBody>
              <a:bodyPr wrap="square">
                <a:spAutoFit/>
              </a:bodyPr>
              <a:lstStyle/>
              <a:p>
                <a:pPr algn="ctr"/>
                <a:r>
                  <a:rPr lang="zh-TW" altLang="en-US" b="1" dirty="0">
                    <a:latin typeface="微軟正黑體" panose="020B0604030504040204" pitchFamily="34" charset="-120"/>
                    <a:ea typeface="微軟正黑體" panose="020B0604030504040204" pitchFamily="34" charset="-120"/>
                  </a:rPr>
                  <a:t>甲因論文發表</a:t>
                </a:r>
                <a:endParaRPr lang="en-US" altLang="zh-TW" b="1" dirty="0">
                  <a:latin typeface="微軟正黑體" panose="020B0604030504040204" pitchFamily="34" charset="-120"/>
                  <a:ea typeface="微軟正黑體" panose="020B0604030504040204" pitchFamily="34" charset="-120"/>
                </a:endParaRPr>
              </a:p>
              <a:p>
                <a:pPr algn="ctr"/>
                <a:r>
                  <a:rPr lang="zh-TW" altLang="en-US" b="1" dirty="0">
                    <a:latin typeface="微軟正黑體" panose="020B0604030504040204" pitchFamily="34" charset="-120"/>
                    <a:ea typeface="微軟正黑體" panose="020B0604030504040204" pitchFamily="34" charset="-120"/>
                  </a:rPr>
                  <a:t>公開發明</a:t>
                </a:r>
                <a:r>
                  <a:rPr lang="en-US" altLang="zh-TW" b="1" dirty="0">
                    <a:latin typeface="微軟正黑體" panose="020B0604030504040204" pitchFamily="34" charset="-120"/>
                    <a:ea typeface="微軟正黑體" panose="020B0604030504040204" pitchFamily="34" charset="-120"/>
                  </a:rPr>
                  <a:t>A</a:t>
                </a:r>
                <a:endParaRPr lang="zh-TW" altLang="en-US" b="1" dirty="0">
                  <a:latin typeface="微軟正黑體" panose="020B0604030504040204" pitchFamily="34" charset="-120"/>
                  <a:ea typeface="微軟正黑體" panose="020B0604030504040204" pitchFamily="34" charset="-120"/>
                </a:endParaRPr>
              </a:p>
            </p:txBody>
          </p:sp>
          <p:sp>
            <p:nvSpPr>
              <p:cNvPr id="20" name="文字方塊 19">
                <a:extLst>
                  <a:ext uri="{FF2B5EF4-FFF2-40B4-BE49-F238E27FC236}">
                    <a16:creationId xmlns:a16="http://schemas.microsoft.com/office/drawing/2014/main" id="{751B193B-1DD9-F8A7-BAF9-331A7D809290}"/>
                  </a:ext>
                </a:extLst>
              </p:cNvPr>
              <p:cNvSpPr txBox="1"/>
              <p:nvPr/>
            </p:nvSpPr>
            <p:spPr>
              <a:xfrm>
                <a:off x="398163" y="1747101"/>
                <a:ext cx="1434905" cy="369332"/>
              </a:xfrm>
              <a:prstGeom prst="rect">
                <a:avLst/>
              </a:prstGeom>
              <a:noFill/>
            </p:spPr>
            <p:txBody>
              <a:bodyPr wrap="square">
                <a:spAutoFit/>
              </a:bodyPr>
              <a:lstStyle/>
              <a:p>
                <a:pPr algn="ctr"/>
                <a:r>
                  <a:rPr lang="en-US" altLang="zh-TW" b="1" dirty="0">
                    <a:latin typeface="微軟正黑體" panose="020B0604030504040204" pitchFamily="34" charset="-120"/>
                    <a:ea typeface="微軟正黑體" panose="020B0604030504040204" pitchFamily="34" charset="-120"/>
                  </a:rPr>
                  <a:t>112/1/8</a:t>
                </a:r>
                <a:endParaRPr lang="zh-TW" altLang="en-US" b="1" dirty="0">
                  <a:latin typeface="微軟正黑體" panose="020B0604030504040204" pitchFamily="34" charset="-120"/>
                  <a:ea typeface="微軟正黑體" panose="020B0604030504040204" pitchFamily="34" charset="-120"/>
                </a:endParaRPr>
              </a:p>
            </p:txBody>
          </p:sp>
        </p:grpSp>
        <p:grpSp>
          <p:nvGrpSpPr>
            <p:cNvPr id="24" name="群組 23"/>
            <p:cNvGrpSpPr/>
            <p:nvPr/>
          </p:nvGrpSpPr>
          <p:grpSpPr>
            <a:xfrm>
              <a:off x="3733225" y="830509"/>
              <a:ext cx="1800200" cy="1274205"/>
              <a:chOff x="215516" y="842228"/>
              <a:chExt cx="1800200" cy="1274205"/>
            </a:xfrm>
          </p:grpSpPr>
          <p:cxnSp>
            <p:nvCxnSpPr>
              <p:cNvPr id="25" name="直線接點 24">
                <a:extLst>
                  <a:ext uri="{FF2B5EF4-FFF2-40B4-BE49-F238E27FC236}">
                    <a16:creationId xmlns:a16="http://schemas.microsoft.com/office/drawing/2014/main" id="{29A72B70-67AF-C216-D652-620E5BAD978F}"/>
                  </a:ext>
                </a:extLst>
              </p:cNvPr>
              <p:cNvCxnSpPr/>
              <p:nvPr/>
            </p:nvCxnSpPr>
            <p:spPr>
              <a:xfrm>
                <a:off x="1115616" y="1451842"/>
                <a:ext cx="0" cy="288032"/>
              </a:xfrm>
              <a:prstGeom prst="line">
                <a:avLst/>
              </a:prstGeom>
              <a:ln w="34925">
                <a:solidFill>
                  <a:schemeClr val="tx1"/>
                </a:solidFill>
              </a:ln>
            </p:spPr>
            <p:style>
              <a:lnRef idx="1">
                <a:schemeClr val="accent2"/>
              </a:lnRef>
              <a:fillRef idx="0">
                <a:schemeClr val="accent2"/>
              </a:fillRef>
              <a:effectRef idx="0">
                <a:schemeClr val="accent2"/>
              </a:effectRef>
              <a:fontRef idx="minor">
                <a:schemeClr val="tx1"/>
              </a:fontRef>
            </p:style>
          </p:cxnSp>
          <p:sp>
            <p:nvSpPr>
              <p:cNvPr id="26" name="文字方塊 25">
                <a:extLst>
                  <a:ext uri="{FF2B5EF4-FFF2-40B4-BE49-F238E27FC236}">
                    <a16:creationId xmlns:a16="http://schemas.microsoft.com/office/drawing/2014/main" id="{D16330D3-1597-CE42-70C9-C18DBC163D5A}"/>
                  </a:ext>
                </a:extLst>
              </p:cNvPr>
              <p:cNvSpPr txBox="1"/>
              <p:nvPr/>
            </p:nvSpPr>
            <p:spPr>
              <a:xfrm>
                <a:off x="215516" y="842228"/>
                <a:ext cx="1800200" cy="646331"/>
              </a:xfrm>
              <a:prstGeom prst="rect">
                <a:avLst/>
              </a:prstGeom>
              <a:noFill/>
            </p:spPr>
            <p:txBody>
              <a:bodyPr wrap="square">
                <a:spAutoFit/>
              </a:bodyPr>
              <a:lstStyle/>
              <a:p>
                <a:pPr algn="ctr"/>
                <a:r>
                  <a:rPr lang="zh-TW" altLang="en-US" b="1" dirty="0">
                    <a:latin typeface="微軟正黑體" panose="020B0604030504040204" pitchFamily="34" charset="-120"/>
                    <a:ea typeface="微軟正黑體" panose="020B0604030504040204" pitchFamily="34" charset="-120"/>
                  </a:rPr>
                  <a:t>甲以發明</a:t>
                </a:r>
                <a:r>
                  <a:rPr lang="en-US" altLang="zh-TW" b="1" dirty="0">
                    <a:latin typeface="微軟正黑體" panose="020B0604030504040204" pitchFamily="34" charset="-120"/>
                    <a:ea typeface="微軟正黑體" panose="020B0604030504040204" pitchFamily="34" charset="-120"/>
                  </a:rPr>
                  <a:t>A</a:t>
                </a:r>
              </a:p>
              <a:p>
                <a:pPr algn="ctr"/>
                <a:r>
                  <a:rPr lang="zh-TW" altLang="en-US" b="1" dirty="0">
                    <a:latin typeface="微軟正黑體" panose="020B0604030504040204" pitchFamily="34" charset="-120"/>
                    <a:ea typeface="微軟正黑體" panose="020B0604030504040204" pitchFamily="34" charset="-120"/>
                  </a:rPr>
                  <a:t>申請專利</a:t>
                </a:r>
              </a:p>
            </p:txBody>
          </p:sp>
          <p:sp>
            <p:nvSpPr>
              <p:cNvPr id="27" name="文字方塊 26">
                <a:extLst>
                  <a:ext uri="{FF2B5EF4-FFF2-40B4-BE49-F238E27FC236}">
                    <a16:creationId xmlns:a16="http://schemas.microsoft.com/office/drawing/2014/main" id="{751B193B-1DD9-F8A7-BAF9-331A7D809290}"/>
                  </a:ext>
                </a:extLst>
              </p:cNvPr>
              <p:cNvSpPr txBox="1"/>
              <p:nvPr/>
            </p:nvSpPr>
            <p:spPr>
              <a:xfrm>
                <a:off x="398163" y="1747101"/>
                <a:ext cx="1434905" cy="369332"/>
              </a:xfrm>
              <a:prstGeom prst="rect">
                <a:avLst/>
              </a:prstGeom>
              <a:noFill/>
            </p:spPr>
            <p:txBody>
              <a:bodyPr wrap="square">
                <a:spAutoFit/>
              </a:bodyPr>
              <a:lstStyle/>
              <a:p>
                <a:pPr algn="ctr"/>
                <a:r>
                  <a:rPr lang="en-US" altLang="zh-TW" b="1" dirty="0">
                    <a:latin typeface="微軟正黑體" panose="020B0604030504040204" pitchFamily="34" charset="-120"/>
                    <a:ea typeface="微軟正黑體" panose="020B0604030504040204" pitchFamily="34" charset="-120"/>
                  </a:rPr>
                  <a:t>113/1/8</a:t>
                </a:r>
                <a:endParaRPr lang="zh-TW" altLang="en-US" b="1" dirty="0">
                  <a:latin typeface="微軟正黑體" panose="020B0604030504040204" pitchFamily="34" charset="-120"/>
                  <a:ea typeface="微軟正黑體" panose="020B0604030504040204" pitchFamily="34" charset="-120"/>
                </a:endParaRPr>
              </a:p>
            </p:txBody>
          </p:sp>
        </p:grpSp>
        <p:grpSp>
          <p:nvGrpSpPr>
            <p:cNvPr id="28" name="群組 27"/>
            <p:cNvGrpSpPr/>
            <p:nvPr/>
          </p:nvGrpSpPr>
          <p:grpSpPr>
            <a:xfrm>
              <a:off x="5580112" y="847795"/>
              <a:ext cx="1800200" cy="1252391"/>
              <a:chOff x="1945690" y="847687"/>
              <a:chExt cx="1800200" cy="1252391"/>
            </a:xfrm>
          </p:grpSpPr>
          <p:cxnSp>
            <p:nvCxnSpPr>
              <p:cNvPr id="29" name="直線接點 28">
                <a:extLst>
                  <a:ext uri="{FF2B5EF4-FFF2-40B4-BE49-F238E27FC236}">
                    <a16:creationId xmlns:a16="http://schemas.microsoft.com/office/drawing/2014/main" id="{AE77A9CB-E1A7-5446-022C-5647ECA3E2E3}"/>
                  </a:ext>
                </a:extLst>
              </p:cNvPr>
              <p:cNvCxnSpPr/>
              <p:nvPr/>
            </p:nvCxnSpPr>
            <p:spPr>
              <a:xfrm>
                <a:off x="2845790" y="1434730"/>
                <a:ext cx="0" cy="288032"/>
              </a:xfrm>
              <a:prstGeom prst="line">
                <a:avLst/>
              </a:prstGeom>
              <a:ln w="34925"/>
            </p:spPr>
            <p:style>
              <a:lnRef idx="1">
                <a:schemeClr val="accent2"/>
              </a:lnRef>
              <a:fillRef idx="0">
                <a:schemeClr val="accent2"/>
              </a:fillRef>
              <a:effectRef idx="0">
                <a:schemeClr val="accent2"/>
              </a:effectRef>
              <a:fontRef idx="minor">
                <a:schemeClr val="tx1"/>
              </a:fontRef>
            </p:style>
          </p:cxnSp>
          <p:sp>
            <p:nvSpPr>
              <p:cNvPr id="30" name="文字方塊 29">
                <a:extLst>
                  <a:ext uri="{FF2B5EF4-FFF2-40B4-BE49-F238E27FC236}">
                    <a16:creationId xmlns:a16="http://schemas.microsoft.com/office/drawing/2014/main" id="{E4719584-4998-495E-29B5-AD52C88FC9BC}"/>
                  </a:ext>
                </a:extLst>
              </p:cNvPr>
              <p:cNvSpPr txBox="1"/>
              <p:nvPr/>
            </p:nvSpPr>
            <p:spPr>
              <a:xfrm>
                <a:off x="2070713" y="847687"/>
                <a:ext cx="1550154" cy="646331"/>
              </a:xfrm>
              <a:prstGeom prst="rect">
                <a:avLst/>
              </a:prstGeom>
              <a:noFill/>
            </p:spPr>
            <p:txBody>
              <a:bodyPr wrap="square">
                <a:spAutoFit/>
              </a:bodyPr>
              <a:lstStyle/>
              <a:p>
                <a:pPr algn="ctr"/>
                <a:r>
                  <a:rPr lang="zh-TW" altLang="en-US" b="1" dirty="0">
                    <a:solidFill>
                      <a:srgbClr val="FF0000"/>
                    </a:solidFill>
                    <a:latin typeface="微軟正黑體" panose="020B0604030504040204" pitchFamily="34" charset="-120"/>
                    <a:ea typeface="微軟正黑體" panose="020B0604030504040204" pitchFamily="34" charset="-120"/>
                  </a:rPr>
                  <a:t>乙申請之</a:t>
                </a:r>
                <a:endParaRPr lang="en-US" altLang="zh-TW" b="1" dirty="0">
                  <a:solidFill>
                    <a:srgbClr val="FF0000"/>
                  </a:solidFill>
                  <a:latin typeface="微軟正黑體" panose="020B0604030504040204" pitchFamily="34" charset="-120"/>
                  <a:ea typeface="微軟正黑體" panose="020B0604030504040204" pitchFamily="34" charset="-120"/>
                </a:endParaRPr>
              </a:p>
              <a:p>
                <a:pPr algn="ctr"/>
                <a:r>
                  <a:rPr lang="zh-TW" altLang="en-US" b="1" dirty="0">
                    <a:solidFill>
                      <a:srgbClr val="FF0000"/>
                    </a:solidFill>
                    <a:latin typeface="微軟正黑體" panose="020B0604030504040204" pitchFamily="34" charset="-120"/>
                    <a:ea typeface="微軟正黑體" panose="020B0604030504040204" pitchFamily="34" charset="-120"/>
                  </a:rPr>
                  <a:t>專利公開</a:t>
                </a:r>
              </a:p>
            </p:txBody>
          </p:sp>
          <p:sp>
            <p:nvSpPr>
              <p:cNvPr id="31" name="文字方塊 30">
                <a:extLst>
                  <a:ext uri="{FF2B5EF4-FFF2-40B4-BE49-F238E27FC236}">
                    <a16:creationId xmlns:a16="http://schemas.microsoft.com/office/drawing/2014/main" id="{180031A8-A259-7BA4-73ED-A62B333EDAC8}"/>
                  </a:ext>
                </a:extLst>
              </p:cNvPr>
              <p:cNvSpPr txBox="1"/>
              <p:nvPr/>
            </p:nvSpPr>
            <p:spPr>
              <a:xfrm>
                <a:off x="1945690" y="1730746"/>
                <a:ext cx="1800200" cy="369332"/>
              </a:xfrm>
              <a:prstGeom prst="rect">
                <a:avLst/>
              </a:prstGeom>
              <a:noFill/>
            </p:spPr>
            <p:txBody>
              <a:bodyPr wrap="square">
                <a:spAutoFit/>
              </a:bodyPr>
              <a:lstStyle/>
              <a:p>
                <a:pPr algn="ctr"/>
                <a:r>
                  <a:rPr lang="en-US" altLang="zh-TW" b="1" dirty="0">
                    <a:solidFill>
                      <a:srgbClr val="FF0000"/>
                    </a:solidFill>
                    <a:latin typeface="微軟正黑體" panose="020B0604030504040204" pitchFamily="34" charset="-120"/>
                    <a:ea typeface="微軟正黑體" panose="020B0604030504040204" pitchFamily="34" charset="-120"/>
                  </a:rPr>
                  <a:t>113/6/1</a:t>
                </a:r>
                <a:endParaRPr lang="zh-TW" altLang="en-US" b="1" dirty="0">
                  <a:solidFill>
                    <a:srgbClr val="FF0000"/>
                  </a:solidFill>
                  <a:latin typeface="微軟正黑體" panose="020B0604030504040204" pitchFamily="34" charset="-120"/>
                  <a:ea typeface="微軟正黑體" panose="020B0604030504040204" pitchFamily="34" charset="-120"/>
                </a:endParaRPr>
              </a:p>
            </p:txBody>
          </p:sp>
        </p:grpSp>
      </p:grpSp>
      <p:sp>
        <p:nvSpPr>
          <p:cNvPr id="33" name="矩形 32"/>
          <p:cNvSpPr/>
          <p:nvPr/>
        </p:nvSpPr>
        <p:spPr>
          <a:xfrm>
            <a:off x="179511" y="832858"/>
            <a:ext cx="5630128" cy="584775"/>
          </a:xfrm>
          <a:prstGeom prst="rect">
            <a:avLst/>
          </a:prstGeom>
        </p:spPr>
        <p:txBody>
          <a:bodyPr wrap="square">
            <a:spAutoFit/>
          </a:bodyPr>
          <a:lstStyle/>
          <a:p>
            <a:r>
              <a:rPr lang="en-US" altLang="zh-TW" sz="32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軟正黑體" panose="020B0604030504040204" pitchFamily="34" charset="-120"/>
                <a:ea typeface="微軟正黑體" panose="020B0604030504040204" pitchFamily="34" charset="-120"/>
              </a:rPr>
              <a:t>?</a:t>
            </a:r>
            <a:r>
              <a:rPr lang="zh-TW" altLang="en-US"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軟正黑體" panose="020B0604030504040204" pitchFamily="34" charset="-120"/>
                <a:ea typeface="微軟正黑體" panose="020B0604030504040204" pitchFamily="34" charset="-120"/>
              </a:rPr>
              <a:t> </a:t>
            </a:r>
            <a:r>
              <a:rPr lang="zh-TW" altLang="en-US" sz="2800" b="1" dirty="0">
                <a:solidFill>
                  <a:srgbClr val="C00000"/>
                </a:solidFill>
                <a:latin typeface="微軟正黑體" panose="020B0604030504040204" pitchFamily="34" charset="-120"/>
                <a:ea typeface="微軟正黑體" panose="020B0604030504040204" pitchFamily="34" charset="-120"/>
              </a:rPr>
              <a:t>甲、乙二申請案可否准予專利</a:t>
            </a:r>
          </a:p>
        </p:txBody>
      </p:sp>
      <p:grpSp>
        <p:nvGrpSpPr>
          <p:cNvPr id="38" name="群組 37"/>
          <p:cNvGrpSpPr/>
          <p:nvPr/>
        </p:nvGrpSpPr>
        <p:grpSpPr>
          <a:xfrm>
            <a:off x="491730" y="4022733"/>
            <a:ext cx="8327268" cy="1285924"/>
            <a:chOff x="215516" y="830509"/>
            <a:chExt cx="8327268" cy="1285924"/>
          </a:xfrm>
        </p:grpSpPr>
        <p:cxnSp>
          <p:nvCxnSpPr>
            <p:cNvPr id="39" name="直線單箭頭接點 38">
              <a:extLst>
                <a:ext uri="{FF2B5EF4-FFF2-40B4-BE49-F238E27FC236}">
                  <a16:creationId xmlns:a16="http://schemas.microsoft.com/office/drawing/2014/main" id="{EE788D0E-EC96-36E1-41E9-C55678655865}"/>
                </a:ext>
              </a:extLst>
            </p:cNvPr>
            <p:cNvCxnSpPr/>
            <p:nvPr/>
          </p:nvCxnSpPr>
          <p:spPr>
            <a:xfrm>
              <a:off x="467544" y="1578746"/>
              <a:ext cx="8075240" cy="0"/>
            </a:xfrm>
            <a:prstGeom prst="straightConnector1">
              <a:avLst/>
            </a:prstGeom>
            <a:ln w="41275">
              <a:tailEnd type="triangle"/>
            </a:ln>
          </p:spPr>
          <p:style>
            <a:lnRef idx="1">
              <a:schemeClr val="accent1"/>
            </a:lnRef>
            <a:fillRef idx="0">
              <a:schemeClr val="accent1"/>
            </a:fillRef>
            <a:effectRef idx="0">
              <a:schemeClr val="accent1"/>
            </a:effectRef>
            <a:fontRef idx="minor">
              <a:schemeClr val="tx1"/>
            </a:fontRef>
          </p:style>
        </p:cxnSp>
        <p:grpSp>
          <p:nvGrpSpPr>
            <p:cNvPr id="40" name="群組 39"/>
            <p:cNvGrpSpPr/>
            <p:nvPr/>
          </p:nvGrpSpPr>
          <p:grpSpPr>
            <a:xfrm>
              <a:off x="1804471" y="847795"/>
              <a:ext cx="2082803" cy="1252283"/>
              <a:chOff x="1804471" y="847795"/>
              <a:chExt cx="2082803" cy="1252283"/>
            </a:xfrm>
          </p:grpSpPr>
          <p:cxnSp>
            <p:nvCxnSpPr>
              <p:cNvPr id="53" name="直線接點 52">
                <a:extLst>
                  <a:ext uri="{FF2B5EF4-FFF2-40B4-BE49-F238E27FC236}">
                    <a16:creationId xmlns:a16="http://schemas.microsoft.com/office/drawing/2014/main" id="{AE77A9CB-E1A7-5446-022C-5647ECA3E2E3}"/>
                  </a:ext>
                </a:extLst>
              </p:cNvPr>
              <p:cNvCxnSpPr/>
              <p:nvPr/>
            </p:nvCxnSpPr>
            <p:spPr>
              <a:xfrm>
                <a:off x="2845790" y="1434730"/>
                <a:ext cx="0" cy="288032"/>
              </a:xfrm>
              <a:prstGeom prst="line">
                <a:avLst/>
              </a:prstGeom>
              <a:ln w="34925"/>
            </p:spPr>
            <p:style>
              <a:lnRef idx="1">
                <a:schemeClr val="accent2"/>
              </a:lnRef>
              <a:fillRef idx="0">
                <a:schemeClr val="accent2"/>
              </a:fillRef>
              <a:effectRef idx="0">
                <a:schemeClr val="accent2"/>
              </a:effectRef>
              <a:fontRef idx="minor">
                <a:schemeClr val="tx1"/>
              </a:fontRef>
            </p:style>
          </p:cxnSp>
          <p:sp>
            <p:nvSpPr>
              <p:cNvPr id="54" name="文字方塊 53">
                <a:extLst>
                  <a:ext uri="{FF2B5EF4-FFF2-40B4-BE49-F238E27FC236}">
                    <a16:creationId xmlns:a16="http://schemas.microsoft.com/office/drawing/2014/main" id="{E4719584-4998-495E-29B5-AD52C88FC9BC}"/>
                  </a:ext>
                </a:extLst>
              </p:cNvPr>
              <p:cNvSpPr txBox="1"/>
              <p:nvPr/>
            </p:nvSpPr>
            <p:spPr>
              <a:xfrm>
                <a:off x="1804471" y="847795"/>
                <a:ext cx="2082803" cy="646331"/>
              </a:xfrm>
              <a:prstGeom prst="rect">
                <a:avLst/>
              </a:prstGeom>
              <a:noFill/>
            </p:spPr>
            <p:txBody>
              <a:bodyPr wrap="square">
                <a:spAutoFit/>
              </a:bodyPr>
              <a:lstStyle/>
              <a:p>
                <a:pPr algn="ctr"/>
                <a:r>
                  <a:rPr lang="zh-TW" altLang="en-US" b="1" dirty="0">
                    <a:solidFill>
                      <a:srgbClr val="FF0000"/>
                    </a:solidFill>
                    <a:latin typeface="微軟正黑體" panose="020B0604030504040204" pitchFamily="34" charset="-120"/>
                    <a:ea typeface="微軟正黑體" panose="020B0604030504040204" pitchFamily="34" charset="-120"/>
                  </a:rPr>
                  <a:t>乙發明</a:t>
                </a:r>
                <a:r>
                  <a:rPr lang="en-US" altLang="zh-TW" b="1" dirty="0">
                    <a:solidFill>
                      <a:srgbClr val="FF0000"/>
                    </a:solidFill>
                    <a:latin typeface="微軟正黑體" panose="020B0604030504040204" pitchFamily="34" charset="-120"/>
                    <a:ea typeface="微軟正黑體" panose="020B0604030504040204" pitchFamily="34" charset="-120"/>
                  </a:rPr>
                  <a:t>A</a:t>
                </a:r>
              </a:p>
              <a:p>
                <a:pPr algn="ctr"/>
                <a:r>
                  <a:rPr lang="zh-TW" altLang="en-US" b="1" dirty="0">
                    <a:solidFill>
                      <a:srgbClr val="FF0000"/>
                    </a:solidFill>
                    <a:latin typeface="微軟正黑體" panose="020B0604030504040204" pitchFamily="34" charset="-120"/>
                    <a:ea typeface="微軟正黑體" panose="020B0604030504040204" pitchFamily="34" charset="-120"/>
                  </a:rPr>
                  <a:t>國際優先權基礎案</a:t>
                </a:r>
              </a:p>
            </p:txBody>
          </p:sp>
          <p:sp>
            <p:nvSpPr>
              <p:cNvPr id="55" name="文字方塊 54">
                <a:extLst>
                  <a:ext uri="{FF2B5EF4-FFF2-40B4-BE49-F238E27FC236}">
                    <a16:creationId xmlns:a16="http://schemas.microsoft.com/office/drawing/2014/main" id="{180031A8-A259-7BA4-73ED-A62B333EDAC8}"/>
                  </a:ext>
                </a:extLst>
              </p:cNvPr>
              <p:cNvSpPr txBox="1"/>
              <p:nvPr/>
            </p:nvSpPr>
            <p:spPr>
              <a:xfrm>
                <a:off x="1945690" y="1730746"/>
                <a:ext cx="1800200" cy="369332"/>
              </a:xfrm>
              <a:prstGeom prst="rect">
                <a:avLst/>
              </a:prstGeom>
              <a:noFill/>
            </p:spPr>
            <p:txBody>
              <a:bodyPr wrap="square">
                <a:spAutoFit/>
              </a:bodyPr>
              <a:lstStyle/>
              <a:p>
                <a:pPr algn="ctr"/>
                <a:r>
                  <a:rPr lang="en-US" altLang="zh-TW" b="1" dirty="0">
                    <a:solidFill>
                      <a:srgbClr val="FF0000"/>
                    </a:solidFill>
                    <a:latin typeface="微軟正黑體" panose="020B0604030504040204" pitchFamily="34" charset="-120"/>
                    <a:ea typeface="微軟正黑體" panose="020B0604030504040204" pitchFamily="34" charset="-120"/>
                  </a:rPr>
                  <a:t>112/12/1</a:t>
                </a:r>
                <a:endParaRPr lang="zh-TW" altLang="en-US" b="1" dirty="0">
                  <a:solidFill>
                    <a:srgbClr val="FF0000"/>
                  </a:solidFill>
                  <a:latin typeface="微軟正黑體" panose="020B0604030504040204" pitchFamily="34" charset="-120"/>
                  <a:ea typeface="微軟正黑體" panose="020B0604030504040204" pitchFamily="34" charset="-120"/>
                </a:endParaRPr>
              </a:p>
            </p:txBody>
          </p:sp>
        </p:grpSp>
        <p:grpSp>
          <p:nvGrpSpPr>
            <p:cNvPr id="41" name="群組 40"/>
            <p:cNvGrpSpPr/>
            <p:nvPr/>
          </p:nvGrpSpPr>
          <p:grpSpPr>
            <a:xfrm>
              <a:off x="215516" y="842228"/>
              <a:ext cx="1800200" cy="1274205"/>
              <a:chOff x="215516" y="842228"/>
              <a:chExt cx="1800200" cy="1274205"/>
            </a:xfrm>
          </p:grpSpPr>
          <p:cxnSp>
            <p:nvCxnSpPr>
              <p:cNvPr id="50" name="直線接點 49">
                <a:extLst>
                  <a:ext uri="{FF2B5EF4-FFF2-40B4-BE49-F238E27FC236}">
                    <a16:creationId xmlns:a16="http://schemas.microsoft.com/office/drawing/2014/main" id="{29A72B70-67AF-C216-D652-620E5BAD978F}"/>
                  </a:ext>
                </a:extLst>
              </p:cNvPr>
              <p:cNvCxnSpPr/>
              <p:nvPr/>
            </p:nvCxnSpPr>
            <p:spPr>
              <a:xfrm>
                <a:off x="1115616" y="1451842"/>
                <a:ext cx="0" cy="288032"/>
              </a:xfrm>
              <a:prstGeom prst="line">
                <a:avLst/>
              </a:prstGeom>
              <a:ln w="34925">
                <a:solidFill>
                  <a:schemeClr val="tx1"/>
                </a:solidFill>
              </a:ln>
            </p:spPr>
            <p:style>
              <a:lnRef idx="1">
                <a:schemeClr val="accent2"/>
              </a:lnRef>
              <a:fillRef idx="0">
                <a:schemeClr val="accent2"/>
              </a:fillRef>
              <a:effectRef idx="0">
                <a:schemeClr val="accent2"/>
              </a:effectRef>
              <a:fontRef idx="minor">
                <a:schemeClr val="tx1"/>
              </a:fontRef>
            </p:style>
          </p:cxnSp>
          <p:sp>
            <p:nvSpPr>
              <p:cNvPr id="51" name="文字方塊 50">
                <a:extLst>
                  <a:ext uri="{FF2B5EF4-FFF2-40B4-BE49-F238E27FC236}">
                    <a16:creationId xmlns:a16="http://schemas.microsoft.com/office/drawing/2014/main" id="{D16330D3-1597-CE42-70C9-C18DBC163D5A}"/>
                  </a:ext>
                </a:extLst>
              </p:cNvPr>
              <p:cNvSpPr txBox="1"/>
              <p:nvPr/>
            </p:nvSpPr>
            <p:spPr>
              <a:xfrm>
                <a:off x="215516" y="842228"/>
                <a:ext cx="1800200" cy="646331"/>
              </a:xfrm>
              <a:prstGeom prst="rect">
                <a:avLst/>
              </a:prstGeom>
              <a:noFill/>
            </p:spPr>
            <p:txBody>
              <a:bodyPr wrap="square">
                <a:spAutoFit/>
              </a:bodyPr>
              <a:lstStyle/>
              <a:p>
                <a:pPr algn="ctr"/>
                <a:r>
                  <a:rPr lang="zh-TW" altLang="en-US" b="1" dirty="0">
                    <a:latin typeface="微軟正黑體" panose="020B0604030504040204" pitchFamily="34" charset="-120"/>
                    <a:ea typeface="微軟正黑體" panose="020B0604030504040204" pitchFamily="34" charset="-120"/>
                  </a:rPr>
                  <a:t>甲因論文發表</a:t>
                </a:r>
                <a:endParaRPr lang="en-US" altLang="zh-TW" b="1" dirty="0">
                  <a:latin typeface="微軟正黑體" panose="020B0604030504040204" pitchFamily="34" charset="-120"/>
                  <a:ea typeface="微軟正黑體" panose="020B0604030504040204" pitchFamily="34" charset="-120"/>
                </a:endParaRPr>
              </a:p>
              <a:p>
                <a:pPr algn="ctr"/>
                <a:r>
                  <a:rPr lang="zh-TW" altLang="en-US" b="1" dirty="0">
                    <a:latin typeface="微軟正黑體" panose="020B0604030504040204" pitchFamily="34" charset="-120"/>
                    <a:ea typeface="微軟正黑體" panose="020B0604030504040204" pitchFamily="34" charset="-120"/>
                  </a:rPr>
                  <a:t>公開發明</a:t>
                </a:r>
                <a:r>
                  <a:rPr lang="en-US" altLang="zh-TW" b="1" dirty="0">
                    <a:latin typeface="微軟正黑體" panose="020B0604030504040204" pitchFamily="34" charset="-120"/>
                    <a:ea typeface="微軟正黑體" panose="020B0604030504040204" pitchFamily="34" charset="-120"/>
                  </a:rPr>
                  <a:t>A</a:t>
                </a:r>
                <a:endParaRPr lang="zh-TW" altLang="en-US" b="1" dirty="0">
                  <a:latin typeface="微軟正黑體" panose="020B0604030504040204" pitchFamily="34" charset="-120"/>
                  <a:ea typeface="微軟正黑體" panose="020B0604030504040204" pitchFamily="34" charset="-120"/>
                </a:endParaRPr>
              </a:p>
            </p:txBody>
          </p:sp>
          <p:sp>
            <p:nvSpPr>
              <p:cNvPr id="52" name="文字方塊 51">
                <a:extLst>
                  <a:ext uri="{FF2B5EF4-FFF2-40B4-BE49-F238E27FC236}">
                    <a16:creationId xmlns:a16="http://schemas.microsoft.com/office/drawing/2014/main" id="{751B193B-1DD9-F8A7-BAF9-331A7D809290}"/>
                  </a:ext>
                </a:extLst>
              </p:cNvPr>
              <p:cNvSpPr txBox="1"/>
              <p:nvPr/>
            </p:nvSpPr>
            <p:spPr>
              <a:xfrm>
                <a:off x="398163" y="1747101"/>
                <a:ext cx="1434905" cy="369332"/>
              </a:xfrm>
              <a:prstGeom prst="rect">
                <a:avLst/>
              </a:prstGeom>
              <a:noFill/>
            </p:spPr>
            <p:txBody>
              <a:bodyPr wrap="square">
                <a:spAutoFit/>
              </a:bodyPr>
              <a:lstStyle/>
              <a:p>
                <a:pPr algn="ctr"/>
                <a:r>
                  <a:rPr lang="en-US" altLang="zh-TW" b="1" dirty="0">
                    <a:latin typeface="微軟正黑體" panose="020B0604030504040204" pitchFamily="34" charset="-120"/>
                    <a:ea typeface="微軟正黑體" panose="020B0604030504040204" pitchFamily="34" charset="-120"/>
                  </a:rPr>
                  <a:t>112/1/8</a:t>
                </a:r>
                <a:endParaRPr lang="zh-TW" altLang="en-US" b="1" dirty="0">
                  <a:latin typeface="微軟正黑體" panose="020B0604030504040204" pitchFamily="34" charset="-120"/>
                  <a:ea typeface="微軟正黑體" panose="020B0604030504040204" pitchFamily="34" charset="-120"/>
                </a:endParaRPr>
              </a:p>
            </p:txBody>
          </p:sp>
        </p:grpSp>
        <p:grpSp>
          <p:nvGrpSpPr>
            <p:cNvPr id="42" name="群組 41"/>
            <p:cNvGrpSpPr/>
            <p:nvPr/>
          </p:nvGrpSpPr>
          <p:grpSpPr>
            <a:xfrm>
              <a:off x="3733225" y="830509"/>
              <a:ext cx="1800200" cy="1274205"/>
              <a:chOff x="215516" y="842228"/>
              <a:chExt cx="1800200" cy="1274205"/>
            </a:xfrm>
          </p:grpSpPr>
          <p:cxnSp>
            <p:nvCxnSpPr>
              <p:cNvPr id="47" name="直線接點 46">
                <a:extLst>
                  <a:ext uri="{FF2B5EF4-FFF2-40B4-BE49-F238E27FC236}">
                    <a16:creationId xmlns:a16="http://schemas.microsoft.com/office/drawing/2014/main" id="{29A72B70-67AF-C216-D652-620E5BAD978F}"/>
                  </a:ext>
                </a:extLst>
              </p:cNvPr>
              <p:cNvCxnSpPr/>
              <p:nvPr/>
            </p:nvCxnSpPr>
            <p:spPr>
              <a:xfrm>
                <a:off x="1115616" y="1451842"/>
                <a:ext cx="0" cy="288032"/>
              </a:xfrm>
              <a:prstGeom prst="line">
                <a:avLst/>
              </a:prstGeom>
              <a:ln w="34925">
                <a:solidFill>
                  <a:schemeClr val="tx1"/>
                </a:solidFill>
              </a:ln>
            </p:spPr>
            <p:style>
              <a:lnRef idx="1">
                <a:schemeClr val="accent2"/>
              </a:lnRef>
              <a:fillRef idx="0">
                <a:schemeClr val="accent2"/>
              </a:fillRef>
              <a:effectRef idx="0">
                <a:schemeClr val="accent2"/>
              </a:effectRef>
              <a:fontRef idx="minor">
                <a:schemeClr val="tx1"/>
              </a:fontRef>
            </p:style>
          </p:cxnSp>
          <p:sp>
            <p:nvSpPr>
              <p:cNvPr id="48" name="文字方塊 47">
                <a:extLst>
                  <a:ext uri="{FF2B5EF4-FFF2-40B4-BE49-F238E27FC236}">
                    <a16:creationId xmlns:a16="http://schemas.microsoft.com/office/drawing/2014/main" id="{D16330D3-1597-CE42-70C9-C18DBC163D5A}"/>
                  </a:ext>
                </a:extLst>
              </p:cNvPr>
              <p:cNvSpPr txBox="1"/>
              <p:nvPr/>
            </p:nvSpPr>
            <p:spPr>
              <a:xfrm>
                <a:off x="215516" y="842228"/>
                <a:ext cx="1800200" cy="646331"/>
              </a:xfrm>
              <a:prstGeom prst="rect">
                <a:avLst/>
              </a:prstGeom>
              <a:noFill/>
            </p:spPr>
            <p:txBody>
              <a:bodyPr wrap="square">
                <a:spAutoFit/>
              </a:bodyPr>
              <a:lstStyle/>
              <a:p>
                <a:pPr algn="ctr"/>
                <a:r>
                  <a:rPr lang="zh-TW" altLang="en-US" b="1" dirty="0">
                    <a:latin typeface="微軟正黑體" panose="020B0604030504040204" pitchFamily="34" charset="-120"/>
                    <a:ea typeface="微軟正黑體" panose="020B0604030504040204" pitchFamily="34" charset="-120"/>
                  </a:rPr>
                  <a:t>甲以發明</a:t>
                </a:r>
                <a:r>
                  <a:rPr lang="en-US" altLang="zh-TW" b="1" dirty="0">
                    <a:latin typeface="微軟正黑體" panose="020B0604030504040204" pitchFamily="34" charset="-120"/>
                    <a:ea typeface="微軟正黑體" panose="020B0604030504040204" pitchFamily="34" charset="-120"/>
                  </a:rPr>
                  <a:t>A</a:t>
                </a:r>
              </a:p>
              <a:p>
                <a:pPr algn="ctr"/>
                <a:r>
                  <a:rPr lang="zh-TW" altLang="en-US" b="1" dirty="0">
                    <a:latin typeface="微軟正黑體" panose="020B0604030504040204" pitchFamily="34" charset="-120"/>
                    <a:ea typeface="微軟正黑體" panose="020B0604030504040204" pitchFamily="34" charset="-120"/>
                  </a:rPr>
                  <a:t>申請專利</a:t>
                </a:r>
              </a:p>
            </p:txBody>
          </p:sp>
          <p:sp>
            <p:nvSpPr>
              <p:cNvPr id="49" name="文字方塊 48">
                <a:extLst>
                  <a:ext uri="{FF2B5EF4-FFF2-40B4-BE49-F238E27FC236}">
                    <a16:creationId xmlns:a16="http://schemas.microsoft.com/office/drawing/2014/main" id="{751B193B-1DD9-F8A7-BAF9-331A7D809290}"/>
                  </a:ext>
                </a:extLst>
              </p:cNvPr>
              <p:cNvSpPr txBox="1"/>
              <p:nvPr/>
            </p:nvSpPr>
            <p:spPr>
              <a:xfrm>
                <a:off x="398163" y="1747101"/>
                <a:ext cx="1434905" cy="369332"/>
              </a:xfrm>
              <a:prstGeom prst="rect">
                <a:avLst/>
              </a:prstGeom>
              <a:noFill/>
            </p:spPr>
            <p:txBody>
              <a:bodyPr wrap="square">
                <a:spAutoFit/>
              </a:bodyPr>
              <a:lstStyle/>
              <a:p>
                <a:pPr algn="ctr"/>
                <a:r>
                  <a:rPr lang="en-US" altLang="zh-TW" b="1" dirty="0">
                    <a:latin typeface="微軟正黑體" panose="020B0604030504040204" pitchFamily="34" charset="-120"/>
                    <a:ea typeface="微軟正黑體" panose="020B0604030504040204" pitchFamily="34" charset="-120"/>
                  </a:rPr>
                  <a:t>113/1/8</a:t>
                </a:r>
                <a:endParaRPr lang="zh-TW" altLang="en-US" b="1" dirty="0">
                  <a:latin typeface="微軟正黑體" panose="020B0604030504040204" pitchFamily="34" charset="-120"/>
                  <a:ea typeface="微軟正黑體" panose="020B0604030504040204" pitchFamily="34" charset="-120"/>
                </a:endParaRPr>
              </a:p>
            </p:txBody>
          </p:sp>
        </p:grpSp>
        <p:grpSp>
          <p:nvGrpSpPr>
            <p:cNvPr id="43" name="群組 42"/>
            <p:cNvGrpSpPr/>
            <p:nvPr/>
          </p:nvGrpSpPr>
          <p:grpSpPr>
            <a:xfrm>
              <a:off x="5580112" y="847795"/>
              <a:ext cx="1800200" cy="1252391"/>
              <a:chOff x="1945690" y="847687"/>
              <a:chExt cx="1800200" cy="1252391"/>
            </a:xfrm>
          </p:grpSpPr>
          <p:cxnSp>
            <p:nvCxnSpPr>
              <p:cNvPr id="44" name="直線接點 43">
                <a:extLst>
                  <a:ext uri="{FF2B5EF4-FFF2-40B4-BE49-F238E27FC236}">
                    <a16:creationId xmlns:a16="http://schemas.microsoft.com/office/drawing/2014/main" id="{AE77A9CB-E1A7-5446-022C-5647ECA3E2E3}"/>
                  </a:ext>
                </a:extLst>
              </p:cNvPr>
              <p:cNvCxnSpPr/>
              <p:nvPr/>
            </p:nvCxnSpPr>
            <p:spPr>
              <a:xfrm>
                <a:off x="2845790" y="1434730"/>
                <a:ext cx="0" cy="288032"/>
              </a:xfrm>
              <a:prstGeom prst="line">
                <a:avLst/>
              </a:prstGeom>
              <a:ln w="34925"/>
            </p:spPr>
            <p:style>
              <a:lnRef idx="1">
                <a:schemeClr val="accent2"/>
              </a:lnRef>
              <a:fillRef idx="0">
                <a:schemeClr val="accent2"/>
              </a:fillRef>
              <a:effectRef idx="0">
                <a:schemeClr val="accent2"/>
              </a:effectRef>
              <a:fontRef idx="minor">
                <a:schemeClr val="tx1"/>
              </a:fontRef>
            </p:style>
          </p:cxnSp>
          <p:sp>
            <p:nvSpPr>
              <p:cNvPr id="45" name="文字方塊 44">
                <a:extLst>
                  <a:ext uri="{FF2B5EF4-FFF2-40B4-BE49-F238E27FC236}">
                    <a16:creationId xmlns:a16="http://schemas.microsoft.com/office/drawing/2014/main" id="{E4719584-4998-495E-29B5-AD52C88FC9BC}"/>
                  </a:ext>
                </a:extLst>
              </p:cNvPr>
              <p:cNvSpPr txBox="1"/>
              <p:nvPr/>
            </p:nvSpPr>
            <p:spPr>
              <a:xfrm>
                <a:off x="2070713" y="847687"/>
                <a:ext cx="1550154" cy="646331"/>
              </a:xfrm>
              <a:prstGeom prst="rect">
                <a:avLst/>
              </a:prstGeom>
              <a:noFill/>
            </p:spPr>
            <p:txBody>
              <a:bodyPr wrap="square">
                <a:spAutoFit/>
              </a:bodyPr>
              <a:lstStyle/>
              <a:p>
                <a:pPr algn="ctr"/>
                <a:r>
                  <a:rPr lang="zh-TW" altLang="en-US" b="1" dirty="0">
                    <a:solidFill>
                      <a:srgbClr val="FF0000"/>
                    </a:solidFill>
                    <a:latin typeface="微軟正黑體" panose="020B0604030504040204" pitchFamily="34" charset="-120"/>
                    <a:ea typeface="微軟正黑體" panose="020B0604030504040204" pitchFamily="34" charset="-120"/>
                  </a:rPr>
                  <a:t>乙以發明</a:t>
                </a:r>
                <a:r>
                  <a:rPr lang="en-US" altLang="zh-TW" b="1" dirty="0">
                    <a:solidFill>
                      <a:srgbClr val="FF0000"/>
                    </a:solidFill>
                    <a:latin typeface="微軟正黑體" panose="020B0604030504040204" pitchFamily="34" charset="-120"/>
                    <a:ea typeface="微軟正黑體" panose="020B0604030504040204" pitchFamily="34" charset="-120"/>
                  </a:rPr>
                  <a:t>A</a:t>
                </a:r>
              </a:p>
              <a:p>
                <a:pPr algn="ctr"/>
                <a:r>
                  <a:rPr lang="zh-TW" altLang="en-US" b="1" dirty="0">
                    <a:solidFill>
                      <a:srgbClr val="FF0000"/>
                    </a:solidFill>
                    <a:latin typeface="微軟正黑體" panose="020B0604030504040204" pitchFamily="34" charset="-120"/>
                    <a:ea typeface="微軟正黑體" panose="020B0604030504040204" pitchFamily="34" charset="-120"/>
                  </a:rPr>
                  <a:t>申請專利</a:t>
                </a:r>
              </a:p>
            </p:txBody>
          </p:sp>
          <p:sp>
            <p:nvSpPr>
              <p:cNvPr id="46" name="文字方塊 45">
                <a:extLst>
                  <a:ext uri="{FF2B5EF4-FFF2-40B4-BE49-F238E27FC236}">
                    <a16:creationId xmlns:a16="http://schemas.microsoft.com/office/drawing/2014/main" id="{180031A8-A259-7BA4-73ED-A62B333EDAC8}"/>
                  </a:ext>
                </a:extLst>
              </p:cNvPr>
              <p:cNvSpPr txBox="1"/>
              <p:nvPr/>
            </p:nvSpPr>
            <p:spPr>
              <a:xfrm>
                <a:off x="1945690" y="1730746"/>
                <a:ext cx="1800200" cy="369332"/>
              </a:xfrm>
              <a:prstGeom prst="rect">
                <a:avLst/>
              </a:prstGeom>
              <a:noFill/>
            </p:spPr>
            <p:txBody>
              <a:bodyPr wrap="square">
                <a:spAutoFit/>
              </a:bodyPr>
              <a:lstStyle/>
              <a:p>
                <a:pPr algn="ctr"/>
                <a:r>
                  <a:rPr lang="en-US" altLang="zh-TW" b="1" dirty="0">
                    <a:solidFill>
                      <a:srgbClr val="FF0000"/>
                    </a:solidFill>
                    <a:latin typeface="微軟正黑體" panose="020B0604030504040204" pitchFamily="34" charset="-120"/>
                    <a:ea typeface="微軟正黑體" panose="020B0604030504040204" pitchFamily="34" charset="-120"/>
                  </a:rPr>
                  <a:t>113/6/1</a:t>
                </a:r>
                <a:endParaRPr lang="zh-TW" altLang="en-US" b="1" dirty="0">
                  <a:solidFill>
                    <a:srgbClr val="FF0000"/>
                  </a:solidFill>
                  <a:latin typeface="微軟正黑體" panose="020B0604030504040204" pitchFamily="34" charset="-120"/>
                  <a:ea typeface="微軟正黑體" panose="020B0604030504040204" pitchFamily="34" charset="-120"/>
                </a:endParaRPr>
              </a:p>
            </p:txBody>
          </p:sp>
        </p:grpSp>
      </p:grpSp>
    </p:spTree>
    <p:extLst>
      <p:ext uri="{BB962C8B-B14F-4D97-AF65-F5344CB8AC3E}">
        <p14:creationId xmlns:p14="http://schemas.microsoft.com/office/powerpoint/2010/main" val="33623320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DE3E5D12-4A7C-4174-04B4-E44BB42ED13F}"/>
              </a:ext>
            </a:extLst>
          </p:cNvPr>
          <p:cNvSpPr>
            <a:spLocks noGrp="1"/>
          </p:cNvSpPr>
          <p:nvPr>
            <p:ph type="title"/>
          </p:nvPr>
        </p:nvSpPr>
        <p:spPr/>
        <p:txBody>
          <a:bodyPr/>
          <a:lstStyle/>
          <a:p>
            <a:r>
              <a:rPr lang="zh-TW" altLang="en-US" dirty="0"/>
              <a:t>喪失新穎性或進步性之例外</a:t>
            </a:r>
          </a:p>
        </p:txBody>
      </p:sp>
      <p:sp>
        <p:nvSpPr>
          <p:cNvPr id="10" name="內容版面配置區 9">
            <a:extLst>
              <a:ext uri="{FF2B5EF4-FFF2-40B4-BE49-F238E27FC236}">
                <a16:creationId xmlns:a16="http://schemas.microsoft.com/office/drawing/2014/main" id="{B942D791-A400-700D-0362-EC57CF9F37C8}"/>
              </a:ext>
            </a:extLst>
          </p:cNvPr>
          <p:cNvSpPr>
            <a:spLocks noGrp="1"/>
          </p:cNvSpPr>
          <p:nvPr>
            <p:ph idx="1"/>
          </p:nvPr>
        </p:nvSpPr>
        <p:spPr>
          <a:xfrm>
            <a:off x="457200" y="980727"/>
            <a:ext cx="8229600" cy="5740747"/>
          </a:xfrm>
        </p:spPr>
        <p:txBody>
          <a:bodyPr>
            <a:normAutofit fontScale="77500" lnSpcReduction="20000"/>
          </a:bodyPr>
          <a:lstStyle/>
          <a:p>
            <a:pPr algn="just">
              <a:lnSpc>
                <a:spcPct val="120000"/>
              </a:lnSpc>
            </a:pPr>
            <a:r>
              <a:rPr lang="zh-TW" altLang="en-US" dirty="0"/>
              <a:t>公開之事實，若有「密不可分」之關係，亦即最早之公開事實與其後公開事實具有密切關聯，則申請人</a:t>
            </a:r>
            <a:r>
              <a:rPr lang="zh-TW" altLang="en-US" b="1" dirty="0"/>
              <a:t>僅須提供最早公開之事實的證明文件</a:t>
            </a:r>
            <a:r>
              <a:rPr lang="zh-TW" altLang="en-US" dirty="0"/>
              <a:t>，無須另提供其後公開之事實的證明文件</a:t>
            </a:r>
            <a:endParaRPr lang="en-US" altLang="zh-TW" dirty="0"/>
          </a:p>
          <a:p>
            <a:pPr algn="just">
              <a:lnSpc>
                <a:spcPct val="120000"/>
              </a:lnSpc>
            </a:pPr>
            <a:r>
              <a:rPr lang="zh-TW" altLang="en-US" dirty="0"/>
              <a:t>「密不可分」之關係，示例</a:t>
            </a:r>
            <a:endParaRPr lang="en-US" altLang="zh-TW" dirty="0"/>
          </a:p>
          <a:p>
            <a:pPr marL="457200" lvl="1" indent="0" algn="just">
              <a:lnSpc>
                <a:spcPct val="120000"/>
              </a:lnSpc>
              <a:buNone/>
            </a:pPr>
            <a:r>
              <a:rPr lang="en-US" altLang="zh-TW" dirty="0"/>
              <a:t>(1)</a:t>
            </a:r>
            <a:r>
              <a:rPr lang="zh-TW" altLang="en-US" dirty="0"/>
              <a:t>連續數日進行之實驗。</a:t>
            </a:r>
            <a:endParaRPr lang="en-US" altLang="zh-TW" dirty="0"/>
          </a:p>
          <a:p>
            <a:pPr marL="457200" lvl="1" indent="0" algn="just">
              <a:lnSpc>
                <a:spcPct val="120000"/>
              </a:lnSpc>
              <a:buNone/>
            </a:pPr>
            <a:r>
              <a:rPr lang="en-US" altLang="zh-TW" dirty="0"/>
              <a:t>(2)</a:t>
            </a:r>
            <a:r>
              <a:rPr lang="zh-TW" altLang="en-US" dirty="0"/>
              <a:t>公開實驗及其當場散佈之說明書。</a:t>
            </a:r>
            <a:endParaRPr lang="en-US" altLang="zh-TW" dirty="0"/>
          </a:p>
          <a:p>
            <a:pPr marL="457200" lvl="1" indent="0" algn="just">
              <a:lnSpc>
                <a:spcPct val="120000"/>
              </a:lnSpc>
              <a:buNone/>
            </a:pPr>
            <a:r>
              <a:rPr lang="en-US" altLang="zh-TW" dirty="0"/>
              <a:t>(3)</a:t>
            </a:r>
            <a:r>
              <a:rPr lang="zh-TW" altLang="en-US" dirty="0"/>
              <a:t>刊物的初版及再版。 </a:t>
            </a:r>
            <a:endParaRPr lang="en-US" altLang="zh-TW" dirty="0"/>
          </a:p>
          <a:p>
            <a:pPr marL="457200" lvl="1" indent="0" algn="just">
              <a:lnSpc>
                <a:spcPct val="120000"/>
              </a:lnSpc>
              <a:buNone/>
            </a:pPr>
            <a:r>
              <a:rPr lang="en-US" altLang="zh-TW" dirty="0"/>
              <a:t>(4)</a:t>
            </a:r>
            <a:r>
              <a:rPr lang="zh-TW" altLang="en-US" dirty="0"/>
              <a:t>研討會之論文發表及其後據此發行之論文集。 </a:t>
            </a:r>
            <a:endParaRPr lang="en-US" altLang="zh-TW" dirty="0"/>
          </a:p>
          <a:p>
            <a:pPr marL="457200" lvl="1" indent="0" algn="just">
              <a:lnSpc>
                <a:spcPct val="120000"/>
              </a:lnSpc>
              <a:buNone/>
            </a:pPr>
            <a:r>
              <a:rPr lang="en-US" altLang="zh-TW" dirty="0"/>
              <a:t>(5)</a:t>
            </a:r>
            <a:r>
              <a:rPr lang="zh-TW" altLang="en-US" dirty="0"/>
              <a:t>同一展覽會之巡迴展出。 </a:t>
            </a:r>
            <a:endParaRPr lang="en-US" altLang="zh-TW" dirty="0"/>
          </a:p>
          <a:p>
            <a:pPr marL="457200" lvl="1" indent="0" algn="just">
              <a:lnSpc>
                <a:spcPct val="120000"/>
              </a:lnSpc>
              <a:buNone/>
            </a:pPr>
            <a:r>
              <a:rPr lang="en-US" altLang="zh-TW" dirty="0"/>
              <a:t>(6)</a:t>
            </a:r>
            <a:r>
              <a:rPr lang="zh-TW" altLang="en-US" dirty="0"/>
              <a:t>展覽會之陳列及其後發行之參展型錄。 </a:t>
            </a:r>
            <a:endParaRPr lang="en-US" altLang="zh-TW" dirty="0"/>
          </a:p>
          <a:p>
            <a:pPr marL="457200" lvl="1" indent="0" algn="just">
              <a:lnSpc>
                <a:spcPct val="120000"/>
              </a:lnSpc>
              <a:buNone/>
            </a:pPr>
            <a:r>
              <a:rPr lang="en-US" altLang="zh-TW" dirty="0"/>
              <a:t>(7)</a:t>
            </a:r>
            <a:r>
              <a:rPr lang="zh-TW" altLang="en-US" dirty="0"/>
              <a:t>同一論文於出版社網頁之先行發表及其後於該出版社之刊物發表。</a:t>
            </a:r>
            <a:endParaRPr lang="en-US" altLang="zh-TW" dirty="0"/>
          </a:p>
          <a:p>
            <a:pPr marL="457200" lvl="1" indent="0" algn="just">
              <a:lnSpc>
                <a:spcPct val="120000"/>
              </a:lnSpc>
              <a:buNone/>
            </a:pPr>
            <a:r>
              <a:rPr lang="en-US" altLang="zh-TW" dirty="0"/>
              <a:t>(8)</a:t>
            </a:r>
            <a:r>
              <a:rPr lang="zh-TW" altLang="en-US" dirty="0"/>
              <a:t>學位論文之發表及該論文於圖書館之陳列。</a:t>
            </a:r>
            <a:endParaRPr lang="en-US" altLang="zh-TW" b="1" dirty="0"/>
          </a:p>
        </p:txBody>
      </p:sp>
      <p:sp>
        <p:nvSpPr>
          <p:cNvPr id="4" name="投影片編號版面配置區 3">
            <a:extLst>
              <a:ext uri="{FF2B5EF4-FFF2-40B4-BE49-F238E27FC236}">
                <a16:creationId xmlns:a16="http://schemas.microsoft.com/office/drawing/2014/main" id="{6FC7DF09-C58A-C465-986F-15725E792F06}"/>
              </a:ext>
            </a:extLst>
          </p:cNvPr>
          <p:cNvSpPr>
            <a:spLocks noGrp="1"/>
          </p:cNvSpPr>
          <p:nvPr>
            <p:ph type="sldNum" sz="quarter" idx="12"/>
          </p:nvPr>
        </p:nvSpPr>
        <p:spPr>
          <a:xfrm>
            <a:off x="6948264" y="6356350"/>
            <a:ext cx="2133600" cy="365125"/>
          </a:xfrm>
        </p:spPr>
        <p:txBody>
          <a:bodyPr/>
          <a:lstStyle/>
          <a:p>
            <a:fld id="{254D4C32-7A1A-45A5-84ED-81747F1ABFAE}" type="slidenum">
              <a:rPr lang="zh-TW" altLang="en-US" smtClean="0"/>
              <a:t>37</a:t>
            </a:fld>
            <a:endParaRPr lang="zh-TW" altLang="en-US" dirty="0"/>
          </a:p>
        </p:txBody>
      </p:sp>
    </p:spTree>
    <p:extLst>
      <p:ext uri="{BB962C8B-B14F-4D97-AF65-F5344CB8AC3E}">
        <p14:creationId xmlns:p14="http://schemas.microsoft.com/office/powerpoint/2010/main" val="2307453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pPr>
              <a:defRPr/>
            </a:pPr>
            <a:fld id="{B83ACBEE-1837-4398-8376-AF0F7C4E2424}" type="slidenum">
              <a:rPr lang="zh-TW" altLang="en-US" smtClean="0">
                <a:solidFill>
                  <a:prstClr val="black">
                    <a:tint val="75000"/>
                  </a:prstClr>
                </a:solidFill>
              </a:rPr>
              <a:pPr>
                <a:defRPr/>
              </a:pPr>
              <a:t>38</a:t>
            </a:fld>
            <a:endParaRPr lang="zh-TW" altLang="en-US">
              <a:solidFill>
                <a:prstClr val="black">
                  <a:tint val="75000"/>
                </a:prstClr>
              </a:solidFill>
            </a:endParaRPr>
          </a:p>
        </p:txBody>
      </p:sp>
      <p:sp>
        <p:nvSpPr>
          <p:cNvPr id="6" name="標題 4"/>
          <p:cNvSpPr txBox="1">
            <a:spLocks/>
          </p:cNvSpPr>
          <p:nvPr/>
        </p:nvSpPr>
        <p:spPr>
          <a:xfrm>
            <a:off x="722313" y="4406900"/>
            <a:ext cx="7772400" cy="136207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800" b="1" kern="1200">
                <a:solidFill>
                  <a:schemeClr val="tx1"/>
                </a:solidFill>
                <a:latin typeface="微軟正黑體" pitchFamily="34" charset="-120"/>
                <a:ea typeface="微軟正黑體" pitchFamily="34" charset="-120"/>
                <a:cs typeface="+mj-cs"/>
              </a:defRPr>
            </a:lvl1pPr>
          </a:lstStyle>
          <a:p>
            <a:pPr algn="l"/>
            <a:r>
              <a:rPr lang="zh-TW" altLang="en-US" sz="5400" dirty="0"/>
              <a:t>先申請原則</a:t>
            </a:r>
          </a:p>
        </p:txBody>
      </p:sp>
    </p:spTree>
    <p:extLst>
      <p:ext uri="{BB962C8B-B14F-4D97-AF65-F5344CB8AC3E}">
        <p14:creationId xmlns:p14="http://schemas.microsoft.com/office/powerpoint/2010/main" val="39066797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DE3E5D12-4A7C-4174-04B4-E44BB42ED13F}"/>
              </a:ext>
            </a:extLst>
          </p:cNvPr>
          <p:cNvSpPr>
            <a:spLocks noGrp="1"/>
          </p:cNvSpPr>
          <p:nvPr>
            <p:ph type="title"/>
          </p:nvPr>
        </p:nvSpPr>
        <p:spPr/>
        <p:txBody>
          <a:bodyPr/>
          <a:lstStyle/>
          <a:p>
            <a:r>
              <a:rPr lang="zh-TW" altLang="en-US" dirty="0"/>
              <a:t>先申請原則</a:t>
            </a:r>
          </a:p>
        </p:txBody>
      </p:sp>
      <p:sp>
        <p:nvSpPr>
          <p:cNvPr id="10" name="內容版面配置區 9">
            <a:extLst>
              <a:ext uri="{FF2B5EF4-FFF2-40B4-BE49-F238E27FC236}">
                <a16:creationId xmlns:a16="http://schemas.microsoft.com/office/drawing/2014/main" id="{B942D791-A400-700D-0362-EC57CF9F37C8}"/>
              </a:ext>
            </a:extLst>
          </p:cNvPr>
          <p:cNvSpPr>
            <a:spLocks noGrp="1"/>
          </p:cNvSpPr>
          <p:nvPr>
            <p:ph idx="1"/>
          </p:nvPr>
        </p:nvSpPr>
        <p:spPr>
          <a:xfrm>
            <a:off x="457200" y="980728"/>
            <a:ext cx="8229600" cy="2880320"/>
          </a:xfrm>
        </p:spPr>
        <p:txBody>
          <a:bodyPr>
            <a:normAutofit fontScale="70000" lnSpcReduction="20000"/>
          </a:bodyPr>
          <a:lstStyle/>
          <a:p>
            <a:pPr>
              <a:lnSpc>
                <a:spcPct val="120000"/>
              </a:lnSpc>
            </a:pPr>
            <a:r>
              <a:rPr lang="zh-TW" altLang="en-US" dirty="0"/>
              <a:t>專利法第</a:t>
            </a:r>
            <a:r>
              <a:rPr lang="en-US" altLang="zh-TW" dirty="0"/>
              <a:t>31</a:t>
            </a:r>
            <a:r>
              <a:rPr lang="zh-TW" altLang="en-US" dirty="0"/>
              <a:t>條第</a:t>
            </a:r>
            <a:r>
              <a:rPr lang="en-US" altLang="zh-TW" dirty="0"/>
              <a:t>1</a:t>
            </a:r>
            <a:r>
              <a:rPr lang="zh-TW" altLang="en-US" dirty="0"/>
              <a:t>項</a:t>
            </a:r>
            <a:endParaRPr lang="en-US" altLang="zh-TW" dirty="0"/>
          </a:p>
          <a:p>
            <a:pPr lvl="1">
              <a:lnSpc>
                <a:spcPct val="120000"/>
              </a:lnSpc>
            </a:pPr>
            <a:r>
              <a:rPr lang="zh-TW" altLang="en-US" b="1" dirty="0"/>
              <a:t>相同發明</a:t>
            </a:r>
            <a:r>
              <a:rPr lang="zh-TW" altLang="en-US" dirty="0"/>
              <a:t>有二以上專利申請案時，僅得就其</a:t>
            </a:r>
            <a:r>
              <a:rPr lang="zh-TW" altLang="en-US" b="1" dirty="0"/>
              <a:t>最先申請者准予發明專利</a:t>
            </a:r>
            <a:r>
              <a:rPr lang="zh-TW" altLang="en-US" dirty="0"/>
              <a:t>。但後申請者所主張之優先權日早於先申請者之申請日者，不在此限。</a:t>
            </a:r>
            <a:endParaRPr lang="en-US" altLang="zh-TW" dirty="0"/>
          </a:p>
          <a:p>
            <a:pPr>
              <a:lnSpc>
                <a:spcPct val="120000"/>
              </a:lnSpc>
            </a:pPr>
            <a:r>
              <a:rPr lang="zh-TW" altLang="en-US" dirty="0"/>
              <a:t>專利法第</a:t>
            </a:r>
            <a:r>
              <a:rPr lang="en-US" altLang="zh-TW" dirty="0"/>
              <a:t>31</a:t>
            </a:r>
            <a:r>
              <a:rPr lang="zh-TW" altLang="en-US" dirty="0"/>
              <a:t>條第</a:t>
            </a:r>
            <a:r>
              <a:rPr lang="en-US" altLang="zh-TW" dirty="0"/>
              <a:t>2</a:t>
            </a:r>
            <a:r>
              <a:rPr lang="zh-TW" altLang="en-US" dirty="0"/>
              <a:t>項</a:t>
            </a:r>
            <a:endParaRPr lang="en-US" altLang="zh-TW" dirty="0"/>
          </a:p>
          <a:p>
            <a:pPr lvl="1">
              <a:lnSpc>
                <a:spcPct val="120000"/>
              </a:lnSpc>
            </a:pPr>
            <a:r>
              <a:rPr lang="zh-TW" altLang="en-US" dirty="0"/>
              <a:t>前項申請日、優先權日為同日者，應通知申請人</a:t>
            </a:r>
            <a:r>
              <a:rPr lang="zh-TW" altLang="en-US" b="1" dirty="0"/>
              <a:t>協議</a:t>
            </a:r>
            <a:r>
              <a:rPr lang="zh-TW" altLang="en-US" dirty="0"/>
              <a:t>定之，協議不成時，均不予發明專利；其申請人為同一人時，應通知申請人限期</a:t>
            </a:r>
            <a:r>
              <a:rPr lang="zh-TW" altLang="en-US" b="1" dirty="0"/>
              <a:t>擇一</a:t>
            </a:r>
            <a:r>
              <a:rPr lang="zh-TW" altLang="en-US" dirty="0"/>
              <a:t>申請，屆期未擇一申請者，均不予發明專利。</a:t>
            </a:r>
            <a:endParaRPr lang="en-US" altLang="zh-TW" dirty="0"/>
          </a:p>
        </p:txBody>
      </p:sp>
      <p:sp>
        <p:nvSpPr>
          <p:cNvPr id="4" name="投影片編號版面配置區 3">
            <a:extLst>
              <a:ext uri="{FF2B5EF4-FFF2-40B4-BE49-F238E27FC236}">
                <a16:creationId xmlns:a16="http://schemas.microsoft.com/office/drawing/2014/main" id="{6FC7DF09-C58A-C465-986F-15725E792F06}"/>
              </a:ext>
            </a:extLst>
          </p:cNvPr>
          <p:cNvSpPr>
            <a:spLocks noGrp="1"/>
          </p:cNvSpPr>
          <p:nvPr>
            <p:ph type="sldNum" sz="quarter" idx="12"/>
          </p:nvPr>
        </p:nvSpPr>
        <p:spPr>
          <a:xfrm>
            <a:off x="6948264" y="6356350"/>
            <a:ext cx="2133600" cy="365125"/>
          </a:xfrm>
        </p:spPr>
        <p:txBody>
          <a:bodyPr/>
          <a:lstStyle/>
          <a:p>
            <a:fld id="{254D4C32-7A1A-45A5-84ED-81747F1ABFAE}" type="slidenum">
              <a:rPr lang="zh-TW" altLang="en-US" smtClean="0"/>
              <a:t>39</a:t>
            </a:fld>
            <a:endParaRPr lang="zh-TW" altLang="en-US" dirty="0"/>
          </a:p>
        </p:txBody>
      </p:sp>
      <p:sp>
        <p:nvSpPr>
          <p:cNvPr id="11" name="文字方塊 10">
            <a:extLst>
              <a:ext uri="{FF2B5EF4-FFF2-40B4-BE49-F238E27FC236}">
                <a16:creationId xmlns:a16="http://schemas.microsoft.com/office/drawing/2014/main" id="{6F2FD330-DFAC-16D0-204C-3BE3E0BAD8AD}"/>
              </a:ext>
            </a:extLst>
          </p:cNvPr>
          <p:cNvSpPr txBox="1"/>
          <p:nvPr/>
        </p:nvSpPr>
        <p:spPr>
          <a:xfrm>
            <a:off x="755576" y="4078383"/>
            <a:ext cx="1656184" cy="646331"/>
          </a:xfrm>
          <a:prstGeom prst="rect">
            <a:avLst/>
          </a:prstGeom>
          <a:effectLst>
            <a:outerShdw blurRad="40000" dist="20000" dir="5400000" rotWithShape="0">
              <a:srgbClr val="000000">
                <a:alpha val="38000"/>
              </a:srgbClr>
            </a:outerShdw>
            <a:softEdge rad="0"/>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TW" altLang="en-US" dirty="0">
                <a:latin typeface="微軟正黑體" panose="020B0604030504040204" pitchFamily="34" charset="-120"/>
                <a:ea typeface="微軟正黑體" panose="020B0604030504040204" pitchFamily="34" charset="-120"/>
              </a:rPr>
              <a:t>專利權之</a:t>
            </a:r>
            <a:endParaRPr lang="en-US" altLang="zh-TW" dirty="0">
              <a:latin typeface="微軟正黑體" panose="020B0604030504040204" pitchFamily="34" charset="-120"/>
              <a:ea typeface="微軟正黑體" panose="020B0604030504040204" pitchFamily="34" charset="-120"/>
            </a:endParaRPr>
          </a:p>
          <a:p>
            <a:pPr algn="ctr"/>
            <a:r>
              <a:rPr lang="zh-TW" altLang="en-US" dirty="0">
                <a:latin typeface="微軟正黑體" panose="020B0604030504040204" pitchFamily="34" charset="-120"/>
                <a:ea typeface="微軟正黑體" panose="020B0604030504040204" pitchFamily="34" charset="-120"/>
              </a:rPr>
              <a:t>專有排他性</a:t>
            </a:r>
          </a:p>
        </p:txBody>
      </p:sp>
      <p:pic>
        <p:nvPicPr>
          <p:cNvPr id="1026" name="Picture 2" descr="证书文凭程度- Pixabay上的免费图片- Pixabay">
            <a:extLst>
              <a:ext uri="{FF2B5EF4-FFF2-40B4-BE49-F238E27FC236}">
                <a16:creationId xmlns:a16="http://schemas.microsoft.com/office/drawing/2014/main" id="{2FA79A39-060A-D910-AF8E-DCC21B2EC0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164288" y="3717032"/>
            <a:ext cx="1039977" cy="150257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证书文凭程度- Pixabay上的免费图片- Pixabay">
            <a:extLst>
              <a:ext uri="{FF2B5EF4-FFF2-40B4-BE49-F238E27FC236}">
                <a16:creationId xmlns:a16="http://schemas.microsoft.com/office/drawing/2014/main" id="{47B6DFC2-208F-4AA8-2563-7E07F200161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186575" y="5634398"/>
            <a:ext cx="1039977" cy="150257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证书文凭程度- Pixabay上的免费图片- Pixabay">
            <a:extLst>
              <a:ext uri="{FF2B5EF4-FFF2-40B4-BE49-F238E27FC236}">
                <a16:creationId xmlns:a16="http://schemas.microsoft.com/office/drawing/2014/main" id="{64B80E85-5D4F-5AA9-7DAA-84D451295089}"/>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735244" y="4542352"/>
            <a:ext cx="1039977" cy="150257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伙伴商业会议- Pixabay上的免费图片- Pixabay">
            <a:extLst>
              <a:ext uri="{FF2B5EF4-FFF2-40B4-BE49-F238E27FC236}">
                <a16:creationId xmlns:a16="http://schemas.microsoft.com/office/drawing/2014/main" id="{851A0809-DACF-DD5E-F621-21F9FA33AA77}"/>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944332" y="3998207"/>
            <a:ext cx="2348880" cy="2348880"/>
          </a:xfrm>
          <a:prstGeom prst="rect">
            <a:avLst/>
          </a:prstGeom>
          <a:noFill/>
          <a:extLst>
            <a:ext uri="{909E8E84-426E-40DD-AFC4-6F175D3DCCD1}">
              <a14:hiddenFill xmlns:a14="http://schemas.microsoft.com/office/drawing/2010/main">
                <a:solidFill>
                  <a:srgbClr val="FFFFFF"/>
                </a:solidFill>
              </a14:hiddenFill>
            </a:ext>
          </a:extLst>
        </p:spPr>
      </p:pic>
      <p:sp>
        <p:nvSpPr>
          <p:cNvPr id="14" name="文字方塊 13">
            <a:extLst>
              <a:ext uri="{FF2B5EF4-FFF2-40B4-BE49-F238E27FC236}">
                <a16:creationId xmlns:a16="http://schemas.microsoft.com/office/drawing/2014/main" id="{F89FCEA6-8F43-F8DF-8499-24D42D676115}"/>
              </a:ext>
            </a:extLst>
          </p:cNvPr>
          <p:cNvSpPr txBox="1"/>
          <p:nvPr/>
        </p:nvSpPr>
        <p:spPr>
          <a:xfrm>
            <a:off x="755576" y="5265066"/>
            <a:ext cx="1656183" cy="36933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zh-TW" altLang="en-US" dirty="0">
                <a:latin typeface="微軟正黑體" panose="020B0604030504040204" pitchFamily="34" charset="-120"/>
                <a:ea typeface="微軟正黑體" panose="020B0604030504040204" pitchFamily="34" charset="-120"/>
              </a:rPr>
              <a:t>先申請原則</a:t>
            </a:r>
          </a:p>
        </p:txBody>
      </p:sp>
      <p:sp>
        <p:nvSpPr>
          <p:cNvPr id="15" name="箭號: 燕尾形向右 14">
            <a:extLst>
              <a:ext uri="{FF2B5EF4-FFF2-40B4-BE49-F238E27FC236}">
                <a16:creationId xmlns:a16="http://schemas.microsoft.com/office/drawing/2014/main" id="{2F76E324-3435-7093-D3A2-71E356194EC6}"/>
              </a:ext>
            </a:extLst>
          </p:cNvPr>
          <p:cNvSpPr/>
          <p:nvPr/>
        </p:nvSpPr>
        <p:spPr>
          <a:xfrm rot="5400000">
            <a:off x="1473923" y="4756489"/>
            <a:ext cx="299472" cy="484632"/>
          </a:xfrm>
          <a:prstGeom prst="notchedRightArrow">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TW" altLang="en-US" b="1">
              <a:ln w="22225">
                <a:solidFill>
                  <a:schemeClr val="accent2"/>
                </a:solidFill>
                <a:prstDash val="solid"/>
              </a:ln>
              <a:solidFill>
                <a:schemeClr val="accent2">
                  <a:lumMod val="40000"/>
                  <a:lumOff val="60000"/>
                </a:schemeClr>
              </a:solidFill>
            </a:endParaRPr>
          </a:p>
        </p:txBody>
      </p:sp>
      <p:sp>
        <p:nvSpPr>
          <p:cNvPr id="17" name="文字方塊 16">
            <a:extLst>
              <a:ext uri="{FF2B5EF4-FFF2-40B4-BE49-F238E27FC236}">
                <a16:creationId xmlns:a16="http://schemas.microsoft.com/office/drawing/2014/main" id="{CE5BF5A6-4B09-8893-DB97-71B38CC361D5}"/>
              </a:ext>
            </a:extLst>
          </p:cNvPr>
          <p:cNvSpPr txBox="1"/>
          <p:nvPr/>
        </p:nvSpPr>
        <p:spPr>
          <a:xfrm>
            <a:off x="8035524" y="4098988"/>
            <a:ext cx="557808" cy="646331"/>
          </a:xfrm>
          <a:prstGeom prst="rect">
            <a:avLst/>
          </a:prstGeom>
          <a:noFill/>
        </p:spPr>
        <p:txBody>
          <a:bodyPr wrap="square">
            <a:spAutoFit/>
          </a:bodyPr>
          <a:lstStyle/>
          <a:p>
            <a:r>
              <a:rPr lang="zh-TW" altLang="en-US" sz="3600" b="1" dirty="0">
                <a:solidFill>
                  <a:srgbClr val="FF0000"/>
                </a:solidFill>
                <a:latin typeface="Pristina" panose="03060402040406080204" pitchFamily="66" charset="0"/>
              </a:rPr>
              <a:t>√</a:t>
            </a:r>
          </a:p>
        </p:txBody>
      </p:sp>
      <p:sp>
        <p:nvSpPr>
          <p:cNvPr id="19" name="文字方塊 18">
            <a:extLst>
              <a:ext uri="{FF2B5EF4-FFF2-40B4-BE49-F238E27FC236}">
                <a16:creationId xmlns:a16="http://schemas.microsoft.com/office/drawing/2014/main" id="{9204899E-3ACE-1E39-FFB1-128723CD4F40}"/>
              </a:ext>
            </a:extLst>
          </p:cNvPr>
          <p:cNvSpPr txBox="1"/>
          <p:nvPr/>
        </p:nvSpPr>
        <p:spPr>
          <a:xfrm>
            <a:off x="3506058" y="6299580"/>
            <a:ext cx="1338780" cy="369332"/>
          </a:xfrm>
          <a:prstGeom prst="rect">
            <a:avLst/>
          </a:prstGeom>
          <a:noFill/>
        </p:spPr>
        <p:txBody>
          <a:bodyPr wrap="square">
            <a:spAutoFit/>
          </a:bodyPr>
          <a:lstStyle/>
          <a:p>
            <a:r>
              <a:rPr lang="zh-TW" altLang="en-US" b="1" dirty="0">
                <a:latin typeface="微軟正黑體" panose="020B0604030504040204" pitchFamily="34" charset="-120"/>
                <a:ea typeface="微軟正黑體" panose="020B0604030504040204" pitchFamily="34" charset="-120"/>
              </a:rPr>
              <a:t>協議、擇一</a:t>
            </a:r>
            <a:endParaRPr lang="zh-TW" altLang="en-US" dirty="0">
              <a:latin typeface="微軟正黑體" panose="020B0604030504040204" pitchFamily="34" charset="-120"/>
              <a:ea typeface="微軟正黑體" panose="020B0604030504040204" pitchFamily="34" charset="-120"/>
            </a:endParaRPr>
          </a:p>
        </p:txBody>
      </p:sp>
      <p:sp>
        <p:nvSpPr>
          <p:cNvPr id="16" name="文字方塊 15">
            <a:extLst>
              <a:ext uri="{FF2B5EF4-FFF2-40B4-BE49-F238E27FC236}">
                <a16:creationId xmlns:a16="http://schemas.microsoft.com/office/drawing/2014/main" id="{F89FCEA6-8F43-F8DF-8499-24D42D676115}"/>
              </a:ext>
            </a:extLst>
          </p:cNvPr>
          <p:cNvSpPr txBox="1"/>
          <p:nvPr/>
        </p:nvSpPr>
        <p:spPr>
          <a:xfrm>
            <a:off x="755576" y="6181460"/>
            <a:ext cx="1656183" cy="369332"/>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ctr"/>
            <a:r>
              <a:rPr lang="zh-TW" altLang="en-US" b="1" dirty="0">
                <a:latin typeface="微軟正黑體" panose="020B0604030504040204" pitchFamily="34" charset="-120"/>
                <a:ea typeface="微軟正黑體" panose="020B0604030504040204" pitchFamily="34" charset="-120"/>
              </a:rPr>
              <a:t>判斷相同發明</a:t>
            </a:r>
          </a:p>
        </p:txBody>
      </p:sp>
      <p:sp>
        <p:nvSpPr>
          <p:cNvPr id="18" name="箭號: 燕尾形向右 14">
            <a:extLst>
              <a:ext uri="{FF2B5EF4-FFF2-40B4-BE49-F238E27FC236}">
                <a16:creationId xmlns:a16="http://schemas.microsoft.com/office/drawing/2014/main" id="{2F76E324-3435-7093-D3A2-71E356194EC6}"/>
              </a:ext>
            </a:extLst>
          </p:cNvPr>
          <p:cNvSpPr/>
          <p:nvPr/>
        </p:nvSpPr>
        <p:spPr>
          <a:xfrm rot="5400000">
            <a:off x="1473923" y="5672883"/>
            <a:ext cx="299472" cy="484632"/>
          </a:xfrm>
          <a:prstGeom prst="notchedRightArrow">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TW" altLang="en-US"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30761102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DE3E5D12-4A7C-4174-04B4-E44BB42ED13F}"/>
              </a:ext>
            </a:extLst>
          </p:cNvPr>
          <p:cNvSpPr>
            <a:spLocks noGrp="1"/>
          </p:cNvSpPr>
          <p:nvPr>
            <p:ph type="title"/>
          </p:nvPr>
        </p:nvSpPr>
        <p:spPr/>
        <p:txBody>
          <a:bodyPr/>
          <a:lstStyle/>
          <a:p>
            <a:r>
              <a:rPr lang="zh-TW" altLang="en-US" dirty="0"/>
              <a:t>先申請原則</a:t>
            </a:r>
          </a:p>
        </p:txBody>
      </p:sp>
      <p:sp>
        <p:nvSpPr>
          <p:cNvPr id="10" name="內容版面配置區 9">
            <a:extLst>
              <a:ext uri="{FF2B5EF4-FFF2-40B4-BE49-F238E27FC236}">
                <a16:creationId xmlns:a16="http://schemas.microsoft.com/office/drawing/2014/main" id="{B942D791-A400-700D-0362-EC57CF9F37C8}"/>
              </a:ext>
            </a:extLst>
          </p:cNvPr>
          <p:cNvSpPr>
            <a:spLocks noGrp="1"/>
          </p:cNvSpPr>
          <p:nvPr>
            <p:ph idx="1"/>
          </p:nvPr>
        </p:nvSpPr>
        <p:spPr>
          <a:xfrm>
            <a:off x="457200" y="980728"/>
            <a:ext cx="8229600" cy="3744416"/>
          </a:xfrm>
        </p:spPr>
        <p:txBody>
          <a:bodyPr>
            <a:normAutofit fontScale="77500" lnSpcReduction="20000"/>
          </a:bodyPr>
          <a:lstStyle/>
          <a:p>
            <a:pPr>
              <a:lnSpc>
                <a:spcPct val="120000"/>
              </a:lnSpc>
            </a:pPr>
            <a:r>
              <a:rPr lang="zh-TW" altLang="en-US" dirty="0"/>
              <a:t>審查原則</a:t>
            </a:r>
            <a:endParaRPr lang="en-US" altLang="zh-TW" dirty="0"/>
          </a:p>
          <a:p>
            <a:pPr lvl="1">
              <a:lnSpc>
                <a:spcPct val="120000"/>
              </a:lnSpc>
            </a:pPr>
            <a:r>
              <a:rPr lang="zh-TW" altLang="en-US" dirty="0"/>
              <a:t>準用「擬制喪失新穎性之判斷基準」</a:t>
            </a:r>
            <a:endParaRPr lang="en-US" altLang="zh-TW" dirty="0"/>
          </a:p>
          <a:p>
            <a:pPr lvl="1">
              <a:lnSpc>
                <a:spcPct val="120000"/>
              </a:lnSpc>
            </a:pPr>
            <a:r>
              <a:rPr lang="zh-TW" altLang="en-US" dirty="0"/>
              <a:t>認定</a:t>
            </a:r>
            <a:r>
              <a:rPr lang="zh-TW" altLang="en-US" b="1" dirty="0"/>
              <a:t>同日申請</a:t>
            </a:r>
            <a:r>
              <a:rPr lang="zh-TW" altLang="en-US" dirty="0"/>
              <a:t>之發明是否相同的方式</a:t>
            </a:r>
            <a:endParaRPr lang="en-US" altLang="zh-TW" dirty="0"/>
          </a:p>
          <a:p>
            <a:pPr lvl="2">
              <a:lnSpc>
                <a:spcPct val="120000"/>
              </a:lnSpc>
            </a:pPr>
            <a:r>
              <a:rPr lang="zh-TW" altLang="en-US" dirty="0"/>
              <a:t>相同發明有二個以上申請案時，互為「先」申請案，而認定二個申請案為相同發明者。</a:t>
            </a:r>
            <a:endParaRPr lang="en-US" altLang="zh-TW" dirty="0"/>
          </a:p>
          <a:p>
            <a:pPr lvl="2">
              <a:lnSpc>
                <a:spcPct val="120000"/>
              </a:lnSpc>
            </a:pPr>
            <a:r>
              <a:rPr lang="zh-TW" altLang="en-US" b="1" dirty="0"/>
              <a:t>假設</a:t>
            </a:r>
            <a:r>
              <a:rPr lang="zh-TW" altLang="en-US" dirty="0"/>
              <a:t>其中一申請案之發明</a:t>
            </a:r>
            <a:r>
              <a:rPr lang="en-US" altLang="zh-TW" dirty="0"/>
              <a:t>A</a:t>
            </a:r>
            <a:r>
              <a:rPr lang="zh-TW" altLang="en-US" dirty="0"/>
              <a:t>先申請，另一比對之申請案之發明</a:t>
            </a:r>
            <a:r>
              <a:rPr lang="en-US" altLang="zh-TW" dirty="0"/>
              <a:t>B</a:t>
            </a:r>
            <a:r>
              <a:rPr lang="zh-TW" altLang="en-US" dirty="0"/>
              <a:t>後申請，若認定</a:t>
            </a:r>
            <a:r>
              <a:rPr lang="en-US" altLang="zh-TW" dirty="0"/>
              <a:t>B</a:t>
            </a:r>
            <a:r>
              <a:rPr lang="zh-TW" altLang="en-US" dirty="0"/>
              <a:t>發明與</a:t>
            </a:r>
            <a:r>
              <a:rPr lang="en-US" altLang="zh-TW" dirty="0"/>
              <a:t>A</a:t>
            </a:r>
            <a:r>
              <a:rPr lang="zh-TW" altLang="en-US" dirty="0"/>
              <a:t>發明為相同，</a:t>
            </a:r>
            <a:r>
              <a:rPr lang="zh-TW" altLang="en-US" b="1" dirty="0"/>
              <a:t>再將其先、後申請順序倒置</a:t>
            </a:r>
            <a:r>
              <a:rPr lang="zh-TW" altLang="en-US" dirty="0"/>
              <a:t>，即假設</a:t>
            </a:r>
            <a:r>
              <a:rPr lang="en-US" altLang="zh-TW" dirty="0"/>
              <a:t>B</a:t>
            </a:r>
            <a:r>
              <a:rPr lang="zh-TW" altLang="en-US" dirty="0"/>
              <a:t>為先申請</a:t>
            </a:r>
            <a:r>
              <a:rPr lang="en-US" altLang="zh-TW" dirty="0"/>
              <a:t>A</a:t>
            </a:r>
            <a:r>
              <a:rPr lang="zh-TW" altLang="en-US" dirty="0"/>
              <a:t>為後申請；若再認定</a:t>
            </a:r>
            <a:r>
              <a:rPr lang="en-US" altLang="zh-TW" dirty="0"/>
              <a:t>A</a:t>
            </a:r>
            <a:r>
              <a:rPr lang="zh-TW" altLang="en-US" dirty="0"/>
              <a:t>發明與</a:t>
            </a:r>
            <a:r>
              <a:rPr lang="en-US" altLang="zh-TW" dirty="0"/>
              <a:t>B</a:t>
            </a:r>
            <a:r>
              <a:rPr lang="zh-TW" altLang="en-US" dirty="0"/>
              <a:t>發明為相同，基於前述二種相同的判斷結果，應認定該二發明為相同；但若再認定</a:t>
            </a:r>
            <a:r>
              <a:rPr lang="en-US" altLang="zh-TW" dirty="0"/>
              <a:t>A</a:t>
            </a:r>
            <a:r>
              <a:rPr lang="zh-TW" altLang="en-US" dirty="0"/>
              <a:t>發明與</a:t>
            </a:r>
            <a:r>
              <a:rPr lang="en-US" altLang="zh-TW" dirty="0"/>
              <a:t>B</a:t>
            </a:r>
            <a:r>
              <a:rPr lang="zh-TW" altLang="en-US" dirty="0"/>
              <a:t>發明並非相同，基於前述二種不同的判斷結果，應認定該二發明並非相同。</a:t>
            </a:r>
            <a:endParaRPr lang="en-US" altLang="zh-TW" dirty="0"/>
          </a:p>
        </p:txBody>
      </p:sp>
      <p:sp>
        <p:nvSpPr>
          <p:cNvPr id="4" name="投影片編號版面配置區 3">
            <a:extLst>
              <a:ext uri="{FF2B5EF4-FFF2-40B4-BE49-F238E27FC236}">
                <a16:creationId xmlns:a16="http://schemas.microsoft.com/office/drawing/2014/main" id="{6FC7DF09-C58A-C465-986F-15725E792F06}"/>
              </a:ext>
            </a:extLst>
          </p:cNvPr>
          <p:cNvSpPr>
            <a:spLocks noGrp="1"/>
          </p:cNvSpPr>
          <p:nvPr>
            <p:ph type="sldNum" sz="quarter" idx="12"/>
          </p:nvPr>
        </p:nvSpPr>
        <p:spPr>
          <a:xfrm>
            <a:off x="6948264" y="6356350"/>
            <a:ext cx="2133600" cy="365125"/>
          </a:xfrm>
        </p:spPr>
        <p:txBody>
          <a:bodyPr/>
          <a:lstStyle/>
          <a:p>
            <a:fld id="{254D4C32-7A1A-45A5-84ED-81747F1ABFAE}" type="slidenum">
              <a:rPr lang="zh-TW" altLang="en-US" smtClean="0"/>
              <a:t>40</a:t>
            </a:fld>
            <a:endParaRPr lang="zh-TW" altLang="en-US" dirty="0"/>
          </a:p>
        </p:txBody>
      </p:sp>
      <p:sp>
        <p:nvSpPr>
          <p:cNvPr id="16" name="矩形 15">
            <a:extLst>
              <a:ext uri="{FF2B5EF4-FFF2-40B4-BE49-F238E27FC236}">
                <a16:creationId xmlns:a16="http://schemas.microsoft.com/office/drawing/2014/main" id="{7983200D-40D5-8BB7-EF13-645163F0DD03}"/>
              </a:ext>
            </a:extLst>
          </p:cNvPr>
          <p:cNvSpPr/>
          <p:nvPr/>
        </p:nvSpPr>
        <p:spPr>
          <a:xfrm>
            <a:off x="5580112" y="5341263"/>
            <a:ext cx="1440160" cy="123789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TW" altLang="en-US" b="1" dirty="0">
                <a:latin typeface="微軟正黑體" panose="020B0604030504040204" pitchFamily="34" charset="-120"/>
                <a:ea typeface="微軟正黑體" panose="020B0604030504040204" pitchFamily="34" charset="-120"/>
              </a:rPr>
              <a:t>申請專利範圍</a:t>
            </a:r>
            <a:r>
              <a:rPr lang="en-US" altLang="zh-TW" b="1" dirty="0">
                <a:latin typeface="微軟正黑體" panose="020B0604030504040204" pitchFamily="34" charset="-120"/>
                <a:ea typeface="微軟正黑體" panose="020B0604030504040204" pitchFamily="34" charset="-120"/>
              </a:rPr>
              <a:t>(</a:t>
            </a:r>
            <a:r>
              <a:rPr lang="zh-TW" altLang="en-US" b="1" dirty="0">
                <a:latin typeface="微軟正黑體" panose="020B0604030504040204" pitchFamily="34" charset="-120"/>
                <a:ea typeface="微軟正黑體" panose="020B0604030504040204" pitchFamily="34" charset="-120"/>
              </a:rPr>
              <a:t>申請專利之發明</a:t>
            </a:r>
            <a:r>
              <a:rPr lang="en-US" altLang="zh-TW" b="1" dirty="0">
                <a:latin typeface="微軟正黑體" panose="020B0604030504040204" pitchFamily="34" charset="-120"/>
                <a:ea typeface="微軟正黑體" panose="020B0604030504040204" pitchFamily="34" charset="-120"/>
              </a:rPr>
              <a:t>)</a:t>
            </a:r>
          </a:p>
        </p:txBody>
      </p:sp>
      <p:sp>
        <p:nvSpPr>
          <p:cNvPr id="18" name="文字方塊 17">
            <a:extLst>
              <a:ext uri="{FF2B5EF4-FFF2-40B4-BE49-F238E27FC236}">
                <a16:creationId xmlns:a16="http://schemas.microsoft.com/office/drawing/2014/main" id="{87B26102-4B96-5484-8264-4F08C5A81DC9}"/>
              </a:ext>
            </a:extLst>
          </p:cNvPr>
          <p:cNvSpPr txBox="1"/>
          <p:nvPr/>
        </p:nvSpPr>
        <p:spPr>
          <a:xfrm>
            <a:off x="5727959" y="4909687"/>
            <a:ext cx="1133872" cy="341376"/>
          </a:xfrm>
          <a:prstGeom prst="rect">
            <a:avLst/>
          </a:prstGeom>
        </p:spPr>
        <p:style>
          <a:lnRef idx="1">
            <a:schemeClr val="accent2"/>
          </a:lnRef>
          <a:fillRef idx="2">
            <a:schemeClr val="accent2"/>
          </a:fillRef>
          <a:effectRef idx="1">
            <a:schemeClr val="accent2"/>
          </a:effectRef>
          <a:fontRef idx="minor">
            <a:schemeClr val="dk1"/>
          </a:fontRef>
        </p:style>
        <p:txBody>
          <a:bodyPr wrap="square" lIns="36000" rIns="36000">
            <a:spAutoFit/>
          </a:bodyPr>
          <a:lstStyle/>
          <a:p>
            <a:pPr marL="174625" indent="-174625" algn="ctr">
              <a:lnSpc>
                <a:spcPts val="2100"/>
              </a:lnSpc>
              <a:spcBef>
                <a:spcPts val="0"/>
              </a:spcBef>
            </a:pPr>
            <a:r>
              <a:rPr lang="zh-TW" altLang="en-US" sz="1600" b="1" dirty="0">
                <a:latin typeface="微軟正黑體" panose="020B0604030504040204" pitchFamily="34" charset="-120"/>
                <a:ea typeface="微軟正黑體" panose="020B0604030504040204" pitchFamily="34" charset="-120"/>
              </a:rPr>
              <a:t>後申請案</a:t>
            </a:r>
            <a:endParaRPr lang="en-US" altLang="zh-TW" sz="1600" b="1" dirty="0">
              <a:latin typeface="微軟正黑體" panose="020B0604030504040204" pitchFamily="34" charset="-120"/>
              <a:ea typeface="微軟正黑體" panose="020B0604030504040204" pitchFamily="34" charset="-120"/>
            </a:endParaRPr>
          </a:p>
        </p:txBody>
      </p:sp>
      <p:sp>
        <p:nvSpPr>
          <p:cNvPr id="20" name="矩形 19">
            <a:extLst>
              <a:ext uri="{FF2B5EF4-FFF2-40B4-BE49-F238E27FC236}">
                <a16:creationId xmlns:a16="http://schemas.microsoft.com/office/drawing/2014/main" id="{D9091021-3ECB-EA9E-F08F-F5F19DFE1CB9}"/>
              </a:ext>
            </a:extLst>
          </p:cNvPr>
          <p:cNvSpPr/>
          <p:nvPr/>
        </p:nvSpPr>
        <p:spPr>
          <a:xfrm>
            <a:off x="2276510" y="5341263"/>
            <a:ext cx="1440160" cy="123789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TW" altLang="en-US" b="1" dirty="0">
                <a:latin typeface="微軟正黑體" panose="020B0604030504040204" pitchFamily="34" charset="-120"/>
                <a:ea typeface="微軟正黑體" panose="020B0604030504040204" pitchFamily="34" charset="-120"/>
              </a:rPr>
              <a:t>申請專利範圍</a:t>
            </a:r>
            <a:r>
              <a:rPr lang="en-US" altLang="zh-TW" b="1" dirty="0">
                <a:latin typeface="微軟正黑體" panose="020B0604030504040204" pitchFamily="34" charset="-120"/>
                <a:ea typeface="微軟正黑體" panose="020B0604030504040204" pitchFamily="34" charset="-120"/>
              </a:rPr>
              <a:t>(</a:t>
            </a:r>
            <a:r>
              <a:rPr lang="zh-TW" altLang="en-US" b="1" dirty="0">
                <a:latin typeface="微軟正黑體" panose="020B0604030504040204" pitchFamily="34" charset="-120"/>
                <a:ea typeface="微軟正黑體" panose="020B0604030504040204" pitchFamily="34" charset="-120"/>
              </a:rPr>
              <a:t>申請專利之發明</a:t>
            </a:r>
            <a:r>
              <a:rPr lang="en-US" altLang="zh-TW" b="1" dirty="0">
                <a:latin typeface="微軟正黑體" panose="020B0604030504040204" pitchFamily="34" charset="-120"/>
                <a:ea typeface="微軟正黑體" panose="020B0604030504040204" pitchFamily="34" charset="-120"/>
              </a:rPr>
              <a:t>)</a:t>
            </a:r>
            <a:endParaRPr lang="en-US" altLang="zh-TW" sz="1800" b="1" dirty="0">
              <a:latin typeface="微軟正黑體" panose="020B0604030504040204" pitchFamily="34" charset="-120"/>
              <a:ea typeface="微軟正黑體" panose="020B0604030504040204" pitchFamily="34" charset="-120"/>
            </a:endParaRPr>
          </a:p>
        </p:txBody>
      </p:sp>
      <p:sp>
        <p:nvSpPr>
          <p:cNvPr id="21" name="文字方塊 20">
            <a:extLst>
              <a:ext uri="{FF2B5EF4-FFF2-40B4-BE49-F238E27FC236}">
                <a16:creationId xmlns:a16="http://schemas.microsoft.com/office/drawing/2014/main" id="{51F329B7-B449-0794-C2E8-D1C97F7751AB}"/>
              </a:ext>
            </a:extLst>
          </p:cNvPr>
          <p:cNvSpPr txBox="1"/>
          <p:nvPr/>
        </p:nvSpPr>
        <p:spPr>
          <a:xfrm>
            <a:off x="2424357" y="4909687"/>
            <a:ext cx="1133872" cy="341376"/>
          </a:xfrm>
          <a:prstGeom prst="rect">
            <a:avLst/>
          </a:prstGeom>
        </p:spPr>
        <p:style>
          <a:lnRef idx="1">
            <a:schemeClr val="accent3"/>
          </a:lnRef>
          <a:fillRef idx="2">
            <a:schemeClr val="accent3"/>
          </a:fillRef>
          <a:effectRef idx="1">
            <a:schemeClr val="accent3"/>
          </a:effectRef>
          <a:fontRef idx="minor">
            <a:schemeClr val="dk1"/>
          </a:fontRef>
        </p:style>
        <p:txBody>
          <a:bodyPr wrap="square" lIns="36000" rIns="36000">
            <a:spAutoFit/>
          </a:bodyPr>
          <a:lstStyle/>
          <a:p>
            <a:pPr marL="174625" indent="-174625" algn="ctr">
              <a:lnSpc>
                <a:spcPts val="2100"/>
              </a:lnSpc>
              <a:spcBef>
                <a:spcPts val="0"/>
              </a:spcBef>
            </a:pPr>
            <a:r>
              <a:rPr lang="zh-TW" altLang="en-US" sz="1600" b="1" dirty="0">
                <a:latin typeface="微軟正黑體" panose="020B0604030504040204" pitchFamily="34" charset="-120"/>
                <a:ea typeface="微軟正黑體" panose="020B0604030504040204" pitchFamily="34" charset="-120"/>
              </a:rPr>
              <a:t>先申請案</a:t>
            </a:r>
            <a:endParaRPr lang="en-US" altLang="zh-TW" sz="1600" b="1" dirty="0">
              <a:latin typeface="微軟正黑體" panose="020B0604030504040204" pitchFamily="34" charset="-120"/>
              <a:ea typeface="微軟正黑體" panose="020B0604030504040204" pitchFamily="34" charset="-120"/>
            </a:endParaRPr>
          </a:p>
        </p:txBody>
      </p:sp>
      <p:sp>
        <p:nvSpPr>
          <p:cNvPr id="2" name="燕尾形向右箭號 1"/>
          <p:cNvSpPr/>
          <p:nvPr/>
        </p:nvSpPr>
        <p:spPr>
          <a:xfrm>
            <a:off x="3932395" y="5464753"/>
            <a:ext cx="1296144" cy="442979"/>
          </a:xfrm>
          <a:prstGeom prst="notch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22" name="燕尾形向右箭號 21"/>
          <p:cNvSpPr/>
          <p:nvPr/>
        </p:nvSpPr>
        <p:spPr>
          <a:xfrm flipH="1">
            <a:off x="3932395" y="5960211"/>
            <a:ext cx="1296144" cy="442979"/>
          </a:xfrm>
          <a:prstGeom prst="notchedRightArrow">
            <a:avLst/>
          </a:prstGeom>
          <a:gradFill>
            <a:gsLst>
              <a:gs pos="0">
                <a:schemeClr val="accent4">
                  <a:tint val="50000"/>
                  <a:satMod val="300000"/>
                  <a:alpha val="0"/>
                </a:schemeClr>
              </a:gs>
              <a:gs pos="35000">
                <a:schemeClr val="accent4">
                  <a:tint val="37000"/>
                  <a:satMod val="300000"/>
                </a:schemeClr>
              </a:gs>
              <a:gs pos="100000">
                <a:schemeClr val="accent4">
                  <a:tint val="15000"/>
                  <a:satMod val="350000"/>
                </a:schemeClr>
              </a:gs>
            </a:gsLst>
          </a:gradFill>
          <a:ln w="12700">
            <a:prstDash val="dash"/>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Tree>
    <p:extLst>
      <p:ext uri="{BB962C8B-B14F-4D97-AF65-F5344CB8AC3E}">
        <p14:creationId xmlns:p14="http://schemas.microsoft.com/office/powerpoint/2010/main" val="3788770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pPr>
              <a:defRPr/>
            </a:pPr>
            <a:fld id="{B83ACBEE-1837-4398-8376-AF0F7C4E2424}" type="slidenum">
              <a:rPr lang="zh-TW" altLang="en-US" smtClean="0">
                <a:solidFill>
                  <a:prstClr val="black">
                    <a:tint val="75000"/>
                  </a:prstClr>
                </a:solidFill>
              </a:rPr>
              <a:pPr>
                <a:defRPr/>
              </a:pPr>
              <a:t>41</a:t>
            </a:fld>
            <a:endParaRPr lang="zh-TW" altLang="en-US">
              <a:solidFill>
                <a:prstClr val="black">
                  <a:tint val="75000"/>
                </a:prstClr>
              </a:solidFill>
            </a:endParaRPr>
          </a:p>
        </p:txBody>
      </p:sp>
      <p:sp>
        <p:nvSpPr>
          <p:cNvPr id="6" name="標題 4"/>
          <p:cNvSpPr txBox="1">
            <a:spLocks/>
          </p:cNvSpPr>
          <p:nvPr/>
        </p:nvSpPr>
        <p:spPr>
          <a:xfrm>
            <a:off x="722313" y="4406900"/>
            <a:ext cx="7772400" cy="136207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800" b="1" kern="1200">
                <a:solidFill>
                  <a:schemeClr val="tx1"/>
                </a:solidFill>
                <a:latin typeface="微軟正黑體" pitchFamily="34" charset="-120"/>
                <a:ea typeface="微軟正黑體" pitchFamily="34" charset="-120"/>
                <a:cs typeface="+mj-cs"/>
              </a:defRPr>
            </a:lvl1pPr>
          </a:lstStyle>
          <a:p>
            <a:pPr algn="l"/>
            <a:r>
              <a:rPr lang="zh-TW" altLang="en-US" sz="5400" dirty="0"/>
              <a:t>一案兩請</a:t>
            </a:r>
          </a:p>
        </p:txBody>
      </p:sp>
    </p:spTree>
    <p:extLst>
      <p:ext uri="{BB962C8B-B14F-4D97-AF65-F5344CB8AC3E}">
        <p14:creationId xmlns:p14="http://schemas.microsoft.com/office/powerpoint/2010/main" val="37292426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DE3E5D12-4A7C-4174-04B4-E44BB42ED13F}"/>
              </a:ext>
            </a:extLst>
          </p:cNvPr>
          <p:cNvSpPr>
            <a:spLocks noGrp="1"/>
          </p:cNvSpPr>
          <p:nvPr>
            <p:ph type="title"/>
          </p:nvPr>
        </p:nvSpPr>
        <p:spPr/>
        <p:txBody>
          <a:bodyPr/>
          <a:lstStyle/>
          <a:p>
            <a:r>
              <a:rPr lang="zh-TW" altLang="en-US" dirty="0"/>
              <a:t>一案兩請</a:t>
            </a:r>
          </a:p>
        </p:txBody>
      </p:sp>
      <p:sp>
        <p:nvSpPr>
          <p:cNvPr id="10" name="內容版面配置區 9">
            <a:extLst>
              <a:ext uri="{FF2B5EF4-FFF2-40B4-BE49-F238E27FC236}">
                <a16:creationId xmlns:a16="http://schemas.microsoft.com/office/drawing/2014/main" id="{B942D791-A400-700D-0362-EC57CF9F37C8}"/>
              </a:ext>
            </a:extLst>
          </p:cNvPr>
          <p:cNvSpPr>
            <a:spLocks noGrp="1"/>
          </p:cNvSpPr>
          <p:nvPr>
            <p:ph idx="1"/>
          </p:nvPr>
        </p:nvSpPr>
        <p:spPr>
          <a:xfrm>
            <a:off x="457200" y="870657"/>
            <a:ext cx="8229600" cy="2952328"/>
          </a:xfrm>
        </p:spPr>
        <p:txBody>
          <a:bodyPr>
            <a:normAutofit fontScale="62500" lnSpcReduction="20000"/>
          </a:bodyPr>
          <a:lstStyle/>
          <a:p>
            <a:pPr>
              <a:lnSpc>
                <a:spcPct val="120000"/>
              </a:lnSpc>
            </a:pPr>
            <a:r>
              <a:rPr lang="zh-TW" altLang="en-US" dirty="0"/>
              <a:t>專利法第</a:t>
            </a:r>
            <a:r>
              <a:rPr lang="en-US" altLang="zh-TW" dirty="0"/>
              <a:t>32</a:t>
            </a:r>
            <a:r>
              <a:rPr lang="zh-TW" altLang="en-US" dirty="0"/>
              <a:t>條第</a:t>
            </a:r>
            <a:r>
              <a:rPr lang="en-US" altLang="zh-TW" dirty="0"/>
              <a:t>1</a:t>
            </a:r>
            <a:r>
              <a:rPr lang="zh-TW" altLang="en-US" dirty="0"/>
              <a:t>項</a:t>
            </a:r>
            <a:endParaRPr lang="en-US" altLang="zh-TW" dirty="0"/>
          </a:p>
          <a:p>
            <a:pPr lvl="1">
              <a:lnSpc>
                <a:spcPct val="120000"/>
              </a:lnSpc>
            </a:pPr>
            <a:r>
              <a:rPr lang="zh-TW" altLang="en-US" sz="2700" dirty="0"/>
              <a:t>同一人就相同創作，於</a:t>
            </a:r>
            <a:r>
              <a:rPr lang="zh-TW" altLang="en-US" sz="2700" b="1" dirty="0"/>
              <a:t>同日</a:t>
            </a:r>
            <a:r>
              <a:rPr lang="zh-TW" altLang="en-US" sz="2700" dirty="0"/>
              <a:t>分別</a:t>
            </a:r>
            <a:r>
              <a:rPr lang="zh-TW" altLang="en-US" sz="2700" b="1" dirty="0"/>
              <a:t>申請發明專利及新型專利者</a:t>
            </a:r>
            <a:r>
              <a:rPr lang="zh-TW" altLang="en-US" sz="2700" dirty="0"/>
              <a:t>，應於</a:t>
            </a:r>
            <a:r>
              <a:rPr lang="zh-TW" altLang="en-US" sz="2700" b="1" dirty="0"/>
              <a:t>申請時分別聲明</a:t>
            </a:r>
            <a:r>
              <a:rPr lang="zh-TW" altLang="en-US" sz="2700" dirty="0"/>
              <a:t>；其發明專利核准審定前，已取得新型專利權，專利專責機關應通知申請人限期擇一；</a:t>
            </a:r>
            <a:r>
              <a:rPr lang="zh-TW" altLang="en-US" sz="2700" b="1" dirty="0"/>
              <a:t>申請人未分別聲明或屆期未擇一者，不予發明專利</a:t>
            </a:r>
            <a:r>
              <a:rPr lang="zh-TW" altLang="en-US" sz="2700" dirty="0"/>
              <a:t>。</a:t>
            </a:r>
            <a:endParaRPr lang="en-US" altLang="zh-TW" sz="2700" dirty="0"/>
          </a:p>
          <a:p>
            <a:pPr>
              <a:lnSpc>
                <a:spcPct val="120000"/>
              </a:lnSpc>
            </a:pPr>
            <a:r>
              <a:rPr lang="zh-TW" altLang="en-US" dirty="0"/>
              <a:t>專利法第</a:t>
            </a:r>
            <a:r>
              <a:rPr lang="en-US" altLang="zh-TW" dirty="0"/>
              <a:t>32</a:t>
            </a:r>
            <a:r>
              <a:rPr lang="zh-TW" altLang="en-US" dirty="0"/>
              <a:t>條第</a:t>
            </a:r>
            <a:r>
              <a:rPr lang="en-US" altLang="zh-TW" dirty="0"/>
              <a:t>2</a:t>
            </a:r>
            <a:r>
              <a:rPr lang="zh-TW" altLang="en-US" dirty="0"/>
              <a:t>項</a:t>
            </a:r>
            <a:endParaRPr lang="en-US" altLang="zh-TW" dirty="0"/>
          </a:p>
          <a:p>
            <a:pPr lvl="1">
              <a:lnSpc>
                <a:spcPct val="120000"/>
              </a:lnSpc>
            </a:pPr>
            <a:r>
              <a:rPr lang="zh-TW" altLang="en-US" sz="2700" dirty="0"/>
              <a:t>申請人依前項規定選擇發明專利者，其</a:t>
            </a:r>
            <a:r>
              <a:rPr lang="zh-TW" altLang="en-US" sz="2700" b="1" dirty="0"/>
              <a:t>新型專利權</a:t>
            </a:r>
            <a:r>
              <a:rPr lang="zh-TW" altLang="en-US" sz="2700" dirty="0"/>
              <a:t>，</a:t>
            </a:r>
            <a:r>
              <a:rPr lang="zh-TW" altLang="en-US" sz="2700" b="1" dirty="0"/>
              <a:t>自發明專利公告之日消滅</a:t>
            </a:r>
            <a:r>
              <a:rPr lang="zh-TW" altLang="en-US" sz="2700" dirty="0"/>
              <a:t>。</a:t>
            </a:r>
            <a:endParaRPr lang="en-US" altLang="zh-TW" sz="2700" dirty="0"/>
          </a:p>
          <a:p>
            <a:pPr>
              <a:lnSpc>
                <a:spcPct val="120000"/>
              </a:lnSpc>
            </a:pPr>
            <a:r>
              <a:rPr lang="zh-TW" altLang="en-US" dirty="0"/>
              <a:t>專利法第</a:t>
            </a:r>
            <a:r>
              <a:rPr lang="en-US" altLang="zh-TW" dirty="0"/>
              <a:t>32</a:t>
            </a:r>
            <a:r>
              <a:rPr lang="zh-TW" altLang="en-US" dirty="0"/>
              <a:t>條第</a:t>
            </a:r>
            <a:r>
              <a:rPr lang="en-US" altLang="zh-TW" dirty="0"/>
              <a:t>3</a:t>
            </a:r>
            <a:r>
              <a:rPr lang="zh-TW" altLang="en-US" dirty="0"/>
              <a:t>項</a:t>
            </a:r>
            <a:endParaRPr lang="en-US" altLang="zh-TW" dirty="0"/>
          </a:p>
          <a:p>
            <a:pPr lvl="1">
              <a:lnSpc>
                <a:spcPct val="120000"/>
              </a:lnSpc>
            </a:pPr>
            <a:r>
              <a:rPr lang="zh-TW" altLang="en-US" sz="2700" dirty="0"/>
              <a:t>發明專利審定前，新型專利權已當然消滅或撤銷確定者，不予專利。</a:t>
            </a:r>
            <a:endParaRPr lang="en-US" altLang="zh-TW" sz="2700" dirty="0"/>
          </a:p>
        </p:txBody>
      </p:sp>
      <p:sp>
        <p:nvSpPr>
          <p:cNvPr id="4" name="投影片編號版面配置區 3">
            <a:extLst>
              <a:ext uri="{FF2B5EF4-FFF2-40B4-BE49-F238E27FC236}">
                <a16:creationId xmlns:a16="http://schemas.microsoft.com/office/drawing/2014/main" id="{6FC7DF09-C58A-C465-986F-15725E792F06}"/>
              </a:ext>
            </a:extLst>
          </p:cNvPr>
          <p:cNvSpPr>
            <a:spLocks noGrp="1"/>
          </p:cNvSpPr>
          <p:nvPr>
            <p:ph type="sldNum" sz="quarter" idx="12"/>
          </p:nvPr>
        </p:nvSpPr>
        <p:spPr>
          <a:xfrm>
            <a:off x="6948264" y="6356350"/>
            <a:ext cx="2133600" cy="365125"/>
          </a:xfrm>
        </p:spPr>
        <p:txBody>
          <a:bodyPr/>
          <a:lstStyle/>
          <a:p>
            <a:fld id="{254D4C32-7A1A-45A5-84ED-81747F1ABFAE}" type="slidenum">
              <a:rPr lang="zh-TW" altLang="en-US" smtClean="0"/>
              <a:t>42</a:t>
            </a:fld>
            <a:endParaRPr lang="zh-TW" altLang="en-US" dirty="0"/>
          </a:p>
        </p:txBody>
      </p:sp>
      <p:grpSp>
        <p:nvGrpSpPr>
          <p:cNvPr id="8" name="群組 7"/>
          <p:cNvGrpSpPr/>
          <p:nvPr/>
        </p:nvGrpSpPr>
        <p:grpSpPr>
          <a:xfrm>
            <a:off x="1364877" y="5490124"/>
            <a:ext cx="6949441" cy="1288514"/>
            <a:chOff x="1364877" y="5371586"/>
            <a:chExt cx="6949441" cy="1288514"/>
          </a:xfrm>
        </p:grpSpPr>
        <p:cxnSp>
          <p:nvCxnSpPr>
            <p:cNvPr id="39" name="直線單箭頭接點 38">
              <a:extLst>
                <a:ext uri="{FF2B5EF4-FFF2-40B4-BE49-F238E27FC236}">
                  <a16:creationId xmlns:a16="http://schemas.microsoft.com/office/drawing/2014/main" id="{EE788D0E-EC96-36E1-41E9-C55678655865}"/>
                </a:ext>
              </a:extLst>
            </p:cNvPr>
            <p:cNvCxnSpPr/>
            <p:nvPr/>
          </p:nvCxnSpPr>
          <p:spPr>
            <a:xfrm>
              <a:off x="1526573" y="6119823"/>
              <a:ext cx="6787745" cy="17112"/>
            </a:xfrm>
            <a:prstGeom prst="straightConnector1">
              <a:avLst/>
            </a:prstGeom>
            <a:ln w="41275">
              <a:tailEnd type="triangle"/>
            </a:ln>
          </p:spPr>
          <p:style>
            <a:lnRef idx="1">
              <a:schemeClr val="accent1"/>
            </a:lnRef>
            <a:fillRef idx="0">
              <a:schemeClr val="accent1"/>
            </a:fillRef>
            <a:effectRef idx="0">
              <a:schemeClr val="accent1"/>
            </a:effectRef>
            <a:fontRef idx="minor">
              <a:schemeClr val="tx1"/>
            </a:fontRef>
          </p:style>
        </p:cxnSp>
        <p:grpSp>
          <p:nvGrpSpPr>
            <p:cNvPr id="40" name="群組 39"/>
            <p:cNvGrpSpPr/>
            <p:nvPr/>
          </p:nvGrpSpPr>
          <p:grpSpPr>
            <a:xfrm>
              <a:off x="4028646" y="5421917"/>
              <a:ext cx="1800200" cy="1171760"/>
              <a:chOff x="2969617" y="880840"/>
              <a:chExt cx="1800200" cy="1171760"/>
            </a:xfrm>
          </p:grpSpPr>
          <p:cxnSp>
            <p:nvCxnSpPr>
              <p:cNvPr id="53" name="直線接點 52">
                <a:extLst>
                  <a:ext uri="{FF2B5EF4-FFF2-40B4-BE49-F238E27FC236}">
                    <a16:creationId xmlns:a16="http://schemas.microsoft.com/office/drawing/2014/main" id="{AE77A9CB-E1A7-5446-022C-5647ECA3E2E3}"/>
                  </a:ext>
                </a:extLst>
              </p:cNvPr>
              <p:cNvCxnSpPr/>
              <p:nvPr/>
            </p:nvCxnSpPr>
            <p:spPr>
              <a:xfrm>
                <a:off x="3637635" y="1433419"/>
                <a:ext cx="0" cy="288032"/>
              </a:xfrm>
              <a:prstGeom prst="line">
                <a:avLst/>
              </a:prstGeom>
              <a:ln w="34925">
                <a:solidFill>
                  <a:schemeClr val="tx1"/>
                </a:solidFill>
              </a:ln>
            </p:spPr>
            <p:style>
              <a:lnRef idx="1">
                <a:schemeClr val="accent2"/>
              </a:lnRef>
              <a:fillRef idx="0">
                <a:schemeClr val="accent2"/>
              </a:fillRef>
              <a:effectRef idx="0">
                <a:schemeClr val="accent2"/>
              </a:effectRef>
              <a:fontRef idx="minor">
                <a:schemeClr val="tx1"/>
              </a:fontRef>
            </p:style>
          </p:cxnSp>
          <p:sp>
            <p:nvSpPr>
              <p:cNvPr id="54" name="文字方塊 53">
                <a:extLst>
                  <a:ext uri="{FF2B5EF4-FFF2-40B4-BE49-F238E27FC236}">
                    <a16:creationId xmlns:a16="http://schemas.microsoft.com/office/drawing/2014/main" id="{E4719584-4998-495E-29B5-AD52C88FC9BC}"/>
                  </a:ext>
                </a:extLst>
              </p:cNvPr>
              <p:cNvSpPr txBox="1"/>
              <p:nvPr/>
            </p:nvSpPr>
            <p:spPr>
              <a:xfrm>
                <a:off x="3086339" y="880840"/>
                <a:ext cx="1550154" cy="553998"/>
              </a:xfrm>
              <a:prstGeom prst="rect">
                <a:avLst/>
              </a:prstGeom>
              <a:noFill/>
            </p:spPr>
            <p:txBody>
              <a:bodyPr wrap="square">
                <a:spAutoFit/>
              </a:bodyPr>
              <a:lstStyle/>
              <a:p>
                <a:pPr algn="ctr"/>
                <a:r>
                  <a:rPr lang="zh-TW" altLang="en-US" sz="1500" b="1" dirty="0">
                    <a:latin typeface="微軟正黑體" panose="020B0604030504040204" pitchFamily="34" charset="-120"/>
                    <a:ea typeface="微軟正黑體" panose="020B0604030504040204" pitchFamily="34" charset="-120"/>
                  </a:rPr>
                  <a:t>請申請人擇一；</a:t>
                </a:r>
                <a:endParaRPr lang="en-US" altLang="zh-TW" sz="1500" b="1" dirty="0">
                  <a:latin typeface="微軟正黑體" panose="020B0604030504040204" pitchFamily="34" charset="-120"/>
                  <a:ea typeface="微軟正黑體" panose="020B0604030504040204" pitchFamily="34" charset="-120"/>
                </a:endParaRPr>
              </a:p>
              <a:p>
                <a:pPr algn="ctr"/>
                <a:r>
                  <a:rPr lang="zh-TW" altLang="en-US" sz="1500" b="1" dirty="0">
                    <a:latin typeface="微軟正黑體" panose="020B0604030504040204" pitchFamily="34" charset="-120"/>
                    <a:ea typeface="微軟正黑體" panose="020B0604030504040204" pitchFamily="34" charset="-120"/>
                  </a:rPr>
                  <a:t>選擇發明</a:t>
                </a:r>
              </a:p>
            </p:txBody>
          </p:sp>
          <p:sp>
            <p:nvSpPr>
              <p:cNvPr id="55" name="文字方塊 54">
                <a:extLst>
                  <a:ext uri="{FF2B5EF4-FFF2-40B4-BE49-F238E27FC236}">
                    <a16:creationId xmlns:a16="http://schemas.microsoft.com/office/drawing/2014/main" id="{180031A8-A259-7BA4-73ED-A62B333EDAC8}"/>
                  </a:ext>
                </a:extLst>
              </p:cNvPr>
              <p:cNvSpPr txBox="1"/>
              <p:nvPr/>
            </p:nvSpPr>
            <p:spPr>
              <a:xfrm>
                <a:off x="2969617" y="1729435"/>
                <a:ext cx="1800200" cy="323165"/>
              </a:xfrm>
              <a:prstGeom prst="rect">
                <a:avLst/>
              </a:prstGeom>
              <a:noFill/>
            </p:spPr>
            <p:txBody>
              <a:bodyPr wrap="square">
                <a:spAutoFit/>
              </a:bodyPr>
              <a:lstStyle/>
              <a:p>
                <a:pPr algn="ctr"/>
                <a:r>
                  <a:rPr lang="en-US" altLang="zh-TW" sz="1500" b="1" dirty="0">
                    <a:latin typeface="微軟正黑體" panose="020B0604030504040204" pitchFamily="34" charset="-120"/>
                    <a:ea typeface="微軟正黑體" panose="020B0604030504040204" pitchFamily="34" charset="-120"/>
                  </a:rPr>
                  <a:t>113/6/1</a:t>
                </a:r>
                <a:endParaRPr lang="zh-TW" altLang="en-US" sz="1500" b="1" dirty="0">
                  <a:latin typeface="微軟正黑體" panose="020B0604030504040204" pitchFamily="34" charset="-120"/>
                  <a:ea typeface="微軟正黑體" panose="020B0604030504040204" pitchFamily="34" charset="-120"/>
                </a:endParaRPr>
              </a:p>
            </p:txBody>
          </p:sp>
        </p:grpSp>
        <p:grpSp>
          <p:nvGrpSpPr>
            <p:cNvPr id="41" name="群組 40"/>
            <p:cNvGrpSpPr/>
            <p:nvPr/>
          </p:nvGrpSpPr>
          <p:grpSpPr>
            <a:xfrm>
              <a:off x="1364877" y="5371586"/>
              <a:ext cx="1617553" cy="1239757"/>
              <a:chOff x="305848" y="830509"/>
              <a:chExt cx="1617553" cy="1239757"/>
            </a:xfrm>
          </p:grpSpPr>
          <p:cxnSp>
            <p:nvCxnSpPr>
              <p:cNvPr id="50" name="直線接點 49">
                <a:extLst>
                  <a:ext uri="{FF2B5EF4-FFF2-40B4-BE49-F238E27FC236}">
                    <a16:creationId xmlns:a16="http://schemas.microsoft.com/office/drawing/2014/main" id="{29A72B70-67AF-C216-D652-620E5BAD978F}"/>
                  </a:ext>
                </a:extLst>
              </p:cNvPr>
              <p:cNvCxnSpPr/>
              <p:nvPr/>
            </p:nvCxnSpPr>
            <p:spPr>
              <a:xfrm>
                <a:off x="1115616" y="1451842"/>
                <a:ext cx="0" cy="288032"/>
              </a:xfrm>
              <a:prstGeom prst="line">
                <a:avLst/>
              </a:prstGeom>
              <a:ln w="34925">
                <a:solidFill>
                  <a:schemeClr val="tx1"/>
                </a:solidFill>
              </a:ln>
            </p:spPr>
            <p:style>
              <a:lnRef idx="1">
                <a:schemeClr val="accent2"/>
              </a:lnRef>
              <a:fillRef idx="0">
                <a:schemeClr val="accent2"/>
              </a:fillRef>
              <a:effectRef idx="0">
                <a:schemeClr val="accent2"/>
              </a:effectRef>
              <a:fontRef idx="minor">
                <a:schemeClr val="tx1"/>
              </a:fontRef>
            </p:style>
          </p:cxnSp>
          <p:sp>
            <p:nvSpPr>
              <p:cNvPr id="51" name="文字方塊 50">
                <a:extLst>
                  <a:ext uri="{FF2B5EF4-FFF2-40B4-BE49-F238E27FC236}">
                    <a16:creationId xmlns:a16="http://schemas.microsoft.com/office/drawing/2014/main" id="{D16330D3-1597-CE42-70C9-C18DBC163D5A}"/>
                  </a:ext>
                </a:extLst>
              </p:cNvPr>
              <p:cNvSpPr txBox="1"/>
              <p:nvPr/>
            </p:nvSpPr>
            <p:spPr>
              <a:xfrm>
                <a:off x="305848" y="830509"/>
                <a:ext cx="1617553" cy="553998"/>
              </a:xfrm>
              <a:prstGeom prst="rect">
                <a:avLst/>
              </a:prstGeom>
              <a:noFill/>
            </p:spPr>
            <p:txBody>
              <a:bodyPr wrap="square">
                <a:spAutoFit/>
              </a:bodyPr>
              <a:lstStyle/>
              <a:p>
                <a:pPr algn="ctr"/>
                <a:r>
                  <a:rPr lang="zh-TW" altLang="en-US" sz="1500" b="1" dirty="0">
                    <a:latin typeface="微軟正黑體" panose="020B0604030504040204" pitchFamily="34" charset="-120"/>
                    <a:ea typeface="微軟正黑體" panose="020B0604030504040204" pitchFamily="34" charset="-120"/>
                  </a:rPr>
                  <a:t>申請；聲明</a:t>
                </a:r>
                <a:r>
                  <a:rPr lang="zh-TW" altLang="en-US" sz="1500" b="1" u="sng" dirty="0">
                    <a:latin typeface="微軟正黑體" panose="020B0604030504040204" pitchFamily="34" charset="-120"/>
                    <a:ea typeface="微軟正黑體" panose="020B0604030504040204" pitchFamily="34" charset="-120"/>
                  </a:rPr>
                  <a:t>同日申請新型專利</a:t>
                </a:r>
              </a:p>
            </p:txBody>
          </p:sp>
          <p:sp>
            <p:nvSpPr>
              <p:cNvPr id="52" name="文字方塊 51">
                <a:extLst>
                  <a:ext uri="{FF2B5EF4-FFF2-40B4-BE49-F238E27FC236}">
                    <a16:creationId xmlns:a16="http://schemas.microsoft.com/office/drawing/2014/main" id="{751B193B-1DD9-F8A7-BAF9-331A7D809290}"/>
                  </a:ext>
                </a:extLst>
              </p:cNvPr>
              <p:cNvSpPr txBox="1"/>
              <p:nvPr/>
            </p:nvSpPr>
            <p:spPr>
              <a:xfrm>
                <a:off x="398163" y="1747101"/>
                <a:ext cx="1434905" cy="323165"/>
              </a:xfrm>
              <a:prstGeom prst="rect">
                <a:avLst/>
              </a:prstGeom>
              <a:noFill/>
            </p:spPr>
            <p:txBody>
              <a:bodyPr wrap="square">
                <a:spAutoFit/>
              </a:bodyPr>
              <a:lstStyle/>
              <a:p>
                <a:pPr algn="ctr"/>
                <a:r>
                  <a:rPr lang="en-US" altLang="zh-TW" sz="1500" b="1" dirty="0">
                    <a:latin typeface="微軟正黑體" panose="020B0604030504040204" pitchFamily="34" charset="-120"/>
                    <a:ea typeface="微軟正黑體" panose="020B0604030504040204" pitchFamily="34" charset="-120"/>
                  </a:rPr>
                  <a:t>112/1/1</a:t>
                </a:r>
                <a:endParaRPr lang="zh-TW" altLang="en-US" sz="1500" b="1" dirty="0">
                  <a:latin typeface="微軟正黑體" panose="020B0604030504040204" pitchFamily="34" charset="-120"/>
                  <a:ea typeface="微軟正黑體" panose="020B0604030504040204" pitchFamily="34" charset="-120"/>
                </a:endParaRPr>
              </a:p>
            </p:txBody>
          </p:sp>
        </p:grpSp>
        <p:grpSp>
          <p:nvGrpSpPr>
            <p:cNvPr id="43" name="群組 42"/>
            <p:cNvGrpSpPr/>
            <p:nvPr/>
          </p:nvGrpSpPr>
          <p:grpSpPr>
            <a:xfrm>
              <a:off x="5695521" y="5453876"/>
              <a:ext cx="1675177" cy="1206224"/>
              <a:chOff x="1002070" y="895757"/>
              <a:chExt cx="1675177" cy="1206224"/>
            </a:xfrm>
          </p:grpSpPr>
          <p:cxnSp>
            <p:nvCxnSpPr>
              <p:cNvPr id="44" name="直線接點 43">
                <a:extLst>
                  <a:ext uri="{FF2B5EF4-FFF2-40B4-BE49-F238E27FC236}">
                    <a16:creationId xmlns:a16="http://schemas.microsoft.com/office/drawing/2014/main" id="{AE77A9CB-E1A7-5446-022C-5647ECA3E2E3}"/>
                  </a:ext>
                </a:extLst>
              </p:cNvPr>
              <p:cNvCxnSpPr/>
              <p:nvPr/>
            </p:nvCxnSpPr>
            <p:spPr>
              <a:xfrm>
                <a:off x="1822765" y="1449755"/>
                <a:ext cx="0" cy="288032"/>
              </a:xfrm>
              <a:prstGeom prst="line">
                <a:avLst/>
              </a:prstGeom>
              <a:ln w="34925"/>
            </p:spPr>
            <p:style>
              <a:lnRef idx="1">
                <a:schemeClr val="accent2"/>
              </a:lnRef>
              <a:fillRef idx="0">
                <a:schemeClr val="accent2"/>
              </a:fillRef>
              <a:effectRef idx="0">
                <a:schemeClr val="accent2"/>
              </a:effectRef>
              <a:fontRef idx="minor">
                <a:schemeClr val="tx1"/>
              </a:fontRef>
            </p:style>
          </p:cxnSp>
          <p:sp>
            <p:nvSpPr>
              <p:cNvPr id="45" name="文字方塊 44">
                <a:extLst>
                  <a:ext uri="{FF2B5EF4-FFF2-40B4-BE49-F238E27FC236}">
                    <a16:creationId xmlns:a16="http://schemas.microsoft.com/office/drawing/2014/main" id="{E4719584-4998-495E-29B5-AD52C88FC9BC}"/>
                  </a:ext>
                </a:extLst>
              </p:cNvPr>
              <p:cNvSpPr txBox="1"/>
              <p:nvPr/>
            </p:nvSpPr>
            <p:spPr>
              <a:xfrm>
                <a:off x="1135395" y="895757"/>
                <a:ext cx="1416830" cy="553998"/>
              </a:xfrm>
              <a:prstGeom prst="rect">
                <a:avLst/>
              </a:prstGeom>
              <a:noFill/>
            </p:spPr>
            <p:txBody>
              <a:bodyPr wrap="square">
                <a:spAutoFit/>
              </a:bodyPr>
              <a:lstStyle/>
              <a:p>
                <a:pPr algn="ctr"/>
                <a:r>
                  <a:rPr lang="zh-TW" altLang="en-US" sz="1500" b="1" dirty="0">
                    <a:latin typeface="微軟正黑體" panose="020B0604030504040204" pitchFamily="34" charset="-120"/>
                    <a:ea typeface="微軟正黑體" panose="020B0604030504040204" pitchFamily="34" charset="-120"/>
                  </a:rPr>
                  <a:t>專利核准；</a:t>
                </a:r>
                <a:endParaRPr lang="en-US" altLang="zh-TW" sz="1500" b="1" dirty="0">
                  <a:latin typeface="微軟正黑體" panose="020B0604030504040204" pitchFamily="34" charset="-120"/>
                  <a:ea typeface="微軟正黑體" panose="020B0604030504040204" pitchFamily="34" charset="-120"/>
                </a:endParaRPr>
              </a:p>
              <a:p>
                <a:pPr algn="ctr"/>
                <a:r>
                  <a:rPr lang="zh-TW" altLang="en-US" sz="1500" b="1" dirty="0">
                    <a:latin typeface="微軟正黑體" panose="020B0604030504040204" pitchFamily="34" charset="-120"/>
                    <a:ea typeface="微軟正黑體" panose="020B0604030504040204" pitchFamily="34" charset="-120"/>
                  </a:rPr>
                  <a:t>公告</a:t>
                </a:r>
              </a:p>
            </p:txBody>
          </p:sp>
          <p:sp>
            <p:nvSpPr>
              <p:cNvPr id="46" name="文字方塊 45">
                <a:extLst>
                  <a:ext uri="{FF2B5EF4-FFF2-40B4-BE49-F238E27FC236}">
                    <a16:creationId xmlns:a16="http://schemas.microsoft.com/office/drawing/2014/main" id="{180031A8-A259-7BA4-73ED-A62B333EDAC8}"/>
                  </a:ext>
                </a:extLst>
              </p:cNvPr>
              <p:cNvSpPr txBox="1"/>
              <p:nvPr/>
            </p:nvSpPr>
            <p:spPr>
              <a:xfrm>
                <a:off x="1002070" y="1778816"/>
                <a:ext cx="1675177" cy="323165"/>
              </a:xfrm>
              <a:prstGeom prst="rect">
                <a:avLst/>
              </a:prstGeom>
              <a:noFill/>
            </p:spPr>
            <p:txBody>
              <a:bodyPr wrap="square">
                <a:spAutoFit/>
              </a:bodyPr>
              <a:lstStyle/>
              <a:p>
                <a:pPr algn="ctr"/>
                <a:r>
                  <a:rPr lang="en-US" altLang="zh-TW" sz="1500" b="1" dirty="0">
                    <a:latin typeface="微軟正黑體" panose="020B0604030504040204" pitchFamily="34" charset="-120"/>
                    <a:ea typeface="微軟正黑體" panose="020B0604030504040204" pitchFamily="34" charset="-120"/>
                  </a:rPr>
                  <a:t>113/8/1</a:t>
                </a:r>
                <a:endParaRPr lang="zh-TW" altLang="en-US" sz="1500" b="1" dirty="0">
                  <a:latin typeface="微軟正黑體" panose="020B0604030504040204" pitchFamily="34" charset="-120"/>
                  <a:ea typeface="微軟正黑體" panose="020B0604030504040204" pitchFamily="34" charset="-120"/>
                </a:endParaRPr>
              </a:p>
            </p:txBody>
          </p:sp>
        </p:grpSp>
      </p:grpSp>
      <p:sp>
        <p:nvSpPr>
          <p:cNvPr id="56" name="文字方塊 55">
            <a:extLst>
              <a:ext uri="{FF2B5EF4-FFF2-40B4-BE49-F238E27FC236}">
                <a16:creationId xmlns:a16="http://schemas.microsoft.com/office/drawing/2014/main" id="{51F329B7-B449-0794-C2E8-D1C97F7751AB}"/>
              </a:ext>
            </a:extLst>
          </p:cNvPr>
          <p:cNvSpPr txBox="1"/>
          <p:nvPr/>
        </p:nvSpPr>
        <p:spPr>
          <a:xfrm>
            <a:off x="231005" y="3894098"/>
            <a:ext cx="1133872" cy="341376"/>
          </a:xfrm>
          <a:prstGeom prst="rect">
            <a:avLst/>
          </a:prstGeom>
        </p:spPr>
        <p:style>
          <a:lnRef idx="1">
            <a:schemeClr val="accent3"/>
          </a:lnRef>
          <a:fillRef idx="2">
            <a:schemeClr val="accent3"/>
          </a:fillRef>
          <a:effectRef idx="1">
            <a:schemeClr val="accent3"/>
          </a:effectRef>
          <a:fontRef idx="minor">
            <a:schemeClr val="dk1"/>
          </a:fontRef>
        </p:style>
        <p:txBody>
          <a:bodyPr wrap="square" lIns="36000" rIns="36000">
            <a:spAutoFit/>
          </a:bodyPr>
          <a:lstStyle/>
          <a:p>
            <a:pPr marL="174625" indent="-174625" algn="ctr">
              <a:lnSpc>
                <a:spcPts val="2100"/>
              </a:lnSpc>
              <a:spcBef>
                <a:spcPts val="0"/>
              </a:spcBef>
            </a:pPr>
            <a:r>
              <a:rPr lang="zh-TW" altLang="en-US" sz="1600" b="1" dirty="0">
                <a:latin typeface="微軟正黑體" panose="020B0604030504040204" pitchFamily="34" charset="-120"/>
                <a:ea typeface="微軟正黑體" panose="020B0604030504040204" pitchFamily="34" charset="-120"/>
              </a:rPr>
              <a:t>新型專利</a:t>
            </a:r>
            <a:endParaRPr lang="en-US" altLang="zh-TW" sz="1600" b="1" dirty="0">
              <a:latin typeface="微軟正黑體" panose="020B0604030504040204" pitchFamily="34" charset="-120"/>
              <a:ea typeface="微軟正黑體" panose="020B0604030504040204" pitchFamily="34" charset="-120"/>
            </a:endParaRPr>
          </a:p>
        </p:txBody>
      </p:sp>
      <p:sp>
        <p:nvSpPr>
          <p:cNvPr id="57" name="文字方塊 56">
            <a:extLst>
              <a:ext uri="{FF2B5EF4-FFF2-40B4-BE49-F238E27FC236}">
                <a16:creationId xmlns:a16="http://schemas.microsoft.com/office/drawing/2014/main" id="{51F329B7-B449-0794-C2E8-D1C97F7751AB}"/>
              </a:ext>
            </a:extLst>
          </p:cNvPr>
          <p:cNvSpPr txBox="1"/>
          <p:nvPr/>
        </p:nvSpPr>
        <p:spPr>
          <a:xfrm>
            <a:off x="265696" y="5572414"/>
            <a:ext cx="1133872" cy="341376"/>
          </a:xfrm>
          <a:prstGeom prst="rect">
            <a:avLst/>
          </a:prstGeom>
        </p:spPr>
        <p:style>
          <a:lnRef idx="1">
            <a:schemeClr val="accent5"/>
          </a:lnRef>
          <a:fillRef idx="2">
            <a:schemeClr val="accent5"/>
          </a:fillRef>
          <a:effectRef idx="1">
            <a:schemeClr val="accent5"/>
          </a:effectRef>
          <a:fontRef idx="minor">
            <a:schemeClr val="dk1"/>
          </a:fontRef>
        </p:style>
        <p:txBody>
          <a:bodyPr wrap="square" lIns="36000" rIns="36000">
            <a:spAutoFit/>
          </a:bodyPr>
          <a:lstStyle/>
          <a:p>
            <a:pPr marL="174625" indent="-174625" algn="ctr">
              <a:lnSpc>
                <a:spcPts val="2100"/>
              </a:lnSpc>
              <a:spcBef>
                <a:spcPts val="0"/>
              </a:spcBef>
            </a:pPr>
            <a:r>
              <a:rPr lang="zh-TW" altLang="en-US" sz="1600" b="1" dirty="0">
                <a:latin typeface="微軟正黑體" panose="020B0604030504040204" pitchFamily="34" charset="-120"/>
                <a:ea typeface="微軟正黑體" panose="020B0604030504040204" pitchFamily="34" charset="-120"/>
              </a:rPr>
              <a:t>發明專利</a:t>
            </a:r>
            <a:endParaRPr lang="en-US" altLang="zh-TW" sz="1600" b="1" dirty="0">
              <a:latin typeface="微軟正黑體" panose="020B0604030504040204" pitchFamily="34" charset="-120"/>
              <a:ea typeface="微軟正黑體" panose="020B0604030504040204" pitchFamily="34" charset="-120"/>
            </a:endParaRPr>
          </a:p>
        </p:txBody>
      </p:sp>
      <p:grpSp>
        <p:nvGrpSpPr>
          <p:cNvPr id="6" name="群組 5"/>
          <p:cNvGrpSpPr/>
          <p:nvPr/>
        </p:nvGrpSpPr>
        <p:grpSpPr>
          <a:xfrm>
            <a:off x="1399568" y="3843955"/>
            <a:ext cx="5971130" cy="1313238"/>
            <a:chOff x="1399568" y="3979427"/>
            <a:chExt cx="5971130" cy="1232190"/>
          </a:xfrm>
        </p:grpSpPr>
        <p:grpSp>
          <p:nvGrpSpPr>
            <p:cNvPr id="20" name="群組 19"/>
            <p:cNvGrpSpPr/>
            <p:nvPr/>
          </p:nvGrpSpPr>
          <p:grpSpPr>
            <a:xfrm>
              <a:off x="1399568" y="3979427"/>
              <a:ext cx="5139203" cy="1222471"/>
              <a:chOff x="340539" y="847795"/>
              <a:chExt cx="5139203" cy="1222471"/>
            </a:xfrm>
          </p:grpSpPr>
          <p:cxnSp>
            <p:nvCxnSpPr>
              <p:cNvPr id="21" name="直線單箭頭接點 20">
                <a:extLst>
                  <a:ext uri="{FF2B5EF4-FFF2-40B4-BE49-F238E27FC236}">
                    <a16:creationId xmlns:a16="http://schemas.microsoft.com/office/drawing/2014/main" id="{EE788D0E-EC96-36E1-41E9-C55678655865}"/>
                  </a:ext>
                </a:extLst>
              </p:cNvPr>
              <p:cNvCxnSpPr/>
              <p:nvPr/>
            </p:nvCxnSpPr>
            <p:spPr>
              <a:xfrm flipV="1">
                <a:off x="467544" y="1571775"/>
                <a:ext cx="5012198" cy="6971"/>
              </a:xfrm>
              <a:prstGeom prst="straightConnector1">
                <a:avLst/>
              </a:prstGeom>
              <a:ln w="41275">
                <a:tailEnd type="triangle"/>
              </a:ln>
            </p:spPr>
            <p:style>
              <a:lnRef idx="1">
                <a:schemeClr val="accent1"/>
              </a:lnRef>
              <a:fillRef idx="0">
                <a:schemeClr val="accent1"/>
              </a:fillRef>
              <a:effectRef idx="0">
                <a:schemeClr val="accent1"/>
              </a:effectRef>
              <a:fontRef idx="minor">
                <a:schemeClr val="tx1"/>
              </a:fontRef>
            </p:style>
          </p:cxnSp>
          <p:grpSp>
            <p:nvGrpSpPr>
              <p:cNvPr id="22" name="群組 21"/>
              <p:cNvGrpSpPr/>
              <p:nvPr/>
            </p:nvGrpSpPr>
            <p:grpSpPr>
              <a:xfrm>
                <a:off x="1683213" y="897844"/>
                <a:ext cx="1800200" cy="1156067"/>
                <a:chOff x="1683213" y="897844"/>
                <a:chExt cx="1800200" cy="1156067"/>
              </a:xfrm>
            </p:grpSpPr>
            <p:cxnSp>
              <p:nvCxnSpPr>
                <p:cNvPr id="35" name="直線接點 34">
                  <a:extLst>
                    <a:ext uri="{FF2B5EF4-FFF2-40B4-BE49-F238E27FC236}">
                      <a16:creationId xmlns:a16="http://schemas.microsoft.com/office/drawing/2014/main" id="{AE77A9CB-E1A7-5446-022C-5647ECA3E2E3}"/>
                    </a:ext>
                  </a:extLst>
                </p:cNvPr>
                <p:cNvCxnSpPr/>
                <p:nvPr/>
              </p:nvCxnSpPr>
              <p:spPr>
                <a:xfrm>
                  <a:off x="2583313" y="1434730"/>
                  <a:ext cx="0" cy="288032"/>
                </a:xfrm>
                <a:prstGeom prst="line">
                  <a:avLst/>
                </a:prstGeom>
                <a:ln w="34925"/>
              </p:spPr>
              <p:style>
                <a:lnRef idx="1">
                  <a:schemeClr val="accent2"/>
                </a:lnRef>
                <a:fillRef idx="0">
                  <a:schemeClr val="accent2"/>
                </a:fillRef>
                <a:effectRef idx="0">
                  <a:schemeClr val="accent2"/>
                </a:effectRef>
                <a:fontRef idx="minor">
                  <a:schemeClr val="tx1"/>
                </a:fontRef>
              </p:style>
            </p:cxnSp>
            <p:sp>
              <p:nvSpPr>
                <p:cNvPr id="36" name="文字方塊 35">
                  <a:extLst>
                    <a:ext uri="{FF2B5EF4-FFF2-40B4-BE49-F238E27FC236}">
                      <a16:creationId xmlns:a16="http://schemas.microsoft.com/office/drawing/2014/main" id="{E4719584-4998-495E-29B5-AD52C88FC9BC}"/>
                    </a:ext>
                  </a:extLst>
                </p:cNvPr>
                <p:cNvSpPr txBox="1"/>
                <p:nvPr/>
              </p:nvSpPr>
              <p:spPr>
                <a:xfrm>
                  <a:off x="1816537" y="897844"/>
                  <a:ext cx="1550154" cy="553998"/>
                </a:xfrm>
                <a:prstGeom prst="rect">
                  <a:avLst/>
                </a:prstGeom>
                <a:noFill/>
              </p:spPr>
              <p:txBody>
                <a:bodyPr wrap="square">
                  <a:spAutoFit/>
                </a:bodyPr>
                <a:lstStyle/>
                <a:p>
                  <a:pPr algn="ctr"/>
                  <a:r>
                    <a:rPr lang="zh-TW" altLang="en-US" sz="1500" b="1" dirty="0">
                      <a:latin typeface="微軟正黑體" panose="020B0604030504040204" pitchFamily="34" charset="-120"/>
                      <a:ea typeface="微軟正黑體" panose="020B0604030504040204" pitchFamily="34" charset="-120"/>
                    </a:rPr>
                    <a:t>專利核准；</a:t>
                  </a:r>
                  <a:endParaRPr lang="en-US" altLang="zh-TW" sz="1500" b="1" dirty="0">
                    <a:latin typeface="微軟正黑體" panose="020B0604030504040204" pitchFamily="34" charset="-120"/>
                    <a:ea typeface="微軟正黑體" panose="020B0604030504040204" pitchFamily="34" charset="-120"/>
                  </a:endParaRPr>
                </a:p>
                <a:p>
                  <a:pPr algn="ctr"/>
                  <a:r>
                    <a:rPr lang="zh-TW" altLang="en-US" sz="1500" b="1" dirty="0">
                      <a:latin typeface="微軟正黑體" panose="020B0604030504040204" pitchFamily="34" charset="-120"/>
                      <a:ea typeface="微軟正黑體" panose="020B0604030504040204" pitchFamily="34" charset="-120"/>
                    </a:rPr>
                    <a:t>公告</a:t>
                  </a:r>
                </a:p>
              </p:txBody>
            </p:sp>
            <p:sp>
              <p:nvSpPr>
                <p:cNvPr id="37" name="文字方塊 36">
                  <a:extLst>
                    <a:ext uri="{FF2B5EF4-FFF2-40B4-BE49-F238E27FC236}">
                      <a16:creationId xmlns:a16="http://schemas.microsoft.com/office/drawing/2014/main" id="{180031A8-A259-7BA4-73ED-A62B333EDAC8}"/>
                    </a:ext>
                  </a:extLst>
                </p:cNvPr>
                <p:cNvSpPr txBox="1"/>
                <p:nvPr/>
              </p:nvSpPr>
              <p:spPr>
                <a:xfrm>
                  <a:off x="1683213" y="1730746"/>
                  <a:ext cx="1800200" cy="323165"/>
                </a:xfrm>
                <a:prstGeom prst="rect">
                  <a:avLst/>
                </a:prstGeom>
                <a:noFill/>
              </p:spPr>
              <p:txBody>
                <a:bodyPr wrap="square">
                  <a:spAutoFit/>
                </a:bodyPr>
                <a:lstStyle/>
                <a:p>
                  <a:pPr algn="ctr"/>
                  <a:r>
                    <a:rPr lang="en-US" altLang="zh-TW" sz="1500" b="1" dirty="0">
                      <a:latin typeface="微軟正黑體" panose="020B0604030504040204" pitchFamily="34" charset="-120"/>
                      <a:ea typeface="微軟正黑體" panose="020B0604030504040204" pitchFamily="34" charset="-120"/>
                    </a:rPr>
                    <a:t>112/6/1</a:t>
                  </a:r>
                  <a:endParaRPr lang="zh-TW" altLang="en-US" sz="1500" b="1" dirty="0">
                    <a:latin typeface="微軟正黑體" panose="020B0604030504040204" pitchFamily="34" charset="-120"/>
                    <a:ea typeface="微軟正黑體" panose="020B0604030504040204" pitchFamily="34" charset="-120"/>
                  </a:endParaRPr>
                </a:p>
              </p:txBody>
            </p:sp>
          </p:grpSp>
          <p:grpSp>
            <p:nvGrpSpPr>
              <p:cNvPr id="23" name="群組 22"/>
              <p:cNvGrpSpPr/>
              <p:nvPr/>
            </p:nvGrpSpPr>
            <p:grpSpPr>
              <a:xfrm>
                <a:off x="340539" y="847795"/>
                <a:ext cx="1548172" cy="1222471"/>
                <a:chOff x="340539" y="847795"/>
                <a:chExt cx="1548172" cy="1222471"/>
              </a:xfrm>
            </p:grpSpPr>
            <p:cxnSp>
              <p:nvCxnSpPr>
                <p:cNvPr id="32" name="直線接點 31">
                  <a:extLst>
                    <a:ext uri="{FF2B5EF4-FFF2-40B4-BE49-F238E27FC236}">
                      <a16:creationId xmlns:a16="http://schemas.microsoft.com/office/drawing/2014/main" id="{29A72B70-67AF-C216-D652-620E5BAD978F}"/>
                    </a:ext>
                  </a:extLst>
                </p:cNvPr>
                <p:cNvCxnSpPr/>
                <p:nvPr/>
              </p:nvCxnSpPr>
              <p:spPr>
                <a:xfrm>
                  <a:off x="1115616" y="1451842"/>
                  <a:ext cx="0" cy="288032"/>
                </a:xfrm>
                <a:prstGeom prst="line">
                  <a:avLst/>
                </a:prstGeom>
                <a:ln w="34925">
                  <a:solidFill>
                    <a:schemeClr val="tx1"/>
                  </a:solidFill>
                </a:ln>
              </p:spPr>
              <p:style>
                <a:lnRef idx="1">
                  <a:schemeClr val="accent2"/>
                </a:lnRef>
                <a:fillRef idx="0">
                  <a:schemeClr val="accent2"/>
                </a:fillRef>
                <a:effectRef idx="0">
                  <a:schemeClr val="accent2"/>
                </a:effectRef>
                <a:fontRef idx="minor">
                  <a:schemeClr val="tx1"/>
                </a:fontRef>
              </p:style>
            </p:cxnSp>
            <p:sp>
              <p:nvSpPr>
                <p:cNvPr id="33" name="文字方塊 32">
                  <a:extLst>
                    <a:ext uri="{FF2B5EF4-FFF2-40B4-BE49-F238E27FC236}">
                      <a16:creationId xmlns:a16="http://schemas.microsoft.com/office/drawing/2014/main" id="{D16330D3-1597-CE42-70C9-C18DBC163D5A}"/>
                    </a:ext>
                  </a:extLst>
                </p:cNvPr>
                <p:cNvSpPr txBox="1"/>
                <p:nvPr/>
              </p:nvSpPr>
              <p:spPr>
                <a:xfrm>
                  <a:off x="340539" y="847795"/>
                  <a:ext cx="1548172" cy="553998"/>
                </a:xfrm>
                <a:prstGeom prst="rect">
                  <a:avLst/>
                </a:prstGeom>
                <a:noFill/>
              </p:spPr>
              <p:txBody>
                <a:bodyPr wrap="square">
                  <a:spAutoFit/>
                </a:bodyPr>
                <a:lstStyle/>
                <a:p>
                  <a:pPr algn="ctr"/>
                  <a:r>
                    <a:rPr lang="zh-TW" altLang="en-US" sz="1500" b="1" dirty="0">
                      <a:latin typeface="微軟正黑體" panose="020B0604030504040204" pitchFamily="34" charset="-120"/>
                      <a:ea typeface="微軟正黑體" panose="020B0604030504040204" pitchFamily="34" charset="-120"/>
                    </a:rPr>
                    <a:t>申請；聲明</a:t>
                  </a:r>
                  <a:r>
                    <a:rPr lang="zh-TW" altLang="en-US" sz="1500" b="1" u="sng" dirty="0">
                      <a:latin typeface="微軟正黑體" panose="020B0604030504040204" pitchFamily="34" charset="-120"/>
                      <a:ea typeface="微軟正黑體" panose="020B0604030504040204" pitchFamily="34" charset="-120"/>
                    </a:rPr>
                    <a:t>同日申請發明專利</a:t>
                  </a:r>
                </a:p>
              </p:txBody>
            </p:sp>
            <p:sp>
              <p:nvSpPr>
                <p:cNvPr id="34" name="文字方塊 33">
                  <a:extLst>
                    <a:ext uri="{FF2B5EF4-FFF2-40B4-BE49-F238E27FC236}">
                      <a16:creationId xmlns:a16="http://schemas.microsoft.com/office/drawing/2014/main" id="{751B193B-1DD9-F8A7-BAF9-331A7D809290}"/>
                    </a:ext>
                  </a:extLst>
                </p:cNvPr>
                <p:cNvSpPr txBox="1"/>
                <p:nvPr/>
              </p:nvSpPr>
              <p:spPr>
                <a:xfrm>
                  <a:off x="398163" y="1747101"/>
                  <a:ext cx="1434905" cy="323165"/>
                </a:xfrm>
                <a:prstGeom prst="rect">
                  <a:avLst/>
                </a:prstGeom>
                <a:noFill/>
              </p:spPr>
              <p:txBody>
                <a:bodyPr wrap="square">
                  <a:spAutoFit/>
                </a:bodyPr>
                <a:lstStyle/>
                <a:p>
                  <a:pPr algn="ctr"/>
                  <a:r>
                    <a:rPr lang="en-US" altLang="zh-TW" sz="1500" b="1" dirty="0">
                      <a:latin typeface="微軟正黑體" panose="020B0604030504040204" pitchFamily="34" charset="-120"/>
                      <a:ea typeface="微軟正黑體" panose="020B0604030504040204" pitchFamily="34" charset="-120"/>
                    </a:rPr>
                    <a:t>112/1/1</a:t>
                  </a:r>
                  <a:endParaRPr lang="zh-TW" altLang="en-US" sz="1500" b="1" dirty="0">
                    <a:latin typeface="微軟正黑體" panose="020B0604030504040204" pitchFamily="34" charset="-120"/>
                    <a:ea typeface="微軟正黑體" panose="020B0604030504040204" pitchFamily="34" charset="-120"/>
                  </a:endParaRPr>
                </a:p>
              </p:txBody>
            </p:sp>
          </p:grpSp>
        </p:grpSp>
        <p:grpSp>
          <p:nvGrpSpPr>
            <p:cNvPr id="64" name="群組 63"/>
            <p:cNvGrpSpPr/>
            <p:nvPr/>
          </p:nvGrpSpPr>
          <p:grpSpPr>
            <a:xfrm>
              <a:off x="5695521" y="4005393"/>
              <a:ext cx="1675177" cy="1206224"/>
              <a:chOff x="1002070" y="895757"/>
              <a:chExt cx="1675177" cy="1206224"/>
            </a:xfrm>
          </p:grpSpPr>
          <p:cxnSp>
            <p:nvCxnSpPr>
              <p:cNvPr id="65" name="直線接點 64">
                <a:extLst>
                  <a:ext uri="{FF2B5EF4-FFF2-40B4-BE49-F238E27FC236}">
                    <a16:creationId xmlns:a16="http://schemas.microsoft.com/office/drawing/2014/main" id="{AE77A9CB-E1A7-5446-022C-5647ECA3E2E3}"/>
                  </a:ext>
                </a:extLst>
              </p:cNvPr>
              <p:cNvCxnSpPr/>
              <p:nvPr/>
            </p:nvCxnSpPr>
            <p:spPr>
              <a:xfrm>
                <a:off x="1822765" y="1449755"/>
                <a:ext cx="0" cy="288032"/>
              </a:xfrm>
              <a:prstGeom prst="line">
                <a:avLst/>
              </a:prstGeom>
              <a:ln w="34925"/>
            </p:spPr>
            <p:style>
              <a:lnRef idx="1">
                <a:schemeClr val="accent2"/>
              </a:lnRef>
              <a:fillRef idx="0">
                <a:schemeClr val="accent2"/>
              </a:fillRef>
              <a:effectRef idx="0">
                <a:schemeClr val="accent2"/>
              </a:effectRef>
              <a:fontRef idx="minor">
                <a:schemeClr val="tx1"/>
              </a:fontRef>
            </p:style>
          </p:cxnSp>
          <p:sp>
            <p:nvSpPr>
              <p:cNvPr id="66" name="文字方塊 65">
                <a:extLst>
                  <a:ext uri="{FF2B5EF4-FFF2-40B4-BE49-F238E27FC236}">
                    <a16:creationId xmlns:a16="http://schemas.microsoft.com/office/drawing/2014/main" id="{E4719584-4998-495E-29B5-AD52C88FC9BC}"/>
                  </a:ext>
                </a:extLst>
              </p:cNvPr>
              <p:cNvSpPr txBox="1"/>
              <p:nvPr/>
            </p:nvSpPr>
            <p:spPr>
              <a:xfrm>
                <a:off x="1135395" y="895757"/>
                <a:ext cx="1416830" cy="584775"/>
              </a:xfrm>
              <a:prstGeom prst="rect">
                <a:avLst/>
              </a:prstGeom>
              <a:noFill/>
            </p:spPr>
            <p:txBody>
              <a:bodyPr wrap="square">
                <a:spAutoFit/>
              </a:bodyPr>
              <a:lstStyle/>
              <a:p>
                <a:pPr algn="ctr"/>
                <a:r>
                  <a:rPr lang="zh-TW" altLang="en-US" sz="1600" b="1" dirty="0">
                    <a:latin typeface="微軟正黑體" panose="020B0604030504040204" pitchFamily="34" charset="-120"/>
                    <a:ea typeface="微軟正黑體" panose="020B0604030504040204" pitchFamily="34" charset="-120"/>
                  </a:rPr>
                  <a:t>新型專利權</a:t>
                </a:r>
                <a:endParaRPr lang="en-US" altLang="zh-TW" sz="1600" b="1" dirty="0">
                  <a:latin typeface="微軟正黑體" panose="020B0604030504040204" pitchFamily="34" charset="-120"/>
                  <a:ea typeface="微軟正黑體" panose="020B0604030504040204" pitchFamily="34" charset="-120"/>
                </a:endParaRPr>
              </a:p>
              <a:p>
                <a:pPr algn="ctr"/>
                <a:r>
                  <a:rPr lang="zh-TW" altLang="en-US" sz="1600" b="1" dirty="0">
                    <a:latin typeface="微軟正黑體" panose="020B0604030504040204" pitchFamily="34" charset="-120"/>
                    <a:ea typeface="微軟正黑體" panose="020B0604030504040204" pitchFamily="34" charset="-120"/>
                  </a:rPr>
                  <a:t>消滅</a:t>
                </a:r>
                <a:endParaRPr lang="zh-TW" altLang="en-US" sz="1500" b="1" dirty="0">
                  <a:latin typeface="微軟正黑體" panose="020B0604030504040204" pitchFamily="34" charset="-120"/>
                  <a:ea typeface="微軟正黑體" panose="020B0604030504040204" pitchFamily="34" charset="-120"/>
                </a:endParaRPr>
              </a:p>
            </p:txBody>
          </p:sp>
          <p:sp>
            <p:nvSpPr>
              <p:cNvPr id="67" name="文字方塊 66">
                <a:extLst>
                  <a:ext uri="{FF2B5EF4-FFF2-40B4-BE49-F238E27FC236}">
                    <a16:creationId xmlns:a16="http://schemas.microsoft.com/office/drawing/2014/main" id="{180031A8-A259-7BA4-73ED-A62B333EDAC8}"/>
                  </a:ext>
                </a:extLst>
              </p:cNvPr>
              <p:cNvSpPr txBox="1"/>
              <p:nvPr/>
            </p:nvSpPr>
            <p:spPr>
              <a:xfrm>
                <a:off x="1002070" y="1778816"/>
                <a:ext cx="1675177" cy="323165"/>
              </a:xfrm>
              <a:prstGeom prst="rect">
                <a:avLst/>
              </a:prstGeom>
              <a:noFill/>
            </p:spPr>
            <p:txBody>
              <a:bodyPr wrap="square">
                <a:spAutoFit/>
              </a:bodyPr>
              <a:lstStyle/>
              <a:p>
                <a:pPr algn="ctr"/>
                <a:r>
                  <a:rPr lang="en-US" altLang="zh-TW" sz="1500" b="1" dirty="0">
                    <a:latin typeface="微軟正黑體" panose="020B0604030504040204" pitchFamily="34" charset="-120"/>
                    <a:ea typeface="微軟正黑體" panose="020B0604030504040204" pitchFamily="34" charset="-120"/>
                  </a:rPr>
                  <a:t>113/8/1</a:t>
                </a:r>
                <a:endParaRPr lang="zh-TW" altLang="en-US" sz="1500" b="1" dirty="0">
                  <a:latin typeface="微軟正黑體" panose="020B0604030504040204" pitchFamily="34" charset="-120"/>
                  <a:ea typeface="微軟正黑體" panose="020B0604030504040204" pitchFamily="34" charset="-120"/>
                </a:endParaRPr>
              </a:p>
            </p:txBody>
          </p:sp>
        </p:grpSp>
      </p:grpSp>
      <p:cxnSp>
        <p:nvCxnSpPr>
          <p:cNvPr id="69" name="直線接點 68">
            <a:extLst>
              <a:ext uri="{FF2B5EF4-FFF2-40B4-BE49-F238E27FC236}">
                <a16:creationId xmlns:a16="http://schemas.microsoft.com/office/drawing/2014/main" id="{AE77A9CB-E1A7-5446-022C-5647ECA3E2E3}"/>
              </a:ext>
            </a:extLst>
          </p:cNvPr>
          <p:cNvCxnSpPr/>
          <p:nvPr/>
        </p:nvCxnSpPr>
        <p:spPr>
          <a:xfrm>
            <a:off x="3650643" y="5167830"/>
            <a:ext cx="0" cy="288032"/>
          </a:xfrm>
          <a:prstGeom prst="line">
            <a:avLst/>
          </a:prstGeom>
          <a:ln w="34925"/>
        </p:spPr>
        <p:style>
          <a:lnRef idx="1">
            <a:schemeClr val="accent2"/>
          </a:lnRef>
          <a:fillRef idx="0">
            <a:schemeClr val="accent2"/>
          </a:fillRef>
          <a:effectRef idx="0">
            <a:schemeClr val="accent2"/>
          </a:effectRef>
          <a:fontRef idx="minor">
            <a:schemeClr val="tx1"/>
          </a:fontRef>
        </p:style>
      </p:cxnSp>
      <p:cxnSp>
        <p:nvCxnSpPr>
          <p:cNvPr id="70" name="直線接點 69">
            <a:extLst>
              <a:ext uri="{FF2B5EF4-FFF2-40B4-BE49-F238E27FC236}">
                <a16:creationId xmlns:a16="http://schemas.microsoft.com/office/drawing/2014/main" id="{AE77A9CB-E1A7-5446-022C-5647ECA3E2E3}"/>
              </a:ext>
            </a:extLst>
          </p:cNvPr>
          <p:cNvCxnSpPr/>
          <p:nvPr/>
        </p:nvCxnSpPr>
        <p:spPr>
          <a:xfrm>
            <a:off x="6538771" y="5176214"/>
            <a:ext cx="0" cy="288032"/>
          </a:xfrm>
          <a:prstGeom prst="line">
            <a:avLst/>
          </a:prstGeom>
          <a:ln w="34925"/>
        </p:spPr>
        <p:style>
          <a:lnRef idx="1">
            <a:schemeClr val="accent2"/>
          </a:lnRef>
          <a:fillRef idx="0">
            <a:schemeClr val="accent2"/>
          </a:fillRef>
          <a:effectRef idx="0">
            <a:schemeClr val="accent2"/>
          </a:effectRef>
          <a:fontRef idx="minor">
            <a:schemeClr val="tx1"/>
          </a:fontRef>
        </p:style>
      </p:cxnSp>
      <p:sp>
        <p:nvSpPr>
          <p:cNvPr id="9" name="向右箭號 8"/>
          <p:cNvSpPr/>
          <p:nvPr/>
        </p:nvSpPr>
        <p:spPr>
          <a:xfrm>
            <a:off x="3650642" y="5176214"/>
            <a:ext cx="2865573" cy="228609"/>
          </a:xfrm>
          <a:prstGeom prst="rightArrow">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TW" altLang="en-US"/>
          </a:p>
        </p:txBody>
      </p:sp>
      <p:sp>
        <p:nvSpPr>
          <p:cNvPr id="71" name="向右箭號 70"/>
          <p:cNvSpPr/>
          <p:nvPr/>
        </p:nvSpPr>
        <p:spPr>
          <a:xfrm>
            <a:off x="6538771" y="5190715"/>
            <a:ext cx="2209693" cy="199606"/>
          </a:xfrm>
          <a:prstGeom prst="striped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6638909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DE3E5D12-4A7C-4174-04B4-E44BB42ED13F}"/>
              </a:ext>
            </a:extLst>
          </p:cNvPr>
          <p:cNvSpPr>
            <a:spLocks noGrp="1"/>
          </p:cNvSpPr>
          <p:nvPr>
            <p:ph type="title"/>
          </p:nvPr>
        </p:nvSpPr>
        <p:spPr/>
        <p:txBody>
          <a:bodyPr/>
          <a:lstStyle/>
          <a:p>
            <a:r>
              <a:rPr lang="zh-TW" altLang="en-US" dirty="0"/>
              <a:t>一案兩請</a:t>
            </a:r>
          </a:p>
        </p:txBody>
      </p:sp>
      <p:sp>
        <p:nvSpPr>
          <p:cNvPr id="10" name="內容版面配置區 9">
            <a:extLst>
              <a:ext uri="{FF2B5EF4-FFF2-40B4-BE49-F238E27FC236}">
                <a16:creationId xmlns:a16="http://schemas.microsoft.com/office/drawing/2014/main" id="{B942D791-A400-700D-0362-EC57CF9F37C8}"/>
              </a:ext>
            </a:extLst>
          </p:cNvPr>
          <p:cNvSpPr>
            <a:spLocks noGrp="1"/>
          </p:cNvSpPr>
          <p:nvPr>
            <p:ph idx="1"/>
          </p:nvPr>
        </p:nvSpPr>
        <p:spPr>
          <a:xfrm>
            <a:off x="457200" y="870656"/>
            <a:ext cx="8229600" cy="5654688"/>
          </a:xfrm>
        </p:spPr>
        <p:txBody>
          <a:bodyPr>
            <a:normAutofit lnSpcReduction="10000"/>
          </a:bodyPr>
          <a:lstStyle/>
          <a:p>
            <a:pPr>
              <a:lnSpc>
                <a:spcPct val="120000"/>
              </a:lnSpc>
            </a:pPr>
            <a:r>
              <a:rPr lang="zh-TW" altLang="en-US" sz="3100" dirty="0"/>
              <a:t>優點</a:t>
            </a:r>
            <a:endParaRPr lang="en-US" altLang="zh-TW" sz="3100" dirty="0"/>
          </a:p>
          <a:p>
            <a:pPr lvl="1">
              <a:lnSpc>
                <a:spcPct val="120000"/>
              </a:lnSpc>
            </a:pPr>
            <a:r>
              <a:rPr lang="zh-TW" altLang="en-US" sz="2400" dirty="0"/>
              <a:t>新型專利較快核准，可先取得新型專利權保護</a:t>
            </a:r>
            <a:endParaRPr lang="en-US" altLang="zh-TW" sz="2400" dirty="0"/>
          </a:p>
          <a:p>
            <a:pPr lvl="1">
              <a:lnSpc>
                <a:spcPct val="120000"/>
              </a:lnSpc>
            </a:pPr>
            <a:r>
              <a:rPr lang="zh-TW" altLang="en-US" sz="2400" dirty="0"/>
              <a:t>權利接續</a:t>
            </a:r>
            <a:endParaRPr lang="en-US" altLang="zh-TW" sz="2400" dirty="0"/>
          </a:p>
          <a:p>
            <a:pPr lvl="2">
              <a:lnSpc>
                <a:spcPct val="120000"/>
              </a:lnSpc>
            </a:pPr>
            <a:r>
              <a:rPr lang="zh-TW" altLang="en-US" sz="2000" dirty="0"/>
              <a:t>產品先有新型專利權保護，進行專利布局</a:t>
            </a:r>
            <a:endParaRPr lang="en-US" altLang="zh-TW" sz="2000" dirty="0"/>
          </a:p>
          <a:p>
            <a:pPr lvl="2">
              <a:lnSpc>
                <a:spcPct val="120000"/>
              </a:lnSpc>
            </a:pPr>
            <a:r>
              <a:rPr lang="zh-TW" altLang="en-US" sz="2000" dirty="0"/>
              <a:t>新型專利權授權給他人使用</a:t>
            </a:r>
            <a:endParaRPr lang="en-US" altLang="zh-TW" sz="2000" dirty="0"/>
          </a:p>
          <a:p>
            <a:pPr lvl="2">
              <a:lnSpc>
                <a:spcPct val="120000"/>
              </a:lnSpc>
            </a:pPr>
            <a:r>
              <a:rPr lang="zh-TW" altLang="en-US" sz="2000" dirty="0"/>
              <a:t>根據當時的市場及布局，並衡酌發明專利審查情況，選擇要保留新型專利權或</a:t>
            </a:r>
            <a:r>
              <a:rPr lang="en-US" altLang="zh-TW" sz="2000" dirty="0"/>
              <a:t>/</a:t>
            </a:r>
            <a:r>
              <a:rPr lang="zh-TW" altLang="en-US" sz="2000" dirty="0"/>
              <a:t>及取得發明專利權</a:t>
            </a:r>
            <a:endParaRPr lang="en-US" altLang="zh-TW" sz="2000" dirty="0"/>
          </a:p>
          <a:p>
            <a:pPr>
              <a:lnSpc>
                <a:spcPct val="120000"/>
              </a:lnSpc>
            </a:pPr>
            <a:r>
              <a:rPr lang="zh-TW" altLang="en-US" sz="2700" dirty="0"/>
              <a:t>缺點</a:t>
            </a:r>
            <a:endParaRPr lang="en-US" altLang="zh-TW" sz="2700" dirty="0"/>
          </a:p>
          <a:p>
            <a:pPr lvl="1">
              <a:lnSpc>
                <a:spcPct val="120000"/>
              </a:lnSpc>
            </a:pPr>
            <a:r>
              <a:rPr lang="zh-TW" altLang="en-US" sz="2400" dirty="0"/>
              <a:t>費用增加</a:t>
            </a:r>
            <a:endParaRPr lang="en-US" altLang="zh-TW" sz="2300" dirty="0"/>
          </a:p>
          <a:p>
            <a:pPr lvl="1">
              <a:lnSpc>
                <a:spcPct val="120000"/>
              </a:lnSpc>
            </a:pPr>
            <a:r>
              <a:rPr lang="zh-TW" altLang="en-US" sz="2300" dirty="0"/>
              <a:t>新型專利是形式審查，實施權利必要時仍須申請技術報告</a:t>
            </a:r>
            <a:endParaRPr lang="en-US" altLang="zh-TW" sz="2300" dirty="0"/>
          </a:p>
          <a:p>
            <a:pPr lvl="1">
              <a:lnSpc>
                <a:spcPct val="120000"/>
              </a:lnSpc>
            </a:pPr>
            <a:r>
              <a:rPr lang="zh-TW" altLang="en-US" sz="2300" dirty="0"/>
              <a:t>新型專利只能保護</a:t>
            </a:r>
            <a:r>
              <a:rPr lang="zh-TW" altLang="en-US" sz="2300" dirty="0">
                <a:latin typeface="新細明體"/>
                <a:ea typeface="新細明體"/>
              </a:rPr>
              <a:t>「</a:t>
            </a:r>
            <a:r>
              <a:rPr lang="zh-TW" altLang="en-US" sz="2400" dirty="0"/>
              <a:t>物品之形狀、構造或組合</a:t>
            </a:r>
            <a:r>
              <a:rPr lang="zh-TW" altLang="en-US" sz="2300" dirty="0">
                <a:latin typeface="新細明體"/>
                <a:ea typeface="新細明體"/>
              </a:rPr>
              <a:t>」</a:t>
            </a:r>
            <a:endParaRPr lang="en-US" altLang="zh-TW" sz="2300" dirty="0">
              <a:latin typeface="新細明體"/>
              <a:ea typeface="新細明體"/>
            </a:endParaRPr>
          </a:p>
          <a:p>
            <a:pPr lvl="1">
              <a:lnSpc>
                <a:spcPct val="120000"/>
              </a:lnSpc>
            </a:pPr>
            <a:r>
              <a:rPr lang="zh-TW" altLang="en-US" sz="2300" dirty="0"/>
              <a:t>發明專利的審查期間大幅縮短</a:t>
            </a:r>
            <a:endParaRPr lang="en-US" altLang="zh-TW" sz="2300" dirty="0"/>
          </a:p>
        </p:txBody>
      </p:sp>
      <p:sp>
        <p:nvSpPr>
          <p:cNvPr id="4" name="投影片編號版面配置區 3">
            <a:extLst>
              <a:ext uri="{FF2B5EF4-FFF2-40B4-BE49-F238E27FC236}">
                <a16:creationId xmlns:a16="http://schemas.microsoft.com/office/drawing/2014/main" id="{6FC7DF09-C58A-C465-986F-15725E792F06}"/>
              </a:ext>
            </a:extLst>
          </p:cNvPr>
          <p:cNvSpPr>
            <a:spLocks noGrp="1"/>
          </p:cNvSpPr>
          <p:nvPr>
            <p:ph type="sldNum" sz="quarter" idx="12"/>
          </p:nvPr>
        </p:nvSpPr>
        <p:spPr>
          <a:xfrm>
            <a:off x="6948264" y="6356350"/>
            <a:ext cx="2133600" cy="365125"/>
          </a:xfrm>
        </p:spPr>
        <p:txBody>
          <a:bodyPr/>
          <a:lstStyle/>
          <a:p>
            <a:fld id="{254D4C32-7A1A-45A5-84ED-81747F1ABFAE}" type="slidenum">
              <a:rPr lang="zh-TW" altLang="en-US" smtClean="0"/>
              <a:t>43</a:t>
            </a:fld>
            <a:endParaRPr lang="zh-TW" altLang="en-US" dirty="0"/>
          </a:p>
        </p:txBody>
      </p:sp>
    </p:spTree>
    <p:extLst>
      <p:ext uri="{BB962C8B-B14F-4D97-AF65-F5344CB8AC3E}">
        <p14:creationId xmlns:p14="http://schemas.microsoft.com/office/powerpoint/2010/main" val="4370170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投影片編號版面配置區 2"/>
          <p:cNvSpPr>
            <a:spLocks noGrp="1"/>
          </p:cNvSpPr>
          <p:nvPr>
            <p:ph type="sldNum" sz="quarter" idx="12"/>
          </p:nvPr>
        </p:nvSpPr>
        <p:spPr>
          <a:noFill/>
        </p:spPr>
        <p:txBody>
          <a:bodyPr/>
          <a:lstStyle>
            <a:lvl1pPr algn="ctr" eaLnBrk="0" hangingPunct="0">
              <a:defRPr>
                <a:solidFill>
                  <a:schemeClr val="tx1"/>
                </a:solidFill>
                <a:latin typeface="Arial" charset="0"/>
                <a:ea typeface="標楷體" pitchFamily="65" charset="-120"/>
              </a:defRPr>
            </a:lvl1pPr>
            <a:lvl2pPr marL="742950" indent="-285750" algn="ctr" eaLnBrk="0" hangingPunct="0">
              <a:defRPr>
                <a:solidFill>
                  <a:schemeClr val="tx1"/>
                </a:solidFill>
                <a:latin typeface="Arial" charset="0"/>
                <a:ea typeface="標楷體" pitchFamily="65" charset="-120"/>
              </a:defRPr>
            </a:lvl2pPr>
            <a:lvl3pPr marL="1143000" indent="-228600" algn="ctr" eaLnBrk="0" hangingPunct="0">
              <a:defRPr>
                <a:solidFill>
                  <a:schemeClr val="tx1"/>
                </a:solidFill>
                <a:latin typeface="Arial" charset="0"/>
                <a:ea typeface="標楷體" pitchFamily="65" charset="-120"/>
              </a:defRPr>
            </a:lvl3pPr>
            <a:lvl4pPr marL="1600200" indent="-228600" algn="ctr" eaLnBrk="0" hangingPunct="0">
              <a:defRPr>
                <a:solidFill>
                  <a:schemeClr val="tx1"/>
                </a:solidFill>
                <a:latin typeface="Arial" charset="0"/>
                <a:ea typeface="標楷體" pitchFamily="65" charset="-120"/>
              </a:defRPr>
            </a:lvl4pPr>
            <a:lvl5pPr marL="2057400" indent="-228600" algn="ctr" eaLnBrk="0" hangingPunct="0">
              <a:defRPr>
                <a:solidFill>
                  <a:schemeClr val="tx1"/>
                </a:solidFill>
                <a:latin typeface="Arial" charset="0"/>
                <a:ea typeface="標楷體" pitchFamily="65" charset="-120"/>
              </a:defRPr>
            </a:lvl5pPr>
            <a:lvl6pPr marL="2514600" indent="-228600" algn="ctr" eaLnBrk="0" fontAlgn="base" hangingPunct="0">
              <a:spcBef>
                <a:spcPct val="0"/>
              </a:spcBef>
              <a:spcAft>
                <a:spcPct val="0"/>
              </a:spcAft>
              <a:defRPr>
                <a:solidFill>
                  <a:schemeClr val="tx1"/>
                </a:solidFill>
                <a:latin typeface="Arial" charset="0"/>
                <a:ea typeface="標楷體" pitchFamily="65" charset="-120"/>
              </a:defRPr>
            </a:lvl6pPr>
            <a:lvl7pPr marL="2971800" indent="-228600" algn="ctr" eaLnBrk="0" fontAlgn="base" hangingPunct="0">
              <a:spcBef>
                <a:spcPct val="0"/>
              </a:spcBef>
              <a:spcAft>
                <a:spcPct val="0"/>
              </a:spcAft>
              <a:defRPr>
                <a:solidFill>
                  <a:schemeClr val="tx1"/>
                </a:solidFill>
                <a:latin typeface="Arial" charset="0"/>
                <a:ea typeface="標楷體" pitchFamily="65" charset="-120"/>
              </a:defRPr>
            </a:lvl7pPr>
            <a:lvl8pPr marL="3429000" indent="-228600" algn="ctr" eaLnBrk="0" fontAlgn="base" hangingPunct="0">
              <a:spcBef>
                <a:spcPct val="0"/>
              </a:spcBef>
              <a:spcAft>
                <a:spcPct val="0"/>
              </a:spcAft>
              <a:defRPr>
                <a:solidFill>
                  <a:schemeClr val="tx1"/>
                </a:solidFill>
                <a:latin typeface="Arial" charset="0"/>
                <a:ea typeface="標楷體" pitchFamily="65" charset="-120"/>
              </a:defRPr>
            </a:lvl8pPr>
            <a:lvl9pPr marL="3886200" indent="-228600" algn="ctr" eaLnBrk="0" fontAlgn="base" hangingPunct="0">
              <a:spcBef>
                <a:spcPct val="0"/>
              </a:spcBef>
              <a:spcAft>
                <a:spcPct val="0"/>
              </a:spcAft>
              <a:defRPr>
                <a:solidFill>
                  <a:schemeClr val="tx1"/>
                </a:solidFill>
                <a:latin typeface="Arial" charset="0"/>
                <a:ea typeface="標楷體" pitchFamily="65" charset="-120"/>
              </a:defRPr>
            </a:lvl9pPr>
          </a:lstStyle>
          <a:p>
            <a:pPr eaLnBrk="1" hangingPunct="1"/>
            <a:fld id="{6FBDD5A6-6FCB-4479-9D39-C011806F380C}" type="slidenum">
              <a:rPr lang="zh-TW" altLang="en-US" smtClean="0">
                <a:solidFill>
                  <a:prstClr val="white"/>
                </a:solidFill>
                <a:latin typeface="Verdana" pitchFamily="34" charset="0"/>
                <a:ea typeface="新細明體" charset="-120"/>
              </a:rPr>
              <a:pPr eaLnBrk="1" hangingPunct="1"/>
              <a:t>44</a:t>
            </a:fld>
            <a:endParaRPr lang="en-US" altLang="zh-TW">
              <a:solidFill>
                <a:prstClr val="white"/>
              </a:solidFill>
              <a:latin typeface="Verdana" pitchFamily="34" charset="0"/>
              <a:ea typeface="新細明體" charset="-120"/>
            </a:endParaRPr>
          </a:p>
        </p:txBody>
      </p:sp>
      <p:sp>
        <p:nvSpPr>
          <p:cNvPr id="11" name="投影片編號版面配置區 3"/>
          <p:cNvSpPr>
            <a:spLocks noGrp="1"/>
          </p:cNvSpPr>
          <p:nvPr>
            <p:ph type="sldNum" sz="quarter" idx="4294967295"/>
          </p:nvPr>
        </p:nvSpPr>
        <p:spPr>
          <a:xfrm>
            <a:off x="7010400" y="6356350"/>
            <a:ext cx="2133600" cy="365125"/>
          </a:xfrm>
        </p:spPr>
        <p:txBody>
          <a:bodyPr/>
          <a:lstStyle/>
          <a:p>
            <a:fld id="{73DA0BB7-265A-403C-9275-D587AB510EDC}" type="slidenum">
              <a:rPr lang="zh-TW" altLang="en-US" smtClean="0">
                <a:solidFill>
                  <a:prstClr val="black">
                    <a:tint val="75000"/>
                  </a:prstClr>
                </a:solidFill>
              </a:rPr>
              <a:pPr/>
              <a:t>44</a:t>
            </a:fld>
            <a:endParaRPr lang="zh-TW" altLang="en-US">
              <a:solidFill>
                <a:prstClr val="black">
                  <a:tint val="75000"/>
                </a:prstClr>
              </a:solidFill>
            </a:endParaRPr>
          </a:p>
        </p:txBody>
      </p:sp>
      <p:sp>
        <p:nvSpPr>
          <p:cNvPr id="6" name="Text Box 2"/>
          <p:cNvSpPr txBox="1">
            <a:spLocks noChangeArrowheads="1"/>
          </p:cNvSpPr>
          <p:nvPr/>
        </p:nvSpPr>
        <p:spPr bwMode="auto">
          <a:xfrm>
            <a:off x="2480107" y="1772816"/>
            <a:ext cx="583247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eaLnBrk="0" hangingPunct="0">
              <a:defRPr>
                <a:solidFill>
                  <a:schemeClr val="tx1"/>
                </a:solidFill>
                <a:latin typeface="Arial" charset="0"/>
                <a:ea typeface="標楷體" pitchFamily="65" charset="-120"/>
              </a:defRPr>
            </a:lvl1pPr>
            <a:lvl2pPr marL="742950" indent="-285750" algn="ctr" eaLnBrk="0" hangingPunct="0">
              <a:defRPr>
                <a:solidFill>
                  <a:schemeClr val="tx1"/>
                </a:solidFill>
                <a:latin typeface="Arial" charset="0"/>
                <a:ea typeface="標楷體" pitchFamily="65" charset="-120"/>
              </a:defRPr>
            </a:lvl2pPr>
            <a:lvl3pPr marL="1143000" indent="-228600" algn="ctr" eaLnBrk="0" hangingPunct="0">
              <a:defRPr>
                <a:solidFill>
                  <a:schemeClr val="tx1"/>
                </a:solidFill>
                <a:latin typeface="Arial" charset="0"/>
                <a:ea typeface="標楷體" pitchFamily="65" charset="-120"/>
              </a:defRPr>
            </a:lvl3pPr>
            <a:lvl4pPr marL="1600200" indent="-228600" algn="ctr" eaLnBrk="0" hangingPunct="0">
              <a:defRPr>
                <a:solidFill>
                  <a:schemeClr val="tx1"/>
                </a:solidFill>
                <a:latin typeface="Arial" charset="0"/>
                <a:ea typeface="標楷體" pitchFamily="65" charset="-120"/>
              </a:defRPr>
            </a:lvl4pPr>
            <a:lvl5pPr marL="2057400" indent="-228600" algn="ctr" eaLnBrk="0" hangingPunct="0">
              <a:defRPr>
                <a:solidFill>
                  <a:schemeClr val="tx1"/>
                </a:solidFill>
                <a:latin typeface="Arial" charset="0"/>
                <a:ea typeface="標楷體" pitchFamily="65" charset="-120"/>
              </a:defRPr>
            </a:lvl5pPr>
            <a:lvl6pPr marL="2514600" indent="-228600" algn="ctr" eaLnBrk="0" fontAlgn="base" hangingPunct="0">
              <a:spcBef>
                <a:spcPct val="0"/>
              </a:spcBef>
              <a:spcAft>
                <a:spcPct val="0"/>
              </a:spcAft>
              <a:defRPr>
                <a:solidFill>
                  <a:schemeClr val="tx1"/>
                </a:solidFill>
                <a:latin typeface="Arial" charset="0"/>
                <a:ea typeface="標楷體" pitchFamily="65" charset="-120"/>
              </a:defRPr>
            </a:lvl6pPr>
            <a:lvl7pPr marL="2971800" indent="-228600" algn="ctr" eaLnBrk="0" fontAlgn="base" hangingPunct="0">
              <a:spcBef>
                <a:spcPct val="0"/>
              </a:spcBef>
              <a:spcAft>
                <a:spcPct val="0"/>
              </a:spcAft>
              <a:defRPr>
                <a:solidFill>
                  <a:schemeClr val="tx1"/>
                </a:solidFill>
                <a:latin typeface="Arial" charset="0"/>
                <a:ea typeface="標楷體" pitchFamily="65" charset="-120"/>
              </a:defRPr>
            </a:lvl7pPr>
            <a:lvl8pPr marL="3429000" indent="-228600" algn="ctr" eaLnBrk="0" fontAlgn="base" hangingPunct="0">
              <a:spcBef>
                <a:spcPct val="0"/>
              </a:spcBef>
              <a:spcAft>
                <a:spcPct val="0"/>
              </a:spcAft>
              <a:defRPr>
                <a:solidFill>
                  <a:schemeClr val="tx1"/>
                </a:solidFill>
                <a:latin typeface="Arial" charset="0"/>
                <a:ea typeface="標楷體" pitchFamily="65" charset="-120"/>
              </a:defRPr>
            </a:lvl8pPr>
            <a:lvl9pPr marL="3886200" indent="-228600" algn="ctr" eaLnBrk="0" fontAlgn="base" hangingPunct="0">
              <a:spcBef>
                <a:spcPct val="0"/>
              </a:spcBef>
              <a:spcAft>
                <a:spcPct val="0"/>
              </a:spcAft>
              <a:defRPr>
                <a:solidFill>
                  <a:schemeClr val="tx1"/>
                </a:solidFill>
                <a:latin typeface="Arial" charset="0"/>
                <a:ea typeface="標楷體" pitchFamily="65" charset="-120"/>
              </a:defRPr>
            </a:lvl9pPr>
          </a:lstStyle>
          <a:p>
            <a:pPr algn="l" eaLnBrk="1" hangingPunct="1"/>
            <a:r>
              <a:rPr lang="zh-TW" altLang="en-US" sz="6000" b="1" dirty="0">
                <a:solidFill>
                  <a:srgbClr val="1F497D"/>
                </a:solidFill>
                <a:latin typeface="微軟正黑體"/>
                <a:ea typeface="微軟正黑體"/>
              </a:rPr>
              <a:t>感謝大家</a:t>
            </a:r>
          </a:p>
          <a:p>
            <a:pPr algn="l" eaLnBrk="1" hangingPunct="1"/>
            <a:r>
              <a:rPr lang="zh-TW" altLang="en-US" sz="6000" b="1" dirty="0">
                <a:solidFill>
                  <a:srgbClr val="1F497D"/>
                </a:solidFill>
                <a:latin typeface="微軟正黑體"/>
                <a:ea typeface="微軟正黑體"/>
              </a:rPr>
              <a:t>   敬請指教！</a:t>
            </a:r>
          </a:p>
        </p:txBody>
      </p:sp>
      <p:pic>
        <p:nvPicPr>
          <p:cNvPr id="8" name="Picture 2" descr="D:\旺矽IPR簡報\擷取46.JP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164908" y="4005064"/>
            <a:ext cx="1130300" cy="1244600"/>
          </a:xfrm>
          <a:prstGeom prst="rect">
            <a:avLst/>
          </a:prstGeom>
          <a:noFill/>
          <a:extLst>
            <a:ext uri="{909E8E84-426E-40DD-AFC4-6F175D3DCCD1}">
              <a14:hiddenFill xmlns:a14="http://schemas.microsoft.com/office/drawing/2010/main">
                <a:solidFill>
                  <a:srgbClr val="FFFFFF"/>
                </a:solidFill>
              </a14:hiddenFill>
            </a:ext>
          </a:extLst>
        </p:spPr>
      </p:pic>
      <p:sp>
        <p:nvSpPr>
          <p:cNvPr id="2" name="文字方塊 5">
            <a:extLst>
              <a:ext uri="{FF2B5EF4-FFF2-40B4-BE49-F238E27FC236}">
                <a16:creationId xmlns:a16="http://schemas.microsoft.com/office/drawing/2014/main" id="{4BEA8DA3-2D67-E776-63FB-53442742B3C4}"/>
              </a:ext>
            </a:extLst>
          </p:cNvPr>
          <p:cNvSpPr txBox="1"/>
          <p:nvPr/>
        </p:nvSpPr>
        <p:spPr>
          <a:xfrm>
            <a:off x="2263996" y="4356279"/>
            <a:ext cx="6264696" cy="892552"/>
          </a:xfrm>
          <a:prstGeom prst="rect">
            <a:avLst/>
          </a:prstGeom>
          <a:noFill/>
        </p:spPr>
        <p:txBody>
          <a:bodyPr wrap="squar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TW" sz="2800" dirty="0">
                <a:solidFill>
                  <a:prstClr val="black"/>
                </a:solidFill>
              </a:rPr>
              <a:t>ycjen20453@judicial.gov.tw</a:t>
            </a:r>
          </a:p>
          <a:p>
            <a:r>
              <a:rPr lang="en-US" altLang="zh-TW" sz="2400" dirty="0">
                <a:latin typeface="微軟正黑體" panose="020B0604030504040204" pitchFamily="34" charset="-120"/>
                <a:ea typeface="微軟正黑體" panose="020B0604030504040204" pitchFamily="34" charset="-120"/>
                <a:cs typeface="Adobe 繁黑體 Std B"/>
              </a:rPr>
              <a:t>TEL</a:t>
            </a:r>
            <a:r>
              <a:rPr lang="zh-TW" altLang="en-US" sz="2400" dirty="0">
                <a:latin typeface="微軟正黑體" panose="020B0604030504040204" pitchFamily="34" charset="-120"/>
                <a:ea typeface="微軟正黑體" panose="020B0604030504040204" pitchFamily="34" charset="-120"/>
                <a:cs typeface="Adobe 繁黑體 Std B"/>
                <a:sym typeface="Wingdings" panose="05000000000000000000" pitchFamily="2" charset="2"/>
              </a:rPr>
              <a:t>：</a:t>
            </a:r>
            <a:r>
              <a:rPr lang="en-US" altLang="zh-TW" sz="2400" dirty="0">
                <a:latin typeface="微軟正黑體" panose="020B0604030504040204" pitchFamily="34" charset="-120"/>
                <a:ea typeface="微軟正黑體" panose="020B0604030504040204" pitchFamily="34" charset="-120"/>
                <a:cs typeface="Adobe 繁黑體 Std B"/>
                <a:sym typeface="Wingdings" panose="05000000000000000000" pitchFamily="2" charset="2"/>
              </a:rPr>
              <a:t>(</a:t>
            </a:r>
            <a:r>
              <a:rPr lang="en-US" altLang="zh-TW" sz="2400" dirty="0">
                <a:latin typeface="微軟正黑體" panose="020B0604030504040204" pitchFamily="34" charset="-120"/>
                <a:ea typeface="微軟正黑體" panose="020B0604030504040204" pitchFamily="34" charset="-120"/>
                <a:cs typeface="Adobe 繁黑體 Std B"/>
              </a:rPr>
              <a:t>02) 22726696 ext.383</a:t>
            </a:r>
            <a:endParaRPr lang="zh-TW" altLang="en-US" sz="2400" dirty="0">
              <a:latin typeface="微軟正黑體" panose="020B0604030504040204" pitchFamily="34" charset="-120"/>
              <a:ea typeface="微軟正黑體" panose="020B0604030504040204" pitchFamily="34" charset="-120"/>
              <a:cs typeface="Adobe 繁黑體 Std B"/>
            </a:endParaRPr>
          </a:p>
        </p:txBody>
      </p:sp>
    </p:spTree>
    <p:extLst>
      <p:ext uri="{BB962C8B-B14F-4D97-AF65-F5344CB8AC3E}">
        <p14:creationId xmlns:p14="http://schemas.microsoft.com/office/powerpoint/2010/main" val="1515012762"/>
      </p:ext>
    </p:extLst>
  </p:cSld>
  <p:clrMapOvr>
    <a:masterClrMapping/>
  </p:clrMapOvr>
</p:sld>
</file>

<file path=ppt/theme/theme1.xml><?xml version="1.0" encoding="utf-8"?>
<a:theme xmlns:a="http://schemas.openxmlformats.org/drawingml/2006/main" name="佈景主題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佈景主題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佈景主題1" id="{3A1DDD62-4D60-498C-BF1A-121A51BAE175}" vid="{72899AA4-27B7-4F65-B73A-110BD17E31A1}"/>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14878</TotalTime>
  <Words>5957</Words>
  <Application>Microsoft Office PowerPoint</Application>
  <PresentationFormat>如螢幕大小 (4:3)</PresentationFormat>
  <Paragraphs>558</Paragraphs>
  <Slides>45</Slides>
  <Notes>10</Notes>
  <HiddenSlides>0</HiddenSlides>
  <MMClips>0</MMClips>
  <ScaleCrop>false</ScaleCrop>
  <HeadingPairs>
    <vt:vector size="6" baseType="variant">
      <vt:variant>
        <vt:lpstr>使用字型</vt:lpstr>
      </vt:variant>
      <vt:variant>
        <vt:i4>8</vt:i4>
      </vt:variant>
      <vt:variant>
        <vt:lpstr>佈景主題</vt:lpstr>
      </vt:variant>
      <vt:variant>
        <vt:i4>2</vt:i4>
      </vt:variant>
      <vt:variant>
        <vt:lpstr>投影片標題</vt:lpstr>
      </vt:variant>
      <vt:variant>
        <vt:i4>45</vt:i4>
      </vt:variant>
    </vt:vector>
  </HeadingPairs>
  <TitlesOfParts>
    <vt:vector size="55" baseType="lpstr">
      <vt:lpstr>Adobe 繁黑體 Std B</vt:lpstr>
      <vt:lpstr>微軟正黑體</vt:lpstr>
      <vt:lpstr>新細明體</vt:lpstr>
      <vt:lpstr>Arial</vt:lpstr>
      <vt:lpstr>Calibri</vt:lpstr>
      <vt:lpstr>Pristina</vt:lpstr>
      <vt:lpstr>Verdana</vt:lpstr>
      <vt:lpstr>Wingdings</vt:lpstr>
      <vt:lpstr>佈景主題1</vt:lpstr>
      <vt:lpstr>1_佈景主題1</vt:lpstr>
      <vt:lpstr>PowerPoint 簡報</vt:lpstr>
      <vt:lpstr>大綱 </vt:lpstr>
      <vt:lpstr>PowerPoint 簡報</vt:lpstr>
      <vt:lpstr>自行閱讀資料</vt:lpstr>
      <vt:lpstr>產業利用性</vt:lpstr>
      <vt:lpstr>產業利用性</vt:lpstr>
      <vt:lpstr>產業利用性</vt:lpstr>
      <vt:lpstr>PowerPoint 簡報</vt:lpstr>
      <vt:lpstr>新穎性</vt:lpstr>
      <vt:lpstr>新穎性</vt:lpstr>
      <vt:lpstr>新穎性</vt:lpstr>
      <vt:lpstr>新穎性</vt:lpstr>
      <vt:lpstr>新穎性</vt:lpstr>
      <vt:lpstr>新穎性</vt:lpstr>
      <vt:lpstr>新穎性</vt:lpstr>
      <vt:lpstr>新穎性</vt:lpstr>
      <vt:lpstr>PowerPoint 簡報</vt:lpstr>
      <vt:lpstr>擬制喪失新穎性</vt:lpstr>
      <vt:lpstr>擬制喪失新穎性</vt:lpstr>
      <vt:lpstr>PowerPoint 簡報</vt:lpstr>
      <vt:lpstr>進步性</vt:lpstr>
      <vt:lpstr>進步性</vt:lpstr>
      <vt:lpstr>進步性</vt:lpstr>
      <vt:lpstr>進步性</vt:lpstr>
      <vt:lpstr>進步性-否定進步性</vt:lpstr>
      <vt:lpstr>進步性-否定進步性</vt:lpstr>
      <vt:lpstr>進步性-肯定進步性</vt:lpstr>
      <vt:lpstr>進步性-肯定進步性</vt:lpstr>
      <vt:lpstr>進步性-肯定進步性</vt:lpstr>
      <vt:lpstr>案例</vt:lpstr>
      <vt:lpstr>案例</vt:lpstr>
      <vt:lpstr>案例</vt:lpstr>
      <vt:lpstr>PowerPoint 簡報</vt:lpstr>
      <vt:lpstr>喪失新穎性或進步性之例外</vt:lpstr>
      <vt:lpstr>喪失新穎性或進步性之例外</vt:lpstr>
      <vt:lpstr>喪失新穎性或進步性之例外</vt:lpstr>
      <vt:lpstr>喪失新穎性或進步性之例外</vt:lpstr>
      <vt:lpstr>喪失新穎性或進步性之例外</vt:lpstr>
      <vt:lpstr>PowerPoint 簡報</vt:lpstr>
      <vt:lpstr>先申請原則</vt:lpstr>
      <vt:lpstr>先申請原則</vt:lpstr>
      <vt:lpstr>PowerPoint 簡報</vt:lpstr>
      <vt:lpstr>一案兩請</vt:lpstr>
      <vt:lpstr>一案兩請</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100年度智慧財產局業務座談會 新專利法相關法制修正重點</dc:title>
  <dc:creator>20457</dc:creator>
  <cp:lastModifiedBy>顏俊仁</cp:lastModifiedBy>
  <cp:revision>1393</cp:revision>
  <cp:lastPrinted>2014-04-14T04:01:04Z</cp:lastPrinted>
  <dcterms:created xsi:type="dcterms:W3CDTF">2012-04-26T02:48:05Z</dcterms:created>
  <dcterms:modified xsi:type="dcterms:W3CDTF">2026-09-27T03:58:20Z</dcterms:modified>
</cp:coreProperties>
</file>