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9" r:id="rId2"/>
    <p:sldMasterId id="2147483696" r:id="rId3"/>
  </p:sldMasterIdLst>
  <p:notesMasterIdLst>
    <p:notesMasterId r:id="rId83"/>
  </p:notesMasterIdLst>
  <p:sldIdLst>
    <p:sldId id="256" r:id="rId4"/>
    <p:sldId id="708" r:id="rId5"/>
    <p:sldId id="257" r:id="rId6"/>
    <p:sldId id="711" r:id="rId7"/>
    <p:sldId id="410" r:id="rId8"/>
    <p:sldId id="547" r:id="rId9"/>
    <p:sldId id="548" r:id="rId10"/>
    <p:sldId id="549" r:id="rId11"/>
    <p:sldId id="550" r:id="rId12"/>
    <p:sldId id="713" r:id="rId13"/>
    <p:sldId id="714" r:id="rId14"/>
    <p:sldId id="712" r:id="rId15"/>
    <p:sldId id="565" r:id="rId16"/>
    <p:sldId id="552" r:id="rId17"/>
    <p:sldId id="554" r:id="rId18"/>
    <p:sldId id="553" r:id="rId19"/>
    <p:sldId id="557" r:id="rId20"/>
    <p:sldId id="559" r:id="rId21"/>
    <p:sldId id="555" r:id="rId22"/>
    <p:sldId id="556" r:id="rId23"/>
    <p:sldId id="560" r:id="rId24"/>
    <p:sldId id="561" r:id="rId25"/>
    <p:sldId id="564" r:id="rId26"/>
    <p:sldId id="562" r:id="rId27"/>
    <p:sldId id="566" r:id="rId28"/>
    <p:sldId id="567" r:id="rId29"/>
    <p:sldId id="569" r:id="rId30"/>
    <p:sldId id="570" r:id="rId31"/>
    <p:sldId id="571" r:id="rId32"/>
    <p:sldId id="572" r:id="rId33"/>
    <p:sldId id="573" r:id="rId34"/>
    <p:sldId id="574" r:id="rId35"/>
    <p:sldId id="575" r:id="rId36"/>
    <p:sldId id="576" r:id="rId37"/>
    <p:sldId id="563" r:id="rId38"/>
    <p:sldId id="577" r:id="rId39"/>
    <p:sldId id="578" r:id="rId40"/>
    <p:sldId id="579" r:id="rId41"/>
    <p:sldId id="580" r:id="rId42"/>
    <p:sldId id="581" r:id="rId43"/>
    <p:sldId id="582" r:id="rId44"/>
    <p:sldId id="583" r:id="rId45"/>
    <p:sldId id="481" r:id="rId46"/>
    <p:sldId id="484" r:id="rId47"/>
    <p:sldId id="483" r:id="rId48"/>
    <p:sldId id="584" r:id="rId49"/>
    <p:sldId id="585" r:id="rId50"/>
    <p:sldId id="523" r:id="rId51"/>
    <p:sldId id="524" r:id="rId52"/>
    <p:sldId id="525" r:id="rId53"/>
    <p:sldId id="482" r:id="rId54"/>
    <p:sldId id="535" r:id="rId55"/>
    <p:sldId id="536" r:id="rId56"/>
    <p:sldId id="485" r:id="rId57"/>
    <p:sldId id="586" r:id="rId58"/>
    <p:sldId id="709" r:id="rId59"/>
    <p:sldId id="710" r:id="rId60"/>
    <p:sldId id="587" r:id="rId61"/>
    <p:sldId id="618" r:id="rId62"/>
    <p:sldId id="588" r:id="rId63"/>
    <p:sldId id="622" r:id="rId64"/>
    <p:sldId id="715" r:id="rId65"/>
    <p:sldId id="590" r:id="rId66"/>
    <p:sldId id="591" r:id="rId67"/>
    <p:sldId id="592" r:id="rId68"/>
    <p:sldId id="593" r:id="rId69"/>
    <p:sldId id="595" r:id="rId70"/>
    <p:sldId id="594" r:id="rId71"/>
    <p:sldId id="596" r:id="rId72"/>
    <p:sldId id="620" r:id="rId73"/>
    <p:sldId id="598" r:id="rId74"/>
    <p:sldId id="539" r:id="rId75"/>
    <p:sldId id="597" r:id="rId76"/>
    <p:sldId id="621" r:id="rId77"/>
    <p:sldId id="619" r:id="rId78"/>
    <p:sldId id="599" r:id="rId79"/>
    <p:sldId id="601" r:id="rId80"/>
    <p:sldId id="623" r:id="rId81"/>
    <p:sldId id="258" r:id="rId82"/>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2060"/>
    <a:srgbClr val="385D8A"/>
    <a:srgbClr val="FFFFFF"/>
    <a:srgbClr val="D8F3F8"/>
    <a:srgbClr val="4774AB"/>
    <a:srgbClr val="3D6696"/>
    <a:srgbClr val="0000CC"/>
    <a:srgbClr val="0066FF"/>
    <a:srgbClr val="CAF6AC"/>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淺色樣式 2 - 輔色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31" autoAdjust="0"/>
    <p:restoredTop sz="96242" autoAdjust="0"/>
  </p:normalViewPr>
  <p:slideViewPr>
    <p:cSldViewPr>
      <p:cViewPr varScale="1">
        <p:scale>
          <a:sx n="75" d="100"/>
          <a:sy n="75" d="100"/>
        </p:scale>
        <p:origin x="1718" y="53"/>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973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presProps" Target="pres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tableStyles" Target="tableStyles.xml"/><Relationship Id="rId61" Type="http://schemas.openxmlformats.org/officeDocument/2006/relationships/slide" Target="slides/slide58.xml"/><Relationship Id="rId82" Type="http://schemas.openxmlformats.org/officeDocument/2006/relationships/slide" Target="slides/slide79.xml"/></Relationships>
</file>

<file path=ppt/charts/_rels/chart1.xml.rels><?xml version="1.0" encoding="UTF-8" standalone="yes"?>
<Relationships xmlns="http://schemas.openxmlformats.org/package/2006/relationships"><Relationship Id="rId3" Type="http://schemas.openxmlformats.org/officeDocument/2006/relationships/oleObject" Target="&#27963;&#38913;&#31807;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tx>
            <c:strRef>
              <c:f>工作表1!$A$1</c:f>
              <c:strCache>
                <c:ptCount val="1"/>
                <c:pt idx="0">
                  <c:v>申請日</c:v>
                </c:pt>
              </c:strCache>
            </c:strRef>
          </c:tx>
          <c:spPr>
            <a:ln w="28575" cap="rnd">
              <a:solidFill>
                <a:schemeClr val="accent1"/>
              </a:solidFill>
              <a:round/>
            </a:ln>
            <a:effectLst/>
          </c:spPr>
          <c:marker>
            <c:symbol val="none"/>
          </c:marker>
          <c:dLbls>
            <c:dLbl>
              <c:idx val="0"/>
              <c:layout>
                <c:manualLayout>
                  <c:x val="-3.7201443569553828E-2"/>
                  <c:y val="4.3773330417031207E-2"/>
                </c:manualLayout>
              </c:layout>
              <c:tx>
                <c:rich>
                  <a:bodyPr/>
                  <a:lstStyle/>
                  <a:p>
                    <a:r>
                      <a:rPr lang="en-US" altLang="zh-TW" dirty="0"/>
                      <a:t>t1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7D57-4C17-8B70-E162CD8AB0FD}"/>
                </c:ext>
              </c:extLst>
            </c:dLbl>
            <c:dLbl>
              <c:idx val="1"/>
              <c:layout>
                <c:manualLayout>
                  <c:x val="-6.7756999125109407E-2"/>
                  <c:y val="4.8402960046660837E-2"/>
                </c:manualLayout>
              </c:layout>
              <c:tx>
                <c:rich>
                  <a:bodyPr/>
                  <a:lstStyle/>
                  <a:p>
                    <a:r>
                      <a:rPr lang="en-US" altLang="zh-TW" dirty="0"/>
                      <a:t>t2</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7D57-4C17-8B70-E162CD8AB0FD}"/>
                </c:ext>
              </c:extLst>
            </c:dLbl>
            <c:dLbl>
              <c:idx val="2"/>
              <c:layout>
                <c:manualLayout>
                  <c:x val="-0.12053477690288714"/>
                  <c:y val="4.8402960046660837E-2"/>
                </c:manualLayout>
              </c:layout>
              <c:tx>
                <c:rich>
                  <a:bodyPr/>
                  <a:lstStyle/>
                  <a:p>
                    <a:r>
                      <a:rPr lang="en-US" altLang="zh-TW" dirty="0"/>
                      <a:t>t3</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D57-4C17-8B70-E162CD8AB0FD}"/>
                </c:ext>
              </c:extLst>
            </c:dLbl>
            <c:dLbl>
              <c:idx val="3"/>
              <c:layout>
                <c:manualLayout>
                  <c:x val="-0.13164588801399826"/>
                  <c:y val="4.3773330417031207E-2"/>
                </c:manualLayout>
              </c:layout>
              <c:tx>
                <c:rich>
                  <a:bodyPr/>
                  <a:lstStyle/>
                  <a:p>
                    <a:r>
                      <a:rPr lang="en-US" altLang="zh-TW" dirty="0"/>
                      <a:t>t4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D57-4C17-8B70-E162CD8AB0FD}"/>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zh-TW"/>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工作表1!$B$1:$E$1</c:f>
              <c:numCache>
                <c:formatCode>General</c:formatCode>
                <c:ptCount val="4"/>
                <c:pt idx="0">
                  <c:v>1</c:v>
                </c:pt>
                <c:pt idx="1">
                  <c:v>2</c:v>
                </c:pt>
                <c:pt idx="2">
                  <c:v>3</c:v>
                </c:pt>
                <c:pt idx="3">
                  <c:v>4</c:v>
                </c:pt>
              </c:numCache>
            </c:numRef>
          </c:val>
          <c:smooth val="0"/>
          <c:extLst>
            <c:ext xmlns:c16="http://schemas.microsoft.com/office/drawing/2014/chart" uri="{C3380CC4-5D6E-409C-BE32-E72D297353CC}">
              <c16:uniqueId val="{00000004-7D57-4C17-8B70-E162CD8AB0FD}"/>
            </c:ext>
          </c:extLst>
        </c:ser>
        <c:ser>
          <c:idx val="1"/>
          <c:order val="1"/>
          <c:tx>
            <c:strRef>
              <c:f>工作表1!$A$2</c:f>
              <c:strCache>
                <c:ptCount val="1"/>
                <c:pt idx="0">
                  <c:v>通常知識水準</c:v>
                </c:pt>
              </c:strCache>
            </c:strRef>
          </c:tx>
          <c:spPr>
            <a:ln w="28575" cap="rnd">
              <a:solidFill>
                <a:schemeClr val="accent2"/>
              </a:solidFill>
              <a:round/>
            </a:ln>
            <a:effectLst/>
          </c:spPr>
          <c:marker>
            <c:symbol val="none"/>
          </c:marker>
          <c:dLbls>
            <c:delete val="1"/>
          </c:dLbls>
          <c:val>
            <c:numRef>
              <c:f>工作表1!$B$2:$E$2</c:f>
              <c:numCache>
                <c:formatCode>General</c:formatCode>
                <c:ptCount val="4"/>
                <c:pt idx="0">
                  <c:v>100</c:v>
                </c:pt>
                <c:pt idx="1">
                  <c:v>200</c:v>
                </c:pt>
                <c:pt idx="2">
                  <c:v>400</c:v>
                </c:pt>
                <c:pt idx="3">
                  <c:v>800</c:v>
                </c:pt>
              </c:numCache>
            </c:numRef>
          </c:val>
          <c:smooth val="1"/>
          <c:extLst>
            <c:ext xmlns:c16="http://schemas.microsoft.com/office/drawing/2014/chart" uri="{C3380CC4-5D6E-409C-BE32-E72D297353CC}">
              <c16:uniqueId val="{00000005-7D57-4C17-8B70-E162CD8AB0FD}"/>
            </c:ext>
          </c:extLst>
        </c:ser>
        <c:ser>
          <c:idx val="2"/>
          <c:order val="2"/>
          <c:spPr>
            <a:ln w="28575" cap="rnd">
              <a:solidFill>
                <a:schemeClr val="accent3"/>
              </a:solidFill>
              <a:round/>
            </a:ln>
            <a:effectLst/>
          </c:spPr>
          <c:marker>
            <c:symbol val="none"/>
          </c:marker>
          <c:dLbls>
            <c:delete val="1"/>
          </c:dLbls>
          <c:val>
            <c:numRef>
              <c:f>工作表1!$A$2</c:f>
              <c:numCache>
                <c:formatCode>General</c:formatCode>
                <c:ptCount val="1"/>
                <c:pt idx="0">
                  <c:v>0</c:v>
                </c:pt>
              </c:numCache>
            </c:numRef>
          </c:val>
          <c:smooth val="0"/>
          <c:extLst>
            <c:ext xmlns:c16="http://schemas.microsoft.com/office/drawing/2014/chart" uri="{C3380CC4-5D6E-409C-BE32-E72D297353CC}">
              <c16:uniqueId val="{00000006-7D57-4C17-8B70-E162CD8AB0FD}"/>
            </c:ext>
          </c:extLst>
        </c:ser>
        <c:ser>
          <c:idx val="3"/>
          <c:order val="3"/>
          <c:spPr>
            <a:ln w="28575" cap="rnd">
              <a:solidFill>
                <a:schemeClr val="accent4"/>
              </a:solidFill>
              <a:round/>
            </a:ln>
            <a:effectLst/>
          </c:spPr>
          <c:marker>
            <c:symbol val="none"/>
          </c:marker>
          <c:dLbls>
            <c:delete val="1"/>
          </c:dLbls>
          <c:val>
            <c:numRef>
              <c:f>工作表1!$A$2</c:f>
              <c:numCache>
                <c:formatCode>General</c:formatCode>
                <c:ptCount val="1"/>
                <c:pt idx="0">
                  <c:v>0</c:v>
                </c:pt>
              </c:numCache>
            </c:numRef>
          </c:val>
          <c:smooth val="0"/>
          <c:extLst>
            <c:ext xmlns:c16="http://schemas.microsoft.com/office/drawing/2014/chart" uri="{C3380CC4-5D6E-409C-BE32-E72D297353CC}">
              <c16:uniqueId val="{00000007-7D57-4C17-8B70-E162CD8AB0FD}"/>
            </c:ext>
          </c:extLst>
        </c:ser>
        <c:dLbls>
          <c:dLblPos val="t"/>
          <c:showLegendKey val="0"/>
          <c:showVal val="1"/>
          <c:showCatName val="0"/>
          <c:showSerName val="0"/>
          <c:showPercent val="0"/>
          <c:showBubbleSize val="0"/>
        </c:dLbls>
        <c:smooth val="0"/>
        <c:axId val="159307264"/>
        <c:axId val="210891840"/>
      </c:lineChart>
      <c:catAx>
        <c:axId val="159307264"/>
        <c:scaling>
          <c:orientation val="minMax"/>
        </c:scaling>
        <c:delete val="1"/>
        <c:axPos val="b"/>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r>
                  <a:rPr lang="zh-TW" altLang="en-US" sz="1600">
                    <a:latin typeface="微軟正黑體" panose="020B0604030504040204" pitchFamily="34" charset="-120"/>
                    <a:ea typeface="微軟正黑體" panose="020B0604030504040204" pitchFamily="34" charset="-120"/>
                  </a:rPr>
                  <a:t>申請日</a:t>
                </a:r>
              </a:p>
            </c:rich>
          </c:tx>
          <c:layout>
            <c:manualLayout>
              <c:xMode val="edge"/>
              <c:yMode val="edge"/>
              <c:x val="0.81480555555555567"/>
              <c:y val="0.83490740740740743"/>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title>
        <c:majorTickMark val="none"/>
        <c:minorTickMark val="none"/>
        <c:tickLblPos val="nextTo"/>
        <c:crossAx val="210891840"/>
        <c:crosses val="autoZero"/>
        <c:auto val="1"/>
        <c:lblAlgn val="ctr"/>
        <c:lblOffset val="100"/>
        <c:noMultiLvlLbl val="0"/>
      </c:catAx>
      <c:valAx>
        <c:axId val="21089184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59307264"/>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1#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1">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30DFCF-F174-4013-A00B-5F7595AC5EE7}" type="doc">
      <dgm:prSet loTypeId="urn:microsoft.com/office/officeart/2008/layout/VerticalCurvedList" loCatId="list" qsTypeId="urn:microsoft.com/office/officeart/2005/8/quickstyle/simple1#1" qsCatId="simple" csTypeId="urn:microsoft.com/office/officeart/2005/8/colors/accent1_1#1" csCatId="accent1" phldr="1"/>
      <dgm:spPr/>
      <dgm:t>
        <a:bodyPr/>
        <a:lstStyle/>
        <a:p>
          <a:endParaRPr lang="zh-TW" altLang="en-US"/>
        </a:p>
      </dgm:t>
    </dgm:pt>
    <dgm:pt modelId="{02C10381-A177-461C-B6A2-571FDF78E59C}">
      <dgm:prSet phldrT="[文字]"/>
      <dgm:spPr/>
      <dgm:t>
        <a:bodyPr/>
        <a:lstStyle/>
        <a:p>
          <a:r>
            <a:rPr lang="zh-TW" altLang="en-US" b="1" dirty="0">
              <a:latin typeface="微軟正黑體" panose="020B0604030504040204" pitchFamily="34" charset="-120"/>
              <a:ea typeface="微軟正黑體" panose="020B0604030504040204" pitchFamily="34" charset="-120"/>
            </a:rPr>
            <a:t>通常知識</a:t>
          </a:r>
        </a:p>
      </dgm:t>
    </dgm:pt>
    <dgm:pt modelId="{640E8E2F-3457-459D-B835-8FA1BFF4BCFB}" type="parTrans" cxnId="{24474EEB-E140-4E3A-B71F-0BAE0C44C6A7}">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4A1DB968-7769-41F4-971C-730855194B87}" type="sibTrans" cxnId="{24474EEB-E140-4E3A-B71F-0BAE0C44C6A7}">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ED0B6FB9-09F3-4C68-A8F2-FC43F37367EA}">
      <dgm:prSet phldrT="[文字]"/>
      <dgm:spPr/>
      <dgm:t>
        <a:bodyPr/>
        <a:lstStyle/>
        <a:p>
          <a:r>
            <a:rPr lang="zh-TW" altLang="en-US" b="1" dirty="0">
              <a:latin typeface="微軟正黑體" panose="020B0604030504040204" pitchFamily="34" charset="-120"/>
              <a:ea typeface="微軟正黑體" panose="020B0604030504040204" pitchFamily="34" charset="-120"/>
            </a:rPr>
            <a:t>申請專利範圍</a:t>
          </a:r>
        </a:p>
      </dgm:t>
    </dgm:pt>
    <dgm:pt modelId="{2D816164-2E2A-429B-B811-D02DECD368A6}" type="parTrans" cxnId="{C5B3E6A3-94E8-44D0-9B5E-FD0FF529B9A2}">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C42D7A1B-902A-4F41-820C-7499B9146677}" type="sibTrans" cxnId="{C5B3E6A3-94E8-44D0-9B5E-FD0FF529B9A2}">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32E4FE4D-D043-4135-ABD3-7FBB17D9C401}">
      <dgm:prSet phldrT="[文字]"/>
      <dgm:spPr/>
      <dgm:t>
        <a:bodyPr/>
        <a:lstStyle/>
        <a:p>
          <a:r>
            <a:rPr lang="zh-TW" altLang="en-US" b="1" dirty="0">
              <a:latin typeface="微軟正黑體" panose="020B0604030504040204" pitchFamily="34" charset="-120"/>
              <a:ea typeface="微軟正黑體" panose="020B0604030504040204" pitchFamily="34" charset="-120"/>
            </a:rPr>
            <a:t>專利公報</a:t>
          </a:r>
        </a:p>
      </dgm:t>
    </dgm:pt>
    <dgm:pt modelId="{91AFF51F-FFAC-4C49-8047-8D22D26E7E7A}" type="parTrans" cxnId="{4D6E65AA-4A31-4C50-9B38-7C8CC4F59106}">
      <dgm:prSet/>
      <dgm:spPr/>
      <dgm:t>
        <a:bodyPr/>
        <a:lstStyle/>
        <a:p>
          <a:endParaRPr lang="zh-TW" altLang="en-US"/>
        </a:p>
      </dgm:t>
    </dgm:pt>
    <dgm:pt modelId="{C1B07486-EEB2-426B-A8D9-BDDA6F10414F}" type="sibTrans" cxnId="{4D6E65AA-4A31-4C50-9B38-7C8CC4F59106}">
      <dgm:prSet/>
      <dgm:spPr/>
      <dgm:t>
        <a:bodyPr/>
        <a:lstStyle/>
        <a:p>
          <a:endParaRPr lang="zh-TW" altLang="en-US"/>
        </a:p>
      </dgm:t>
    </dgm:pt>
    <dgm:pt modelId="{351196D2-E037-4AA6-8161-A79DB1871EC3}">
      <dgm:prSet phldrT="[文字]"/>
      <dgm:spPr/>
      <dgm:t>
        <a:bodyPr/>
        <a:lstStyle/>
        <a:p>
          <a:r>
            <a:rPr lang="zh-TW" altLang="en-US" b="1" dirty="0">
              <a:latin typeface="微軟正黑體" panose="020B0604030504040204" pitchFamily="34" charset="-120"/>
              <a:ea typeface="微軟正黑體" panose="020B0604030504040204" pitchFamily="34" charset="-120"/>
            </a:rPr>
            <a:t>專利說明書及圖式</a:t>
          </a:r>
        </a:p>
      </dgm:t>
    </dgm:pt>
    <dgm:pt modelId="{E99414D3-F670-4722-84A8-4E4E7620A173}" type="parTrans" cxnId="{4538EB1D-E5AB-4E98-8678-DC193158EA7D}">
      <dgm:prSet/>
      <dgm:spPr/>
      <dgm:t>
        <a:bodyPr/>
        <a:lstStyle/>
        <a:p>
          <a:endParaRPr lang="zh-TW" altLang="en-US"/>
        </a:p>
      </dgm:t>
    </dgm:pt>
    <dgm:pt modelId="{30B27795-747C-4416-BF78-ACCF1387C58C}" type="sibTrans" cxnId="{4538EB1D-E5AB-4E98-8678-DC193158EA7D}">
      <dgm:prSet/>
      <dgm:spPr/>
      <dgm:t>
        <a:bodyPr/>
        <a:lstStyle/>
        <a:p>
          <a:endParaRPr lang="zh-TW" altLang="en-US"/>
        </a:p>
      </dgm:t>
    </dgm:pt>
    <dgm:pt modelId="{34A09EBC-3BCD-4D24-9FFA-0A745A389887}" type="pres">
      <dgm:prSet presAssocID="{DA30DFCF-F174-4013-A00B-5F7595AC5EE7}" presName="Name0" presStyleCnt="0">
        <dgm:presLayoutVars>
          <dgm:chMax val="7"/>
          <dgm:chPref val="7"/>
          <dgm:dir/>
        </dgm:presLayoutVars>
      </dgm:prSet>
      <dgm:spPr/>
    </dgm:pt>
    <dgm:pt modelId="{35FB438D-8D96-47F9-BD02-C93212587380}" type="pres">
      <dgm:prSet presAssocID="{DA30DFCF-F174-4013-A00B-5F7595AC5EE7}" presName="Name1" presStyleCnt="0"/>
      <dgm:spPr/>
    </dgm:pt>
    <dgm:pt modelId="{D8DA4C38-394E-45A5-87A5-2A607C3AD2F4}" type="pres">
      <dgm:prSet presAssocID="{DA30DFCF-F174-4013-A00B-5F7595AC5EE7}" presName="cycle" presStyleCnt="0"/>
      <dgm:spPr/>
    </dgm:pt>
    <dgm:pt modelId="{2871DBDF-1F88-4CBC-ADDB-4C656930E864}" type="pres">
      <dgm:prSet presAssocID="{DA30DFCF-F174-4013-A00B-5F7595AC5EE7}" presName="srcNode" presStyleLbl="node1" presStyleIdx="0" presStyleCnt="4"/>
      <dgm:spPr/>
    </dgm:pt>
    <dgm:pt modelId="{91510AAE-E403-4E1D-BCB5-ADAE424E1051}" type="pres">
      <dgm:prSet presAssocID="{DA30DFCF-F174-4013-A00B-5F7595AC5EE7}" presName="conn" presStyleLbl="parChTrans1D2" presStyleIdx="0" presStyleCnt="1"/>
      <dgm:spPr/>
    </dgm:pt>
    <dgm:pt modelId="{E6C7E25D-B2E5-4F8C-986D-CC50F2897509}" type="pres">
      <dgm:prSet presAssocID="{DA30DFCF-F174-4013-A00B-5F7595AC5EE7}" presName="extraNode" presStyleLbl="node1" presStyleIdx="0" presStyleCnt="4"/>
      <dgm:spPr/>
    </dgm:pt>
    <dgm:pt modelId="{F7CC2015-0258-446D-9EAE-D7B1C44B545F}" type="pres">
      <dgm:prSet presAssocID="{DA30DFCF-F174-4013-A00B-5F7595AC5EE7}" presName="dstNode" presStyleLbl="node1" presStyleIdx="0" presStyleCnt="4"/>
      <dgm:spPr/>
    </dgm:pt>
    <dgm:pt modelId="{036B2794-FECC-41B2-8DC5-CDEBA1BE196C}" type="pres">
      <dgm:prSet presAssocID="{32E4FE4D-D043-4135-ABD3-7FBB17D9C401}" presName="text_1" presStyleLbl="node1" presStyleIdx="0" presStyleCnt="4">
        <dgm:presLayoutVars>
          <dgm:bulletEnabled val="1"/>
        </dgm:presLayoutVars>
      </dgm:prSet>
      <dgm:spPr/>
    </dgm:pt>
    <dgm:pt modelId="{DC95F563-FF2F-4381-8FB7-2441ED328737}" type="pres">
      <dgm:prSet presAssocID="{32E4FE4D-D043-4135-ABD3-7FBB17D9C401}" presName="accent_1" presStyleCnt="0"/>
      <dgm:spPr/>
    </dgm:pt>
    <dgm:pt modelId="{A3BDAAD1-D6CD-4580-B39A-FB0EB451B2FF}" type="pres">
      <dgm:prSet presAssocID="{32E4FE4D-D043-4135-ABD3-7FBB17D9C401}" presName="accentRepeatNode" presStyleLbl="solidFgAcc1" presStyleIdx="0" presStyleCnt="4">
        <dgm:style>
          <a:lnRef idx="1">
            <a:schemeClr val="accent1"/>
          </a:lnRef>
          <a:fillRef idx="2">
            <a:schemeClr val="accent1"/>
          </a:fillRef>
          <a:effectRef idx="1">
            <a:schemeClr val="accent1"/>
          </a:effectRef>
          <a:fontRef idx="minor">
            <a:schemeClr val="dk1"/>
          </a:fontRef>
        </dgm:style>
      </dgm:prSet>
      <dgm:spPr/>
    </dgm:pt>
    <dgm:pt modelId="{35D8C124-65FB-4115-A97C-A47C0EE8E4E4}" type="pres">
      <dgm:prSet presAssocID="{02C10381-A177-461C-B6A2-571FDF78E59C}" presName="text_2" presStyleLbl="node1" presStyleIdx="1" presStyleCnt="4">
        <dgm:presLayoutVars>
          <dgm:bulletEnabled val="1"/>
        </dgm:presLayoutVars>
      </dgm:prSet>
      <dgm:spPr/>
    </dgm:pt>
    <dgm:pt modelId="{F797950E-EEC7-490A-BA5C-0A0A96F7E2DE}" type="pres">
      <dgm:prSet presAssocID="{02C10381-A177-461C-B6A2-571FDF78E59C}" presName="accent_2" presStyleCnt="0"/>
      <dgm:spPr/>
    </dgm:pt>
    <dgm:pt modelId="{A2EB3297-1EB8-419B-BBF6-E4C5512DE105}" type="pres">
      <dgm:prSet presAssocID="{02C10381-A177-461C-B6A2-571FDF78E59C}" presName="accentRepeatNode" presStyleLbl="solidFgAcc1" presStyleIdx="1" presStyleCnt="4">
        <dgm:style>
          <a:lnRef idx="1">
            <a:schemeClr val="accent3"/>
          </a:lnRef>
          <a:fillRef idx="2">
            <a:schemeClr val="accent3"/>
          </a:fillRef>
          <a:effectRef idx="1">
            <a:schemeClr val="accent3"/>
          </a:effectRef>
          <a:fontRef idx="minor">
            <a:schemeClr val="dk1"/>
          </a:fontRef>
        </dgm:style>
      </dgm:prSet>
      <dgm:spPr/>
    </dgm:pt>
    <dgm:pt modelId="{49BF1697-CD18-448B-BB56-2A23AC0CEDB9}" type="pres">
      <dgm:prSet presAssocID="{351196D2-E037-4AA6-8161-A79DB1871EC3}" presName="text_3" presStyleLbl="node1" presStyleIdx="2" presStyleCnt="4">
        <dgm:presLayoutVars>
          <dgm:bulletEnabled val="1"/>
        </dgm:presLayoutVars>
      </dgm:prSet>
      <dgm:spPr/>
    </dgm:pt>
    <dgm:pt modelId="{812D97CF-0302-4CA2-8743-40D424955E49}" type="pres">
      <dgm:prSet presAssocID="{351196D2-E037-4AA6-8161-A79DB1871EC3}" presName="accent_3" presStyleCnt="0"/>
      <dgm:spPr/>
    </dgm:pt>
    <dgm:pt modelId="{A4261F9C-7566-4120-A7FF-9F256A2DE8D2}" type="pres">
      <dgm:prSet presAssocID="{351196D2-E037-4AA6-8161-A79DB1871EC3}" presName="accentRepeatNode" presStyleLbl="solidFgAcc1" presStyleIdx="2" presStyleCnt="4"/>
      <dgm:spPr/>
    </dgm:pt>
    <dgm:pt modelId="{8B46DE9A-4144-475A-8C52-EB8FB5053248}" type="pres">
      <dgm:prSet presAssocID="{ED0B6FB9-09F3-4C68-A8F2-FC43F37367EA}" presName="text_4" presStyleLbl="node1" presStyleIdx="3" presStyleCnt="4">
        <dgm:presLayoutVars>
          <dgm:bulletEnabled val="1"/>
        </dgm:presLayoutVars>
      </dgm:prSet>
      <dgm:spPr/>
    </dgm:pt>
    <dgm:pt modelId="{C9EA6E5E-3001-41EF-BCF4-0C27195B1EA2}" type="pres">
      <dgm:prSet presAssocID="{ED0B6FB9-09F3-4C68-A8F2-FC43F37367EA}" presName="accent_4" presStyleCnt="0"/>
      <dgm:spPr/>
    </dgm:pt>
    <dgm:pt modelId="{CA04C916-9DFA-4CC1-848D-642D21543B6E}" type="pres">
      <dgm:prSet presAssocID="{ED0B6FB9-09F3-4C68-A8F2-FC43F37367EA}" presName="accentRepeatNode" presStyleLbl="solidFgAcc1" presStyleIdx="3" presStyleCnt="4">
        <dgm:style>
          <a:lnRef idx="1">
            <a:schemeClr val="accent5"/>
          </a:lnRef>
          <a:fillRef idx="2">
            <a:schemeClr val="accent5"/>
          </a:fillRef>
          <a:effectRef idx="1">
            <a:schemeClr val="accent5"/>
          </a:effectRef>
          <a:fontRef idx="minor">
            <a:schemeClr val="dk1"/>
          </a:fontRef>
        </dgm:style>
      </dgm:prSet>
      <dgm:spPr/>
    </dgm:pt>
  </dgm:ptLst>
  <dgm:cxnLst>
    <dgm:cxn modelId="{6B3C2B19-755D-4207-83A7-B335FC154978}" type="presOf" srcId="{DA30DFCF-F174-4013-A00B-5F7595AC5EE7}" destId="{34A09EBC-3BCD-4D24-9FFA-0A745A389887}" srcOrd="0" destOrd="0" presId="urn:microsoft.com/office/officeart/2008/layout/VerticalCurvedList"/>
    <dgm:cxn modelId="{4538EB1D-E5AB-4E98-8678-DC193158EA7D}" srcId="{DA30DFCF-F174-4013-A00B-5F7595AC5EE7}" destId="{351196D2-E037-4AA6-8161-A79DB1871EC3}" srcOrd="2" destOrd="0" parTransId="{E99414D3-F670-4722-84A8-4E4E7620A173}" sibTransId="{30B27795-747C-4416-BF78-ACCF1387C58C}"/>
    <dgm:cxn modelId="{E3599444-35C9-4669-B2E2-471E92CAB4E4}" type="presOf" srcId="{32E4FE4D-D043-4135-ABD3-7FBB17D9C401}" destId="{036B2794-FECC-41B2-8DC5-CDEBA1BE196C}" srcOrd="0" destOrd="0" presId="urn:microsoft.com/office/officeart/2008/layout/VerticalCurvedList"/>
    <dgm:cxn modelId="{C5B3E6A3-94E8-44D0-9B5E-FD0FF529B9A2}" srcId="{DA30DFCF-F174-4013-A00B-5F7595AC5EE7}" destId="{ED0B6FB9-09F3-4C68-A8F2-FC43F37367EA}" srcOrd="3" destOrd="0" parTransId="{2D816164-2E2A-429B-B811-D02DECD368A6}" sibTransId="{C42D7A1B-902A-4F41-820C-7499B9146677}"/>
    <dgm:cxn modelId="{4D6E65AA-4A31-4C50-9B38-7C8CC4F59106}" srcId="{DA30DFCF-F174-4013-A00B-5F7595AC5EE7}" destId="{32E4FE4D-D043-4135-ABD3-7FBB17D9C401}" srcOrd="0" destOrd="0" parTransId="{91AFF51F-FFAC-4C49-8047-8D22D26E7E7A}" sibTransId="{C1B07486-EEB2-426B-A8D9-BDDA6F10414F}"/>
    <dgm:cxn modelId="{DA5F59AF-BC58-4272-A0AE-C4851092CC25}" type="presOf" srcId="{02C10381-A177-461C-B6A2-571FDF78E59C}" destId="{35D8C124-65FB-4115-A97C-A47C0EE8E4E4}" srcOrd="0" destOrd="0" presId="urn:microsoft.com/office/officeart/2008/layout/VerticalCurvedList"/>
    <dgm:cxn modelId="{D11709B0-1A29-40AC-ADA5-059E445B8C0D}" type="presOf" srcId="{C1B07486-EEB2-426B-A8D9-BDDA6F10414F}" destId="{91510AAE-E403-4E1D-BCB5-ADAE424E1051}" srcOrd="0" destOrd="0" presId="urn:microsoft.com/office/officeart/2008/layout/VerticalCurvedList"/>
    <dgm:cxn modelId="{A89718CE-B833-43D9-824C-376C4C4661F1}" type="presOf" srcId="{ED0B6FB9-09F3-4C68-A8F2-FC43F37367EA}" destId="{8B46DE9A-4144-475A-8C52-EB8FB5053248}" srcOrd="0" destOrd="0" presId="urn:microsoft.com/office/officeart/2008/layout/VerticalCurvedList"/>
    <dgm:cxn modelId="{528FFAD3-398A-46F1-9EAE-1F742983AC8E}" type="presOf" srcId="{351196D2-E037-4AA6-8161-A79DB1871EC3}" destId="{49BF1697-CD18-448B-BB56-2A23AC0CEDB9}" srcOrd="0" destOrd="0" presId="urn:microsoft.com/office/officeart/2008/layout/VerticalCurvedList"/>
    <dgm:cxn modelId="{24474EEB-E140-4E3A-B71F-0BAE0C44C6A7}" srcId="{DA30DFCF-F174-4013-A00B-5F7595AC5EE7}" destId="{02C10381-A177-461C-B6A2-571FDF78E59C}" srcOrd="1" destOrd="0" parTransId="{640E8E2F-3457-459D-B835-8FA1BFF4BCFB}" sibTransId="{4A1DB968-7769-41F4-971C-730855194B87}"/>
    <dgm:cxn modelId="{A95CF680-98AE-498B-87F6-DEA682ABD032}" type="presParOf" srcId="{34A09EBC-3BCD-4D24-9FFA-0A745A389887}" destId="{35FB438D-8D96-47F9-BD02-C93212587380}" srcOrd="0" destOrd="0" presId="urn:microsoft.com/office/officeart/2008/layout/VerticalCurvedList"/>
    <dgm:cxn modelId="{AC1F5E7E-561D-47CC-9331-3BA4B6BD0421}" type="presParOf" srcId="{35FB438D-8D96-47F9-BD02-C93212587380}" destId="{D8DA4C38-394E-45A5-87A5-2A607C3AD2F4}" srcOrd="0" destOrd="0" presId="urn:microsoft.com/office/officeart/2008/layout/VerticalCurvedList"/>
    <dgm:cxn modelId="{90489012-89CF-4FFC-B451-81FEC2284DE9}" type="presParOf" srcId="{D8DA4C38-394E-45A5-87A5-2A607C3AD2F4}" destId="{2871DBDF-1F88-4CBC-ADDB-4C656930E864}" srcOrd="0" destOrd="0" presId="urn:microsoft.com/office/officeart/2008/layout/VerticalCurvedList"/>
    <dgm:cxn modelId="{8BA382BB-423A-432B-9A68-F8728F371863}" type="presParOf" srcId="{D8DA4C38-394E-45A5-87A5-2A607C3AD2F4}" destId="{91510AAE-E403-4E1D-BCB5-ADAE424E1051}" srcOrd="1" destOrd="0" presId="urn:microsoft.com/office/officeart/2008/layout/VerticalCurvedList"/>
    <dgm:cxn modelId="{395AE501-596E-444F-9204-9E404AEF69E5}" type="presParOf" srcId="{D8DA4C38-394E-45A5-87A5-2A607C3AD2F4}" destId="{E6C7E25D-B2E5-4F8C-986D-CC50F2897509}" srcOrd="2" destOrd="0" presId="urn:microsoft.com/office/officeart/2008/layout/VerticalCurvedList"/>
    <dgm:cxn modelId="{A7199E8D-CD67-42FE-8621-09B211844E85}" type="presParOf" srcId="{D8DA4C38-394E-45A5-87A5-2A607C3AD2F4}" destId="{F7CC2015-0258-446D-9EAE-D7B1C44B545F}" srcOrd="3" destOrd="0" presId="urn:microsoft.com/office/officeart/2008/layout/VerticalCurvedList"/>
    <dgm:cxn modelId="{07A6CB7E-8C97-4205-BF4A-4F703E965DB3}" type="presParOf" srcId="{35FB438D-8D96-47F9-BD02-C93212587380}" destId="{036B2794-FECC-41B2-8DC5-CDEBA1BE196C}" srcOrd="1" destOrd="0" presId="urn:microsoft.com/office/officeart/2008/layout/VerticalCurvedList"/>
    <dgm:cxn modelId="{BE69C5FB-7D26-4251-A83F-C191CECA2D8E}" type="presParOf" srcId="{35FB438D-8D96-47F9-BD02-C93212587380}" destId="{DC95F563-FF2F-4381-8FB7-2441ED328737}" srcOrd="2" destOrd="0" presId="urn:microsoft.com/office/officeart/2008/layout/VerticalCurvedList"/>
    <dgm:cxn modelId="{A81A4923-1880-4E39-8425-C4C3BE5AFB65}" type="presParOf" srcId="{DC95F563-FF2F-4381-8FB7-2441ED328737}" destId="{A3BDAAD1-D6CD-4580-B39A-FB0EB451B2FF}" srcOrd="0" destOrd="0" presId="urn:microsoft.com/office/officeart/2008/layout/VerticalCurvedList"/>
    <dgm:cxn modelId="{D8910C85-18A1-49D0-8B29-6034AE232C89}" type="presParOf" srcId="{35FB438D-8D96-47F9-BD02-C93212587380}" destId="{35D8C124-65FB-4115-A97C-A47C0EE8E4E4}" srcOrd="3" destOrd="0" presId="urn:microsoft.com/office/officeart/2008/layout/VerticalCurvedList"/>
    <dgm:cxn modelId="{CB639923-6231-4566-87CB-FBE0689C156D}" type="presParOf" srcId="{35FB438D-8D96-47F9-BD02-C93212587380}" destId="{F797950E-EEC7-490A-BA5C-0A0A96F7E2DE}" srcOrd="4" destOrd="0" presId="urn:microsoft.com/office/officeart/2008/layout/VerticalCurvedList"/>
    <dgm:cxn modelId="{4346C0BD-E34E-4D0E-85E0-DE7CD12404D5}" type="presParOf" srcId="{F797950E-EEC7-490A-BA5C-0A0A96F7E2DE}" destId="{A2EB3297-1EB8-419B-BBF6-E4C5512DE105}" srcOrd="0" destOrd="0" presId="urn:microsoft.com/office/officeart/2008/layout/VerticalCurvedList"/>
    <dgm:cxn modelId="{FDEAFB83-808D-4823-A665-8A4B353E0F7B}" type="presParOf" srcId="{35FB438D-8D96-47F9-BD02-C93212587380}" destId="{49BF1697-CD18-448B-BB56-2A23AC0CEDB9}" srcOrd="5" destOrd="0" presId="urn:microsoft.com/office/officeart/2008/layout/VerticalCurvedList"/>
    <dgm:cxn modelId="{E0FB2CEB-007E-4C3D-B42C-846CB0E2D631}" type="presParOf" srcId="{35FB438D-8D96-47F9-BD02-C93212587380}" destId="{812D97CF-0302-4CA2-8743-40D424955E49}" srcOrd="6" destOrd="0" presId="urn:microsoft.com/office/officeart/2008/layout/VerticalCurvedList"/>
    <dgm:cxn modelId="{A79FF17D-2DD7-482B-B39C-3FA40907F037}" type="presParOf" srcId="{812D97CF-0302-4CA2-8743-40D424955E49}" destId="{A4261F9C-7566-4120-A7FF-9F256A2DE8D2}" srcOrd="0" destOrd="0" presId="urn:microsoft.com/office/officeart/2008/layout/VerticalCurvedList"/>
    <dgm:cxn modelId="{AEEA23AA-EBE3-4E02-83E3-17E17A1FFC8B}" type="presParOf" srcId="{35FB438D-8D96-47F9-BD02-C93212587380}" destId="{8B46DE9A-4144-475A-8C52-EB8FB5053248}" srcOrd="7" destOrd="0" presId="urn:microsoft.com/office/officeart/2008/layout/VerticalCurvedList"/>
    <dgm:cxn modelId="{90A8BD67-FBA4-487D-A725-DEA19778032F}" type="presParOf" srcId="{35FB438D-8D96-47F9-BD02-C93212587380}" destId="{C9EA6E5E-3001-41EF-BCF4-0C27195B1EA2}" srcOrd="8" destOrd="0" presId="urn:microsoft.com/office/officeart/2008/layout/VerticalCurvedList"/>
    <dgm:cxn modelId="{BC57A184-206D-4005-A7CD-B2FEB1CDBF61}" type="presParOf" srcId="{C9EA6E5E-3001-41EF-BCF4-0C27195B1EA2}" destId="{CA04C916-9DFA-4CC1-848D-642D21543B6E}"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AD6759-1959-457F-9F23-CEDFF409813D}" type="doc">
      <dgm:prSet loTypeId="urn:microsoft.com/office/officeart/2005/8/layout/list1" loCatId="list" qsTypeId="urn:microsoft.com/office/officeart/2005/8/quickstyle/simple1#2" qsCatId="simple" csTypeId="urn:microsoft.com/office/officeart/2005/8/colors/accent1_2#1" csCatId="accent1" phldr="1"/>
      <dgm:spPr/>
      <dgm:t>
        <a:bodyPr/>
        <a:lstStyle/>
        <a:p>
          <a:endParaRPr lang="zh-TW" altLang="en-US"/>
        </a:p>
      </dgm:t>
    </dgm:pt>
    <dgm:pt modelId="{291AE9DC-9445-40C3-8E3A-47F2E8AF47EA}">
      <dgm:prSet phldrT="[文字]">
        <dgm:style>
          <a:lnRef idx="1">
            <a:schemeClr val="accent4"/>
          </a:lnRef>
          <a:fillRef idx="2">
            <a:schemeClr val="accent4"/>
          </a:fillRef>
          <a:effectRef idx="1">
            <a:schemeClr val="accent4"/>
          </a:effectRef>
          <a:fontRef idx="minor">
            <a:schemeClr val="dk1"/>
          </a:fontRef>
        </dgm:style>
      </dgm:prSet>
      <dgm:spPr/>
      <dgm:t>
        <a:bodyPr/>
        <a:lstStyle/>
        <a:p>
          <a:r>
            <a:rPr lang="zh-TW" altLang="en-US" dirty="0">
              <a:latin typeface="微軟正黑體" panose="020B0604030504040204" pitchFamily="34" charset="-120"/>
              <a:ea typeface="微軟正黑體" panose="020B0604030504040204" pitchFamily="34" charset="-120"/>
            </a:rPr>
            <a:t>請求實體審查制</a:t>
          </a:r>
        </a:p>
      </dgm:t>
    </dgm:pt>
    <dgm:pt modelId="{14A62776-A3A1-4979-B2F8-74BA397A3826}" type="parTrans" cxnId="{E2D906A6-6F5E-4A97-B27A-C03083077B30}">
      <dgm:prSet/>
      <dgm:spPr/>
      <dgm:t>
        <a:bodyPr/>
        <a:lstStyle/>
        <a:p>
          <a:endParaRPr lang="zh-TW" altLang="en-US">
            <a:latin typeface="微軟正黑體" panose="020B0604030504040204" pitchFamily="34" charset="-120"/>
            <a:ea typeface="微軟正黑體" panose="020B0604030504040204" pitchFamily="34" charset="-120"/>
          </a:endParaRPr>
        </a:p>
      </dgm:t>
    </dgm:pt>
    <dgm:pt modelId="{4403BC20-F1FF-44C8-8758-8C6871F7F7DF}" type="sibTrans" cxnId="{E2D906A6-6F5E-4A97-B27A-C03083077B30}">
      <dgm:prSet/>
      <dgm:spPr/>
      <dgm:t>
        <a:bodyPr/>
        <a:lstStyle/>
        <a:p>
          <a:endParaRPr lang="zh-TW" altLang="en-US">
            <a:latin typeface="微軟正黑體" panose="020B0604030504040204" pitchFamily="34" charset="-120"/>
            <a:ea typeface="微軟正黑體" panose="020B0604030504040204" pitchFamily="34" charset="-120"/>
          </a:endParaRPr>
        </a:p>
      </dgm:t>
    </dgm:pt>
    <dgm:pt modelId="{A008212A-6B52-4D9D-A7D7-0EEA4ADD7314}">
      <dgm:prSet phldrT="[文字]">
        <dgm:style>
          <a:lnRef idx="1">
            <a:schemeClr val="accent3"/>
          </a:lnRef>
          <a:fillRef idx="2">
            <a:schemeClr val="accent3"/>
          </a:fillRef>
          <a:effectRef idx="1">
            <a:schemeClr val="accent3"/>
          </a:effectRef>
          <a:fontRef idx="minor">
            <a:schemeClr val="dk1"/>
          </a:fontRef>
        </dgm:style>
      </dgm:prSet>
      <dgm:spPr/>
      <dgm:t>
        <a:bodyPr/>
        <a:lstStyle/>
        <a:p>
          <a:r>
            <a:rPr lang="zh-TW" altLang="en-US" dirty="0">
              <a:latin typeface="微軟正黑體" panose="020B0604030504040204" pitchFamily="34" charset="-120"/>
              <a:ea typeface="微軟正黑體" panose="020B0604030504040204" pitchFamily="34" charset="-120"/>
            </a:rPr>
            <a:t>形式審查制</a:t>
          </a:r>
        </a:p>
      </dgm:t>
    </dgm:pt>
    <dgm:pt modelId="{43DF7B41-9D36-43E0-8FB0-0D9B1222BABA}" type="parTrans" cxnId="{3E5CC95A-3377-4AD1-AC99-9DB24CD64D82}">
      <dgm:prSet/>
      <dgm:spPr/>
      <dgm:t>
        <a:bodyPr/>
        <a:lstStyle/>
        <a:p>
          <a:endParaRPr lang="zh-TW" altLang="en-US">
            <a:latin typeface="微軟正黑體" panose="020B0604030504040204" pitchFamily="34" charset="-120"/>
            <a:ea typeface="微軟正黑體" panose="020B0604030504040204" pitchFamily="34" charset="-120"/>
          </a:endParaRPr>
        </a:p>
      </dgm:t>
    </dgm:pt>
    <dgm:pt modelId="{CD6B88B2-6355-4941-82F4-D0FC478567D1}" type="sibTrans" cxnId="{3E5CC95A-3377-4AD1-AC99-9DB24CD64D82}">
      <dgm:prSet/>
      <dgm:spPr/>
      <dgm:t>
        <a:bodyPr/>
        <a:lstStyle/>
        <a:p>
          <a:endParaRPr lang="zh-TW" altLang="en-US">
            <a:latin typeface="微軟正黑體" panose="020B0604030504040204" pitchFamily="34" charset="-120"/>
            <a:ea typeface="微軟正黑體" panose="020B0604030504040204" pitchFamily="34" charset="-120"/>
          </a:endParaRPr>
        </a:p>
      </dgm:t>
    </dgm:pt>
    <dgm:pt modelId="{3B6E1D9F-7613-44D1-A677-061E4E2E4C80}">
      <dgm:prSet phldrT="[文字]">
        <dgm:style>
          <a:lnRef idx="1">
            <a:schemeClr val="accent2"/>
          </a:lnRef>
          <a:fillRef idx="2">
            <a:schemeClr val="accent2"/>
          </a:fillRef>
          <a:effectRef idx="1">
            <a:schemeClr val="accent2"/>
          </a:effectRef>
          <a:fontRef idx="minor">
            <a:schemeClr val="dk1"/>
          </a:fontRef>
        </dgm:style>
      </dgm:prSet>
      <dgm:spPr/>
      <dgm:t>
        <a:bodyPr/>
        <a:lstStyle/>
        <a:p>
          <a:r>
            <a:rPr lang="zh-TW" altLang="en-US" dirty="0">
              <a:latin typeface="微軟正黑體" panose="020B0604030504040204" pitchFamily="34" charset="-120"/>
              <a:ea typeface="微軟正黑體" panose="020B0604030504040204" pitchFamily="34" charset="-120"/>
            </a:rPr>
            <a:t>依職權實體審查制</a:t>
          </a:r>
        </a:p>
      </dgm:t>
    </dgm:pt>
    <dgm:pt modelId="{1CBE9047-3667-477F-BFF4-E891FF75E7E6}" type="parTrans" cxnId="{045567CB-52AF-4BB8-8748-154885B15F48}">
      <dgm:prSet/>
      <dgm:spPr/>
      <dgm:t>
        <a:bodyPr/>
        <a:lstStyle/>
        <a:p>
          <a:endParaRPr lang="zh-TW" altLang="en-US">
            <a:latin typeface="微軟正黑體" panose="020B0604030504040204" pitchFamily="34" charset="-120"/>
            <a:ea typeface="微軟正黑體" panose="020B0604030504040204" pitchFamily="34" charset="-120"/>
          </a:endParaRPr>
        </a:p>
      </dgm:t>
    </dgm:pt>
    <dgm:pt modelId="{A9A700EA-6508-47D0-8A8F-59347B9DE7C4}" type="sibTrans" cxnId="{045567CB-52AF-4BB8-8748-154885B15F48}">
      <dgm:prSet/>
      <dgm:spPr/>
      <dgm:t>
        <a:bodyPr/>
        <a:lstStyle/>
        <a:p>
          <a:endParaRPr lang="zh-TW" altLang="en-US">
            <a:latin typeface="微軟正黑體" panose="020B0604030504040204" pitchFamily="34" charset="-120"/>
            <a:ea typeface="微軟正黑體" panose="020B0604030504040204" pitchFamily="34" charset="-120"/>
          </a:endParaRPr>
        </a:p>
      </dgm:t>
    </dgm:pt>
    <dgm:pt modelId="{04AFA412-04CD-4333-BD71-43705F3794BF}">
      <dgm:prSet phldrT="[文字]">
        <dgm:style>
          <a:lnRef idx="1">
            <a:schemeClr val="accent4"/>
          </a:lnRef>
          <a:fillRef idx="2">
            <a:schemeClr val="accent4"/>
          </a:fillRef>
          <a:effectRef idx="1">
            <a:schemeClr val="accent4"/>
          </a:effectRef>
          <a:fontRef idx="minor">
            <a:schemeClr val="dk1"/>
          </a:fontRef>
        </dgm:style>
      </dgm:prSet>
      <dgm:spPr/>
      <dgm:t>
        <a:bodyPr/>
        <a:lstStyle/>
        <a:p>
          <a:r>
            <a:rPr lang="zh-TW" altLang="en-US" dirty="0">
              <a:latin typeface="微軟正黑體" panose="020B0604030504040204" pitchFamily="34" charset="-120"/>
              <a:ea typeface="微軟正黑體" panose="020B0604030504040204" pitchFamily="34" charset="-120"/>
            </a:rPr>
            <a:t>發明專利</a:t>
          </a:r>
        </a:p>
      </dgm:t>
    </dgm:pt>
    <dgm:pt modelId="{3E55577A-723E-4549-AB70-A8CE58BC0FB4}" type="parTrans" cxnId="{4428A5E1-4A20-46C3-9296-6E4893152E07}">
      <dgm:prSet/>
      <dgm:spPr/>
      <dgm:t>
        <a:bodyPr/>
        <a:lstStyle/>
        <a:p>
          <a:endParaRPr lang="zh-TW" altLang="en-US"/>
        </a:p>
      </dgm:t>
    </dgm:pt>
    <dgm:pt modelId="{8FCC1310-1133-4582-B621-041FAAB5E2E7}" type="sibTrans" cxnId="{4428A5E1-4A20-46C3-9296-6E4893152E07}">
      <dgm:prSet/>
      <dgm:spPr/>
      <dgm:t>
        <a:bodyPr/>
        <a:lstStyle/>
        <a:p>
          <a:endParaRPr lang="zh-TW" altLang="en-US"/>
        </a:p>
      </dgm:t>
    </dgm:pt>
    <dgm:pt modelId="{A3703336-E7E9-4BD5-A906-F2A03FDB8D89}">
      <dgm:prSet phldrT="[文字]">
        <dgm:style>
          <a:lnRef idx="1">
            <a:schemeClr val="accent4"/>
          </a:lnRef>
          <a:fillRef idx="2">
            <a:schemeClr val="accent4"/>
          </a:fillRef>
          <a:effectRef idx="1">
            <a:schemeClr val="accent4"/>
          </a:effectRef>
          <a:fontRef idx="minor">
            <a:schemeClr val="dk1"/>
          </a:fontRef>
        </dgm:style>
      </dgm:prSet>
      <dgm:spPr/>
      <dgm:t>
        <a:bodyPr/>
        <a:lstStyle/>
        <a:p>
          <a:r>
            <a:rPr lang="zh-TW" altLang="en-US" dirty="0">
              <a:latin typeface="微軟正黑體" panose="020B0604030504040204" pitchFamily="34" charset="-120"/>
              <a:ea typeface="微軟正黑體" panose="020B0604030504040204" pitchFamily="34" charset="-120"/>
            </a:rPr>
            <a:t>早期公開</a:t>
          </a:r>
        </a:p>
      </dgm:t>
    </dgm:pt>
    <dgm:pt modelId="{9A0234B5-19DF-430B-91BC-F8EC48742731}" type="parTrans" cxnId="{7AE06976-EA08-485C-BA1A-72DB5A2FB4EF}">
      <dgm:prSet/>
      <dgm:spPr/>
      <dgm:t>
        <a:bodyPr/>
        <a:lstStyle/>
        <a:p>
          <a:endParaRPr lang="zh-TW" altLang="en-US"/>
        </a:p>
      </dgm:t>
    </dgm:pt>
    <dgm:pt modelId="{17E56CD3-4ED9-40BD-9AF8-95726AF3E100}" type="sibTrans" cxnId="{7AE06976-EA08-485C-BA1A-72DB5A2FB4EF}">
      <dgm:prSet/>
      <dgm:spPr/>
      <dgm:t>
        <a:bodyPr/>
        <a:lstStyle/>
        <a:p>
          <a:endParaRPr lang="zh-TW" altLang="en-US"/>
        </a:p>
      </dgm:t>
    </dgm:pt>
    <dgm:pt modelId="{2B4936F7-F069-4237-9C72-345DF677E1FE}">
      <dgm:prSet phldrT="[文字]">
        <dgm:style>
          <a:lnRef idx="1">
            <a:schemeClr val="accent3"/>
          </a:lnRef>
          <a:fillRef idx="2">
            <a:schemeClr val="accent3"/>
          </a:fillRef>
          <a:effectRef idx="1">
            <a:schemeClr val="accent3"/>
          </a:effectRef>
          <a:fontRef idx="minor">
            <a:schemeClr val="dk1"/>
          </a:fontRef>
        </dgm:style>
      </dgm:prSet>
      <dgm:spPr/>
      <dgm:t>
        <a:bodyPr/>
        <a:lstStyle/>
        <a:p>
          <a:r>
            <a:rPr lang="zh-TW" altLang="en-US" dirty="0">
              <a:latin typeface="微軟正黑體" panose="020B0604030504040204" pitchFamily="34" charset="-120"/>
              <a:ea typeface="微軟正黑體" panose="020B0604030504040204" pitchFamily="34" charset="-120"/>
            </a:rPr>
            <a:t>新型專利</a:t>
          </a:r>
        </a:p>
      </dgm:t>
    </dgm:pt>
    <dgm:pt modelId="{7483D766-4837-40EE-9214-5C7CF5598C00}" type="parTrans" cxnId="{196BEA31-B72F-42DD-B4E4-61BC960DC6CB}">
      <dgm:prSet/>
      <dgm:spPr/>
      <dgm:t>
        <a:bodyPr/>
        <a:lstStyle/>
        <a:p>
          <a:endParaRPr lang="zh-TW" altLang="en-US"/>
        </a:p>
      </dgm:t>
    </dgm:pt>
    <dgm:pt modelId="{C862D73F-4562-49EF-8D79-AD26C6B6AFEE}" type="sibTrans" cxnId="{196BEA31-B72F-42DD-B4E4-61BC960DC6CB}">
      <dgm:prSet/>
      <dgm:spPr/>
      <dgm:t>
        <a:bodyPr/>
        <a:lstStyle/>
        <a:p>
          <a:endParaRPr lang="zh-TW" altLang="en-US"/>
        </a:p>
      </dgm:t>
    </dgm:pt>
    <dgm:pt modelId="{78F256C1-6975-4A5E-A9A7-2EC7E7375BB1}">
      <dgm:prSet phldrT="[文字]">
        <dgm:style>
          <a:lnRef idx="1">
            <a:schemeClr val="accent4"/>
          </a:lnRef>
          <a:fillRef idx="2">
            <a:schemeClr val="accent4"/>
          </a:fillRef>
          <a:effectRef idx="1">
            <a:schemeClr val="accent4"/>
          </a:effectRef>
          <a:fontRef idx="minor">
            <a:schemeClr val="dk1"/>
          </a:fontRef>
        </dgm:style>
      </dgm:prSet>
      <dgm:spPr/>
      <dgm:t>
        <a:bodyPr/>
        <a:lstStyle/>
        <a:p>
          <a:r>
            <a:rPr lang="zh-TW" altLang="en-US" dirty="0">
              <a:latin typeface="微軟正黑體" panose="020B0604030504040204" pitchFamily="34" charset="-120"/>
              <a:ea typeface="微軟正黑體" panose="020B0604030504040204" pitchFamily="34" charset="-120"/>
            </a:rPr>
            <a:t>核准公告</a:t>
          </a:r>
        </a:p>
      </dgm:t>
    </dgm:pt>
    <dgm:pt modelId="{A7FB7C00-50E9-4C8D-B166-B02F5E708503}" type="parTrans" cxnId="{57D3A247-98D1-41F4-B981-B17B09D18250}">
      <dgm:prSet/>
      <dgm:spPr/>
      <dgm:t>
        <a:bodyPr/>
        <a:lstStyle/>
        <a:p>
          <a:endParaRPr lang="zh-TW" altLang="en-US"/>
        </a:p>
      </dgm:t>
    </dgm:pt>
    <dgm:pt modelId="{06928089-A51F-4E59-A9CF-0C3171AB63FD}" type="sibTrans" cxnId="{57D3A247-98D1-41F4-B981-B17B09D18250}">
      <dgm:prSet/>
      <dgm:spPr/>
      <dgm:t>
        <a:bodyPr/>
        <a:lstStyle/>
        <a:p>
          <a:endParaRPr lang="zh-TW" altLang="en-US"/>
        </a:p>
      </dgm:t>
    </dgm:pt>
    <dgm:pt modelId="{63AACC12-31FA-47A4-B8FC-7217BD6D71C4}">
      <dgm:prSet phldrT="[文字]">
        <dgm:style>
          <a:lnRef idx="1">
            <a:schemeClr val="accent3"/>
          </a:lnRef>
          <a:fillRef idx="2">
            <a:schemeClr val="accent3"/>
          </a:fillRef>
          <a:effectRef idx="1">
            <a:schemeClr val="accent3"/>
          </a:effectRef>
          <a:fontRef idx="minor">
            <a:schemeClr val="dk1"/>
          </a:fontRef>
        </dgm:style>
      </dgm:prSet>
      <dgm:spPr/>
      <dgm:t>
        <a:bodyPr/>
        <a:lstStyle/>
        <a:p>
          <a:r>
            <a:rPr lang="zh-TW" altLang="en-US" dirty="0">
              <a:latin typeface="微軟正黑體" panose="020B0604030504040204" pitchFamily="34" charset="-120"/>
              <a:ea typeface="微軟正黑體" panose="020B0604030504040204" pitchFamily="34" charset="-120"/>
            </a:rPr>
            <a:t>核准公告</a:t>
          </a:r>
        </a:p>
      </dgm:t>
    </dgm:pt>
    <dgm:pt modelId="{82C62892-DD26-4D82-8E87-60C9A1510CD4}" type="parTrans" cxnId="{6A26ABB1-1CDB-4365-94FD-1294F7EDC936}">
      <dgm:prSet/>
      <dgm:spPr/>
      <dgm:t>
        <a:bodyPr/>
        <a:lstStyle/>
        <a:p>
          <a:endParaRPr lang="zh-TW" altLang="en-US"/>
        </a:p>
      </dgm:t>
    </dgm:pt>
    <dgm:pt modelId="{124ABC45-CCE9-41C7-9B2C-52467F9CCA91}" type="sibTrans" cxnId="{6A26ABB1-1CDB-4365-94FD-1294F7EDC936}">
      <dgm:prSet/>
      <dgm:spPr/>
      <dgm:t>
        <a:bodyPr/>
        <a:lstStyle/>
        <a:p>
          <a:endParaRPr lang="zh-TW" altLang="en-US"/>
        </a:p>
      </dgm:t>
    </dgm:pt>
    <dgm:pt modelId="{5A6A2695-02DA-4A62-9A70-3530BC522FD0}">
      <dgm:prSet phldrT="[文字]">
        <dgm:style>
          <a:lnRef idx="1">
            <a:schemeClr val="accent2"/>
          </a:lnRef>
          <a:fillRef idx="2">
            <a:schemeClr val="accent2"/>
          </a:fillRef>
          <a:effectRef idx="1">
            <a:schemeClr val="accent2"/>
          </a:effectRef>
          <a:fontRef idx="minor">
            <a:schemeClr val="dk1"/>
          </a:fontRef>
        </dgm:style>
      </dgm:prSet>
      <dgm:spPr/>
      <dgm:t>
        <a:bodyPr/>
        <a:lstStyle/>
        <a:p>
          <a:r>
            <a:rPr lang="zh-TW" altLang="en-US" dirty="0">
              <a:latin typeface="微軟正黑體" panose="020B0604030504040204" pitchFamily="34" charset="-120"/>
              <a:ea typeface="微軟正黑體" panose="020B0604030504040204" pitchFamily="34" charset="-120"/>
            </a:rPr>
            <a:t>設計專利</a:t>
          </a:r>
        </a:p>
      </dgm:t>
    </dgm:pt>
    <dgm:pt modelId="{DC90D882-5FD0-4FE4-A6A4-341EF74F40BF}" type="parTrans" cxnId="{C3BA6DA8-65C4-4599-BBC6-93DAA05D0EFB}">
      <dgm:prSet/>
      <dgm:spPr/>
      <dgm:t>
        <a:bodyPr/>
        <a:lstStyle/>
        <a:p>
          <a:endParaRPr lang="zh-TW" altLang="en-US"/>
        </a:p>
      </dgm:t>
    </dgm:pt>
    <dgm:pt modelId="{687E8022-CEDE-4C85-BE4C-87A3F7BB0C15}" type="sibTrans" cxnId="{C3BA6DA8-65C4-4599-BBC6-93DAA05D0EFB}">
      <dgm:prSet/>
      <dgm:spPr/>
      <dgm:t>
        <a:bodyPr/>
        <a:lstStyle/>
        <a:p>
          <a:endParaRPr lang="zh-TW" altLang="en-US"/>
        </a:p>
      </dgm:t>
    </dgm:pt>
    <dgm:pt modelId="{BE97C687-0CA7-43BC-B38C-08B164A460B3}">
      <dgm:prSet phldrT="[文字]">
        <dgm:style>
          <a:lnRef idx="1">
            <a:schemeClr val="accent2"/>
          </a:lnRef>
          <a:fillRef idx="2">
            <a:schemeClr val="accent2"/>
          </a:fillRef>
          <a:effectRef idx="1">
            <a:schemeClr val="accent2"/>
          </a:effectRef>
          <a:fontRef idx="minor">
            <a:schemeClr val="dk1"/>
          </a:fontRef>
        </dgm:style>
      </dgm:prSet>
      <dgm:spPr/>
      <dgm:t>
        <a:bodyPr/>
        <a:lstStyle/>
        <a:p>
          <a:r>
            <a:rPr lang="zh-TW" altLang="en-US" dirty="0">
              <a:latin typeface="微軟正黑體" panose="020B0604030504040204" pitchFamily="34" charset="-120"/>
              <a:ea typeface="微軟正黑體" panose="020B0604030504040204" pitchFamily="34" charset="-120"/>
            </a:rPr>
            <a:t>核准公告</a:t>
          </a:r>
        </a:p>
      </dgm:t>
    </dgm:pt>
    <dgm:pt modelId="{747AB48B-E4D9-40E1-9169-CDE794991974}" type="parTrans" cxnId="{6D1250C0-617B-4C3B-954D-B6B2408A3E76}">
      <dgm:prSet/>
      <dgm:spPr/>
      <dgm:t>
        <a:bodyPr/>
        <a:lstStyle/>
        <a:p>
          <a:endParaRPr lang="zh-TW" altLang="en-US"/>
        </a:p>
      </dgm:t>
    </dgm:pt>
    <dgm:pt modelId="{0117E57E-5954-405B-8B7C-30463C463D84}" type="sibTrans" cxnId="{6D1250C0-617B-4C3B-954D-B6B2408A3E76}">
      <dgm:prSet/>
      <dgm:spPr/>
      <dgm:t>
        <a:bodyPr/>
        <a:lstStyle/>
        <a:p>
          <a:endParaRPr lang="zh-TW" altLang="en-US"/>
        </a:p>
      </dgm:t>
    </dgm:pt>
    <dgm:pt modelId="{86273EB0-F3B0-40C8-8E52-4259F19E5AA6}" type="pres">
      <dgm:prSet presAssocID="{6EAD6759-1959-457F-9F23-CEDFF409813D}" presName="linear" presStyleCnt="0">
        <dgm:presLayoutVars>
          <dgm:dir/>
          <dgm:animLvl val="lvl"/>
          <dgm:resizeHandles val="exact"/>
        </dgm:presLayoutVars>
      </dgm:prSet>
      <dgm:spPr/>
    </dgm:pt>
    <dgm:pt modelId="{4B84258A-BBC9-4589-85B4-BC2DAB07FBFC}" type="pres">
      <dgm:prSet presAssocID="{291AE9DC-9445-40C3-8E3A-47F2E8AF47EA}" presName="parentLin" presStyleCnt="0"/>
      <dgm:spPr/>
    </dgm:pt>
    <dgm:pt modelId="{E3E8695E-3337-45DE-9788-50D85E074C4A}" type="pres">
      <dgm:prSet presAssocID="{291AE9DC-9445-40C3-8E3A-47F2E8AF47EA}" presName="parentLeftMargin" presStyleLbl="node1" presStyleIdx="0" presStyleCnt="3"/>
      <dgm:spPr/>
    </dgm:pt>
    <dgm:pt modelId="{613F2206-3CFD-445D-982C-5023451EF118}" type="pres">
      <dgm:prSet presAssocID="{291AE9DC-9445-40C3-8E3A-47F2E8AF47EA}" presName="parentText" presStyleLbl="node1" presStyleIdx="0" presStyleCnt="3" custScaleX="101458" custScaleY="108679">
        <dgm:presLayoutVars>
          <dgm:chMax val="0"/>
          <dgm:bulletEnabled val="1"/>
        </dgm:presLayoutVars>
      </dgm:prSet>
      <dgm:spPr/>
    </dgm:pt>
    <dgm:pt modelId="{D2EAB685-435A-43B3-B411-98FC9B22894B}" type="pres">
      <dgm:prSet presAssocID="{291AE9DC-9445-40C3-8E3A-47F2E8AF47EA}" presName="negativeSpace" presStyleCnt="0"/>
      <dgm:spPr/>
    </dgm:pt>
    <dgm:pt modelId="{BE4B9D8B-68E8-4368-BCDA-DB036158E4F3}" type="pres">
      <dgm:prSet presAssocID="{291AE9DC-9445-40C3-8E3A-47F2E8AF47EA}" presName="childText" presStyleLbl="conFgAcc1" presStyleIdx="0" presStyleCnt="3">
        <dgm:presLayoutVars>
          <dgm:bulletEnabled val="1"/>
        </dgm:presLayoutVars>
      </dgm:prSet>
      <dgm:spPr/>
    </dgm:pt>
    <dgm:pt modelId="{4BD9F70B-2794-4968-AACD-9C8B4B1D47D5}" type="pres">
      <dgm:prSet presAssocID="{4403BC20-F1FF-44C8-8758-8C6871F7F7DF}" presName="spaceBetweenRectangles" presStyleCnt="0"/>
      <dgm:spPr/>
    </dgm:pt>
    <dgm:pt modelId="{81D7D54D-ADD7-4C4A-B966-793A815C42FE}" type="pres">
      <dgm:prSet presAssocID="{A008212A-6B52-4D9D-A7D7-0EEA4ADD7314}" presName="parentLin" presStyleCnt="0"/>
      <dgm:spPr/>
    </dgm:pt>
    <dgm:pt modelId="{74011AAC-A0C1-4F82-A3CA-C5A1B5DB649F}" type="pres">
      <dgm:prSet presAssocID="{A008212A-6B52-4D9D-A7D7-0EEA4ADD7314}" presName="parentLeftMargin" presStyleLbl="node1" presStyleIdx="0" presStyleCnt="3"/>
      <dgm:spPr/>
    </dgm:pt>
    <dgm:pt modelId="{25267381-E1A6-43BD-AAE2-C35ADEE9A043}" type="pres">
      <dgm:prSet presAssocID="{A008212A-6B52-4D9D-A7D7-0EEA4ADD7314}" presName="parentText" presStyleLbl="node1" presStyleIdx="1" presStyleCnt="3">
        <dgm:presLayoutVars>
          <dgm:chMax val="0"/>
          <dgm:bulletEnabled val="1"/>
        </dgm:presLayoutVars>
      </dgm:prSet>
      <dgm:spPr/>
    </dgm:pt>
    <dgm:pt modelId="{8F68C4F3-49D4-479B-87E8-1514F34D0883}" type="pres">
      <dgm:prSet presAssocID="{A008212A-6B52-4D9D-A7D7-0EEA4ADD7314}" presName="negativeSpace" presStyleCnt="0"/>
      <dgm:spPr/>
    </dgm:pt>
    <dgm:pt modelId="{FB711831-E161-4FF4-A979-0132FABD0707}" type="pres">
      <dgm:prSet presAssocID="{A008212A-6B52-4D9D-A7D7-0EEA4ADD7314}" presName="childText" presStyleLbl="conFgAcc1" presStyleIdx="1" presStyleCnt="3">
        <dgm:presLayoutVars>
          <dgm:bulletEnabled val="1"/>
        </dgm:presLayoutVars>
      </dgm:prSet>
      <dgm:spPr/>
    </dgm:pt>
    <dgm:pt modelId="{9C6E3ED8-77FC-497A-8DAF-D1836E813CB4}" type="pres">
      <dgm:prSet presAssocID="{CD6B88B2-6355-4941-82F4-D0FC478567D1}" presName="spaceBetweenRectangles" presStyleCnt="0"/>
      <dgm:spPr/>
    </dgm:pt>
    <dgm:pt modelId="{C2F002F7-9ACD-42D3-9CA5-24463F4BB694}" type="pres">
      <dgm:prSet presAssocID="{3B6E1D9F-7613-44D1-A677-061E4E2E4C80}" presName="parentLin" presStyleCnt="0"/>
      <dgm:spPr/>
    </dgm:pt>
    <dgm:pt modelId="{D2CA8288-3A0E-4E4C-86D9-85716B001FBC}" type="pres">
      <dgm:prSet presAssocID="{3B6E1D9F-7613-44D1-A677-061E4E2E4C80}" presName="parentLeftMargin" presStyleLbl="node1" presStyleIdx="1" presStyleCnt="3"/>
      <dgm:spPr/>
    </dgm:pt>
    <dgm:pt modelId="{3D829F1F-08BF-4333-BA44-6E3598E35A26}" type="pres">
      <dgm:prSet presAssocID="{3B6E1D9F-7613-44D1-A677-061E4E2E4C80}" presName="parentText" presStyleLbl="node1" presStyleIdx="2" presStyleCnt="3">
        <dgm:presLayoutVars>
          <dgm:chMax val="0"/>
          <dgm:bulletEnabled val="1"/>
        </dgm:presLayoutVars>
      </dgm:prSet>
      <dgm:spPr/>
    </dgm:pt>
    <dgm:pt modelId="{813DDA8C-1DD4-4748-9E01-64457FD8800E}" type="pres">
      <dgm:prSet presAssocID="{3B6E1D9F-7613-44D1-A677-061E4E2E4C80}" presName="negativeSpace" presStyleCnt="0"/>
      <dgm:spPr/>
    </dgm:pt>
    <dgm:pt modelId="{FB98C9D1-B1C3-4CC6-90E3-E19CF0B2A714}" type="pres">
      <dgm:prSet presAssocID="{3B6E1D9F-7613-44D1-A677-061E4E2E4C80}" presName="childText" presStyleLbl="conFgAcc1" presStyleIdx="2" presStyleCnt="3">
        <dgm:presLayoutVars>
          <dgm:bulletEnabled val="1"/>
        </dgm:presLayoutVars>
      </dgm:prSet>
      <dgm:spPr/>
    </dgm:pt>
  </dgm:ptLst>
  <dgm:cxnLst>
    <dgm:cxn modelId="{95976B05-B957-48D1-AD72-ECF98537D5D4}" type="presOf" srcId="{2B4936F7-F069-4237-9C72-345DF677E1FE}" destId="{FB711831-E161-4FF4-A979-0132FABD0707}" srcOrd="0" destOrd="0" presId="urn:microsoft.com/office/officeart/2005/8/layout/list1"/>
    <dgm:cxn modelId="{A9414E20-024E-4B2C-AD48-D92B76C5E02C}" type="presOf" srcId="{5A6A2695-02DA-4A62-9A70-3530BC522FD0}" destId="{FB98C9D1-B1C3-4CC6-90E3-E19CF0B2A714}" srcOrd="0" destOrd="0" presId="urn:microsoft.com/office/officeart/2005/8/layout/list1"/>
    <dgm:cxn modelId="{196BEA31-B72F-42DD-B4E4-61BC960DC6CB}" srcId="{A008212A-6B52-4D9D-A7D7-0EEA4ADD7314}" destId="{2B4936F7-F069-4237-9C72-345DF677E1FE}" srcOrd="0" destOrd="0" parTransId="{7483D766-4837-40EE-9214-5C7CF5598C00}" sibTransId="{C862D73F-4562-49EF-8D79-AD26C6B6AFEE}"/>
    <dgm:cxn modelId="{C4456D3C-805E-4EE0-9ECF-4F93276747F6}" type="presOf" srcId="{A008212A-6B52-4D9D-A7D7-0EEA4ADD7314}" destId="{25267381-E1A6-43BD-AAE2-C35ADEE9A043}" srcOrd="1" destOrd="0" presId="urn:microsoft.com/office/officeart/2005/8/layout/list1"/>
    <dgm:cxn modelId="{533CE43D-3D2F-4FE8-B46A-CD42F53680C7}" type="presOf" srcId="{A3703336-E7E9-4BD5-A906-F2A03FDB8D89}" destId="{BE4B9D8B-68E8-4368-BCDA-DB036158E4F3}" srcOrd="0" destOrd="1" presId="urn:microsoft.com/office/officeart/2005/8/layout/list1"/>
    <dgm:cxn modelId="{39A39542-3254-4E8E-81A2-09B99392C654}" type="presOf" srcId="{291AE9DC-9445-40C3-8E3A-47F2E8AF47EA}" destId="{613F2206-3CFD-445D-982C-5023451EF118}" srcOrd="1" destOrd="0" presId="urn:microsoft.com/office/officeart/2005/8/layout/list1"/>
    <dgm:cxn modelId="{57D3A247-98D1-41F4-B981-B17B09D18250}" srcId="{291AE9DC-9445-40C3-8E3A-47F2E8AF47EA}" destId="{78F256C1-6975-4A5E-A9A7-2EC7E7375BB1}" srcOrd="2" destOrd="0" parTransId="{A7FB7C00-50E9-4C8D-B166-B02F5E708503}" sibTransId="{06928089-A51F-4E59-A9CF-0C3171AB63FD}"/>
    <dgm:cxn modelId="{5B3EFD71-D1EB-4B8E-B19D-476DC1A80B2F}" type="presOf" srcId="{6EAD6759-1959-457F-9F23-CEDFF409813D}" destId="{86273EB0-F3B0-40C8-8E52-4259F19E5AA6}" srcOrd="0" destOrd="0" presId="urn:microsoft.com/office/officeart/2005/8/layout/list1"/>
    <dgm:cxn modelId="{75B79674-93E2-4CE9-A4E5-5CAAE33FA9F0}" type="presOf" srcId="{291AE9DC-9445-40C3-8E3A-47F2E8AF47EA}" destId="{E3E8695E-3337-45DE-9788-50D85E074C4A}" srcOrd="0" destOrd="0" presId="urn:microsoft.com/office/officeart/2005/8/layout/list1"/>
    <dgm:cxn modelId="{7AE06976-EA08-485C-BA1A-72DB5A2FB4EF}" srcId="{291AE9DC-9445-40C3-8E3A-47F2E8AF47EA}" destId="{A3703336-E7E9-4BD5-A906-F2A03FDB8D89}" srcOrd="1" destOrd="0" parTransId="{9A0234B5-19DF-430B-91BC-F8EC48742731}" sibTransId="{17E56CD3-4ED9-40BD-9AF8-95726AF3E100}"/>
    <dgm:cxn modelId="{3E5CC95A-3377-4AD1-AC99-9DB24CD64D82}" srcId="{6EAD6759-1959-457F-9F23-CEDFF409813D}" destId="{A008212A-6B52-4D9D-A7D7-0EEA4ADD7314}" srcOrd="1" destOrd="0" parTransId="{43DF7B41-9D36-43E0-8FB0-0D9B1222BABA}" sibTransId="{CD6B88B2-6355-4941-82F4-D0FC478567D1}"/>
    <dgm:cxn modelId="{B982E186-B66D-4B06-9FD1-8EF6C2789346}" type="presOf" srcId="{04AFA412-04CD-4333-BD71-43705F3794BF}" destId="{BE4B9D8B-68E8-4368-BCDA-DB036158E4F3}" srcOrd="0" destOrd="0" presId="urn:microsoft.com/office/officeart/2005/8/layout/list1"/>
    <dgm:cxn modelId="{E2D906A6-6F5E-4A97-B27A-C03083077B30}" srcId="{6EAD6759-1959-457F-9F23-CEDFF409813D}" destId="{291AE9DC-9445-40C3-8E3A-47F2E8AF47EA}" srcOrd="0" destOrd="0" parTransId="{14A62776-A3A1-4979-B2F8-74BA397A3826}" sibTransId="{4403BC20-F1FF-44C8-8758-8C6871F7F7DF}"/>
    <dgm:cxn modelId="{C3BA6DA8-65C4-4599-BBC6-93DAA05D0EFB}" srcId="{3B6E1D9F-7613-44D1-A677-061E4E2E4C80}" destId="{5A6A2695-02DA-4A62-9A70-3530BC522FD0}" srcOrd="0" destOrd="0" parTransId="{DC90D882-5FD0-4FE4-A6A4-341EF74F40BF}" sibTransId="{687E8022-CEDE-4C85-BE4C-87A3F7BB0C15}"/>
    <dgm:cxn modelId="{1C74B3A8-99C9-46D0-9398-6D72516C8CC8}" type="presOf" srcId="{3B6E1D9F-7613-44D1-A677-061E4E2E4C80}" destId="{3D829F1F-08BF-4333-BA44-6E3598E35A26}" srcOrd="1" destOrd="0" presId="urn:microsoft.com/office/officeart/2005/8/layout/list1"/>
    <dgm:cxn modelId="{89978EB1-0F51-4953-9164-C33137E863D4}" type="presOf" srcId="{A008212A-6B52-4D9D-A7D7-0EEA4ADD7314}" destId="{74011AAC-A0C1-4F82-A3CA-C5A1B5DB649F}" srcOrd="0" destOrd="0" presId="urn:microsoft.com/office/officeart/2005/8/layout/list1"/>
    <dgm:cxn modelId="{6A26ABB1-1CDB-4365-94FD-1294F7EDC936}" srcId="{A008212A-6B52-4D9D-A7D7-0EEA4ADD7314}" destId="{63AACC12-31FA-47A4-B8FC-7217BD6D71C4}" srcOrd="1" destOrd="0" parTransId="{82C62892-DD26-4D82-8E87-60C9A1510CD4}" sibTransId="{124ABC45-CCE9-41C7-9B2C-52467F9CCA91}"/>
    <dgm:cxn modelId="{6D1250C0-617B-4C3B-954D-B6B2408A3E76}" srcId="{3B6E1D9F-7613-44D1-A677-061E4E2E4C80}" destId="{BE97C687-0CA7-43BC-B38C-08B164A460B3}" srcOrd="1" destOrd="0" parTransId="{747AB48B-E4D9-40E1-9169-CDE794991974}" sibTransId="{0117E57E-5954-405B-8B7C-30463C463D84}"/>
    <dgm:cxn modelId="{ED77E2C6-C60C-4282-AD3F-B7E5374E72F3}" type="presOf" srcId="{BE97C687-0CA7-43BC-B38C-08B164A460B3}" destId="{FB98C9D1-B1C3-4CC6-90E3-E19CF0B2A714}" srcOrd="0" destOrd="1" presId="urn:microsoft.com/office/officeart/2005/8/layout/list1"/>
    <dgm:cxn modelId="{045567CB-52AF-4BB8-8748-154885B15F48}" srcId="{6EAD6759-1959-457F-9F23-CEDFF409813D}" destId="{3B6E1D9F-7613-44D1-A677-061E4E2E4C80}" srcOrd="2" destOrd="0" parTransId="{1CBE9047-3667-477F-BFF4-E891FF75E7E6}" sibTransId="{A9A700EA-6508-47D0-8A8F-59347B9DE7C4}"/>
    <dgm:cxn modelId="{71F71FDA-CBE1-49C2-903A-E4F0AEABF332}" type="presOf" srcId="{3B6E1D9F-7613-44D1-A677-061E4E2E4C80}" destId="{D2CA8288-3A0E-4E4C-86D9-85716B001FBC}" srcOrd="0" destOrd="0" presId="urn:microsoft.com/office/officeart/2005/8/layout/list1"/>
    <dgm:cxn modelId="{45E4A4DA-2C3A-42AD-9292-5975027C97B6}" type="presOf" srcId="{78F256C1-6975-4A5E-A9A7-2EC7E7375BB1}" destId="{BE4B9D8B-68E8-4368-BCDA-DB036158E4F3}" srcOrd="0" destOrd="2" presId="urn:microsoft.com/office/officeart/2005/8/layout/list1"/>
    <dgm:cxn modelId="{4428A5E1-4A20-46C3-9296-6E4893152E07}" srcId="{291AE9DC-9445-40C3-8E3A-47F2E8AF47EA}" destId="{04AFA412-04CD-4333-BD71-43705F3794BF}" srcOrd="0" destOrd="0" parTransId="{3E55577A-723E-4549-AB70-A8CE58BC0FB4}" sibTransId="{8FCC1310-1133-4582-B621-041FAAB5E2E7}"/>
    <dgm:cxn modelId="{8BC13EF9-9884-4CD0-892A-25D7DD3C086F}" type="presOf" srcId="{63AACC12-31FA-47A4-B8FC-7217BD6D71C4}" destId="{FB711831-E161-4FF4-A979-0132FABD0707}" srcOrd="0" destOrd="1" presId="urn:microsoft.com/office/officeart/2005/8/layout/list1"/>
    <dgm:cxn modelId="{32A7115C-C92C-468E-BB6B-40DA7B2A3934}" type="presParOf" srcId="{86273EB0-F3B0-40C8-8E52-4259F19E5AA6}" destId="{4B84258A-BBC9-4589-85B4-BC2DAB07FBFC}" srcOrd="0" destOrd="0" presId="urn:microsoft.com/office/officeart/2005/8/layout/list1"/>
    <dgm:cxn modelId="{37A6804B-0C76-4EB6-82E9-34211C6605A3}" type="presParOf" srcId="{4B84258A-BBC9-4589-85B4-BC2DAB07FBFC}" destId="{E3E8695E-3337-45DE-9788-50D85E074C4A}" srcOrd="0" destOrd="0" presId="urn:microsoft.com/office/officeart/2005/8/layout/list1"/>
    <dgm:cxn modelId="{A6A8C66E-6BB9-4178-B1A2-B84ED6429DA8}" type="presParOf" srcId="{4B84258A-BBC9-4589-85B4-BC2DAB07FBFC}" destId="{613F2206-3CFD-445D-982C-5023451EF118}" srcOrd="1" destOrd="0" presId="urn:microsoft.com/office/officeart/2005/8/layout/list1"/>
    <dgm:cxn modelId="{F073469D-B61A-4723-8BD4-B2A8FA8682D2}" type="presParOf" srcId="{86273EB0-F3B0-40C8-8E52-4259F19E5AA6}" destId="{D2EAB685-435A-43B3-B411-98FC9B22894B}" srcOrd="1" destOrd="0" presId="urn:microsoft.com/office/officeart/2005/8/layout/list1"/>
    <dgm:cxn modelId="{49017E0B-3DFC-4BB5-AD3C-5516C57D2B57}" type="presParOf" srcId="{86273EB0-F3B0-40C8-8E52-4259F19E5AA6}" destId="{BE4B9D8B-68E8-4368-BCDA-DB036158E4F3}" srcOrd="2" destOrd="0" presId="urn:microsoft.com/office/officeart/2005/8/layout/list1"/>
    <dgm:cxn modelId="{43E6077D-6C20-4751-8E5A-FF63A3745F77}" type="presParOf" srcId="{86273EB0-F3B0-40C8-8E52-4259F19E5AA6}" destId="{4BD9F70B-2794-4968-AACD-9C8B4B1D47D5}" srcOrd="3" destOrd="0" presId="urn:microsoft.com/office/officeart/2005/8/layout/list1"/>
    <dgm:cxn modelId="{401576D1-885B-463D-B7F9-3A2D77D37546}" type="presParOf" srcId="{86273EB0-F3B0-40C8-8E52-4259F19E5AA6}" destId="{81D7D54D-ADD7-4C4A-B966-793A815C42FE}" srcOrd="4" destOrd="0" presId="urn:microsoft.com/office/officeart/2005/8/layout/list1"/>
    <dgm:cxn modelId="{9CE7F344-0808-400C-B2AA-037AB969F60B}" type="presParOf" srcId="{81D7D54D-ADD7-4C4A-B966-793A815C42FE}" destId="{74011AAC-A0C1-4F82-A3CA-C5A1B5DB649F}" srcOrd="0" destOrd="0" presId="urn:microsoft.com/office/officeart/2005/8/layout/list1"/>
    <dgm:cxn modelId="{5F44BDB5-8075-4CA7-87C8-D8447EAD5B15}" type="presParOf" srcId="{81D7D54D-ADD7-4C4A-B966-793A815C42FE}" destId="{25267381-E1A6-43BD-AAE2-C35ADEE9A043}" srcOrd="1" destOrd="0" presId="urn:microsoft.com/office/officeart/2005/8/layout/list1"/>
    <dgm:cxn modelId="{5C232282-79B3-43AC-B960-CF64311A00EA}" type="presParOf" srcId="{86273EB0-F3B0-40C8-8E52-4259F19E5AA6}" destId="{8F68C4F3-49D4-479B-87E8-1514F34D0883}" srcOrd="5" destOrd="0" presId="urn:microsoft.com/office/officeart/2005/8/layout/list1"/>
    <dgm:cxn modelId="{8CFD7127-BAA3-4E4E-80B6-3FCF1D2F6114}" type="presParOf" srcId="{86273EB0-F3B0-40C8-8E52-4259F19E5AA6}" destId="{FB711831-E161-4FF4-A979-0132FABD0707}" srcOrd="6" destOrd="0" presId="urn:microsoft.com/office/officeart/2005/8/layout/list1"/>
    <dgm:cxn modelId="{60415482-4436-42FA-9422-BDA4C4CE1B36}" type="presParOf" srcId="{86273EB0-F3B0-40C8-8E52-4259F19E5AA6}" destId="{9C6E3ED8-77FC-497A-8DAF-D1836E813CB4}" srcOrd="7" destOrd="0" presId="urn:microsoft.com/office/officeart/2005/8/layout/list1"/>
    <dgm:cxn modelId="{0208CDF7-EA4B-4177-9ADE-65A2D67B2EE9}" type="presParOf" srcId="{86273EB0-F3B0-40C8-8E52-4259F19E5AA6}" destId="{C2F002F7-9ACD-42D3-9CA5-24463F4BB694}" srcOrd="8" destOrd="0" presId="urn:microsoft.com/office/officeart/2005/8/layout/list1"/>
    <dgm:cxn modelId="{E8F15D54-80A5-4922-A488-9D402F382540}" type="presParOf" srcId="{C2F002F7-9ACD-42D3-9CA5-24463F4BB694}" destId="{D2CA8288-3A0E-4E4C-86D9-85716B001FBC}" srcOrd="0" destOrd="0" presId="urn:microsoft.com/office/officeart/2005/8/layout/list1"/>
    <dgm:cxn modelId="{59116324-53DA-444D-8193-D315F03C545F}" type="presParOf" srcId="{C2F002F7-9ACD-42D3-9CA5-24463F4BB694}" destId="{3D829F1F-08BF-4333-BA44-6E3598E35A26}" srcOrd="1" destOrd="0" presId="urn:microsoft.com/office/officeart/2005/8/layout/list1"/>
    <dgm:cxn modelId="{3DDBA7A3-6443-40E6-BD04-7C0D217D16BD}" type="presParOf" srcId="{86273EB0-F3B0-40C8-8E52-4259F19E5AA6}" destId="{813DDA8C-1DD4-4748-9E01-64457FD8800E}" srcOrd="9" destOrd="0" presId="urn:microsoft.com/office/officeart/2005/8/layout/list1"/>
    <dgm:cxn modelId="{DB6C369F-5940-4A69-BD89-8745B712692C}" type="presParOf" srcId="{86273EB0-F3B0-40C8-8E52-4259F19E5AA6}" destId="{FB98C9D1-B1C3-4CC6-90E3-E19CF0B2A714}"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B1BD0D-EE79-40DE-A455-562F171B4D64}" type="doc">
      <dgm:prSet loTypeId="urn:microsoft.com/office/officeart/2005/8/layout/venn2" loCatId="relationship" qsTypeId="urn:microsoft.com/office/officeart/2005/8/quickstyle/simple1#3" qsCatId="simple" csTypeId="urn:microsoft.com/office/officeart/2005/8/colors/accent1_3#1" csCatId="accent1" phldr="1"/>
      <dgm:spPr/>
      <dgm:t>
        <a:bodyPr/>
        <a:lstStyle/>
        <a:p>
          <a:endParaRPr lang="zh-TW" altLang="en-US"/>
        </a:p>
      </dgm:t>
    </dgm:pt>
    <dgm:pt modelId="{66DEEE8E-0294-4B71-B772-7A32DFE2EDDC}">
      <dgm:prSet phldrT="[文字]" custT="1"/>
      <dgm:spPr/>
      <dgm:t>
        <a:bodyPr tIns="0" anchor="ctr" anchorCtr="0"/>
        <a:lstStyle/>
        <a:p>
          <a:pPr>
            <a:lnSpc>
              <a:spcPts val="1800"/>
            </a:lnSpc>
            <a:spcAft>
              <a:spcPts val="0"/>
            </a:spcAft>
          </a:pPr>
          <a:r>
            <a:rPr lang="zh-TW" altLang="en-US" sz="1600" b="1" dirty="0">
              <a:solidFill>
                <a:schemeClr val="bg1"/>
              </a:solidFill>
              <a:latin typeface="微軟正黑體" panose="020B0604030504040204" pitchFamily="34" charset="-120"/>
              <a:ea typeface="微軟正黑體" panose="020B0604030504040204" pitchFamily="34" charset="-120"/>
            </a:rPr>
            <a:t>次目</a:t>
          </a:r>
          <a:endParaRPr lang="en-US" altLang="zh-TW" sz="1600" b="1" dirty="0">
            <a:solidFill>
              <a:schemeClr val="bg1"/>
            </a:solidFill>
            <a:latin typeface="微軟正黑體" panose="020B0604030504040204" pitchFamily="34" charset="-120"/>
            <a:ea typeface="微軟正黑體" panose="020B0604030504040204" pitchFamily="34" charset="-120"/>
          </a:endParaRPr>
        </a:p>
        <a:p>
          <a:pPr>
            <a:lnSpc>
              <a:spcPts val="1800"/>
            </a:lnSpc>
            <a:spcAft>
              <a:spcPts val="0"/>
            </a:spcAft>
          </a:pPr>
          <a:r>
            <a:rPr lang="en-US" altLang="zh-TW" sz="1600" b="1" dirty="0">
              <a:solidFill>
                <a:schemeClr val="bg1"/>
              </a:solidFill>
              <a:latin typeface="微軟正黑體" panose="020B0604030504040204" pitchFamily="34" charset="-120"/>
              <a:ea typeface="微軟正黑體" panose="020B0604030504040204" pitchFamily="34" charset="-120"/>
            </a:rPr>
            <a:t>-</a:t>
          </a:r>
          <a:r>
            <a:rPr lang="zh-TW" altLang="en-US" sz="1600" b="1" dirty="0">
              <a:solidFill>
                <a:schemeClr val="bg1"/>
              </a:solidFill>
              <a:latin typeface="微軟正黑體" panose="020B0604030504040204" pitchFamily="34" charset="-120"/>
              <a:ea typeface="微軟正黑體" panose="020B0604030504040204" pitchFamily="34" charset="-120"/>
            </a:rPr>
            <a:t>第五階</a:t>
          </a:r>
        </a:p>
      </dgm:t>
    </dgm:pt>
    <dgm:pt modelId="{A9A8D732-6F30-4F9F-BCA5-01BEA37AD710}" type="parTrans" cxnId="{E68AEC99-A213-4993-9340-94918CD0EBF1}">
      <dgm:prSet/>
      <dgm:spPr/>
      <dgm:t>
        <a:bodyPr/>
        <a:lstStyle/>
        <a:p>
          <a:endParaRPr lang="zh-TW" altLang="en-US" b="1">
            <a:solidFill>
              <a:schemeClr val="bg1"/>
            </a:solidFill>
            <a:latin typeface="微軟正黑體" panose="020B0604030504040204" pitchFamily="34" charset="-120"/>
            <a:ea typeface="微軟正黑體" panose="020B0604030504040204" pitchFamily="34" charset="-120"/>
          </a:endParaRPr>
        </a:p>
      </dgm:t>
    </dgm:pt>
    <dgm:pt modelId="{E501E3EC-CA33-421A-8698-03BEBBDA0AF0}" type="sibTrans" cxnId="{E68AEC99-A213-4993-9340-94918CD0EBF1}">
      <dgm:prSet/>
      <dgm:spPr/>
      <dgm:t>
        <a:bodyPr/>
        <a:lstStyle/>
        <a:p>
          <a:endParaRPr lang="zh-TW" altLang="en-US" b="1">
            <a:solidFill>
              <a:schemeClr val="bg1"/>
            </a:solidFill>
            <a:latin typeface="微軟正黑體" panose="020B0604030504040204" pitchFamily="34" charset="-120"/>
            <a:ea typeface="微軟正黑體" panose="020B0604030504040204" pitchFamily="34" charset="-120"/>
          </a:endParaRPr>
        </a:p>
      </dgm:t>
    </dgm:pt>
    <dgm:pt modelId="{63010262-FE58-4B02-900A-26DA56A2CDB2}">
      <dgm:prSet phldrT="[文字]" custT="1"/>
      <dgm:spPr/>
      <dgm:t>
        <a:bodyPr/>
        <a:lstStyle/>
        <a:p>
          <a:pPr>
            <a:lnSpc>
              <a:spcPts val="1800"/>
            </a:lnSpc>
            <a:spcAft>
              <a:spcPts val="0"/>
            </a:spcAft>
          </a:pPr>
          <a:r>
            <a:rPr lang="zh-TW" altLang="en-US" sz="1600" b="1" dirty="0">
              <a:solidFill>
                <a:schemeClr val="bg1"/>
              </a:solidFill>
              <a:latin typeface="微軟正黑體" panose="020B0604030504040204" pitchFamily="34" charset="-120"/>
              <a:ea typeface="微軟正黑體" panose="020B0604030504040204" pitchFamily="34" charset="-120"/>
            </a:rPr>
            <a:t>主目</a:t>
          </a:r>
          <a:endParaRPr lang="en-US" altLang="zh-TW" sz="1600" b="1" dirty="0">
            <a:solidFill>
              <a:schemeClr val="bg1"/>
            </a:solidFill>
            <a:latin typeface="微軟正黑體" panose="020B0604030504040204" pitchFamily="34" charset="-120"/>
            <a:ea typeface="微軟正黑體" panose="020B0604030504040204" pitchFamily="34" charset="-120"/>
          </a:endParaRPr>
        </a:p>
        <a:p>
          <a:pPr>
            <a:lnSpc>
              <a:spcPts val="1800"/>
            </a:lnSpc>
            <a:spcAft>
              <a:spcPts val="0"/>
            </a:spcAft>
          </a:pPr>
          <a:r>
            <a:rPr lang="en-US" altLang="zh-TW" sz="1600" b="1" dirty="0">
              <a:solidFill>
                <a:schemeClr val="bg1"/>
              </a:solidFill>
              <a:latin typeface="微軟正黑體" panose="020B0604030504040204" pitchFamily="34" charset="-120"/>
              <a:ea typeface="微軟正黑體" panose="020B0604030504040204" pitchFamily="34" charset="-120"/>
            </a:rPr>
            <a:t>-</a:t>
          </a:r>
          <a:r>
            <a:rPr lang="zh-TW" altLang="en-US" sz="1600" b="1" dirty="0">
              <a:solidFill>
                <a:schemeClr val="bg1"/>
              </a:solidFill>
              <a:latin typeface="微軟正黑體" panose="020B0604030504040204" pitchFamily="34" charset="-120"/>
              <a:ea typeface="微軟正黑體" panose="020B0604030504040204" pitchFamily="34" charset="-120"/>
            </a:rPr>
            <a:t>第四階</a:t>
          </a:r>
        </a:p>
      </dgm:t>
    </dgm:pt>
    <dgm:pt modelId="{B3AA32F7-E983-40CE-BE45-611C28CC075A}" type="parTrans" cxnId="{1F8D3251-0864-4E72-9D85-30DC2894B959}">
      <dgm:prSet/>
      <dgm:spPr/>
      <dgm:t>
        <a:bodyPr/>
        <a:lstStyle/>
        <a:p>
          <a:endParaRPr lang="zh-TW" altLang="en-US" b="1">
            <a:solidFill>
              <a:schemeClr val="bg1"/>
            </a:solidFill>
            <a:latin typeface="微軟正黑體" panose="020B0604030504040204" pitchFamily="34" charset="-120"/>
            <a:ea typeface="微軟正黑體" panose="020B0604030504040204" pitchFamily="34" charset="-120"/>
          </a:endParaRPr>
        </a:p>
      </dgm:t>
    </dgm:pt>
    <dgm:pt modelId="{A8812125-2A76-42F8-B5C8-1728F53FD8F6}" type="sibTrans" cxnId="{1F8D3251-0864-4E72-9D85-30DC2894B959}">
      <dgm:prSet/>
      <dgm:spPr/>
      <dgm:t>
        <a:bodyPr/>
        <a:lstStyle/>
        <a:p>
          <a:endParaRPr lang="zh-TW" altLang="en-US" b="1">
            <a:solidFill>
              <a:schemeClr val="bg1"/>
            </a:solidFill>
            <a:latin typeface="微軟正黑體" panose="020B0604030504040204" pitchFamily="34" charset="-120"/>
            <a:ea typeface="微軟正黑體" panose="020B0604030504040204" pitchFamily="34" charset="-120"/>
          </a:endParaRPr>
        </a:p>
      </dgm:t>
    </dgm:pt>
    <dgm:pt modelId="{BB06B05E-76FB-4713-9C5B-E764F7109610}">
      <dgm:prSet phldrT="[文字]" custT="1"/>
      <dgm:spPr/>
      <dgm:t>
        <a:bodyPr/>
        <a:lstStyle/>
        <a:p>
          <a:pPr>
            <a:lnSpc>
              <a:spcPts val="1800"/>
            </a:lnSpc>
            <a:spcAft>
              <a:spcPts val="0"/>
            </a:spcAft>
          </a:pPr>
          <a:r>
            <a:rPr lang="zh-TW" altLang="en-US" sz="1800" b="1" dirty="0">
              <a:solidFill>
                <a:schemeClr val="bg1"/>
              </a:solidFill>
              <a:latin typeface="微軟正黑體" panose="020B0604030504040204" pitchFamily="34" charset="-120"/>
              <a:ea typeface="微軟正黑體" panose="020B0604030504040204" pitchFamily="34" charset="-120"/>
            </a:rPr>
            <a:t>主類</a:t>
          </a:r>
          <a:endParaRPr lang="en-US" altLang="zh-TW" sz="1800" b="1" dirty="0">
            <a:solidFill>
              <a:schemeClr val="bg1"/>
            </a:solidFill>
            <a:latin typeface="微軟正黑體" panose="020B0604030504040204" pitchFamily="34" charset="-120"/>
            <a:ea typeface="微軟正黑體" panose="020B0604030504040204" pitchFamily="34" charset="-120"/>
          </a:endParaRPr>
        </a:p>
        <a:p>
          <a:pPr>
            <a:lnSpc>
              <a:spcPts val="1800"/>
            </a:lnSpc>
            <a:spcAft>
              <a:spcPts val="0"/>
            </a:spcAft>
          </a:pPr>
          <a:r>
            <a:rPr lang="en-US" altLang="zh-TW" sz="1800" b="1" dirty="0">
              <a:solidFill>
                <a:schemeClr val="bg1"/>
              </a:solidFill>
              <a:latin typeface="微軟正黑體" panose="020B0604030504040204" pitchFamily="34" charset="-120"/>
              <a:ea typeface="微軟正黑體" panose="020B0604030504040204" pitchFamily="34" charset="-120"/>
            </a:rPr>
            <a:t>-</a:t>
          </a:r>
          <a:r>
            <a:rPr lang="zh-TW" altLang="en-US" sz="1800" b="1" dirty="0">
              <a:solidFill>
                <a:schemeClr val="bg1"/>
              </a:solidFill>
              <a:latin typeface="微軟正黑體" panose="020B0604030504040204" pitchFamily="34" charset="-120"/>
              <a:ea typeface="微軟正黑體" panose="020B0604030504040204" pitchFamily="34" charset="-120"/>
            </a:rPr>
            <a:t>第三階</a:t>
          </a:r>
        </a:p>
      </dgm:t>
    </dgm:pt>
    <dgm:pt modelId="{CB94EEC5-F997-4741-9BD1-B9FB447051E7}" type="parTrans" cxnId="{7E5CA1F1-3F83-4C5B-9979-2D4B47E81F80}">
      <dgm:prSet/>
      <dgm:spPr/>
      <dgm:t>
        <a:bodyPr/>
        <a:lstStyle/>
        <a:p>
          <a:endParaRPr lang="zh-TW" altLang="en-US" b="1">
            <a:solidFill>
              <a:schemeClr val="bg1"/>
            </a:solidFill>
            <a:latin typeface="微軟正黑體" panose="020B0604030504040204" pitchFamily="34" charset="-120"/>
            <a:ea typeface="微軟正黑體" panose="020B0604030504040204" pitchFamily="34" charset="-120"/>
          </a:endParaRPr>
        </a:p>
      </dgm:t>
    </dgm:pt>
    <dgm:pt modelId="{AC06BFA1-E669-4269-9372-CF68376981C8}" type="sibTrans" cxnId="{7E5CA1F1-3F83-4C5B-9979-2D4B47E81F80}">
      <dgm:prSet/>
      <dgm:spPr/>
      <dgm:t>
        <a:bodyPr/>
        <a:lstStyle/>
        <a:p>
          <a:endParaRPr lang="zh-TW" altLang="en-US" b="1">
            <a:solidFill>
              <a:schemeClr val="bg1"/>
            </a:solidFill>
            <a:latin typeface="微軟正黑體" panose="020B0604030504040204" pitchFamily="34" charset="-120"/>
            <a:ea typeface="微軟正黑體" panose="020B0604030504040204" pitchFamily="34" charset="-120"/>
          </a:endParaRPr>
        </a:p>
      </dgm:t>
    </dgm:pt>
    <dgm:pt modelId="{F7562F98-0AD6-42AE-ADE2-65AF2BFD38D9}">
      <dgm:prSet phldrT="[文字]" custT="1"/>
      <dgm:spPr/>
      <dgm:t>
        <a:bodyPr/>
        <a:lstStyle/>
        <a:p>
          <a:pPr>
            <a:lnSpc>
              <a:spcPts val="1800"/>
            </a:lnSpc>
            <a:spcAft>
              <a:spcPts val="0"/>
            </a:spcAft>
          </a:pPr>
          <a:r>
            <a:rPr lang="zh-TW" altLang="en-US" sz="1800" b="1" dirty="0">
              <a:solidFill>
                <a:schemeClr val="bg1"/>
              </a:solidFill>
              <a:latin typeface="微軟正黑體" panose="020B0604030504040204" pitchFamily="34" charset="-120"/>
              <a:ea typeface="微軟正黑體" panose="020B0604030504040204" pitchFamily="34" charset="-120"/>
            </a:rPr>
            <a:t>次部</a:t>
          </a:r>
          <a:endParaRPr lang="en-US" altLang="zh-TW" sz="1800" b="1" dirty="0">
            <a:solidFill>
              <a:schemeClr val="bg1"/>
            </a:solidFill>
            <a:latin typeface="微軟正黑體" panose="020B0604030504040204" pitchFamily="34" charset="-120"/>
            <a:ea typeface="微軟正黑體" panose="020B0604030504040204" pitchFamily="34" charset="-120"/>
          </a:endParaRPr>
        </a:p>
        <a:p>
          <a:pPr>
            <a:lnSpc>
              <a:spcPts val="1800"/>
            </a:lnSpc>
            <a:spcAft>
              <a:spcPts val="0"/>
            </a:spcAft>
          </a:pPr>
          <a:r>
            <a:rPr lang="en-US" altLang="zh-TW" sz="1800" b="1" dirty="0">
              <a:solidFill>
                <a:schemeClr val="bg1"/>
              </a:solidFill>
              <a:latin typeface="微軟正黑體" panose="020B0604030504040204" pitchFamily="34" charset="-120"/>
              <a:ea typeface="微軟正黑體" panose="020B0604030504040204" pitchFamily="34" charset="-120"/>
            </a:rPr>
            <a:t>-</a:t>
          </a:r>
          <a:r>
            <a:rPr lang="zh-TW" altLang="en-US" sz="1800" b="1" dirty="0">
              <a:solidFill>
                <a:schemeClr val="bg1"/>
              </a:solidFill>
              <a:latin typeface="微軟正黑體" panose="020B0604030504040204" pitchFamily="34" charset="-120"/>
              <a:ea typeface="微軟正黑體" panose="020B0604030504040204" pitchFamily="34" charset="-120"/>
            </a:rPr>
            <a:t>第二階</a:t>
          </a:r>
        </a:p>
      </dgm:t>
    </dgm:pt>
    <dgm:pt modelId="{1E9FCDCA-CCA3-4729-B66F-7A3172BC6B34}" type="parTrans" cxnId="{5F96D534-C749-4510-AD0D-8C59ACF6AABF}">
      <dgm:prSet/>
      <dgm:spPr/>
      <dgm:t>
        <a:bodyPr/>
        <a:lstStyle/>
        <a:p>
          <a:endParaRPr lang="zh-TW" altLang="en-US" b="1">
            <a:solidFill>
              <a:schemeClr val="bg1"/>
            </a:solidFill>
            <a:latin typeface="微軟正黑體" panose="020B0604030504040204" pitchFamily="34" charset="-120"/>
            <a:ea typeface="微軟正黑體" panose="020B0604030504040204" pitchFamily="34" charset="-120"/>
          </a:endParaRPr>
        </a:p>
      </dgm:t>
    </dgm:pt>
    <dgm:pt modelId="{39EDB295-89B2-435B-9CEC-A61443530722}" type="sibTrans" cxnId="{5F96D534-C749-4510-AD0D-8C59ACF6AABF}">
      <dgm:prSet/>
      <dgm:spPr/>
      <dgm:t>
        <a:bodyPr/>
        <a:lstStyle/>
        <a:p>
          <a:endParaRPr lang="zh-TW" altLang="en-US" b="1">
            <a:solidFill>
              <a:schemeClr val="bg1"/>
            </a:solidFill>
            <a:latin typeface="微軟正黑體" panose="020B0604030504040204" pitchFamily="34" charset="-120"/>
            <a:ea typeface="微軟正黑體" panose="020B0604030504040204" pitchFamily="34" charset="-120"/>
          </a:endParaRPr>
        </a:p>
      </dgm:t>
    </dgm:pt>
    <dgm:pt modelId="{F4B68AEA-9D45-4A62-9E27-91FA2DAF3B31}">
      <dgm:prSet phldrT="[文字]" custT="1"/>
      <dgm:spPr/>
      <dgm:t>
        <a:bodyPr/>
        <a:lstStyle/>
        <a:p>
          <a:pPr>
            <a:lnSpc>
              <a:spcPts val="1800"/>
            </a:lnSpc>
            <a:spcAft>
              <a:spcPts val="0"/>
            </a:spcAft>
          </a:pPr>
          <a:r>
            <a:rPr lang="zh-TW" altLang="en-US" sz="1800" b="1" dirty="0">
              <a:solidFill>
                <a:schemeClr val="bg1"/>
              </a:solidFill>
              <a:latin typeface="微軟正黑體" panose="020B0604030504040204" pitchFamily="34" charset="-120"/>
              <a:ea typeface="微軟正黑體" panose="020B0604030504040204" pitchFamily="34" charset="-120"/>
            </a:rPr>
            <a:t>部</a:t>
          </a:r>
          <a:endParaRPr lang="en-US" altLang="zh-TW" sz="1800" b="1" dirty="0">
            <a:solidFill>
              <a:schemeClr val="bg1"/>
            </a:solidFill>
            <a:latin typeface="微軟正黑體" panose="020B0604030504040204" pitchFamily="34" charset="-120"/>
            <a:ea typeface="微軟正黑體" panose="020B0604030504040204" pitchFamily="34" charset="-120"/>
          </a:endParaRPr>
        </a:p>
        <a:p>
          <a:pPr>
            <a:lnSpc>
              <a:spcPct val="90000"/>
            </a:lnSpc>
            <a:spcAft>
              <a:spcPct val="35000"/>
            </a:spcAft>
          </a:pPr>
          <a:r>
            <a:rPr lang="en-US" altLang="zh-TW" sz="1800" b="1" dirty="0">
              <a:solidFill>
                <a:schemeClr val="bg1"/>
              </a:solidFill>
              <a:latin typeface="微軟正黑體" panose="020B0604030504040204" pitchFamily="34" charset="-120"/>
              <a:ea typeface="微軟正黑體" panose="020B0604030504040204" pitchFamily="34" charset="-120"/>
            </a:rPr>
            <a:t>-</a:t>
          </a:r>
          <a:r>
            <a:rPr lang="zh-TW" altLang="en-US" sz="1800" b="1" dirty="0">
              <a:solidFill>
                <a:schemeClr val="bg1"/>
              </a:solidFill>
              <a:latin typeface="微軟正黑體" panose="020B0604030504040204" pitchFamily="34" charset="-120"/>
              <a:ea typeface="微軟正黑體" panose="020B0604030504040204" pitchFamily="34" charset="-120"/>
            </a:rPr>
            <a:t>第一階</a:t>
          </a:r>
        </a:p>
      </dgm:t>
    </dgm:pt>
    <dgm:pt modelId="{77300A72-692F-4201-85F1-42130C457E58}" type="parTrans" cxnId="{C425AB8D-18BB-4D31-90CA-8FA4B03E29DD}">
      <dgm:prSet/>
      <dgm:spPr/>
      <dgm:t>
        <a:bodyPr/>
        <a:lstStyle/>
        <a:p>
          <a:endParaRPr lang="zh-TW" altLang="en-US" b="1">
            <a:solidFill>
              <a:schemeClr val="bg1"/>
            </a:solidFill>
          </a:endParaRPr>
        </a:p>
      </dgm:t>
    </dgm:pt>
    <dgm:pt modelId="{5FAD37C6-DA03-4F4F-9045-69A804D45C67}" type="sibTrans" cxnId="{C425AB8D-18BB-4D31-90CA-8FA4B03E29DD}">
      <dgm:prSet/>
      <dgm:spPr/>
      <dgm:t>
        <a:bodyPr/>
        <a:lstStyle/>
        <a:p>
          <a:endParaRPr lang="zh-TW" altLang="en-US" b="1">
            <a:solidFill>
              <a:schemeClr val="bg1"/>
            </a:solidFill>
          </a:endParaRPr>
        </a:p>
      </dgm:t>
    </dgm:pt>
    <dgm:pt modelId="{23834223-8A75-4BD0-81AA-3586ED878B98}" type="pres">
      <dgm:prSet presAssocID="{38B1BD0D-EE79-40DE-A455-562F171B4D64}" presName="Name0" presStyleCnt="0">
        <dgm:presLayoutVars>
          <dgm:chMax val="7"/>
          <dgm:resizeHandles val="exact"/>
        </dgm:presLayoutVars>
      </dgm:prSet>
      <dgm:spPr/>
    </dgm:pt>
    <dgm:pt modelId="{41A9D389-D0F4-468E-94B9-EF2F362B8B56}" type="pres">
      <dgm:prSet presAssocID="{38B1BD0D-EE79-40DE-A455-562F171B4D64}" presName="comp1" presStyleCnt="0"/>
      <dgm:spPr/>
    </dgm:pt>
    <dgm:pt modelId="{AA3CF8C1-56B7-476E-B08F-35ADB358CA64}" type="pres">
      <dgm:prSet presAssocID="{38B1BD0D-EE79-40DE-A455-562F171B4D64}" presName="circle1" presStyleLbl="node1" presStyleIdx="0" presStyleCnt="5"/>
      <dgm:spPr/>
    </dgm:pt>
    <dgm:pt modelId="{7B3F3980-DD20-42A8-9960-4580C55599DF}" type="pres">
      <dgm:prSet presAssocID="{38B1BD0D-EE79-40DE-A455-562F171B4D64}" presName="c1text" presStyleLbl="node1" presStyleIdx="0" presStyleCnt="5">
        <dgm:presLayoutVars>
          <dgm:bulletEnabled val="1"/>
        </dgm:presLayoutVars>
      </dgm:prSet>
      <dgm:spPr/>
    </dgm:pt>
    <dgm:pt modelId="{1ED5E441-1CEB-4E49-8011-0FD184471808}" type="pres">
      <dgm:prSet presAssocID="{38B1BD0D-EE79-40DE-A455-562F171B4D64}" presName="comp2" presStyleCnt="0"/>
      <dgm:spPr/>
    </dgm:pt>
    <dgm:pt modelId="{FCE31AD2-DF35-4AB6-905E-B9A870E3F723}" type="pres">
      <dgm:prSet presAssocID="{38B1BD0D-EE79-40DE-A455-562F171B4D64}" presName="circle2" presStyleLbl="node1" presStyleIdx="1" presStyleCnt="5" custScaleX="97817" custScaleY="102511"/>
      <dgm:spPr/>
    </dgm:pt>
    <dgm:pt modelId="{4336E2D9-87C0-494A-B080-B4121398E34E}" type="pres">
      <dgm:prSet presAssocID="{38B1BD0D-EE79-40DE-A455-562F171B4D64}" presName="c2text" presStyleLbl="node1" presStyleIdx="1" presStyleCnt="5">
        <dgm:presLayoutVars>
          <dgm:bulletEnabled val="1"/>
        </dgm:presLayoutVars>
      </dgm:prSet>
      <dgm:spPr/>
    </dgm:pt>
    <dgm:pt modelId="{98189830-1B07-4A42-A6F3-460B2A22B577}" type="pres">
      <dgm:prSet presAssocID="{38B1BD0D-EE79-40DE-A455-562F171B4D64}" presName="comp3" presStyleCnt="0"/>
      <dgm:spPr/>
    </dgm:pt>
    <dgm:pt modelId="{E584FFB3-E142-4576-BC8B-973BEE7BD0BD}" type="pres">
      <dgm:prSet presAssocID="{38B1BD0D-EE79-40DE-A455-562F171B4D64}" presName="circle3" presStyleLbl="node1" presStyleIdx="2" presStyleCnt="5" custScaleX="97817" custScaleY="102511"/>
      <dgm:spPr/>
    </dgm:pt>
    <dgm:pt modelId="{91B6FC88-37AA-4B29-A30F-77297E06C008}" type="pres">
      <dgm:prSet presAssocID="{38B1BD0D-EE79-40DE-A455-562F171B4D64}" presName="c3text" presStyleLbl="node1" presStyleIdx="2" presStyleCnt="5">
        <dgm:presLayoutVars>
          <dgm:bulletEnabled val="1"/>
        </dgm:presLayoutVars>
      </dgm:prSet>
      <dgm:spPr/>
    </dgm:pt>
    <dgm:pt modelId="{FFC64B38-BD39-4039-ADF7-0167C2D2A998}" type="pres">
      <dgm:prSet presAssocID="{38B1BD0D-EE79-40DE-A455-562F171B4D64}" presName="comp4" presStyleCnt="0"/>
      <dgm:spPr/>
    </dgm:pt>
    <dgm:pt modelId="{F2811274-B58A-416D-B9BA-041A0378F42F}" type="pres">
      <dgm:prSet presAssocID="{38B1BD0D-EE79-40DE-A455-562F171B4D64}" presName="circle4" presStyleLbl="node1" presStyleIdx="3" presStyleCnt="5"/>
      <dgm:spPr/>
    </dgm:pt>
    <dgm:pt modelId="{FB291AE1-0819-42D3-923A-9F018E3F4E37}" type="pres">
      <dgm:prSet presAssocID="{38B1BD0D-EE79-40DE-A455-562F171B4D64}" presName="c4text" presStyleLbl="node1" presStyleIdx="3" presStyleCnt="5">
        <dgm:presLayoutVars>
          <dgm:bulletEnabled val="1"/>
        </dgm:presLayoutVars>
      </dgm:prSet>
      <dgm:spPr/>
    </dgm:pt>
    <dgm:pt modelId="{057038B1-DB8F-4E0B-AD06-911C1BDE857D}" type="pres">
      <dgm:prSet presAssocID="{38B1BD0D-EE79-40DE-A455-562F171B4D64}" presName="comp5" presStyleCnt="0"/>
      <dgm:spPr/>
    </dgm:pt>
    <dgm:pt modelId="{37C87C3C-9E17-47AF-8941-DAA377EDA572}" type="pres">
      <dgm:prSet presAssocID="{38B1BD0D-EE79-40DE-A455-562F171B4D64}" presName="circle5" presStyleLbl="node1" presStyleIdx="4" presStyleCnt="5"/>
      <dgm:spPr/>
    </dgm:pt>
    <dgm:pt modelId="{DFB750E4-8E13-42C1-A493-EBF171554F72}" type="pres">
      <dgm:prSet presAssocID="{38B1BD0D-EE79-40DE-A455-562F171B4D64}" presName="c5text" presStyleLbl="node1" presStyleIdx="4" presStyleCnt="5">
        <dgm:presLayoutVars>
          <dgm:bulletEnabled val="1"/>
        </dgm:presLayoutVars>
      </dgm:prSet>
      <dgm:spPr/>
    </dgm:pt>
  </dgm:ptLst>
  <dgm:cxnLst>
    <dgm:cxn modelId="{2855CD19-D99F-44C9-A70E-EF6AF3422217}" type="presOf" srcId="{BB06B05E-76FB-4713-9C5B-E764F7109610}" destId="{E584FFB3-E142-4576-BC8B-973BEE7BD0BD}" srcOrd="0" destOrd="0" presId="urn:microsoft.com/office/officeart/2005/8/layout/venn2"/>
    <dgm:cxn modelId="{FC796F2C-398D-4A57-94BC-4A4E51C6BBD0}" type="presOf" srcId="{F4B68AEA-9D45-4A62-9E27-91FA2DAF3B31}" destId="{37C87C3C-9E17-47AF-8941-DAA377EDA572}" srcOrd="0" destOrd="0" presId="urn:microsoft.com/office/officeart/2005/8/layout/venn2"/>
    <dgm:cxn modelId="{5F96D534-C749-4510-AD0D-8C59ACF6AABF}" srcId="{38B1BD0D-EE79-40DE-A455-562F171B4D64}" destId="{F7562F98-0AD6-42AE-ADE2-65AF2BFD38D9}" srcOrd="3" destOrd="0" parTransId="{1E9FCDCA-CCA3-4729-B66F-7A3172BC6B34}" sibTransId="{39EDB295-89B2-435B-9CEC-A61443530722}"/>
    <dgm:cxn modelId="{4E392E66-E94F-4DEA-96F5-B0A02755758B}" type="presOf" srcId="{F7562F98-0AD6-42AE-ADE2-65AF2BFD38D9}" destId="{F2811274-B58A-416D-B9BA-041A0378F42F}" srcOrd="0" destOrd="0" presId="urn:microsoft.com/office/officeart/2005/8/layout/venn2"/>
    <dgm:cxn modelId="{F8082A47-1AEA-4518-840E-5DE6F97EB4A1}" type="presOf" srcId="{F4B68AEA-9D45-4A62-9E27-91FA2DAF3B31}" destId="{DFB750E4-8E13-42C1-A493-EBF171554F72}" srcOrd="1" destOrd="0" presId="urn:microsoft.com/office/officeart/2005/8/layout/venn2"/>
    <dgm:cxn modelId="{8D83AC69-A4C7-4582-A2A2-B88F07030015}" type="presOf" srcId="{63010262-FE58-4B02-900A-26DA56A2CDB2}" destId="{4336E2D9-87C0-494A-B080-B4121398E34E}" srcOrd="1" destOrd="0" presId="urn:microsoft.com/office/officeart/2005/8/layout/venn2"/>
    <dgm:cxn modelId="{1F8D3251-0864-4E72-9D85-30DC2894B959}" srcId="{38B1BD0D-EE79-40DE-A455-562F171B4D64}" destId="{63010262-FE58-4B02-900A-26DA56A2CDB2}" srcOrd="1" destOrd="0" parTransId="{B3AA32F7-E983-40CE-BE45-611C28CC075A}" sibTransId="{A8812125-2A76-42F8-B5C8-1728F53FD8F6}"/>
    <dgm:cxn modelId="{9DAD4084-D497-42B7-8FBF-D3B74519C4B9}" type="presOf" srcId="{38B1BD0D-EE79-40DE-A455-562F171B4D64}" destId="{23834223-8A75-4BD0-81AA-3586ED878B98}" srcOrd="0" destOrd="0" presId="urn:microsoft.com/office/officeart/2005/8/layout/venn2"/>
    <dgm:cxn modelId="{DE17678C-6652-4470-A659-5B7A79428CC2}" type="presOf" srcId="{66DEEE8E-0294-4B71-B772-7A32DFE2EDDC}" destId="{AA3CF8C1-56B7-476E-B08F-35ADB358CA64}" srcOrd="0" destOrd="0" presId="urn:microsoft.com/office/officeart/2005/8/layout/venn2"/>
    <dgm:cxn modelId="{C425AB8D-18BB-4D31-90CA-8FA4B03E29DD}" srcId="{38B1BD0D-EE79-40DE-A455-562F171B4D64}" destId="{F4B68AEA-9D45-4A62-9E27-91FA2DAF3B31}" srcOrd="4" destOrd="0" parTransId="{77300A72-692F-4201-85F1-42130C457E58}" sibTransId="{5FAD37C6-DA03-4F4F-9045-69A804D45C67}"/>
    <dgm:cxn modelId="{E68AEC99-A213-4993-9340-94918CD0EBF1}" srcId="{38B1BD0D-EE79-40DE-A455-562F171B4D64}" destId="{66DEEE8E-0294-4B71-B772-7A32DFE2EDDC}" srcOrd="0" destOrd="0" parTransId="{A9A8D732-6F30-4F9F-BCA5-01BEA37AD710}" sibTransId="{E501E3EC-CA33-421A-8698-03BEBBDA0AF0}"/>
    <dgm:cxn modelId="{790F05D0-079A-401B-9D15-F6F7339F3E55}" type="presOf" srcId="{BB06B05E-76FB-4713-9C5B-E764F7109610}" destId="{91B6FC88-37AA-4B29-A30F-77297E06C008}" srcOrd="1" destOrd="0" presId="urn:microsoft.com/office/officeart/2005/8/layout/venn2"/>
    <dgm:cxn modelId="{681279D0-11EE-4374-89A4-3D94459550AB}" type="presOf" srcId="{F7562F98-0AD6-42AE-ADE2-65AF2BFD38D9}" destId="{FB291AE1-0819-42D3-923A-9F018E3F4E37}" srcOrd="1" destOrd="0" presId="urn:microsoft.com/office/officeart/2005/8/layout/venn2"/>
    <dgm:cxn modelId="{47885DE3-2E90-44FD-A055-65E85C964256}" type="presOf" srcId="{66DEEE8E-0294-4B71-B772-7A32DFE2EDDC}" destId="{7B3F3980-DD20-42A8-9960-4580C55599DF}" srcOrd="1" destOrd="0" presId="urn:microsoft.com/office/officeart/2005/8/layout/venn2"/>
    <dgm:cxn modelId="{376F65EC-A9A6-4F70-9B6A-63E14524E910}" type="presOf" srcId="{63010262-FE58-4B02-900A-26DA56A2CDB2}" destId="{FCE31AD2-DF35-4AB6-905E-B9A870E3F723}" srcOrd="0" destOrd="0" presId="urn:microsoft.com/office/officeart/2005/8/layout/venn2"/>
    <dgm:cxn modelId="{7E5CA1F1-3F83-4C5B-9979-2D4B47E81F80}" srcId="{38B1BD0D-EE79-40DE-A455-562F171B4D64}" destId="{BB06B05E-76FB-4713-9C5B-E764F7109610}" srcOrd="2" destOrd="0" parTransId="{CB94EEC5-F997-4741-9BD1-B9FB447051E7}" sibTransId="{AC06BFA1-E669-4269-9372-CF68376981C8}"/>
    <dgm:cxn modelId="{C01A713F-4ABB-4311-B415-BCB14B216B17}" type="presParOf" srcId="{23834223-8A75-4BD0-81AA-3586ED878B98}" destId="{41A9D389-D0F4-468E-94B9-EF2F362B8B56}" srcOrd="0" destOrd="0" presId="urn:microsoft.com/office/officeart/2005/8/layout/venn2"/>
    <dgm:cxn modelId="{7E77F096-BEDE-4BE4-959A-7F662060FDF7}" type="presParOf" srcId="{41A9D389-D0F4-468E-94B9-EF2F362B8B56}" destId="{AA3CF8C1-56B7-476E-B08F-35ADB358CA64}" srcOrd="0" destOrd="0" presId="urn:microsoft.com/office/officeart/2005/8/layout/venn2"/>
    <dgm:cxn modelId="{EABB5273-62B2-4E97-B6D2-8D2BE1BF50AB}" type="presParOf" srcId="{41A9D389-D0F4-468E-94B9-EF2F362B8B56}" destId="{7B3F3980-DD20-42A8-9960-4580C55599DF}" srcOrd="1" destOrd="0" presId="urn:microsoft.com/office/officeart/2005/8/layout/venn2"/>
    <dgm:cxn modelId="{4918F4F1-32C5-49D5-AB97-339103F1E2B4}" type="presParOf" srcId="{23834223-8A75-4BD0-81AA-3586ED878B98}" destId="{1ED5E441-1CEB-4E49-8011-0FD184471808}" srcOrd="1" destOrd="0" presId="urn:microsoft.com/office/officeart/2005/8/layout/venn2"/>
    <dgm:cxn modelId="{507C3A26-4C73-446B-92F7-1C7228A174EB}" type="presParOf" srcId="{1ED5E441-1CEB-4E49-8011-0FD184471808}" destId="{FCE31AD2-DF35-4AB6-905E-B9A870E3F723}" srcOrd="0" destOrd="0" presId="urn:microsoft.com/office/officeart/2005/8/layout/venn2"/>
    <dgm:cxn modelId="{20EF3E2E-50D3-46A8-B674-5A6A94D1511C}" type="presParOf" srcId="{1ED5E441-1CEB-4E49-8011-0FD184471808}" destId="{4336E2D9-87C0-494A-B080-B4121398E34E}" srcOrd="1" destOrd="0" presId="urn:microsoft.com/office/officeart/2005/8/layout/venn2"/>
    <dgm:cxn modelId="{EB055D22-0166-4A4A-97F4-22E9A86166EF}" type="presParOf" srcId="{23834223-8A75-4BD0-81AA-3586ED878B98}" destId="{98189830-1B07-4A42-A6F3-460B2A22B577}" srcOrd="2" destOrd="0" presId="urn:microsoft.com/office/officeart/2005/8/layout/venn2"/>
    <dgm:cxn modelId="{181977E9-C327-4F86-A3BD-ED7E5BC3805B}" type="presParOf" srcId="{98189830-1B07-4A42-A6F3-460B2A22B577}" destId="{E584FFB3-E142-4576-BC8B-973BEE7BD0BD}" srcOrd="0" destOrd="0" presId="urn:microsoft.com/office/officeart/2005/8/layout/venn2"/>
    <dgm:cxn modelId="{995A5FC7-CA73-40B5-A5B5-70C76FF2EA87}" type="presParOf" srcId="{98189830-1B07-4A42-A6F3-460B2A22B577}" destId="{91B6FC88-37AA-4B29-A30F-77297E06C008}" srcOrd="1" destOrd="0" presId="urn:microsoft.com/office/officeart/2005/8/layout/venn2"/>
    <dgm:cxn modelId="{1B55C47B-A7E6-403A-9291-8069E562C88E}" type="presParOf" srcId="{23834223-8A75-4BD0-81AA-3586ED878B98}" destId="{FFC64B38-BD39-4039-ADF7-0167C2D2A998}" srcOrd="3" destOrd="0" presId="urn:microsoft.com/office/officeart/2005/8/layout/venn2"/>
    <dgm:cxn modelId="{8363C81C-F8F8-4D3B-BE97-28DEF469476A}" type="presParOf" srcId="{FFC64B38-BD39-4039-ADF7-0167C2D2A998}" destId="{F2811274-B58A-416D-B9BA-041A0378F42F}" srcOrd="0" destOrd="0" presId="urn:microsoft.com/office/officeart/2005/8/layout/venn2"/>
    <dgm:cxn modelId="{54F380DA-14B2-4272-91E7-E152F8AA60BD}" type="presParOf" srcId="{FFC64B38-BD39-4039-ADF7-0167C2D2A998}" destId="{FB291AE1-0819-42D3-923A-9F018E3F4E37}" srcOrd="1" destOrd="0" presId="urn:microsoft.com/office/officeart/2005/8/layout/venn2"/>
    <dgm:cxn modelId="{2D04F49D-789D-44E7-B6BA-ED680E1F59FF}" type="presParOf" srcId="{23834223-8A75-4BD0-81AA-3586ED878B98}" destId="{057038B1-DB8F-4E0B-AD06-911C1BDE857D}" srcOrd="4" destOrd="0" presId="urn:microsoft.com/office/officeart/2005/8/layout/venn2"/>
    <dgm:cxn modelId="{098B3CA8-3E34-48A0-AC0D-2F8536965468}" type="presParOf" srcId="{057038B1-DB8F-4E0B-AD06-911C1BDE857D}" destId="{37C87C3C-9E17-47AF-8941-DAA377EDA572}" srcOrd="0" destOrd="0" presId="urn:microsoft.com/office/officeart/2005/8/layout/venn2"/>
    <dgm:cxn modelId="{7CDEFB21-08C3-4B88-AFAF-F14991B51B8E}" type="presParOf" srcId="{057038B1-DB8F-4E0B-AD06-911C1BDE857D}" destId="{DFB750E4-8E13-42C1-A493-EBF171554F72}"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510AAE-E403-4E1D-BCB5-ADAE424E1051}">
      <dsp:nvSpPr>
        <dsp:cNvPr id="0" name=""/>
        <dsp:cNvSpPr/>
      </dsp:nvSpPr>
      <dsp:spPr>
        <a:xfrm>
          <a:off x="-5454792" y="-835220"/>
          <a:ext cx="6494976" cy="6494976"/>
        </a:xfrm>
        <a:prstGeom prst="blockArc">
          <a:avLst>
            <a:gd name="adj1" fmla="val 18900000"/>
            <a:gd name="adj2" fmla="val 2700000"/>
            <a:gd name="adj3" fmla="val 333"/>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6B2794-FECC-41B2-8DC5-CDEBA1BE196C}">
      <dsp:nvSpPr>
        <dsp:cNvPr id="0" name=""/>
        <dsp:cNvSpPr/>
      </dsp:nvSpPr>
      <dsp:spPr>
        <a:xfrm>
          <a:off x="544552" y="370910"/>
          <a:ext cx="5292904" cy="742206"/>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9127" tIns="73660" rIns="73660" bIns="73660" numCol="1" spcCol="1270" anchor="ctr" anchorCtr="0">
          <a:noAutofit/>
        </a:bodyPr>
        <a:lstStyle/>
        <a:p>
          <a:pPr marL="0" lvl="0" indent="0" algn="l" defTabSz="1289050">
            <a:lnSpc>
              <a:spcPct val="90000"/>
            </a:lnSpc>
            <a:spcBef>
              <a:spcPct val="0"/>
            </a:spcBef>
            <a:spcAft>
              <a:spcPct val="35000"/>
            </a:spcAft>
            <a:buNone/>
          </a:pPr>
          <a:r>
            <a:rPr lang="zh-TW" altLang="en-US" sz="2900" b="1" kern="1200" dirty="0">
              <a:latin typeface="微軟正黑體" panose="020B0604030504040204" pitchFamily="34" charset="-120"/>
              <a:ea typeface="微軟正黑體" panose="020B0604030504040204" pitchFamily="34" charset="-120"/>
            </a:rPr>
            <a:t>專利公報</a:t>
          </a:r>
        </a:p>
      </dsp:txBody>
      <dsp:txXfrm>
        <a:off x="544552" y="370910"/>
        <a:ext cx="5292904" cy="742206"/>
      </dsp:txXfrm>
    </dsp:sp>
    <dsp:sp modelId="{A3BDAAD1-D6CD-4580-B39A-FB0EB451B2FF}">
      <dsp:nvSpPr>
        <dsp:cNvPr id="0" name=""/>
        <dsp:cNvSpPr/>
      </dsp:nvSpPr>
      <dsp:spPr>
        <a:xfrm>
          <a:off x="80673" y="278134"/>
          <a:ext cx="927758" cy="927758"/>
        </a:xfrm>
        <a:prstGeom prst="ellipse">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sp>
    <dsp:sp modelId="{35D8C124-65FB-4115-A97C-A47C0EE8E4E4}">
      <dsp:nvSpPr>
        <dsp:cNvPr id="0" name=""/>
        <dsp:cNvSpPr/>
      </dsp:nvSpPr>
      <dsp:spPr>
        <a:xfrm>
          <a:off x="970076" y="1484413"/>
          <a:ext cx="4867380" cy="742206"/>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9127" tIns="73660" rIns="73660" bIns="73660" numCol="1" spcCol="1270" anchor="ctr" anchorCtr="0">
          <a:noAutofit/>
        </a:bodyPr>
        <a:lstStyle/>
        <a:p>
          <a:pPr marL="0" lvl="0" indent="0" algn="l" defTabSz="1289050">
            <a:lnSpc>
              <a:spcPct val="90000"/>
            </a:lnSpc>
            <a:spcBef>
              <a:spcPct val="0"/>
            </a:spcBef>
            <a:spcAft>
              <a:spcPct val="35000"/>
            </a:spcAft>
            <a:buNone/>
          </a:pPr>
          <a:r>
            <a:rPr lang="zh-TW" altLang="en-US" sz="2900" b="1" kern="1200" dirty="0">
              <a:latin typeface="微軟正黑體" panose="020B0604030504040204" pitchFamily="34" charset="-120"/>
              <a:ea typeface="微軟正黑體" panose="020B0604030504040204" pitchFamily="34" charset="-120"/>
            </a:rPr>
            <a:t>通常知識</a:t>
          </a:r>
        </a:p>
      </dsp:txBody>
      <dsp:txXfrm>
        <a:off x="970076" y="1484413"/>
        <a:ext cx="4867380" cy="742206"/>
      </dsp:txXfrm>
    </dsp:sp>
    <dsp:sp modelId="{A2EB3297-1EB8-419B-BBF6-E4C5512DE105}">
      <dsp:nvSpPr>
        <dsp:cNvPr id="0" name=""/>
        <dsp:cNvSpPr/>
      </dsp:nvSpPr>
      <dsp:spPr>
        <a:xfrm>
          <a:off x="506197" y="1391637"/>
          <a:ext cx="927758" cy="927758"/>
        </a:xfrm>
        <a:prstGeom prst="ellipse">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sp>
    <dsp:sp modelId="{49BF1697-CD18-448B-BB56-2A23AC0CEDB9}">
      <dsp:nvSpPr>
        <dsp:cNvPr id="0" name=""/>
        <dsp:cNvSpPr/>
      </dsp:nvSpPr>
      <dsp:spPr>
        <a:xfrm>
          <a:off x="970076" y="2597916"/>
          <a:ext cx="4867380" cy="742206"/>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9127" tIns="73660" rIns="73660" bIns="73660" numCol="1" spcCol="1270" anchor="ctr" anchorCtr="0">
          <a:noAutofit/>
        </a:bodyPr>
        <a:lstStyle/>
        <a:p>
          <a:pPr marL="0" lvl="0" indent="0" algn="l" defTabSz="1289050">
            <a:lnSpc>
              <a:spcPct val="90000"/>
            </a:lnSpc>
            <a:spcBef>
              <a:spcPct val="0"/>
            </a:spcBef>
            <a:spcAft>
              <a:spcPct val="35000"/>
            </a:spcAft>
            <a:buNone/>
          </a:pPr>
          <a:r>
            <a:rPr lang="zh-TW" altLang="en-US" sz="2900" b="1" kern="1200" dirty="0">
              <a:latin typeface="微軟正黑體" panose="020B0604030504040204" pitchFamily="34" charset="-120"/>
              <a:ea typeface="微軟正黑體" panose="020B0604030504040204" pitchFamily="34" charset="-120"/>
            </a:rPr>
            <a:t>專利說明書及圖式</a:t>
          </a:r>
        </a:p>
      </dsp:txBody>
      <dsp:txXfrm>
        <a:off x="970076" y="2597916"/>
        <a:ext cx="4867380" cy="742206"/>
      </dsp:txXfrm>
    </dsp:sp>
    <dsp:sp modelId="{A4261F9C-7566-4120-A7FF-9F256A2DE8D2}">
      <dsp:nvSpPr>
        <dsp:cNvPr id="0" name=""/>
        <dsp:cNvSpPr/>
      </dsp:nvSpPr>
      <dsp:spPr>
        <a:xfrm>
          <a:off x="506197" y="2505140"/>
          <a:ext cx="927758" cy="92775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46DE9A-4144-475A-8C52-EB8FB5053248}">
      <dsp:nvSpPr>
        <dsp:cNvPr id="0" name=""/>
        <dsp:cNvSpPr/>
      </dsp:nvSpPr>
      <dsp:spPr>
        <a:xfrm>
          <a:off x="544552" y="3711419"/>
          <a:ext cx="5292904" cy="742206"/>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9127" tIns="73660" rIns="73660" bIns="73660" numCol="1" spcCol="1270" anchor="ctr" anchorCtr="0">
          <a:noAutofit/>
        </a:bodyPr>
        <a:lstStyle/>
        <a:p>
          <a:pPr marL="0" lvl="0" indent="0" algn="l" defTabSz="1289050">
            <a:lnSpc>
              <a:spcPct val="90000"/>
            </a:lnSpc>
            <a:spcBef>
              <a:spcPct val="0"/>
            </a:spcBef>
            <a:spcAft>
              <a:spcPct val="35000"/>
            </a:spcAft>
            <a:buNone/>
          </a:pPr>
          <a:r>
            <a:rPr lang="zh-TW" altLang="en-US" sz="2900" b="1" kern="1200" dirty="0">
              <a:latin typeface="微軟正黑體" panose="020B0604030504040204" pitchFamily="34" charset="-120"/>
              <a:ea typeface="微軟正黑體" panose="020B0604030504040204" pitchFamily="34" charset="-120"/>
            </a:rPr>
            <a:t>申請專利範圍</a:t>
          </a:r>
        </a:p>
      </dsp:txBody>
      <dsp:txXfrm>
        <a:off x="544552" y="3711419"/>
        <a:ext cx="5292904" cy="742206"/>
      </dsp:txXfrm>
    </dsp:sp>
    <dsp:sp modelId="{CA04C916-9DFA-4CC1-848D-642D21543B6E}">
      <dsp:nvSpPr>
        <dsp:cNvPr id="0" name=""/>
        <dsp:cNvSpPr/>
      </dsp:nvSpPr>
      <dsp:spPr>
        <a:xfrm>
          <a:off x="80673" y="3618643"/>
          <a:ext cx="927758" cy="927758"/>
        </a:xfrm>
        <a:prstGeom prst="ellipse">
          <a:avLst/>
        </a:prstGeom>
        <a:gradFill rotWithShape="1">
          <a:gsLst>
            <a:gs pos="0">
              <a:schemeClr val="accent5">
                <a:tint val="50000"/>
                <a:satMod val="300000"/>
              </a:schemeClr>
            </a:gs>
            <a:gs pos="35000">
              <a:schemeClr val="accent5">
                <a:tint val="37000"/>
                <a:satMod val="300000"/>
              </a:schemeClr>
            </a:gs>
            <a:gs pos="100000">
              <a:schemeClr val="accent5">
                <a:tint val="15000"/>
                <a:satMod val="350000"/>
              </a:schemeClr>
            </a:gs>
          </a:gsLst>
          <a:lin ang="16200000" scaled="1"/>
        </a:gradFill>
        <a:ln w="9525" cap="flat" cmpd="sng" algn="ctr">
          <a:solidFill>
            <a:schemeClr val="accent5">
              <a:shade val="95000"/>
              <a:satMod val="105000"/>
            </a:schemeClr>
          </a:solidFill>
          <a:prstDash val="solid"/>
        </a:ln>
        <a:effectLst>
          <a:outerShdw blurRad="40000" dist="20000" dir="5400000" rotWithShape="0">
            <a:srgbClr val="000000">
              <a:alpha val="38000"/>
            </a:srgbClr>
          </a:outerShdw>
        </a:effectLst>
      </dsp:spPr>
      <dsp:style>
        <a:lnRef idx="1">
          <a:schemeClr val="accent5"/>
        </a:lnRef>
        <a:fillRef idx="2">
          <a:schemeClr val="accent5"/>
        </a:fillRef>
        <a:effectRef idx="1">
          <a:schemeClr val="accent5"/>
        </a:effectRef>
        <a:fontRef idx="minor">
          <a:schemeClr val="dk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4B9D8B-68E8-4368-BCDA-DB036158E4F3}">
      <dsp:nvSpPr>
        <dsp:cNvPr id="0" name=""/>
        <dsp:cNvSpPr/>
      </dsp:nvSpPr>
      <dsp:spPr>
        <a:xfrm>
          <a:off x="0" y="415129"/>
          <a:ext cx="3528392" cy="1795500"/>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273842" tIns="395732" rIns="273842" bIns="135128" numCol="1" spcCol="1270" anchor="t" anchorCtr="0">
          <a:noAutofit/>
        </a:bodyPr>
        <a:lstStyle/>
        <a:p>
          <a:pPr marL="171450" lvl="1" indent="-171450" algn="l" defTabSz="844550">
            <a:lnSpc>
              <a:spcPct val="90000"/>
            </a:lnSpc>
            <a:spcBef>
              <a:spcPct val="0"/>
            </a:spcBef>
            <a:spcAft>
              <a:spcPct val="15000"/>
            </a:spcAft>
            <a:buChar char="•"/>
          </a:pPr>
          <a:r>
            <a:rPr lang="zh-TW" altLang="en-US" sz="1900" kern="1200" dirty="0">
              <a:latin typeface="微軟正黑體" panose="020B0604030504040204" pitchFamily="34" charset="-120"/>
              <a:ea typeface="微軟正黑體" panose="020B0604030504040204" pitchFamily="34" charset="-120"/>
            </a:rPr>
            <a:t>發明專利</a:t>
          </a:r>
        </a:p>
        <a:p>
          <a:pPr marL="171450" lvl="1" indent="-171450" algn="l" defTabSz="844550">
            <a:lnSpc>
              <a:spcPct val="90000"/>
            </a:lnSpc>
            <a:spcBef>
              <a:spcPct val="0"/>
            </a:spcBef>
            <a:spcAft>
              <a:spcPct val="15000"/>
            </a:spcAft>
            <a:buChar char="•"/>
          </a:pPr>
          <a:r>
            <a:rPr lang="zh-TW" altLang="en-US" sz="1900" kern="1200" dirty="0">
              <a:latin typeface="微軟正黑體" panose="020B0604030504040204" pitchFamily="34" charset="-120"/>
              <a:ea typeface="微軟正黑體" panose="020B0604030504040204" pitchFamily="34" charset="-120"/>
            </a:rPr>
            <a:t>早期公開</a:t>
          </a:r>
        </a:p>
        <a:p>
          <a:pPr marL="171450" lvl="1" indent="-171450" algn="l" defTabSz="844550">
            <a:lnSpc>
              <a:spcPct val="90000"/>
            </a:lnSpc>
            <a:spcBef>
              <a:spcPct val="0"/>
            </a:spcBef>
            <a:spcAft>
              <a:spcPct val="15000"/>
            </a:spcAft>
            <a:buChar char="•"/>
          </a:pPr>
          <a:r>
            <a:rPr lang="zh-TW" altLang="en-US" sz="1900" kern="1200" dirty="0">
              <a:latin typeface="微軟正黑體" panose="020B0604030504040204" pitchFamily="34" charset="-120"/>
              <a:ea typeface="微軟正黑體" panose="020B0604030504040204" pitchFamily="34" charset="-120"/>
            </a:rPr>
            <a:t>核准公告</a:t>
          </a:r>
        </a:p>
      </dsp:txBody>
      <dsp:txXfrm>
        <a:off x="0" y="415129"/>
        <a:ext cx="3528392" cy="1795500"/>
      </dsp:txXfrm>
    </dsp:sp>
    <dsp:sp modelId="{613F2206-3CFD-445D-982C-5023451EF118}">
      <dsp:nvSpPr>
        <dsp:cNvPr id="0" name=""/>
        <dsp:cNvSpPr/>
      </dsp:nvSpPr>
      <dsp:spPr>
        <a:xfrm>
          <a:off x="176419" y="86011"/>
          <a:ext cx="2505885" cy="609558"/>
        </a:xfrm>
        <a:prstGeom prst="round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93355" tIns="0" rIns="93355" bIns="0" numCol="1" spcCol="1270" anchor="ctr" anchorCtr="0">
          <a:noAutofit/>
        </a:bodyPr>
        <a:lstStyle/>
        <a:p>
          <a:pPr marL="0" lvl="0" indent="0" algn="l" defTabSz="844550">
            <a:lnSpc>
              <a:spcPct val="90000"/>
            </a:lnSpc>
            <a:spcBef>
              <a:spcPct val="0"/>
            </a:spcBef>
            <a:spcAft>
              <a:spcPct val="35000"/>
            </a:spcAft>
            <a:buNone/>
          </a:pPr>
          <a:r>
            <a:rPr lang="zh-TW" altLang="en-US" sz="1900" kern="1200" dirty="0">
              <a:latin typeface="微軟正黑體" panose="020B0604030504040204" pitchFamily="34" charset="-120"/>
              <a:ea typeface="微軟正黑體" panose="020B0604030504040204" pitchFamily="34" charset="-120"/>
            </a:rPr>
            <a:t>請求實體審查制</a:t>
          </a:r>
        </a:p>
      </dsp:txBody>
      <dsp:txXfrm>
        <a:off x="206175" y="115767"/>
        <a:ext cx="2446373" cy="550046"/>
      </dsp:txXfrm>
    </dsp:sp>
    <dsp:sp modelId="{FB711831-E161-4FF4-A979-0132FABD0707}">
      <dsp:nvSpPr>
        <dsp:cNvPr id="0" name=""/>
        <dsp:cNvSpPr/>
      </dsp:nvSpPr>
      <dsp:spPr>
        <a:xfrm>
          <a:off x="0" y="2593669"/>
          <a:ext cx="3528392" cy="1376550"/>
        </a:xfrm>
        <a:prstGeom prst="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273842" tIns="395732" rIns="273842" bIns="135128" numCol="1" spcCol="1270" anchor="t" anchorCtr="0">
          <a:noAutofit/>
        </a:bodyPr>
        <a:lstStyle/>
        <a:p>
          <a:pPr marL="171450" lvl="1" indent="-171450" algn="l" defTabSz="844550">
            <a:lnSpc>
              <a:spcPct val="90000"/>
            </a:lnSpc>
            <a:spcBef>
              <a:spcPct val="0"/>
            </a:spcBef>
            <a:spcAft>
              <a:spcPct val="15000"/>
            </a:spcAft>
            <a:buChar char="•"/>
          </a:pPr>
          <a:r>
            <a:rPr lang="zh-TW" altLang="en-US" sz="1900" kern="1200" dirty="0">
              <a:latin typeface="微軟正黑體" panose="020B0604030504040204" pitchFamily="34" charset="-120"/>
              <a:ea typeface="微軟正黑體" panose="020B0604030504040204" pitchFamily="34" charset="-120"/>
            </a:rPr>
            <a:t>新型專利</a:t>
          </a:r>
        </a:p>
        <a:p>
          <a:pPr marL="171450" lvl="1" indent="-171450" algn="l" defTabSz="844550">
            <a:lnSpc>
              <a:spcPct val="90000"/>
            </a:lnSpc>
            <a:spcBef>
              <a:spcPct val="0"/>
            </a:spcBef>
            <a:spcAft>
              <a:spcPct val="15000"/>
            </a:spcAft>
            <a:buChar char="•"/>
          </a:pPr>
          <a:r>
            <a:rPr lang="zh-TW" altLang="en-US" sz="1900" kern="1200" dirty="0">
              <a:latin typeface="微軟正黑體" panose="020B0604030504040204" pitchFamily="34" charset="-120"/>
              <a:ea typeface="微軟正黑體" panose="020B0604030504040204" pitchFamily="34" charset="-120"/>
            </a:rPr>
            <a:t>核准公告</a:t>
          </a:r>
        </a:p>
      </dsp:txBody>
      <dsp:txXfrm>
        <a:off x="0" y="2593669"/>
        <a:ext cx="3528392" cy="1376550"/>
      </dsp:txXfrm>
    </dsp:sp>
    <dsp:sp modelId="{25267381-E1A6-43BD-AAE2-C35ADEE9A043}">
      <dsp:nvSpPr>
        <dsp:cNvPr id="0" name=""/>
        <dsp:cNvSpPr/>
      </dsp:nvSpPr>
      <dsp:spPr>
        <a:xfrm>
          <a:off x="176419" y="2313229"/>
          <a:ext cx="2469874" cy="560880"/>
        </a:xfrm>
        <a:prstGeom prst="round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93355" tIns="0" rIns="93355" bIns="0" numCol="1" spcCol="1270" anchor="ctr" anchorCtr="0">
          <a:noAutofit/>
        </a:bodyPr>
        <a:lstStyle/>
        <a:p>
          <a:pPr marL="0" lvl="0" indent="0" algn="l" defTabSz="844550">
            <a:lnSpc>
              <a:spcPct val="90000"/>
            </a:lnSpc>
            <a:spcBef>
              <a:spcPct val="0"/>
            </a:spcBef>
            <a:spcAft>
              <a:spcPct val="35000"/>
            </a:spcAft>
            <a:buNone/>
          </a:pPr>
          <a:r>
            <a:rPr lang="zh-TW" altLang="en-US" sz="1900" kern="1200" dirty="0">
              <a:latin typeface="微軟正黑體" panose="020B0604030504040204" pitchFamily="34" charset="-120"/>
              <a:ea typeface="微軟正黑體" panose="020B0604030504040204" pitchFamily="34" charset="-120"/>
            </a:rPr>
            <a:t>形式審查制</a:t>
          </a:r>
        </a:p>
      </dsp:txBody>
      <dsp:txXfrm>
        <a:off x="203799" y="2340609"/>
        <a:ext cx="2415114" cy="506120"/>
      </dsp:txXfrm>
    </dsp:sp>
    <dsp:sp modelId="{FB98C9D1-B1C3-4CC6-90E3-E19CF0B2A714}">
      <dsp:nvSpPr>
        <dsp:cNvPr id="0" name=""/>
        <dsp:cNvSpPr/>
      </dsp:nvSpPr>
      <dsp:spPr>
        <a:xfrm>
          <a:off x="0" y="4353259"/>
          <a:ext cx="3528392" cy="1376550"/>
        </a:xfrm>
        <a:prstGeom prst="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273842" tIns="395732" rIns="273842" bIns="135128" numCol="1" spcCol="1270" anchor="t" anchorCtr="0">
          <a:noAutofit/>
        </a:bodyPr>
        <a:lstStyle/>
        <a:p>
          <a:pPr marL="171450" lvl="1" indent="-171450" algn="l" defTabSz="844550">
            <a:lnSpc>
              <a:spcPct val="90000"/>
            </a:lnSpc>
            <a:spcBef>
              <a:spcPct val="0"/>
            </a:spcBef>
            <a:spcAft>
              <a:spcPct val="15000"/>
            </a:spcAft>
            <a:buChar char="•"/>
          </a:pPr>
          <a:r>
            <a:rPr lang="zh-TW" altLang="en-US" sz="1900" kern="1200" dirty="0">
              <a:latin typeface="微軟正黑體" panose="020B0604030504040204" pitchFamily="34" charset="-120"/>
              <a:ea typeface="微軟正黑體" panose="020B0604030504040204" pitchFamily="34" charset="-120"/>
            </a:rPr>
            <a:t>設計專利</a:t>
          </a:r>
        </a:p>
        <a:p>
          <a:pPr marL="171450" lvl="1" indent="-171450" algn="l" defTabSz="844550">
            <a:lnSpc>
              <a:spcPct val="90000"/>
            </a:lnSpc>
            <a:spcBef>
              <a:spcPct val="0"/>
            </a:spcBef>
            <a:spcAft>
              <a:spcPct val="15000"/>
            </a:spcAft>
            <a:buChar char="•"/>
          </a:pPr>
          <a:r>
            <a:rPr lang="zh-TW" altLang="en-US" sz="1900" kern="1200" dirty="0">
              <a:latin typeface="微軟正黑體" panose="020B0604030504040204" pitchFamily="34" charset="-120"/>
              <a:ea typeface="微軟正黑體" panose="020B0604030504040204" pitchFamily="34" charset="-120"/>
            </a:rPr>
            <a:t>核准公告</a:t>
          </a:r>
        </a:p>
      </dsp:txBody>
      <dsp:txXfrm>
        <a:off x="0" y="4353259"/>
        <a:ext cx="3528392" cy="1376550"/>
      </dsp:txXfrm>
    </dsp:sp>
    <dsp:sp modelId="{3D829F1F-08BF-4333-BA44-6E3598E35A26}">
      <dsp:nvSpPr>
        <dsp:cNvPr id="0" name=""/>
        <dsp:cNvSpPr/>
      </dsp:nvSpPr>
      <dsp:spPr>
        <a:xfrm>
          <a:off x="176419" y="4072819"/>
          <a:ext cx="2469874" cy="560880"/>
        </a:xfrm>
        <a:prstGeom prst="round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93355" tIns="0" rIns="93355" bIns="0" numCol="1" spcCol="1270" anchor="ctr" anchorCtr="0">
          <a:noAutofit/>
        </a:bodyPr>
        <a:lstStyle/>
        <a:p>
          <a:pPr marL="0" lvl="0" indent="0" algn="l" defTabSz="844550">
            <a:lnSpc>
              <a:spcPct val="90000"/>
            </a:lnSpc>
            <a:spcBef>
              <a:spcPct val="0"/>
            </a:spcBef>
            <a:spcAft>
              <a:spcPct val="35000"/>
            </a:spcAft>
            <a:buNone/>
          </a:pPr>
          <a:r>
            <a:rPr lang="zh-TW" altLang="en-US" sz="1900" kern="1200" dirty="0">
              <a:latin typeface="微軟正黑體" panose="020B0604030504040204" pitchFamily="34" charset="-120"/>
              <a:ea typeface="微軟正黑體" panose="020B0604030504040204" pitchFamily="34" charset="-120"/>
            </a:rPr>
            <a:t>依職權實體審查制</a:t>
          </a:r>
        </a:p>
      </dsp:txBody>
      <dsp:txXfrm>
        <a:off x="203799" y="4100199"/>
        <a:ext cx="2415114" cy="5061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3CF8C1-56B7-476E-B08F-35ADB358CA64}">
      <dsp:nvSpPr>
        <dsp:cNvPr id="0" name=""/>
        <dsp:cNvSpPr/>
      </dsp:nvSpPr>
      <dsp:spPr>
        <a:xfrm>
          <a:off x="1016000" y="-21684"/>
          <a:ext cx="4064000" cy="4064000"/>
        </a:xfrm>
        <a:prstGeom prst="ellipse">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0" rIns="113792" bIns="113792" numCol="1" spcCol="1270" anchor="ctr" anchorCtr="0">
          <a:noAutofit/>
        </a:bodyPr>
        <a:lstStyle/>
        <a:p>
          <a:pPr marL="0" lvl="0" indent="0" algn="ctr" defTabSz="711200">
            <a:lnSpc>
              <a:spcPts val="1800"/>
            </a:lnSpc>
            <a:spcBef>
              <a:spcPct val="0"/>
            </a:spcBef>
            <a:spcAft>
              <a:spcPts val="0"/>
            </a:spcAft>
            <a:buNone/>
          </a:pPr>
          <a:r>
            <a:rPr lang="zh-TW" altLang="en-US" sz="1600" b="1" kern="1200" dirty="0">
              <a:solidFill>
                <a:schemeClr val="bg1"/>
              </a:solidFill>
              <a:latin typeface="微軟正黑體" panose="020B0604030504040204" pitchFamily="34" charset="-120"/>
              <a:ea typeface="微軟正黑體" panose="020B0604030504040204" pitchFamily="34" charset="-120"/>
            </a:rPr>
            <a:t>次目</a:t>
          </a:r>
          <a:endParaRPr lang="en-US" altLang="zh-TW" sz="1600" b="1" kern="1200" dirty="0">
            <a:solidFill>
              <a:schemeClr val="bg1"/>
            </a:solidFill>
            <a:latin typeface="微軟正黑體" panose="020B0604030504040204" pitchFamily="34" charset="-120"/>
            <a:ea typeface="微軟正黑體" panose="020B0604030504040204" pitchFamily="34" charset="-120"/>
          </a:endParaRPr>
        </a:p>
        <a:p>
          <a:pPr marL="0" lvl="0" indent="0" algn="ctr" defTabSz="711200">
            <a:lnSpc>
              <a:spcPts val="1800"/>
            </a:lnSpc>
            <a:spcBef>
              <a:spcPct val="0"/>
            </a:spcBef>
            <a:spcAft>
              <a:spcPts val="0"/>
            </a:spcAft>
            <a:buNone/>
          </a:pPr>
          <a:r>
            <a:rPr lang="en-US" altLang="zh-TW" sz="1600" b="1" kern="1200" dirty="0">
              <a:solidFill>
                <a:schemeClr val="bg1"/>
              </a:solidFill>
              <a:latin typeface="微軟正黑體" panose="020B0604030504040204" pitchFamily="34" charset="-120"/>
              <a:ea typeface="微軟正黑體" panose="020B0604030504040204" pitchFamily="34" charset="-120"/>
            </a:rPr>
            <a:t>-</a:t>
          </a:r>
          <a:r>
            <a:rPr lang="zh-TW" altLang="en-US" sz="1600" b="1" kern="1200" dirty="0">
              <a:solidFill>
                <a:schemeClr val="bg1"/>
              </a:solidFill>
              <a:latin typeface="微軟正黑體" panose="020B0604030504040204" pitchFamily="34" charset="-120"/>
              <a:ea typeface="微軟正黑體" panose="020B0604030504040204" pitchFamily="34" charset="-120"/>
            </a:rPr>
            <a:t>第五階</a:t>
          </a:r>
        </a:p>
      </dsp:txBody>
      <dsp:txXfrm>
        <a:off x="2286000" y="181515"/>
        <a:ext cx="1524000" cy="406400"/>
      </dsp:txXfrm>
    </dsp:sp>
    <dsp:sp modelId="{FCE31AD2-DF35-4AB6-905E-B9A870E3F723}">
      <dsp:nvSpPr>
        <dsp:cNvPr id="0" name=""/>
        <dsp:cNvSpPr/>
      </dsp:nvSpPr>
      <dsp:spPr>
        <a:xfrm>
          <a:off x="1358504" y="544545"/>
          <a:ext cx="3378990" cy="3541139"/>
        </a:xfrm>
        <a:prstGeom prst="ellipse">
          <a:avLst/>
        </a:prstGeom>
        <a:solidFill>
          <a:schemeClr val="accent1">
            <a:shade val="80000"/>
            <a:hueOff val="76561"/>
            <a:satOff val="-1098"/>
            <a:lumOff val="640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ts val="1800"/>
            </a:lnSpc>
            <a:spcBef>
              <a:spcPct val="0"/>
            </a:spcBef>
            <a:spcAft>
              <a:spcPts val="0"/>
            </a:spcAft>
            <a:buNone/>
          </a:pPr>
          <a:r>
            <a:rPr lang="zh-TW" altLang="en-US" sz="1600" b="1" kern="1200" dirty="0">
              <a:solidFill>
                <a:schemeClr val="bg1"/>
              </a:solidFill>
              <a:latin typeface="微軟正黑體" panose="020B0604030504040204" pitchFamily="34" charset="-120"/>
              <a:ea typeface="微軟正黑體" panose="020B0604030504040204" pitchFamily="34" charset="-120"/>
            </a:rPr>
            <a:t>主目</a:t>
          </a:r>
          <a:endParaRPr lang="en-US" altLang="zh-TW" sz="1600" b="1" kern="1200" dirty="0">
            <a:solidFill>
              <a:schemeClr val="bg1"/>
            </a:solidFill>
            <a:latin typeface="微軟正黑體" panose="020B0604030504040204" pitchFamily="34" charset="-120"/>
            <a:ea typeface="微軟正黑體" panose="020B0604030504040204" pitchFamily="34" charset="-120"/>
          </a:endParaRPr>
        </a:p>
        <a:p>
          <a:pPr marL="0" lvl="0" indent="0" algn="ctr" defTabSz="711200">
            <a:lnSpc>
              <a:spcPts val="1800"/>
            </a:lnSpc>
            <a:spcBef>
              <a:spcPct val="0"/>
            </a:spcBef>
            <a:spcAft>
              <a:spcPts val="0"/>
            </a:spcAft>
            <a:buNone/>
          </a:pPr>
          <a:r>
            <a:rPr lang="en-US" altLang="zh-TW" sz="1600" b="1" kern="1200" dirty="0">
              <a:solidFill>
                <a:schemeClr val="bg1"/>
              </a:solidFill>
              <a:latin typeface="微軟正黑體" panose="020B0604030504040204" pitchFamily="34" charset="-120"/>
              <a:ea typeface="微軟正黑體" panose="020B0604030504040204" pitchFamily="34" charset="-120"/>
            </a:rPr>
            <a:t>-</a:t>
          </a:r>
          <a:r>
            <a:rPr lang="zh-TW" altLang="en-US" sz="1600" b="1" kern="1200" dirty="0">
              <a:solidFill>
                <a:schemeClr val="bg1"/>
              </a:solidFill>
              <a:latin typeface="微軟正黑體" panose="020B0604030504040204" pitchFamily="34" charset="-120"/>
              <a:ea typeface="微軟正黑體" panose="020B0604030504040204" pitchFamily="34" charset="-120"/>
            </a:rPr>
            <a:t>第四階</a:t>
          </a:r>
        </a:p>
      </dsp:txBody>
      <dsp:txXfrm>
        <a:off x="2319405" y="748160"/>
        <a:ext cx="1457189" cy="407231"/>
      </dsp:txXfrm>
    </dsp:sp>
    <dsp:sp modelId="{E584FFB3-E142-4576-BC8B-973BEE7BD0BD}">
      <dsp:nvSpPr>
        <dsp:cNvPr id="0" name=""/>
        <dsp:cNvSpPr/>
      </dsp:nvSpPr>
      <dsp:spPr>
        <a:xfrm>
          <a:off x="1656650" y="1161798"/>
          <a:ext cx="2782698" cy="2916232"/>
        </a:xfrm>
        <a:prstGeom prst="ellipse">
          <a:avLst/>
        </a:prstGeom>
        <a:solidFill>
          <a:schemeClr val="accent1">
            <a:shade val="80000"/>
            <a:hueOff val="153123"/>
            <a:satOff val="-2196"/>
            <a:lumOff val="1280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ts val="1800"/>
            </a:lnSpc>
            <a:spcBef>
              <a:spcPct val="0"/>
            </a:spcBef>
            <a:spcAft>
              <a:spcPts val="0"/>
            </a:spcAft>
            <a:buNone/>
          </a:pPr>
          <a:r>
            <a:rPr lang="zh-TW" altLang="en-US" sz="1800" b="1" kern="1200" dirty="0">
              <a:solidFill>
                <a:schemeClr val="bg1"/>
              </a:solidFill>
              <a:latin typeface="微軟正黑體" panose="020B0604030504040204" pitchFamily="34" charset="-120"/>
              <a:ea typeface="微軟正黑體" panose="020B0604030504040204" pitchFamily="34" charset="-120"/>
            </a:rPr>
            <a:t>主類</a:t>
          </a:r>
          <a:endParaRPr lang="en-US" altLang="zh-TW" sz="1800" b="1" kern="1200" dirty="0">
            <a:solidFill>
              <a:schemeClr val="bg1"/>
            </a:solidFill>
            <a:latin typeface="微軟正黑體" panose="020B0604030504040204" pitchFamily="34" charset="-120"/>
            <a:ea typeface="微軟正黑體" panose="020B0604030504040204" pitchFamily="34" charset="-120"/>
          </a:endParaRPr>
        </a:p>
        <a:p>
          <a:pPr marL="0" lvl="0" indent="0" algn="ctr" defTabSz="800100">
            <a:lnSpc>
              <a:spcPts val="1800"/>
            </a:lnSpc>
            <a:spcBef>
              <a:spcPct val="0"/>
            </a:spcBef>
            <a:spcAft>
              <a:spcPts val="0"/>
            </a:spcAft>
            <a:buNone/>
          </a:pPr>
          <a:r>
            <a:rPr lang="en-US" altLang="zh-TW" sz="1800" b="1" kern="1200" dirty="0">
              <a:solidFill>
                <a:schemeClr val="bg1"/>
              </a:solidFill>
              <a:latin typeface="微軟正黑體" panose="020B0604030504040204" pitchFamily="34" charset="-120"/>
              <a:ea typeface="微軟正黑體" panose="020B0604030504040204" pitchFamily="34" charset="-120"/>
            </a:rPr>
            <a:t>-</a:t>
          </a:r>
          <a:r>
            <a:rPr lang="zh-TW" altLang="en-US" sz="1800" b="1" kern="1200" dirty="0">
              <a:solidFill>
                <a:schemeClr val="bg1"/>
              </a:solidFill>
              <a:latin typeface="微軟正黑體" panose="020B0604030504040204" pitchFamily="34" charset="-120"/>
              <a:ea typeface="微軟正黑體" panose="020B0604030504040204" pitchFamily="34" charset="-120"/>
            </a:rPr>
            <a:t>第三階</a:t>
          </a:r>
        </a:p>
      </dsp:txBody>
      <dsp:txXfrm>
        <a:off x="2327976" y="1363018"/>
        <a:ext cx="1440046" cy="402440"/>
      </dsp:txXfrm>
    </dsp:sp>
    <dsp:sp modelId="{F2811274-B58A-416D-B9BA-041A0378F42F}">
      <dsp:nvSpPr>
        <dsp:cNvPr id="0" name=""/>
        <dsp:cNvSpPr/>
      </dsp:nvSpPr>
      <dsp:spPr>
        <a:xfrm>
          <a:off x="1930400" y="1807115"/>
          <a:ext cx="2235200" cy="2235200"/>
        </a:xfrm>
        <a:prstGeom prst="ellipse">
          <a:avLst/>
        </a:prstGeom>
        <a:solidFill>
          <a:schemeClr val="accent1">
            <a:shade val="80000"/>
            <a:hueOff val="229684"/>
            <a:satOff val="-3294"/>
            <a:lumOff val="1921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ts val="1800"/>
            </a:lnSpc>
            <a:spcBef>
              <a:spcPct val="0"/>
            </a:spcBef>
            <a:spcAft>
              <a:spcPts val="0"/>
            </a:spcAft>
            <a:buNone/>
          </a:pPr>
          <a:r>
            <a:rPr lang="zh-TW" altLang="en-US" sz="1800" b="1" kern="1200" dirty="0">
              <a:solidFill>
                <a:schemeClr val="bg1"/>
              </a:solidFill>
              <a:latin typeface="微軟正黑體" panose="020B0604030504040204" pitchFamily="34" charset="-120"/>
              <a:ea typeface="微軟正黑體" panose="020B0604030504040204" pitchFamily="34" charset="-120"/>
            </a:rPr>
            <a:t>次部</a:t>
          </a:r>
          <a:endParaRPr lang="en-US" altLang="zh-TW" sz="1800" b="1" kern="1200" dirty="0">
            <a:solidFill>
              <a:schemeClr val="bg1"/>
            </a:solidFill>
            <a:latin typeface="微軟正黑體" panose="020B0604030504040204" pitchFamily="34" charset="-120"/>
            <a:ea typeface="微軟正黑體" panose="020B0604030504040204" pitchFamily="34" charset="-120"/>
          </a:endParaRPr>
        </a:p>
        <a:p>
          <a:pPr marL="0" lvl="0" indent="0" algn="ctr" defTabSz="800100">
            <a:lnSpc>
              <a:spcPts val="1800"/>
            </a:lnSpc>
            <a:spcBef>
              <a:spcPct val="0"/>
            </a:spcBef>
            <a:spcAft>
              <a:spcPts val="0"/>
            </a:spcAft>
            <a:buNone/>
          </a:pPr>
          <a:r>
            <a:rPr lang="en-US" altLang="zh-TW" sz="1800" b="1" kern="1200" dirty="0">
              <a:solidFill>
                <a:schemeClr val="bg1"/>
              </a:solidFill>
              <a:latin typeface="微軟正黑體" panose="020B0604030504040204" pitchFamily="34" charset="-120"/>
              <a:ea typeface="微軟正黑體" panose="020B0604030504040204" pitchFamily="34" charset="-120"/>
            </a:rPr>
            <a:t>-</a:t>
          </a:r>
          <a:r>
            <a:rPr lang="zh-TW" altLang="en-US" sz="1800" b="1" kern="1200" dirty="0">
              <a:solidFill>
                <a:schemeClr val="bg1"/>
              </a:solidFill>
              <a:latin typeface="微軟正黑體" panose="020B0604030504040204" pitchFamily="34" charset="-120"/>
              <a:ea typeface="微軟正黑體" panose="020B0604030504040204" pitchFamily="34" charset="-120"/>
            </a:rPr>
            <a:t>第二階</a:t>
          </a:r>
        </a:p>
      </dsp:txBody>
      <dsp:txXfrm>
        <a:off x="2444496" y="2008283"/>
        <a:ext cx="1207008" cy="402336"/>
      </dsp:txXfrm>
    </dsp:sp>
    <dsp:sp modelId="{37C87C3C-9E17-47AF-8941-DAA377EDA572}">
      <dsp:nvSpPr>
        <dsp:cNvPr id="0" name=""/>
        <dsp:cNvSpPr/>
      </dsp:nvSpPr>
      <dsp:spPr>
        <a:xfrm>
          <a:off x="2235200" y="2416715"/>
          <a:ext cx="1625600" cy="1625600"/>
        </a:xfrm>
        <a:prstGeom prst="ellipse">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ts val="1800"/>
            </a:lnSpc>
            <a:spcBef>
              <a:spcPct val="0"/>
            </a:spcBef>
            <a:spcAft>
              <a:spcPts val="0"/>
            </a:spcAft>
            <a:buNone/>
          </a:pPr>
          <a:r>
            <a:rPr lang="zh-TW" altLang="en-US" sz="1800" b="1" kern="1200" dirty="0">
              <a:solidFill>
                <a:schemeClr val="bg1"/>
              </a:solidFill>
              <a:latin typeface="微軟正黑體" panose="020B0604030504040204" pitchFamily="34" charset="-120"/>
              <a:ea typeface="微軟正黑體" panose="020B0604030504040204" pitchFamily="34" charset="-120"/>
            </a:rPr>
            <a:t>部</a:t>
          </a:r>
          <a:endParaRPr lang="en-US" altLang="zh-TW" sz="1800" b="1" kern="1200" dirty="0">
            <a:solidFill>
              <a:schemeClr val="bg1"/>
            </a:solidFill>
            <a:latin typeface="微軟正黑體" panose="020B0604030504040204" pitchFamily="34" charset="-120"/>
            <a:ea typeface="微軟正黑體" panose="020B0604030504040204" pitchFamily="34" charset="-120"/>
          </a:endParaRPr>
        </a:p>
        <a:p>
          <a:pPr marL="0" lvl="0" indent="0" algn="ctr" defTabSz="800100">
            <a:lnSpc>
              <a:spcPct val="90000"/>
            </a:lnSpc>
            <a:spcBef>
              <a:spcPct val="0"/>
            </a:spcBef>
            <a:spcAft>
              <a:spcPct val="35000"/>
            </a:spcAft>
            <a:buNone/>
          </a:pPr>
          <a:r>
            <a:rPr lang="en-US" altLang="zh-TW" sz="1800" b="1" kern="1200" dirty="0">
              <a:solidFill>
                <a:schemeClr val="bg1"/>
              </a:solidFill>
              <a:latin typeface="微軟正黑體" panose="020B0604030504040204" pitchFamily="34" charset="-120"/>
              <a:ea typeface="微軟正黑體" panose="020B0604030504040204" pitchFamily="34" charset="-120"/>
            </a:rPr>
            <a:t>-</a:t>
          </a:r>
          <a:r>
            <a:rPr lang="zh-TW" altLang="en-US" sz="1800" b="1" kern="1200" dirty="0">
              <a:solidFill>
                <a:schemeClr val="bg1"/>
              </a:solidFill>
              <a:latin typeface="微軟正黑體" panose="020B0604030504040204" pitchFamily="34" charset="-120"/>
              <a:ea typeface="微軟正黑體" panose="020B0604030504040204" pitchFamily="34" charset="-120"/>
            </a:rPr>
            <a:t>第一階</a:t>
          </a:r>
        </a:p>
      </dsp:txBody>
      <dsp:txXfrm>
        <a:off x="2473263" y="2823115"/>
        <a:ext cx="1149472" cy="812800"/>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575" cy="4968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6038" y="0"/>
            <a:ext cx="2949575" cy="496888"/>
          </a:xfrm>
          <a:prstGeom prst="rect">
            <a:avLst/>
          </a:prstGeom>
        </p:spPr>
        <p:txBody>
          <a:bodyPr vert="horz" lIns="91440" tIns="45720" rIns="91440" bIns="45720" rtlCol="0"/>
          <a:lstStyle>
            <a:lvl1pPr algn="r">
              <a:defRPr sz="1200"/>
            </a:lvl1pPr>
          </a:lstStyle>
          <a:p>
            <a:fld id="{188B6EFF-4D65-4023-A172-372098C53788}" type="datetimeFigureOut">
              <a:rPr lang="zh-TW" altLang="en-US" smtClean="0"/>
              <a:t>2026/9/19</a:t>
            </a:fld>
            <a:endParaRPr lang="zh-TW" altLang="en-US"/>
          </a:p>
        </p:txBody>
      </p:sp>
      <p:sp>
        <p:nvSpPr>
          <p:cNvPr id="4" name="投影片圖像版面配置區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1038" y="4721225"/>
            <a:ext cx="5445125" cy="4471988"/>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40863"/>
            <a:ext cx="2949575" cy="4968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6038" y="9440863"/>
            <a:ext cx="2949575" cy="496887"/>
          </a:xfrm>
          <a:prstGeom prst="rect">
            <a:avLst/>
          </a:prstGeom>
        </p:spPr>
        <p:txBody>
          <a:bodyPr vert="horz" lIns="91440" tIns="45720" rIns="91440" bIns="45720" rtlCol="0" anchor="b"/>
          <a:lstStyle>
            <a:lvl1pPr algn="r">
              <a:defRPr sz="1200"/>
            </a:lvl1pPr>
          </a:lstStyle>
          <a:p>
            <a:fld id="{7D566FE3-3B01-4D87-9514-703160B894FF}" type="slidenum">
              <a:rPr lang="zh-TW" altLang="en-US" smtClean="0"/>
              <a:t>‹#›</a:t>
            </a:fld>
            <a:endParaRPr lang="zh-TW" altLang="en-US"/>
          </a:p>
        </p:txBody>
      </p:sp>
    </p:spTree>
    <p:extLst>
      <p:ext uri="{BB962C8B-B14F-4D97-AF65-F5344CB8AC3E}">
        <p14:creationId xmlns:p14="http://schemas.microsoft.com/office/powerpoint/2010/main" val="1839515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fontAlgn="base"/>
            <a:r>
              <a:rPr lang="zh-TW" altLang="en-US" b="0" i="0" dirty="0">
                <a:solidFill>
                  <a:srgbClr val="453E3E"/>
                </a:solidFill>
                <a:effectLst/>
                <a:latin typeface="Open Sans" panose="020B0606030504020204" pitchFamily="34" charset="0"/>
              </a:rPr>
              <a:t>專利權人可以使用以下三種方式擇一計算損害賠償金額：</a:t>
            </a:r>
          </a:p>
          <a:p>
            <a:pPr algn="l" fontAlgn="base"/>
            <a:r>
              <a:rPr lang="en-US" altLang="zh-TW" b="0" i="0" dirty="0">
                <a:solidFill>
                  <a:srgbClr val="453E3E"/>
                </a:solidFill>
                <a:effectLst/>
                <a:latin typeface="Open Sans" panose="020B0606030504020204" pitchFamily="34" charset="0"/>
              </a:rPr>
              <a:t>1.</a:t>
            </a:r>
            <a:r>
              <a:rPr lang="zh-TW" altLang="en-US" b="0" i="0" dirty="0">
                <a:solidFill>
                  <a:srgbClr val="453E3E"/>
                </a:solidFill>
                <a:effectLst/>
                <a:latin typeface="Open Sans" panose="020B0606030504020204" pitchFamily="34" charset="0"/>
              </a:rPr>
              <a:t>依</a:t>
            </a:r>
            <a:r>
              <a:rPr lang="en-US" altLang="zh-TW" b="0" i="0" dirty="0">
                <a:solidFill>
                  <a:srgbClr val="453E3E"/>
                </a:solidFill>
                <a:effectLst/>
                <a:latin typeface="Open Sans" panose="020B0606030504020204" pitchFamily="34" charset="0"/>
              </a:rPr>
              <a:t>《</a:t>
            </a:r>
            <a:r>
              <a:rPr lang="zh-TW" altLang="en-US" b="0" i="0" dirty="0">
                <a:solidFill>
                  <a:srgbClr val="453E3E"/>
                </a:solidFill>
                <a:effectLst/>
                <a:latin typeface="Open Sans" panose="020B0606030504020204" pitchFamily="34" charset="0"/>
              </a:rPr>
              <a:t>民法</a:t>
            </a:r>
            <a:r>
              <a:rPr lang="en-US" altLang="zh-TW" b="0" i="0" dirty="0">
                <a:solidFill>
                  <a:srgbClr val="453E3E"/>
                </a:solidFill>
                <a:effectLst/>
                <a:latin typeface="Open Sans" panose="020B0606030504020204" pitchFamily="34" charset="0"/>
              </a:rPr>
              <a:t>》</a:t>
            </a:r>
            <a:r>
              <a:rPr lang="zh-TW" altLang="en-US" b="0" i="0" dirty="0">
                <a:solidFill>
                  <a:srgbClr val="453E3E"/>
                </a:solidFill>
                <a:effectLst/>
                <a:latin typeface="Open Sans" panose="020B0606030504020204" pitchFamily="34" charset="0"/>
              </a:rPr>
              <a:t>第</a:t>
            </a:r>
            <a:r>
              <a:rPr lang="en-US" altLang="zh-TW" b="0" i="0" dirty="0">
                <a:solidFill>
                  <a:srgbClr val="453E3E"/>
                </a:solidFill>
                <a:effectLst/>
                <a:latin typeface="Open Sans" panose="020B0606030504020204" pitchFamily="34" charset="0"/>
              </a:rPr>
              <a:t>216</a:t>
            </a:r>
            <a:r>
              <a:rPr lang="zh-TW" altLang="en-US" b="0" i="0" dirty="0">
                <a:solidFill>
                  <a:srgbClr val="453E3E"/>
                </a:solidFill>
                <a:effectLst/>
                <a:latin typeface="Open Sans" panose="020B0606030504020204" pitchFamily="34" charset="0"/>
              </a:rPr>
              <a:t>條規定，不能提供證據方法以證明其損害時，專利權人可以依照</a:t>
            </a:r>
            <a:r>
              <a:rPr lang="zh-TW" altLang="en-US" b="1" i="0" dirty="0">
                <a:solidFill>
                  <a:srgbClr val="453E3E"/>
                </a:solidFill>
                <a:effectLst/>
                <a:latin typeface="Open Sans" panose="020B0606030504020204" pitchFamily="34" charset="0"/>
              </a:rPr>
              <a:t>實施專利權通常所可獲得之利益，減除受害後實施同一專利權所得之利益，以其差額為所受損害</a:t>
            </a:r>
            <a:r>
              <a:rPr lang="zh-TW" altLang="en-US" b="0" i="0" dirty="0">
                <a:solidFill>
                  <a:srgbClr val="453E3E"/>
                </a:solidFill>
                <a:effectLst/>
                <a:latin typeface="Open Sans" panose="020B0606030504020204" pitchFamily="34" charset="0"/>
              </a:rPr>
              <a:t>。</a:t>
            </a:r>
          </a:p>
          <a:p>
            <a:pPr algn="l" fontAlgn="base"/>
            <a:r>
              <a:rPr lang="en-US" altLang="zh-TW" b="0" i="0" dirty="0">
                <a:solidFill>
                  <a:srgbClr val="453E3E"/>
                </a:solidFill>
                <a:effectLst/>
                <a:latin typeface="Open Sans" panose="020B0606030504020204" pitchFamily="34" charset="0"/>
              </a:rPr>
              <a:t>2.</a:t>
            </a:r>
            <a:r>
              <a:rPr lang="zh-TW" altLang="en-US" b="0" i="0" dirty="0">
                <a:solidFill>
                  <a:srgbClr val="453E3E"/>
                </a:solidFill>
                <a:effectLst/>
                <a:latin typeface="Open Sans" panose="020B0606030504020204" pitchFamily="34" charset="0"/>
              </a:rPr>
              <a:t>依照侵害人因侵害行為所得之利益。</a:t>
            </a:r>
          </a:p>
          <a:p>
            <a:pPr algn="l" fontAlgn="base"/>
            <a:r>
              <a:rPr lang="en-US" altLang="zh-TW" b="0" i="0" dirty="0">
                <a:solidFill>
                  <a:srgbClr val="453E3E"/>
                </a:solidFill>
                <a:effectLst/>
                <a:latin typeface="Open Sans" panose="020B0606030504020204" pitchFamily="34" charset="0"/>
              </a:rPr>
              <a:t>3.</a:t>
            </a:r>
            <a:r>
              <a:rPr lang="zh-TW" altLang="en-US" b="0" i="0" dirty="0">
                <a:solidFill>
                  <a:srgbClr val="453E3E"/>
                </a:solidFill>
                <a:effectLst/>
                <a:latin typeface="Open Sans" panose="020B0606030504020204" pitchFamily="34" charset="0"/>
              </a:rPr>
              <a:t>依照授權實施該發明專利所得收取之合理權利金為基礎計算損害。</a:t>
            </a:r>
          </a:p>
          <a:p>
            <a:pPr algn="l" fontAlgn="base"/>
            <a:r>
              <a:rPr lang="zh-TW" altLang="en-US" b="0" i="0" dirty="0">
                <a:solidFill>
                  <a:srgbClr val="453E3E"/>
                </a:solidFill>
                <a:effectLst/>
                <a:latin typeface="Open Sans" panose="020B0606030504020204" pitchFamily="34" charset="0"/>
              </a:rPr>
              <a:t>若侵害的行為屬於故意，法院可依照被害人的請求，依照侵害的情節，將賠償提高至損害額以上，但</a:t>
            </a:r>
            <a:r>
              <a:rPr lang="zh-TW" altLang="en-US" b="1" i="0" dirty="0">
                <a:solidFill>
                  <a:srgbClr val="453E3E"/>
                </a:solidFill>
                <a:effectLst/>
                <a:latin typeface="Open Sans" panose="020B0606030504020204" pitchFamily="34" charset="0"/>
              </a:rPr>
              <a:t>不得超過已證明損害額之三倍</a:t>
            </a:r>
            <a:r>
              <a:rPr lang="zh-TW" altLang="en-US" b="0" i="0" dirty="0">
                <a:solidFill>
                  <a:srgbClr val="453E3E"/>
                </a:solidFill>
                <a:effectLst/>
                <a:latin typeface="Open Sans" panose="020B0606030504020204" pitchFamily="34" charset="0"/>
              </a:rPr>
              <a:t>。</a:t>
            </a:r>
          </a:p>
          <a:p>
            <a:endParaRPr lang="zh-TW" altLang="en-US" dirty="0"/>
          </a:p>
        </p:txBody>
      </p:sp>
      <p:sp>
        <p:nvSpPr>
          <p:cNvPr id="4" name="投影片編號版面配置區 3"/>
          <p:cNvSpPr>
            <a:spLocks noGrp="1"/>
          </p:cNvSpPr>
          <p:nvPr>
            <p:ph type="sldNum" sz="quarter" idx="5"/>
          </p:nvPr>
        </p:nvSpPr>
        <p:spPr/>
        <p:txBody>
          <a:bodyPr/>
          <a:lstStyle/>
          <a:p>
            <a:fld id="{7D566FE3-3B01-4D87-9514-703160B894FF}" type="slidenum">
              <a:rPr lang="zh-TW" altLang="en-US" smtClean="0"/>
              <a:t>25</a:t>
            </a:fld>
            <a:endParaRPr lang="zh-TW" altLang="en-US"/>
          </a:p>
        </p:txBody>
      </p:sp>
    </p:spTree>
    <p:extLst>
      <p:ext uri="{BB962C8B-B14F-4D97-AF65-F5344CB8AC3E}">
        <p14:creationId xmlns:p14="http://schemas.microsoft.com/office/powerpoint/2010/main" val="1463256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D566FE3-3B01-4D87-9514-703160B894FF}" type="slidenum">
              <a:rPr lang="zh-TW" altLang="en-US" smtClean="0"/>
              <a:t>33</a:t>
            </a:fld>
            <a:endParaRPr lang="zh-TW" altLang="en-US"/>
          </a:p>
        </p:txBody>
      </p:sp>
    </p:spTree>
    <p:extLst>
      <p:ext uri="{BB962C8B-B14F-4D97-AF65-F5344CB8AC3E}">
        <p14:creationId xmlns:p14="http://schemas.microsoft.com/office/powerpoint/2010/main" val="440119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投影片圖像版面配置區 1"/>
          <p:cNvSpPr>
            <a:spLocks noGrp="1" noRot="1" noChangeAspect="1" noTextEdit="1"/>
          </p:cNvSpPr>
          <p:nvPr>
            <p:ph type="sldImg"/>
          </p:nvPr>
        </p:nvSpPr>
        <p:spPr>
          <a:ln/>
        </p:spPr>
      </p:sp>
      <p:sp>
        <p:nvSpPr>
          <p:cNvPr id="84995" name="備忘稿版面配置區 2"/>
          <p:cNvSpPr>
            <a:spLocks noGrp="1"/>
          </p:cNvSpPr>
          <p:nvPr>
            <p:ph type="body" idx="1"/>
          </p:nvPr>
        </p:nvSpPr>
        <p:spPr>
          <a:noFill/>
          <a:ln/>
        </p:spPr>
        <p:txBody>
          <a:bodyPr/>
          <a:lstStyle/>
          <a:p>
            <a:pPr eaLnBrk="1" hangingPunct="1"/>
            <a:endParaRPr lang="zh-TW" altLang="en-US">
              <a:latin typeface="Times New Roman" pitchFamily="18" charset="0"/>
            </a:endParaRPr>
          </a:p>
        </p:txBody>
      </p:sp>
      <p:sp>
        <p:nvSpPr>
          <p:cNvPr id="84996" name="投影片編號版面配置區 3"/>
          <p:cNvSpPr>
            <a:spLocks noGrp="1"/>
          </p:cNvSpPr>
          <p:nvPr>
            <p:ph type="sldNum" sz="quarter" idx="5"/>
          </p:nvPr>
        </p:nvSpPr>
        <p:spPr>
          <a:noFill/>
        </p:spPr>
        <p:txBody>
          <a:bodyPr/>
          <a:lstStyle/>
          <a:p>
            <a:fld id="{F9D2EF73-FD2F-445A-A269-FDF4D6EB28D9}" type="slidenum">
              <a:rPr lang="zh-TW" altLang="en-US">
                <a:latin typeface="Times New Roman" pitchFamily="18" charset="0"/>
              </a:rPr>
              <a:pPr/>
              <a:t>42</a:t>
            </a:fld>
            <a:endParaRPr lang="zh-TW" altLang="en-US">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投影片圖像版面配置區 1"/>
          <p:cNvSpPr>
            <a:spLocks noGrp="1" noRot="1" noChangeAspect="1" noTextEdit="1"/>
          </p:cNvSpPr>
          <p:nvPr>
            <p:ph type="sldImg"/>
          </p:nvPr>
        </p:nvSpPr>
        <p:spPr>
          <a:ln/>
        </p:spPr>
      </p:sp>
      <p:sp>
        <p:nvSpPr>
          <p:cNvPr id="87043" name="備忘稿版面配置區 2"/>
          <p:cNvSpPr>
            <a:spLocks noGrp="1"/>
          </p:cNvSpPr>
          <p:nvPr>
            <p:ph type="body" idx="1"/>
          </p:nvPr>
        </p:nvSpPr>
        <p:spPr>
          <a:noFill/>
          <a:ln/>
        </p:spPr>
        <p:txBody>
          <a:bodyPr/>
          <a:lstStyle/>
          <a:p>
            <a:pPr eaLnBrk="1" hangingPunct="1"/>
            <a:endParaRPr lang="zh-TW" altLang="en-US">
              <a:latin typeface="Times New Roman" pitchFamily="18" charset="0"/>
            </a:endParaRPr>
          </a:p>
        </p:txBody>
      </p:sp>
      <p:sp>
        <p:nvSpPr>
          <p:cNvPr id="87044" name="投影片編號版面配置區 3"/>
          <p:cNvSpPr>
            <a:spLocks noGrp="1"/>
          </p:cNvSpPr>
          <p:nvPr>
            <p:ph type="sldNum" sz="quarter" idx="5"/>
          </p:nvPr>
        </p:nvSpPr>
        <p:spPr>
          <a:noFill/>
        </p:spPr>
        <p:txBody>
          <a:bodyPr/>
          <a:lstStyle/>
          <a:p>
            <a:fld id="{D46DE19E-D6AC-40A3-B896-AFC0BBE82185}" type="slidenum">
              <a:rPr lang="zh-TW" altLang="en-US">
                <a:latin typeface="Times New Roman" pitchFamily="18" charset="0"/>
              </a:rPr>
              <a:pPr/>
              <a:t>43</a:t>
            </a:fld>
            <a:endParaRPr lang="zh-TW" alt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投影片圖像版面配置區 1"/>
          <p:cNvSpPr>
            <a:spLocks noGrp="1" noRot="1" noChangeAspect="1" noTextEdit="1"/>
          </p:cNvSpPr>
          <p:nvPr>
            <p:ph type="sldImg"/>
          </p:nvPr>
        </p:nvSpPr>
        <p:spPr>
          <a:ln/>
        </p:spPr>
      </p:sp>
      <p:sp>
        <p:nvSpPr>
          <p:cNvPr id="90115" name="備忘稿版面配置區 2"/>
          <p:cNvSpPr>
            <a:spLocks noGrp="1"/>
          </p:cNvSpPr>
          <p:nvPr>
            <p:ph type="body" idx="1"/>
          </p:nvPr>
        </p:nvSpPr>
        <p:spPr>
          <a:noFill/>
          <a:ln/>
        </p:spPr>
        <p:txBody>
          <a:bodyPr/>
          <a:lstStyle/>
          <a:p>
            <a:pPr eaLnBrk="1" hangingPunct="1"/>
            <a:endParaRPr lang="zh-TW" altLang="en-US">
              <a:latin typeface="Times New Roman" pitchFamily="18" charset="0"/>
            </a:endParaRPr>
          </a:p>
        </p:txBody>
      </p:sp>
      <p:sp>
        <p:nvSpPr>
          <p:cNvPr id="90116" name="投影片編號版面配置區 3"/>
          <p:cNvSpPr>
            <a:spLocks noGrp="1"/>
          </p:cNvSpPr>
          <p:nvPr>
            <p:ph type="sldNum" sz="quarter" idx="5"/>
          </p:nvPr>
        </p:nvSpPr>
        <p:spPr>
          <a:noFill/>
        </p:spPr>
        <p:txBody>
          <a:bodyPr/>
          <a:lstStyle/>
          <a:p>
            <a:fld id="{0BB81E72-2F9C-40C6-AF5B-7A13E6BBEEF4}" type="slidenum">
              <a:rPr lang="zh-TW" altLang="en-US">
                <a:latin typeface="Times New Roman" pitchFamily="18" charset="0"/>
              </a:rPr>
              <a:pPr/>
              <a:t>44</a:t>
            </a:fld>
            <a:endParaRPr lang="zh-TW" alt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投影片圖像版面配置區 1"/>
          <p:cNvSpPr>
            <a:spLocks noGrp="1" noRot="1" noChangeAspect="1" noTextEdit="1"/>
          </p:cNvSpPr>
          <p:nvPr>
            <p:ph type="sldImg"/>
          </p:nvPr>
        </p:nvSpPr>
        <p:spPr>
          <a:ln/>
        </p:spPr>
      </p:sp>
      <p:sp>
        <p:nvSpPr>
          <p:cNvPr id="89091" name="備忘稿版面配置區 2"/>
          <p:cNvSpPr>
            <a:spLocks noGrp="1"/>
          </p:cNvSpPr>
          <p:nvPr>
            <p:ph type="body" idx="1"/>
          </p:nvPr>
        </p:nvSpPr>
        <p:spPr>
          <a:noFill/>
          <a:ln/>
        </p:spPr>
        <p:txBody>
          <a:bodyPr/>
          <a:lstStyle/>
          <a:p>
            <a:pPr eaLnBrk="1" hangingPunct="1"/>
            <a:endParaRPr lang="zh-TW" altLang="en-US">
              <a:latin typeface="Times New Roman" pitchFamily="18" charset="0"/>
            </a:endParaRPr>
          </a:p>
        </p:txBody>
      </p:sp>
      <p:sp>
        <p:nvSpPr>
          <p:cNvPr id="89092" name="投影片編號版面配置區 3"/>
          <p:cNvSpPr>
            <a:spLocks noGrp="1"/>
          </p:cNvSpPr>
          <p:nvPr>
            <p:ph type="sldNum" sz="quarter" idx="5"/>
          </p:nvPr>
        </p:nvSpPr>
        <p:spPr>
          <a:noFill/>
        </p:spPr>
        <p:txBody>
          <a:bodyPr/>
          <a:lstStyle/>
          <a:p>
            <a:fld id="{D18556E2-BEB0-4660-A0BD-D4B83C6771DA}" type="slidenum">
              <a:rPr lang="zh-TW" altLang="en-US">
                <a:latin typeface="Times New Roman" pitchFamily="18" charset="0"/>
              </a:rPr>
              <a:pPr/>
              <a:t>45</a:t>
            </a:fld>
            <a:endParaRPr lang="zh-TW" alt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投影片圖像版面配置區 1"/>
          <p:cNvSpPr>
            <a:spLocks noGrp="1" noRot="1" noChangeAspect="1" noTextEdit="1"/>
          </p:cNvSpPr>
          <p:nvPr>
            <p:ph type="sldImg"/>
          </p:nvPr>
        </p:nvSpPr>
        <p:spPr>
          <a:ln/>
        </p:spPr>
      </p:sp>
      <p:sp>
        <p:nvSpPr>
          <p:cNvPr id="89091" name="備忘稿版面配置區 2"/>
          <p:cNvSpPr>
            <a:spLocks noGrp="1"/>
          </p:cNvSpPr>
          <p:nvPr>
            <p:ph type="body" idx="1"/>
          </p:nvPr>
        </p:nvSpPr>
        <p:spPr>
          <a:noFill/>
          <a:ln/>
        </p:spPr>
        <p:txBody>
          <a:bodyPr/>
          <a:lstStyle/>
          <a:p>
            <a:pPr eaLnBrk="1" hangingPunct="1"/>
            <a:endParaRPr lang="zh-TW" altLang="en-US">
              <a:latin typeface="Times New Roman" pitchFamily="18" charset="0"/>
            </a:endParaRPr>
          </a:p>
        </p:txBody>
      </p:sp>
      <p:sp>
        <p:nvSpPr>
          <p:cNvPr id="89092" name="投影片編號版面配置區 3"/>
          <p:cNvSpPr>
            <a:spLocks noGrp="1"/>
          </p:cNvSpPr>
          <p:nvPr>
            <p:ph type="sldNum" sz="quarter" idx="5"/>
          </p:nvPr>
        </p:nvSpPr>
        <p:spPr>
          <a:noFill/>
        </p:spPr>
        <p:txBody>
          <a:bodyPr/>
          <a:lstStyle/>
          <a:p>
            <a:fld id="{D18556E2-BEB0-4660-A0BD-D4B83C6771DA}" type="slidenum">
              <a:rPr lang="zh-TW" altLang="en-US">
                <a:latin typeface="Times New Roman" pitchFamily="18" charset="0"/>
              </a:rPr>
              <a:pPr/>
              <a:t>46</a:t>
            </a:fld>
            <a:endParaRPr lang="zh-TW"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投影片圖像版面配置區 1"/>
          <p:cNvSpPr>
            <a:spLocks noGrp="1" noRot="1" noChangeAspect="1" noTextEdit="1"/>
          </p:cNvSpPr>
          <p:nvPr>
            <p:ph type="sldImg"/>
          </p:nvPr>
        </p:nvSpPr>
        <p:spPr>
          <a:ln/>
        </p:spPr>
      </p:sp>
      <p:sp>
        <p:nvSpPr>
          <p:cNvPr id="89091" name="備忘稿版面配置區 2"/>
          <p:cNvSpPr>
            <a:spLocks noGrp="1"/>
          </p:cNvSpPr>
          <p:nvPr>
            <p:ph type="body" idx="1"/>
          </p:nvPr>
        </p:nvSpPr>
        <p:spPr>
          <a:noFill/>
          <a:ln/>
        </p:spPr>
        <p:txBody>
          <a:bodyPr/>
          <a:lstStyle/>
          <a:p>
            <a:pPr eaLnBrk="1" hangingPunct="1"/>
            <a:endParaRPr lang="zh-TW" altLang="en-US">
              <a:latin typeface="Times New Roman" pitchFamily="18" charset="0"/>
            </a:endParaRPr>
          </a:p>
        </p:txBody>
      </p:sp>
      <p:sp>
        <p:nvSpPr>
          <p:cNvPr id="89092" name="投影片編號版面配置區 3"/>
          <p:cNvSpPr>
            <a:spLocks noGrp="1"/>
          </p:cNvSpPr>
          <p:nvPr>
            <p:ph type="sldNum" sz="quarter" idx="5"/>
          </p:nvPr>
        </p:nvSpPr>
        <p:spPr>
          <a:noFill/>
        </p:spPr>
        <p:txBody>
          <a:bodyPr/>
          <a:lstStyle/>
          <a:p>
            <a:fld id="{D18556E2-BEB0-4660-A0BD-D4B83C6771DA}" type="slidenum">
              <a:rPr lang="zh-TW" altLang="en-US">
                <a:latin typeface="Times New Roman" pitchFamily="18" charset="0"/>
              </a:rPr>
              <a:pPr/>
              <a:t>47</a:t>
            </a:fld>
            <a:endParaRPr lang="zh-TW" alt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投影片圖像版面配置區 1"/>
          <p:cNvSpPr>
            <a:spLocks noGrp="1" noRot="1" noChangeAspect="1" noTextEdit="1"/>
          </p:cNvSpPr>
          <p:nvPr>
            <p:ph type="sldImg"/>
          </p:nvPr>
        </p:nvSpPr>
        <p:spPr>
          <a:ln/>
        </p:spPr>
      </p:sp>
      <p:sp>
        <p:nvSpPr>
          <p:cNvPr id="89091" name="備忘稿版面配置區 2"/>
          <p:cNvSpPr>
            <a:spLocks noGrp="1"/>
          </p:cNvSpPr>
          <p:nvPr>
            <p:ph type="body" idx="1"/>
          </p:nvPr>
        </p:nvSpPr>
        <p:spPr>
          <a:noFill/>
          <a:ln/>
        </p:spPr>
        <p:txBody>
          <a:bodyPr/>
          <a:lstStyle/>
          <a:p>
            <a:pPr eaLnBrk="1" hangingPunct="1"/>
            <a:endParaRPr lang="zh-TW" altLang="en-US">
              <a:latin typeface="Times New Roman" pitchFamily="18" charset="0"/>
            </a:endParaRPr>
          </a:p>
        </p:txBody>
      </p:sp>
      <p:sp>
        <p:nvSpPr>
          <p:cNvPr id="89092" name="投影片編號版面配置區 3"/>
          <p:cNvSpPr>
            <a:spLocks noGrp="1"/>
          </p:cNvSpPr>
          <p:nvPr>
            <p:ph type="sldNum" sz="quarter" idx="5"/>
          </p:nvPr>
        </p:nvSpPr>
        <p:spPr>
          <a:noFill/>
        </p:spPr>
        <p:txBody>
          <a:bodyPr/>
          <a:lstStyle/>
          <a:p>
            <a:fld id="{D18556E2-BEB0-4660-A0BD-D4B83C6771DA}" type="slidenum">
              <a:rPr lang="zh-TW" altLang="en-US">
                <a:latin typeface="Times New Roman" pitchFamily="18" charset="0"/>
              </a:rPr>
              <a:pPr/>
              <a:t>48</a:t>
            </a:fld>
            <a:endParaRPr lang="zh-TW" altLang="en-US">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投影片圖像版面配置區 1"/>
          <p:cNvSpPr>
            <a:spLocks noGrp="1" noRot="1" noChangeAspect="1" noTextEdit="1"/>
          </p:cNvSpPr>
          <p:nvPr>
            <p:ph type="sldImg"/>
          </p:nvPr>
        </p:nvSpPr>
        <p:spPr>
          <a:ln/>
        </p:spPr>
      </p:sp>
      <p:sp>
        <p:nvSpPr>
          <p:cNvPr id="89091" name="備忘稿版面配置區 2"/>
          <p:cNvSpPr>
            <a:spLocks noGrp="1"/>
          </p:cNvSpPr>
          <p:nvPr>
            <p:ph type="body" idx="1"/>
          </p:nvPr>
        </p:nvSpPr>
        <p:spPr>
          <a:noFill/>
          <a:ln/>
        </p:spPr>
        <p:txBody>
          <a:bodyPr/>
          <a:lstStyle/>
          <a:p>
            <a:pPr eaLnBrk="1" hangingPunct="1"/>
            <a:endParaRPr lang="zh-TW" altLang="en-US">
              <a:latin typeface="Times New Roman" pitchFamily="18" charset="0"/>
            </a:endParaRPr>
          </a:p>
        </p:txBody>
      </p:sp>
      <p:sp>
        <p:nvSpPr>
          <p:cNvPr id="89092" name="投影片編號版面配置區 3"/>
          <p:cNvSpPr>
            <a:spLocks noGrp="1"/>
          </p:cNvSpPr>
          <p:nvPr>
            <p:ph type="sldNum" sz="quarter" idx="5"/>
          </p:nvPr>
        </p:nvSpPr>
        <p:spPr>
          <a:noFill/>
        </p:spPr>
        <p:txBody>
          <a:bodyPr/>
          <a:lstStyle/>
          <a:p>
            <a:fld id="{D18556E2-BEB0-4660-A0BD-D4B83C6771DA}" type="slidenum">
              <a:rPr lang="zh-TW" altLang="en-US">
                <a:latin typeface="Times New Roman" pitchFamily="18" charset="0"/>
              </a:rPr>
              <a:pPr/>
              <a:t>49</a:t>
            </a:fld>
            <a:endParaRPr lang="zh-TW" altLang="en-US">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投影片圖像版面配置區 1"/>
          <p:cNvSpPr>
            <a:spLocks noGrp="1" noRot="1" noChangeAspect="1" noTextEdit="1"/>
          </p:cNvSpPr>
          <p:nvPr>
            <p:ph type="sldImg"/>
          </p:nvPr>
        </p:nvSpPr>
        <p:spPr>
          <a:ln/>
        </p:spPr>
      </p:sp>
      <p:sp>
        <p:nvSpPr>
          <p:cNvPr id="88067" name="備忘稿版面配置區 2"/>
          <p:cNvSpPr>
            <a:spLocks noGrp="1"/>
          </p:cNvSpPr>
          <p:nvPr>
            <p:ph type="body" idx="1"/>
          </p:nvPr>
        </p:nvSpPr>
        <p:spPr>
          <a:noFill/>
          <a:ln/>
        </p:spPr>
        <p:txBody>
          <a:bodyPr/>
          <a:lstStyle/>
          <a:p>
            <a:pPr eaLnBrk="1" hangingPunct="1"/>
            <a:endParaRPr lang="zh-TW" altLang="en-US">
              <a:latin typeface="Times New Roman" pitchFamily="18" charset="0"/>
            </a:endParaRPr>
          </a:p>
        </p:txBody>
      </p:sp>
      <p:sp>
        <p:nvSpPr>
          <p:cNvPr id="88068" name="投影片編號版面配置區 3"/>
          <p:cNvSpPr>
            <a:spLocks noGrp="1"/>
          </p:cNvSpPr>
          <p:nvPr>
            <p:ph type="sldNum" sz="quarter" idx="5"/>
          </p:nvPr>
        </p:nvSpPr>
        <p:spPr>
          <a:noFill/>
        </p:spPr>
        <p:txBody>
          <a:bodyPr/>
          <a:lstStyle/>
          <a:p>
            <a:fld id="{057A2564-BB19-445C-8417-71A87920BA20}" type="slidenum">
              <a:rPr lang="zh-TW" altLang="en-US">
                <a:latin typeface="Times New Roman" pitchFamily="18" charset="0"/>
              </a:rPr>
              <a:pPr/>
              <a:t>51</a:t>
            </a:fld>
            <a:endParaRPr lang="zh-TW" altLang="en-US">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pPr>
              <a:defRPr/>
            </a:pPr>
            <a:fld id="{93D182BD-B72F-4277-8012-1FFCFE6D6CB9}" type="slidenum">
              <a:rPr lang="en-US" altLang="zh-TW" smtClean="0"/>
              <a:pPr>
                <a:defRPr/>
              </a:pPr>
              <a:t>53</a:t>
            </a:fld>
            <a:endParaRPr lang="en-US" altLang="zh-TW"/>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投影片圖像版面配置區 1"/>
          <p:cNvSpPr>
            <a:spLocks noGrp="1" noRot="1" noChangeAspect="1" noTextEdit="1"/>
          </p:cNvSpPr>
          <p:nvPr>
            <p:ph type="sldImg"/>
          </p:nvPr>
        </p:nvSpPr>
        <p:spPr>
          <a:ln/>
        </p:spPr>
      </p:sp>
      <p:sp>
        <p:nvSpPr>
          <p:cNvPr id="91139" name="備忘稿版面配置區 2"/>
          <p:cNvSpPr>
            <a:spLocks noGrp="1"/>
          </p:cNvSpPr>
          <p:nvPr>
            <p:ph type="body" idx="1"/>
          </p:nvPr>
        </p:nvSpPr>
        <p:spPr>
          <a:noFill/>
          <a:ln/>
        </p:spPr>
        <p:txBody>
          <a:bodyPr/>
          <a:lstStyle/>
          <a:p>
            <a:pPr eaLnBrk="1" hangingPunct="1"/>
            <a:endParaRPr lang="zh-TW" altLang="en-US"/>
          </a:p>
        </p:txBody>
      </p:sp>
      <p:sp>
        <p:nvSpPr>
          <p:cNvPr id="91140" name="投影片編號版面配置區 3"/>
          <p:cNvSpPr>
            <a:spLocks noGrp="1"/>
          </p:cNvSpPr>
          <p:nvPr>
            <p:ph type="sldNum" sz="quarter" idx="5"/>
          </p:nvPr>
        </p:nvSpPr>
        <p:spPr>
          <a:noFill/>
        </p:spPr>
        <p:txBody>
          <a:bodyPr/>
          <a:lstStyle/>
          <a:p>
            <a:fld id="{46A8FD8B-A120-45B7-B946-4481C38CD456}" type="slidenum">
              <a:rPr lang="zh-TW" altLang="en-US">
                <a:latin typeface="Times New Roman" pitchFamily="18" charset="0"/>
              </a:rPr>
              <a:pPr/>
              <a:t>54</a:t>
            </a:fld>
            <a:endParaRPr lang="zh-TW" altLang="en-US">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58</a:t>
            </a:fld>
            <a:endParaRPr lang="zh-TW"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59</a:t>
            </a:fld>
            <a:endParaRPr lang="zh-TW" altLang="en-US"/>
          </a:p>
        </p:txBody>
      </p:sp>
    </p:spTree>
    <p:extLst>
      <p:ext uri="{BB962C8B-B14F-4D97-AF65-F5344CB8AC3E}">
        <p14:creationId xmlns:p14="http://schemas.microsoft.com/office/powerpoint/2010/main" val="28523382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60</a:t>
            </a:fld>
            <a:endParaRPr lang="zh-TW"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61</a:t>
            </a:fld>
            <a:endParaRPr lang="zh-TW" altLang="en-US"/>
          </a:p>
        </p:txBody>
      </p:sp>
    </p:spTree>
    <p:extLst>
      <p:ext uri="{BB962C8B-B14F-4D97-AF65-F5344CB8AC3E}">
        <p14:creationId xmlns:p14="http://schemas.microsoft.com/office/powerpoint/2010/main" val="12822242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63</a:t>
            </a:fld>
            <a:endParaRPr lang="zh-TW"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64</a:t>
            </a:fld>
            <a:endParaRPr lang="zh-TW"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65</a:t>
            </a:fld>
            <a:endParaRPr lang="zh-TW"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66</a:t>
            </a:fld>
            <a:endParaRPr lang="zh-TW"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67</a:t>
            </a:fld>
            <a:endParaRPr lang="zh-TW"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latin typeface="標楷體" pitchFamily="65" charset="-120"/>
              <a:ea typeface="標楷體" pitchFamily="65" charset="-120"/>
            </a:endParaRPr>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68</a:t>
            </a:fld>
            <a:endParaRPr lang="zh-TW"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latin typeface="標楷體" pitchFamily="65" charset="-120"/>
              <a:ea typeface="標楷體" pitchFamily="65" charset="-120"/>
            </a:endParaRPr>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69</a:t>
            </a:fld>
            <a:endParaRPr lang="zh-TW"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latin typeface="標楷體" pitchFamily="65" charset="-120"/>
              <a:ea typeface="標楷體" pitchFamily="65" charset="-120"/>
            </a:endParaRPr>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70</a:t>
            </a:fld>
            <a:endParaRPr lang="zh-TW" altLang="en-US"/>
          </a:p>
        </p:txBody>
      </p:sp>
    </p:spTree>
    <p:extLst>
      <p:ext uri="{BB962C8B-B14F-4D97-AF65-F5344CB8AC3E}">
        <p14:creationId xmlns:p14="http://schemas.microsoft.com/office/powerpoint/2010/main" val="15352603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71</a:t>
            </a:fld>
            <a:endParaRPr lang="zh-TW"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72</a:t>
            </a:fld>
            <a:endParaRPr lang="zh-TW"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73</a:t>
            </a:fld>
            <a:endParaRPr lang="zh-TW"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74</a:t>
            </a:fld>
            <a:endParaRPr lang="zh-TW" altLang="en-US"/>
          </a:p>
        </p:txBody>
      </p:sp>
    </p:spTree>
    <p:extLst>
      <p:ext uri="{BB962C8B-B14F-4D97-AF65-F5344CB8AC3E}">
        <p14:creationId xmlns:p14="http://schemas.microsoft.com/office/powerpoint/2010/main" val="30597199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75</a:t>
            </a:fld>
            <a:endParaRPr lang="zh-TW" altLang="en-US"/>
          </a:p>
        </p:txBody>
      </p:sp>
    </p:spTree>
    <p:extLst>
      <p:ext uri="{BB962C8B-B14F-4D97-AF65-F5344CB8AC3E}">
        <p14:creationId xmlns:p14="http://schemas.microsoft.com/office/powerpoint/2010/main" val="25911290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智財法院</a:t>
            </a:r>
            <a:r>
              <a:rPr lang="en-US" altLang="zh-TW" dirty="0"/>
              <a:t>97</a:t>
            </a:r>
            <a:r>
              <a:rPr lang="zh-TW" altLang="en-US" dirty="0"/>
              <a:t>年度民專上字第</a:t>
            </a:r>
            <a:r>
              <a:rPr lang="en-US" altLang="zh-TW" dirty="0"/>
              <a:t>8</a:t>
            </a:r>
            <a:r>
              <a:rPr lang="zh-TW" altLang="en-US" dirty="0"/>
              <a:t>號判決</a:t>
            </a:r>
            <a:r>
              <a:rPr lang="en-US" altLang="zh-TW" dirty="0"/>
              <a:t>3</a:t>
            </a:r>
            <a:r>
              <a:rPr lang="zh-TW" altLang="en-US" dirty="0"/>
              <a:t>。此案所涉新型專利是一種塑膠容器用階式模具的「貼標結構」，其第</a:t>
            </a:r>
            <a:r>
              <a:rPr lang="en-US" altLang="zh-TW" dirty="0"/>
              <a:t>2</a:t>
            </a:r>
            <a:r>
              <a:rPr lang="zh-TW" altLang="en-US" dirty="0"/>
              <a:t>項請求項在修正後記載：「該貼標之槽適位於塑膠容器或製品之接合處，以使塑膠容器或製品與貼標充分一體成型結合」，將原來「標貼邊壁設槽」之限制要件刪除，使得該請求項之「貼標之槽」失去著落。但智財法院參酌說明書與圖式並參酌申請歷史檔案後認為：該請求項實質上仍應解釋為「標貼邊壁設槽」。此判決特別指出：「</a:t>
            </a:r>
            <a:r>
              <a:rPr lang="en-US" altLang="zh-TW" dirty="0"/>
              <a:t>『</a:t>
            </a:r>
            <a:r>
              <a:rPr lang="zh-TW" altLang="en-US" dirty="0"/>
              <a:t>貼標之槽</a:t>
            </a:r>
            <a:r>
              <a:rPr lang="en-US" altLang="zh-TW" dirty="0"/>
              <a:t>』</a:t>
            </a:r>
            <a:r>
              <a:rPr lang="zh-TW" altLang="en-US" dirty="0"/>
              <a:t>該槽確切位置係請求項文字所無法完全直接表現出來，</a:t>
            </a:r>
            <a:r>
              <a:rPr lang="en-US" altLang="zh-TW" dirty="0"/>
              <a:t>…</a:t>
            </a:r>
            <a:r>
              <a:rPr lang="zh-TW" altLang="en-US" dirty="0"/>
              <a:t>即係</a:t>
            </a:r>
            <a:r>
              <a:rPr lang="en-US" altLang="zh-TW" dirty="0"/>
              <a:t>『</a:t>
            </a:r>
            <a:r>
              <a:rPr lang="zh-TW" altLang="en-US" dirty="0"/>
              <a:t>解釋申請專利範圍時，並得審酌發明說明及圖式</a:t>
            </a:r>
            <a:r>
              <a:rPr lang="en-US" altLang="zh-TW" dirty="0"/>
              <a:t>』</a:t>
            </a:r>
            <a:r>
              <a:rPr lang="zh-TW" altLang="en-US" dirty="0"/>
              <a:t>之情事」</a:t>
            </a:r>
            <a:endParaRPr lang="zh-TW" altLang="en-US" dirty="0">
              <a:latin typeface="標楷體" pitchFamily="65" charset="-120"/>
              <a:ea typeface="標楷體" pitchFamily="65" charset="-120"/>
            </a:endParaRPr>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76</a:t>
            </a:fld>
            <a:endParaRPr lang="zh-TW"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Autofit/>
          </a:bodyPr>
          <a:lstStyle/>
          <a:p>
            <a:endParaRPr lang="zh-TW" altLang="en-US" sz="500" dirty="0"/>
          </a:p>
        </p:txBody>
      </p:sp>
      <p:sp>
        <p:nvSpPr>
          <p:cNvPr id="4" name="投影片編號版面配置區 3"/>
          <p:cNvSpPr>
            <a:spLocks noGrp="1"/>
          </p:cNvSpPr>
          <p:nvPr>
            <p:ph type="sldNum" sz="quarter" idx="10"/>
          </p:nvPr>
        </p:nvSpPr>
        <p:spPr/>
        <p:txBody>
          <a:bodyPr/>
          <a:lstStyle/>
          <a:p>
            <a:fld id="{CC030CB9-F0BC-4B7A-B059-74F83B1A7046}" type="slidenum">
              <a:rPr lang="zh-TW" altLang="en-US" smtClean="0"/>
              <a:pPr/>
              <a:t>77</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8.jpeg"/><Relationship Id="rId1" Type="http://schemas.openxmlformats.org/officeDocument/2006/relationships/slideMaster" Target="../slideMasters/slideMaster2.xml"/><Relationship Id="rId4" Type="http://schemas.openxmlformats.org/officeDocument/2006/relationships/image" Target="../media/image9.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_標題投影片">
    <p:spTree>
      <p:nvGrpSpPr>
        <p:cNvPr id="1" name=""/>
        <p:cNvGrpSpPr/>
        <p:nvPr/>
      </p:nvGrpSpPr>
      <p:grpSpPr>
        <a:xfrm>
          <a:off x="0" y="0"/>
          <a:ext cx="0" cy="0"/>
          <a:chOff x="0" y="0"/>
          <a:chExt cx="0" cy="0"/>
        </a:xfrm>
      </p:grpSpPr>
      <p:pic>
        <p:nvPicPr>
          <p:cNvPr id="10" name="圖片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748363" y="3789040"/>
            <a:ext cx="6280021" cy="344324"/>
          </a:xfrm>
          <a:prstGeom prst="rect">
            <a:avLst/>
          </a:prstGeom>
        </p:spPr>
      </p:pic>
      <p:sp>
        <p:nvSpPr>
          <p:cNvPr id="2" name="標題 1"/>
          <p:cNvSpPr>
            <a:spLocks noGrp="1"/>
          </p:cNvSpPr>
          <p:nvPr>
            <p:ph type="ctrTitle"/>
          </p:nvPr>
        </p:nvSpPr>
        <p:spPr>
          <a:xfrm>
            <a:off x="685800" y="2204864"/>
            <a:ext cx="7772400" cy="1761027"/>
          </a:xfrm>
        </p:spPr>
        <p:txBody>
          <a:bodyPr/>
          <a:lstStyle/>
          <a:p>
            <a:r>
              <a:rPr lang="zh-TW" altLang="en-US" dirty="0"/>
              <a:t>按一下以編輯母片標題樣式</a:t>
            </a:r>
          </a:p>
        </p:txBody>
      </p:sp>
      <p:sp>
        <p:nvSpPr>
          <p:cNvPr id="4" name="日期版面配置區 3"/>
          <p:cNvSpPr>
            <a:spLocks noGrp="1"/>
          </p:cNvSpPr>
          <p:nvPr>
            <p:ph type="dt" sz="half" idx="10"/>
          </p:nvPr>
        </p:nvSpPr>
        <p:spPr/>
        <p:txBody>
          <a:bodyPr/>
          <a:lstStyle/>
          <a:p>
            <a:fld id="{D2E7DBD4-8612-4F3F-B9A4-014AD52AEE07}"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dirty="0"/>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t>‹#›</a:t>
            </a:fld>
            <a:endParaRPr lang="zh-TW" altLang="en-US"/>
          </a:p>
        </p:txBody>
      </p:sp>
      <p:sp>
        <p:nvSpPr>
          <p:cNvPr id="12" name="文字方塊 29"/>
          <p:cNvSpPr txBox="1">
            <a:spLocks noChangeArrowheads="1"/>
          </p:cNvSpPr>
          <p:nvPr userDrawn="1"/>
        </p:nvSpPr>
        <p:spPr bwMode="auto">
          <a:xfrm>
            <a:off x="1259632" y="404664"/>
            <a:ext cx="2736304"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gn="dist" fontAlgn="base">
              <a:spcAft>
                <a:spcPts val="300"/>
              </a:spcAft>
            </a:pPr>
            <a:endParaRPr lang="zh-TW" sz="1400" kern="1200" dirty="0">
              <a:solidFill>
                <a:srgbClr val="3366FF"/>
              </a:solidFill>
              <a:effectLst/>
              <a:latin typeface="Corbel"/>
              <a:ea typeface="微軟正黑體"/>
              <a:cs typeface="Times New Roman"/>
            </a:endParaRPr>
          </a:p>
        </p:txBody>
      </p:sp>
      <p:pic>
        <p:nvPicPr>
          <p:cNvPr id="3" name="圖片 2" descr="一張含有 燈泡 的圖片&#10;&#10;AI 產生的內容可能不正確。">
            <a:extLst>
              <a:ext uri="{FF2B5EF4-FFF2-40B4-BE49-F238E27FC236}">
                <a16:creationId xmlns:a16="http://schemas.microsoft.com/office/drawing/2014/main" id="{8DFD6F38-E34A-908A-DE95-D94EEA2FA04A}"/>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488143" y="2680839"/>
            <a:ext cx="1457878" cy="1496321"/>
          </a:xfrm>
          <a:prstGeom prst="rect">
            <a:avLst/>
          </a:prstGeom>
        </p:spPr>
      </p:pic>
    </p:spTree>
    <p:extLst>
      <p:ext uri="{BB962C8B-B14F-4D97-AF65-F5344CB8AC3E}">
        <p14:creationId xmlns:p14="http://schemas.microsoft.com/office/powerpoint/2010/main" val="268118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Ref idx="1001">
        <a:schemeClr val="bg1"/>
      </p:bgRef>
    </p:bg>
    <p:spTree>
      <p:nvGrpSpPr>
        <p:cNvPr id="1" name=""/>
        <p:cNvGrpSpPr/>
        <p:nvPr/>
      </p:nvGrpSpPr>
      <p:grpSpPr>
        <a:xfrm>
          <a:off x="0" y="0"/>
          <a:ext cx="0" cy="0"/>
          <a:chOff x="0" y="0"/>
          <a:chExt cx="0" cy="0"/>
        </a:xfrm>
      </p:grpSpPr>
      <p:pic>
        <p:nvPicPr>
          <p:cNvPr id="11" name="圖片 10" descr="一張含有 燈泡 的圖片&#10;&#10;AI 產生的內容可能不正確。">
            <a:extLst>
              <a:ext uri="{FF2B5EF4-FFF2-40B4-BE49-F238E27FC236}">
                <a16:creationId xmlns:a16="http://schemas.microsoft.com/office/drawing/2014/main" id="{5E7D4647-2F66-9F57-7A50-A71E86CD3AB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23528" y="1052736"/>
            <a:ext cx="3617337" cy="3712723"/>
          </a:xfrm>
          <a:prstGeom prst="rect">
            <a:avLst/>
          </a:prstGeom>
        </p:spPr>
      </p:pic>
      <p:sp>
        <p:nvSpPr>
          <p:cNvPr id="2" name="標題 1"/>
          <p:cNvSpPr>
            <a:spLocks noGrp="1"/>
          </p:cNvSpPr>
          <p:nvPr>
            <p:ph type="ctrTitle"/>
          </p:nvPr>
        </p:nvSpPr>
        <p:spPr>
          <a:xfrm>
            <a:off x="823156" y="1715541"/>
            <a:ext cx="7772400" cy="1761027"/>
          </a:xfrm>
          <a:prstGeom prst="rect">
            <a:avLst/>
          </a:prstGeom>
        </p:spPr>
        <p:txBody>
          <a:bodyPr/>
          <a:lstStyle>
            <a:lvl1pPr>
              <a:defRPr>
                <a:solidFill>
                  <a:srgbClr val="6699FF"/>
                </a:solidFill>
                <a:latin typeface="Adobe 繁黑體 Std B"/>
                <a:ea typeface="Adobe 繁黑體 Std B"/>
                <a:cs typeface="Adobe 繁黑體 Std B"/>
              </a:defRPr>
            </a:lvl1pPr>
          </a:lstStyle>
          <a:p>
            <a:r>
              <a:rPr lang="zh-TW" altLang="en-US"/>
              <a:t>按一下以編輯母片標題樣式</a:t>
            </a:r>
            <a:endParaRPr lang="zh-TW" altLang="en-US" dirty="0"/>
          </a:p>
        </p:txBody>
      </p:sp>
      <p:sp>
        <p:nvSpPr>
          <p:cNvPr id="3" name="副標題 2"/>
          <p:cNvSpPr>
            <a:spLocks noGrp="1"/>
          </p:cNvSpPr>
          <p:nvPr>
            <p:ph type="subTitle" idx="1"/>
          </p:nvPr>
        </p:nvSpPr>
        <p:spPr>
          <a:xfrm>
            <a:off x="1403648" y="3717032"/>
            <a:ext cx="6400800" cy="1176536"/>
          </a:xfrm>
        </p:spPr>
        <p:txBody>
          <a:bodyPr/>
          <a:lstStyle>
            <a:lvl1pPr marL="0" indent="0" algn="ctr">
              <a:buNone/>
              <a:defRPr>
                <a:solidFill>
                  <a:srgbClr val="6699FF"/>
                </a:solidFill>
                <a:latin typeface="Adobe 繁黑體 Std B"/>
                <a:ea typeface="Adobe 繁黑體 Std B"/>
                <a:cs typeface="Adobe 繁黑體 Std B"/>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zh-TW" altLang="en-US" dirty="0"/>
          </a:p>
        </p:txBody>
      </p:sp>
      <p:pic>
        <p:nvPicPr>
          <p:cNvPr id="7" name="圖片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31640" y="4462180"/>
            <a:ext cx="6836421" cy="60853"/>
          </a:xfrm>
          <a:prstGeom prst="rect">
            <a:avLst/>
          </a:prstGeom>
        </p:spPr>
      </p:pic>
      <p:pic>
        <p:nvPicPr>
          <p:cNvPr id="8" name="圖片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10800000">
            <a:off x="1835697" y="4614580"/>
            <a:ext cx="6836421" cy="60853"/>
          </a:xfrm>
          <a:prstGeom prst="rect">
            <a:avLst/>
          </a:prstGeom>
        </p:spPr>
      </p:pic>
      <p:pic>
        <p:nvPicPr>
          <p:cNvPr id="6" name="圖片 5">
            <a:extLst>
              <a:ext uri="{FF2B5EF4-FFF2-40B4-BE49-F238E27FC236}">
                <a16:creationId xmlns:a16="http://schemas.microsoft.com/office/drawing/2014/main" id="{E8056F11-600C-036F-D22C-356A960D389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31640" y="4462180"/>
            <a:ext cx="6836421" cy="60853"/>
          </a:xfrm>
          <a:prstGeom prst="rect">
            <a:avLst/>
          </a:prstGeom>
        </p:spPr>
      </p:pic>
      <p:pic>
        <p:nvPicPr>
          <p:cNvPr id="9" name="圖片 8">
            <a:extLst>
              <a:ext uri="{FF2B5EF4-FFF2-40B4-BE49-F238E27FC236}">
                <a16:creationId xmlns:a16="http://schemas.microsoft.com/office/drawing/2014/main" id="{DE419586-B569-151E-5104-063AA4A313B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0800000">
            <a:off x="1835697" y="4614580"/>
            <a:ext cx="6836421" cy="60853"/>
          </a:xfrm>
          <a:prstGeom prst="rect">
            <a:avLst/>
          </a:prstGeom>
        </p:spPr>
      </p:pic>
    </p:spTree>
    <p:extLst>
      <p:ext uri="{BB962C8B-B14F-4D97-AF65-F5344CB8AC3E}">
        <p14:creationId xmlns:p14="http://schemas.microsoft.com/office/powerpoint/2010/main" val="405695675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9B471EA-CFE9-42FE-9589-FFC889365F6A}" type="datetime1">
              <a:rPr lang="zh-TW" altLang="en-US" smtClean="0"/>
              <a:t>2026/9/19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1D2D507-09EA-4C6F-96ED-053C801F8797}" type="slidenum">
              <a:rPr lang="zh-TW" altLang="en-US" smtClean="0"/>
              <a:pPr/>
              <a:t>‹#›</a:t>
            </a:fld>
            <a:endParaRPr lang="zh-TW" altLang="en-US"/>
          </a:p>
        </p:txBody>
      </p:sp>
    </p:spTree>
    <p:extLst>
      <p:ext uri="{BB962C8B-B14F-4D97-AF65-F5344CB8AC3E}">
        <p14:creationId xmlns:p14="http://schemas.microsoft.com/office/powerpoint/2010/main" val="3302797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E2367E37-2899-411D-BACF-9F18CB33AF54}"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45900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539552" y="2954"/>
            <a:ext cx="8229600" cy="761750"/>
          </a:xfrm>
          <a:prstGeom prst="rect">
            <a:avLst/>
          </a:prstGeom>
        </p:spPr>
        <p:txBody>
          <a:bodyPr/>
          <a:lstStyle>
            <a:lvl1pPr>
              <a:defRPr sz="3600">
                <a:latin typeface="微軟正黑體" panose="020B0604030504040204" pitchFamily="34" charset="-120"/>
                <a:ea typeface="微軟正黑體" panose="020B0604030504040204" pitchFamily="34" charset="-120"/>
              </a:defRPr>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57200" y="980728"/>
            <a:ext cx="8229600" cy="5328592"/>
          </a:xfrm>
        </p:spPr>
        <p:txBody>
          <a:bodyPr/>
          <a:lstStyle>
            <a:lvl1pPr>
              <a:defRPr>
                <a:solidFill>
                  <a:schemeClr val="tx1"/>
                </a:solidFill>
                <a:latin typeface="微軟正黑體" panose="020B0604030504040204" pitchFamily="34" charset="-120"/>
                <a:ea typeface="微軟正黑體" panose="020B0604030504040204" pitchFamily="34" charset="-120"/>
              </a:defRPr>
            </a:lvl1pPr>
            <a:lvl2pPr>
              <a:defRPr>
                <a:solidFill>
                  <a:schemeClr val="tx1"/>
                </a:solidFill>
                <a:latin typeface="微軟正黑體" panose="020B0604030504040204" pitchFamily="34" charset="-120"/>
                <a:ea typeface="微軟正黑體" panose="020B0604030504040204" pitchFamily="34" charset="-120"/>
              </a:defRPr>
            </a:lvl2pPr>
            <a:lvl3pPr>
              <a:defRPr>
                <a:solidFill>
                  <a:schemeClr val="tx1"/>
                </a:solidFill>
                <a:latin typeface="微軟正黑體" panose="020B0604030504040204" pitchFamily="34" charset="-120"/>
                <a:ea typeface="微軟正黑體" panose="020B0604030504040204" pitchFamily="34" charset="-120"/>
              </a:defRPr>
            </a:lvl3pPr>
            <a:lvl4pPr>
              <a:defRPr>
                <a:solidFill>
                  <a:schemeClr val="tx1"/>
                </a:solidFill>
                <a:latin typeface="微軟正黑體" panose="020B0604030504040204" pitchFamily="34" charset="-120"/>
                <a:ea typeface="微軟正黑體" panose="020B0604030504040204" pitchFamily="34" charset="-120"/>
              </a:defRPr>
            </a:lvl4pPr>
            <a:lvl5pPr>
              <a:defRPr>
                <a:solidFill>
                  <a:schemeClr val="tx1"/>
                </a:solidFill>
                <a:latin typeface="微軟正黑體" panose="020B0604030504040204" pitchFamily="34" charset="-120"/>
                <a:ea typeface="微軟正黑體" panose="020B0604030504040204" pitchFamily="34" charset="-12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1164A71A-3B63-4246-AE96-5450EFE32B63}"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1379966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539552" y="2954"/>
            <a:ext cx="8229600" cy="761750"/>
          </a:xfrm>
          <a:prstGeom prst="rect">
            <a:avLst/>
          </a:prstGeom>
        </p:spPr>
        <p:txBody>
          <a:bodyPr/>
          <a:lstStyle>
            <a:lvl1pPr>
              <a:defRPr sz="3600">
                <a:latin typeface="微軟正黑體" panose="020B0604030504040204" pitchFamily="34" charset="-120"/>
                <a:ea typeface="微軟正黑體" panose="020B0604030504040204" pitchFamily="34" charset="-120"/>
              </a:defRPr>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57200" y="980728"/>
            <a:ext cx="8229600" cy="5328592"/>
          </a:xfrm>
        </p:spPr>
        <p:txBody>
          <a:bodyPr/>
          <a:lstStyle>
            <a:lvl1pPr>
              <a:defRPr>
                <a:solidFill>
                  <a:schemeClr val="tx1"/>
                </a:solidFill>
                <a:latin typeface="微軟正黑體" panose="020B0604030504040204" pitchFamily="34" charset="-120"/>
                <a:ea typeface="微軟正黑體" panose="020B0604030504040204" pitchFamily="34" charset="-120"/>
              </a:defRPr>
            </a:lvl1pPr>
            <a:lvl2pPr>
              <a:defRPr>
                <a:solidFill>
                  <a:schemeClr val="tx1"/>
                </a:solidFill>
                <a:latin typeface="微軟正黑體" panose="020B0604030504040204" pitchFamily="34" charset="-120"/>
                <a:ea typeface="微軟正黑體" panose="020B0604030504040204" pitchFamily="34" charset="-120"/>
              </a:defRPr>
            </a:lvl2pPr>
            <a:lvl3pPr>
              <a:defRPr>
                <a:solidFill>
                  <a:schemeClr val="tx1"/>
                </a:solidFill>
                <a:latin typeface="微軟正黑體" panose="020B0604030504040204" pitchFamily="34" charset="-120"/>
                <a:ea typeface="微軟正黑體" panose="020B0604030504040204" pitchFamily="34" charset="-120"/>
              </a:defRPr>
            </a:lvl3pPr>
            <a:lvl4pPr>
              <a:defRPr>
                <a:solidFill>
                  <a:schemeClr val="tx1"/>
                </a:solidFill>
                <a:latin typeface="微軟正黑體" panose="020B0604030504040204" pitchFamily="34" charset="-120"/>
                <a:ea typeface="微軟正黑體" panose="020B0604030504040204" pitchFamily="34" charset="-120"/>
              </a:defRPr>
            </a:lvl4pPr>
            <a:lvl5pPr>
              <a:defRPr>
                <a:solidFill>
                  <a:schemeClr val="tx1"/>
                </a:solidFill>
                <a:latin typeface="微軟正黑體" panose="020B0604030504040204" pitchFamily="34" charset="-120"/>
                <a:ea typeface="微軟正黑體" panose="020B0604030504040204" pitchFamily="34" charset="-12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2B3A6C1-8227-48A2-87EC-B7529A2E6DF0}"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pPr/>
              <a:t>‹#›</a:t>
            </a:fld>
            <a:endParaRPr lang="zh-TW" altLang="en-US"/>
          </a:p>
        </p:txBody>
      </p:sp>
    </p:spTree>
    <p:extLst>
      <p:ext uri="{BB962C8B-B14F-4D97-AF65-F5344CB8AC3E}">
        <p14:creationId xmlns:p14="http://schemas.microsoft.com/office/powerpoint/2010/main" val="335013280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3F8BD266-E04C-4603-82FA-F5C9C938604C}"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2459027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90028123-6E45-4BE2-8E46-389C4D5ADC91}" type="datetime1">
              <a:rPr lang="zh-TW" altLang="en-US" smtClean="0"/>
              <a:t>2026/9/19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3749867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67FBC44E-8F5E-4075-8A40-3CDE82F7FA15}" type="datetime1">
              <a:rPr lang="zh-TW" altLang="en-US" smtClean="0"/>
              <a:t>2026/9/19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2073046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C0EA4A3A-10EF-4884-9905-7D1508F182B2}" type="datetime1">
              <a:rPr lang="zh-TW" altLang="en-US" smtClean="0"/>
              <a:t>2026/9/19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3078810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DC10541-2D33-4055-8D6B-814C29388D94}" type="datetime1">
              <a:rPr lang="zh-TW" altLang="en-US" smtClean="0"/>
              <a:t>2026/9/19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282171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D8144893-EA72-4E23-9B40-884A0687C88D}" type="datetime1">
              <a:rPr lang="zh-TW" altLang="en-US" smtClean="0"/>
              <a:t>2026/9/19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3378838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AAD3A58E-94C0-476F-9DAB-6D2632AB4C11}" type="datetime1">
              <a:rPr lang="zh-TW" altLang="en-US" smtClean="0"/>
              <a:t>2026/9/19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3075605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3649FAD-13A3-4DB8-A4FF-642EE01DC972}"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596329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197465AB-4101-4EE2-AD2A-42755E833FDC}"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2970622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自訂版面配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2B3A6C1-8227-48A2-87EC-B7529A2E6DF0}" type="datetime1">
              <a:rPr lang="zh-TW" altLang="en-US" smtClean="0"/>
              <a:t>2026/9/19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1D2D507-09EA-4C6F-96ED-053C801F8797}" type="slidenum">
              <a:rPr lang="zh-TW" altLang="en-US" smtClean="0"/>
              <a:pPr/>
              <a:t>‹#›</a:t>
            </a:fld>
            <a:endParaRPr lang="zh-TW" altLang="en-US"/>
          </a:p>
        </p:txBody>
      </p:sp>
    </p:spTree>
    <p:extLst>
      <p:ext uri="{BB962C8B-B14F-4D97-AF65-F5344CB8AC3E}">
        <p14:creationId xmlns:p14="http://schemas.microsoft.com/office/powerpoint/2010/main" val="2686360116"/>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2_標題投影片">
    <p:spTree>
      <p:nvGrpSpPr>
        <p:cNvPr id="1" name=""/>
        <p:cNvGrpSpPr/>
        <p:nvPr/>
      </p:nvGrpSpPr>
      <p:grpSpPr>
        <a:xfrm>
          <a:off x="0" y="0"/>
          <a:ext cx="0" cy="0"/>
          <a:chOff x="0" y="0"/>
          <a:chExt cx="0" cy="0"/>
        </a:xfrm>
      </p:grpSpPr>
      <p:pic>
        <p:nvPicPr>
          <p:cNvPr id="13" name="圖片 1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26885" y="2931213"/>
            <a:ext cx="1208811" cy="1202152"/>
          </a:xfrm>
          <a:prstGeom prst="rect">
            <a:avLst/>
          </a:prstGeom>
        </p:spPr>
      </p:pic>
      <p:pic>
        <p:nvPicPr>
          <p:cNvPr id="10" name="圖片 9"/>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748363" y="3789040"/>
            <a:ext cx="6280021" cy="344324"/>
          </a:xfrm>
          <a:prstGeom prst="rect">
            <a:avLst/>
          </a:prstGeom>
        </p:spPr>
      </p:pic>
      <p:sp>
        <p:nvSpPr>
          <p:cNvPr id="2" name="標題 1"/>
          <p:cNvSpPr>
            <a:spLocks noGrp="1"/>
          </p:cNvSpPr>
          <p:nvPr>
            <p:ph type="ctrTitle"/>
          </p:nvPr>
        </p:nvSpPr>
        <p:spPr>
          <a:xfrm>
            <a:off x="683568" y="2204864"/>
            <a:ext cx="7772400" cy="1761027"/>
          </a:xfrm>
          <a:prstGeom prst="rect">
            <a:avLst/>
          </a:prstGeom>
        </p:spPr>
        <p:txBody>
          <a:bodyPr>
            <a:normAutofit/>
          </a:bodyPr>
          <a:lstStyle>
            <a:lvl1pPr>
              <a:defRPr sz="4400" b="1">
                <a:solidFill>
                  <a:schemeClr val="accent4">
                    <a:lumMod val="50000"/>
                  </a:schemeClr>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4" name="日期版面配置區 3"/>
          <p:cNvSpPr>
            <a:spLocks noGrp="1"/>
          </p:cNvSpPr>
          <p:nvPr>
            <p:ph type="dt" sz="half" idx="10"/>
          </p:nvPr>
        </p:nvSpPr>
        <p:spPr/>
        <p:txBody>
          <a:bodyPr/>
          <a:lstStyle/>
          <a:p>
            <a:fld id="{9C5E358A-600C-4E3C-B688-CCFC8AFB48C3}"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dirty="0"/>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t>‹#›</a:t>
            </a:fld>
            <a:endParaRPr lang="zh-TW" altLang="en-US"/>
          </a:p>
        </p:txBody>
      </p:sp>
      <p:sp>
        <p:nvSpPr>
          <p:cNvPr id="12" name="文字方塊 29"/>
          <p:cNvSpPr txBox="1">
            <a:spLocks noChangeArrowheads="1"/>
          </p:cNvSpPr>
          <p:nvPr userDrawn="1"/>
        </p:nvSpPr>
        <p:spPr bwMode="auto">
          <a:xfrm>
            <a:off x="1259632" y="404664"/>
            <a:ext cx="2736304"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gn="dist" fontAlgn="base">
              <a:spcAft>
                <a:spcPts val="300"/>
              </a:spcAft>
            </a:pPr>
            <a:endParaRPr lang="zh-TW" sz="1400" kern="1200" dirty="0">
              <a:solidFill>
                <a:srgbClr val="3366FF"/>
              </a:solidFill>
              <a:effectLst/>
              <a:latin typeface="Corbel"/>
              <a:ea typeface="微軟正黑體"/>
              <a:cs typeface="Times New Roman"/>
            </a:endParaRPr>
          </a:p>
        </p:txBody>
      </p:sp>
      <p:pic>
        <p:nvPicPr>
          <p:cNvPr id="11" name="圖片 10" descr="C:\Users\00531\Desktop\本局母片\局徽\TIPO字版-1.jpg"/>
          <p:cNvPicPr/>
          <p:nvPr userDrawn="1"/>
        </p:nvPicPr>
        <p:blipFill>
          <a:blip r:embed="rId4" cstate="email">
            <a:clrChange>
              <a:clrFrom>
                <a:srgbClr val="FFFFFE"/>
              </a:clrFrom>
              <a:clrTo>
                <a:srgbClr val="FFFFFE">
                  <a:alpha val="0"/>
                </a:srgbClr>
              </a:clrTo>
            </a:clrChange>
            <a:extLst>
              <a:ext uri="{28A0092B-C50C-407E-A947-70E740481C1C}">
                <a14:useLocalDpi xmlns:a14="http://schemas.microsoft.com/office/drawing/2010/main"/>
              </a:ext>
            </a:extLst>
          </a:blip>
          <a:srcRect/>
          <a:stretch>
            <a:fillRect/>
          </a:stretch>
        </p:blipFill>
        <p:spPr bwMode="auto">
          <a:xfrm>
            <a:off x="6444208" y="3284984"/>
            <a:ext cx="1584176" cy="1008112"/>
          </a:xfrm>
          <a:prstGeom prst="rect">
            <a:avLst/>
          </a:prstGeom>
          <a:noFill/>
          <a:ln>
            <a:noFill/>
          </a:ln>
        </p:spPr>
      </p:pic>
    </p:spTree>
    <p:extLst>
      <p:ext uri="{BB962C8B-B14F-4D97-AF65-F5344CB8AC3E}">
        <p14:creationId xmlns:p14="http://schemas.microsoft.com/office/powerpoint/2010/main" val="3120856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自訂版面配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9B471EA-CFE9-42FE-9589-FFC889365F6A}" type="datetime1">
              <a:rPr lang="zh-TW" altLang="en-US" smtClean="0"/>
              <a:t>2026/9/19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1D2D507-09EA-4C6F-96ED-053C801F8797}" type="slidenum">
              <a:rPr lang="zh-TW" altLang="en-US" smtClean="0"/>
              <a:pPr/>
              <a:t>‹#›</a:t>
            </a:fld>
            <a:endParaRPr lang="zh-TW" altLang="en-US"/>
          </a:p>
        </p:txBody>
      </p:sp>
    </p:spTree>
    <p:extLst>
      <p:ext uri="{BB962C8B-B14F-4D97-AF65-F5344CB8AC3E}">
        <p14:creationId xmlns:p14="http://schemas.microsoft.com/office/powerpoint/2010/main" val="17095083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Ref idx="1001">
        <a:schemeClr val="bg1"/>
      </p:bgRef>
    </p:bg>
    <p:spTree>
      <p:nvGrpSpPr>
        <p:cNvPr id="1" name=""/>
        <p:cNvGrpSpPr/>
        <p:nvPr/>
      </p:nvGrpSpPr>
      <p:grpSpPr>
        <a:xfrm>
          <a:off x="0" y="0"/>
          <a:ext cx="0" cy="0"/>
          <a:chOff x="0" y="0"/>
          <a:chExt cx="0" cy="0"/>
        </a:xfrm>
      </p:grpSpPr>
      <p:pic>
        <p:nvPicPr>
          <p:cNvPr id="11" name="圖片 10" descr="一張含有 燈泡 的圖片&#10;&#10;AI 產生的內容可能不正確。">
            <a:extLst>
              <a:ext uri="{FF2B5EF4-FFF2-40B4-BE49-F238E27FC236}">
                <a16:creationId xmlns:a16="http://schemas.microsoft.com/office/drawing/2014/main" id="{5E7D4647-2F66-9F57-7A50-A71E86CD3AB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23528" y="1052736"/>
            <a:ext cx="3617337" cy="3712723"/>
          </a:xfrm>
          <a:prstGeom prst="rect">
            <a:avLst/>
          </a:prstGeom>
        </p:spPr>
      </p:pic>
      <p:sp>
        <p:nvSpPr>
          <p:cNvPr id="2" name="標題 1"/>
          <p:cNvSpPr>
            <a:spLocks noGrp="1"/>
          </p:cNvSpPr>
          <p:nvPr>
            <p:ph type="ctrTitle"/>
          </p:nvPr>
        </p:nvSpPr>
        <p:spPr>
          <a:xfrm>
            <a:off x="823156" y="1715541"/>
            <a:ext cx="7772400" cy="1761027"/>
          </a:xfrm>
          <a:prstGeom prst="rect">
            <a:avLst/>
          </a:prstGeom>
        </p:spPr>
        <p:txBody>
          <a:bodyPr/>
          <a:lstStyle>
            <a:lvl1pPr>
              <a:defRPr>
                <a:solidFill>
                  <a:srgbClr val="6699FF"/>
                </a:solidFill>
                <a:latin typeface="Adobe 繁黑體 Std B"/>
                <a:ea typeface="Adobe 繁黑體 Std B"/>
                <a:cs typeface="Adobe 繁黑體 Std B"/>
              </a:defRPr>
            </a:lvl1pPr>
          </a:lstStyle>
          <a:p>
            <a:r>
              <a:rPr lang="zh-TW" altLang="en-US"/>
              <a:t>按一下以編輯母片標題樣式</a:t>
            </a:r>
            <a:endParaRPr lang="zh-TW" altLang="en-US" dirty="0"/>
          </a:p>
        </p:txBody>
      </p:sp>
      <p:sp>
        <p:nvSpPr>
          <p:cNvPr id="3" name="副標題 2"/>
          <p:cNvSpPr>
            <a:spLocks noGrp="1"/>
          </p:cNvSpPr>
          <p:nvPr>
            <p:ph type="subTitle" idx="1"/>
          </p:nvPr>
        </p:nvSpPr>
        <p:spPr>
          <a:xfrm>
            <a:off x="1403648" y="3717032"/>
            <a:ext cx="6400800" cy="1176536"/>
          </a:xfrm>
        </p:spPr>
        <p:txBody>
          <a:bodyPr/>
          <a:lstStyle>
            <a:lvl1pPr marL="0" indent="0" algn="ctr">
              <a:buNone/>
              <a:defRPr>
                <a:solidFill>
                  <a:srgbClr val="6699FF"/>
                </a:solidFill>
                <a:latin typeface="Adobe 繁黑體 Std B"/>
                <a:ea typeface="Adobe 繁黑體 Std B"/>
                <a:cs typeface="Adobe 繁黑體 Std B"/>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zh-TW" altLang="en-US" dirty="0"/>
          </a:p>
        </p:txBody>
      </p:sp>
      <p:pic>
        <p:nvPicPr>
          <p:cNvPr id="7" name="圖片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31640" y="4462180"/>
            <a:ext cx="6836421" cy="60853"/>
          </a:xfrm>
          <a:prstGeom prst="rect">
            <a:avLst/>
          </a:prstGeom>
        </p:spPr>
      </p:pic>
      <p:pic>
        <p:nvPicPr>
          <p:cNvPr id="8" name="圖片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10800000">
            <a:off x="1835697" y="4614580"/>
            <a:ext cx="6836421" cy="60853"/>
          </a:xfrm>
          <a:prstGeom prst="rect">
            <a:avLst/>
          </a:prstGeom>
        </p:spPr>
      </p:pic>
      <p:pic>
        <p:nvPicPr>
          <p:cNvPr id="4" name="圖片 3">
            <a:extLst>
              <a:ext uri="{FF2B5EF4-FFF2-40B4-BE49-F238E27FC236}">
                <a16:creationId xmlns:a16="http://schemas.microsoft.com/office/drawing/2014/main" id="{C30C5A91-B43C-6EEA-C0C9-C8964375905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31640" y="4462180"/>
            <a:ext cx="6836421" cy="60853"/>
          </a:xfrm>
          <a:prstGeom prst="rect">
            <a:avLst/>
          </a:prstGeom>
        </p:spPr>
      </p:pic>
      <p:pic>
        <p:nvPicPr>
          <p:cNvPr id="5" name="圖片 4">
            <a:extLst>
              <a:ext uri="{FF2B5EF4-FFF2-40B4-BE49-F238E27FC236}">
                <a16:creationId xmlns:a16="http://schemas.microsoft.com/office/drawing/2014/main" id="{400B625A-9E1A-0E17-8CC3-064F7E10D38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0800000">
            <a:off x="1835697" y="4614580"/>
            <a:ext cx="6836421" cy="60853"/>
          </a:xfrm>
          <a:prstGeom prst="rect">
            <a:avLst/>
          </a:prstGeom>
        </p:spPr>
      </p:pic>
    </p:spTree>
    <p:extLst>
      <p:ext uri="{BB962C8B-B14F-4D97-AF65-F5344CB8AC3E}">
        <p14:creationId xmlns:p14="http://schemas.microsoft.com/office/powerpoint/2010/main" val="3502905553"/>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9B471EA-CFE9-42FE-9589-FFC889365F6A}" type="datetime1">
              <a:rPr lang="zh-TW" altLang="en-US" smtClean="0"/>
              <a:t>2026/9/19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1D2D507-09EA-4C6F-96ED-053C801F8797}" type="slidenum">
              <a:rPr lang="zh-TW" altLang="en-US" smtClean="0"/>
              <a:pPr/>
              <a:t>‹#›</a:t>
            </a:fld>
            <a:endParaRPr lang="zh-TW" altLang="en-US"/>
          </a:p>
        </p:txBody>
      </p:sp>
    </p:spTree>
    <p:extLst>
      <p:ext uri="{BB962C8B-B14F-4D97-AF65-F5344CB8AC3E}">
        <p14:creationId xmlns:p14="http://schemas.microsoft.com/office/powerpoint/2010/main" val="24996797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1_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E2367E37-2899-411D-BACF-9F18CB33AF54}"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8767503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539552" y="2954"/>
            <a:ext cx="8229600" cy="761750"/>
          </a:xfrm>
          <a:prstGeom prst="rect">
            <a:avLst/>
          </a:prstGeom>
        </p:spPr>
        <p:txBody>
          <a:bodyPr/>
          <a:lstStyle>
            <a:lvl1pPr>
              <a:defRPr sz="3600">
                <a:latin typeface="微軟正黑體" panose="020B0604030504040204" pitchFamily="34" charset="-120"/>
                <a:ea typeface="微軟正黑體" panose="020B0604030504040204" pitchFamily="34" charset="-120"/>
              </a:defRPr>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57200" y="980728"/>
            <a:ext cx="8229600" cy="5328592"/>
          </a:xfrm>
        </p:spPr>
        <p:txBody>
          <a:bodyPr/>
          <a:lstStyle>
            <a:lvl1pPr>
              <a:defRPr>
                <a:solidFill>
                  <a:schemeClr val="tx1"/>
                </a:solidFill>
                <a:latin typeface="微軟正黑體" panose="020B0604030504040204" pitchFamily="34" charset="-120"/>
                <a:ea typeface="微軟正黑體" panose="020B0604030504040204" pitchFamily="34" charset="-120"/>
              </a:defRPr>
            </a:lvl1pPr>
            <a:lvl2pPr>
              <a:defRPr>
                <a:solidFill>
                  <a:schemeClr val="tx1"/>
                </a:solidFill>
                <a:latin typeface="微軟正黑體" panose="020B0604030504040204" pitchFamily="34" charset="-120"/>
                <a:ea typeface="微軟正黑體" panose="020B0604030504040204" pitchFamily="34" charset="-120"/>
              </a:defRPr>
            </a:lvl2pPr>
            <a:lvl3pPr>
              <a:defRPr>
                <a:solidFill>
                  <a:schemeClr val="tx1"/>
                </a:solidFill>
                <a:latin typeface="微軟正黑體" panose="020B0604030504040204" pitchFamily="34" charset="-120"/>
                <a:ea typeface="微軟正黑體" panose="020B0604030504040204" pitchFamily="34" charset="-120"/>
              </a:defRPr>
            </a:lvl3pPr>
            <a:lvl4pPr>
              <a:defRPr>
                <a:solidFill>
                  <a:schemeClr val="tx1"/>
                </a:solidFill>
                <a:latin typeface="微軟正黑體" panose="020B0604030504040204" pitchFamily="34" charset="-120"/>
                <a:ea typeface="微軟正黑體" panose="020B0604030504040204" pitchFamily="34" charset="-120"/>
              </a:defRPr>
            </a:lvl4pPr>
            <a:lvl5pPr>
              <a:defRPr>
                <a:solidFill>
                  <a:schemeClr val="tx1"/>
                </a:solidFill>
                <a:latin typeface="微軟正黑體" panose="020B0604030504040204" pitchFamily="34" charset="-120"/>
                <a:ea typeface="微軟正黑體" panose="020B0604030504040204" pitchFamily="34" charset="-12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1164A71A-3B63-4246-AE96-5450EFE32B63}"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9702280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539552" y="2954"/>
            <a:ext cx="8229600" cy="761750"/>
          </a:xfrm>
          <a:prstGeom prst="rect">
            <a:avLst/>
          </a:prstGeom>
        </p:spPr>
        <p:txBody>
          <a:bodyPr/>
          <a:lstStyle>
            <a:lvl1pPr>
              <a:defRPr sz="3600">
                <a:latin typeface="微軟正黑體" panose="020B0604030504040204" pitchFamily="34" charset="-120"/>
                <a:ea typeface="微軟正黑體" panose="020B0604030504040204" pitchFamily="34" charset="-120"/>
              </a:defRPr>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57200" y="980728"/>
            <a:ext cx="8229600" cy="5328592"/>
          </a:xfrm>
        </p:spPr>
        <p:txBody>
          <a:bodyPr/>
          <a:lstStyle>
            <a:lvl1pPr>
              <a:defRPr>
                <a:solidFill>
                  <a:schemeClr val="tx1"/>
                </a:solidFill>
                <a:latin typeface="微軟正黑體" panose="020B0604030504040204" pitchFamily="34" charset="-120"/>
                <a:ea typeface="微軟正黑體" panose="020B0604030504040204" pitchFamily="34" charset="-120"/>
              </a:defRPr>
            </a:lvl1pPr>
            <a:lvl2pPr>
              <a:defRPr>
                <a:solidFill>
                  <a:schemeClr val="tx1"/>
                </a:solidFill>
                <a:latin typeface="微軟正黑體" panose="020B0604030504040204" pitchFamily="34" charset="-120"/>
                <a:ea typeface="微軟正黑體" panose="020B0604030504040204" pitchFamily="34" charset="-120"/>
              </a:defRPr>
            </a:lvl2pPr>
            <a:lvl3pPr>
              <a:defRPr>
                <a:solidFill>
                  <a:schemeClr val="tx1"/>
                </a:solidFill>
                <a:latin typeface="微軟正黑體" panose="020B0604030504040204" pitchFamily="34" charset="-120"/>
                <a:ea typeface="微軟正黑體" panose="020B0604030504040204" pitchFamily="34" charset="-120"/>
              </a:defRPr>
            </a:lvl3pPr>
            <a:lvl4pPr>
              <a:defRPr>
                <a:solidFill>
                  <a:schemeClr val="tx1"/>
                </a:solidFill>
                <a:latin typeface="微軟正黑體" panose="020B0604030504040204" pitchFamily="34" charset="-120"/>
                <a:ea typeface="微軟正黑體" panose="020B0604030504040204" pitchFamily="34" charset="-120"/>
              </a:defRPr>
            </a:lvl4pPr>
            <a:lvl5pPr>
              <a:defRPr>
                <a:solidFill>
                  <a:schemeClr val="tx1"/>
                </a:solidFill>
                <a:latin typeface="微軟正黑體" panose="020B0604030504040204" pitchFamily="34" charset="-120"/>
                <a:ea typeface="微軟正黑體" panose="020B0604030504040204" pitchFamily="34" charset="-12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2B3A6C1-8227-48A2-87EC-B7529A2E6DF0}"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pPr/>
              <a:t>‹#›</a:t>
            </a:fld>
            <a:endParaRPr lang="zh-TW" altLang="en-US"/>
          </a:p>
        </p:txBody>
      </p:sp>
    </p:spTree>
    <p:extLst>
      <p:ext uri="{BB962C8B-B14F-4D97-AF65-F5344CB8AC3E}">
        <p14:creationId xmlns:p14="http://schemas.microsoft.com/office/powerpoint/2010/main" val="1751055822"/>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3F8BD266-E04C-4603-82FA-F5C9C938604C}"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24842445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90028123-6E45-4BE2-8E46-389C4D5ADC91}" type="datetime1">
              <a:rPr lang="zh-TW" altLang="en-US" smtClean="0"/>
              <a:t>2026/9/19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7999345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67FBC44E-8F5E-4075-8A40-3CDE82F7FA15}" type="datetime1">
              <a:rPr lang="zh-TW" altLang="en-US" smtClean="0"/>
              <a:t>2026/9/19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4911878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C0EA4A3A-10EF-4884-9905-7D1508F182B2}" type="datetime1">
              <a:rPr lang="zh-TW" altLang="en-US" smtClean="0"/>
              <a:t>2026/9/19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21852776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DC10541-2D33-4055-8D6B-814C29388D94}" type="datetime1">
              <a:rPr lang="zh-TW" altLang="en-US" smtClean="0"/>
              <a:t>2026/9/19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5236430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D8144893-EA72-4E23-9B40-884A0687C88D}" type="datetime1">
              <a:rPr lang="zh-TW" altLang="en-US" smtClean="0"/>
              <a:t>2026/9/19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6230317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AAD3A58E-94C0-476F-9DAB-6D2632AB4C11}" type="datetime1">
              <a:rPr lang="zh-TW" altLang="en-US" smtClean="0"/>
              <a:t>2026/9/19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4215947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3649FAD-13A3-4DB8-A4FF-642EE01DC972}"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10226155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197465AB-4101-4EE2-AD2A-42755E833FDC}"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18893410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自訂版面配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2B3A6C1-8227-48A2-87EC-B7529A2E6DF0}" type="datetime1">
              <a:rPr lang="zh-TW" altLang="en-US" smtClean="0"/>
              <a:t>2026/9/19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1D2D507-09EA-4C6F-96ED-053C801F8797}" type="slidenum">
              <a:rPr lang="zh-TW" altLang="en-US" smtClean="0"/>
              <a:pPr/>
              <a:t>‹#›</a:t>
            </a:fld>
            <a:endParaRPr lang="zh-TW" altLang="en-US"/>
          </a:p>
        </p:txBody>
      </p:sp>
    </p:spTree>
    <p:extLst>
      <p:ext uri="{BB962C8B-B14F-4D97-AF65-F5344CB8AC3E}">
        <p14:creationId xmlns:p14="http://schemas.microsoft.com/office/powerpoint/2010/main" val="1357290325"/>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2_標題投影片">
    <p:spTree>
      <p:nvGrpSpPr>
        <p:cNvPr id="1" name=""/>
        <p:cNvGrpSpPr/>
        <p:nvPr/>
      </p:nvGrpSpPr>
      <p:grpSpPr>
        <a:xfrm>
          <a:off x="0" y="0"/>
          <a:ext cx="0" cy="0"/>
          <a:chOff x="0" y="0"/>
          <a:chExt cx="0" cy="0"/>
        </a:xfrm>
      </p:grpSpPr>
      <p:pic>
        <p:nvPicPr>
          <p:cNvPr id="10" name="圖片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748363" y="3789040"/>
            <a:ext cx="6280021" cy="344324"/>
          </a:xfrm>
          <a:prstGeom prst="rect">
            <a:avLst/>
          </a:prstGeom>
        </p:spPr>
      </p:pic>
      <p:sp>
        <p:nvSpPr>
          <p:cNvPr id="2" name="標題 1"/>
          <p:cNvSpPr>
            <a:spLocks noGrp="1"/>
          </p:cNvSpPr>
          <p:nvPr>
            <p:ph type="ctrTitle"/>
          </p:nvPr>
        </p:nvSpPr>
        <p:spPr>
          <a:xfrm>
            <a:off x="683568" y="2204864"/>
            <a:ext cx="7772400" cy="1761027"/>
          </a:xfrm>
          <a:prstGeom prst="rect">
            <a:avLst/>
          </a:prstGeom>
        </p:spPr>
        <p:txBody>
          <a:bodyPr>
            <a:normAutofit/>
          </a:bodyPr>
          <a:lstStyle>
            <a:lvl1pPr>
              <a:defRPr sz="4400" b="1">
                <a:solidFill>
                  <a:schemeClr val="accent4">
                    <a:lumMod val="50000"/>
                  </a:schemeClr>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4" name="日期版面配置區 3"/>
          <p:cNvSpPr>
            <a:spLocks noGrp="1"/>
          </p:cNvSpPr>
          <p:nvPr>
            <p:ph type="dt" sz="half" idx="10"/>
          </p:nvPr>
        </p:nvSpPr>
        <p:spPr/>
        <p:txBody>
          <a:bodyPr/>
          <a:lstStyle/>
          <a:p>
            <a:fld id="{9C5E358A-600C-4E3C-B688-CCFC8AFB48C3}" type="datetime1">
              <a:rPr lang="zh-TW" altLang="en-US" smtClean="0"/>
              <a:t>2026/9/19</a:t>
            </a:fld>
            <a:endParaRPr lang="zh-TW" altLang="en-US"/>
          </a:p>
        </p:txBody>
      </p:sp>
      <p:sp>
        <p:nvSpPr>
          <p:cNvPr id="5" name="頁尾版面配置區 4"/>
          <p:cNvSpPr>
            <a:spLocks noGrp="1"/>
          </p:cNvSpPr>
          <p:nvPr>
            <p:ph type="ftr" sz="quarter" idx="11"/>
          </p:nvPr>
        </p:nvSpPr>
        <p:spPr/>
        <p:txBody>
          <a:bodyPr/>
          <a:lstStyle/>
          <a:p>
            <a:endParaRPr lang="zh-TW" altLang="en-US" dirty="0"/>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t>‹#›</a:t>
            </a:fld>
            <a:endParaRPr lang="zh-TW" altLang="en-US"/>
          </a:p>
        </p:txBody>
      </p:sp>
      <p:sp>
        <p:nvSpPr>
          <p:cNvPr id="12" name="文字方塊 29"/>
          <p:cNvSpPr txBox="1">
            <a:spLocks noChangeArrowheads="1"/>
          </p:cNvSpPr>
          <p:nvPr userDrawn="1"/>
        </p:nvSpPr>
        <p:spPr bwMode="auto">
          <a:xfrm>
            <a:off x="1259632" y="404664"/>
            <a:ext cx="2736304"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gn="dist" fontAlgn="base">
              <a:spcAft>
                <a:spcPts val="300"/>
              </a:spcAft>
            </a:pPr>
            <a:endParaRPr lang="zh-TW" sz="1400" kern="1200" dirty="0">
              <a:solidFill>
                <a:srgbClr val="3366FF"/>
              </a:solidFill>
              <a:effectLst/>
              <a:latin typeface="Corbel"/>
              <a:ea typeface="微軟正黑體"/>
              <a:cs typeface="Times New Roman"/>
            </a:endParaRPr>
          </a:p>
        </p:txBody>
      </p:sp>
      <p:pic>
        <p:nvPicPr>
          <p:cNvPr id="7" name="圖片 6" descr="一張含有 燈泡 的圖片&#10;&#10;AI 產生的內容可能不正確。">
            <a:extLst>
              <a:ext uri="{FF2B5EF4-FFF2-40B4-BE49-F238E27FC236}">
                <a16:creationId xmlns:a16="http://schemas.microsoft.com/office/drawing/2014/main" id="{39D9E50E-A43B-DE3F-8665-73FC333C3669}"/>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453957" y="2796775"/>
            <a:ext cx="1457878" cy="1496321"/>
          </a:xfrm>
          <a:prstGeom prst="rect">
            <a:avLst/>
          </a:prstGeom>
        </p:spPr>
      </p:pic>
    </p:spTree>
    <p:extLst>
      <p:ext uri="{BB962C8B-B14F-4D97-AF65-F5344CB8AC3E}">
        <p14:creationId xmlns:p14="http://schemas.microsoft.com/office/powerpoint/2010/main" val="54267613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theme" Target="../theme/theme2.xml"/><Relationship Id="rId3" Type="http://schemas.openxmlformats.org/officeDocument/2006/relationships/slideLayout" Target="../slideLayouts/slideLayout4.xml"/><Relationship Id="rId21" Type="http://schemas.openxmlformats.org/officeDocument/2006/relationships/image" Target="../media/image5.png"/><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image" Target="../media/image3.jpeg"/><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image" Target="../media/image3.jpe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theme" Target="../theme/theme3.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image" Target="../media/image5.pn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image" Target="../media/image4.png"/><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31C867-1BCD-47A8-9128-475AC7ECD368}" type="datetime1">
              <a:rPr lang="zh-TW" altLang="en-US" smtClean="0"/>
              <a:t>2026/9/19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2D507-09EA-4C6F-96ED-053C801F8797}" type="slidenum">
              <a:rPr lang="zh-TW" altLang="en-US" smtClean="0"/>
              <a:t>‹#›</a:t>
            </a:fld>
            <a:endParaRPr lang="zh-TW" altLang="en-US"/>
          </a:p>
        </p:txBody>
      </p:sp>
    </p:spTree>
    <p:extLst>
      <p:ext uri="{BB962C8B-B14F-4D97-AF65-F5344CB8AC3E}">
        <p14:creationId xmlns:p14="http://schemas.microsoft.com/office/powerpoint/2010/main" val="1920542240"/>
      </p:ext>
    </p:extLst>
  </p:cSld>
  <p:clrMap bg1="lt1" tx1="dk1" bg2="lt2" tx2="dk2" accent1="accent1" accent2="accent2" accent3="accent3" accent4="accent4" accent5="accent5" accent6="accent6" hlink="hlink" folHlink="folHlink"/>
  <p:sldLayoutIdLst>
    <p:sldLayoutId id="214748367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圖片 7"/>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3323" y="1"/>
            <a:ext cx="9140677" cy="764703"/>
          </a:xfrm>
          <a:prstGeom prst="rect">
            <a:avLst/>
          </a:prstGeom>
        </p:spPr>
      </p:pic>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rgbClr val="6699FF"/>
                </a:solidFill>
                <a:latin typeface="Adobe 繁黑體 Std B"/>
                <a:ea typeface="Adobe 繁黑體 Std B"/>
                <a:cs typeface="Adobe 繁黑體 Std B"/>
              </a:defRPr>
            </a:lvl1pPr>
          </a:lstStyle>
          <a:p>
            <a:fld id="{82B3A6C1-8227-48A2-87EC-B7529A2E6DF0}" type="datetime1">
              <a:rPr lang="zh-TW" altLang="en-US" smtClean="0"/>
              <a:t>2026/9/19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rgbClr val="6699FF"/>
                </a:solidFill>
                <a:latin typeface="Adobe 繁黑體 Std B"/>
                <a:ea typeface="Adobe 繁黑體 Std B"/>
                <a:cs typeface="Adobe 繁黑體 Std B"/>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6699FF"/>
                </a:solidFill>
                <a:latin typeface="Adobe 繁黑體 Std B"/>
                <a:ea typeface="Adobe 繁黑體 Std B"/>
                <a:cs typeface="Adobe 繁黑體 Std B"/>
              </a:defRPr>
            </a:lvl1pPr>
          </a:lstStyle>
          <a:p>
            <a:fld id="{51D2D507-09EA-4C6F-96ED-053C801F8797}" type="slidenum">
              <a:rPr lang="zh-TW" altLang="en-US" smtClean="0"/>
              <a:pPr/>
              <a:t>‹#›</a:t>
            </a:fld>
            <a:endParaRPr lang="zh-TW" altLang="en-US"/>
          </a:p>
        </p:txBody>
      </p:sp>
      <p:pic>
        <p:nvPicPr>
          <p:cNvPr id="10" name="圖片 9" descr="一張含有 燈泡 的圖片&#10;&#10;AI 產生的內容可能不正確。">
            <a:extLst>
              <a:ext uri="{FF2B5EF4-FFF2-40B4-BE49-F238E27FC236}">
                <a16:creationId xmlns:a16="http://schemas.microsoft.com/office/drawing/2014/main" id="{BCF0FE7F-8C44-7632-0D32-DC2A2133BE11}"/>
              </a:ext>
            </a:extLst>
          </p:cNvPr>
          <p:cNvPicPr>
            <a:picLocks noChangeAspect="1"/>
          </p:cNvPicPr>
          <p:nvPr/>
        </p:nvPicPr>
        <p:blipFill>
          <a:blip r:embed="rId20" cstate="email">
            <a:extLst>
              <a:ext uri="{28A0092B-C50C-407E-A947-70E740481C1C}">
                <a14:useLocalDpi xmlns:a14="http://schemas.microsoft.com/office/drawing/2010/main" val="0"/>
              </a:ext>
            </a:extLst>
          </a:blip>
          <a:stretch>
            <a:fillRect/>
          </a:stretch>
        </p:blipFill>
        <p:spPr>
          <a:xfrm>
            <a:off x="179512" y="419"/>
            <a:ext cx="744649" cy="764285"/>
          </a:xfrm>
          <a:prstGeom prst="rect">
            <a:avLst/>
          </a:prstGeom>
        </p:spPr>
      </p:pic>
      <p:pic>
        <p:nvPicPr>
          <p:cNvPr id="2" name="圖片 1">
            <a:extLst>
              <a:ext uri="{FF2B5EF4-FFF2-40B4-BE49-F238E27FC236}">
                <a16:creationId xmlns:a16="http://schemas.microsoft.com/office/drawing/2014/main" id="{B1BD3D84-420C-AC4B-F325-97F6BFA5CEEF}"/>
              </a:ext>
            </a:extLst>
          </p:cNvPr>
          <p:cNvPicPr>
            <a:picLocks noChangeAspect="1"/>
          </p:cNvPicPr>
          <p:nvPr userDrawn="1"/>
        </p:nvPicPr>
        <p:blipFill>
          <a:blip r:embed="rId19" cstate="email">
            <a:extLst>
              <a:ext uri="{28A0092B-C50C-407E-A947-70E740481C1C}">
                <a14:useLocalDpi xmlns:a14="http://schemas.microsoft.com/office/drawing/2010/main"/>
              </a:ext>
            </a:extLst>
          </a:blip>
          <a:stretch>
            <a:fillRect/>
          </a:stretch>
        </p:blipFill>
        <p:spPr>
          <a:xfrm>
            <a:off x="3323" y="1"/>
            <a:ext cx="9140677" cy="764703"/>
          </a:xfrm>
          <a:prstGeom prst="rect">
            <a:avLst/>
          </a:prstGeom>
        </p:spPr>
      </p:pic>
      <p:pic>
        <p:nvPicPr>
          <p:cNvPr id="9" name="圖片 8" descr="一張含有 燈泡 的圖片&#10;&#10;AI 產生的內容可能不正確。">
            <a:extLst>
              <a:ext uri="{FF2B5EF4-FFF2-40B4-BE49-F238E27FC236}">
                <a16:creationId xmlns:a16="http://schemas.microsoft.com/office/drawing/2014/main" id="{3E49A8C7-BB94-57CF-7380-19C59E712649}"/>
              </a:ext>
            </a:extLst>
          </p:cNvPr>
          <p:cNvPicPr>
            <a:picLocks noChangeAspect="1"/>
          </p:cNvPicPr>
          <p:nvPr userDrawn="1"/>
        </p:nvPicPr>
        <p:blipFill>
          <a:blip r:embed="rId21" cstate="email">
            <a:extLst>
              <a:ext uri="{28A0092B-C50C-407E-A947-70E740481C1C}">
                <a14:useLocalDpi xmlns:a14="http://schemas.microsoft.com/office/drawing/2010/main" val="0"/>
              </a:ext>
            </a:extLst>
          </a:blip>
          <a:stretch>
            <a:fillRect/>
          </a:stretch>
        </p:blipFill>
        <p:spPr>
          <a:xfrm>
            <a:off x="179512" y="66676"/>
            <a:ext cx="648072" cy="665161"/>
          </a:xfrm>
          <a:prstGeom prst="rect">
            <a:avLst/>
          </a:prstGeom>
        </p:spPr>
      </p:pic>
    </p:spTree>
    <p:extLst>
      <p:ext uri="{BB962C8B-B14F-4D97-AF65-F5344CB8AC3E}">
        <p14:creationId xmlns:p14="http://schemas.microsoft.com/office/powerpoint/2010/main" val="1448743170"/>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77" r:id="rId17"/>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rgbClr val="6699FF"/>
          </a:solidFill>
          <a:latin typeface="Adobe 繁黑體 Std B"/>
          <a:ea typeface="Adobe 繁黑體 Std B"/>
          <a:cs typeface="Adobe 繁黑體 Std B"/>
        </a:defRPr>
      </a:lvl1pPr>
      <a:lvl2pPr marL="742950" indent="-285750" algn="l" defTabSz="914400" rtl="0" eaLnBrk="1" latinLnBrk="0" hangingPunct="1">
        <a:spcBef>
          <a:spcPct val="20000"/>
        </a:spcBef>
        <a:buFont typeface="Arial" pitchFamily="34" charset="0"/>
        <a:buChar char="–"/>
        <a:defRPr sz="2800" kern="1200">
          <a:solidFill>
            <a:srgbClr val="6699FF"/>
          </a:solidFill>
          <a:latin typeface="Adobe 繁黑體 Std B"/>
          <a:ea typeface="Adobe 繁黑體 Std B"/>
          <a:cs typeface="Adobe 繁黑體 Std B"/>
        </a:defRPr>
      </a:lvl2pPr>
      <a:lvl3pPr marL="1143000" indent="-228600" algn="l" defTabSz="914400" rtl="0" eaLnBrk="1" latinLnBrk="0" hangingPunct="1">
        <a:spcBef>
          <a:spcPct val="20000"/>
        </a:spcBef>
        <a:buFont typeface="Arial" pitchFamily="34" charset="0"/>
        <a:buChar char="•"/>
        <a:defRPr sz="2400" kern="1200">
          <a:solidFill>
            <a:srgbClr val="6699FF"/>
          </a:solidFill>
          <a:latin typeface="Adobe 繁黑體 Std B"/>
          <a:ea typeface="Adobe 繁黑體 Std B"/>
          <a:cs typeface="Adobe 繁黑體 Std B"/>
        </a:defRPr>
      </a:lvl3pPr>
      <a:lvl4pPr marL="1600200" indent="-228600" algn="l" defTabSz="914400" rtl="0" eaLnBrk="1" latinLnBrk="0" hangingPunct="1">
        <a:spcBef>
          <a:spcPct val="20000"/>
        </a:spcBef>
        <a:buFont typeface="Arial" pitchFamily="34" charset="0"/>
        <a:buChar char="–"/>
        <a:defRPr sz="2000" kern="1200">
          <a:solidFill>
            <a:srgbClr val="6699FF"/>
          </a:solidFill>
          <a:latin typeface="Adobe 繁黑體 Std B"/>
          <a:ea typeface="Adobe 繁黑體 Std B"/>
          <a:cs typeface="Adobe 繁黑體 Std B"/>
        </a:defRPr>
      </a:lvl4pPr>
      <a:lvl5pPr marL="2057400" indent="-228600" algn="l" defTabSz="914400" rtl="0" eaLnBrk="1" latinLnBrk="0" hangingPunct="1">
        <a:spcBef>
          <a:spcPct val="20000"/>
        </a:spcBef>
        <a:buFont typeface="Arial" pitchFamily="34" charset="0"/>
        <a:buChar char="»"/>
        <a:defRPr sz="2000" kern="1200">
          <a:solidFill>
            <a:srgbClr val="6699FF"/>
          </a:solidFill>
          <a:latin typeface="Adobe 繁黑體 Std B"/>
          <a:ea typeface="Adobe 繁黑體 Std B"/>
          <a:cs typeface="Adobe 繁黑體 Std B"/>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圖片 7"/>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3323" y="1"/>
            <a:ext cx="9140677" cy="764703"/>
          </a:xfrm>
          <a:prstGeom prst="rect">
            <a:avLst/>
          </a:prstGeom>
        </p:spPr>
      </p:pic>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rgbClr val="6699FF"/>
                </a:solidFill>
                <a:latin typeface="Adobe 繁黑體 Std B"/>
                <a:ea typeface="Adobe 繁黑體 Std B"/>
                <a:cs typeface="Adobe 繁黑體 Std B"/>
              </a:defRPr>
            </a:lvl1pPr>
          </a:lstStyle>
          <a:p>
            <a:fld id="{0031C867-1BCD-47A8-9128-475AC7ECD368}" type="datetime1">
              <a:rPr lang="zh-TW" altLang="en-US" smtClean="0"/>
              <a:t>2026/9/19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rgbClr val="6699FF"/>
                </a:solidFill>
                <a:latin typeface="Adobe 繁黑體 Std B"/>
                <a:ea typeface="Adobe 繁黑體 Std B"/>
                <a:cs typeface="Adobe 繁黑體 Std B"/>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6699FF"/>
                </a:solidFill>
                <a:latin typeface="Adobe 繁黑體 Std B"/>
                <a:ea typeface="Adobe 繁黑體 Std B"/>
                <a:cs typeface="Adobe 繁黑體 Std B"/>
              </a:defRPr>
            </a:lvl1pPr>
          </a:lstStyle>
          <a:p>
            <a:fld id="{51D2D507-09EA-4C6F-96ED-053C801F8797}" type="slidenum">
              <a:rPr lang="zh-TW" altLang="en-US" smtClean="0"/>
              <a:t>‹#›</a:t>
            </a:fld>
            <a:endParaRPr lang="zh-TW" altLang="en-US"/>
          </a:p>
        </p:txBody>
      </p:sp>
      <p:pic>
        <p:nvPicPr>
          <p:cNvPr id="10" name="圖片 9" descr="一張含有 燈泡 的圖片&#10;&#10;AI 產生的內容可能不正確。">
            <a:extLst>
              <a:ext uri="{FF2B5EF4-FFF2-40B4-BE49-F238E27FC236}">
                <a16:creationId xmlns:a16="http://schemas.microsoft.com/office/drawing/2014/main" id="{BCF0FE7F-8C44-7632-0D32-DC2A2133BE11}"/>
              </a:ext>
            </a:extLst>
          </p:cNvPr>
          <p:cNvPicPr>
            <a:picLocks noChangeAspect="1"/>
          </p:cNvPicPr>
          <p:nvPr/>
        </p:nvPicPr>
        <p:blipFill>
          <a:blip r:embed="rId19" cstate="email">
            <a:extLst>
              <a:ext uri="{28A0092B-C50C-407E-A947-70E740481C1C}">
                <a14:useLocalDpi xmlns:a14="http://schemas.microsoft.com/office/drawing/2010/main" val="0"/>
              </a:ext>
            </a:extLst>
          </a:blip>
          <a:stretch>
            <a:fillRect/>
          </a:stretch>
        </p:blipFill>
        <p:spPr>
          <a:xfrm>
            <a:off x="179512" y="419"/>
            <a:ext cx="744649" cy="764285"/>
          </a:xfrm>
          <a:prstGeom prst="rect">
            <a:avLst/>
          </a:prstGeom>
        </p:spPr>
      </p:pic>
      <p:pic>
        <p:nvPicPr>
          <p:cNvPr id="2" name="圖片 1">
            <a:extLst>
              <a:ext uri="{FF2B5EF4-FFF2-40B4-BE49-F238E27FC236}">
                <a16:creationId xmlns:a16="http://schemas.microsoft.com/office/drawing/2014/main" id="{3B0D5240-2981-98CA-3DBF-44184D4F1BF1}"/>
              </a:ext>
            </a:extLst>
          </p:cNvPr>
          <p:cNvPicPr>
            <a:picLocks noChangeAspect="1"/>
          </p:cNvPicPr>
          <p:nvPr userDrawn="1"/>
        </p:nvPicPr>
        <p:blipFill>
          <a:blip r:embed="rId18" cstate="email">
            <a:extLst>
              <a:ext uri="{28A0092B-C50C-407E-A947-70E740481C1C}">
                <a14:useLocalDpi xmlns:a14="http://schemas.microsoft.com/office/drawing/2010/main"/>
              </a:ext>
            </a:extLst>
          </a:blip>
          <a:stretch>
            <a:fillRect/>
          </a:stretch>
        </p:blipFill>
        <p:spPr>
          <a:xfrm>
            <a:off x="3323" y="1"/>
            <a:ext cx="9140677" cy="764703"/>
          </a:xfrm>
          <a:prstGeom prst="rect">
            <a:avLst/>
          </a:prstGeom>
        </p:spPr>
      </p:pic>
      <p:pic>
        <p:nvPicPr>
          <p:cNvPr id="7" name="圖片 6" descr="一張含有 燈泡 的圖片&#10;&#10;AI 產生的內容可能不正確。">
            <a:extLst>
              <a:ext uri="{FF2B5EF4-FFF2-40B4-BE49-F238E27FC236}">
                <a16:creationId xmlns:a16="http://schemas.microsoft.com/office/drawing/2014/main" id="{DEC0A5E0-85E3-9D4E-B3A7-340E2817FAB3}"/>
              </a:ext>
            </a:extLst>
          </p:cNvPr>
          <p:cNvPicPr>
            <a:picLocks noChangeAspect="1"/>
          </p:cNvPicPr>
          <p:nvPr userDrawn="1"/>
        </p:nvPicPr>
        <p:blipFill>
          <a:blip r:embed="rId20" cstate="email">
            <a:extLst>
              <a:ext uri="{28A0092B-C50C-407E-A947-70E740481C1C}">
                <a14:useLocalDpi xmlns:a14="http://schemas.microsoft.com/office/drawing/2010/main" val="0"/>
              </a:ext>
            </a:extLst>
          </a:blip>
          <a:stretch>
            <a:fillRect/>
          </a:stretch>
        </p:blipFill>
        <p:spPr>
          <a:xfrm>
            <a:off x="179512" y="49771"/>
            <a:ext cx="648072" cy="665161"/>
          </a:xfrm>
          <a:prstGeom prst="rect">
            <a:avLst/>
          </a:prstGeom>
        </p:spPr>
      </p:pic>
    </p:spTree>
    <p:extLst>
      <p:ext uri="{BB962C8B-B14F-4D97-AF65-F5344CB8AC3E}">
        <p14:creationId xmlns:p14="http://schemas.microsoft.com/office/powerpoint/2010/main" val="135261034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rgbClr val="6699FF"/>
          </a:solidFill>
          <a:latin typeface="Adobe 繁黑體 Std B"/>
          <a:ea typeface="Adobe 繁黑體 Std B"/>
          <a:cs typeface="Adobe 繁黑體 Std B"/>
        </a:defRPr>
      </a:lvl1pPr>
      <a:lvl2pPr marL="742950" indent="-285750" algn="l" defTabSz="914400" rtl="0" eaLnBrk="1" latinLnBrk="0" hangingPunct="1">
        <a:spcBef>
          <a:spcPct val="20000"/>
        </a:spcBef>
        <a:buFont typeface="Arial" pitchFamily="34" charset="0"/>
        <a:buChar char="–"/>
        <a:defRPr sz="2800" kern="1200">
          <a:solidFill>
            <a:srgbClr val="6699FF"/>
          </a:solidFill>
          <a:latin typeface="Adobe 繁黑體 Std B"/>
          <a:ea typeface="Adobe 繁黑體 Std B"/>
          <a:cs typeface="Adobe 繁黑體 Std B"/>
        </a:defRPr>
      </a:lvl2pPr>
      <a:lvl3pPr marL="1143000" indent="-228600" algn="l" defTabSz="914400" rtl="0" eaLnBrk="1" latinLnBrk="0" hangingPunct="1">
        <a:spcBef>
          <a:spcPct val="20000"/>
        </a:spcBef>
        <a:buFont typeface="Arial" pitchFamily="34" charset="0"/>
        <a:buChar char="•"/>
        <a:defRPr sz="2400" kern="1200">
          <a:solidFill>
            <a:srgbClr val="6699FF"/>
          </a:solidFill>
          <a:latin typeface="Adobe 繁黑體 Std B"/>
          <a:ea typeface="Adobe 繁黑體 Std B"/>
          <a:cs typeface="Adobe 繁黑體 Std B"/>
        </a:defRPr>
      </a:lvl3pPr>
      <a:lvl4pPr marL="1600200" indent="-228600" algn="l" defTabSz="914400" rtl="0" eaLnBrk="1" latinLnBrk="0" hangingPunct="1">
        <a:spcBef>
          <a:spcPct val="20000"/>
        </a:spcBef>
        <a:buFont typeface="Arial" pitchFamily="34" charset="0"/>
        <a:buChar char="–"/>
        <a:defRPr sz="2000" kern="1200">
          <a:solidFill>
            <a:srgbClr val="6699FF"/>
          </a:solidFill>
          <a:latin typeface="Adobe 繁黑體 Std B"/>
          <a:ea typeface="Adobe 繁黑體 Std B"/>
          <a:cs typeface="Adobe 繁黑體 Std B"/>
        </a:defRPr>
      </a:lvl4pPr>
      <a:lvl5pPr marL="2057400" indent="-228600" algn="l" defTabSz="914400" rtl="0" eaLnBrk="1" latinLnBrk="0" hangingPunct="1">
        <a:spcBef>
          <a:spcPct val="20000"/>
        </a:spcBef>
        <a:buFont typeface="Arial" pitchFamily="34" charset="0"/>
        <a:buChar char="»"/>
        <a:defRPr sz="2000" kern="1200">
          <a:solidFill>
            <a:srgbClr val="6699FF"/>
          </a:solidFill>
          <a:latin typeface="Adobe 繁黑體 Std B"/>
          <a:ea typeface="Adobe 繁黑體 Std B"/>
          <a:cs typeface="Adobe 繁黑體 Std B"/>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hyperlink" Target="https://www.tipo.gov.tw/tw/patents/478.html" TargetMode="External"/><Relationship Id="rId2" Type="http://schemas.openxmlformats.org/officeDocument/2006/relationships/hyperlink" Target="https://www1.tipo.gov.tw/PatentExamGuide/WORD1/0201.html" TargetMode="External"/><Relationship Id="rId1" Type="http://schemas.openxmlformats.org/officeDocument/2006/relationships/slideLayout" Target="../slideLayouts/slideLayout22.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3.png"/><Relationship Id="rId2" Type="http://schemas.openxmlformats.org/officeDocument/2006/relationships/diagramData" Target="../diagrams/data2.xml"/><Relationship Id="rId1" Type="http://schemas.openxmlformats.org/officeDocument/2006/relationships/slideLayout" Target="../slideLayouts/slideLayout2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hyperlink" Target="http://www.wipo.int/export/sites/www/standards/en/pdf/03-09-01.pdf" TargetMode="Externa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hyperlink" Target="https://www.tipo.gov.tw/tw/cp-886-901612-78c73-1.html" TargetMode="External"/><Relationship Id="rId2" Type="http://schemas.openxmlformats.org/officeDocument/2006/relationships/image" Target="../media/image21.jpeg"/><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svg"/></Relationships>
</file>

<file path=ppt/slides/_rels/slide2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2339752" y="3645024"/>
            <a:ext cx="6588224" cy="1872208"/>
          </a:xfrm>
          <a:ln>
            <a:noFill/>
          </a:ln>
        </p:spPr>
        <p:txBody>
          <a:bodyPr>
            <a:normAutofit/>
          </a:bodyPr>
          <a:lstStyle/>
          <a:p>
            <a:pPr>
              <a:lnSpc>
                <a:spcPct val="150000"/>
              </a:lnSpc>
            </a:pPr>
            <a:r>
              <a:rPr lang="zh-TW" altLang="en-US" sz="3600" b="1" dirty="0">
                <a:ln w="9000" cmpd="sng">
                  <a:noFill/>
                  <a:prstDash val="solid"/>
                </a:ln>
                <a:solidFill>
                  <a:srgbClr val="0070C0"/>
                </a:solidFill>
                <a:effectLst/>
                <a:latin typeface="微軟正黑體" panose="020B0604030504040204" pitchFamily="34" charset="-120"/>
                <a:ea typeface="微軟正黑體" panose="020B0604030504040204" pitchFamily="34" charset="-120"/>
              </a:rPr>
              <a:t>專利閱讀</a:t>
            </a:r>
          </a:p>
        </p:txBody>
      </p:sp>
      <p:sp>
        <p:nvSpPr>
          <p:cNvPr id="4" name="副標題 3"/>
          <p:cNvSpPr>
            <a:spLocks noGrp="1"/>
          </p:cNvSpPr>
          <p:nvPr>
            <p:ph type="subTitle" idx="1"/>
          </p:nvPr>
        </p:nvSpPr>
        <p:spPr>
          <a:xfrm>
            <a:off x="7020272" y="6309320"/>
            <a:ext cx="2022301" cy="404664"/>
          </a:xfrm>
        </p:spPr>
        <p:txBody>
          <a:bodyPr>
            <a:noAutofit/>
          </a:bodyPr>
          <a:lstStyle/>
          <a:p>
            <a:pPr algn="l">
              <a:lnSpc>
                <a:spcPts val="2200"/>
              </a:lnSpc>
            </a:pPr>
            <a:r>
              <a:rPr lang="en-US" altLang="zh-TW" sz="1800" b="1" dirty="0">
                <a:solidFill>
                  <a:srgbClr val="0070C0"/>
                </a:solidFill>
                <a:latin typeface="微軟正黑體" panose="020B0604030504040204" pitchFamily="34" charset="-120"/>
                <a:ea typeface="微軟正黑體" panose="020B0604030504040204" pitchFamily="34" charset="-120"/>
              </a:rPr>
              <a:t>114</a:t>
            </a:r>
            <a:r>
              <a:rPr lang="zh-TW" altLang="en-US" sz="1800" b="1" dirty="0">
                <a:solidFill>
                  <a:srgbClr val="0070C0"/>
                </a:solidFill>
                <a:latin typeface="微軟正黑體" panose="020B0604030504040204" pitchFamily="34" charset="-120"/>
                <a:ea typeface="微軟正黑體" panose="020B0604030504040204" pitchFamily="34" charset="-120"/>
              </a:rPr>
              <a:t>年</a:t>
            </a:r>
            <a:r>
              <a:rPr lang="en-US" altLang="zh-TW" sz="1800" b="1" dirty="0">
                <a:solidFill>
                  <a:srgbClr val="0070C0"/>
                </a:solidFill>
                <a:latin typeface="微軟正黑體" panose="020B0604030504040204" pitchFamily="34" charset="-120"/>
                <a:ea typeface="微軟正黑體" panose="020B0604030504040204" pitchFamily="34" charset="-120"/>
              </a:rPr>
              <a:t>9</a:t>
            </a:r>
            <a:r>
              <a:rPr lang="zh-TW" altLang="en-US" sz="1800" b="1" dirty="0">
                <a:solidFill>
                  <a:srgbClr val="0070C0"/>
                </a:solidFill>
                <a:latin typeface="微軟正黑體" panose="020B0604030504040204" pitchFamily="34" charset="-120"/>
                <a:ea typeface="微軟正黑體" panose="020B0604030504040204" pitchFamily="34" charset="-120"/>
              </a:rPr>
              <a:t>月</a:t>
            </a:r>
            <a:r>
              <a:rPr lang="en-US" altLang="zh-TW" sz="1800" b="1">
                <a:solidFill>
                  <a:srgbClr val="0070C0"/>
                </a:solidFill>
                <a:latin typeface="微軟正黑體" panose="020B0604030504040204" pitchFamily="34" charset="-120"/>
                <a:ea typeface="微軟正黑體" panose="020B0604030504040204" pitchFamily="34" charset="-120"/>
              </a:rPr>
              <a:t>19</a:t>
            </a:r>
            <a:r>
              <a:rPr lang="zh-TW" altLang="en-US" sz="1800" b="1">
                <a:solidFill>
                  <a:srgbClr val="0070C0"/>
                </a:solidFill>
                <a:latin typeface="微軟正黑體" panose="020B0604030504040204" pitchFamily="34" charset="-120"/>
                <a:ea typeface="微軟正黑體" panose="020B0604030504040204" pitchFamily="34" charset="-120"/>
              </a:rPr>
              <a:t>日</a:t>
            </a:r>
            <a:endParaRPr lang="zh-TW" altLang="en-US" sz="1800" b="1" dirty="0">
              <a:solidFill>
                <a:srgbClr val="0070C0"/>
              </a:solidFill>
              <a:latin typeface="微軟正黑體" panose="020B0604030504040204" pitchFamily="34" charset="-120"/>
              <a:ea typeface="微軟正黑體" panose="020B0604030504040204" pitchFamily="34" charset="-120"/>
            </a:endParaRPr>
          </a:p>
        </p:txBody>
      </p:sp>
      <p:sp>
        <p:nvSpPr>
          <p:cNvPr id="6" name="副標題 2"/>
          <p:cNvSpPr txBox="1">
            <a:spLocks/>
          </p:cNvSpPr>
          <p:nvPr/>
        </p:nvSpPr>
        <p:spPr>
          <a:xfrm>
            <a:off x="4067944" y="4727401"/>
            <a:ext cx="3325339" cy="792088"/>
          </a:xfrm>
          <a:prstGeom prst="rect">
            <a:avLst/>
          </a:prstGeom>
          <a:ln>
            <a:miter lim="800000"/>
            <a:headEnd/>
            <a:tailEnd/>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rgbClr val="6699FF"/>
                </a:solidFill>
                <a:latin typeface="Adobe 繁黑體 Std B"/>
                <a:ea typeface="Adobe 繁黑體 Std B"/>
                <a:cs typeface="Adobe 繁黑體 Std B"/>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Adobe 繁黑體 Std B"/>
                <a:ea typeface="Adobe 繁黑體 Std B"/>
                <a:cs typeface="Adobe 繁黑體 Std B"/>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Adobe 繁黑體 Std B"/>
                <a:ea typeface="Adobe 繁黑體 Std B"/>
                <a:cs typeface="Adobe 繁黑體 Std B"/>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Adobe 繁黑體 Std B"/>
                <a:ea typeface="Adobe 繁黑體 Std B"/>
                <a:cs typeface="Adobe 繁黑體 Std B"/>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Adobe 繁黑體 Std B"/>
                <a:ea typeface="Adobe 繁黑體 Std B"/>
                <a:cs typeface="Adobe 繁黑體 Std B"/>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nSpc>
                <a:spcPts val="2500"/>
              </a:lnSpc>
              <a:defRPr/>
            </a:pPr>
            <a:r>
              <a:rPr lang="zh-TW" altLang="en-US" sz="2200" dirty="0">
                <a:ln w="10541" cmpd="sng">
                  <a:solidFill>
                    <a:schemeClr val="accent1">
                      <a:shade val="88000"/>
                      <a:satMod val="110000"/>
                    </a:schemeClr>
                  </a:solidFill>
                  <a:prstDash val="solid"/>
                </a:ln>
                <a:solidFill>
                  <a:srgbClr val="000099"/>
                </a:solidFill>
                <a:latin typeface="微軟正黑體" panose="020B0604030504040204" pitchFamily="34" charset="-120"/>
                <a:ea typeface="微軟正黑體" panose="020B0604030504040204" pitchFamily="34" charset="-120"/>
              </a:rPr>
              <a:t>智慧財產及商業法院</a:t>
            </a:r>
          </a:p>
          <a:p>
            <a:pPr>
              <a:defRPr/>
            </a:pPr>
            <a:r>
              <a:rPr lang="zh-TW" altLang="en-US" sz="2200" dirty="0">
                <a:solidFill>
                  <a:srgbClr val="000099"/>
                </a:solidFill>
                <a:latin typeface="微軟正黑體" pitchFamily="34" charset="-120"/>
                <a:ea typeface="微軟正黑體" pitchFamily="34" charset="-120"/>
              </a:rPr>
              <a:t>顏俊仁</a:t>
            </a:r>
          </a:p>
        </p:txBody>
      </p:sp>
    </p:spTree>
    <p:extLst>
      <p:ext uri="{BB962C8B-B14F-4D97-AF65-F5344CB8AC3E}">
        <p14:creationId xmlns:p14="http://schemas.microsoft.com/office/powerpoint/2010/main" val="2050690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1D5294-DB06-29E1-82F7-2FD6F6B8107F}"/>
              </a:ext>
            </a:extLst>
          </p:cNvPr>
          <p:cNvSpPr>
            <a:spLocks noGrp="1"/>
          </p:cNvSpPr>
          <p:nvPr>
            <p:ph type="title"/>
          </p:nvPr>
        </p:nvSpPr>
        <p:spPr/>
        <p:txBody>
          <a:bodyPr/>
          <a:lstStyle/>
          <a:p>
            <a:r>
              <a:rPr lang="zh-TW" altLang="en-US" dirty="0"/>
              <a:t>自行閱讀資料</a:t>
            </a:r>
          </a:p>
        </p:txBody>
      </p:sp>
      <p:sp>
        <p:nvSpPr>
          <p:cNvPr id="4" name="投影片編號版面配置區 3">
            <a:extLst>
              <a:ext uri="{FF2B5EF4-FFF2-40B4-BE49-F238E27FC236}">
                <a16:creationId xmlns:a16="http://schemas.microsoft.com/office/drawing/2014/main" id="{059EA146-7257-54CA-B267-C820E8F0C19C}"/>
              </a:ext>
            </a:extLst>
          </p:cNvPr>
          <p:cNvSpPr>
            <a:spLocks noGrp="1"/>
          </p:cNvSpPr>
          <p:nvPr>
            <p:ph type="sldNum" sz="quarter" idx="12"/>
          </p:nvPr>
        </p:nvSpPr>
        <p:spPr/>
        <p:txBody>
          <a:bodyPr/>
          <a:lstStyle/>
          <a:p>
            <a:fld id="{254D4C32-7A1A-45A5-84ED-81747F1ABFAE}" type="slidenum">
              <a:rPr lang="zh-TW" altLang="en-US" smtClean="0"/>
              <a:t>2</a:t>
            </a:fld>
            <a:endParaRPr lang="zh-TW" altLang="en-US"/>
          </a:p>
        </p:txBody>
      </p:sp>
      <p:sp>
        <p:nvSpPr>
          <p:cNvPr id="7" name="矩形 6">
            <a:extLst>
              <a:ext uri="{FF2B5EF4-FFF2-40B4-BE49-F238E27FC236}">
                <a16:creationId xmlns:a16="http://schemas.microsoft.com/office/drawing/2014/main" id="{9E831BF1-31F8-B84E-C126-062FD7B03D04}"/>
              </a:ext>
            </a:extLst>
          </p:cNvPr>
          <p:cNvSpPr/>
          <p:nvPr/>
        </p:nvSpPr>
        <p:spPr>
          <a:xfrm>
            <a:off x="464315" y="3662614"/>
            <a:ext cx="5472608" cy="1631216"/>
          </a:xfrm>
          <a:prstGeom prst="rect">
            <a:avLst/>
          </a:prstGeom>
        </p:spPr>
        <p:txBody>
          <a:bodyPr wrap="square">
            <a:spAutoFit/>
          </a:bodyPr>
          <a:lstStyle/>
          <a:p>
            <a:r>
              <a:rPr lang="zh-TW" altLang="en-US" sz="2000" b="1" dirty="0">
                <a:ln w="9000" cmpd="sng">
                  <a:noFill/>
                  <a:prstDash val="solid"/>
                </a:ln>
                <a:latin typeface="微軟正黑體" panose="020B0604030504040204" pitchFamily="34" charset="-120"/>
                <a:ea typeface="微軟正黑體" panose="020B0604030504040204" pitchFamily="34" charset="-120"/>
              </a:rPr>
              <a:t>專利審查基準</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a:p>
            <a:r>
              <a:rPr lang="zh-TW" altLang="en-US" sz="2000" b="1" dirty="0">
                <a:ln w="9000" cmpd="sng">
                  <a:noFill/>
                  <a:prstDash val="solid"/>
                </a:ln>
                <a:latin typeface="微軟正黑體" panose="020B0604030504040204" pitchFamily="34" charset="-120"/>
                <a:ea typeface="微軟正黑體" panose="020B0604030504040204" pitchFamily="34" charset="-120"/>
              </a:rPr>
              <a:t>第二篇發明專利審查基準</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a:p>
            <a:r>
              <a:rPr lang="zh-TW" altLang="en-US" sz="2000" b="1" dirty="0">
                <a:ln w="9000" cmpd="sng">
                  <a:noFill/>
                  <a:prstDash val="solid"/>
                </a:ln>
                <a:latin typeface="微軟正黑體" panose="020B0604030504040204" pitchFamily="34" charset="-120"/>
                <a:ea typeface="微軟正黑體" panose="020B0604030504040204" pitchFamily="34" charset="-120"/>
              </a:rPr>
              <a:t>第一章說明書、申請專利範圍、摘要及圖式</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a:p>
            <a:r>
              <a:rPr lang="en-US" altLang="zh-TW" sz="2000" dirty="0">
                <a:ln w="9000" cmpd="sng">
                  <a:noFill/>
                  <a:prstDash val="solid"/>
                </a:ln>
                <a:latin typeface="微軟正黑體" panose="020B0604030504040204" pitchFamily="34" charset="-120"/>
                <a:ea typeface="微軟正黑體" panose="020B0604030504040204" pitchFamily="34" charset="-120"/>
                <a:hlinkClick r:id="rId2"/>
              </a:rPr>
              <a:t>https://www1.tipo.gov.tw/PatentExamGuide/WORD1/0201.html</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p:txBody>
      </p:sp>
      <p:sp>
        <p:nvSpPr>
          <p:cNvPr id="5" name="矩形 4">
            <a:extLst>
              <a:ext uri="{FF2B5EF4-FFF2-40B4-BE49-F238E27FC236}">
                <a16:creationId xmlns:a16="http://schemas.microsoft.com/office/drawing/2014/main" id="{BAAC5EAD-F94B-985A-7D9D-64496FCE6A6A}"/>
              </a:ext>
            </a:extLst>
          </p:cNvPr>
          <p:cNvSpPr/>
          <p:nvPr/>
        </p:nvSpPr>
        <p:spPr>
          <a:xfrm>
            <a:off x="448404" y="1142613"/>
            <a:ext cx="5472608" cy="1015663"/>
          </a:xfrm>
          <a:prstGeom prst="rect">
            <a:avLst/>
          </a:prstGeom>
        </p:spPr>
        <p:txBody>
          <a:bodyPr wrap="square">
            <a:spAutoFit/>
          </a:bodyPr>
          <a:lstStyle/>
          <a:p>
            <a:r>
              <a:rPr lang="zh-TW" altLang="en-US" sz="2000" b="1" dirty="0">
                <a:ln w="9000" cmpd="sng">
                  <a:noFill/>
                  <a:prstDash val="solid"/>
                </a:ln>
                <a:latin typeface="微軟正黑體" panose="020B0604030504040204" pitchFamily="34" charset="-120"/>
                <a:ea typeface="微軟正黑體" panose="020B0604030504040204" pitchFamily="34" charset="-120"/>
              </a:rPr>
              <a:t>國際專利分類</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a:p>
            <a:r>
              <a:rPr lang="en-US" altLang="zh-TW" sz="2000" dirty="0">
                <a:ln w="9000" cmpd="sng">
                  <a:noFill/>
                  <a:prstDash val="solid"/>
                </a:ln>
                <a:latin typeface="微軟正黑體" panose="020B0604030504040204" pitchFamily="34" charset="-120"/>
                <a:ea typeface="微軟正黑體" panose="020B0604030504040204" pitchFamily="34" charset="-120"/>
                <a:hlinkClick r:id="rId3"/>
              </a:rPr>
              <a:t>https://www.tipo.gov.tw/tw/patents/478.html</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p:txBody>
      </p:sp>
      <p:pic>
        <p:nvPicPr>
          <p:cNvPr id="6" name="圖片 5">
            <a:extLst>
              <a:ext uri="{FF2B5EF4-FFF2-40B4-BE49-F238E27FC236}">
                <a16:creationId xmlns:a16="http://schemas.microsoft.com/office/drawing/2014/main" id="{0A9CE0DF-7A4B-81A8-6BEE-870459152A2F}"/>
              </a:ext>
            </a:extLst>
          </p:cNvPr>
          <p:cNvPicPr>
            <a:picLocks noChangeAspect="1"/>
          </p:cNvPicPr>
          <p:nvPr/>
        </p:nvPicPr>
        <p:blipFill>
          <a:blip r:embed="rId4"/>
          <a:stretch>
            <a:fillRect/>
          </a:stretch>
        </p:blipFill>
        <p:spPr>
          <a:xfrm>
            <a:off x="6480848" y="1142613"/>
            <a:ext cx="2208535" cy="2203660"/>
          </a:xfrm>
          <a:prstGeom prst="rect">
            <a:avLst/>
          </a:prstGeom>
        </p:spPr>
      </p:pic>
      <p:pic>
        <p:nvPicPr>
          <p:cNvPr id="9" name="圖片 8">
            <a:extLst>
              <a:ext uri="{FF2B5EF4-FFF2-40B4-BE49-F238E27FC236}">
                <a16:creationId xmlns:a16="http://schemas.microsoft.com/office/drawing/2014/main" id="{947C3E7E-3392-CA6A-6061-96E499EDABEB}"/>
              </a:ext>
            </a:extLst>
          </p:cNvPr>
          <p:cNvPicPr>
            <a:picLocks noChangeAspect="1"/>
          </p:cNvPicPr>
          <p:nvPr/>
        </p:nvPicPr>
        <p:blipFill>
          <a:blip r:embed="rId5"/>
          <a:stretch>
            <a:fillRect/>
          </a:stretch>
        </p:blipFill>
        <p:spPr>
          <a:xfrm>
            <a:off x="6471150" y="3662614"/>
            <a:ext cx="2198837" cy="2198837"/>
          </a:xfrm>
          <a:prstGeom prst="rect">
            <a:avLst/>
          </a:prstGeom>
        </p:spPr>
      </p:pic>
    </p:spTree>
    <p:extLst>
      <p:ext uri="{BB962C8B-B14F-4D97-AF65-F5344CB8AC3E}">
        <p14:creationId xmlns:p14="http://schemas.microsoft.com/office/powerpoint/2010/main" val="377824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a:xfrm>
            <a:off x="0" y="116632"/>
            <a:ext cx="9144000" cy="648072"/>
          </a:xfrm>
        </p:spPr>
        <p:txBody>
          <a:bodyPr/>
          <a:lstStyle/>
          <a:p>
            <a:r>
              <a:rPr lang="zh-TW" altLang="en-US" sz="3600" dirty="0">
                <a:latin typeface="微軟正黑體" panose="020B0604030504040204" pitchFamily="34" charset="-120"/>
                <a:ea typeface="微軟正黑體" panose="020B0604030504040204" pitchFamily="34" charset="-120"/>
              </a:rPr>
              <a:t>大綱</a:t>
            </a:r>
          </a:p>
        </p:txBody>
      </p:sp>
      <p:sp>
        <p:nvSpPr>
          <p:cNvPr id="3" name="投影片編號版面配置區 2"/>
          <p:cNvSpPr>
            <a:spLocks noGrp="1"/>
          </p:cNvSpPr>
          <p:nvPr>
            <p:ph type="sldNum" sz="quarter" idx="12"/>
          </p:nvPr>
        </p:nvSpPr>
        <p:spPr/>
        <p:txBody>
          <a:bodyPr/>
          <a:lstStyle/>
          <a:p>
            <a:fld id="{51D2D507-09EA-4C6F-96ED-053C801F8797}" type="slidenum">
              <a:rPr lang="zh-TW" altLang="en-US" smtClean="0"/>
              <a:t>3</a:t>
            </a:fld>
            <a:endParaRPr lang="zh-TW" altLang="en-US"/>
          </a:p>
        </p:txBody>
      </p:sp>
      <p:graphicFrame>
        <p:nvGraphicFramePr>
          <p:cNvPr id="2" name="資料庫圖表 1"/>
          <p:cNvGraphicFramePr/>
          <p:nvPr>
            <p:extLst>
              <p:ext uri="{D42A27DB-BD31-4B8C-83A1-F6EECF244321}">
                <p14:modId xmlns:p14="http://schemas.microsoft.com/office/powerpoint/2010/main" val="1255779334"/>
              </p:ext>
            </p:extLst>
          </p:nvPr>
        </p:nvGraphicFramePr>
        <p:xfrm>
          <a:off x="1619672" y="1268760"/>
          <a:ext cx="5904656" cy="48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7028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32957E-EF3E-525B-5CD6-56E14DA4D648}"/>
              </a:ext>
            </a:extLst>
          </p:cNvPr>
          <p:cNvSpPr>
            <a:spLocks noGrp="1"/>
          </p:cNvSpPr>
          <p:nvPr>
            <p:ph type="title"/>
          </p:nvPr>
        </p:nvSpPr>
        <p:spPr/>
        <p:txBody>
          <a:bodyPr/>
          <a:lstStyle/>
          <a:p>
            <a:r>
              <a:rPr lang="zh-TW" altLang="en-US" dirty="0"/>
              <a:t>專利閱讀目的</a:t>
            </a:r>
          </a:p>
        </p:txBody>
      </p:sp>
      <p:sp>
        <p:nvSpPr>
          <p:cNvPr id="4" name="投影片編號版面配置區 3">
            <a:extLst>
              <a:ext uri="{FF2B5EF4-FFF2-40B4-BE49-F238E27FC236}">
                <a16:creationId xmlns:a16="http://schemas.microsoft.com/office/drawing/2014/main" id="{3EA055D9-797E-5BD0-ABA3-C260C92D26FD}"/>
              </a:ext>
            </a:extLst>
          </p:cNvPr>
          <p:cNvSpPr>
            <a:spLocks noGrp="1"/>
          </p:cNvSpPr>
          <p:nvPr>
            <p:ph type="sldNum" sz="quarter" idx="12"/>
          </p:nvPr>
        </p:nvSpPr>
        <p:spPr/>
        <p:txBody>
          <a:bodyPr/>
          <a:lstStyle/>
          <a:p>
            <a:fld id="{51D2D507-09EA-4C6F-96ED-053C801F8797}" type="slidenum">
              <a:rPr lang="zh-TW" altLang="en-US" smtClean="0"/>
              <a:t>4</a:t>
            </a:fld>
            <a:endParaRPr lang="zh-TW" altLang="en-US"/>
          </a:p>
        </p:txBody>
      </p:sp>
      <p:pic>
        <p:nvPicPr>
          <p:cNvPr id="8" name="圖片 7">
            <a:extLst>
              <a:ext uri="{FF2B5EF4-FFF2-40B4-BE49-F238E27FC236}">
                <a16:creationId xmlns:a16="http://schemas.microsoft.com/office/drawing/2014/main" id="{11873F1D-33EA-B77D-8EA8-05536BACB65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036690"/>
            <a:ext cx="9144000" cy="5101714"/>
          </a:xfrm>
          <a:prstGeom prst="rect">
            <a:avLst/>
          </a:prstGeom>
        </p:spPr>
      </p:pic>
    </p:spTree>
    <p:extLst>
      <p:ext uri="{BB962C8B-B14F-4D97-AF65-F5344CB8AC3E}">
        <p14:creationId xmlns:p14="http://schemas.microsoft.com/office/powerpoint/2010/main" val="1115498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2996952"/>
            <a:ext cx="7772400" cy="968939"/>
          </a:xfrm>
        </p:spPr>
        <p:txBody>
          <a:bodyPr>
            <a:normAutofit/>
          </a:bodyPr>
          <a:lstStyle/>
          <a:p>
            <a:r>
              <a:rPr lang="zh-TW" altLang="en-US" sz="3600" dirty="0"/>
              <a:t>專利公報</a:t>
            </a:r>
          </a:p>
        </p:txBody>
      </p:sp>
      <p:sp>
        <p:nvSpPr>
          <p:cNvPr id="3" name="投影片編號版面配置區 3"/>
          <p:cNvSpPr>
            <a:spLocks noGrp="1"/>
          </p:cNvSpPr>
          <p:nvPr>
            <p:ph type="sldNum" sz="quarter" idx="12"/>
          </p:nvPr>
        </p:nvSpPr>
        <p:spPr>
          <a:xfrm>
            <a:off x="6553200" y="6446880"/>
            <a:ext cx="2133600" cy="365125"/>
          </a:xfrm>
        </p:spPr>
        <p:txBody>
          <a:bodyPr/>
          <a:lstStyle/>
          <a:p>
            <a:fld id="{51D2D507-09EA-4C6F-96ED-053C801F8797}" type="slidenum">
              <a:rPr lang="zh-TW" altLang="en-US" smtClean="0"/>
              <a:t>5</a:t>
            </a:fld>
            <a:endParaRPr lang="zh-TW" altLang="en-US" dirty="0"/>
          </a:p>
        </p:txBody>
      </p:sp>
    </p:spTree>
    <p:extLst>
      <p:ext uri="{BB962C8B-B14F-4D97-AF65-F5344CB8AC3E}">
        <p14:creationId xmlns:p14="http://schemas.microsoft.com/office/powerpoint/2010/main" val="3413346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專利制度</a:t>
            </a:r>
          </a:p>
        </p:txBody>
      </p:sp>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pPr>
                <a:defRPr/>
              </a:pPr>
              <a:t>6</a:t>
            </a:fld>
            <a:endParaRPr lang="zh-TW" altLang="en-US"/>
          </a:p>
        </p:txBody>
      </p:sp>
      <p:graphicFrame>
        <p:nvGraphicFramePr>
          <p:cNvPr id="3" name="資料庫圖表 2">
            <a:extLst>
              <a:ext uri="{FF2B5EF4-FFF2-40B4-BE49-F238E27FC236}">
                <a16:creationId xmlns:a16="http://schemas.microsoft.com/office/drawing/2014/main" id="{881D5237-106F-0DF0-386D-AAD3D325F449}"/>
              </a:ext>
            </a:extLst>
          </p:cNvPr>
          <p:cNvGraphicFramePr/>
          <p:nvPr>
            <p:extLst>
              <p:ext uri="{D42A27DB-BD31-4B8C-83A1-F6EECF244321}">
                <p14:modId xmlns:p14="http://schemas.microsoft.com/office/powerpoint/2010/main" val="4254465983"/>
              </p:ext>
            </p:extLst>
          </p:nvPr>
        </p:nvGraphicFramePr>
        <p:xfrm>
          <a:off x="323528" y="905653"/>
          <a:ext cx="3528392" cy="58158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文字方塊 5">
            <a:extLst>
              <a:ext uri="{FF2B5EF4-FFF2-40B4-BE49-F238E27FC236}">
                <a16:creationId xmlns:a16="http://schemas.microsoft.com/office/drawing/2014/main" id="{84748314-6940-E8B3-A556-DDF28837EE15}"/>
              </a:ext>
            </a:extLst>
          </p:cNvPr>
          <p:cNvSpPr txBox="1"/>
          <p:nvPr/>
        </p:nvSpPr>
        <p:spPr>
          <a:xfrm>
            <a:off x="3851920" y="932422"/>
            <a:ext cx="5148064" cy="369332"/>
          </a:xfrm>
          <a:prstGeom prst="rect">
            <a:avLst/>
          </a:prstGeom>
          <a:noFill/>
        </p:spPr>
        <p:txBody>
          <a:bodyPr wrap="square">
            <a:spAutoFit/>
          </a:bodyPr>
          <a:lstStyle/>
          <a:p>
            <a:r>
              <a:rPr lang="zh-TW" altLang="en-US" dirty="0">
                <a:latin typeface="微軟正黑體" panose="020B0604030504040204" pitchFamily="34" charset="-120"/>
                <a:ea typeface="微軟正黑體" panose="020B0604030504040204" pitchFamily="34" charset="-120"/>
              </a:rPr>
              <a:t>智慧財產</a:t>
            </a:r>
            <a:r>
              <a:rPr lang="en-US" altLang="zh-TW" dirty="0">
                <a:latin typeface="微軟正黑體" panose="020B0604030504040204" pitchFamily="34" charset="-120"/>
                <a:ea typeface="微軟正黑體" panose="020B0604030504040204" pitchFamily="34" charset="-120"/>
              </a:rPr>
              <a:t>e</a:t>
            </a:r>
            <a:r>
              <a:rPr lang="zh-TW" altLang="en-US" dirty="0">
                <a:latin typeface="微軟正黑體" panose="020B0604030504040204" pitchFamily="34" charset="-120"/>
                <a:ea typeface="微軟正黑體" panose="020B0604030504040204" pitchFamily="34" charset="-120"/>
              </a:rPr>
              <a:t>網通</a:t>
            </a:r>
            <a:r>
              <a:rPr lang="zh-TW" altLang="en-US" sz="1100" dirty="0">
                <a:latin typeface="微軟正黑體" panose="020B0604030504040204" pitchFamily="34" charset="-120"/>
                <a:ea typeface="微軟正黑體" panose="020B0604030504040204" pitchFamily="34" charset="-120"/>
              </a:rPr>
              <a:t>https://tiponet.tipo.gov.tw/030_OUT_V1/home.do</a:t>
            </a:r>
          </a:p>
        </p:txBody>
      </p:sp>
      <p:pic>
        <p:nvPicPr>
          <p:cNvPr id="8" name="圖片 7">
            <a:extLst>
              <a:ext uri="{FF2B5EF4-FFF2-40B4-BE49-F238E27FC236}">
                <a16:creationId xmlns:a16="http://schemas.microsoft.com/office/drawing/2014/main" id="{B55E0F46-68C8-BCBA-EE69-B996F4CA9450}"/>
              </a:ext>
            </a:extLst>
          </p:cNvPr>
          <p:cNvPicPr>
            <a:picLocks noChangeAspect="1"/>
          </p:cNvPicPr>
          <p:nvPr/>
        </p:nvPicPr>
        <p:blipFill>
          <a:blip r:embed="rId7"/>
          <a:stretch>
            <a:fillRect/>
          </a:stretch>
        </p:blipFill>
        <p:spPr>
          <a:xfrm>
            <a:off x="4572000" y="1376578"/>
            <a:ext cx="3744416" cy="5351608"/>
          </a:xfrm>
          <a:prstGeom prst="rect">
            <a:avLst/>
          </a:prstGeom>
        </p:spPr>
      </p:pic>
    </p:spTree>
    <p:extLst>
      <p:ext uri="{BB962C8B-B14F-4D97-AF65-F5344CB8AC3E}">
        <p14:creationId xmlns:p14="http://schemas.microsoft.com/office/powerpoint/2010/main" val="2779679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AC3F9CDB-315B-E7BF-870C-2A5AD0BA259C}"/>
              </a:ext>
            </a:extLst>
          </p:cNvPr>
          <p:cNvPicPr>
            <a:picLocks noChangeAspect="1"/>
          </p:cNvPicPr>
          <p:nvPr/>
        </p:nvPicPr>
        <p:blipFill>
          <a:blip r:embed="rId2"/>
          <a:stretch>
            <a:fillRect/>
          </a:stretch>
        </p:blipFill>
        <p:spPr>
          <a:xfrm>
            <a:off x="501812" y="879833"/>
            <a:ext cx="8305079" cy="5943203"/>
          </a:xfrm>
          <a:prstGeom prst="rect">
            <a:avLst/>
          </a:prstGeom>
        </p:spPr>
      </p:pic>
      <p:sp>
        <p:nvSpPr>
          <p:cNvPr id="2" name="標題 1">
            <a:extLst>
              <a:ext uri="{FF2B5EF4-FFF2-40B4-BE49-F238E27FC236}">
                <a16:creationId xmlns:a16="http://schemas.microsoft.com/office/drawing/2014/main" id="{B5C8F7CC-6B72-5269-D263-E2F47FE0A724}"/>
              </a:ext>
            </a:extLst>
          </p:cNvPr>
          <p:cNvSpPr>
            <a:spLocks noGrp="1"/>
          </p:cNvSpPr>
          <p:nvPr>
            <p:ph type="title"/>
          </p:nvPr>
        </p:nvSpPr>
        <p:spPr/>
        <p:txBody>
          <a:bodyPr/>
          <a:lstStyle/>
          <a:p>
            <a:r>
              <a:rPr lang="zh-TW" altLang="en-US" dirty="0"/>
              <a:t>發明公開公報</a:t>
            </a:r>
          </a:p>
        </p:txBody>
      </p:sp>
      <p:sp>
        <p:nvSpPr>
          <p:cNvPr id="4" name="投影片編號版面配置區 3">
            <a:extLst>
              <a:ext uri="{FF2B5EF4-FFF2-40B4-BE49-F238E27FC236}">
                <a16:creationId xmlns:a16="http://schemas.microsoft.com/office/drawing/2014/main" id="{4941E23B-12E3-50C7-BF73-5F8D82C884F9}"/>
              </a:ext>
            </a:extLst>
          </p:cNvPr>
          <p:cNvSpPr>
            <a:spLocks noGrp="1"/>
          </p:cNvSpPr>
          <p:nvPr>
            <p:ph type="sldNum" sz="quarter" idx="12"/>
          </p:nvPr>
        </p:nvSpPr>
        <p:spPr>
          <a:xfrm>
            <a:off x="6702618" y="6381328"/>
            <a:ext cx="2133600" cy="365125"/>
          </a:xfrm>
        </p:spPr>
        <p:txBody>
          <a:bodyPr/>
          <a:lstStyle/>
          <a:p>
            <a:fld id="{51D2D507-09EA-4C6F-96ED-053C801F8797}" type="slidenum">
              <a:rPr lang="zh-TW" altLang="en-US" smtClean="0"/>
              <a:t>7</a:t>
            </a:fld>
            <a:endParaRPr lang="zh-TW" altLang="en-US" dirty="0"/>
          </a:p>
        </p:txBody>
      </p:sp>
    </p:spTree>
    <p:extLst>
      <p:ext uri="{BB962C8B-B14F-4D97-AF65-F5344CB8AC3E}">
        <p14:creationId xmlns:p14="http://schemas.microsoft.com/office/powerpoint/2010/main" val="3985016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C8F7CC-6B72-5269-D263-E2F47FE0A724}"/>
              </a:ext>
            </a:extLst>
          </p:cNvPr>
          <p:cNvSpPr>
            <a:spLocks noGrp="1"/>
          </p:cNvSpPr>
          <p:nvPr>
            <p:ph type="title"/>
          </p:nvPr>
        </p:nvSpPr>
        <p:spPr/>
        <p:txBody>
          <a:bodyPr/>
          <a:lstStyle/>
          <a:p>
            <a:r>
              <a:rPr lang="zh-TW" altLang="en-US" dirty="0"/>
              <a:t>專利公報</a:t>
            </a:r>
          </a:p>
        </p:txBody>
      </p:sp>
      <p:sp>
        <p:nvSpPr>
          <p:cNvPr id="4" name="投影片編號版面配置區 3">
            <a:extLst>
              <a:ext uri="{FF2B5EF4-FFF2-40B4-BE49-F238E27FC236}">
                <a16:creationId xmlns:a16="http://schemas.microsoft.com/office/drawing/2014/main" id="{4941E23B-12E3-50C7-BF73-5F8D82C884F9}"/>
              </a:ext>
            </a:extLst>
          </p:cNvPr>
          <p:cNvSpPr>
            <a:spLocks noGrp="1"/>
          </p:cNvSpPr>
          <p:nvPr>
            <p:ph type="sldNum" sz="quarter" idx="12"/>
          </p:nvPr>
        </p:nvSpPr>
        <p:spPr/>
        <p:txBody>
          <a:bodyPr/>
          <a:lstStyle/>
          <a:p>
            <a:fld id="{51D2D507-09EA-4C6F-96ED-053C801F8797}" type="slidenum">
              <a:rPr lang="zh-TW" altLang="en-US" smtClean="0"/>
              <a:t>8</a:t>
            </a:fld>
            <a:endParaRPr lang="zh-TW" altLang="en-US"/>
          </a:p>
        </p:txBody>
      </p:sp>
      <p:pic>
        <p:nvPicPr>
          <p:cNvPr id="5" name="圖片 4">
            <a:extLst>
              <a:ext uri="{FF2B5EF4-FFF2-40B4-BE49-F238E27FC236}">
                <a16:creationId xmlns:a16="http://schemas.microsoft.com/office/drawing/2014/main" id="{63143505-2838-CE06-17DC-DC582417DE11}"/>
              </a:ext>
            </a:extLst>
          </p:cNvPr>
          <p:cNvPicPr>
            <a:picLocks noChangeAspect="1"/>
          </p:cNvPicPr>
          <p:nvPr/>
        </p:nvPicPr>
        <p:blipFill>
          <a:blip r:embed="rId2"/>
          <a:stretch>
            <a:fillRect/>
          </a:stretch>
        </p:blipFill>
        <p:spPr>
          <a:xfrm>
            <a:off x="1331640" y="764704"/>
            <a:ext cx="6848992" cy="6017256"/>
          </a:xfrm>
          <a:prstGeom prst="rect">
            <a:avLst/>
          </a:prstGeom>
        </p:spPr>
      </p:pic>
    </p:spTree>
    <p:extLst>
      <p:ext uri="{BB962C8B-B14F-4D97-AF65-F5344CB8AC3E}">
        <p14:creationId xmlns:p14="http://schemas.microsoft.com/office/powerpoint/2010/main" val="3792524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4CB199-25AD-288B-943B-408F1669D14C}"/>
              </a:ext>
            </a:extLst>
          </p:cNvPr>
          <p:cNvSpPr>
            <a:spLocks noGrp="1"/>
          </p:cNvSpPr>
          <p:nvPr>
            <p:ph type="title"/>
          </p:nvPr>
        </p:nvSpPr>
        <p:spPr/>
        <p:txBody>
          <a:bodyPr/>
          <a:lstStyle/>
          <a:p>
            <a:r>
              <a:rPr lang="zh-TW" altLang="en-US" dirty="0"/>
              <a:t>專利公報</a:t>
            </a:r>
          </a:p>
        </p:txBody>
      </p:sp>
      <p:sp>
        <p:nvSpPr>
          <p:cNvPr id="3" name="內容版面配置區 2">
            <a:extLst>
              <a:ext uri="{FF2B5EF4-FFF2-40B4-BE49-F238E27FC236}">
                <a16:creationId xmlns:a16="http://schemas.microsoft.com/office/drawing/2014/main" id="{D76286F9-149A-8DAF-6ED7-1EAAABCBD694}"/>
              </a:ext>
            </a:extLst>
          </p:cNvPr>
          <p:cNvSpPr>
            <a:spLocks noGrp="1"/>
          </p:cNvSpPr>
          <p:nvPr>
            <p:ph idx="1"/>
          </p:nvPr>
        </p:nvSpPr>
        <p:spPr/>
        <p:txBody>
          <a:bodyPr/>
          <a:lstStyle/>
          <a:p>
            <a:r>
              <a:rPr lang="en-US" altLang="zh-TW" dirty="0"/>
              <a:t>INID</a:t>
            </a:r>
            <a:r>
              <a:rPr lang="zh-TW" altLang="en-US" dirty="0"/>
              <a:t> </a:t>
            </a:r>
            <a:r>
              <a:rPr lang="en-US" altLang="zh-TW" dirty="0"/>
              <a:t>code(</a:t>
            </a:r>
            <a:r>
              <a:rPr lang="en-US" altLang="zh-TW" b="1" i="0" u="sng" dirty="0">
                <a:solidFill>
                  <a:srgbClr val="222222"/>
                </a:solidFill>
                <a:effectLst/>
                <a:highlight>
                  <a:srgbClr val="FFFFFF"/>
                </a:highlight>
                <a:latin typeface="Noto Sans TC"/>
              </a:rPr>
              <a:t>I</a:t>
            </a:r>
            <a:r>
              <a:rPr lang="en-US" altLang="zh-TW" b="0" i="0" dirty="0">
                <a:solidFill>
                  <a:srgbClr val="222222"/>
                </a:solidFill>
                <a:effectLst/>
                <a:highlight>
                  <a:srgbClr val="FFFFFF"/>
                </a:highlight>
                <a:latin typeface="Noto Sans TC"/>
              </a:rPr>
              <a:t>nternationally</a:t>
            </a:r>
            <a:r>
              <a:rPr lang="zh-TW" altLang="en-US" b="0" i="0" dirty="0">
                <a:solidFill>
                  <a:srgbClr val="222222"/>
                </a:solidFill>
                <a:effectLst/>
                <a:highlight>
                  <a:srgbClr val="FFFFFF"/>
                </a:highlight>
                <a:latin typeface="Noto Sans TC"/>
              </a:rPr>
              <a:t> </a:t>
            </a:r>
            <a:r>
              <a:rPr lang="en-US" altLang="zh-TW" b="0" i="0" dirty="0">
                <a:solidFill>
                  <a:srgbClr val="222222"/>
                </a:solidFill>
                <a:effectLst/>
                <a:highlight>
                  <a:srgbClr val="FFFFFF"/>
                </a:highlight>
                <a:latin typeface="Noto Sans TC"/>
              </a:rPr>
              <a:t>agreed</a:t>
            </a:r>
            <a:r>
              <a:rPr lang="zh-TW" altLang="en-US" b="0" i="0" dirty="0">
                <a:solidFill>
                  <a:srgbClr val="222222"/>
                </a:solidFill>
                <a:effectLst/>
                <a:highlight>
                  <a:srgbClr val="FFFFFF"/>
                </a:highlight>
                <a:latin typeface="Noto Sans TC"/>
              </a:rPr>
              <a:t> </a:t>
            </a:r>
            <a:r>
              <a:rPr lang="en-US" altLang="zh-TW" b="1" u="sng" dirty="0">
                <a:solidFill>
                  <a:srgbClr val="222222"/>
                </a:solidFill>
                <a:effectLst/>
                <a:highlight>
                  <a:srgbClr val="FFFFFF"/>
                </a:highlight>
                <a:latin typeface="Noto Sans TC"/>
              </a:rPr>
              <a:t>N</a:t>
            </a:r>
            <a:r>
              <a:rPr lang="en-US" altLang="zh-TW" b="0" i="0" dirty="0">
                <a:solidFill>
                  <a:srgbClr val="222222"/>
                </a:solidFill>
                <a:effectLst/>
                <a:highlight>
                  <a:srgbClr val="FFFFFF"/>
                </a:highlight>
                <a:latin typeface="Noto Sans TC"/>
              </a:rPr>
              <a:t>umbers</a:t>
            </a:r>
            <a:r>
              <a:rPr lang="zh-TW" altLang="en-US" b="0" i="0" dirty="0">
                <a:solidFill>
                  <a:srgbClr val="222222"/>
                </a:solidFill>
                <a:effectLst/>
                <a:highlight>
                  <a:srgbClr val="FFFFFF"/>
                </a:highlight>
                <a:latin typeface="Noto Sans TC"/>
              </a:rPr>
              <a:t> </a:t>
            </a:r>
            <a:r>
              <a:rPr lang="en-US" altLang="zh-TW" b="0" i="0" dirty="0">
                <a:solidFill>
                  <a:srgbClr val="222222"/>
                </a:solidFill>
                <a:effectLst/>
                <a:highlight>
                  <a:srgbClr val="FFFFFF"/>
                </a:highlight>
                <a:latin typeface="Noto Sans TC"/>
              </a:rPr>
              <a:t>for</a:t>
            </a:r>
            <a:r>
              <a:rPr lang="zh-TW" altLang="en-US" b="0" i="0" dirty="0">
                <a:solidFill>
                  <a:srgbClr val="222222"/>
                </a:solidFill>
                <a:effectLst/>
                <a:highlight>
                  <a:srgbClr val="FFFFFF"/>
                </a:highlight>
                <a:latin typeface="Noto Sans TC"/>
              </a:rPr>
              <a:t> </a:t>
            </a:r>
            <a:r>
              <a:rPr lang="en-US" altLang="zh-TW" b="0" i="0" dirty="0">
                <a:solidFill>
                  <a:srgbClr val="222222"/>
                </a:solidFill>
                <a:effectLst/>
                <a:highlight>
                  <a:srgbClr val="FFFFFF"/>
                </a:highlight>
                <a:latin typeface="Noto Sans TC"/>
              </a:rPr>
              <a:t>the</a:t>
            </a:r>
            <a:r>
              <a:rPr lang="zh-TW" altLang="en-US" b="0" i="0" dirty="0">
                <a:solidFill>
                  <a:srgbClr val="222222"/>
                </a:solidFill>
                <a:effectLst/>
                <a:highlight>
                  <a:srgbClr val="FFFFFF"/>
                </a:highlight>
                <a:latin typeface="Noto Sans TC"/>
              </a:rPr>
              <a:t> </a:t>
            </a:r>
            <a:r>
              <a:rPr lang="en-US" altLang="zh-TW" b="1" i="0" u="sng" dirty="0">
                <a:solidFill>
                  <a:srgbClr val="222222"/>
                </a:solidFill>
                <a:effectLst/>
                <a:highlight>
                  <a:srgbClr val="FFFFFF"/>
                </a:highlight>
                <a:latin typeface="Noto Sans TC"/>
              </a:rPr>
              <a:t>I</a:t>
            </a:r>
            <a:r>
              <a:rPr lang="en-US" altLang="zh-TW" b="0" i="0" dirty="0">
                <a:solidFill>
                  <a:srgbClr val="222222"/>
                </a:solidFill>
                <a:effectLst/>
                <a:highlight>
                  <a:srgbClr val="FFFFFF"/>
                </a:highlight>
                <a:latin typeface="Noto Sans TC"/>
              </a:rPr>
              <a:t>dentification</a:t>
            </a:r>
            <a:r>
              <a:rPr lang="zh-TW" altLang="en-US" b="0" i="0" dirty="0">
                <a:solidFill>
                  <a:srgbClr val="222222"/>
                </a:solidFill>
                <a:effectLst/>
                <a:highlight>
                  <a:srgbClr val="FFFFFF"/>
                </a:highlight>
                <a:latin typeface="Noto Sans TC"/>
              </a:rPr>
              <a:t> </a:t>
            </a:r>
            <a:r>
              <a:rPr lang="en-US" altLang="zh-TW" b="0" i="0" dirty="0">
                <a:solidFill>
                  <a:srgbClr val="222222"/>
                </a:solidFill>
                <a:effectLst/>
                <a:highlight>
                  <a:srgbClr val="FFFFFF"/>
                </a:highlight>
                <a:latin typeface="Noto Sans TC"/>
              </a:rPr>
              <a:t>of</a:t>
            </a:r>
            <a:r>
              <a:rPr lang="zh-TW" altLang="en-US" b="0" i="0" dirty="0">
                <a:solidFill>
                  <a:srgbClr val="222222"/>
                </a:solidFill>
                <a:effectLst/>
                <a:highlight>
                  <a:srgbClr val="FFFFFF"/>
                </a:highlight>
                <a:latin typeface="Noto Sans TC"/>
              </a:rPr>
              <a:t> </a:t>
            </a:r>
            <a:r>
              <a:rPr lang="en-US" altLang="zh-TW" b="0" i="0" dirty="0">
                <a:solidFill>
                  <a:srgbClr val="222222"/>
                </a:solidFill>
                <a:effectLst/>
                <a:highlight>
                  <a:srgbClr val="FFFFFF"/>
                </a:highlight>
                <a:latin typeface="Noto Sans TC"/>
              </a:rPr>
              <a:t>Data</a:t>
            </a:r>
            <a:r>
              <a:rPr lang="en-US" altLang="zh-TW" dirty="0"/>
              <a:t>)</a:t>
            </a:r>
          </a:p>
          <a:p>
            <a:pPr lvl="1"/>
            <a:r>
              <a:rPr lang="en-US" altLang="zh-TW" b="0" i="0" dirty="0">
                <a:solidFill>
                  <a:srgbClr val="222222"/>
                </a:solidFill>
                <a:effectLst/>
                <a:highlight>
                  <a:srgbClr val="FFFFFF"/>
                </a:highlight>
                <a:latin typeface="Noto Sans TC"/>
                <a:hlinkClick r:id="rId2"/>
              </a:rPr>
              <a:t>http://www.wipo.int/export/sites/www/standards/en/pdf/03-09-01.pdf</a:t>
            </a:r>
            <a:endParaRPr lang="en-US" altLang="zh-TW" b="0" i="0" dirty="0">
              <a:solidFill>
                <a:srgbClr val="222222"/>
              </a:solidFill>
              <a:effectLst/>
              <a:highlight>
                <a:srgbClr val="FFFFFF"/>
              </a:highlight>
              <a:latin typeface="Noto Sans TC"/>
            </a:endParaRPr>
          </a:p>
          <a:p>
            <a:r>
              <a:rPr lang="zh-TW" altLang="en-US" dirty="0">
                <a:solidFill>
                  <a:srgbClr val="222222"/>
                </a:solidFill>
                <a:highlight>
                  <a:srgbClr val="FFFFFF"/>
                </a:highlight>
                <a:latin typeface="Noto Sans TC"/>
              </a:rPr>
              <a:t>專利權維護及變動</a:t>
            </a:r>
            <a:endParaRPr lang="en-US" altLang="zh-TW" dirty="0">
              <a:solidFill>
                <a:srgbClr val="222222"/>
              </a:solidFill>
              <a:highlight>
                <a:srgbClr val="FFFFFF"/>
              </a:highlight>
              <a:latin typeface="Noto Sans TC"/>
            </a:endParaRPr>
          </a:p>
          <a:p>
            <a:pPr lvl="1"/>
            <a:r>
              <a:rPr lang="zh-TW" altLang="en-US" dirty="0">
                <a:solidFill>
                  <a:srgbClr val="222222"/>
                </a:solidFill>
                <a:highlight>
                  <a:srgbClr val="FFFFFF"/>
                </a:highlight>
                <a:latin typeface="Noto Sans TC"/>
              </a:rPr>
              <a:t>專利法第</a:t>
            </a:r>
            <a:r>
              <a:rPr lang="en-US" altLang="zh-TW" dirty="0">
                <a:solidFill>
                  <a:srgbClr val="222222"/>
                </a:solidFill>
                <a:highlight>
                  <a:srgbClr val="FFFFFF"/>
                </a:highlight>
                <a:latin typeface="Noto Sans TC"/>
              </a:rPr>
              <a:t>84</a:t>
            </a:r>
            <a:r>
              <a:rPr lang="zh-TW" altLang="en-US" dirty="0">
                <a:solidFill>
                  <a:srgbClr val="222222"/>
                </a:solidFill>
                <a:highlight>
                  <a:srgbClr val="FFFFFF"/>
                </a:highlight>
                <a:latin typeface="Noto Sans TC"/>
              </a:rPr>
              <a:t>條</a:t>
            </a:r>
            <a:endParaRPr lang="en-US" altLang="zh-TW" dirty="0">
              <a:solidFill>
                <a:srgbClr val="222222"/>
              </a:solidFill>
              <a:highlight>
                <a:srgbClr val="FFFFFF"/>
              </a:highlight>
              <a:latin typeface="Noto Sans TC"/>
            </a:endParaRPr>
          </a:p>
          <a:p>
            <a:pPr lvl="2"/>
            <a:r>
              <a:rPr lang="zh-TW" altLang="en-US" dirty="0"/>
              <a:t>發明專利權之核准、變更、延長、延展、讓與、信託、授權、強制授權、撤銷、消滅、設定質權、舉發審定及其他應公告事項，應於專利公報公告之。</a:t>
            </a:r>
          </a:p>
        </p:txBody>
      </p:sp>
      <p:sp>
        <p:nvSpPr>
          <p:cNvPr id="4" name="投影片編號版面配置區 3">
            <a:extLst>
              <a:ext uri="{FF2B5EF4-FFF2-40B4-BE49-F238E27FC236}">
                <a16:creationId xmlns:a16="http://schemas.microsoft.com/office/drawing/2014/main" id="{C0C0C37D-A3B7-41F3-3F4A-492B3613E09A}"/>
              </a:ext>
            </a:extLst>
          </p:cNvPr>
          <p:cNvSpPr>
            <a:spLocks noGrp="1"/>
          </p:cNvSpPr>
          <p:nvPr>
            <p:ph type="sldNum" sz="quarter" idx="12"/>
          </p:nvPr>
        </p:nvSpPr>
        <p:spPr/>
        <p:txBody>
          <a:bodyPr/>
          <a:lstStyle/>
          <a:p>
            <a:fld id="{51D2D507-09EA-4C6F-96ED-053C801F8797}" type="slidenum">
              <a:rPr lang="zh-TW" altLang="en-US" smtClean="0"/>
              <a:t>9</a:t>
            </a:fld>
            <a:endParaRPr lang="zh-TW" altLang="en-US"/>
          </a:p>
        </p:txBody>
      </p:sp>
    </p:spTree>
    <p:extLst>
      <p:ext uri="{BB962C8B-B14F-4D97-AF65-F5344CB8AC3E}">
        <p14:creationId xmlns:p14="http://schemas.microsoft.com/office/powerpoint/2010/main" val="2430035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433E98-91E6-8839-82BE-AD62DF4AAB53}"/>
              </a:ext>
            </a:extLst>
          </p:cNvPr>
          <p:cNvSpPr>
            <a:spLocks noGrp="1"/>
          </p:cNvSpPr>
          <p:nvPr>
            <p:ph type="title"/>
          </p:nvPr>
        </p:nvSpPr>
        <p:spPr/>
        <p:txBody>
          <a:bodyPr/>
          <a:lstStyle/>
          <a:p>
            <a:r>
              <a:rPr lang="en-US" altLang="zh-TW" dirty="0"/>
              <a:t>INID</a:t>
            </a:r>
            <a:r>
              <a:rPr lang="zh-TW" altLang="en-US" dirty="0"/>
              <a:t>碼</a:t>
            </a:r>
          </a:p>
        </p:txBody>
      </p:sp>
      <p:sp>
        <p:nvSpPr>
          <p:cNvPr id="4" name="投影片編號版面配置區 3">
            <a:extLst>
              <a:ext uri="{FF2B5EF4-FFF2-40B4-BE49-F238E27FC236}">
                <a16:creationId xmlns:a16="http://schemas.microsoft.com/office/drawing/2014/main" id="{46108D54-B98B-47CE-C146-DC0991AA0526}"/>
              </a:ext>
            </a:extLst>
          </p:cNvPr>
          <p:cNvSpPr>
            <a:spLocks noGrp="1"/>
          </p:cNvSpPr>
          <p:nvPr>
            <p:ph type="sldNum" sz="quarter" idx="12"/>
          </p:nvPr>
        </p:nvSpPr>
        <p:spPr/>
        <p:txBody>
          <a:bodyPr/>
          <a:lstStyle/>
          <a:p>
            <a:fld id="{51D2D507-09EA-4C6F-96ED-053C801F8797}" type="slidenum">
              <a:rPr lang="zh-TW" altLang="en-US" smtClean="0"/>
              <a:t>10</a:t>
            </a:fld>
            <a:endParaRPr lang="zh-TW" altLang="en-US"/>
          </a:p>
        </p:txBody>
      </p:sp>
      <p:pic>
        <p:nvPicPr>
          <p:cNvPr id="8" name="圖片 7">
            <a:extLst>
              <a:ext uri="{FF2B5EF4-FFF2-40B4-BE49-F238E27FC236}">
                <a16:creationId xmlns:a16="http://schemas.microsoft.com/office/drawing/2014/main" id="{FED4E284-523C-1CA6-A4D3-85DC18F793DC}"/>
              </a:ext>
            </a:extLst>
          </p:cNvPr>
          <p:cNvPicPr>
            <a:picLocks noChangeAspect="1"/>
          </p:cNvPicPr>
          <p:nvPr/>
        </p:nvPicPr>
        <p:blipFill>
          <a:blip r:embed="rId2"/>
          <a:stretch>
            <a:fillRect/>
          </a:stretch>
        </p:blipFill>
        <p:spPr>
          <a:xfrm>
            <a:off x="0" y="1124744"/>
            <a:ext cx="9144000" cy="5101714"/>
          </a:xfrm>
          <a:prstGeom prst="rect">
            <a:avLst/>
          </a:prstGeom>
        </p:spPr>
      </p:pic>
    </p:spTree>
    <p:extLst>
      <p:ext uri="{BB962C8B-B14F-4D97-AF65-F5344CB8AC3E}">
        <p14:creationId xmlns:p14="http://schemas.microsoft.com/office/powerpoint/2010/main" val="3607957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E1CA0B-027A-644D-FA6F-CCCD19DACE0B}"/>
              </a:ext>
            </a:extLst>
          </p:cNvPr>
          <p:cNvSpPr>
            <a:spLocks noGrp="1"/>
          </p:cNvSpPr>
          <p:nvPr>
            <p:ph type="title"/>
          </p:nvPr>
        </p:nvSpPr>
        <p:spPr/>
        <p:txBody>
          <a:bodyPr/>
          <a:lstStyle/>
          <a:p>
            <a:endParaRPr lang="zh-TW" altLang="en-US"/>
          </a:p>
        </p:txBody>
      </p:sp>
      <p:sp>
        <p:nvSpPr>
          <p:cNvPr id="4" name="投影片編號版面配置區 3">
            <a:extLst>
              <a:ext uri="{FF2B5EF4-FFF2-40B4-BE49-F238E27FC236}">
                <a16:creationId xmlns:a16="http://schemas.microsoft.com/office/drawing/2014/main" id="{401EBFFF-34E0-10FC-2522-80DD18841786}"/>
              </a:ext>
            </a:extLst>
          </p:cNvPr>
          <p:cNvSpPr>
            <a:spLocks noGrp="1"/>
          </p:cNvSpPr>
          <p:nvPr>
            <p:ph type="sldNum" sz="quarter" idx="12"/>
          </p:nvPr>
        </p:nvSpPr>
        <p:spPr/>
        <p:txBody>
          <a:bodyPr/>
          <a:lstStyle/>
          <a:p>
            <a:fld id="{51D2D507-09EA-4C6F-96ED-053C801F8797}" type="slidenum">
              <a:rPr lang="zh-TW" altLang="en-US" smtClean="0"/>
              <a:t>11</a:t>
            </a:fld>
            <a:endParaRPr lang="zh-TW" altLang="en-US"/>
          </a:p>
        </p:txBody>
      </p:sp>
      <p:pic>
        <p:nvPicPr>
          <p:cNvPr id="6" name="圖片 5">
            <a:extLst>
              <a:ext uri="{FF2B5EF4-FFF2-40B4-BE49-F238E27FC236}">
                <a16:creationId xmlns:a16="http://schemas.microsoft.com/office/drawing/2014/main" id="{6595356D-3705-E4A7-A8BE-B6900C6C9B85}"/>
              </a:ext>
            </a:extLst>
          </p:cNvPr>
          <p:cNvPicPr>
            <a:picLocks noChangeAspect="1"/>
          </p:cNvPicPr>
          <p:nvPr/>
        </p:nvPicPr>
        <p:blipFill>
          <a:blip r:embed="rId2"/>
          <a:stretch>
            <a:fillRect/>
          </a:stretch>
        </p:blipFill>
        <p:spPr>
          <a:xfrm>
            <a:off x="1199858" y="103229"/>
            <a:ext cx="6744284" cy="6618246"/>
          </a:xfrm>
          <a:prstGeom prst="rect">
            <a:avLst/>
          </a:prstGeom>
        </p:spPr>
      </p:pic>
    </p:spTree>
    <p:extLst>
      <p:ext uri="{BB962C8B-B14F-4D97-AF65-F5344CB8AC3E}">
        <p14:creationId xmlns:p14="http://schemas.microsoft.com/office/powerpoint/2010/main" val="2854516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4E622F-0EA1-4497-1367-1A924FB199AA}"/>
              </a:ext>
            </a:extLst>
          </p:cNvPr>
          <p:cNvSpPr>
            <a:spLocks noGrp="1"/>
          </p:cNvSpPr>
          <p:nvPr>
            <p:ph type="title"/>
          </p:nvPr>
        </p:nvSpPr>
        <p:spPr/>
        <p:txBody>
          <a:bodyPr/>
          <a:lstStyle/>
          <a:p>
            <a:r>
              <a:rPr lang="zh-TW" altLang="en-US" dirty="0"/>
              <a:t>專利權維護及變動</a:t>
            </a:r>
            <a:br>
              <a:rPr lang="zh-TW" altLang="en-US" dirty="0"/>
            </a:br>
            <a:endParaRPr lang="zh-TW" altLang="en-US" dirty="0"/>
          </a:p>
        </p:txBody>
      </p:sp>
      <p:sp>
        <p:nvSpPr>
          <p:cNvPr id="4" name="投影片編號版面配置區 3">
            <a:extLst>
              <a:ext uri="{FF2B5EF4-FFF2-40B4-BE49-F238E27FC236}">
                <a16:creationId xmlns:a16="http://schemas.microsoft.com/office/drawing/2014/main" id="{14B034DA-7692-C48F-556B-D0AD313A59A3}"/>
              </a:ext>
            </a:extLst>
          </p:cNvPr>
          <p:cNvSpPr>
            <a:spLocks noGrp="1"/>
          </p:cNvSpPr>
          <p:nvPr>
            <p:ph type="sldNum" sz="quarter" idx="12"/>
          </p:nvPr>
        </p:nvSpPr>
        <p:spPr/>
        <p:txBody>
          <a:bodyPr/>
          <a:lstStyle/>
          <a:p>
            <a:fld id="{51D2D507-09EA-4C6F-96ED-053C801F8797}" type="slidenum">
              <a:rPr lang="zh-TW" altLang="en-US" smtClean="0"/>
              <a:t>12</a:t>
            </a:fld>
            <a:endParaRPr lang="zh-TW" altLang="en-US"/>
          </a:p>
        </p:txBody>
      </p:sp>
      <p:pic>
        <p:nvPicPr>
          <p:cNvPr id="8" name="圖片 7">
            <a:extLst>
              <a:ext uri="{FF2B5EF4-FFF2-40B4-BE49-F238E27FC236}">
                <a16:creationId xmlns:a16="http://schemas.microsoft.com/office/drawing/2014/main" id="{241B9B20-36F3-1667-DBB5-01153BE89BF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1034195"/>
            <a:ext cx="9144000" cy="5101714"/>
          </a:xfrm>
          <a:prstGeom prst="rect">
            <a:avLst/>
          </a:prstGeom>
        </p:spPr>
      </p:pic>
    </p:spTree>
    <p:extLst>
      <p:ext uri="{BB962C8B-B14F-4D97-AF65-F5344CB8AC3E}">
        <p14:creationId xmlns:p14="http://schemas.microsoft.com/office/powerpoint/2010/main" val="4253812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E1644B-1E21-77F8-2307-81B3372CDE74}"/>
              </a:ext>
            </a:extLst>
          </p:cNvPr>
          <p:cNvSpPr>
            <a:spLocks noGrp="1"/>
          </p:cNvSpPr>
          <p:nvPr>
            <p:ph type="title"/>
          </p:nvPr>
        </p:nvSpPr>
        <p:spPr/>
        <p:txBody>
          <a:bodyPr/>
          <a:lstStyle/>
          <a:p>
            <a:r>
              <a:rPr lang="zh-TW" altLang="en-US" dirty="0"/>
              <a:t>專利公報</a:t>
            </a:r>
          </a:p>
        </p:txBody>
      </p:sp>
      <p:sp>
        <p:nvSpPr>
          <p:cNvPr id="4" name="投影片編號版面配置區 3">
            <a:extLst>
              <a:ext uri="{FF2B5EF4-FFF2-40B4-BE49-F238E27FC236}">
                <a16:creationId xmlns:a16="http://schemas.microsoft.com/office/drawing/2014/main" id="{0470AEF2-A2A8-F6FE-DCDD-FDB9422AE6AB}"/>
              </a:ext>
            </a:extLst>
          </p:cNvPr>
          <p:cNvSpPr>
            <a:spLocks noGrp="1"/>
          </p:cNvSpPr>
          <p:nvPr>
            <p:ph type="sldNum" sz="quarter" idx="12"/>
          </p:nvPr>
        </p:nvSpPr>
        <p:spPr/>
        <p:txBody>
          <a:bodyPr/>
          <a:lstStyle/>
          <a:p>
            <a:fld id="{51D2D507-09EA-4C6F-96ED-053C801F8797}" type="slidenum">
              <a:rPr lang="zh-TW" altLang="en-US" smtClean="0"/>
              <a:t>13</a:t>
            </a:fld>
            <a:endParaRPr lang="zh-TW" altLang="en-US"/>
          </a:p>
        </p:txBody>
      </p:sp>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79512" y="836712"/>
            <a:ext cx="5688632" cy="32528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843808" y="3356992"/>
            <a:ext cx="5594201" cy="32555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22802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71C11B-18A6-111B-57E5-DBECDE763E17}"/>
              </a:ext>
            </a:extLst>
          </p:cNvPr>
          <p:cNvSpPr>
            <a:spLocks noGrp="1"/>
          </p:cNvSpPr>
          <p:nvPr>
            <p:ph type="title"/>
          </p:nvPr>
        </p:nvSpPr>
        <p:spPr/>
        <p:txBody>
          <a:bodyPr/>
          <a:lstStyle/>
          <a:p>
            <a:r>
              <a:rPr lang="zh-TW" altLang="en-US" dirty="0"/>
              <a:t>專利分類</a:t>
            </a:r>
          </a:p>
        </p:txBody>
      </p:sp>
      <p:sp>
        <p:nvSpPr>
          <p:cNvPr id="3" name="內容版面配置區 2">
            <a:extLst>
              <a:ext uri="{FF2B5EF4-FFF2-40B4-BE49-F238E27FC236}">
                <a16:creationId xmlns:a16="http://schemas.microsoft.com/office/drawing/2014/main" id="{6EE64032-9DF2-64D5-CE7F-7B576C5D673C}"/>
              </a:ext>
            </a:extLst>
          </p:cNvPr>
          <p:cNvSpPr>
            <a:spLocks noGrp="1"/>
          </p:cNvSpPr>
          <p:nvPr>
            <p:ph idx="1"/>
          </p:nvPr>
        </p:nvSpPr>
        <p:spPr>
          <a:xfrm>
            <a:off x="457200" y="980728"/>
            <a:ext cx="8147248" cy="5256584"/>
          </a:xfrm>
        </p:spPr>
        <p:txBody>
          <a:bodyPr>
            <a:normAutofit/>
          </a:bodyPr>
          <a:lstStyle/>
          <a:p>
            <a:r>
              <a:rPr lang="zh-TW" altLang="en-US" dirty="0"/>
              <a:t>目的</a:t>
            </a:r>
            <a:endParaRPr lang="en-US" altLang="zh-TW" dirty="0"/>
          </a:p>
          <a:p>
            <a:pPr lvl="1"/>
            <a:r>
              <a:rPr lang="zh-TW" altLang="en-US" dirty="0"/>
              <a:t>國際標準化</a:t>
            </a:r>
            <a:endParaRPr lang="en-US" altLang="zh-TW" dirty="0"/>
          </a:p>
          <a:p>
            <a:pPr lvl="2"/>
            <a:r>
              <a:rPr lang="zh-TW" altLang="en-US" dirty="0"/>
              <a:t>提供跨國性的專利分類，便於互相檢索、技術交流</a:t>
            </a:r>
            <a:endParaRPr lang="en-US" altLang="zh-TW" dirty="0"/>
          </a:p>
          <a:p>
            <a:pPr lvl="1"/>
            <a:r>
              <a:rPr lang="zh-TW" altLang="en-US" dirty="0"/>
              <a:t>提高檢索效率</a:t>
            </a:r>
            <a:endParaRPr lang="en-US" altLang="zh-TW" dirty="0"/>
          </a:p>
          <a:p>
            <a:pPr lvl="2"/>
            <a:r>
              <a:rPr lang="zh-TW" altLang="en-US" dirty="0"/>
              <a:t>便於尋找現有技術，避免重複開發</a:t>
            </a:r>
            <a:endParaRPr lang="en-US" altLang="zh-TW" dirty="0"/>
          </a:p>
          <a:p>
            <a:pPr lvl="2"/>
            <a:r>
              <a:rPr lang="zh-TW" altLang="en-US" dirty="0"/>
              <a:t>便於審查人員尋找先前技術</a:t>
            </a:r>
            <a:endParaRPr lang="en-US" altLang="zh-TW" dirty="0"/>
          </a:p>
          <a:p>
            <a:pPr lvl="1"/>
            <a:r>
              <a:rPr lang="zh-TW" altLang="en-US" dirty="0"/>
              <a:t>技術監測與統計</a:t>
            </a:r>
            <a:endParaRPr lang="en-US" altLang="zh-TW" dirty="0"/>
          </a:p>
          <a:p>
            <a:pPr lvl="2"/>
            <a:r>
              <a:rPr lang="zh-TW" altLang="en-US" dirty="0"/>
              <a:t>公司、企業、研究機構利用專利數據進行技術分析</a:t>
            </a:r>
            <a:endParaRPr lang="en-US" altLang="zh-TW" dirty="0"/>
          </a:p>
          <a:p>
            <a:pPr lvl="2"/>
            <a:endParaRPr lang="zh-TW" altLang="en-US" dirty="0"/>
          </a:p>
        </p:txBody>
      </p:sp>
      <p:sp>
        <p:nvSpPr>
          <p:cNvPr id="4" name="投影片編號版面配置區 3">
            <a:extLst>
              <a:ext uri="{FF2B5EF4-FFF2-40B4-BE49-F238E27FC236}">
                <a16:creationId xmlns:a16="http://schemas.microsoft.com/office/drawing/2014/main" id="{92794E0E-689C-888C-CA99-338EB2288AF0}"/>
              </a:ext>
            </a:extLst>
          </p:cNvPr>
          <p:cNvSpPr>
            <a:spLocks noGrp="1"/>
          </p:cNvSpPr>
          <p:nvPr>
            <p:ph type="sldNum" sz="quarter" idx="12"/>
          </p:nvPr>
        </p:nvSpPr>
        <p:spPr/>
        <p:txBody>
          <a:bodyPr/>
          <a:lstStyle/>
          <a:p>
            <a:fld id="{51D2D507-09EA-4C6F-96ED-053C801F8797}" type="slidenum">
              <a:rPr lang="zh-TW" altLang="en-US" smtClean="0"/>
              <a:t>14</a:t>
            </a:fld>
            <a:endParaRPr lang="zh-TW" altLang="en-US"/>
          </a:p>
        </p:txBody>
      </p:sp>
    </p:spTree>
    <p:extLst>
      <p:ext uri="{BB962C8B-B14F-4D97-AF65-F5344CB8AC3E}">
        <p14:creationId xmlns:p14="http://schemas.microsoft.com/office/powerpoint/2010/main" val="3716642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71C11B-18A6-111B-57E5-DBECDE763E17}"/>
              </a:ext>
            </a:extLst>
          </p:cNvPr>
          <p:cNvSpPr>
            <a:spLocks noGrp="1"/>
          </p:cNvSpPr>
          <p:nvPr>
            <p:ph type="title"/>
          </p:nvPr>
        </p:nvSpPr>
        <p:spPr/>
        <p:txBody>
          <a:bodyPr/>
          <a:lstStyle/>
          <a:p>
            <a:r>
              <a:rPr lang="zh-TW" altLang="en-US" dirty="0"/>
              <a:t>專利分類</a:t>
            </a:r>
          </a:p>
        </p:txBody>
      </p:sp>
      <p:sp>
        <p:nvSpPr>
          <p:cNvPr id="3" name="內容版面配置區 2">
            <a:extLst>
              <a:ext uri="{FF2B5EF4-FFF2-40B4-BE49-F238E27FC236}">
                <a16:creationId xmlns:a16="http://schemas.microsoft.com/office/drawing/2014/main" id="{6EE64032-9DF2-64D5-CE7F-7B576C5D673C}"/>
              </a:ext>
            </a:extLst>
          </p:cNvPr>
          <p:cNvSpPr>
            <a:spLocks noGrp="1"/>
          </p:cNvSpPr>
          <p:nvPr>
            <p:ph idx="1"/>
          </p:nvPr>
        </p:nvSpPr>
        <p:spPr>
          <a:xfrm>
            <a:off x="457200" y="980728"/>
            <a:ext cx="8147248" cy="1839679"/>
          </a:xfrm>
        </p:spPr>
        <p:txBody>
          <a:bodyPr>
            <a:normAutofit fontScale="92500" lnSpcReduction="20000"/>
          </a:bodyPr>
          <a:lstStyle/>
          <a:p>
            <a:r>
              <a:rPr lang="zh-TW" altLang="en-US" dirty="0"/>
              <a:t>國際專利分類</a:t>
            </a:r>
            <a:r>
              <a:rPr lang="en-US" altLang="zh-TW" dirty="0"/>
              <a:t>IPC</a:t>
            </a:r>
          </a:p>
          <a:p>
            <a:pPr lvl="1"/>
            <a:r>
              <a:rPr lang="en-US" altLang="zh-TW" dirty="0"/>
              <a:t>1975/10/7</a:t>
            </a:r>
          </a:p>
          <a:p>
            <a:r>
              <a:rPr lang="zh-TW" altLang="en-US" dirty="0"/>
              <a:t>合作專利分類</a:t>
            </a:r>
            <a:r>
              <a:rPr lang="en-US" altLang="zh-TW" dirty="0"/>
              <a:t>CPC</a:t>
            </a:r>
          </a:p>
          <a:p>
            <a:pPr lvl="1"/>
            <a:r>
              <a:rPr lang="en-US" altLang="zh-TW" dirty="0"/>
              <a:t>2013/1/1</a:t>
            </a:r>
            <a:r>
              <a:rPr lang="zh-TW" altLang="en-US" dirty="0"/>
              <a:t>，</a:t>
            </a:r>
            <a:r>
              <a:rPr lang="en-US" altLang="zh-TW" dirty="0"/>
              <a:t>EPO</a:t>
            </a:r>
            <a:r>
              <a:rPr lang="zh-TW" altLang="en-US" dirty="0"/>
              <a:t>、</a:t>
            </a:r>
            <a:r>
              <a:rPr lang="en-US" altLang="zh-TW" dirty="0"/>
              <a:t>USPTO</a:t>
            </a:r>
            <a:endParaRPr lang="zh-TW" altLang="en-US" dirty="0"/>
          </a:p>
        </p:txBody>
      </p:sp>
      <p:sp>
        <p:nvSpPr>
          <p:cNvPr id="4" name="投影片編號版面配置區 3">
            <a:extLst>
              <a:ext uri="{FF2B5EF4-FFF2-40B4-BE49-F238E27FC236}">
                <a16:creationId xmlns:a16="http://schemas.microsoft.com/office/drawing/2014/main" id="{92794E0E-689C-888C-CA99-338EB2288AF0}"/>
              </a:ext>
            </a:extLst>
          </p:cNvPr>
          <p:cNvSpPr>
            <a:spLocks noGrp="1"/>
          </p:cNvSpPr>
          <p:nvPr>
            <p:ph type="sldNum" sz="quarter" idx="12"/>
          </p:nvPr>
        </p:nvSpPr>
        <p:spPr/>
        <p:txBody>
          <a:bodyPr/>
          <a:lstStyle/>
          <a:p>
            <a:fld id="{51D2D507-09EA-4C6F-96ED-053C801F8797}" type="slidenum">
              <a:rPr lang="zh-TW" altLang="en-US" smtClean="0"/>
              <a:t>15</a:t>
            </a:fld>
            <a:endParaRPr lang="zh-TW" altLang="en-US"/>
          </a:p>
        </p:txBody>
      </p:sp>
      <p:pic>
        <p:nvPicPr>
          <p:cNvPr id="1026" name="Picture 2" descr="2.特蒐-3">
            <a:extLst>
              <a:ext uri="{FF2B5EF4-FFF2-40B4-BE49-F238E27FC236}">
                <a16:creationId xmlns:a16="http://schemas.microsoft.com/office/drawing/2014/main" id="{C0AF299A-C635-8D77-AC7D-83CA2CD043C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95536" y="3216447"/>
            <a:ext cx="5546102" cy="3139903"/>
          </a:xfrm>
          <a:prstGeom prst="rect">
            <a:avLst/>
          </a:prstGeom>
          <a:noFill/>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BD2A5CEA-25A2-65A7-5BBE-5CE59B0C73A0}"/>
              </a:ext>
            </a:extLst>
          </p:cNvPr>
          <p:cNvSpPr txBox="1"/>
          <p:nvPr/>
        </p:nvSpPr>
        <p:spPr>
          <a:xfrm>
            <a:off x="304800" y="6376988"/>
            <a:ext cx="5636837" cy="276999"/>
          </a:xfrm>
          <a:prstGeom prst="rect">
            <a:avLst/>
          </a:prstGeom>
          <a:noFill/>
        </p:spPr>
        <p:txBody>
          <a:bodyPr wrap="square">
            <a:spAutoFit/>
          </a:bodyPr>
          <a:lstStyle/>
          <a:p>
            <a:r>
              <a:rPr lang="zh-TW" altLang="en-US" sz="1200" dirty="0"/>
              <a:t>經濟部智慧財產局網站</a:t>
            </a:r>
            <a:r>
              <a:rPr lang="en-US" altLang="zh-TW" sz="1200" dirty="0">
                <a:hlinkClick r:id="rId3"/>
              </a:rPr>
              <a:t>https://www.tipo.gov.tw/tw/cp-886-901612-78c73-1.html</a:t>
            </a:r>
            <a:endParaRPr lang="zh-TW" altLang="en-US" sz="1200" dirty="0"/>
          </a:p>
        </p:txBody>
      </p:sp>
      <p:sp>
        <p:nvSpPr>
          <p:cNvPr id="8" name="文字方塊 7">
            <a:extLst>
              <a:ext uri="{FF2B5EF4-FFF2-40B4-BE49-F238E27FC236}">
                <a16:creationId xmlns:a16="http://schemas.microsoft.com/office/drawing/2014/main" id="{CBAAF1E9-9B93-7699-9B84-F2AD17A393C6}"/>
              </a:ext>
            </a:extLst>
          </p:cNvPr>
          <p:cNvSpPr txBox="1"/>
          <p:nvPr/>
        </p:nvSpPr>
        <p:spPr>
          <a:xfrm>
            <a:off x="6181169" y="2780928"/>
            <a:ext cx="2347664" cy="1015663"/>
          </a:xfrm>
          <a:prstGeom prst="rect">
            <a:avLst/>
          </a:prstGeom>
          <a:noFill/>
        </p:spPr>
        <p:txBody>
          <a:bodyPr wrap="square">
            <a:spAutoFit/>
          </a:bodyPr>
          <a:lstStyle/>
          <a:p>
            <a:r>
              <a:rPr lang="en-US" altLang="zh-TW" sz="2000" dirty="0">
                <a:solidFill>
                  <a:srgbClr val="C00000"/>
                </a:solidFill>
                <a:latin typeface="微軟正黑體" panose="020B0604030504040204" pitchFamily="34" charset="-120"/>
                <a:ea typeface="微軟正黑體" panose="020B0604030504040204" pitchFamily="34" charset="-120"/>
              </a:rPr>
              <a:t>CPC</a:t>
            </a:r>
            <a:r>
              <a:rPr lang="zh-TW" altLang="en-US" sz="2000" dirty="0">
                <a:solidFill>
                  <a:srgbClr val="C00000"/>
                </a:solidFill>
                <a:latin typeface="微軟正黑體" panose="020B0604030504040204" pitchFamily="34" charset="-120"/>
                <a:ea typeface="微軟正黑體" panose="020B0604030504040204" pitchFamily="34" charset="-120"/>
              </a:rPr>
              <a:t>與</a:t>
            </a:r>
            <a:r>
              <a:rPr lang="en-US" altLang="zh-TW" sz="2000" dirty="0">
                <a:solidFill>
                  <a:srgbClr val="C00000"/>
                </a:solidFill>
                <a:latin typeface="微軟正黑體" panose="020B0604030504040204" pitchFamily="34" charset="-120"/>
                <a:ea typeface="微軟正黑體" panose="020B0604030504040204" pitchFamily="34" charset="-120"/>
              </a:rPr>
              <a:t>IPC</a:t>
            </a:r>
            <a:r>
              <a:rPr lang="zh-TW" altLang="en-US" sz="2000" dirty="0">
                <a:solidFill>
                  <a:srgbClr val="C00000"/>
                </a:solidFill>
                <a:latin typeface="微軟正黑體" panose="020B0604030504040204" pitchFamily="34" charset="-120"/>
                <a:ea typeface="微軟正黑體" panose="020B0604030504040204" pitchFamily="34" charset="-120"/>
              </a:rPr>
              <a:t>的主要差異在於</a:t>
            </a:r>
            <a:r>
              <a:rPr lang="en-US" altLang="zh-TW" sz="2000" dirty="0">
                <a:solidFill>
                  <a:srgbClr val="C00000"/>
                </a:solidFill>
                <a:latin typeface="微軟正黑體" panose="020B0604030504040204" pitchFamily="34" charset="-120"/>
                <a:ea typeface="微軟正黑體" panose="020B0604030504040204" pitchFamily="34" charset="-120"/>
              </a:rPr>
              <a:t>CPC</a:t>
            </a:r>
            <a:r>
              <a:rPr lang="zh-TW" altLang="en-US" sz="2000" dirty="0">
                <a:solidFill>
                  <a:srgbClr val="C00000"/>
                </a:solidFill>
                <a:latin typeface="微軟正黑體" panose="020B0604030504040204" pitchFamily="34" charset="-120"/>
                <a:ea typeface="微軟正黑體" panose="020B0604030504040204" pitchFamily="34" charset="-120"/>
              </a:rPr>
              <a:t>比</a:t>
            </a:r>
            <a:r>
              <a:rPr lang="en-US" altLang="zh-TW" sz="2000" dirty="0">
                <a:solidFill>
                  <a:srgbClr val="C00000"/>
                </a:solidFill>
                <a:latin typeface="微軟正黑體" panose="020B0604030504040204" pitchFamily="34" charset="-120"/>
                <a:ea typeface="微軟正黑體" panose="020B0604030504040204" pitchFamily="34" charset="-120"/>
              </a:rPr>
              <a:t>IPC</a:t>
            </a:r>
            <a:r>
              <a:rPr lang="zh-TW" altLang="en-US" sz="2000" dirty="0">
                <a:solidFill>
                  <a:srgbClr val="C00000"/>
                </a:solidFill>
                <a:latin typeface="微軟正黑體" panose="020B0604030504040204" pitchFamily="34" charset="-120"/>
                <a:ea typeface="微軟正黑體" panose="020B0604030504040204" pitchFamily="34" charset="-120"/>
              </a:rPr>
              <a:t>的分類更細緻</a:t>
            </a:r>
          </a:p>
        </p:txBody>
      </p:sp>
      <p:sp>
        <p:nvSpPr>
          <p:cNvPr id="5" name="矩形 4"/>
          <p:cNvSpPr/>
          <p:nvPr/>
        </p:nvSpPr>
        <p:spPr>
          <a:xfrm>
            <a:off x="6012160" y="4068664"/>
            <a:ext cx="3024336" cy="2308324"/>
          </a:xfrm>
          <a:prstGeom prst="rect">
            <a:avLst/>
          </a:prstGeom>
        </p:spPr>
        <p:txBody>
          <a:bodyPr wrap="square">
            <a:spAutoFit/>
          </a:bodyPr>
          <a:lstStyle/>
          <a:p>
            <a:pPr marL="285750" indent="-285750" algn="just">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Y</a:t>
            </a:r>
            <a:r>
              <a:rPr lang="zh-TW" altLang="en-US" sz="1600" dirty="0">
                <a:latin typeface="微軟正黑體" panose="020B0604030504040204" pitchFamily="34" charset="-120"/>
                <a:ea typeface="微軟正黑體" panose="020B0604030504040204" pitchFamily="34" charset="-120"/>
              </a:rPr>
              <a:t>部，索引碼的一種，其作為補充</a:t>
            </a:r>
            <a:r>
              <a:rPr lang="en-US" altLang="zh-TW" sz="1600" dirty="0">
                <a:latin typeface="微軟正黑體" panose="020B0604030504040204" pitchFamily="34" charset="-120"/>
                <a:ea typeface="微軟正黑體" panose="020B0604030504040204" pitchFamily="34" charset="-120"/>
              </a:rPr>
              <a:t>CPC</a:t>
            </a:r>
            <a:r>
              <a:rPr lang="zh-TW" altLang="en-US" sz="1600" dirty="0">
                <a:latin typeface="微軟正黑體" panose="020B0604030504040204" pitchFamily="34" charset="-120"/>
                <a:ea typeface="微軟正黑體" panose="020B0604030504040204" pitchFamily="34" charset="-120"/>
              </a:rPr>
              <a:t>分類表中</a:t>
            </a:r>
            <a:r>
              <a:rPr lang="en-US" altLang="zh-TW" sz="1600" dirty="0">
                <a:latin typeface="微軟正黑體" panose="020B0604030504040204" pitchFamily="34" charset="-120"/>
                <a:ea typeface="微軟正黑體" panose="020B0604030504040204" pitchFamily="34" charset="-120"/>
              </a:rPr>
              <a:t>A</a:t>
            </a:r>
            <a:r>
              <a:rPr lang="zh-TW" altLang="en-US" sz="1600" dirty="0">
                <a:latin typeface="微軟正黑體" panose="020B0604030504040204" pitchFamily="34" charset="-120"/>
                <a:ea typeface="微軟正黑體" panose="020B0604030504040204" pitchFamily="34" charset="-120"/>
              </a:rPr>
              <a:t>到</a:t>
            </a:r>
            <a:r>
              <a:rPr lang="en-US" altLang="zh-TW" sz="1600" dirty="0">
                <a:latin typeface="微軟正黑體" panose="020B0604030504040204" pitchFamily="34" charset="-120"/>
                <a:ea typeface="微軟正黑體" panose="020B0604030504040204" pitchFamily="34" charset="-120"/>
              </a:rPr>
              <a:t>H</a:t>
            </a:r>
            <a:r>
              <a:rPr lang="zh-TW" altLang="en-US" sz="1600" dirty="0">
                <a:latin typeface="微軟正黑體" panose="020B0604030504040204" pitchFamily="34" charset="-120"/>
                <a:ea typeface="微軟正黑體" panose="020B0604030504040204" pitchFamily="34" charset="-120"/>
              </a:rPr>
              <a:t>部的附加資訊</a:t>
            </a:r>
            <a:endParaRPr lang="en-US" altLang="zh-TW" sz="1600" dirty="0">
              <a:latin typeface="微軟正黑體" panose="020B0604030504040204" pitchFamily="34" charset="-120"/>
              <a:ea typeface="微軟正黑體" panose="020B0604030504040204" pitchFamily="34" charset="-120"/>
            </a:endParaRPr>
          </a:p>
          <a:p>
            <a:pPr marL="285750" indent="-285750" algn="just">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內容整合</a:t>
            </a:r>
            <a:r>
              <a:rPr lang="en-US" altLang="zh-TW" sz="1600" dirty="0">
                <a:latin typeface="微軟正黑體" panose="020B0604030504040204" pitchFamily="34" charset="-120"/>
                <a:ea typeface="微軟正黑體" panose="020B0604030504040204" pitchFamily="34" charset="-120"/>
              </a:rPr>
              <a:t>USPTO</a:t>
            </a:r>
            <a:r>
              <a:rPr lang="zh-TW" altLang="en-US" sz="1600" dirty="0">
                <a:latin typeface="微軟正黑體" panose="020B0604030504040204" pitchFamily="34" charset="-120"/>
                <a:ea typeface="微軟正黑體" panose="020B0604030504040204" pitchFamily="34" charset="-120"/>
              </a:rPr>
              <a:t>「商業方法分類架構、交叉參照技術文獻次分類與暫時性的分類註記至分類表次類中，或是用於「標記」橫跨多個部（跨部）的新興技術</a:t>
            </a:r>
          </a:p>
        </p:txBody>
      </p:sp>
    </p:spTree>
    <p:extLst>
      <p:ext uri="{BB962C8B-B14F-4D97-AF65-F5344CB8AC3E}">
        <p14:creationId xmlns:p14="http://schemas.microsoft.com/office/powerpoint/2010/main" val="1630188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群組 15">
            <a:extLst>
              <a:ext uri="{FF2B5EF4-FFF2-40B4-BE49-F238E27FC236}">
                <a16:creationId xmlns:a16="http://schemas.microsoft.com/office/drawing/2014/main" id="{753639C0-FA0A-118A-DBB5-CB1962DF07CA}"/>
              </a:ext>
            </a:extLst>
          </p:cNvPr>
          <p:cNvGrpSpPr/>
          <p:nvPr/>
        </p:nvGrpSpPr>
        <p:grpSpPr>
          <a:xfrm>
            <a:off x="251520" y="4097392"/>
            <a:ext cx="8849949" cy="2567310"/>
            <a:chOff x="251520" y="4097392"/>
            <a:chExt cx="8849949" cy="2567310"/>
          </a:xfrm>
        </p:grpSpPr>
        <p:sp>
          <p:nvSpPr>
            <p:cNvPr id="8" name="文字方塊 7">
              <a:extLst>
                <a:ext uri="{FF2B5EF4-FFF2-40B4-BE49-F238E27FC236}">
                  <a16:creationId xmlns:a16="http://schemas.microsoft.com/office/drawing/2014/main" id="{B041B36B-7B5A-9DF3-AEBF-2341AB1D9F31}"/>
                </a:ext>
              </a:extLst>
            </p:cNvPr>
            <p:cNvSpPr txBox="1"/>
            <p:nvPr/>
          </p:nvSpPr>
          <p:spPr>
            <a:xfrm>
              <a:off x="251520" y="4529440"/>
              <a:ext cx="2736304" cy="646331"/>
            </a:xfrm>
            <a:prstGeom prst="rect">
              <a:avLst/>
            </a:prstGeom>
            <a:noFill/>
          </p:spPr>
          <p:txBody>
            <a:bodyPr wrap="square">
              <a:spAutoFit/>
            </a:bodyPr>
            <a:lstStyle/>
            <a:p>
              <a:r>
                <a:rPr lang="en-US" altLang="zh-TW" sz="3600" dirty="0">
                  <a:latin typeface="微軟正黑體" panose="020B0604030504040204" pitchFamily="34" charset="-120"/>
                  <a:ea typeface="微軟正黑體" panose="020B0604030504040204" pitchFamily="34" charset="-120"/>
                </a:rPr>
                <a:t>G06N3/06</a:t>
              </a:r>
              <a:endParaRPr lang="zh-TW" altLang="en-US" sz="3600" dirty="0">
                <a:latin typeface="微軟正黑體" panose="020B0604030504040204" pitchFamily="34" charset="-120"/>
                <a:ea typeface="微軟正黑體" panose="020B0604030504040204" pitchFamily="34" charset="-120"/>
              </a:endParaRPr>
            </a:p>
          </p:txBody>
        </p:sp>
        <p:sp>
          <p:nvSpPr>
            <p:cNvPr id="9" name="圖說文字: 雙折線 8">
              <a:extLst>
                <a:ext uri="{FF2B5EF4-FFF2-40B4-BE49-F238E27FC236}">
                  <a16:creationId xmlns:a16="http://schemas.microsoft.com/office/drawing/2014/main" id="{9FD16FE4-1A1D-0DCB-D543-0F9EA9607F77}"/>
                </a:ext>
              </a:extLst>
            </p:cNvPr>
            <p:cNvSpPr/>
            <p:nvPr/>
          </p:nvSpPr>
          <p:spPr>
            <a:xfrm>
              <a:off x="467544" y="4097392"/>
              <a:ext cx="1465312" cy="432048"/>
            </a:xfrm>
            <a:prstGeom prst="borderCallout3">
              <a:avLst>
                <a:gd name="adj1" fmla="val 50743"/>
                <a:gd name="adj2" fmla="val 178"/>
                <a:gd name="adj3" fmla="val 50743"/>
                <a:gd name="adj4" fmla="val -17518"/>
                <a:gd name="adj5" fmla="val 100000"/>
                <a:gd name="adj6" fmla="val -16667"/>
                <a:gd name="adj7" fmla="val 112963"/>
                <a:gd name="adj8" fmla="val -8333"/>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latin typeface="微軟正黑體" panose="020B0604030504040204" pitchFamily="34" charset="-120"/>
                  <a:ea typeface="微軟正黑體" panose="020B0604030504040204" pitchFamily="34" charset="-120"/>
                </a:rPr>
                <a:t>G</a:t>
              </a:r>
              <a:r>
                <a:rPr lang="zh-TW" altLang="en-US" dirty="0">
                  <a:latin typeface="微軟正黑體" panose="020B0604030504040204" pitchFamily="34" charset="-120"/>
                  <a:ea typeface="微軟正黑體" panose="020B0604030504040204" pitchFamily="34" charset="-120"/>
                </a:rPr>
                <a:t>部：物理</a:t>
              </a:r>
            </a:p>
          </p:txBody>
        </p:sp>
        <p:sp>
          <p:nvSpPr>
            <p:cNvPr id="10" name="圖說文字: 雙折線 9">
              <a:extLst>
                <a:ext uri="{FF2B5EF4-FFF2-40B4-BE49-F238E27FC236}">
                  <a16:creationId xmlns:a16="http://schemas.microsoft.com/office/drawing/2014/main" id="{CEBD3CEF-9DC3-EE40-AAEA-C0F9DBEC7C6E}"/>
                </a:ext>
              </a:extLst>
            </p:cNvPr>
            <p:cNvSpPr/>
            <p:nvPr/>
          </p:nvSpPr>
          <p:spPr>
            <a:xfrm>
              <a:off x="706524" y="5259374"/>
              <a:ext cx="1849252" cy="432048"/>
            </a:xfrm>
            <a:prstGeom prst="borderCallout3">
              <a:avLst>
                <a:gd name="adj1" fmla="val -937"/>
                <a:gd name="adj2" fmla="val 25753"/>
                <a:gd name="adj3" fmla="val -30469"/>
                <a:gd name="adj4" fmla="val 25029"/>
                <a:gd name="adj5" fmla="val -30432"/>
                <a:gd name="adj6" fmla="val 22730"/>
                <a:gd name="adj7" fmla="val -47000"/>
                <a:gd name="adj8" fmla="val 11654"/>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latin typeface="微軟正黑體" panose="020B0604030504040204" pitchFamily="34" charset="-120"/>
                  <a:ea typeface="微軟正黑體" panose="020B0604030504040204" pitchFamily="34" charset="-120"/>
                </a:rPr>
                <a:t>G06</a:t>
              </a:r>
              <a:r>
                <a:rPr lang="zh-TW" altLang="en-US" dirty="0">
                  <a:latin typeface="微軟正黑體" panose="020B0604030504040204" pitchFamily="34" charset="-120"/>
                  <a:ea typeface="微軟正黑體" panose="020B0604030504040204" pitchFamily="34" charset="-120"/>
                </a:rPr>
                <a:t>次部：計算</a:t>
              </a:r>
            </a:p>
          </p:txBody>
        </p:sp>
        <p:sp>
          <p:nvSpPr>
            <p:cNvPr id="13" name="圖說文字: 雙折線 12">
              <a:extLst>
                <a:ext uri="{FF2B5EF4-FFF2-40B4-BE49-F238E27FC236}">
                  <a16:creationId xmlns:a16="http://schemas.microsoft.com/office/drawing/2014/main" id="{EEE3D491-3763-CBF7-56EE-A617D32566CB}"/>
                </a:ext>
              </a:extLst>
            </p:cNvPr>
            <p:cNvSpPr/>
            <p:nvPr/>
          </p:nvSpPr>
          <p:spPr>
            <a:xfrm>
              <a:off x="1327352" y="5970025"/>
              <a:ext cx="2456848" cy="432048"/>
            </a:xfrm>
            <a:prstGeom prst="borderCallout3">
              <a:avLst>
                <a:gd name="adj1" fmla="val 50743"/>
                <a:gd name="adj2" fmla="val 1029"/>
                <a:gd name="adj3" fmla="val 50742"/>
                <a:gd name="adj4" fmla="val -33407"/>
                <a:gd name="adj5" fmla="val -165785"/>
                <a:gd name="adj6" fmla="val -33981"/>
                <a:gd name="adj7" fmla="val -212294"/>
                <a:gd name="adj8" fmla="val -22498"/>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latin typeface="微軟正黑體" panose="020B0604030504040204" pitchFamily="34" charset="-120"/>
                  <a:ea typeface="微軟正黑體" panose="020B0604030504040204" pitchFamily="34" charset="-120"/>
                </a:rPr>
                <a:t>G06N</a:t>
              </a:r>
              <a:r>
                <a:rPr lang="zh-TW" altLang="en-US" dirty="0">
                  <a:latin typeface="微軟正黑體" panose="020B0604030504040204" pitchFamily="34" charset="-120"/>
                  <a:ea typeface="微軟正黑體" panose="020B0604030504040204" pitchFamily="34" charset="-120"/>
                </a:rPr>
                <a:t>主類：計算模式</a:t>
              </a:r>
            </a:p>
          </p:txBody>
        </p:sp>
        <p:sp>
          <p:nvSpPr>
            <p:cNvPr id="14" name="圖說文字: 雙折線 13">
              <a:extLst>
                <a:ext uri="{FF2B5EF4-FFF2-40B4-BE49-F238E27FC236}">
                  <a16:creationId xmlns:a16="http://schemas.microsoft.com/office/drawing/2014/main" id="{72D2CBB5-7A5C-1B1B-0B49-ED733F0E4D60}"/>
                </a:ext>
              </a:extLst>
            </p:cNvPr>
            <p:cNvSpPr/>
            <p:nvPr/>
          </p:nvSpPr>
          <p:spPr>
            <a:xfrm>
              <a:off x="4360836" y="6232654"/>
              <a:ext cx="4384727" cy="432048"/>
            </a:xfrm>
            <a:prstGeom prst="borderCallout3">
              <a:avLst>
                <a:gd name="adj1" fmla="val 33517"/>
                <a:gd name="adj2" fmla="val -678"/>
                <a:gd name="adj3" fmla="val -55080"/>
                <a:gd name="adj4" fmla="val -6010"/>
                <a:gd name="adj5" fmla="val -232232"/>
                <a:gd name="adj6" fmla="val -39950"/>
                <a:gd name="adj7" fmla="val -264078"/>
                <a:gd name="adj8" fmla="val -60852"/>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latin typeface="微軟正黑體" panose="020B0604030504040204" pitchFamily="34" charset="-120"/>
                  <a:ea typeface="微軟正黑體" panose="020B0604030504040204" pitchFamily="34" charset="-120"/>
                </a:rPr>
                <a:t>G06N3/00</a:t>
              </a:r>
              <a:r>
                <a:rPr lang="zh-TW" altLang="en-US" dirty="0">
                  <a:latin typeface="微軟正黑體" panose="020B0604030504040204" pitchFamily="34" charset="-120"/>
                  <a:ea typeface="微軟正黑體" panose="020B0604030504040204" pitchFamily="34" charset="-120"/>
                </a:rPr>
                <a:t>主目：</a:t>
              </a:r>
              <a:r>
                <a:rPr lang="zh-TW" altLang="en-US" b="0" i="0" dirty="0">
                  <a:solidFill>
                    <a:srgbClr val="222222"/>
                  </a:solidFill>
                  <a:effectLst/>
                  <a:highlight>
                    <a:srgbClr val="FFFFFF"/>
                  </a:highlight>
                  <a:latin typeface="Noto Sans TC"/>
                </a:rPr>
                <a:t>生物模式之計算機配置</a:t>
              </a:r>
              <a:endParaRPr lang="zh-TW" altLang="en-US" dirty="0">
                <a:latin typeface="微軟正黑體" panose="020B0604030504040204" pitchFamily="34" charset="-120"/>
                <a:ea typeface="微軟正黑體" panose="020B0604030504040204" pitchFamily="34" charset="-120"/>
              </a:endParaRPr>
            </a:p>
          </p:txBody>
        </p:sp>
        <p:sp>
          <p:nvSpPr>
            <p:cNvPr id="15" name="圖說文字: 雙折線 14">
              <a:extLst>
                <a:ext uri="{FF2B5EF4-FFF2-40B4-BE49-F238E27FC236}">
                  <a16:creationId xmlns:a16="http://schemas.microsoft.com/office/drawing/2014/main" id="{CB884AC3-99B5-B2E1-4825-33B5607BD877}"/>
                </a:ext>
              </a:extLst>
            </p:cNvPr>
            <p:cNvSpPr/>
            <p:nvPr/>
          </p:nvSpPr>
          <p:spPr>
            <a:xfrm>
              <a:off x="4457461" y="5641037"/>
              <a:ext cx="4644008" cy="432048"/>
            </a:xfrm>
            <a:prstGeom prst="borderCallout3">
              <a:avLst>
                <a:gd name="adj1" fmla="val 33517"/>
                <a:gd name="adj2" fmla="val -678"/>
                <a:gd name="adj3" fmla="val -13243"/>
                <a:gd name="adj4" fmla="val -5094"/>
                <a:gd name="adj5" fmla="val -18128"/>
                <a:gd name="adj6" fmla="val -5378"/>
                <a:gd name="adj7" fmla="val -145439"/>
                <a:gd name="adj8" fmla="val -39025"/>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latin typeface="微軟正黑體" panose="020B0604030504040204" pitchFamily="34" charset="-120"/>
                  <a:ea typeface="微軟正黑體" panose="020B0604030504040204" pitchFamily="34" charset="-120"/>
                </a:rPr>
                <a:t>G06N3/06</a:t>
              </a:r>
              <a:r>
                <a:rPr lang="zh-TW" altLang="en-US" dirty="0">
                  <a:latin typeface="微軟正黑體" panose="020B0604030504040204" pitchFamily="34" charset="-120"/>
                  <a:ea typeface="微軟正黑體" panose="020B0604030504040204" pitchFamily="34" charset="-120"/>
                </a:rPr>
                <a:t>次目：</a:t>
              </a:r>
              <a:r>
                <a:rPr lang="zh-TW" altLang="en-US" b="0" i="0" dirty="0">
                  <a:solidFill>
                    <a:srgbClr val="222222"/>
                  </a:solidFill>
                  <a:effectLst/>
                  <a:highlight>
                    <a:srgbClr val="FFFFFF"/>
                  </a:highlight>
                  <a:latin typeface="Noto Sans TC"/>
                </a:rPr>
                <a:t>物理實現，神經網絡硬體</a:t>
              </a:r>
              <a:endParaRPr lang="zh-TW" altLang="en-US" dirty="0">
                <a:latin typeface="微軟正黑體" panose="020B0604030504040204" pitchFamily="34" charset="-120"/>
                <a:ea typeface="微軟正黑體" panose="020B0604030504040204" pitchFamily="34" charset="-120"/>
              </a:endParaRPr>
            </a:p>
          </p:txBody>
        </p:sp>
      </p:grpSp>
      <p:sp>
        <p:nvSpPr>
          <p:cNvPr id="2" name="標題 1">
            <a:extLst>
              <a:ext uri="{FF2B5EF4-FFF2-40B4-BE49-F238E27FC236}">
                <a16:creationId xmlns:a16="http://schemas.microsoft.com/office/drawing/2014/main" id="{458C0207-BCD9-BB69-5586-419527E5F983}"/>
              </a:ext>
            </a:extLst>
          </p:cNvPr>
          <p:cNvSpPr>
            <a:spLocks noGrp="1"/>
          </p:cNvSpPr>
          <p:nvPr>
            <p:ph type="title"/>
          </p:nvPr>
        </p:nvSpPr>
        <p:spPr/>
        <p:txBody>
          <a:bodyPr/>
          <a:lstStyle/>
          <a:p>
            <a:r>
              <a:rPr lang="zh-TW" altLang="en-US" dirty="0"/>
              <a:t>國際專利分類</a:t>
            </a:r>
            <a:r>
              <a:rPr lang="en-US" altLang="zh-TW" dirty="0"/>
              <a:t>IPC</a:t>
            </a:r>
            <a:br>
              <a:rPr lang="en-US" altLang="zh-TW" dirty="0"/>
            </a:br>
            <a:endParaRPr lang="zh-TW" altLang="en-US" dirty="0"/>
          </a:p>
        </p:txBody>
      </p:sp>
      <p:sp>
        <p:nvSpPr>
          <p:cNvPr id="4" name="投影片編號版面配置區 3">
            <a:extLst>
              <a:ext uri="{FF2B5EF4-FFF2-40B4-BE49-F238E27FC236}">
                <a16:creationId xmlns:a16="http://schemas.microsoft.com/office/drawing/2014/main" id="{89FF21DB-E45A-9776-CC22-1B01BE9B4CE4}"/>
              </a:ext>
            </a:extLst>
          </p:cNvPr>
          <p:cNvSpPr>
            <a:spLocks noGrp="1"/>
          </p:cNvSpPr>
          <p:nvPr>
            <p:ph type="sldNum" sz="quarter" idx="12"/>
          </p:nvPr>
        </p:nvSpPr>
        <p:spPr>
          <a:xfrm>
            <a:off x="6967869" y="6402073"/>
            <a:ext cx="2133600" cy="365125"/>
          </a:xfrm>
        </p:spPr>
        <p:txBody>
          <a:bodyPr/>
          <a:lstStyle/>
          <a:p>
            <a:fld id="{51D2D507-09EA-4C6F-96ED-053C801F8797}" type="slidenum">
              <a:rPr lang="zh-TW" altLang="en-US" smtClean="0"/>
              <a:t>16</a:t>
            </a:fld>
            <a:endParaRPr lang="zh-TW" altLang="en-US" dirty="0"/>
          </a:p>
        </p:txBody>
      </p:sp>
      <p:sp>
        <p:nvSpPr>
          <p:cNvPr id="3" name="文字方塊 2">
            <a:extLst>
              <a:ext uri="{FF2B5EF4-FFF2-40B4-BE49-F238E27FC236}">
                <a16:creationId xmlns:a16="http://schemas.microsoft.com/office/drawing/2014/main" id="{C46DA4EF-5B27-0865-6155-C4DAD397DEC2}"/>
              </a:ext>
            </a:extLst>
          </p:cNvPr>
          <p:cNvSpPr txBox="1"/>
          <p:nvPr/>
        </p:nvSpPr>
        <p:spPr>
          <a:xfrm>
            <a:off x="251520" y="836712"/>
            <a:ext cx="146531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TW" dirty="0">
                <a:latin typeface="微軟正黑體" panose="020B0604030504040204" pitchFamily="34" charset="-120"/>
                <a:ea typeface="微軟正黑體" panose="020B0604030504040204" pitchFamily="34" charset="-120"/>
              </a:rPr>
              <a:t>IPC</a:t>
            </a:r>
            <a:r>
              <a:rPr lang="zh-TW" altLang="en-US" dirty="0">
                <a:latin typeface="微軟正黑體" panose="020B0604030504040204" pitchFamily="34" charset="-120"/>
                <a:ea typeface="微軟正黑體" panose="020B0604030504040204" pitchFamily="34" charset="-120"/>
              </a:rPr>
              <a:t>分類架構</a:t>
            </a:r>
          </a:p>
        </p:txBody>
      </p:sp>
      <p:graphicFrame>
        <p:nvGraphicFramePr>
          <p:cNvPr id="6" name="資料庫圖表 5">
            <a:extLst>
              <a:ext uri="{FF2B5EF4-FFF2-40B4-BE49-F238E27FC236}">
                <a16:creationId xmlns:a16="http://schemas.microsoft.com/office/drawing/2014/main" id="{AFB97546-7F78-3BA1-59D2-0772E047E5BB}"/>
              </a:ext>
            </a:extLst>
          </p:cNvPr>
          <p:cNvGraphicFramePr/>
          <p:nvPr>
            <p:extLst>
              <p:ext uri="{D42A27DB-BD31-4B8C-83A1-F6EECF244321}">
                <p14:modId xmlns:p14="http://schemas.microsoft.com/office/powerpoint/2010/main" val="1459152099"/>
              </p:ext>
            </p:extLst>
          </p:nvPr>
        </p:nvGraphicFramePr>
        <p:xfrm>
          <a:off x="859960" y="848307"/>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8" name="表格 17">
            <a:extLst>
              <a:ext uri="{FF2B5EF4-FFF2-40B4-BE49-F238E27FC236}">
                <a16:creationId xmlns:a16="http://schemas.microsoft.com/office/drawing/2014/main" id="{5E680590-1526-A3B8-4518-C5C0AC947000}"/>
              </a:ext>
            </a:extLst>
          </p:cNvPr>
          <p:cNvGraphicFramePr>
            <a:graphicFrameLocks noGrp="1"/>
          </p:cNvGraphicFramePr>
          <p:nvPr>
            <p:extLst>
              <p:ext uri="{D42A27DB-BD31-4B8C-83A1-F6EECF244321}">
                <p14:modId xmlns:p14="http://schemas.microsoft.com/office/powerpoint/2010/main" val="742666231"/>
              </p:ext>
            </p:extLst>
          </p:nvPr>
        </p:nvGraphicFramePr>
        <p:xfrm>
          <a:off x="6444208" y="897125"/>
          <a:ext cx="2461103" cy="4475654"/>
        </p:xfrm>
        <a:graphic>
          <a:graphicData uri="http://schemas.openxmlformats.org/drawingml/2006/table">
            <a:tbl>
              <a:tblPr>
                <a:tableStyleId>{69CF1AB2-1976-4502-BF36-3FF5EA218861}</a:tableStyleId>
              </a:tblPr>
              <a:tblGrid>
                <a:gridCol w="720080">
                  <a:extLst>
                    <a:ext uri="{9D8B030D-6E8A-4147-A177-3AD203B41FA5}">
                      <a16:colId xmlns:a16="http://schemas.microsoft.com/office/drawing/2014/main" val="3423374275"/>
                    </a:ext>
                  </a:extLst>
                </a:gridCol>
                <a:gridCol w="1741023">
                  <a:extLst>
                    <a:ext uri="{9D8B030D-6E8A-4147-A177-3AD203B41FA5}">
                      <a16:colId xmlns:a16="http://schemas.microsoft.com/office/drawing/2014/main" val="1763309275"/>
                    </a:ext>
                  </a:extLst>
                </a:gridCol>
              </a:tblGrid>
              <a:tr h="500651">
                <a:tc>
                  <a:txBody>
                    <a:bodyPr/>
                    <a:lstStyle/>
                    <a:p>
                      <a:pPr algn="l"/>
                      <a:r>
                        <a:rPr lang="en-US" sz="1700" b="1" u="none" strike="noStrike" dirty="0">
                          <a:solidFill>
                            <a:schemeClr val="tx1"/>
                          </a:solidFill>
                          <a:effectLst/>
                        </a:rPr>
                        <a:t>A</a:t>
                      </a:r>
                      <a:r>
                        <a:rPr lang="zh-TW" altLang="en-US" sz="1700" b="1" u="none" strike="noStrike" dirty="0">
                          <a:solidFill>
                            <a:schemeClr val="tx1"/>
                          </a:solidFill>
                          <a:effectLst/>
                        </a:rPr>
                        <a:t>部</a:t>
                      </a:r>
                      <a:endParaRPr lang="en-US" sz="1700" b="1" u="none" strike="noStrike" dirty="0">
                        <a:solidFill>
                          <a:schemeClr val="tx1"/>
                        </a:solidFill>
                        <a:effectLst/>
                        <a:latin typeface="微軟正黑體" panose="020B0604030504040204" pitchFamily="34" charset="-120"/>
                        <a:ea typeface="微軟正黑體" panose="020B0604030504040204" pitchFamily="34" charset="-120"/>
                      </a:endParaRPr>
                    </a:p>
                  </a:txBody>
                  <a:tcPr marL="88174" marR="88174" marT="44087" marB="44087" anchor="ctr"/>
                </a:tc>
                <a:tc>
                  <a:txBody>
                    <a:bodyPr/>
                    <a:lstStyle/>
                    <a:p>
                      <a:pPr algn="l" latinLnBrk="1"/>
                      <a:r>
                        <a:rPr lang="zh-TW" altLang="en-US" sz="1700" b="1">
                          <a:effectLst/>
                        </a:rPr>
                        <a:t>人類生活需要</a:t>
                      </a:r>
                      <a:endParaRPr lang="zh-TW" altLang="en-US" sz="1700" b="1">
                        <a:effectLst/>
                        <a:latin typeface="微軟正黑體" panose="020B0604030504040204" pitchFamily="34" charset="-120"/>
                        <a:ea typeface="微軟正黑體" panose="020B0604030504040204" pitchFamily="34" charset="-120"/>
                      </a:endParaRPr>
                    </a:p>
                  </a:txBody>
                  <a:tcPr marL="88174" marR="88174" marT="44087" marB="44087" anchor="ctr"/>
                </a:tc>
                <a:extLst>
                  <a:ext uri="{0D108BD9-81ED-4DB2-BD59-A6C34878D82A}">
                    <a16:rowId xmlns:a16="http://schemas.microsoft.com/office/drawing/2014/main" val="4267151554"/>
                  </a:ext>
                </a:extLst>
              </a:tr>
              <a:tr h="500651">
                <a:tc>
                  <a:txBody>
                    <a:bodyPr/>
                    <a:lstStyle/>
                    <a:p>
                      <a:pPr algn="l"/>
                      <a:r>
                        <a:rPr lang="en-US" sz="1700" b="1" u="none" strike="noStrike" dirty="0">
                          <a:solidFill>
                            <a:schemeClr val="tx1"/>
                          </a:solidFill>
                          <a:effectLst/>
                        </a:rPr>
                        <a:t>B</a:t>
                      </a:r>
                      <a:r>
                        <a:rPr lang="zh-TW" altLang="en-US" sz="1700" b="1" u="none" strike="noStrike" dirty="0">
                          <a:solidFill>
                            <a:schemeClr val="tx1"/>
                          </a:solidFill>
                          <a:effectLst/>
                        </a:rPr>
                        <a:t>部</a:t>
                      </a:r>
                      <a:endParaRPr lang="en-US" sz="1700" b="1" u="none" dirty="0">
                        <a:solidFill>
                          <a:schemeClr val="tx1"/>
                        </a:solidFill>
                        <a:effectLst/>
                        <a:latin typeface="微軟正黑體" panose="020B0604030504040204" pitchFamily="34" charset="-120"/>
                        <a:ea typeface="微軟正黑體" panose="020B0604030504040204" pitchFamily="34" charset="-120"/>
                      </a:endParaRPr>
                    </a:p>
                  </a:txBody>
                  <a:tcPr marL="88174" marR="88174" marT="44087" marB="44087" anchor="ctr"/>
                </a:tc>
                <a:tc>
                  <a:txBody>
                    <a:bodyPr/>
                    <a:lstStyle/>
                    <a:p>
                      <a:pPr algn="l" latinLnBrk="1"/>
                      <a:r>
                        <a:rPr lang="zh-TW" altLang="en-US" sz="1700" b="1">
                          <a:effectLst/>
                        </a:rPr>
                        <a:t>作業、運輸</a:t>
                      </a:r>
                      <a:endParaRPr lang="zh-TW" altLang="en-US" sz="1700" b="1">
                        <a:effectLst/>
                        <a:latin typeface="微軟正黑體" panose="020B0604030504040204" pitchFamily="34" charset="-120"/>
                        <a:ea typeface="微軟正黑體" panose="020B0604030504040204" pitchFamily="34" charset="-120"/>
                      </a:endParaRPr>
                    </a:p>
                  </a:txBody>
                  <a:tcPr marL="88174" marR="88174" marT="44087" marB="44087" anchor="ctr"/>
                </a:tc>
                <a:extLst>
                  <a:ext uri="{0D108BD9-81ED-4DB2-BD59-A6C34878D82A}">
                    <a16:rowId xmlns:a16="http://schemas.microsoft.com/office/drawing/2014/main" val="4167291942"/>
                  </a:ext>
                </a:extLst>
              </a:tr>
              <a:tr h="500651">
                <a:tc>
                  <a:txBody>
                    <a:bodyPr/>
                    <a:lstStyle/>
                    <a:p>
                      <a:pPr algn="l"/>
                      <a:r>
                        <a:rPr lang="en-US" sz="1700" b="1" u="none" strike="noStrike" dirty="0">
                          <a:solidFill>
                            <a:schemeClr val="tx1"/>
                          </a:solidFill>
                          <a:effectLst/>
                        </a:rPr>
                        <a:t>C</a:t>
                      </a:r>
                      <a:r>
                        <a:rPr lang="zh-TW" altLang="en-US" sz="1700" b="1" u="none" strike="noStrike" dirty="0">
                          <a:solidFill>
                            <a:schemeClr val="tx1"/>
                          </a:solidFill>
                          <a:effectLst/>
                        </a:rPr>
                        <a:t>部</a:t>
                      </a:r>
                      <a:endParaRPr lang="en-US" sz="1700" b="1" u="none" dirty="0">
                        <a:solidFill>
                          <a:schemeClr val="tx1"/>
                        </a:solidFill>
                        <a:effectLst/>
                        <a:latin typeface="微軟正黑體" panose="020B0604030504040204" pitchFamily="34" charset="-120"/>
                        <a:ea typeface="微軟正黑體" panose="020B0604030504040204" pitchFamily="34" charset="-120"/>
                      </a:endParaRPr>
                    </a:p>
                  </a:txBody>
                  <a:tcPr marL="88174" marR="88174" marT="44087" marB="44087" anchor="ctr"/>
                </a:tc>
                <a:tc>
                  <a:txBody>
                    <a:bodyPr/>
                    <a:lstStyle/>
                    <a:p>
                      <a:pPr algn="l" latinLnBrk="1"/>
                      <a:r>
                        <a:rPr lang="zh-TW" altLang="en-US" sz="1700" b="1">
                          <a:effectLst/>
                        </a:rPr>
                        <a:t>化學；冶金；組合化學</a:t>
                      </a:r>
                      <a:endParaRPr lang="zh-TW" altLang="en-US" sz="1700" b="1">
                        <a:effectLst/>
                        <a:latin typeface="微軟正黑體" panose="020B0604030504040204" pitchFamily="34" charset="-120"/>
                        <a:ea typeface="微軟正黑體" panose="020B0604030504040204" pitchFamily="34" charset="-120"/>
                      </a:endParaRPr>
                    </a:p>
                  </a:txBody>
                  <a:tcPr marL="88174" marR="88174" marT="44087" marB="44087" anchor="ctr"/>
                </a:tc>
                <a:extLst>
                  <a:ext uri="{0D108BD9-81ED-4DB2-BD59-A6C34878D82A}">
                    <a16:rowId xmlns:a16="http://schemas.microsoft.com/office/drawing/2014/main" val="131421915"/>
                  </a:ext>
                </a:extLst>
              </a:tr>
              <a:tr h="500651">
                <a:tc>
                  <a:txBody>
                    <a:bodyPr/>
                    <a:lstStyle/>
                    <a:p>
                      <a:pPr algn="l"/>
                      <a:r>
                        <a:rPr lang="en-US" sz="1700" b="1" u="none" strike="noStrike" dirty="0">
                          <a:solidFill>
                            <a:schemeClr val="tx1"/>
                          </a:solidFill>
                          <a:effectLst/>
                        </a:rPr>
                        <a:t>D</a:t>
                      </a:r>
                      <a:r>
                        <a:rPr lang="zh-TW" altLang="en-US" sz="1700" b="1" u="none" strike="noStrike" dirty="0">
                          <a:solidFill>
                            <a:schemeClr val="tx1"/>
                          </a:solidFill>
                          <a:effectLst/>
                        </a:rPr>
                        <a:t>部</a:t>
                      </a:r>
                      <a:endParaRPr lang="en-US" sz="1700" b="1" u="none" dirty="0">
                        <a:solidFill>
                          <a:schemeClr val="tx1"/>
                        </a:solidFill>
                        <a:effectLst/>
                        <a:latin typeface="微軟正黑體" panose="020B0604030504040204" pitchFamily="34" charset="-120"/>
                        <a:ea typeface="微軟正黑體" panose="020B0604030504040204" pitchFamily="34" charset="-120"/>
                      </a:endParaRPr>
                    </a:p>
                  </a:txBody>
                  <a:tcPr marL="88174" marR="88174" marT="44087" marB="44087" anchor="ctr"/>
                </a:tc>
                <a:tc>
                  <a:txBody>
                    <a:bodyPr/>
                    <a:lstStyle/>
                    <a:p>
                      <a:pPr algn="l" latinLnBrk="1"/>
                      <a:r>
                        <a:rPr lang="zh-TW" altLang="en-US" sz="1700" b="1" dirty="0">
                          <a:effectLst/>
                        </a:rPr>
                        <a:t>紡織；造紙</a:t>
                      </a:r>
                      <a:endParaRPr lang="zh-TW" altLang="en-US" sz="1700" b="1" dirty="0">
                        <a:effectLst/>
                        <a:latin typeface="微軟正黑體" panose="020B0604030504040204" pitchFamily="34" charset="-120"/>
                        <a:ea typeface="微軟正黑體" panose="020B0604030504040204" pitchFamily="34" charset="-120"/>
                      </a:endParaRPr>
                    </a:p>
                  </a:txBody>
                  <a:tcPr marL="88174" marR="88174" marT="44087" marB="44087" anchor="ctr"/>
                </a:tc>
                <a:extLst>
                  <a:ext uri="{0D108BD9-81ED-4DB2-BD59-A6C34878D82A}">
                    <a16:rowId xmlns:a16="http://schemas.microsoft.com/office/drawing/2014/main" val="3628737955"/>
                  </a:ext>
                </a:extLst>
              </a:tr>
              <a:tr h="500651">
                <a:tc>
                  <a:txBody>
                    <a:bodyPr/>
                    <a:lstStyle/>
                    <a:p>
                      <a:pPr algn="l"/>
                      <a:r>
                        <a:rPr lang="en-US" sz="1700" b="1" u="none" strike="noStrike" dirty="0">
                          <a:solidFill>
                            <a:schemeClr val="tx1"/>
                          </a:solidFill>
                          <a:effectLst/>
                        </a:rPr>
                        <a:t>E</a:t>
                      </a:r>
                      <a:r>
                        <a:rPr lang="zh-TW" altLang="en-US" sz="1700" b="1" u="none" strike="noStrike" dirty="0">
                          <a:solidFill>
                            <a:schemeClr val="tx1"/>
                          </a:solidFill>
                          <a:effectLst/>
                        </a:rPr>
                        <a:t>部</a:t>
                      </a:r>
                      <a:endParaRPr lang="en-US" sz="1700" b="1" u="none" dirty="0">
                        <a:solidFill>
                          <a:schemeClr val="tx1"/>
                        </a:solidFill>
                        <a:effectLst/>
                        <a:latin typeface="微軟正黑體" panose="020B0604030504040204" pitchFamily="34" charset="-120"/>
                        <a:ea typeface="微軟正黑體" panose="020B0604030504040204" pitchFamily="34" charset="-120"/>
                      </a:endParaRPr>
                    </a:p>
                  </a:txBody>
                  <a:tcPr marL="88174" marR="88174" marT="44087" marB="44087" anchor="ctr"/>
                </a:tc>
                <a:tc>
                  <a:txBody>
                    <a:bodyPr/>
                    <a:lstStyle/>
                    <a:p>
                      <a:pPr algn="l" latinLnBrk="1"/>
                      <a:r>
                        <a:rPr lang="zh-TW" altLang="en-US" sz="1700" b="1">
                          <a:effectLst/>
                        </a:rPr>
                        <a:t>固定建築物</a:t>
                      </a:r>
                      <a:endParaRPr lang="zh-TW" altLang="en-US" sz="1700" b="1">
                        <a:effectLst/>
                        <a:latin typeface="微軟正黑體" panose="020B0604030504040204" pitchFamily="34" charset="-120"/>
                        <a:ea typeface="微軟正黑體" panose="020B0604030504040204" pitchFamily="34" charset="-120"/>
                      </a:endParaRPr>
                    </a:p>
                  </a:txBody>
                  <a:tcPr marL="88174" marR="88174" marT="44087" marB="44087" anchor="ctr"/>
                </a:tc>
                <a:extLst>
                  <a:ext uri="{0D108BD9-81ED-4DB2-BD59-A6C34878D82A}">
                    <a16:rowId xmlns:a16="http://schemas.microsoft.com/office/drawing/2014/main" val="850640672"/>
                  </a:ext>
                </a:extLst>
              </a:tr>
              <a:tr h="500651">
                <a:tc>
                  <a:txBody>
                    <a:bodyPr/>
                    <a:lstStyle/>
                    <a:p>
                      <a:pPr algn="l"/>
                      <a:r>
                        <a:rPr lang="en-US" sz="1700" b="1" u="none" strike="noStrike" dirty="0">
                          <a:solidFill>
                            <a:schemeClr val="tx1"/>
                          </a:solidFill>
                          <a:effectLst/>
                        </a:rPr>
                        <a:t>F</a:t>
                      </a:r>
                      <a:r>
                        <a:rPr lang="zh-TW" altLang="en-US" sz="1700" b="1" u="none" strike="noStrike" dirty="0">
                          <a:solidFill>
                            <a:schemeClr val="tx1"/>
                          </a:solidFill>
                          <a:effectLst/>
                        </a:rPr>
                        <a:t>部</a:t>
                      </a:r>
                      <a:endParaRPr lang="en-US" sz="1700" b="1" u="none" dirty="0">
                        <a:solidFill>
                          <a:schemeClr val="tx1"/>
                        </a:solidFill>
                        <a:effectLst/>
                        <a:latin typeface="微軟正黑體" panose="020B0604030504040204" pitchFamily="34" charset="-120"/>
                        <a:ea typeface="微軟正黑體" panose="020B0604030504040204" pitchFamily="34" charset="-120"/>
                      </a:endParaRPr>
                    </a:p>
                  </a:txBody>
                  <a:tcPr marL="88174" marR="88174" marT="44087" marB="44087" anchor="ctr"/>
                </a:tc>
                <a:tc>
                  <a:txBody>
                    <a:bodyPr/>
                    <a:lstStyle/>
                    <a:p>
                      <a:pPr algn="l" latinLnBrk="1"/>
                      <a:r>
                        <a:rPr lang="zh-TW" altLang="en-US" sz="1700" b="1">
                          <a:effectLst/>
                        </a:rPr>
                        <a:t>機械工程；照明；供熱；武器；爆破</a:t>
                      </a:r>
                      <a:endParaRPr lang="zh-TW" altLang="en-US" sz="1700" b="1">
                        <a:effectLst/>
                        <a:latin typeface="微軟正黑體" panose="020B0604030504040204" pitchFamily="34" charset="-120"/>
                        <a:ea typeface="微軟正黑體" panose="020B0604030504040204" pitchFamily="34" charset="-120"/>
                      </a:endParaRPr>
                    </a:p>
                  </a:txBody>
                  <a:tcPr marL="88174" marR="88174" marT="44087" marB="44087" anchor="ctr"/>
                </a:tc>
                <a:extLst>
                  <a:ext uri="{0D108BD9-81ED-4DB2-BD59-A6C34878D82A}">
                    <a16:rowId xmlns:a16="http://schemas.microsoft.com/office/drawing/2014/main" val="980456"/>
                  </a:ext>
                </a:extLst>
              </a:tr>
              <a:tr h="500651">
                <a:tc>
                  <a:txBody>
                    <a:bodyPr/>
                    <a:lstStyle/>
                    <a:p>
                      <a:pPr algn="l"/>
                      <a:r>
                        <a:rPr lang="en-US" sz="1700" b="1" u="none" strike="noStrike" dirty="0">
                          <a:solidFill>
                            <a:schemeClr val="tx1"/>
                          </a:solidFill>
                          <a:effectLst/>
                        </a:rPr>
                        <a:t>G</a:t>
                      </a:r>
                      <a:r>
                        <a:rPr lang="zh-TW" altLang="en-US" sz="1700" b="1" u="none" strike="noStrike" dirty="0">
                          <a:solidFill>
                            <a:schemeClr val="tx1"/>
                          </a:solidFill>
                          <a:effectLst/>
                        </a:rPr>
                        <a:t>部</a:t>
                      </a:r>
                      <a:endParaRPr lang="en-US" sz="1700" b="1" u="none" dirty="0">
                        <a:solidFill>
                          <a:schemeClr val="tx1"/>
                        </a:solidFill>
                        <a:effectLst/>
                        <a:latin typeface="微軟正黑體" panose="020B0604030504040204" pitchFamily="34" charset="-120"/>
                        <a:ea typeface="微軟正黑體" panose="020B0604030504040204" pitchFamily="34" charset="-120"/>
                      </a:endParaRPr>
                    </a:p>
                  </a:txBody>
                  <a:tcPr marL="88174" marR="88174" marT="44087" marB="44087" anchor="ctr"/>
                </a:tc>
                <a:tc>
                  <a:txBody>
                    <a:bodyPr/>
                    <a:lstStyle/>
                    <a:p>
                      <a:pPr algn="l" latinLnBrk="1"/>
                      <a:r>
                        <a:rPr lang="zh-TW" altLang="en-US" sz="1700" b="1">
                          <a:effectLst/>
                        </a:rPr>
                        <a:t>物理</a:t>
                      </a:r>
                      <a:endParaRPr lang="zh-TW" altLang="en-US" sz="1700" b="1">
                        <a:effectLst/>
                        <a:latin typeface="微軟正黑體" panose="020B0604030504040204" pitchFamily="34" charset="-120"/>
                        <a:ea typeface="微軟正黑體" panose="020B0604030504040204" pitchFamily="34" charset="-120"/>
                      </a:endParaRPr>
                    </a:p>
                  </a:txBody>
                  <a:tcPr marL="88174" marR="88174" marT="44087" marB="44087" anchor="ctr"/>
                </a:tc>
                <a:extLst>
                  <a:ext uri="{0D108BD9-81ED-4DB2-BD59-A6C34878D82A}">
                    <a16:rowId xmlns:a16="http://schemas.microsoft.com/office/drawing/2014/main" val="226757540"/>
                  </a:ext>
                </a:extLst>
              </a:tr>
              <a:tr h="500651">
                <a:tc>
                  <a:txBody>
                    <a:bodyPr/>
                    <a:lstStyle/>
                    <a:p>
                      <a:pPr algn="l"/>
                      <a:r>
                        <a:rPr lang="en-US" sz="1700" b="1" u="none" strike="noStrike" dirty="0">
                          <a:solidFill>
                            <a:schemeClr val="tx1"/>
                          </a:solidFill>
                          <a:effectLst/>
                        </a:rPr>
                        <a:t>H</a:t>
                      </a:r>
                      <a:r>
                        <a:rPr lang="zh-TW" altLang="en-US" sz="1700" b="1" u="none" strike="noStrike" dirty="0">
                          <a:solidFill>
                            <a:schemeClr val="tx1"/>
                          </a:solidFill>
                          <a:effectLst/>
                        </a:rPr>
                        <a:t>部</a:t>
                      </a:r>
                      <a:endParaRPr lang="en-US" sz="1700" b="1" u="none" dirty="0">
                        <a:solidFill>
                          <a:schemeClr val="tx1"/>
                        </a:solidFill>
                        <a:effectLst/>
                        <a:latin typeface="微軟正黑體" panose="020B0604030504040204" pitchFamily="34" charset="-120"/>
                        <a:ea typeface="微軟正黑體" panose="020B0604030504040204" pitchFamily="34" charset="-120"/>
                      </a:endParaRPr>
                    </a:p>
                  </a:txBody>
                  <a:tcPr marL="88174" marR="88174" marT="44087" marB="44087" anchor="ctr"/>
                </a:tc>
                <a:tc>
                  <a:txBody>
                    <a:bodyPr/>
                    <a:lstStyle/>
                    <a:p>
                      <a:pPr algn="l" latinLnBrk="1"/>
                      <a:r>
                        <a:rPr lang="zh-TW" altLang="en-US" sz="1700" b="1" dirty="0">
                          <a:effectLst/>
                        </a:rPr>
                        <a:t>電學</a:t>
                      </a:r>
                      <a:endParaRPr lang="zh-TW" altLang="en-US" sz="1700" b="1" dirty="0">
                        <a:effectLst/>
                        <a:latin typeface="微軟正黑體" panose="020B0604030504040204" pitchFamily="34" charset="-120"/>
                        <a:ea typeface="微軟正黑體" panose="020B0604030504040204" pitchFamily="34" charset="-120"/>
                      </a:endParaRPr>
                    </a:p>
                  </a:txBody>
                  <a:tcPr marL="88174" marR="88174" marT="44087" marB="44087" anchor="ctr"/>
                </a:tc>
                <a:extLst>
                  <a:ext uri="{0D108BD9-81ED-4DB2-BD59-A6C34878D82A}">
                    <a16:rowId xmlns:a16="http://schemas.microsoft.com/office/drawing/2014/main" val="1122534969"/>
                  </a:ext>
                </a:extLst>
              </a:tr>
            </a:tbl>
          </a:graphicData>
        </a:graphic>
      </p:graphicFrame>
    </p:spTree>
    <p:extLst>
      <p:ext uri="{BB962C8B-B14F-4D97-AF65-F5344CB8AC3E}">
        <p14:creationId xmlns:p14="http://schemas.microsoft.com/office/powerpoint/2010/main" val="2867646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138C0D3-2181-3991-00CB-F3E6DC0A9A57}"/>
              </a:ext>
            </a:extLst>
          </p:cNvPr>
          <p:cNvSpPr>
            <a:spLocks noGrp="1"/>
          </p:cNvSpPr>
          <p:nvPr>
            <p:ph type="title"/>
          </p:nvPr>
        </p:nvSpPr>
        <p:spPr/>
        <p:txBody>
          <a:bodyPr/>
          <a:lstStyle/>
          <a:p>
            <a:r>
              <a:rPr lang="zh-TW" altLang="en-US" dirty="0"/>
              <a:t>國際專利分類</a:t>
            </a:r>
            <a:r>
              <a:rPr lang="en-US" altLang="zh-TW" dirty="0"/>
              <a:t>IPC</a:t>
            </a:r>
            <a:endParaRPr lang="zh-TW" altLang="en-US" dirty="0"/>
          </a:p>
        </p:txBody>
      </p:sp>
      <p:sp>
        <p:nvSpPr>
          <p:cNvPr id="4" name="投影片編號版面配置區 3">
            <a:extLst>
              <a:ext uri="{FF2B5EF4-FFF2-40B4-BE49-F238E27FC236}">
                <a16:creationId xmlns:a16="http://schemas.microsoft.com/office/drawing/2014/main" id="{B7F906D2-ECD3-CA40-7A4A-B7DDD6910C90}"/>
              </a:ext>
            </a:extLst>
          </p:cNvPr>
          <p:cNvSpPr>
            <a:spLocks noGrp="1"/>
          </p:cNvSpPr>
          <p:nvPr>
            <p:ph type="sldNum" sz="quarter" idx="12"/>
          </p:nvPr>
        </p:nvSpPr>
        <p:spPr>
          <a:xfrm>
            <a:off x="6575493" y="6437541"/>
            <a:ext cx="2133600" cy="365125"/>
          </a:xfrm>
        </p:spPr>
        <p:txBody>
          <a:bodyPr/>
          <a:lstStyle/>
          <a:p>
            <a:fld id="{51D2D507-09EA-4C6F-96ED-053C801F8797}" type="slidenum">
              <a:rPr lang="zh-TW" altLang="en-US" smtClean="0"/>
              <a:t>17</a:t>
            </a:fld>
            <a:endParaRPr lang="zh-TW" altLang="en-US"/>
          </a:p>
        </p:txBody>
      </p:sp>
      <p:pic>
        <p:nvPicPr>
          <p:cNvPr id="6" name="圖片 5">
            <a:extLst>
              <a:ext uri="{FF2B5EF4-FFF2-40B4-BE49-F238E27FC236}">
                <a16:creationId xmlns:a16="http://schemas.microsoft.com/office/drawing/2014/main" id="{86924070-D7B4-F76B-5541-D03FED02AF4B}"/>
              </a:ext>
            </a:extLst>
          </p:cNvPr>
          <p:cNvPicPr>
            <a:picLocks noChangeAspect="1"/>
          </p:cNvPicPr>
          <p:nvPr/>
        </p:nvPicPr>
        <p:blipFill>
          <a:blip r:embed="rId2"/>
          <a:stretch>
            <a:fillRect/>
          </a:stretch>
        </p:blipFill>
        <p:spPr>
          <a:xfrm>
            <a:off x="695352" y="908720"/>
            <a:ext cx="8013741" cy="5622339"/>
          </a:xfrm>
          <a:prstGeom prst="rect">
            <a:avLst/>
          </a:prstGeom>
        </p:spPr>
      </p:pic>
    </p:spTree>
    <p:extLst>
      <p:ext uri="{BB962C8B-B14F-4D97-AF65-F5344CB8AC3E}">
        <p14:creationId xmlns:p14="http://schemas.microsoft.com/office/powerpoint/2010/main" val="34807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138C0D3-2181-3991-00CB-F3E6DC0A9A57}"/>
              </a:ext>
            </a:extLst>
          </p:cNvPr>
          <p:cNvSpPr>
            <a:spLocks noGrp="1"/>
          </p:cNvSpPr>
          <p:nvPr>
            <p:ph type="title"/>
          </p:nvPr>
        </p:nvSpPr>
        <p:spPr/>
        <p:txBody>
          <a:bodyPr/>
          <a:lstStyle/>
          <a:p>
            <a:r>
              <a:rPr lang="zh-TW" altLang="en-US" dirty="0"/>
              <a:t>國際專利分類</a:t>
            </a:r>
            <a:r>
              <a:rPr lang="en-US" altLang="zh-TW" dirty="0"/>
              <a:t>IPC</a:t>
            </a:r>
            <a:endParaRPr lang="zh-TW" altLang="en-US" dirty="0"/>
          </a:p>
        </p:txBody>
      </p:sp>
      <p:sp>
        <p:nvSpPr>
          <p:cNvPr id="4" name="投影片編號版面配置區 3">
            <a:extLst>
              <a:ext uri="{FF2B5EF4-FFF2-40B4-BE49-F238E27FC236}">
                <a16:creationId xmlns:a16="http://schemas.microsoft.com/office/drawing/2014/main" id="{B7F906D2-ECD3-CA40-7A4A-B7DDD6910C90}"/>
              </a:ext>
            </a:extLst>
          </p:cNvPr>
          <p:cNvSpPr>
            <a:spLocks noGrp="1"/>
          </p:cNvSpPr>
          <p:nvPr>
            <p:ph type="sldNum" sz="quarter" idx="12"/>
          </p:nvPr>
        </p:nvSpPr>
        <p:spPr>
          <a:xfrm>
            <a:off x="6575493" y="6437541"/>
            <a:ext cx="2133600" cy="365125"/>
          </a:xfrm>
        </p:spPr>
        <p:txBody>
          <a:bodyPr/>
          <a:lstStyle/>
          <a:p>
            <a:fld id="{51D2D507-09EA-4C6F-96ED-053C801F8797}" type="slidenum">
              <a:rPr lang="zh-TW" altLang="en-US" smtClean="0"/>
              <a:t>18</a:t>
            </a:fld>
            <a:endParaRPr lang="zh-TW" altLang="en-US"/>
          </a:p>
        </p:txBody>
      </p:sp>
      <p:pic>
        <p:nvPicPr>
          <p:cNvPr id="5" name="圖片 4">
            <a:extLst>
              <a:ext uri="{FF2B5EF4-FFF2-40B4-BE49-F238E27FC236}">
                <a16:creationId xmlns:a16="http://schemas.microsoft.com/office/drawing/2014/main" id="{DE7BDCC4-9BAB-19F6-2D68-E55277FAEFB7}"/>
              </a:ext>
            </a:extLst>
          </p:cNvPr>
          <p:cNvPicPr>
            <a:picLocks noChangeAspect="1"/>
          </p:cNvPicPr>
          <p:nvPr/>
        </p:nvPicPr>
        <p:blipFill>
          <a:blip r:embed="rId2"/>
          <a:stretch>
            <a:fillRect/>
          </a:stretch>
        </p:blipFill>
        <p:spPr>
          <a:xfrm>
            <a:off x="920228" y="788427"/>
            <a:ext cx="7468247" cy="1760373"/>
          </a:xfrm>
          <a:prstGeom prst="rect">
            <a:avLst/>
          </a:prstGeom>
        </p:spPr>
      </p:pic>
      <p:pic>
        <p:nvPicPr>
          <p:cNvPr id="13" name="圖片 12">
            <a:extLst>
              <a:ext uri="{FF2B5EF4-FFF2-40B4-BE49-F238E27FC236}">
                <a16:creationId xmlns:a16="http://schemas.microsoft.com/office/drawing/2014/main" id="{06C06030-255F-EA25-58CB-7189F04534CD}"/>
              </a:ext>
            </a:extLst>
          </p:cNvPr>
          <p:cNvPicPr>
            <a:picLocks noChangeAspect="1"/>
          </p:cNvPicPr>
          <p:nvPr/>
        </p:nvPicPr>
        <p:blipFill>
          <a:blip r:embed="rId3"/>
          <a:stretch>
            <a:fillRect/>
          </a:stretch>
        </p:blipFill>
        <p:spPr>
          <a:xfrm>
            <a:off x="755576" y="4608587"/>
            <a:ext cx="6203113" cy="1901684"/>
          </a:xfrm>
          <a:prstGeom prst="rect">
            <a:avLst/>
          </a:prstGeom>
        </p:spPr>
      </p:pic>
      <p:sp>
        <p:nvSpPr>
          <p:cNvPr id="14" name="矩形: 圓角 4">
            <a:extLst>
              <a:ext uri="{FF2B5EF4-FFF2-40B4-BE49-F238E27FC236}">
                <a16:creationId xmlns:a16="http://schemas.microsoft.com/office/drawing/2014/main" id="{A7CE9927-2FE8-15EC-5E0B-4522FC4EC0BD}"/>
              </a:ext>
            </a:extLst>
          </p:cNvPr>
          <p:cNvSpPr txBox="1"/>
          <p:nvPr/>
        </p:nvSpPr>
        <p:spPr>
          <a:xfrm>
            <a:off x="491324" y="2663697"/>
            <a:ext cx="4051177" cy="1369105"/>
          </a:xfrm>
          <a:prstGeom prst="rect">
            <a:avLst/>
          </a:prstGeom>
        </p:spPr>
        <p:style>
          <a:lnRef idx="1">
            <a:schemeClr val="accent3"/>
          </a:lnRef>
          <a:fillRef idx="2">
            <a:schemeClr val="accent3"/>
          </a:fillRef>
          <a:effectRef idx="1">
            <a:schemeClr val="accent3"/>
          </a:effectRef>
          <a:fontRef idx="minor">
            <a:schemeClr val="dk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發明資訊</a:t>
            </a:r>
            <a:endParaRPr lang="en-US" altLang="zh-TW" sz="2000" b="1" kern="1200" dirty="0">
              <a:solidFill>
                <a:schemeClr val="tx1"/>
              </a:solidFill>
              <a:latin typeface="微軟正黑體" panose="020B0604030504040204" pitchFamily="34" charset="-120"/>
              <a:ea typeface="微軟正黑體" panose="020B0604030504040204" pitchFamily="34" charset="-120"/>
            </a:endParaRPr>
          </a:p>
          <a:p>
            <a:pPr marL="285750" lvl="0" indent="-285750" algn="l" defTabSz="889000">
              <a:lnSpc>
                <a:spcPct val="90000"/>
              </a:lnSpc>
              <a:spcBef>
                <a:spcPct val="0"/>
              </a:spcBef>
              <a:spcAft>
                <a:spcPct val="35000"/>
              </a:spcAft>
              <a:buFont typeface="Arial" panose="020B0604020202020204" pitchFamily="34" charset="0"/>
              <a:buChar char="•"/>
            </a:pPr>
            <a:r>
              <a:rPr lang="zh-TW" altLang="en-US" b="1" dirty="0">
                <a:solidFill>
                  <a:schemeClr val="tx1"/>
                </a:solidFill>
                <a:latin typeface="微軟正黑體" panose="020B0604030504040204" pitchFamily="34" charset="-120"/>
                <a:ea typeface="微軟正黑體" panose="020B0604030504040204" pitchFamily="34" charset="-120"/>
              </a:rPr>
              <a:t>表示發明資訊的分類號，將最充分代表該發明的分類號列於首位</a:t>
            </a:r>
            <a:endParaRPr lang="en-US" altLang="zh-TW" b="1" dirty="0">
              <a:solidFill>
                <a:schemeClr val="tx1"/>
              </a:solidFill>
              <a:latin typeface="微軟正黑體" panose="020B0604030504040204" pitchFamily="34" charset="-120"/>
              <a:ea typeface="微軟正黑體" panose="020B0604030504040204" pitchFamily="34" charset="-120"/>
            </a:endParaRPr>
          </a:p>
          <a:p>
            <a:pPr marL="285750" lvl="0" indent="-285750" algn="l" defTabSz="889000">
              <a:lnSpc>
                <a:spcPct val="90000"/>
              </a:lnSpc>
              <a:spcBef>
                <a:spcPct val="0"/>
              </a:spcBef>
              <a:spcAft>
                <a:spcPct val="35000"/>
              </a:spcAft>
              <a:buFont typeface="Arial" panose="020B0604020202020204" pitchFamily="34" charset="0"/>
              <a:buChar char="•"/>
            </a:pPr>
            <a:r>
              <a:rPr lang="zh-TW" altLang="en-US" b="1" dirty="0">
                <a:solidFill>
                  <a:schemeClr val="tx1"/>
                </a:solidFill>
                <a:latin typeface="微軟正黑體" panose="020B0604030504040204" pitchFamily="34" charset="-120"/>
                <a:ea typeface="微軟正黑體" panose="020B0604030504040204" pitchFamily="34" charset="-120"/>
              </a:rPr>
              <a:t>分類號以粗體字印刷或顯示</a:t>
            </a:r>
            <a:endParaRPr lang="zh-TW" altLang="en-US" sz="1800" b="1" kern="1200" dirty="0">
              <a:solidFill>
                <a:schemeClr val="tx1"/>
              </a:solidFill>
              <a:latin typeface="微軟正黑體" panose="020B0604030504040204" pitchFamily="34" charset="-120"/>
              <a:ea typeface="微軟正黑體" panose="020B0604030504040204" pitchFamily="34" charset="-120"/>
            </a:endParaRPr>
          </a:p>
        </p:txBody>
      </p:sp>
      <p:sp>
        <p:nvSpPr>
          <p:cNvPr id="16" name="矩形: 圓角 4">
            <a:extLst>
              <a:ext uri="{FF2B5EF4-FFF2-40B4-BE49-F238E27FC236}">
                <a16:creationId xmlns:a16="http://schemas.microsoft.com/office/drawing/2014/main" id="{4C6CB92F-7098-721D-0D97-40BF47E8E873}"/>
              </a:ext>
            </a:extLst>
          </p:cNvPr>
          <p:cNvSpPr txBox="1"/>
          <p:nvPr/>
        </p:nvSpPr>
        <p:spPr>
          <a:xfrm>
            <a:off x="4658101" y="2663697"/>
            <a:ext cx="4107830" cy="1369104"/>
          </a:xfrm>
          <a:prstGeom prst="rect">
            <a:avLst/>
          </a:prstGeom>
        </p:spPr>
        <p:style>
          <a:lnRef idx="1">
            <a:schemeClr val="accent5"/>
          </a:lnRef>
          <a:fillRef idx="2">
            <a:schemeClr val="accent5"/>
          </a:fillRef>
          <a:effectRef idx="1">
            <a:schemeClr val="accent5"/>
          </a:effectRef>
          <a:fontRef idx="minor">
            <a:schemeClr val="dk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附加資訊</a:t>
            </a:r>
            <a:endParaRPr lang="en-US" altLang="zh-TW" sz="2000" b="1" kern="1200" dirty="0">
              <a:solidFill>
                <a:schemeClr val="tx1"/>
              </a:solidFill>
              <a:latin typeface="微軟正黑體" panose="020B0604030504040204" pitchFamily="34" charset="-120"/>
              <a:ea typeface="微軟正黑體" panose="020B0604030504040204" pitchFamily="34" charset="-120"/>
            </a:endParaRPr>
          </a:p>
          <a:p>
            <a:pPr marL="285750" lvl="0" indent="-285750" algn="l" defTabSz="800100">
              <a:lnSpc>
                <a:spcPct val="90000"/>
              </a:lnSpc>
              <a:spcBef>
                <a:spcPct val="0"/>
              </a:spcBef>
              <a:spcAft>
                <a:spcPct val="35000"/>
              </a:spcAft>
              <a:buFont typeface="Arial" panose="020B0604020202020204" pitchFamily="34" charset="0"/>
              <a:buChar char="•"/>
            </a:pPr>
            <a:r>
              <a:rPr lang="zh-TW" altLang="en-US" b="1" dirty="0">
                <a:solidFill>
                  <a:schemeClr val="tx1"/>
                </a:solidFill>
                <a:latin typeface="微軟正黑體" panose="020B0604030504040204" pitchFamily="34" charset="-120"/>
                <a:ea typeface="微軟正黑體" panose="020B0604030504040204" pitchFamily="34" charset="-120"/>
              </a:rPr>
              <a:t>表示附加資訊的分類號或索引碼</a:t>
            </a:r>
            <a:endParaRPr lang="en-US" altLang="zh-TW" b="1" dirty="0">
              <a:solidFill>
                <a:schemeClr val="tx1"/>
              </a:solidFill>
              <a:latin typeface="微軟正黑體" panose="020B0604030504040204" pitchFamily="34" charset="-120"/>
              <a:ea typeface="微軟正黑體" panose="020B0604030504040204" pitchFamily="34" charset="-120"/>
            </a:endParaRPr>
          </a:p>
          <a:p>
            <a:pPr marL="285750" lvl="0" indent="-285750" algn="l" defTabSz="800100">
              <a:lnSpc>
                <a:spcPct val="90000"/>
              </a:lnSpc>
              <a:spcBef>
                <a:spcPct val="0"/>
              </a:spcBef>
              <a:spcAft>
                <a:spcPct val="35000"/>
              </a:spcAft>
              <a:buFont typeface="Arial" panose="020B0604020202020204" pitchFamily="34" charset="0"/>
              <a:buChar char="•"/>
            </a:pPr>
            <a:r>
              <a:rPr lang="zh-TW" altLang="en-US" b="1" dirty="0">
                <a:solidFill>
                  <a:schemeClr val="tx1"/>
                </a:solidFill>
                <a:latin typeface="微軟正黑體" panose="020B0604030504040204" pitchFamily="34" charset="-120"/>
                <a:ea typeface="微軟正黑體" panose="020B0604030504040204" pitchFamily="34" charset="-120"/>
              </a:rPr>
              <a:t>分類號以普通字體（即，非粗體）印刷或顯示</a:t>
            </a:r>
            <a:endParaRPr lang="zh-TW" altLang="en-US" sz="1800" b="1" kern="1200" dirty="0">
              <a:solidFill>
                <a:schemeClr val="tx1"/>
              </a:solidFill>
              <a:latin typeface="微軟正黑體" panose="020B0604030504040204" pitchFamily="34" charset="-120"/>
              <a:ea typeface="微軟正黑體" panose="020B0604030504040204" pitchFamily="34" charset="-120"/>
            </a:endParaRPr>
          </a:p>
        </p:txBody>
      </p:sp>
      <p:sp>
        <p:nvSpPr>
          <p:cNvPr id="19" name="圖說文字: 直線不加上框線 18">
            <a:extLst>
              <a:ext uri="{FF2B5EF4-FFF2-40B4-BE49-F238E27FC236}">
                <a16:creationId xmlns:a16="http://schemas.microsoft.com/office/drawing/2014/main" id="{9CEE6550-B199-88E9-8930-8936207B620B}"/>
              </a:ext>
            </a:extLst>
          </p:cNvPr>
          <p:cNvSpPr/>
          <p:nvPr/>
        </p:nvSpPr>
        <p:spPr>
          <a:xfrm>
            <a:off x="3491880" y="4221088"/>
            <a:ext cx="914400" cy="359890"/>
          </a:xfrm>
          <a:prstGeom prst="callout1">
            <a:avLst>
              <a:gd name="adj1" fmla="val 49989"/>
              <a:gd name="adj2" fmla="val -2519"/>
              <a:gd name="adj3" fmla="val 112500"/>
              <a:gd name="adj4" fmla="val -38333"/>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r>
              <a:rPr lang="zh-TW" altLang="en-US" b="1" dirty="0">
                <a:solidFill>
                  <a:srgbClr val="C00000"/>
                </a:solidFill>
                <a:latin typeface="微軟正黑體" panose="020B0604030504040204" pitchFamily="34" charset="-120"/>
                <a:ea typeface="微軟正黑體" panose="020B0604030504040204" pitchFamily="34" charset="-120"/>
              </a:rPr>
              <a:t>版本號</a:t>
            </a:r>
          </a:p>
        </p:txBody>
      </p:sp>
      <p:sp>
        <p:nvSpPr>
          <p:cNvPr id="22" name="圖說文字: 直線不加上框線 21">
            <a:extLst>
              <a:ext uri="{FF2B5EF4-FFF2-40B4-BE49-F238E27FC236}">
                <a16:creationId xmlns:a16="http://schemas.microsoft.com/office/drawing/2014/main" id="{E364CFC7-EAD7-6DC6-022A-6D0D45B6793F}"/>
              </a:ext>
            </a:extLst>
          </p:cNvPr>
          <p:cNvSpPr/>
          <p:nvPr/>
        </p:nvSpPr>
        <p:spPr>
          <a:xfrm>
            <a:off x="4114800" y="6460820"/>
            <a:ext cx="2545432" cy="359890"/>
          </a:xfrm>
          <a:prstGeom prst="callout1">
            <a:avLst>
              <a:gd name="adj1" fmla="val 49989"/>
              <a:gd name="adj2" fmla="val -2519"/>
              <a:gd name="adj3" fmla="val 233"/>
              <a:gd name="adj4" fmla="val -30346"/>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r>
              <a:rPr lang="zh-TW" altLang="en-US" b="1" dirty="0">
                <a:solidFill>
                  <a:srgbClr val="C00000"/>
                </a:solidFill>
                <a:latin typeface="微軟正黑體" panose="020B0604030504040204" pitchFamily="34" charset="-120"/>
                <a:ea typeface="微軟正黑體" panose="020B0604030504040204" pitchFamily="34" charset="-120"/>
              </a:rPr>
              <a:t>早於</a:t>
            </a:r>
            <a:r>
              <a:rPr lang="en-US" altLang="zh-TW" b="1" dirty="0">
                <a:solidFill>
                  <a:srgbClr val="C00000"/>
                </a:solidFill>
                <a:latin typeface="微軟正黑體" panose="020B0604030504040204" pitchFamily="34" charset="-120"/>
                <a:ea typeface="微軟正黑體" panose="020B0604030504040204" pitchFamily="34" charset="-120"/>
              </a:rPr>
              <a:t>2006.01</a:t>
            </a:r>
            <a:r>
              <a:rPr lang="zh-TW" altLang="en-US" b="1" dirty="0">
                <a:solidFill>
                  <a:srgbClr val="C00000"/>
                </a:solidFill>
                <a:latin typeface="微軟正黑體" panose="020B0604030504040204" pitchFamily="34" charset="-120"/>
                <a:ea typeface="微軟正黑體" panose="020B0604030504040204" pitchFamily="34" charset="-120"/>
              </a:rPr>
              <a:t>的版本號</a:t>
            </a:r>
          </a:p>
        </p:txBody>
      </p:sp>
    </p:spTree>
    <p:extLst>
      <p:ext uri="{BB962C8B-B14F-4D97-AF65-F5344CB8AC3E}">
        <p14:creationId xmlns:p14="http://schemas.microsoft.com/office/powerpoint/2010/main" val="795069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2996952"/>
            <a:ext cx="7772400" cy="968939"/>
          </a:xfrm>
        </p:spPr>
        <p:txBody>
          <a:bodyPr>
            <a:normAutofit/>
          </a:bodyPr>
          <a:lstStyle/>
          <a:p>
            <a:r>
              <a:rPr lang="zh-TW" altLang="en-US" sz="3600" dirty="0"/>
              <a:t>通常知識者</a:t>
            </a:r>
          </a:p>
        </p:txBody>
      </p:sp>
      <p:sp>
        <p:nvSpPr>
          <p:cNvPr id="3" name="投影片編號版面配置區 3"/>
          <p:cNvSpPr>
            <a:spLocks noGrp="1"/>
          </p:cNvSpPr>
          <p:nvPr>
            <p:ph type="sldNum" sz="quarter" idx="12"/>
          </p:nvPr>
        </p:nvSpPr>
        <p:spPr>
          <a:xfrm>
            <a:off x="6553200" y="6446880"/>
            <a:ext cx="2133600" cy="365125"/>
          </a:xfrm>
        </p:spPr>
        <p:txBody>
          <a:bodyPr/>
          <a:lstStyle/>
          <a:p>
            <a:fld id="{51D2D507-09EA-4C6F-96ED-053C801F8797}" type="slidenum">
              <a:rPr lang="zh-TW" altLang="en-US" smtClean="0"/>
              <a:t>19</a:t>
            </a:fld>
            <a:endParaRPr lang="zh-TW" altLang="en-US" dirty="0"/>
          </a:p>
        </p:txBody>
      </p:sp>
    </p:spTree>
    <p:extLst>
      <p:ext uri="{BB962C8B-B14F-4D97-AF65-F5344CB8AC3E}">
        <p14:creationId xmlns:p14="http://schemas.microsoft.com/office/powerpoint/2010/main" val="1289278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58C0207-BCD9-BB69-5586-419527E5F983}"/>
              </a:ext>
            </a:extLst>
          </p:cNvPr>
          <p:cNvSpPr>
            <a:spLocks noGrp="1"/>
          </p:cNvSpPr>
          <p:nvPr>
            <p:ph type="title"/>
          </p:nvPr>
        </p:nvSpPr>
        <p:spPr/>
        <p:txBody>
          <a:bodyPr/>
          <a:lstStyle/>
          <a:p>
            <a:br>
              <a:rPr lang="en-US" altLang="zh-TW" dirty="0"/>
            </a:br>
            <a:endParaRPr lang="zh-TW" altLang="en-US" dirty="0"/>
          </a:p>
        </p:txBody>
      </p:sp>
      <p:sp>
        <p:nvSpPr>
          <p:cNvPr id="4" name="投影片編號版面配置區 3">
            <a:extLst>
              <a:ext uri="{FF2B5EF4-FFF2-40B4-BE49-F238E27FC236}">
                <a16:creationId xmlns:a16="http://schemas.microsoft.com/office/drawing/2014/main" id="{89FF21DB-E45A-9776-CC22-1B01BE9B4CE4}"/>
              </a:ext>
            </a:extLst>
          </p:cNvPr>
          <p:cNvSpPr>
            <a:spLocks noGrp="1"/>
          </p:cNvSpPr>
          <p:nvPr>
            <p:ph type="sldNum" sz="quarter" idx="12"/>
          </p:nvPr>
        </p:nvSpPr>
        <p:spPr>
          <a:xfrm>
            <a:off x="4764816" y="7621178"/>
            <a:ext cx="444504" cy="142254"/>
          </a:xfrm>
        </p:spPr>
        <p:txBody>
          <a:bodyPr/>
          <a:lstStyle/>
          <a:p>
            <a:fld id="{51D2D507-09EA-4C6F-96ED-053C801F8797}" type="slidenum">
              <a:rPr lang="zh-TW" altLang="en-US" smtClean="0"/>
              <a:t>20</a:t>
            </a:fld>
            <a:endParaRPr lang="zh-TW" altLang="en-US"/>
          </a:p>
        </p:txBody>
      </p:sp>
      <p:pic>
        <p:nvPicPr>
          <p:cNvPr id="1032" name="Picture 8" descr="过程循环信息- Pixabay上的免费图片- Pixabay">
            <a:extLst>
              <a:ext uri="{FF2B5EF4-FFF2-40B4-BE49-F238E27FC236}">
                <a16:creationId xmlns:a16="http://schemas.microsoft.com/office/drawing/2014/main" id="{1B34717E-2ADA-53C6-768C-8998D5C6B2F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967758" y="1859442"/>
            <a:ext cx="2174761" cy="2164567"/>
          </a:xfrm>
          <a:prstGeom prst="rect">
            <a:avLst/>
          </a:prstGeom>
          <a:noFill/>
          <a:extLst>
            <a:ext uri="{909E8E84-426E-40DD-AFC4-6F175D3DCCD1}">
              <a14:hiddenFill xmlns:a14="http://schemas.microsoft.com/office/drawing/2010/main">
                <a:solidFill>
                  <a:srgbClr val="FFFFFF"/>
                </a:solidFill>
              </a14:hiddenFill>
            </a:ext>
          </a:extLst>
        </p:spPr>
      </p:pic>
      <p:sp>
        <p:nvSpPr>
          <p:cNvPr id="3" name="標題 1">
            <a:extLst>
              <a:ext uri="{FF2B5EF4-FFF2-40B4-BE49-F238E27FC236}">
                <a16:creationId xmlns:a16="http://schemas.microsoft.com/office/drawing/2014/main" id="{12827C07-A51F-DF05-3108-B911A5360FAB}"/>
              </a:ext>
            </a:extLst>
          </p:cNvPr>
          <p:cNvSpPr txBox="1">
            <a:spLocks/>
          </p:cNvSpPr>
          <p:nvPr/>
        </p:nvSpPr>
        <p:spPr>
          <a:xfrm>
            <a:off x="691952" y="155354"/>
            <a:ext cx="8229600" cy="761750"/>
          </a:xfrm>
          <a:prstGeom prst="rect">
            <a:avLst/>
          </a:prstGeom>
        </p:spPr>
        <p:txBody>
          <a:bodyPr/>
          <a:lstStyle>
            <a:lvl1pPr algn="ctr" defTabSz="914400" rtl="0" eaLnBrk="1" latinLnBrk="0" hangingPunct="1">
              <a:spcBef>
                <a:spcPct val="0"/>
              </a:spcBef>
              <a:buNone/>
              <a:defRPr sz="3600" kern="120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dirty="0"/>
              <a:t>通常知識</a:t>
            </a:r>
            <a:br>
              <a:rPr lang="en-US" altLang="zh-TW" dirty="0"/>
            </a:br>
            <a:endParaRPr lang="zh-TW" altLang="en-US" dirty="0"/>
          </a:p>
        </p:txBody>
      </p:sp>
      <p:pic>
        <p:nvPicPr>
          <p:cNvPr id="7" name="圖形 6" descr="文件 以實心填滿">
            <a:extLst>
              <a:ext uri="{FF2B5EF4-FFF2-40B4-BE49-F238E27FC236}">
                <a16:creationId xmlns:a16="http://schemas.microsoft.com/office/drawing/2014/main" id="{60D697D2-B347-A6EF-DC35-AB808D1F2F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7600" y="2385261"/>
            <a:ext cx="914400" cy="914400"/>
          </a:xfrm>
          <a:prstGeom prst="rect">
            <a:avLst/>
          </a:prstGeom>
        </p:spPr>
      </p:pic>
      <p:sp>
        <p:nvSpPr>
          <p:cNvPr id="8" name="文字方塊 7">
            <a:extLst>
              <a:ext uri="{FF2B5EF4-FFF2-40B4-BE49-F238E27FC236}">
                <a16:creationId xmlns:a16="http://schemas.microsoft.com/office/drawing/2014/main" id="{3067A426-3C23-102C-7E79-D586F53A0A05}"/>
              </a:ext>
            </a:extLst>
          </p:cNvPr>
          <p:cNvSpPr txBox="1"/>
          <p:nvPr/>
        </p:nvSpPr>
        <p:spPr>
          <a:xfrm>
            <a:off x="3445386" y="3299661"/>
            <a:ext cx="1338828"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專利申請案</a:t>
            </a:r>
          </a:p>
        </p:txBody>
      </p:sp>
      <p:pic>
        <p:nvPicPr>
          <p:cNvPr id="10" name="圖形 9" descr="使用者 以實心填滿">
            <a:extLst>
              <a:ext uri="{FF2B5EF4-FFF2-40B4-BE49-F238E27FC236}">
                <a16:creationId xmlns:a16="http://schemas.microsoft.com/office/drawing/2014/main" id="{4517BF47-1432-B0AE-CCAA-A175F0446E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87624" y="2924944"/>
            <a:ext cx="914400" cy="914400"/>
          </a:xfrm>
          <a:prstGeom prst="rect">
            <a:avLst/>
          </a:prstGeom>
        </p:spPr>
      </p:pic>
      <p:sp>
        <p:nvSpPr>
          <p:cNvPr id="11" name="文字方塊 10">
            <a:extLst>
              <a:ext uri="{FF2B5EF4-FFF2-40B4-BE49-F238E27FC236}">
                <a16:creationId xmlns:a16="http://schemas.microsoft.com/office/drawing/2014/main" id="{79995957-9AD3-833E-A895-6E4A9958D3DD}"/>
              </a:ext>
            </a:extLst>
          </p:cNvPr>
          <p:cNvSpPr txBox="1"/>
          <p:nvPr/>
        </p:nvSpPr>
        <p:spPr>
          <a:xfrm>
            <a:off x="975410" y="3654678"/>
            <a:ext cx="1338828"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通常知識者</a:t>
            </a:r>
          </a:p>
        </p:txBody>
      </p:sp>
      <p:sp>
        <p:nvSpPr>
          <p:cNvPr id="14" name="文字方塊 13">
            <a:extLst>
              <a:ext uri="{FF2B5EF4-FFF2-40B4-BE49-F238E27FC236}">
                <a16:creationId xmlns:a16="http://schemas.microsoft.com/office/drawing/2014/main" id="{407BC0F9-AC4B-1F62-8F1D-5B0D3759C6BF}"/>
              </a:ext>
            </a:extLst>
          </p:cNvPr>
          <p:cNvSpPr txBox="1"/>
          <p:nvPr/>
        </p:nvSpPr>
        <p:spPr>
          <a:xfrm>
            <a:off x="1053982" y="2685705"/>
            <a:ext cx="1107996"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審查人員</a:t>
            </a:r>
            <a:endParaRPr lang="en-US" altLang="zh-TW" b="1" dirty="0">
              <a:latin typeface="微軟正黑體" panose="020B0604030504040204" pitchFamily="34" charset="-120"/>
              <a:ea typeface="微軟正黑體" panose="020B0604030504040204" pitchFamily="34" charset="-120"/>
            </a:endParaRPr>
          </a:p>
        </p:txBody>
      </p:sp>
      <p:pic>
        <p:nvPicPr>
          <p:cNvPr id="1030" name="Picture 6" descr="邮票批准橡胶- Pixabay上的免费图片- Pixabay">
            <a:extLst>
              <a:ext uri="{FF2B5EF4-FFF2-40B4-BE49-F238E27FC236}">
                <a16:creationId xmlns:a16="http://schemas.microsoft.com/office/drawing/2014/main" id="{A7199786-DEBF-9B86-143B-A0BE3C25975A}"/>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5580266" y="2220102"/>
            <a:ext cx="3092201" cy="1053281"/>
          </a:xfrm>
          <a:prstGeom prst="rect">
            <a:avLst/>
          </a:prstGeom>
          <a:noFill/>
          <a:extLst>
            <a:ext uri="{909E8E84-426E-40DD-AFC4-6F175D3DCCD1}">
              <a14:hiddenFill xmlns:a14="http://schemas.microsoft.com/office/drawing/2010/main">
                <a:solidFill>
                  <a:srgbClr val="FFFFFF"/>
                </a:solidFill>
              </a14:hiddenFill>
            </a:ext>
          </a:extLst>
        </p:spPr>
      </p:pic>
      <p:pic>
        <p:nvPicPr>
          <p:cNvPr id="16" name="圖片 15">
            <a:extLst>
              <a:ext uri="{FF2B5EF4-FFF2-40B4-BE49-F238E27FC236}">
                <a16:creationId xmlns:a16="http://schemas.microsoft.com/office/drawing/2014/main" id="{C2F2891E-B4D5-0F6A-CEA8-D7AB25F51C36}"/>
              </a:ext>
            </a:extLst>
          </p:cNvPr>
          <p:cNvPicPr>
            <a:picLocks noChangeAspect="1"/>
          </p:cNvPicPr>
          <p:nvPr/>
        </p:nvPicPr>
        <p:blipFill>
          <a:blip r:embed="rId6"/>
          <a:stretch>
            <a:fillRect/>
          </a:stretch>
        </p:blipFill>
        <p:spPr>
          <a:xfrm>
            <a:off x="991279" y="1656412"/>
            <a:ext cx="1291566" cy="1068391"/>
          </a:xfrm>
          <a:prstGeom prst="rect">
            <a:avLst/>
          </a:prstGeom>
        </p:spPr>
      </p:pic>
      <p:sp>
        <p:nvSpPr>
          <p:cNvPr id="18" name="箭號: 有線條的向右箭號 17">
            <a:extLst>
              <a:ext uri="{FF2B5EF4-FFF2-40B4-BE49-F238E27FC236}">
                <a16:creationId xmlns:a16="http://schemas.microsoft.com/office/drawing/2014/main" id="{89E0B61F-41FC-5986-3BC5-71CDC64D62E3}"/>
              </a:ext>
            </a:extLst>
          </p:cNvPr>
          <p:cNvSpPr/>
          <p:nvPr/>
        </p:nvSpPr>
        <p:spPr>
          <a:xfrm>
            <a:off x="4862385" y="2550921"/>
            <a:ext cx="513226" cy="704197"/>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1E4B7784-6AAB-799C-4B6A-38B7A9F8903F}"/>
              </a:ext>
            </a:extLst>
          </p:cNvPr>
          <p:cNvSpPr txBox="1"/>
          <p:nvPr/>
        </p:nvSpPr>
        <p:spPr>
          <a:xfrm>
            <a:off x="494556" y="4437112"/>
            <a:ext cx="8382000" cy="2284363"/>
          </a:xfrm>
          <a:prstGeom prst="rect">
            <a:avLst/>
          </a:prstGeom>
          <a:noFill/>
        </p:spPr>
        <p:txBody>
          <a:bodyPr wrap="square" rtlCol="0">
            <a:noAutofit/>
          </a:bodyPr>
          <a:lstStyle/>
          <a:p>
            <a:pPr marL="285750" indent="-285750">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一虛擬之人或虛擬為一群人</a:t>
            </a:r>
            <a:endParaRPr lang="en-US" altLang="zh-TW" sz="20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具有申請時（申請日或優先權日）該發明所屬技術領域之一般知識及普通技能之人</a:t>
            </a:r>
            <a:endParaRPr lang="en-US" altLang="zh-TW" sz="20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能理解、利用先前技術</a:t>
            </a:r>
            <a:endParaRPr lang="en-US" altLang="zh-TW" sz="20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若所欲解決之問題能促使通常知識者在其他技術領域中尋求解決問題的技術手段，則其亦具有該其他技術領域之通常知識</a:t>
            </a:r>
          </a:p>
        </p:txBody>
      </p:sp>
      <p:sp>
        <p:nvSpPr>
          <p:cNvPr id="20" name="投影片編號版面配置區 1">
            <a:extLst>
              <a:ext uri="{FF2B5EF4-FFF2-40B4-BE49-F238E27FC236}">
                <a16:creationId xmlns:a16="http://schemas.microsoft.com/office/drawing/2014/main" id="{AF8963FF-FABB-0742-CDE0-5CA5AF17699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rgbClr val="6699FF"/>
                </a:solidFill>
                <a:latin typeface="Adobe 繁黑體 Std B"/>
                <a:ea typeface="Adobe 繁黑體 Std B"/>
                <a:cs typeface="Adobe 繁黑體 Std B"/>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1D2D507-09EA-4C6F-96ED-053C801F8797}" type="slidenum">
              <a:rPr lang="zh-TW" altLang="en-US" smtClean="0"/>
              <a:pPr/>
              <a:t>20</a:t>
            </a:fld>
            <a:endParaRPr lang="zh-TW" altLang="en-US"/>
          </a:p>
        </p:txBody>
      </p:sp>
      <p:sp>
        <p:nvSpPr>
          <p:cNvPr id="21" name="文字方塊 20">
            <a:extLst>
              <a:ext uri="{FF2B5EF4-FFF2-40B4-BE49-F238E27FC236}">
                <a16:creationId xmlns:a16="http://schemas.microsoft.com/office/drawing/2014/main" id="{D4A159C1-6520-42A8-1538-184E0C00BFAF}"/>
              </a:ext>
            </a:extLst>
          </p:cNvPr>
          <p:cNvSpPr txBox="1"/>
          <p:nvPr/>
        </p:nvSpPr>
        <p:spPr>
          <a:xfrm>
            <a:off x="384568" y="889882"/>
            <a:ext cx="1338828" cy="369332"/>
          </a:xfrm>
          <a:prstGeom prst="rect">
            <a:avLst/>
          </a:prstGeom>
          <a:effectLst>
            <a:innerShdw blurRad="114300">
              <a:prstClr val="black"/>
            </a:innerShdw>
          </a:effectLst>
        </p:spPr>
        <p:style>
          <a:lnRef idx="1">
            <a:schemeClr val="accent1"/>
          </a:lnRef>
          <a:fillRef idx="2">
            <a:schemeClr val="accent1"/>
          </a:fillRef>
          <a:effectRef idx="1">
            <a:schemeClr val="accent1"/>
          </a:effectRef>
          <a:fontRef idx="minor">
            <a:schemeClr val="dk1"/>
          </a:fontRef>
        </p:style>
        <p:txBody>
          <a:bodyPr wrap="none" rtlCol="0">
            <a:spAutoFit/>
          </a:bodyPr>
          <a:lstStyle/>
          <a:p>
            <a:r>
              <a:rPr lang="zh-TW" altLang="en-US" b="1" dirty="0">
                <a:latin typeface="微軟正黑體" panose="020B0604030504040204" pitchFamily="34" charset="-120"/>
                <a:ea typeface="微軟正黑體" panose="020B0604030504040204" pitchFamily="34" charset="-120"/>
              </a:rPr>
              <a:t>通常知識者</a:t>
            </a:r>
          </a:p>
        </p:txBody>
      </p:sp>
    </p:spTree>
    <p:extLst>
      <p:ext uri="{BB962C8B-B14F-4D97-AF65-F5344CB8AC3E}">
        <p14:creationId xmlns:p14="http://schemas.microsoft.com/office/powerpoint/2010/main" val="2407864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58C0207-BCD9-BB69-5586-419527E5F983}"/>
              </a:ext>
            </a:extLst>
          </p:cNvPr>
          <p:cNvSpPr>
            <a:spLocks noGrp="1"/>
          </p:cNvSpPr>
          <p:nvPr>
            <p:ph type="title"/>
          </p:nvPr>
        </p:nvSpPr>
        <p:spPr/>
        <p:txBody>
          <a:bodyPr/>
          <a:lstStyle/>
          <a:p>
            <a:br>
              <a:rPr lang="en-US" altLang="zh-TW" dirty="0"/>
            </a:br>
            <a:endParaRPr lang="zh-TW" altLang="en-US" dirty="0"/>
          </a:p>
        </p:txBody>
      </p:sp>
      <p:sp>
        <p:nvSpPr>
          <p:cNvPr id="4" name="投影片編號版面配置區 3">
            <a:extLst>
              <a:ext uri="{FF2B5EF4-FFF2-40B4-BE49-F238E27FC236}">
                <a16:creationId xmlns:a16="http://schemas.microsoft.com/office/drawing/2014/main" id="{89FF21DB-E45A-9776-CC22-1B01BE9B4CE4}"/>
              </a:ext>
            </a:extLst>
          </p:cNvPr>
          <p:cNvSpPr>
            <a:spLocks noGrp="1"/>
          </p:cNvSpPr>
          <p:nvPr>
            <p:ph type="sldNum" sz="quarter" idx="12"/>
          </p:nvPr>
        </p:nvSpPr>
        <p:spPr>
          <a:xfrm>
            <a:off x="4764816" y="7621178"/>
            <a:ext cx="444504" cy="142254"/>
          </a:xfrm>
        </p:spPr>
        <p:txBody>
          <a:bodyPr/>
          <a:lstStyle/>
          <a:p>
            <a:fld id="{51D2D507-09EA-4C6F-96ED-053C801F8797}" type="slidenum">
              <a:rPr lang="zh-TW" altLang="en-US" smtClean="0"/>
              <a:t>21</a:t>
            </a:fld>
            <a:endParaRPr lang="zh-TW" altLang="en-US"/>
          </a:p>
        </p:txBody>
      </p:sp>
      <p:sp>
        <p:nvSpPr>
          <p:cNvPr id="3" name="標題 1">
            <a:extLst>
              <a:ext uri="{FF2B5EF4-FFF2-40B4-BE49-F238E27FC236}">
                <a16:creationId xmlns:a16="http://schemas.microsoft.com/office/drawing/2014/main" id="{12827C07-A51F-DF05-3108-B911A5360FAB}"/>
              </a:ext>
            </a:extLst>
          </p:cNvPr>
          <p:cNvSpPr txBox="1">
            <a:spLocks/>
          </p:cNvSpPr>
          <p:nvPr/>
        </p:nvSpPr>
        <p:spPr>
          <a:xfrm>
            <a:off x="691952" y="155354"/>
            <a:ext cx="8229600" cy="761750"/>
          </a:xfrm>
          <a:prstGeom prst="rect">
            <a:avLst/>
          </a:prstGeom>
        </p:spPr>
        <p:txBody>
          <a:bodyPr/>
          <a:lstStyle>
            <a:lvl1pPr algn="ctr" defTabSz="914400" rtl="0" eaLnBrk="1" latinLnBrk="0" hangingPunct="1">
              <a:spcBef>
                <a:spcPct val="0"/>
              </a:spcBef>
              <a:buNone/>
              <a:defRPr sz="3600" kern="120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dirty="0"/>
              <a:t>通常知識</a:t>
            </a:r>
            <a:br>
              <a:rPr lang="en-US" altLang="zh-TW" dirty="0"/>
            </a:br>
            <a:endParaRPr lang="zh-TW" altLang="en-US" dirty="0"/>
          </a:p>
        </p:txBody>
      </p:sp>
      <p:sp>
        <p:nvSpPr>
          <p:cNvPr id="19" name="文字方塊 18">
            <a:extLst>
              <a:ext uri="{FF2B5EF4-FFF2-40B4-BE49-F238E27FC236}">
                <a16:creationId xmlns:a16="http://schemas.microsoft.com/office/drawing/2014/main" id="{1E4B7784-6AAB-799C-4B6A-38B7A9F8903F}"/>
              </a:ext>
            </a:extLst>
          </p:cNvPr>
          <p:cNvSpPr txBox="1"/>
          <p:nvPr/>
        </p:nvSpPr>
        <p:spPr>
          <a:xfrm>
            <a:off x="387152" y="1628800"/>
            <a:ext cx="8382000" cy="2284363"/>
          </a:xfrm>
          <a:prstGeom prst="rect">
            <a:avLst/>
          </a:prstGeom>
          <a:noFill/>
        </p:spPr>
        <p:txBody>
          <a:bodyPr wrap="square" rtlCol="0">
            <a:noAutofit/>
          </a:bodyPr>
          <a:lstStyle/>
          <a:p>
            <a:pPr marL="285750" indent="-285750">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一般知識</a:t>
            </a:r>
            <a:endParaRPr lang="en-US" altLang="zh-TW" sz="2000"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指該發明所屬技術領域中已知的知識，包括工具書或教科書所載之周知（</a:t>
            </a:r>
            <a:r>
              <a:rPr lang="en-US" altLang="zh-TW" sz="2000" dirty="0">
                <a:latin typeface="微軟正黑體" panose="020B0604030504040204" pitchFamily="34" charset="-120"/>
                <a:ea typeface="微軟正黑體" panose="020B0604030504040204" pitchFamily="34" charset="-120"/>
              </a:rPr>
              <a:t>well-known</a:t>
            </a:r>
            <a:r>
              <a:rPr lang="zh-TW" altLang="en-US" sz="2000" dirty="0">
                <a:latin typeface="微軟正黑體" panose="020B0604030504040204" pitchFamily="34" charset="-120"/>
                <a:ea typeface="微軟正黑體" panose="020B0604030504040204" pitchFamily="34" charset="-120"/>
              </a:rPr>
              <a:t>）的知識，亦包括普遍使用（</a:t>
            </a:r>
            <a:r>
              <a:rPr lang="en-US" altLang="zh-TW" sz="2000" dirty="0">
                <a:latin typeface="微軟正黑體" panose="020B0604030504040204" pitchFamily="34" charset="-120"/>
                <a:ea typeface="微軟正黑體" panose="020B0604030504040204" pitchFamily="34" charset="-120"/>
              </a:rPr>
              <a:t>commonly</a:t>
            </a:r>
            <a:r>
              <a:rPr lang="zh-TW" altLang="en-US" sz="2000">
                <a:latin typeface="微軟正黑體" panose="020B0604030504040204" pitchFamily="34" charset="-120"/>
                <a:ea typeface="微軟正黑體" panose="020B0604030504040204" pitchFamily="34" charset="-120"/>
              </a:rPr>
              <a:t> </a:t>
            </a:r>
            <a:r>
              <a:rPr lang="en-US" altLang="zh-TW" sz="2000">
                <a:latin typeface="微軟正黑體" panose="020B0604030504040204" pitchFamily="34" charset="-120"/>
                <a:ea typeface="微軟正黑體" panose="020B0604030504040204" pitchFamily="34" charset="-120"/>
              </a:rPr>
              <a:t>used</a:t>
            </a:r>
            <a:r>
              <a:rPr lang="zh-TW" altLang="en-US" sz="2000" dirty="0">
                <a:latin typeface="微軟正黑體" panose="020B0604030504040204" pitchFamily="34" charset="-120"/>
                <a:ea typeface="微軟正黑體" panose="020B0604030504040204" pitchFamily="34" charset="-120"/>
              </a:rPr>
              <a:t>）的資訊及從經驗法則所瞭解的事項。</a:t>
            </a:r>
            <a:endParaRPr lang="en-US" altLang="zh-TW" sz="20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普通技能</a:t>
            </a:r>
            <a:endParaRPr lang="en-US" altLang="zh-TW" sz="2000"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執行例行工作、實驗的普通能力。</a:t>
            </a:r>
          </a:p>
        </p:txBody>
      </p:sp>
      <p:sp>
        <p:nvSpPr>
          <p:cNvPr id="20" name="投影片編號版面配置區 1">
            <a:extLst>
              <a:ext uri="{FF2B5EF4-FFF2-40B4-BE49-F238E27FC236}">
                <a16:creationId xmlns:a16="http://schemas.microsoft.com/office/drawing/2014/main" id="{AF8963FF-FABB-0742-CDE0-5CA5AF17699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rgbClr val="6699FF"/>
                </a:solidFill>
                <a:latin typeface="Adobe 繁黑體 Std B"/>
                <a:ea typeface="Adobe 繁黑體 Std B"/>
                <a:cs typeface="Adobe 繁黑體 Std B"/>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1D2D507-09EA-4C6F-96ED-053C801F8797}" type="slidenum">
              <a:rPr lang="zh-TW" altLang="en-US" smtClean="0"/>
              <a:pPr/>
              <a:t>21</a:t>
            </a:fld>
            <a:endParaRPr lang="zh-TW" altLang="en-US"/>
          </a:p>
        </p:txBody>
      </p:sp>
      <p:sp>
        <p:nvSpPr>
          <p:cNvPr id="6" name="文字方塊 5">
            <a:extLst>
              <a:ext uri="{FF2B5EF4-FFF2-40B4-BE49-F238E27FC236}">
                <a16:creationId xmlns:a16="http://schemas.microsoft.com/office/drawing/2014/main" id="{6E166875-E553-A1AB-9F6B-4709D3A5D78F}"/>
              </a:ext>
            </a:extLst>
          </p:cNvPr>
          <p:cNvSpPr txBox="1"/>
          <p:nvPr/>
        </p:nvSpPr>
        <p:spPr>
          <a:xfrm>
            <a:off x="253896" y="1066695"/>
            <a:ext cx="4678144" cy="40011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TW" altLang="en-US" sz="2000" b="1" dirty="0">
                <a:latin typeface="微軟正黑體" panose="020B0604030504040204" pitchFamily="34" charset="-120"/>
                <a:ea typeface="微軟正黑體" panose="020B0604030504040204" pitchFamily="34" charset="-120"/>
              </a:rPr>
              <a:t>一般知識及普通技能，簡稱「通常知識」</a:t>
            </a:r>
            <a:endParaRPr lang="zh-TW" altLang="en-US" sz="2000" b="1" dirty="0"/>
          </a:p>
        </p:txBody>
      </p:sp>
      <p:grpSp>
        <p:nvGrpSpPr>
          <p:cNvPr id="17" name="群組 16">
            <a:extLst>
              <a:ext uri="{FF2B5EF4-FFF2-40B4-BE49-F238E27FC236}">
                <a16:creationId xmlns:a16="http://schemas.microsoft.com/office/drawing/2014/main" id="{1FBB5867-3053-A15E-8AAC-2C53C39F1B21}"/>
              </a:ext>
            </a:extLst>
          </p:cNvPr>
          <p:cNvGrpSpPr/>
          <p:nvPr/>
        </p:nvGrpSpPr>
        <p:grpSpPr>
          <a:xfrm>
            <a:off x="1374595" y="3717032"/>
            <a:ext cx="5861701" cy="2782983"/>
            <a:chOff x="1374595" y="3717032"/>
            <a:chExt cx="5861701" cy="2782983"/>
          </a:xfrm>
        </p:grpSpPr>
        <p:graphicFrame>
          <p:nvGraphicFramePr>
            <p:cNvPr id="9" name="圖表 8">
              <a:extLst>
                <a:ext uri="{FF2B5EF4-FFF2-40B4-BE49-F238E27FC236}">
                  <a16:creationId xmlns:a16="http://schemas.microsoft.com/office/drawing/2014/main" id="{92C25C20-F771-8455-B155-E2B2DDEC19B3}"/>
                </a:ext>
              </a:extLst>
            </p:cNvPr>
            <p:cNvGraphicFramePr>
              <a:graphicFrameLocks/>
            </p:cNvGraphicFramePr>
            <p:nvPr>
              <p:extLst>
                <p:ext uri="{D42A27DB-BD31-4B8C-83A1-F6EECF244321}">
                  <p14:modId xmlns:p14="http://schemas.microsoft.com/office/powerpoint/2010/main" val="3392323502"/>
                </p:ext>
              </p:extLst>
            </p:nvPr>
          </p:nvGraphicFramePr>
          <p:xfrm>
            <a:off x="1691680" y="3717032"/>
            <a:ext cx="5544616" cy="2782983"/>
          </p:xfrm>
          <a:graphic>
            <a:graphicData uri="http://schemas.openxmlformats.org/drawingml/2006/chart">
              <c:chart xmlns:c="http://schemas.openxmlformats.org/drawingml/2006/chart" xmlns:r="http://schemas.openxmlformats.org/officeDocument/2006/relationships" r:id="rId2"/>
            </a:graphicData>
          </a:graphic>
        </p:graphicFrame>
        <p:sp>
          <p:nvSpPr>
            <p:cNvPr id="15" name="文字方塊 14">
              <a:extLst>
                <a:ext uri="{FF2B5EF4-FFF2-40B4-BE49-F238E27FC236}">
                  <a16:creationId xmlns:a16="http://schemas.microsoft.com/office/drawing/2014/main" id="{57E5FE96-BF42-0239-0035-C50354534610}"/>
                </a:ext>
              </a:extLst>
            </p:cNvPr>
            <p:cNvSpPr txBox="1"/>
            <p:nvPr/>
          </p:nvSpPr>
          <p:spPr>
            <a:xfrm>
              <a:off x="1374595" y="3911056"/>
              <a:ext cx="504056" cy="1938992"/>
            </a:xfrm>
            <a:prstGeom prst="rect">
              <a:avLst/>
            </a:prstGeom>
            <a:noFill/>
          </p:spPr>
          <p:txBody>
            <a:bodyPr wrap="square" rtlCol="0">
              <a:spAutoFit/>
            </a:bodyPr>
            <a:lstStyle/>
            <a:p>
              <a:r>
                <a:rPr lang="zh-TW" altLang="en-US" sz="2000" dirty="0">
                  <a:latin typeface="微軟正黑體" panose="020B0604030504040204" pitchFamily="34" charset="-120"/>
                  <a:ea typeface="微軟正黑體" panose="020B0604030504040204" pitchFamily="34" charset="-120"/>
                </a:rPr>
                <a:t>通常知識水準</a:t>
              </a:r>
            </a:p>
          </p:txBody>
        </p:sp>
      </p:grpSp>
    </p:spTree>
    <p:extLst>
      <p:ext uri="{BB962C8B-B14F-4D97-AF65-F5344CB8AC3E}">
        <p14:creationId xmlns:p14="http://schemas.microsoft.com/office/powerpoint/2010/main" val="9712241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58C0207-BCD9-BB69-5586-419527E5F983}"/>
              </a:ext>
            </a:extLst>
          </p:cNvPr>
          <p:cNvSpPr>
            <a:spLocks noGrp="1"/>
          </p:cNvSpPr>
          <p:nvPr>
            <p:ph type="title"/>
          </p:nvPr>
        </p:nvSpPr>
        <p:spPr/>
        <p:txBody>
          <a:bodyPr/>
          <a:lstStyle/>
          <a:p>
            <a:br>
              <a:rPr lang="en-US" altLang="zh-TW" dirty="0"/>
            </a:br>
            <a:endParaRPr lang="zh-TW" altLang="en-US" dirty="0"/>
          </a:p>
        </p:txBody>
      </p:sp>
      <p:sp>
        <p:nvSpPr>
          <p:cNvPr id="4" name="投影片編號版面配置區 3">
            <a:extLst>
              <a:ext uri="{FF2B5EF4-FFF2-40B4-BE49-F238E27FC236}">
                <a16:creationId xmlns:a16="http://schemas.microsoft.com/office/drawing/2014/main" id="{89FF21DB-E45A-9776-CC22-1B01BE9B4CE4}"/>
              </a:ext>
            </a:extLst>
          </p:cNvPr>
          <p:cNvSpPr>
            <a:spLocks noGrp="1"/>
          </p:cNvSpPr>
          <p:nvPr>
            <p:ph type="sldNum" sz="quarter" idx="12"/>
          </p:nvPr>
        </p:nvSpPr>
        <p:spPr>
          <a:xfrm>
            <a:off x="4764816" y="7621178"/>
            <a:ext cx="444504" cy="142254"/>
          </a:xfrm>
        </p:spPr>
        <p:txBody>
          <a:bodyPr/>
          <a:lstStyle/>
          <a:p>
            <a:fld id="{51D2D507-09EA-4C6F-96ED-053C801F8797}" type="slidenum">
              <a:rPr lang="zh-TW" altLang="en-US" smtClean="0"/>
              <a:t>22</a:t>
            </a:fld>
            <a:endParaRPr lang="zh-TW" altLang="en-US"/>
          </a:p>
        </p:txBody>
      </p:sp>
      <p:sp>
        <p:nvSpPr>
          <p:cNvPr id="3" name="標題 1">
            <a:extLst>
              <a:ext uri="{FF2B5EF4-FFF2-40B4-BE49-F238E27FC236}">
                <a16:creationId xmlns:a16="http://schemas.microsoft.com/office/drawing/2014/main" id="{12827C07-A51F-DF05-3108-B911A5360FAB}"/>
              </a:ext>
            </a:extLst>
          </p:cNvPr>
          <p:cNvSpPr txBox="1">
            <a:spLocks/>
          </p:cNvSpPr>
          <p:nvPr/>
        </p:nvSpPr>
        <p:spPr>
          <a:xfrm>
            <a:off x="691952" y="155354"/>
            <a:ext cx="8229600" cy="761750"/>
          </a:xfrm>
          <a:prstGeom prst="rect">
            <a:avLst/>
          </a:prstGeom>
        </p:spPr>
        <p:txBody>
          <a:bodyPr/>
          <a:lstStyle>
            <a:lvl1pPr algn="ctr" defTabSz="914400" rtl="0" eaLnBrk="1" latinLnBrk="0" hangingPunct="1">
              <a:spcBef>
                <a:spcPct val="0"/>
              </a:spcBef>
              <a:buNone/>
              <a:defRPr sz="3600" kern="120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dirty="0"/>
              <a:t>通常知識</a:t>
            </a:r>
            <a:br>
              <a:rPr lang="en-US" altLang="zh-TW" dirty="0"/>
            </a:br>
            <a:endParaRPr lang="zh-TW" altLang="en-US" dirty="0"/>
          </a:p>
        </p:txBody>
      </p:sp>
      <p:sp>
        <p:nvSpPr>
          <p:cNvPr id="19" name="文字方塊 18">
            <a:extLst>
              <a:ext uri="{FF2B5EF4-FFF2-40B4-BE49-F238E27FC236}">
                <a16:creationId xmlns:a16="http://schemas.microsoft.com/office/drawing/2014/main" id="{1E4B7784-6AAB-799C-4B6A-38B7A9F8903F}"/>
              </a:ext>
            </a:extLst>
          </p:cNvPr>
          <p:cNvSpPr txBox="1"/>
          <p:nvPr/>
        </p:nvSpPr>
        <p:spPr>
          <a:xfrm>
            <a:off x="381000" y="1043124"/>
            <a:ext cx="8382000" cy="2385876"/>
          </a:xfrm>
          <a:prstGeom prst="rect">
            <a:avLst/>
          </a:prstGeom>
          <a:noFill/>
        </p:spPr>
        <p:txBody>
          <a:bodyPr wrap="square" rtlCol="0">
            <a:noAutofit/>
          </a:bodyPr>
          <a:lstStyle/>
          <a:p>
            <a:pPr marL="285750" indent="-285750">
              <a:lnSpc>
                <a:spcPts val="3000"/>
              </a:lnSpc>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專利法第</a:t>
            </a:r>
            <a:r>
              <a:rPr lang="en-US" altLang="zh-TW" sz="2000" dirty="0">
                <a:latin typeface="微軟正黑體" panose="020B0604030504040204" pitchFamily="34" charset="-120"/>
                <a:ea typeface="微軟正黑體" panose="020B0604030504040204" pitchFamily="34" charset="-120"/>
              </a:rPr>
              <a:t>22-2</a:t>
            </a:r>
            <a:r>
              <a:rPr lang="zh-TW" altLang="en-US" sz="2000" dirty="0">
                <a:latin typeface="微軟正黑體" panose="020B0604030504040204" pitchFamily="34" charset="-120"/>
                <a:ea typeface="微軟正黑體" panose="020B0604030504040204" pitchFamily="34" charset="-120"/>
              </a:rPr>
              <a:t>（進步性）</a:t>
            </a:r>
            <a:endParaRPr lang="en-US" altLang="zh-TW" sz="2000" dirty="0">
              <a:latin typeface="微軟正黑體" panose="020B0604030504040204" pitchFamily="34" charset="-120"/>
              <a:ea typeface="微軟正黑體" panose="020B0604030504040204" pitchFamily="34" charset="-120"/>
            </a:endParaRPr>
          </a:p>
          <a:p>
            <a:pPr marL="742950" lvl="1" indent="-285750">
              <a:lnSpc>
                <a:spcPts val="3000"/>
              </a:lnSpc>
              <a:buFont typeface="Arial" panose="020B0604020202020204" pitchFamily="34" charset="0"/>
              <a:buChar char="•"/>
            </a:pPr>
            <a:r>
              <a:rPr lang="zh-TW" altLang="en-US" sz="2000" b="0" i="0" dirty="0">
                <a:solidFill>
                  <a:srgbClr val="000000"/>
                </a:solidFill>
                <a:effectLst/>
                <a:highlight>
                  <a:srgbClr val="F9FBFB"/>
                </a:highlight>
                <a:latin typeface="微軟正黑體" panose="020B0604030504040204" pitchFamily="34" charset="-120"/>
                <a:ea typeface="微軟正黑體" panose="020B0604030504040204" pitchFamily="34" charset="-120"/>
              </a:rPr>
              <a:t>發明雖無前項各款所列情事，但為其所屬技術領域中具有通常知識者依申請前之先前技術所能輕易完成時，仍不得取得發明專利。</a:t>
            </a:r>
            <a:endParaRPr lang="en-US" altLang="zh-TW" sz="2000" b="0" i="0" dirty="0">
              <a:solidFill>
                <a:srgbClr val="000000"/>
              </a:solidFill>
              <a:effectLst/>
              <a:highlight>
                <a:srgbClr val="F9FBFB"/>
              </a:highlight>
              <a:latin typeface="微軟正黑體" panose="020B0604030504040204" pitchFamily="34" charset="-120"/>
              <a:ea typeface="微軟正黑體" panose="020B0604030504040204" pitchFamily="34" charset="-120"/>
            </a:endParaRPr>
          </a:p>
          <a:p>
            <a:pPr marL="285750" indent="-285750">
              <a:lnSpc>
                <a:spcPts val="3000"/>
              </a:lnSpc>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專利法第</a:t>
            </a:r>
            <a:r>
              <a:rPr lang="en-US" altLang="zh-TW" sz="2000" dirty="0">
                <a:latin typeface="微軟正黑體" panose="020B0604030504040204" pitchFamily="34" charset="-120"/>
                <a:ea typeface="微軟正黑體" panose="020B0604030504040204" pitchFamily="34" charset="-120"/>
              </a:rPr>
              <a:t>26-1</a:t>
            </a:r>
            <a:r>
              <a:rPr lang="zh-TW" altLang="en-US" sz="2000" dirty="0">
                <a:latin typeface="微軟正黑體" panose="020B0604030504040204" pitchFamily="34" charset="-120"/>
                <a:ea typeface="微軟正黑體" panose="020B0604030504040204" pitchFamily="34" charset="-120"/>
              </a:rPr>
              <a:t>（可據以實現性）</a:t>
            </a:r>
            <a:endParaRPr lang="en-US" altLang="zh-TW" sz="2000" dirty="0">
              <a:latin typeface="微軟正黑體" panose="020B0604030504040204" pitchFamily="34" charset="-120"/>
              <a:ea typeface="微軟正黑體" panose="020B0604030504040204" pitchFamily="34" charset="-120"/>
            </a:endParaRPr>
          </a:p>
          <a:p>
            <a:pPr marL="742950" lvl="1" indent="-285750">
              <a:lnSpc>
                <a:spcPts val="3000"/>
              </a:lnSpc>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說明書應明確且充分揭露，使該發明所屬技術領域中具有通常知識者，能瞭解其內容，並可據以實現。</a:t>
            </a:r>
            <a:endParaRPr lang="en-US" altLang="zh-TW" sz="2000" dirty="0">
              <a:latin typeface="微軟正黑體" panose="020B0604030504040204" pitchFamily="34" charset="-120"/>
              <a:ea typeface="微軟正黑體" panose="020B0604030504040204" pitchFamily="34" charset="-120"/>
            </a:endParaRPr>
          </a:p>
        </p:txBody>
      </p:sp>
      <p:sp>
        <p:nvSpPr>
          <p:cNvPr id="20" name="投影片編號版面配置區 1">
            <a:extLst>
              <a:ext uri="{FF2B5EF4-FFF2-40B4-BE49-F238E27FC236}">
                <a16:creationId xmlns:a16="http://schemas.microsoft.com/office/drawing/2014/main" id="{AF8963FF-FABB-0742-CDE0-5CA5AF17699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rgbClr val="6699FF"/>
                </a:solidFill>
                <a:latin typeface="Adobe 繁黑體 Std B"/>
                <a:ea typeface="Adobe 繁黑體 Std B"/>
                <a:cs typeface="Adobe 繁黑體 Std B"/>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1D2D507-09EA-4C6F-96ED-053C801F8797}" type="slidenum">
              <a:rPr lang="zh-TW" altLang="en-US" smtClean="0"/>
              <a:pPr/>
              <a:t>22</a:t>
            </a:fld>
            <a:endParaRPr lang="zh-TW" altLang="en-US"/>
          </a:p>
        </p:txBody>
      </p:sp>
      <p:sp>
        <p:nvSpPr>
          <p:cNvPr id="7" name="文字方塊 6">
            <a:extLst>
              <a:ext uri="{FF2B5EF4-FFF2-40B4-BE49-F238E27FC236}">
                <a16:creationId xmlns:a16="http://schemas.microsoft.com/office/drawing/2014/main" id="{141B2CD5-D859-4BDC-4BBC-228E3870C2A9}"/>
              </a:ext>
            </a:extLst>
          </p:cNvPr>
          <p:cNvSpPr txBox="1"/>
          <p:nvPr/>
        </p:nvSpPr>
        <p:spPr>
          <a:xfrm>
            <a:off x="446740" y="3844454"/>
            <a:ext cx="8382000" cy="267765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zh-TW" altLang="en-US" sz="2400" dirty="0">
                <a:latin typeface="微軟正黑體" panose="020B0604030504040204" pitchFamily="34" charset="-120"/>
                <a:ea typeface="微軟正黑體" panose="020B0604030504040204" pitchFamily="34" charset="-120"/>
              </a:rPr>
              <a:t>若該發明所屬技術領域中具有通常知識者在說明書、申請專利範圍及圖式三者整體之基礎上，參酌申請時之通常知識，無法瞭解如何執行該技術手段以實現該申請專利之發明者，例如需要大量的嘗試錯誤或複雜實驗，始能發現實現該發明之方法，而其已</a:t>
            </a:r>
            <a:r>
              <a:rPr lang="zh-TW" altLang="en-US" sz="2400" b="1" u="sng" dirty="0">
                <a:latin typeface="微軟正黑體" panose="020B0604030504040204" pitchFamily="34" charset="-120"/>
                <a:ea typeface="微軟正黑體" panose="020B0604030504040204" pitchFamily="34" charset="-120"/>
              </a:rPr>
              <a:t>超過該發明所屬技術領域中具有通常知識者合理預期之範圍</a:t>
            </a:r>
            <a:r>
              <a:rPr lang="zh-TW" altLang="en-US" sz="2400" dirty="0">
                <a:latin typeface="微軟正黑體" panose="020B0604030504040204" pitchFamily="34" charset="-120"/>
                <a:ea typeface="微軟正黑體" panose="020B0604030504040204" pitchFamily="34" charset="-120"/>
              </a:rPr>
              <a:t>時，這種說明書之記載不得被認定符合可據以實現要件。</a:t>
            </a:r>
          </a:p>
        </p:txBody>
      </p:sp>
    </p:spTree>
    <p:extLst>
      <p:ext uri="{BB962C8B-B14F-4D97-AF65-F5344CB8AC3E}">
        <p14:creationId xmlns:p14="http://schemas.microsoft.com/office/powerpoint/2010/main" val="3080910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58C0207-BCD9-BB69-5586-419527E5F983}"/>
              </a:ext>
            </a:extLst>
          </p:cNvPr>
          <p:cNvSpPr>
            <a:spLocks noGrp="1"/>
          </p:cNvSpPr>
          <p:nvPr>
            <p:ph type="title"/>
          </p:nvPr>
        </p:nvSpPr>
        <p:spPr/>
        <p:txBody>
          <a:bodyPr/>
          <a:lstStyle/>
          <a:p>
            <a:br>
              <a:rPr lang="en-US" altLang="zh-TW" dirty="0"/>
            </a:br>
            <a:endParaRPr lang="zh-TW" altLang="en-US" dirty="0"/>
          </a:p>
        </p:txBody>
      </p:sp>
      <p:sp>
        <p:nvSpPr>
          <p:cNvPr id="4" name="投影片編號版面配置區 3">
            <a:extLst>
              <a:ext uri="{FF2B5EF4-FFF2-40B4-BE49-F238E27FC236}">
                <a16:creationId xmlns:a16="http://schemas.microsoft.com/office/drawing/2014/main" id="{89FF21DB-E45A-9776-CC22-1B01BE9B4CE4}"/>
              </a:ext>
            </a:extLst>
          </p:cNvPr>
          <p:cNvSpPr>
            <a:spLocks noGrp="1"/>
          </p:cNvSpPr>
          <p:nvPr>
            <p:ph type="sldNum" sz="quarter" idx="12"/>
          </p:nvPr>
        </p:nvSpPr>
        <p:spPr>
          <a:xfrm>
            <a:off x="4764816" y="7621178"/>
            <a:ext cx="444504" cy="142254"/>
          </a:xfrm>
        </p:spPr>
        <p:txBody>
          <a:bodyPr/>
          <a:lstStyle/>
          <a:p>
            <a:fld id="{51D2D507-09EA-4C6F-96ED-053C801F8797}" type="slidenum">
              <a:rPr lang="zh-TW" altLang="en-US" smtClean="0"/>
              <a:t>23</a:t>
            </a:fld>
            <a:endParaRPr lang="zh-TW" altLang="en-US"/>
          </a:p>
        </p:txBody>
      </p:sp>
      <p:sp>
        <p:nvSpPr>
          <p:cNvPr id="3" name="標題 1">
            <a:extLst>
              <a:ext uri="{FF2B5EF4-FFF2-40B4-BE49-F238E27FC236}">
                <a16:creationId xmlns:a16="http://schemas.microsoft.com/office/drawing/2014/main" id="{12827C07-A51F-DF05-3108-B911A5360FAB}"/>
              </a:ext>
            </a:extLst>
          </p:cNvPr>
          <p:cNvSpPr txBox="1">
            <a:spLocks/>
          </p:cNvSpPr>
          <p:nvPr/>
        </p:nvSpPr>
        <p:spPr>
          <a:xfrm>
            <a:off x="691952" y="155354"/>
            <a:ext cx="8229600" cy="761750"/>
          </a:xfrm>
          <a:prstGeom prst="rect">
            <a:avLst/>
          </a:prstGeom>
        </p:spPr>
        <p:txBody>
          <a:bodyPr/>
          <a:lstStyle>
            <a:lvl1pPr algn="ctr" defTabSz="914400" rtl="0" eaLnBrk="1" latinLnBrk="0" hangingPunct="1">
              <a:spcBef>
                <a:spcPct val="0"/>
              </a:spcBef>
              <a:buNone/>
              <a:defRPr sz="3600" kern="120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dirty="0"/>
              <a:t>通常知識</a:t>
            </a:r>
            <a:br>
              <a:rPr lang="en-US" altLang="zh-TW" dirty="0"/>
            </a:br>
            <a:endParaRPr lang="zh-TW" altLang="en-US" dirty="0"/>
          </a:p>
        </p:txBody>
      </p:sp>
      <p:sp>
        <p:nvSpPr>
          <p:cNvPr id="20" name="投影片編號版面配置區 1">
            <a:extLst>
              <a:ext uri="{FF2B5EF4-FFF2-40B4-BE49-F238E27FC236}">
                <a16:creationId xmlns:a16="http://schemas.microsoft.com/office/drawing/2014/main" id="{AF8963FF-FABB-0742-CDE0-5CA5AF17699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rgbClr val="6699FF"/>
                </a:solidFill>
                <a:latin typeface="Adobe 繁黑體 Std B"/>
                <a:ea typeface="Adobe 繁黑體 Std B"/>
                <a:cs typeface="Adobe 繁黑體 Std B"/>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1D2D507-09EA-4C6F-96ED-053C801F8797}" type="slidenum">
              <a:rPr lang="zh-TW" altLang="en-US" smtClean="0"/>
              <a:pPr/>
              <a:t>23</a:t>
            </a:fld>
            <a:endParaRPr lang="zh-TW" altLang="en-US"/>
          </a:p>
        </p:txBody>
      </p:sp>
      <p:sp>
        <p:nvSpPr>
          <p:cNvPr id="7" name="文字方塊 6">
            <a:extLst>
              <a:ext uri="{FF2B5EF4-FFF2-40B4-BE49-F238E27FC236}">
                <a16:creationId xmlns:a16="http://schemas.microsoft.com/office/drawing/2014/main" id="{141B2CD5-D859-4BDC-4BBC-228E3870C2A9}"/>
              </a:ext>
            </a:extLst>
          </p:cNvPr>
          <p:cNvSpPr txBox="1"/>
          <p:nvPr/>
        </p:nvSpPr>
        <p:spPr>
          <a:xfrm>
            <a:off x="463352" y="917104"/>
            <a:ext cx="8382000" cy="255454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請求項</a:t>
            </a:r>
            <a:r>
              <a:rPr lang="en-US" altLang="zh-TW" sz="2000" dirty="0">
                <a:latin typeface="微軟正黑體" panose="020B0604030504040204" pitchFamily="34" charset="-120"/>
                <a:ea typeface="微軟正黑體" panose="020B0604030504040204" pitchFamily="34" charset="-120"/>
              </a:rPr>
              <a:t>]</a:t>
            </a:r>
          </a:p>
          <a:p>
            <a:r>
              <a:rPr lang="zh-TW" altLang="en-US" sz="2000" dirty="0">
                <a:latin typeface="微軟正黑體" panose="020B0604030504040204" pitchFamily="34" charset="-120"/>
                <a:ea typeface="微軟正黑體" panose="020B0604030504040204" pitchFamily="34" charset="-120"/>
              </a:rPr>
              <a:t>一種網球遊戲裝置，係包含</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處理器，將在硬地上反彈之後的網球的球速度設定為高於在紅土上的網球速度。</a:t>
            </a:r>
            <a:endParaRPr lang="en-US" altLang="zh-TW" sz="2000" dirty="0">
              <a:latin typeface="微軟正黑體" panose="020B0604030504040204" pitchFamily="34" charset="-120"/>
              <a:ea typeface="微軟正黑體" panose="020B0604030504040204" pitchFamily="34" charset="-120"/>
            </a:endParaRPr>
          </a:p>
          <a:p>
            <a:endParaRPr lang="en-US" altLang="zh-TW" sz="2000" dirty="0">
              <a:latin typeface="微軟正黑體" panose="020B0604030504040204" pitchFamily="34" charset="-120"/>
              <a:ea typeface="微軟正黑體" panose="020B0604030504040204" pitchFamily="34" charset="-120"/>
            </a:endParaRPr>
          </a:p>
          <a:p>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引證</a:t>
            </a:r>
            <a:r>
              <a:rPr lang="en-US" altLang="zh-TW" sz="2000" dirty="0">
                <a:latin typeface="微軟正黑體" panose="020B0604030504040204" pitchFamily="34" charset="-120"/>
                <a:ea typeface="微軟正黑體" panose="020B0604030504040204" pitchFamily="34" charset="-120"/>
              </a:rPr>
              <a:t>]</a:t>
            </a:r>
          </a:p>
          <a:p>
            <a:r>
              <a:rPr lang="zh-TW" altLang="en-US" sz="2000" dirty="0">
                <a:latin typeface="微軟正黑體" panose="020B0604030504040204" pitchFamily="34" charset="-120"/>
                <a:ea typeface="微軟正黑體" panose="020B0604030504040204" pitchFamily="34" charset="-120"/>
              </a:rPr>
              <a:t>一種網球遊戲裝置，係包含</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處理器。</a:t>
            </a:r>
            <a:endParaRPr lang="en-US" altLang="zh-TW" sz="2000" dirty="0">
              <a:latin typeface="微軟正黑體" panose="020B0604030504040204" pitchFamily="34" charset="-120"/>
              <a:ea typeface="微軟正黑體" panose="020B0604030504040204" pitchFamily="34" charset="-120"/>
            </a:endParaRPr>
          </a:p>
          <a:p>
            <a:r>
              <a:rPr lang="zh-TW" altLang="en-US" sz="2000" dirty="0">
                <a:latin typeface="微軟正黑體" panose="020B0604030504040204" pitchFamily="34" charset="-120"/>
                <a:ea typeface="微軟正黑體" panose="020B0604030504040204" pitchFamily="34" charset="-120"/>
              </a:rPr>
              <a:t>（</a:t>
            </a:r>
            <a:r>
              <a:rPr lang="zh-TW" altLang="en-US" sz="2000" u="sng" dirty="0">
                <a:latin typeface="微軟正黑體" panose="020B0604030504040204" pitchFamily="34" charset="-120"/>
                <a:ea typeface="微軟正黑體" panose="020B0604030504040204" pitchFamily="34" charset="-120"/>
              </a:rPr>
              <a:t>在硬地球場與紅土球場分別以網球拍揮擊網球，網球在硬地上反彈之速度高於在紅土上反彈之速度，為申請時之通常知識</a:t>
            </a:r>
            <a:r>
              <a:rPr lang="zh-TW" altLang="en-US" sz="2000" dirty="0">
                <a:latin typeface="微軟正黑體" panose="020B0604030504040204" pitchFamily="34" charset="-120"/>
                <a:ea typeface="微軟正黑體" panose="020B0604030504040204" pitchFamily="34" charset="-120"/>
              </a:rPr>
              <a:t>）</a:t>
            </a:r>
          </a:p>
        </p:txBody>
      </p:sp>
      <p:sp>
        <p:nvSpPr>
          <p:cNvPr id="6" name="文字方塊 5">
            <a:extLst>
              <a:ext uri="{FF2B5EF4-FFF2-40B4-BE49-F238E27FC236}">
                <a16:creationId xmlns:a16="http://schemas.microsoft.com/office/drawing/2014/main" id="{293D3C04-0738-5F4F-6C87-F03D7206A476}"/>
              </a:ext>
            </a:extLst>
          </p:cNvPr>
          <p:cNvSpPr txBox="1"/>
          <p:nvPr/>
        </p:nvSpPr>
        <p:spPr>
          <a:xfrm>
            <a:off x="445383" y="3813103"/>
            <a:ext cx="4468688" cy="193899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TW" altLang="en-US" sz="2000" dirty="0">
                <a:latin typeface="微軟正黑體" panose="020B0604030504040204" pitchFamily="34" charset="-120"/>
                <a:ea typeface="微軟正黑體" panose="020B0604030504040204" pitchFamily="34" charset="-120"/>
              </a:rPr>
              <a:t>引證之技術內容與申請專利之發明的差異僅在於將在硬地上反彈之後的網球的球速度設定為高於在紅土上的網球速度，而其為申請時之通常知識，屬於該發明所屬技術領域中具有通常知識者所能簡單變更者。</a:t>
            </a:r>
            <a:endParaRPr lang="zh-TW" altLang="en-US" sz="2000" dirty="0"/>
          </a:p>
        </p:txBody>
      </p:sp>
      <p:pic>
        <p:nvPicPr>
          <p:cNvPr id="2050" name="Picture 2" descr="网球, 运动, 运动队, 网球拍, 球拍, 球, 网球场, 玩, 击球">
            <a:extLst>
              <a:ext uri="{FF2B5EF4-FFF2-40B4-BE49-F238E27FC236}">
                <a16:creationId xmlns:a16="http://schemas.microsoft.com/office/drawing/2014/main" id="{C74CC664-27EC-A4AF-CFE7-FD0861EE017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094253" y="3815237"/>
            <a:ext cx="3768825" cy="2511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809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2996952"/>
            <a:ext cx="7772400" cy="968939"/>
          </a:xfrm>
        </p:spPr>
        <p:txBody>
          <a:bodyPr>
            <a:normAutofit/>
          </a:bodyPr>
          <a:lstStyle/>
          <a:p>
            <a:r>
              <a:rPr lang="zh-TW" altLang="en-US" sz="3600" dirty="0"/>
              <a:t>專利說明書及圖式</a:t>
            </a:r>
          </a:p>
        </p:txBody>
      </p:sp>
      <p:sp>
        <p:nvSpPr>
          <p:cNvPr id="3" name="投影片編號版面配置區 3"/>
          <p:cNvSpPr>
            <a:spLocks noGrp="1"/>
          </p:cNvSpPr>
          <p:nvPr>
            <p:ph type="sldNum" sz="quarter" idx="12"/>
          </p:nvPr>
        </p:nvSpPr>
        <p:spPr>
          <a:xfrm>
            <a:off x="6553200" y="6446880"/>
            <a:ext cx="2133600" cy="365125"/>
          </a:xfrm>
        </p:spPr>
        <p:txBody>
          <a:bodyPr/>
          <a:lstStyle/>
          <a:p>
            <a:fld id="{51D2D507-09EA-4C6F-96ED-053C801F8797}" type="slidenum">
              <a:rPr lang="zh-TW" altLang="en-US" smtClean="0"/>
              <a:t>24</a:t>
            </a:fld>
            <a:endParaRPr lang="zh-TW" altLang="en-US" dirty="0"/>
          </a:p>
        </p:txBody>
      </p:sp>
    </p:spTree>
    <p:extLst>
      <p:ext uri="{BB962C8B-B14F-4D97-AF65-F5344CB8AC3E}">
        <p14:creationId xmlns:p14="http://schemas.microsoft.com/office/powerpoint/2010/main" val="2846653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4">
            <a:extLst>
              <a:ext uri="{FF2B5EF4-FFF2-40B4-BE49-F238E27FC236}">
                <a16:creationId xmlns:a16="http://schemas.microsoft.com/office/drawing/2014/main" id="{F9A1B62F-99FF-53F7-BB12-2F5D254F4C9F}"/>
              </a:ext>
            </a:extLst>
          </p:cNvPr>
          <p:cNvSpPr>
            <a:spLocks noGrp="1"/>
          </p:cNvSpPr>
          <p:nvPr>
            <p:ph idx="1"/>
          </p:nvPr>
        </p:nvSpPr>
        <p:spPr>
          <a:xfrm>
            <a:off x="467544" y="1052736"/>
            <a:ext cx="8352928" cy="5303614"/>
          </a:xfrm>
        </p:spPr>
        <p:txBody>
          <a:bodyPr>
            <a:normAutofit fontScale="92500" lnSpcReduction="10000"/>
          </a:bodyPr>
          <a:lstStyle/>
          <a:p>
            <a:r>
              <a:rPr lang="zh-TW" altLang="en-US" dirty="0"/>
              <a:t>技術研究</a:t>
            </a:r>
            <a:endParaRPr lang="en-US" altLang="zh-TW" dirty="0"/>
          </a:p>
          <a:p>
            <a:pPr lvl="1"/>
            <a:r>
              <a:rPr lang="zh-TW" altLang="en-US" dirty="0"/>
              <a:t>掌握相關技術問題、解決方案，啟發創新</a:t>
            </a:r>
            <a:endParaRPr lang="en-US" altLang="zh-TW" dirty="0"/>
          </a:p>
          <a:p>
            <a:pPr lvl="1"/>
            <a:r>
              <a:rPr lang="zh-TW" altLang="en-US" dirty="0"/>
              <a:t>了解技術趨勢，以作為研發參考及布局</a:t>
            </a:r>
            <a:endParaRPr lang="en-US" altLang="zh-TW" dirty="0"/>
          </a:p>
          <a:p>
            <a:r>
              <a:rPr lang="zh-TW" altLang="en-US" dirty="0"/>
              <a:t>法律評估</a:t>
            </a:r>
            <a:endParaRPr lang="en-US" altLang="zh-TW" dirty="0"/>
          </a:p>
          <a:p>
            <a:pPr lvl="1"/>
            <a:r>
              <a:rPr lang="zh-TW" altLang="en-US" dirty="0"/>
              <a:t>評估專利有效性</a:t>
            </a:r>
            <a:endParaRPr lang="en-US" altLang="zh-TW" dirty="0"/>
          </a:p>
          <a:p>
            <a:pPr lvl="1"/>
            <a:r>
              <a:rPr lang="zh-TW" altLang="en-US" dirty="0"/>
              <a:t>避免侵權，進行迴避設計</a:t>
            </a:r>
            <a:endParaRPr lang="en-US" altLang="zh-TW" dirty="0"/>
          </a:p>
          <a:p>
            <a:pPr lvl="1"/>
            <a:r>
              <a:rPr lang="zh-TW" altLang="en-US" dirty="0"/>
              <a:t>訴訟：提出專利無效訴訟，侵權答辯</a:t>
            </a:r>
            <a:endParaRPr lang="en-US" altLang="zh-TW" dirty="0"/>
          </a:p>
          <a:p>
            <a:pPr lvl="1"/>
            <a:r>
              <a:rPr lang="zh-TW" altLang="en-US" dirty="0"/>
              <a:t>損害賠償計算</a:t>
            </a:r>
            <a:endParaRPr lang="en-US" altLang="zh-TW" dirty="0"/>
          </a:p>
          <a:p>
            <a:r>
              <a:rPr lang="zh-TW" altLang="en-US" dirty="0"/>
              <a:t>商業決策</a:t>
            </a:r>
            <a:endParaRPr lang="en-US" altLang="zh-TW" dirty="0"/>
          </a:p>
          <a:p>
            <a:pPr lvl="1"/>
            <a:r>
              <a:rPr lang="zh-TW" altLang="en-US" dirty="0"/>
              <a:t>市場分析：評估競爭優勢及潛在機會</a:t>
            </a:r>
            <a:endParaRPr lang="en-US" altLang="zh-TW" dirty="0"/>
          </a:p>
          <a:p>
            <a:pPr lvl="1"/>
            <a:r>
              <a:rPr lang="zh-TW" altLang="en-US" dirty="0"/>
              <a:t>授權機會</a:t>
            </a:r>
            <a:endParaRPr lang="en-US" altLang="zh-TW"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25</a:t>
            </a:fld>
            <a:endParaRPr lang="zh-TW" altLang="en-US"/>
          </a:p>
        </p:txBody>
      </p:sp>
      <p:sp>
        <p:nvSpPr>
          <p:cNvPr id="5" name="標題 1">
            <a:extLst>
              <a:ext uri="{FF2B5EF4-FFF2-40B4-BE49-F238E27FC236}">
                <a16:creationId xmlns:a16="http://schemas.microsoft.com/office/drawing/2014/main" id="{12827C07-A51F-DF05-3108-B911A5360FAB}"/>
              </a:ext>
            </a:extLst>
          </p:cNvPr>
          <p:cNvSpPr txBox="1">
            <a:spLocks/>
          </p:cNvSpPr>
          <p:nvPr/>
        </p:nvSpPr>
        <p:spPr>
          <a:xfrm>
            <a:off x="691952" y="155354"/>
            <a:ext cx="8229600" cy="761750"/>
          </a:xfrm>
          <a:prstGeom prst="rect">
            <a:avLst/>
          </a:prstGeom>
        </p:spPr>
        <p:txBody>
          <a:bodyPr/>
          <a:lstStyle>
            <a:lvl1pPr algn="ctr" defTabSz="914400" rtl="0" eaLnBrk="1" latinLnBrk="0" hangingPunct="1">
              <a:spcBef>
                <a:spcPct val="0"/>
              </a:spcBef>
              <a:buNone/>
              <a:defRPr sz="3600" kern="120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dirty="0"/>
              <a:t>閱讀目的</a:t>
            </a:r>
          </a:p>
        </p:txBody>
      </p:sp>
    </p:spTree>
    <p:extLst>
      <p:ext uri="{BB962C8B-B14F-4D97-AF65-F5344CB8AC3E}">
        <p14:creationId xmlns:p14="http://schemas.microsoft.com/office/powerpoint/2010/main" val="2730892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4C044A-B05F-8200-5A61-2EF28EDE5561}"/>
              </a:ext>
            </a:extLst>
          </p:cNvPr>
          <p:cNvSpPr>
            <a:spLocks noGrp="1"/>
          </p:cNvSpPr>
          <p:nvPr>
            <p:ph type="title"/>
          </p:nvPr>
        </p:nvSpPr>
        <p:spPr/>
        <p:txBody>
          <a:bodyPr/>
          <a:lstStyle/>
          <a:p>
            <a:r>
              <a:rPr lang="zh-TW" altLang="en-US" dirty="0"/>
              <a:t>專利文件架構</a:t>
            </a:r>
          </a:p>
        </p:txBody>
      </p:sp>
      <p:sp>
        <p:nvSpPr>
          <p:cNvPr id="4" name="投影片編號版面配置區 3">
            <a:extLst>
              <a:ext uri="{FF2B5EF4-FFF2-40B4-BE49-F238E27FC236}">
                <a16:creationId xmlns:a16="http://schemas.microsoft.com/office/drawing/2014/main" id="{F0E02895-BB2C-9E8E-377A-1E16752A703C}"/>
              </a:ext>
            </a:extLst>
          </p:cNvPr>
          <p:cNvSpPr>
            <a:spLocks noGrp="1"/>
          </p:cNvSpPr>
          <p:nvPr>
            <p:ph type="sldNum" sz="quarter" idx="12"/>
          </p:nvPr>
        </p:nvSpPr>
        <p:spPr/>
        <p:txBody>
          <a:bodyPr/>
          <a:lstStyle/>
          <a:p>
            <a:fld id="{51D2D507-09EA-4C6F-96ED-053C801F8797}" type="slidenum">
              <a:rPr lang="zh-TW" altLang="en-US" smtClean="0"/>
              <a:t>26</a:t>
            </a:fld>
            <a:endParaRPr lang="zh-TW" altLang="en-US"/>
          </a:p>
        </p:txBody>
      </p:sp>
      <p:grpSp>
        <p:nvGrpSpPr>
          <p:cNvPr id="5" name="群組 5">
            <a:extLst>
              <a:ext uri="{FF2B5EF4-FFF2-40B4-BE49-F238E27FC236}">
                <a16:creationId xmlns:a16="http://schemas.microsoft.com/office/drawing/2014/main" id="{71856E69-8D53-DFF3-0DBE-B775EFB1C95F}"/>
              </a:ext>
            </a:extLst>
          </p:cNvPr>
          <p:cNvGrpSpPr/>
          <p:nvPr/>
        </p:nvGrpSpPr>
        <p:grpSpPr>
          <a:xfrm>
            <a:off x="857224" y="1356329"/>
            <a:ext cx="3000396" cy="1044000"/>
            <a:chOff x="1248155" y="2265"/>
            <a:chExt cx="1404174" cy="1089501"/>
          </a:xfrm>
          <a:scene3d>
            <a:camera prst="orthographicFront">
              <a:rot lat="0" lon="0" rev="0"/>
            </a:camera>
            <a:lightRig rig="contrasting" dir="t">
              <a:rot lat="0" lon="0" rev="1200000"/>
            </a:lightRig>
          </a:scene3d>
        </p:grpSpPr>
        <p:sp>
          <p:nvSpPr>
            <p:cNvPr id="6" name="圓角矩形 15">
              <a:extLst>
                <a:ext uri="{FF2B5EF4-FFF2-40B4-BE49-F238E27FC236}">
                  <a16:creationId xmlns:a16="http://schemas.microsoft.com/office/drawing/2014/main" id="{73E14838-3306-91F0-9C83-E528CE8462F0}"/>
                </a:ext>
              </a:extLst>
            </p:cNvPr>
            <p:cNvSpPr/>
            <p:nvPr/>
          </p:nvSpPr>
          <p:spPr>
            <a:xfrm>
              <a:off x="1248155" y="2265"/>
              <a:ext cx="1404174" cy="1089501"/>
            </a:xfrm>
            <a:prstGeom prst="roundRect">
              <a:avLst/>
            </a:prstGeom>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 name="圓角矩形 4">
              <a:extLst>
                <a:ext uri="{FF2B5EF4-FFF2-40B4-BE49-F238E27FC236}">
                  <a16:creationId xmlns:a16="http://schemas.microsoft.com/office/drawing/2014/main" id="{DF620138-6473-625E-0552-F534D839FEB2}"/>
                </a:ext>
              </a:extLst>
            </p:cNvPr>
            <p:cNvSpPr/>
            <p:nvPr/>
          </p:nvSpPr>
          <p:spPr>
            <a:xfrm>
              <a:off x="1301340" y="55450"/>
              <a:ext cx="1297804" cy="983131"/>
            </a:xfrm>
            <a:prstGeom prst="rect">
              <a:avLst/>
            </a:prstGeom>
            <a:sp3d/>
          </p:spPr>
          <p:style>
            <a:lnRef idx="0">
              <a:scrgbClr r="0" g="0" b="0"/>
            </a:lnRef>
            <a:fillRef idx="0">
              <a:scrgbClr r="0" g="0" b="0"/>
            </a:fillRef>
            <a:effectRef idx="0">
              <a:scrgbClr r="0" g="0" b="0"/>
            </a:effectRef>
            <a:fontRef idx="minor">
              <a:schemeClr val="lt1"/>
            </a:fontRef>
          </p:style>
          <p:txBody>
            <a:bodyPr lIns="106680" tIns="53340" rIns="106680" bIns="53340" spcCol="1270" anchor="ctr"/>
            <a:lstStyle/>
            <a:p>
              <a:pPr defTabSz="1244600">
                <a:lnSpc>
                  <a:spcPct val="90000"/>
                </a:lnSpc>
                <a:spcAft>
                  <a:spcPct val="35000"/>
                </a:spcAft>
                <a:defRPr/>
              </a:pPr>
              <a:r>
                <a:rPr lang="zh-TW" altLang="en-US" sz="2800" b="1" dirty="0">
                  <a:solidFill>
                    <a:schemeClr val="bg1"/>
                  </a:solidFill>
                  <a:latin typeface="微軟正黑體" panose="020B0604030504040204" pitchFamily="34" charset="-120"/>
                  <a:ea typeface="微軟正黑體" panose="020B0604030504040204" pitchFamily="34" charset="-120"/>
                </a:rPr>
                <a:t>摘要</a:t>
              </a:r>
              <a:endParaRPr lang="en-US" sz="2800" b="1" dirty="0">
                <a:solidFill>
                  <a:schemeClr val="bg1"/>
                </a:solidFill>
                <a:latin typeface="微軟正黑體" panose="020B0604030504040204" pitchFamily="34" charset="-120"/>
                <a:ea typeface="微軟正黑體" panose="020B0604030504040204" pitchFamily="34" charset="-120"/>
              </a:endParaRPr>
            </a:p>
          </p:txBody>
        </p:sp>
      </p:grpSp>
      <p:grpSp>
        <p:nvGrpSpPr>
          <p:cNvPr id="8" name="群組 6">
            <a:extLst>
              <a:ext uri="{FF2B5EF4-FFF2-40B4-BE49-F238E27FC236}">
                <a16:creationId xmlns:a16="http://schemas.microsoft.com/office/drawing/2014/main" id="{BEDDD272-4FEC-CD2B-2AC1-B8CACF18319A}"/>
              </a:ext>
            </a:extLst>
          </p:cNvPr>
          <p:cNvGrpSpPr/>
          <p:nvPr/>
        </p:nvGrpSpPr>
        <p:grpSpPr>
          <a:xfrm>
            <a:off x="857224" y="2500306"/>
            <a:ext cx="3000396" cy="1044000"/>
            <a:chOff x="1248155" y="1146242"/>
            <a:chExt cx="1404174" cy="1089501"/>
          </a:xfrm>
          <a:scene3d>
            <a:camera prst="orthographicFront">
              <a:rot lat="0" lon="0" rev="0"/>
            </a:camera>
            <a:lightRig rig="contrasting" dir="t">
              <a:rot lat="0" lon="0" rev="1200000"/>
            </a:lightRig>
          </a:scene3d>
        </p:grpSpPr>
        <p:sp>
          <p:nvSpPr>
            <p:cNvPr id="9" name="圓角矩形 13">
              <a:extLst>
                <a:ext uri="{FF2B5EF4-FFF2-40B4-BE49-F238E27FC236}">
                  <a16:creationId xmlns:a16="http://schemas.microsoft.com/office/drawing/2014/main" id="{E352FA25-C1CE-72F9-4E3D-426232C2E597}"/>
                </a:ext>
              </a:extLst>
            </p:cNvPr>
            <p:cNvSpPr/>
            <p:nvPr/>
          </p:nvSpPr>
          <p:spPr>
            <a:xfrm>
              <a:off x="1248155" y="1146242"/>
              <a:ext cx="1404174" cy="1089501"/>
            </a:xfrm>
            <a:prstGeom prst="roundRect">
              <a:avLst/>
            </a:prstGeom>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0" name="圓角矩形 6">
              <a:extLst>
                <a:ext uri="{FF2B5EF4-FFF2-40B4-BE49-F238E27FC236}">
                  <a16:creationId xmlns:a16="http://schemas.microsoft.com/office/drawing/2014/main" id="{1874B392-9624-7C54-58B6-197BF7530A1C}"/>
                </a:ext>
              </a:extLst>
            </p:cNvPr>
            <p:cNvSpPr/>
            <p:nvPr/>
          </p:nvSpPr>
          <p:spPr>
            <a:xfrm>
              <a:off x="1301340" y="1199427"/>
              <a:ext cx="1297804" cy="983131"/>
            </a:xfrm>
            <a:prstGeom prst="rect">
              <a:avLst/>
            </a:prstGeom>
            <a:sp3d/>
          </p:spPr>
          <p:style>
            <a:lnRef idx="0">
              <a:scrgbClr r="0" g="0" b="0"/>
            </a:lnRef>
            <a:fillRef idx="0">
              <a:scrgbClr r="0" g="0" b="0"/>
            </a:fillRef>
            <a:effectRef idx="0">
              <a:scrgbClr r="0" g="0" b="0"/>
            </a:effectRef>
            <a:fontRef idx="minor">
              <a:schemeClr val="lt1"/>
            </a:fontRef>
          </p:style>
          <p:txBody>
            <a:bodyPr lIns="106680" tIns="53340" rIns="106680" bIns="53340" spcCol="1270" anchor="ctr"/>
            <a:lstStyle/>
            <a:p>
              <a:pPr defTabSz="1244600">
                <a:lnSpc>
                  <a:spcPct val="90000"/>
                </a:lnSpc>
                <a:spcAft>
                  <a:spcPct val="35000"/>
                </a:spcAft>
                <a:defRPr/>
              </a:pPr>
              <a:r>
                <a:rPr lang="zh-TW" altLang="en-US" sz="2800" b="1" dirty="0">
                  <a:solidFill>
                    <a:schemeClr val="bg1"/>
                  </a:solidFill>
                  <a:latin typeface="微軟正黑體" panose="020B0604030504040204" pitchFamily="34" charset="-120"/>
                  <a:ea typeface="微軟正黑體" panose="020B0604030504040204" pitchFamily="34" charset="-120"/>
                </a:rPr>
                <a:t>說明書</a:t>
              </a:r>
              <a:endParaRPr lang="en-US" sz="2800" b="1" dirty="0">
                <a:solidFill>
                  <a:schemeClr val="bg1"/>
                </a:solidFill>
                <a:latin typeface="微軟正黑體" panose="020B0604030504040204" pitchFamily="34" charset="-120"/>
                <a:ea typeface="微軟正黑體" panose="020B0604030504040204" pitchFamily="34" charset="-120"/>
              </a:endParaRPr>
            </a:p>
          </p:txBody>
        </p:sp>
      </p:grpSp>
      <p:grpSp>
        <p:nvGrpSpPr>
          <p:cNvPr id="11" name="群組 7">
            <a:extLst>
              <a:ext uri="{FF2B5EF4-FFF2-40B4-BE49-F238E27FC236}">
                <a16:creationId xmlns:a16="http://schemas.microsoft.com/office/drawing/2014/main" id="{C60B43AF-F72A-C831-6DEF-24EDAE6A4905}"/>
              </a:ext>
            </a:extLst>
          </p:cNvPr>
          <p:cNvGrpSpPr/>
          <p:nvPr/>
        </p:nvGrpSpPr>
        <p:grpSpPr>
          <a:xfrm>
            <a:off x="857224" y="3644283"/>
            <a:ext cx="3000396" cy="1044000"/>
            <a:chOff x="1248155" y="2290219"/>
            <a:chExt cx="1404174" cy="1089501"/>
          </a:xfrm>
          <a:scene3d>
            <a:camera prst="orthographicFront">
              <a:rot lat="0" lon="0" rev="0"/>
            </a:camera>
            <a:lightRig rig="contrasting" dir="t">
              <a:rot lat="0" lon="0" rev="1200000"/>
            </a:lightRig>
          </a:scene3d>
        </p:grpSpPr>
        <p:sp>
          <p:nvSpPr>
            <p:cNvPr id="12" name="圓角矩形 11">
              <a:extLst>
                <a:ext uri="{FF2B5EF4-FFF2-40B4-BE49-F238E27FC236}">
                  <a16:creationId xmlns:a16="http://schemas.microsoft.com/office/drawing/2014/main" id="{6138EA7B-7C56-F0DE-A9A0-24662F3DA9D7}"/>
                </a:ext>
              </a:extLst>
            </p:cNvPr>
            <p:cNvSpPr/>
            <p:nvPr/>
          </p:nvSpPr>
          <p:spPr>
            <a:xfrm>
              <a:off x="1248155" y="2290219"/>
              <a:ext cx="1404174" cy="1089501"/>
            </a:xfrm>
            <a:prstGeom prst="roundRect">
              <a:avLst/>
            </a:prstGeom>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3" name="圓角矩形 8">
              <a:extLst>
                <a:ext uri="{FF2B5EF4-FFF2-40B4-BE49-F238E27FC236}">
                  <a16:creationId xmlns:a16="http://schemas.microsoft.com/office/drawing/2014/main" id="{87AB62F6-76E7-E03E-D50B-6A0139610361}"/>
                </a:ext>
              </a:extLst>
            </p:cNvPr>
            <p:cNvSpPr/>
            <p:nvPr/>
          </p:nvSpPr>
          <p:spPr>
            <a:xfrm>
              <a:off x="1301340" y="2343404"/>
              <a:ext cx="1297804" cy="983131"/>
            </a:xfrm>
            <a:prstGeom prst="rect">
              <a:avLst/>
            </a:prstGeom>
            <a:sp3d/>
          </p:spPr>
          <p:style>
            <a:lnRef idx="0">
              <a:scrgbClr r="0" g="0" b="0"/>
            </a:lnRef>
            <a:fillRef idx="0">
              <a:scrgbClr r="0" g="0" b="0"/>
            </a:fillRef>
            <a:effectRef idx="0">
              <a:scrgbClr r="0" g="0" b="0"/>
            </a:effectRef>
            <a:fontRef idx="minor">
              <a:schemeClr val="lt1"/>
            </a:fontRef>
          </p:style>
          <p:txBody>
            <a:bodyPr lIns="106680" tIns="53340" rIns="106680" bIns="53340" spcCol="1270" anchor="ctr"/>
            <a:lstStyle/>
            <a:p>
              <a:pPr defTabSz="1244600">
                <a:lnSpc>
                  <a:spcPct val="90000"/>
                </a:lnSpc>
                <a:spcAft>
                  <a:spcPct val="35000"/>
                </a:spcAft>
                <a:defRPr/>
              </a:pPr>
              <a:r>
                <a:rPr lang="zh-TW" altLang="en-US" sz="2800" b="1" dirty="0">
                  <a:solidFill>
                    <a:schemeClr val="bg1"/>
                  </a:solidFill>
                  <a:latin typeface="微軟正黑體" panose="020B0604030504040204" pitchFamily="34" charset="-120"/>
                  <a:ea typeface="微軟正黑體" panose="020B0604030504040204" pitchFamily="34" charset="-120"/>
                </a:rPr>
                <a:t>申請專利範圍</a:t>
              </a:r>
              <a:endParaRPr lang="en-US" sz="2800" b="1" dirty="0">
                <a:solidFill>
                  <a:schemeClr val="bg1"/>
                </a:solidFill>
                <a:latin typeface="微軟正黑體" panose="020B0604030504040204" pitchFamily="34" charset="-120"/>
                <a:ea typeface="微軟正黑體" panose="020B0604030504040204" pitchFamily="34" charset="-120"/>
              </a:endParaRPr>
            </a:p>
          </p:txBody>
        </p:sp>
      </p:grpSp>
      <p:grpSp>
        <p:nvGrpSpPr>
          <p:cNvPr id="14" name="群組 8">
            <a:extLst>
              <a:ext uri="{FF2B5EF4-FFF2-40B4-BE49-F238E27FC236}">
                <a16:creationId xmlns:a16="http://schemas.microsoft.com/office/drawing/2014/main" id="{BFF8E482-AE7A-8DC5-3668-993878430A38}"/>
              </a:ext>
            </a:extLst>
          </p:cNvPr>
          <p:cNvGrpSpPr/>
          <p:nvPr/>
        </p:nvGrpSpPr>
        <p:grpSpPr>
          <a:xfrm>
            <a:off x="857224" y="4788259"/>
            <a:ext cx="3000396" cy="1044000"/>
            <a:chOff x="1248155" y="3434195"/>
            <a:chExt cx="1404174" cy="1089501"/>
          </a:xfrm>
          <a:scene3d>
            <a:camera prst="orthographicFront">
              <a:rot lat="0" lon="0" rev="0"/>
            </a:camera>
            <a:lightRig rig="contrasting" dir="t">
              <a:rot lat="0" lon="0" rev="1200000"/>
            </a:lightRig>
          </a:scene3d>
        </p:grpSpPr>
        <p:sp>
          <p:nvSpPr>
            <p:cNvPr id="15" name="圓角矩形 9">
              <a:extLst>
                <a:ext uri="{FF2B5EF4-FFF2-40B4-BE49-F238E27FC236}">
                  <a16:creationId xmlns:a16="http://schemas.microsoft.com/office/drawing/2014/main" id="{2C993660-2B9B-E6F9-B013-7678ED410C50}"/>
                </a:ext>
              </a:extLst>
            </p:cNvPr>
            <p:cNvSpPr/>
            <p:nvPr/>
          </p:nvSpPr>
          <p:spPr>
            <a:xfrm>
              <a:off x="1248155" y="3434195"/>
              <a:ext cx="1404174" cy="1089501"/>
            </a:xfrm>
            <a:prstGeom prst="roundRect">
              <a:avLst/>
            </a:prstGeom>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6" name="圓角矩形 10">
              <a:extLst>
                <a:ext uri="{FF2B5EF4-FFF2-40B4-BE49-F238E27FC236}">
                  <a16:creationId xmlns:a16="http://schemas.microsoft.com/office/drawing/2014/main" id="{3EB2D2D9-9FCE-7B06-7162-8BAB7D530602}"/>
                </a:ext>
              </a:extLst>
            </p:cNvPr>
            <p:cNvSpPr/>
            <p:nvPr/>
          </p:nvSpPr>
          <p:spPr>
            <a:xfrm>
              <a:off x="1301340" y="3487380"/>
              <a:ext cx="1297804" cy="983131"/>
            </a:xfrm>
            <a:prstGeom prst="rect">
              <a:avLst/>
            </a:prstGeom>
            <a:sp3d/>
          </p:spPr>
          <p:style>
            <a:lnRef idx="0">
              <a:scrgbClr r="0" g="0" b="0"/>
            </a:lnRef>
            <a:fillRef idx="0">
              <a:scrgbClr r="0" g="0" b="0"/>
            </a:fillRef>
            <a:effectRef idx="0">
              <a:scrgbClr r="0" g="0" b="0"/>
            </a:effectRef>
            <a:fontRef idx="minor">
              <a:schemeClr val="lt1"/>
            </a:fontRef>
          </p:style>
          <p:txBody>
            <a:bodyPr lIns="106680" tIns="53340" rIns="106680" bIns="53340" spcCol="1270" anchor="ctr"/>
            <a:lstStyle/>
            <a:p>
              <a:pPr defTabSz="1244600">
                <a:lnSpc>
                  <a:spcPct val="90000"/>
                </a:lnSpc>
                <a:spcAft>
                  <a:spcPct val="35000"/>
                </a:spcAft>
                <a:defRPr/>
              </a:pPr>
              <a:r>
                <a:rPr lang="zh-TW" altLang="en-US" sz="2800" b="1" dirty="0">
                  <a:solidFill>
                    <a:schemeClr val="bg1"/>
                  </a:solidFill>
                  <a:latin typeface="微軟正黑體" panose="020B0604030504040204" pitchFamily="34" charset="-120"/>
                  <a:ea typeface="微軟正黑體" panose="020B0604030504040204" pitchFamily="34" charset="-120"/>
                </a:rPr>
                <a:t>圖式</a:t>
              </a:r>
              <a:endParaRPr lang="zh-TW" sz="2800" b="1" dirty="0">
                <a:solidFill>
                  <a:schemeClr val="bg1"/>
                </a:solidFill>
                <a:latin typeface="微軟正黑體" panose="020B0604030504040204" pitchFamily="34" charset="-120"/>
                <a:ea typeface="微軟正黑體" panose="020B0604030504040204" pitchFamily="34" charset="-120"/>
              </a:endParaRPr>
            </a:p>
          </p:txBody>
        </p:sp>
      </p:grpSp>
      <p:grpSp>
        <p:nvGrpSpPr>
          <p:cNvPr id="17" name="群組 27">
            <a:extLst>
              <a:ext uri="{FF2B5EF4-FFF2-40B4-BE49-F238E27FC236}">
                <a16:creationId xmlns:a16="http://schemas.microsoft.com/office/drawing/2014/main" id="{D17DDBC8-1F1A-A117-DD66-899A2D60FF8C}"/>
              </a:ext>
            </a:extLst>
          </p:cNvPr>
          <p:cNvGrpSpPr>
            <a:grpSpLocks/>
          </p:cNvGrpSpPr>
          <p:nvPr/>
        </p:nvGrpSpPr>
        <p:grpSpPr bwMode="auto">
          <a:xfrm>
            <a:off x="4643464" y="1407292"/>
            <a:ext cx="3643312" cy="4253955"/>
            <a:chOff x="4429124" y="1214422"/>
            <a:chExt cx="3643338" cy="3143272"/>
          </a:xfrm>
        </p:grpSpPr>
        <p:grpSp>
          <p:nvGrpSpPr>
            <p:cNvPr id="18" name="群組 23">
              <a:extLst>
                <a:ext uri="{FF2B5EF4-FFF2-40B4-BE49-F238E27FC236}">
                  <a16:creationId xmlns:a16="http://schemas.microsoft.com/office/drawing/2014/main" id="{CE39EB76-A756-3A3B-AB44-91F582F82EE6}"/>
                </a:ext>
              </a:extLst>
            </p:cNvPr>
            <p:cNvGrpSpPr/>
            <p:nvPr/>
          </p:nvGrpSpPr>
          <p:grpSpPr>
            <a:xfrm>
              <a:off x="4429124" y="1214422"/>
              <a:ext cx="3643338" cy="3143272"/>
              <a:chOff x="1248155" y="2290219"/>
              <a:chExt cx="1404174" cy="1089501"/>
            </a:xfrm>
            <a:scene3d>
              <a:camera prst="orthographicFront">
                <a:rot lat="0" lon="0" rev="0"/>
              </a:camera>
              <a:lightRig rig="contrasting" dir="t">
                <a:rot lat="0" lon="0" rev="1200000"/>
              </a:lightRig>
            </a:scene3d>
          </p:grpSpPr>
          <p:sp>
            <p:nvSpPr>
              <p:cNvPr id="20" name="圓角矩形 24">
                <a:extLst>
                  <a:ext uri="{FF2B5EF4-FFF2-40B4-BE49-F238E27FC236}">
                    <a16:creationId xmlns:a16="http://schemas.microsoft.com/office/drawing/2014/main" id="{FDDBD0DE-E71B-115E-DCFF-92D65B0852E0}"/>
                  </a:ext>
                </a:extLst>
              </p:cNvPr>
              <p:cNvSpPr/>
              <p:nvPr/>
            </p:nvSpPr>
            <p:spPr>
              <a:xfrm>
                <a:off x="1248155" y="2290219"/>
                <a:ext cx="1404174" cy="1089501"/>
              </a:xfrm>
              <a:prstGeom prst="roundRect">
                <a:avLst/>
              </a:prstGeom>
            </p:spPr>
            <p:style>
              <a:lnRef idx="0">
                <a:schemeClr val="accent5"/>
              </a:lnRef>
              <a:fillRef idx="3">
                <a:schemeClr val="accent5"/>
              </a:fillRef>
              <a:effectRef idx="3">
                <a:schemeClr val="accent5"/>
              </a:effectRef>
              <a:fontRef idx="minor">
                <a:schemeClr val="lt1"/>
              </a:fontRef>
            </p:style>
            <p:txBody>
              <a:bodyPr/>
              <a:lstStyle/>
              <a:p>
                <a:endParaRPr lang="zh-TW" altLang="en-US">
                  <a:solidFill>
                    <a:schemeClr val="bg1"/>
                  </a:solidFill>
                </a:endParaRPr>
              </a:p>
            </p:txBody>
          </p:sp>
          <p:sp>
            <p:nvSpPr>
              <p:cNvPr id="21" name="圓角矩形 8">
                <a:extLst>
                  <a:ext uri="{FF2B5EF4-FFF2-40B4-BE49-F238E27FC236}">
                    <a16:creationId xmlns:a16="http://schemas.microsoft.com/office/drawing/2014/main" id="{F720CB3F-601A-FFBD-A5D9-C5FAB7E7FA66}"/>
                  </a:ext>
                </a:extLst>
              </p:cNvPr>
              <p:cNvSpPr/>
              <p:nvPr/>
            </p:nvSpPr>
            <p:spPr>
              <a:xfrm>
                <a:off x="1301340" y="2343404"/>
                <a:ext cx="1297804" cy="983131"/>
              </a:xfrm>
              <a:prstGeom prst="rect">
                <a:avLst/>
              </a:prstGeom>
              <a:sp3d/>
            </p:spPr>
            <p:style>
              <a:lnRef idx="0">
                <a:scrgbClr r="0" g="0" b="0"/>
              </a:lnRef>
              <a:fillRef idx="0">
                <a:scrgbClr r="0" g="0" b="0"/>
              </a:fillRef>
              <a:effectRef idx="0">
                <a:scrgbClr r="0" g="0" b="0"/>
              </a:effectRef>
              <a:fontRef idx="minor">
                <a:schemeClr val="lt1"/>
              </a:fontRef>
            </p:style>
            <p:txBody>
              <a:bodyPr lIns="106680" tIns="53340" rIns="106680" bIns="53340" spcCol="1270" anchor="ctr"/>
              <a:lstStyle/>
              <a:p>
                <a:pPr defTabSz="1244600">
                  <a:lnSpc>
                    <a:spcPct val="90000"/>
                  </a:lnSpc>
                  <a:spcAft>
                    <a:spcPct val="35000"/>
                  </a:spcAft>
                  <a:defRPr/>
                </a:pPr>
                <a:endParaRPr lang="en-US" sz="2800" dirty="0">
                  <a:solidFill>
                    <a:schemeClr val="bg1"/>
                  </a:solidFill>
                  <a:latin typeface="微軟正黑體" panose="020B0604030504040204" pitchFamily="34" charset="-120"/>
                  <a:ea typeface="微軟正黑體" panose="020B0604030504040204" pitchFamily="34" charset="-120"/>
                </a:endParaRPr>
              </a:p>
            </p:txBody>
          </p:sp>
        </p:grpSp>
        <p:sp>
          <p:nvSpPr>
            <p:cNvPr id="19" name="矩形 26">
              <a:extLst>
                <a:ext uri="{FF2B5EF4-FFF2-40B4-BE49-F238E27FC236}">
                  <a16:creationId xmlns:a16="http://schemas.microsoft.com/office/drawing/2014/main" id="{450C7E9D-DA12-85F0-4AB7-1C221DC98027}"/>
                </a:ext>
              </a:extLst>
            </p:cNvPr>
            <p:cNvSpPr>
              <a:spLocks noChangeArrowheads="1"/>
            </p:cNvSpPr>
            <p:nvPr/>
          </p:nvSpPr>
          <p:spPr bwMode="auto">
            <a:xfrm>
              <a:off x="4572000" y="1603300"/>
              <a:ext cx="3500462" cy="2360598"/>
            </a:xfrm>
            <a:prstGeom prst="rect">
              <a:avLst/>
            </a:prstGeom>
            <a:noFill/>
            <a:ln w="9525">
              <a:noFill/>
              <a:miter lim="800000"/>
              <a:headEnd/>
              <a:tailEnd/>
            </a:ln>
          </p:spPr>
          <p:txBody>
            <a:bodyPr>
              <a:spAutoFit/>
            </a:bodyPr>
            <a:lstStyle/>
            <a:p>
              <a:pPr marL="57150" lvl="1" indent="-57150" algn="l" defTabSz="355600">
                <a:lnSpc>
                  <a:spcPct val="90000"/>
                </a:lnSpc>
                <a:spcAft>
                  <a:spcPct val="15000"/>
                </a:spcAft>
                <a:buFontTx/>
                <a:buChar char="•"/>
              </a:pPr>
              <a:r>
                <a:rPr lang="zh-TW" altLang="en-US" sz="2800" b="1" dirty="0">
                  <a:solidFill>
                    <a:schemeClr val="bg1"/>
                  </a:solidFill>
                  <a:latin typeface="微軟正黑體" panose="020B0604030504040204" pitchFamily="34" charset="-120"/>
                  <a:ea typeface="微軟正黑體" panose="020B0604030504040204" pitchFamily="34" charset="-120"/>
                </a:rPr>
                <a:t>發明名稱</a:t>
              </a:r>
              <a:endParaRPr lang="en-US" altLang="zh-TW" sz="2800" b="1" dirty="0">
                <a:solidFill>
                  <a:schemeClr val="bg1"/>
                </a:solidFill>
                <a:latin typeface="微軟正黑體" panose="020B0604030504040204" pitchFamily="34" charset="-120"/>
                <a:ea typeface="微軟正黑體" panose="020B0604030504040204" pitchFamily="34" charset="-120"/>
              </a:endParaRPr>
            </a:p>
            <a:p>
              <a:pPr marL="57150" lvl="1" indent="-57150" algn="l" defTabSz="355600">
                <a:lnSpc>
                  <a:spcPct val="90000"/>
                </a:lnSpc>
                <a:spcAft>
                  <a:spcPct val="15000"/>
                </a:spcAft>
                <a:buFontTx/>
                <a:buChar char="•"/>
              </a:pPr>
              <a:r>
                <a:rPr lang="zh-TW" altLang="en-US" sz="2800" b="1" dirty="0">
                  <a:solidFill>
                    <a:schemeClr val="bg1"/>
                  </a:solidFill>
                  <a:latin typeface="微軟正黑體" panose="020B0604030504040204" pitchFamily="34" charset="-120"/>
                  <a:ea typeface="微軟正黑體" panose="020B0604030504040204" pitchFamily="34" charset="-120"/>
                </a:rPr>
                <a:t>技術領域</a:t>
              </a:r>
              <a:endParaRPr lang="en-US" sz="2800" b="1" dirty="0">
                <a:solidFill>
                  <a:schemeClr val="bg1"/>
                </a:solidFill>
                <a:latin typeface="微軟正黑體" panose="020B0604030504040204" pitchFamily="34" charset="-120"/>
                <a:ea typeface="微軟正黑體" panose="020B0604030504040204" pitchFamily="34" charset="-120"/>
              </a:endParaRPr>
            </a:p>
            <a:p>
              <a:pPr marL="57150" lvl="1" indent="-57150" algn="l" defTabSz="355600">
                <a:lnSpc>
                  <a:spcPct val="90000"/>
                </a:lnSpc>
                <a:spcAft>
                  <a:spcPct val="15000"/>
                </a:spcAft>
                <a:buFontTx/>
                <a:buChar char="•"/>
              </a:pPr>
              <a:r>
                <a:rPr lang="zh-TW" altLang="en-US" sz="2800" b="1" dirty="0">
                  <a:solidFill>
                    <a:schemeClr val="bg1"/>
                  </a:solidFill>
                  <a:latin typeface="微軟正黑體" panose="020B0604030504040204" pitchFamily="34" charset="-120"/>
                  <a:ea typeface="微軟正黑體" panose="020B0604030504040204" pitchFamily="34" charset="-120"/>
                </a:rPr>
                <a:t>先前技術</a:t>
              </a:r>
              <a:endParaRPr lang="en-US" sz="2800" b="1" dirty="0">
                <a:solidFill>
                  <a:schemeClr val="bg1"/>
                </a:solidFill>
                <a:latin typeface="微軟正黑體" panose="020B0604030504040204" pitchFamily="34" charset="-120"/>
                <a:ea typeface="微軟正黑體" panose="020B0604030504040204" pitchFamily="34" charset="-120"/>
              </a:endParaRPr>
            </a:p>
            <a:p>
              <a:pPr marL="57150" lvl="1" indent="-57150" algn="l" defTabSz="355600">
                <a:lnSpc>
                  <a:spcPct val="90000"/>
                </a:lnSpc>
                <a:spcAft>
                  <a:spcPct val="15000"/>
                </a:spcAft>
                <a:buFontTx/>
                <a:buChar char="•"/>
              </a:pPr>
              <a:r>
                <a:rPr lang="zh-TW" altLang="en-US" sz="2800" b="1" dirty="0">
                  <a:solidFill>
                    <a:schemeClr val="bg1"/>
                  </a:solidFill>
                  <a:latin typeface="微軟正黑體" panose="020B0604030504040204" pitchFamily="34" charset="-120"/>
                  <a:ea typeface="微軟正黑體" panose="020B0604030504040204" pitchFamily="34" charset="-120"/>
                </a:rPr>
                <a:t>發明內容</a:t>
              </a:r>
              <a:endParaRPr lang="en-US" altLang="zh-TW" sz="2800" b="1" dirty="0">
                <a:solidFill>
                  <a:schemeClr val="bg1"/>
                </a:solidFill>
                <a:latin typeface="微軟正黑體" panose="020B0604030504040204" pitchFamily="34" charset="-120"/>
                <a:ea typeface="微軟正黑體" panose="020B0604030504040204" pitchFamily="34" charset="-120"/>
              </a:endParaRPr>
            </a:p>
            <a:p>
              <a:pPr marL="57150" lvl="1" indent="-57150" algn="l" defTabSz="355600">
                <a:lnSpc>
                  <a:spcPct val="90000"/>
                </a:lnSpc>
                <a:spcAft>
                  <a:spcPct val="15000"/>
                </a:spcAft>
                <a:buFontTx/>
                <a:buChar char="•"/>
              </a:pPr>
              <a:r>
                <a:rPr lang="zh-TW" altLang="en-US" sz="2800" b="1" dirty="0">
                  <a:solidFill>
                    <a:schemeClr val="bg1"/>
                  </a:solidFill>
                  <a:latin typeface="微軟正黑體" panose="020B0604030504040204" pitchFamily="34" charset="-120"/>
                  <a:ea typeface="微軟正黑體" panose="020B0604030504040204" pitchFamily="34" charset="-120"/>
                </a:rPr>
                <a:t>圖式簡單說明</a:t>
              </a:r>
              <a:endParaRPr lang="en-US" altLang="zh-TW" sz="2800" b="1" dirty="0">
                <a:solidFill>
                  <a:schemeClr val="bg1"/>
                </a:solidFill>
                <a:latin typeface="微軟正黑體" panose="020B0604030504040204" pitchFamily="34" charset="-120"/>
                <a:ea typeface="微軟正黑體" panose="020B0604030504040204" pitchFamily="34" charset="-120"/>
              </a:endParaRPr>
            </a:p>
            <a:p>
              <a:pPr marL="57150" lvl="1" indent="-57150" algn="l" defTabSz="355600">
                <a:lnSpc>
                  <a:spcPct val="90000"/>
                </a:lnSpc>
                <a:spcAft>
                  <a:spcPct val="15000"/>
                </a:spcAft>
                <a:buFontTx/>
                <a:buChar char="•"/>
              </a:pPr>
              <a:r>
                <a:rPr lang="zh-TW" altLang="en-US" sz="2800" b="1" dirty="0">
                  <a:solidFill>
                    <a:schemeClr val="bg1"/>
                  </a:solidFill>
                  <a:latin typeface="微軟正黑體" panose="020B0604030504040204" pitchFamily="34" charset="-120"/>
                  <a:ea typeface="微軟正黑體" panose="020B0604030504040204" pitchFamily="34" charset="-120"/>
                </a:rPr>
                <a:t>實施方式</a:t>
              </a:r>
              <a:endParaRPr lang="en-US" sz="2800" b="1" dirty="0">
                <a:solidFill>
                  <a:schemeClr val="bg1"/>
                </a:solidFill>
                <a:latin typeface="微軟正黑體" panose="020B0604030504040204" pitchFamily="34" charset="-120"/>
                <a:ea typeface="微軟正黑體" panose="020B0604030504040204" pitchFamily="34" charset="-120"/>
              </a:endParaRPr>
            </a:p>
            <a:p>
              <a:pPr marL="57150" lvl="1" indent="-57150" algn="l" defTabSz="355600">
                <a:lnSpc>
                  <a:spcPct val="90000"/>
                </a:lnSpc>
                <a:spcAft>
                  <a:spcPct val="15000"/>
                </a:spcAft>
                <a:buFontTx/>
                <a:buChar char="•"/>
              </a:pPr>
              <a:r>
                <a:rPr lang="zh-TW" altLang="en-US" sz="2800" b="1" dirty="0">
                  <a:solidFill>
                    <a:schemeClr val="bg1"/>
                  </a:solidFill>
                  <a:latin typeface="微軟正黑體" panose="020B0604030504040204" pitchFamily="34" charset="-120"/>
                  <a:ea typeface="微軟正黑體" panose="020B0604030504040204" pitchFamily="34" charset="-120"/>
                </a:rPr>
                <a:t>符號說明</a:t>
              </a:r>
              <a:endParaRPr lang="en-US" sz="2800" b="1" dirty="0">
                <a:solidFill>
                  <a:schemeClr val="bg1"/>
                </a:solidFill>
                <a:latin typeface="微軟正黑體" panose="020B0604030504040204" pitchFamily="34" charset="-120"/>
                <a:ea typeface="微軟正黑體" panose="020B0604030504040204" pitchFamily="34" charset="-120"/>
              </a:endParaRPr>
            </a:p>
          </p:txBody>
        </p:sp>
      </p:grpSp>
      <p:sp>
        <p:nvSpPr>
          <p:cNvPr id="22" name="＞形箭號 28">
            <a:extLst>
              <a:ext uri="{FF2B5EF4-FFF2-40B4-BE49-F238E27FC236}">
                <a16:creationId xmlns:a16="http://schemas.microsoft.com/office/drawing/2014/main" id="{FE2D6EDE-27D4-B12D-BF04-AB950FF55DA0}"/>
              </a:ext>
            </a:extLst>
          </p:cNvPr>
          <p:cNvSpPr/>
          <p:nvPr/>
        </p:nvSpPr>
        <p:spPr>
          <a:xfrm>
            <a:off x="4000526" y="2694665"/>
            <a:ext cx="484188" cy="65528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TW" altLang="en-US">
              <a:solidFill>
                <a:schemeClr val="tx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5532636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B11EED-8220-4DBF-8890-586CBDA0197A}"/>
              </a:ext>
            </a:extLst>
          </p:cNvPr>
          <p:cNvSpPr>
            <a:spLocks noGrp="1"/>
          </p:cNvSpPr>
          <p:nvPr>
            <p:ph type="title"/>
          </p:nvPr>
        </p:nvSpPr>
        <p:spPr/>
        <p:txBody>
          <a:bodyPr/>
          <a:lstStyle/>
          <a:p>
            <a:r>
              <a:rPr lang="zh-TW" altLang="en-US" dirty="0"/>
              <a:t>專利文件</a:t>
            </a:r>
          </a:p>
        </p:txBody>
      </p:sp>
      <p:sp>
        <p:nvSpPr>
          <p:cNvPr id="4" name="投影片編號版面配置區 3">
            <a:extLst>
              <a:ext uri="{FF2B5EF4-FFF2-40B4-BE49-F238E27FC236}">
                <a16:creationId xmlns:a16="http://schemas.microsoft.com/office/drawing/2014/main" id="{551AA1F1-71A0-42C0-B08B-D920EFEEF0C7}"/>
              </a:ext>
            </a:extLst>
          </p:cNvPr>
          <p:cNvSpPr>
            <a:spLocks noGrp="1"/>
          </p:cNvSpPr>
          <p:nvPr>
            <p:ph type="sldNum" sz="quarter" idx="12"/>
          </p:nvPr>
        </p:nvSpPr>
        <p:spPr>
          <a:xfrm>
            <a:off x="6758880" y="6549061"/>
            <a:ext cx="2133600" cy="365125"/>
          </a:xfrm>
        </p:spPr>
        <p:txBody>
          <a:bodyPr/>
          <a:lstStyle/>
          <a:p>
            <a:fld id="{51D2D507-09EA-4C6F-96ED-053C801F8797}" type="slidenum">
              <a:rPr lang="zh-TW" altLang="en-US" smtClean="0"/>
              <a:t>27</a:t>
            </a:fld>
            <a:endParaRPr lang="zh-TW" altLang="en-US"/>
          </a:p>
        </p:txBody>
      </p:sp>
      <p:sp>
        <p:nvSpPr>
          <p:cNvPr id="3" name="矩形: 圓角 2">
            <a:extLst>
              <a:ext uri="{FF2B5EF4-FFF2-40B4-BE49-F238E27FC236}">
                <a16:creationId xmlns:a16="http://schemas.microsoft.com/office/drawing/2014/main" id="{75790D6E-2D04-411A-BFC8-C347B4B956D9}"/>
              </a:ext>
            </a:extLst>
          </p:cNvPr>
          <p:cNvSpPr/>
          <p:nvPr/>
        </p:nvSpPr>
        <p:spPr>
          <a:xfrm>
            <a:off x="251520" y="899555"/>
            <a:ext cx="1620000" cy="576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摘要</a:t>
            </a:r>
          </a:p>
        </p:txBody>
      </p:sp>
      <p:sp>
        <p:nvSpPr>
          <p:cNvPr id="5" name="矩形: 圓角 4">
            <a:extLst>
              <a:ext uri="{FF2B5EF4-FFF2-40B4-BE49-F238E27FC236}">
                <a16:creationId xmlns:a16="http://schemas.microsoft.com/office/drawing/2014/main" id="{EB952180-2843-4146-9D19-6FDFD185C28B}"/>
              </a:ext>
            </a:extLst>
          </p:cNvPr>
          <p:cNvSpPr/>
          <p:nvPr/>
        </p:nvSpPr>
        <p:spPr>
          <a:xfrm>
            <a:off x="200676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說明書</a:t>
            </a:r>
          </a:p>
        </p:txBody>
      </p:sp>
      <p:sp>
        <p:nvSpPr>
          <p:cNvPr id="6" name="矩形: 圓角 5">
            <a:extLst>
              <a:ext uri="{FF2B5EF4-FFF2-40B4-BE49-F238E27FC236}">
                <a16:creationId xmlns:a16="http://schemas.microsoft.com/office/drawing/2014/main" id="{3DBC721F-F520-4FC1-AAD0-DF431ADFBD3A}"/>
              </a:ext>
            </a:extLst>
          </p:cNvPr>
          <p:cNvSpPr/>
          <p:nvPr/>
        </p:nvSpPr>
        <p:spPr>
          <a:xfrm>
            <a:off x="376200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圖式</a:t>
            </a:r>
          </a:p>
        </p:txBody>
      </p:sp>
      <p:sp>
        <p:nvSpPr>
          <p:cNvPr id="7" name="矩形: 圓角 6">
            <a:extLst>
              <a:ext uri="{FF2B5EF4-FFF2-40B4-BE49-F238E27FC236}">
                <a16:creationId xmlns:a16="http://schemas.microsoft.com/office/drawing/2014/main" id="{E6ADE02F-E608-43E6-89E9-71FBB45769D4}"/>
              </a:ext>
            </a:extLst>
          </p:cNvPr>
          <p:cNvSpPr/>
          <p:nvPr/>
        </p:nvSpPr>
        <p:spPr>
          <a:xfrm>
            <a:off x="551724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申請專利範圍</a:t>
            </a:r>
          </a:p>
        </p:txBody>
      </p:sp>
      <p:sp>
        <p:nvSpPr>
          <p:cNvPr id="8" name="矩形: 圓角 7">
            <a:extLst>
              <a:ext uri="{FF2B5EF4-FFF2-40B4-BE49-F238E27FC236}">
                <a16:creationId xmlns:a16="http://schemas.microsoft.com/office/drawing/2014/main" id="{C99F5EEB-9765-4652-99AD-CF8567054032}"/>
              </a:ext>
            </a:extLst>
          </p:cNvPr>
          <p:cNvSpPr/>
          <p:nvPr/>
        </p:nvSpPr>
        <p:spPr>
          <a:xfrm>
            <a:off x="727248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申請書</a:t>
            </a:r>
          </a:p>
        </p:txBody>
      </p:sp>
      <p:sp>
        <p:nvSpPr>
          <p:cNvPr id="12" name="矩形 11">
            <a:extLst>
              <a:ext uri="{FF2B5EF4-FFF2-40B4-BE49-F238E27FC236}">
                <a16:creationId xmlns:a16="http://schemas.microsoft.com/office/drawing/2014/main" id="{3DC581E6-1F84-4825-9CB6-060EEBC1D861}"/>
              </a:ext>
            </a:extLst>
          </p:cNvPr>
          <p:cNvSpPr/>
          <p:nvPr/>
        </p:nvSpPr>
        <p:spPr>
          <a:xfrm>
            <a:off x="251520" y="1844824"/>
            <a:ext cx="8640960" cy="4019336"/>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zh-TW" altLang="en-US" sz="2000" b="0" i="0" dirty="0">
                <a:solidFill>
                  <a:srgbClr val="000000"/>
                </a:solidFill>
                <a:effectLst/>
                <a:latin typeface="微軟正黑體" panose="020B0604030504040204" pitchFamily="34" charset="-120"/>
                <a:ea typeface="微軟正黑體" panose="020B0604030504040204" pitchFamily="34" charset="-120"/>
              </a:rPr>
              <a:t>應簡要敘明發明所揭露之內容，並以</a:t>
            </a:r>
            <a:r>
              <a:rPr lang="zh-TW" altLang="en-US" sz="2000" b="1" i="0" u="sng" dirty="0">
                <a:solidFill>
                  <a:srgbClr val="000000"/>
                </a:solidFill>
                <a:effectLst/>
                <a:latin typeface="微軟正黑體" panose="020B0604030504040204" pitchFamily="34" charset="-120"/>
                <a:ea typeface="微軟正黑體" panose="020B0604030504040204" pitchFamily="34" charset="-120"/>
              </a:rPr>
              <a:t>所欲解決之問題</a:t>
            </a:r>
            <a:r>
              <a:rPr lang="zh-TW" altLang="en-US" sz="2000" b="0" i="0" dirty="0">
                <a:solidFill>
                  <a:srgbClr val="000000"/>
                </a:solidFill>
                <a:effectLst/>
                <a:latin typeface="微軟正黑體" panose="020B0604030504040204" pitchFamily="34" charset="-120"/>
                <a:ea typeface="微軟正黑體" panose="020B0604030504040204" pitchFamily="34" charset="-120"/>
              </a:rPr>
              <a:t>、</a:t>
            </a:r>
            <a:r>
              <a:rPr lang="zh-TW" altLang="en-US" sz="2000" b="1" i="0" u="sng" dirty="0">
                <a:solidFill>
                  <a:srgbClr val="000000"/>
                </a:solidFill>
                <a:effectLst/>
                <a:latin typeface="微軟正黑體" panose="020B0604030504040204" pitchFamily="34" charset="-120"/>
                <a:ea typeface="微軟正黑體" panose="020B0604030504040204" pitchFamily="34" charset="-120"/>
              </a:rPr>
              <a:t>解決問題之技術手段</a:t>
            </a:r>
            <a:r>
              <a:rPr lang="zh-TW" altLang="en-US" sz="2000" b="0" i="0" dirty="0">
                <a:solidFill>
                  <a:srgbClr val="000000"/>
                </a:solidFill>
                <a:effectLst/>
                <a:latin typeface="微軟正黑體" panose="020B0604030504040204" pitchFamily="34" charset="-120"/>
                <a:ea typeface="微軟正黑體" panose="020B0604030504040204" pitchFamily="34" charset="-120"/>
              </a:rPr>
              <a:t>及</a:t>
            </a:r>
            <a:r>
              <a:rPr lang="zh-TW" altLang="en-US" sz="2000" b="1" i="0" u="sng" dirty="0">
                <a:solidFill>
                  <a:srgbClr val="000000"/>
                </a:solidFill>
                <a:effectLst/>
                <a:latin typeface="微軟正黑體" panose="020B0604030504040204" pitchFamily="34" charset="-120"/>
                <a:ea typeface="微軟正黑體" panose="020B0604030504040204" pitchFamily="34" charset="-120"/>
              </a:rPr>
              <a:t>主要用途</a:t>
            </a:r>
            <a:r>
              <a:rPr lang="zh-TW" altLang="en-US" sz="2000" b="0" i="0" dirty="0">
                <a:solidFill>
                  <a:srgbClr val="000000"/>
                </a:solidFill>
                <a:effectLst/>
                <a:latin typeface="微軟正黑體" panose="020B0604030504040204" pitchFamily="34" charset="-120"/>
                <a:ea typeface="微軟正黑體" panose="020B0604030504040204" pitchFamily="34" charset="-120"/>
              </a:rPr>
              <a:t>為限；其字數，以</a:t>
            </a:r>
            <a:r>
              <a:rPr lang="zh-TW" altLang="en-US" sz="2000" b="0" i="0" dirty="0">
                <a:solidFill>
                  <a:srgbClr val="FF0000"/>
                </a:solidFill>
                <a:effectLst/>
                <a:latin typeface="微軟正黑體" panose="020B0604030504040204" pitchFamily="34" charset="-120"/>
                <a:ea typeface="微軟正黑體" panose="020B0604030504040204" pitchFamily="34" charset="-120"/>
              </a:rPr>
              <a:t>不超過二百五十字為原則</a:t>
            </a:r>
            <a:r>
              <a:rPr lang="zh-TW" altLang="en-US" sz="2000" b="0" i="0" dirty="0">
                <a:solidFill>
                  <a:srgbClr val="000000"/>
                </a:solidFill>
                <a:effectLst/>
                <a:latin typeface="微軟正黑體" panose="020B0604030504040204" pitchFamily="34" charset="-120"/>
                <a:ea typeface="微軟正黑體" panose="020B0604030504040204" pitchFamily="34" charset="-120"/>
              </a:rPr>
              <a:t>；有化學式者，應揭示最能顯示發明特徵之化學式。</a:t>
            </a:r>
            <a:endParaRPr lang="en-US" altLang="zh-TW" sz="2000" b="0" i="0" dirty="0">
              <a:solidFill>
                <a:srgbClr val="000000"/>
              </a:solidFill>
              <a:effectLst/>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不得記載商業性宣傳用語。</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申請人應指定最能代表該發明技術特徵之圖為代表圖，並列出其主要符號，簡要加以說明。</a:t>
            </a:r>
          </a:p>
        </p:txBody>
      </p:sp>
      <p:grpSp>
        <p:nvGrpSpPr>
          <p:cNvPr id="13" name="群組 12">
            <a:extLst>
              <a:ext uri="{FF2B5EF4-FFF2-40B4-BE49-F238E27FC236}">
                <a16:creationId xmlns:a16="http://schemas.microsoft.com/office/drawing/2014/main" id="{AD0B0F31-6C8F-414B-9127-3125431EB42F}"/>
              </a:ext>
            </a:extLst>
          </p:cNvPr>
          <p:cNvGrpSpPr/>
          <p:nvPr/>
        </p:nvGrpSpPr>
        <p:grpSpPr>
          <a:xfrm>
            <a:off x="53752" y="6139825"/>
            <a:ext cx="9036496" cy="498696"/>
            <a:chOff x="53752" y="6139825"/>
            <a:chExt cx="9036496" cy="498696"/>
          </a:xfrm>
        </p:grpSpPr>
        <p:sp>
          <p:nvSpPr>
            <p:cNvPr id="14" name="矩形 13">
              <a:extLst>
                <a:ext uri="{FF2B5EF4-FFF2-40B4-BE49-F238E27FC236}">
                  <a16:creationId xmlns:a16="http://schemas.microsoft.com/office/drawing/2014/main" id="{4413DD6E-94BC-4A0E-BC1E-B5CA5CB7FA18}"/>
                </a:ext>
              </a:extLst>
            </p:cNvPr>
            <p:cNvSpPr/>
            <p:nvPr/>
          </p:nvSpPr>
          <p:spPr>
            <a:xfrm>
              <a:off x="53752" y="6139825"/>
              <a:ext cx="9036496" cy="498696"/>
            </a:xfrm>
            <a:prstGeom prst="rect">
              <a:avLst/>
            </a:prstGeom>
            <a:gradFill flip="none" rotWithShape="1">
              <a:gsLst>
                <a:gs pos="55000">
                  <a:schemeClr val="accent4">
                    <a:lumMod val="20000"/>
                    <a:lumOff val="80000"/>
                  </a:schemeClr>
                </a:gs>
                <a:gs pos="0">
                  <a:schemeClr val="accent4">
                    <a:lumMod val="20000"/>
                    <a:lumOff val="80000"/>
                  </a:schemeClr>
                </a:gs>
                <a:gs pos="25000">
                  <a:schemeClr val="accent4">
                    <a:lumMod val="60000"/>
                    <a:lumOff val="40000"/>
                  </a:schemeClr>
                </a:gs>
                <a:gs pos="100000">
                  <a:schemeClr val="accent4">
                    <a:lumMod val="20000"/>
                    <a:lumOff val="80000"/>
                  </a:schemeClr>
                </a:gs>
                <a:gs pos="79000">
                  <a:schemeClr val="accent4">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文字方塊 14">
              <a:extLst>
                <a:ext uri="{FF2B5EF4-FFF2-40B4-BE49-F238E27FC236}">
                  <a16:creationId xmlns:a16="http://schemas.microsoft.com/office/drawing/2014/main" id="{CFA4007D-5ACA-4DF4-9D54-5C0F6C9EFC8E}"/>
                </a:ext>
              </a:extLst>
            </p:cNvPr>
            <p:cNvSpPr txBox="1"/>
            <p:nvPr/>
          </p:nvSpPr>
          <p:spPr>
            <a:xfrm>
              <a:off x="7759314" y="6201168"/>
              <a:ext cx="697627" cy="400110"/>
            </a:xfrm>
            <a:prstGeom prst="rect">
              <a:avLst/>
            </a:prstGeom>
            <a:noFill/>
          </p:spPr>
          <p:txBody>
            <a:bodyPr wrap="none" rtlCol="0">
              <a:spAutoFit/>
            </a:bodyPr>
            <a:lstStyle/>
            <a:p>
              <a:r>
                <a:rPr lang="zh-TW" altLang="en-US" sz="2000" dirty="0">
                  <a:effectLst>
                    <a:outerShdw blurRad="38100" dist="38100" dir="2700000" algn="tl">
                      <a:srgbClr val="000000">
                        <a:alpha val="43137"/>
                      </a:srgbClr>
                    </a:outerShdw>
                  </a:effectLst>
                </a:rPr>
                <a:t>法律</a:t>
              </a:r>
            </a:p>
          </p:txBody>
        </p:sp>
        <p:sp>
          <p:nvSpPr>
            <p:cNvPr id="16" name="文字方塊 15">
              <a:extLst>
                <a:ext uri="{FF2B5EF4-FFF2-40B4-BE49-F238E27FC236}">
                  <a16:creationId xmlns:a16="http://schemas.microsoft.com/office/drawing/2014/main" id="{DBE98467-EA21-48DB-9228-CF2078CA733F}"/>
                </a:ext>
              </a:extLst>
            </p:cNvPr>
            <p:cNvSpPr txBox="1"/>
            <p:nvPr/>
          </p:nvSpPr>
          <p:spPr>
            <a:xfrm>
              <a:off x="378770" y="6189118"/>
              <a:ext cx="697627" cy="400110"/>
            </a:xfrm>
            <a:prstGeom prst="rect">
              <a:avLst/>
            </a:prstGeom>
            <a:noFill/>
          </p:spPr>
          <p:txBody>
            <a:bodyPr wrap="none" rtlCol="0">
              <a:spAutoFit/>
            </a:bodyPr>
            <a:lstStyle/>
            <a:p>
              <a:r>
                <a:rPr lang="zh-TW" altLang="en-US" sz="2000" dirty="0">
                  <a:effectLst>
                    <a:outerShdw blurRad="38100" dist="38100" dir="2700000" algn="tl">
                      <a:srgbClr val="000000">
                        <a:alpha val="43137"/>
                      </a:srgbClr>
                    </a:outerShdw>
                  </a:effectLst>
                </a:rPr>
                <a:t>技術</a:t>
              </a:r>
            </a:p>
          </p:txBody>
        </p:sp>
        <p:cxnSp>
          <p:nvCxnSpPr>
            <p:cNvPr id="17" name="直線接點 16">
              <a:extLst>
                <a:ext uri="{FF2B5EF4-FFF2-40B4-BE49-F238E27FC236}">
                  <a16:creationId xmlns:a16="http://schemas.microsoft.com/office/drawing/2014/main" id="{0D537F74-5BC3-4195-9461-7642E7A8A8DC}"/>
                </a:ext>
              </a:extLst>
            </p:cNvPr>
            <p:cNvCxnSpPr>
              <a:cxnSpLocks/>
            </p:cNvCxnSpPr>
            <p:nvPr/>
          </p:nvCxnSpPr>
          <p:spPr>
            <a:xfrm>
              <a:off x="5486244" y="6139825"/>
              <a:ext cx="0" cy="49869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82128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B11EED-8220-4DBF-8890-586CBDA0197A}"/>
              </a:ext>
            </a:extLst>
          </p:cNvPr>
          <p:cNvSpPr>
            <a:spLocks noGrp="1"/>
          </p:cNvSpPr>
          <p:nvPr>
            <p:ph type="title"/>
          </p:nvPr>
        </p:nvSpPr>
        <p:spPr/>
        <p:txBody>
          <a:bodyPr/>
          <a:lstStyle/>
          <a:p>
            <a:r>
              <a:rPr lang="zh-TW" altLang="en-US" dirty="0"/>
              <a:t>專利文件</a:t>
            </a:r>
          </a:p>
        </p:txBody>
      </p:sp>
      <p:sp>
        <p:nvSpPr>
          <p:cNvPr id="4" name="投影片編號版面配置區 3">
            <a:extLst>
              <a:ext uri="{FF2B5EF4-FFF2-40B4-BE49-F238E27FC236}">
                <a16:creationId xmlns:a16="http://schemas.microsoft.com/office/drawing/2014/main" id="{551AA1F1-71A0-42C0-B08B-D920EFEEF0C7}"/>
              </a:ext>
            </a:extLst>
          </p:cNvPr>
          <p:cNvSpPr>
            <a:spLocks noGrp="1"/>
          </p:cNvSpPr>
          <p:nvPr>
            <p:ph type="sldNum" sz="quarter" idx="12"/>
          </p:nvPr>
        </p:nvSpPr>
        <p:spPr>
          <a:xfrm>
            <a:off x="6758880" y="6549061"/>
            <a:ext cx="2133600" cy="365125"/>
          </a:xfrm>
        </p:spPr>
        <p:txBody>
          <a:bodyPr/>
          <a:lstStyle/>
          <a:p>
            <a:fld id="{51D2D507-09EA-4C6F-96ED-053C801F8797}" type="slidenum">
              <a:rPr lang="zh-TW" altLang="en-US" smtClean="0"/>
              <a:t>28</a:t>
            </a:fld>
            <a:endParaRPr lang="zh-TW" altLang="en-US"/>
          </a:p>
        </p:txBody>
      </p:sp>
      <p:sp>
        <p:nvSpPr>
          <p:cNvPr id="3" name="矩形: 圓角 2">
            <a:extLst>
              <a:ext uri="{FF2B5EF4-FFF2-40B4-BE49-F238E27FC236}">
                <a16:creationId xmlns:a16="http://schemas.microsoft.com/office/drawing/2014/main" id="{75790D6E-2D04-411A-BFC8-C347B4B956D9}"/>
              </a:ext>
            </a:extLst>
          </p:cNvPr>
          <p:cNvSpPr/>
          <p:nvPr/>
        </p:nvSpPr>
        <p:spPr>
          <a:xfrm>
            <a:off x="25152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摘要</a:t>
            </a:r>
          </a:p>
        </p:txBody>
      </p:sp>
      <p:sp>
        <p:nvSpPr>
          <p:cNvPr id="5" name="矩形: 圓角 4">
            <a:extLst>
              <a:ext uri="{FF2B5EF4-FFF2-40B4-BE49-F238E27FC236}">
                <a16:creationId xmlns:a16="http://schemas.microsoft.com/office/drawing/2014/main" id="{EB952180-2843-4146-9D19-6FDFD185C28B}"/>
              </a:ext>
            </a:extLst>
          </p:cNvPr>
          <p:cNvSpPr/>
          <p:nvPr/>
        </p:nvSpPr>
        <p:spPr>
          <a:xfrm>
            <a:off x="2006760" y="899555"/>
            <a:ext cx="1620000" cy="576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說明書</a:t>
            </a:r>
          </a:p>
        </p:txBody>
      </p:sp>
      <p:sp>
        <p:nvSpPr>
          <p:cNvPr id="6" name="矩形: 圓角 5">
            <a:extLst>
              <a:ext uri="{FF2B5EF4-FFF2-40B4-BE49-F238E27FC236}">
                <a16:creationId xmlns:a16="http://schemas.microsoft.com/office/drawing/2014/main" id="{3DBC721F-F520-4FC1-AAD0-DF431ADFBD3A}"/>
              </a:ext>
            </a:extLst>
          </p:cNvPr>
          <p:cNvSpPr/>
          <p:nvPr/>
        </p:nvSpPr>
        <p:spPr>
          <a:xfrm>
            <a:off x="376200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圖式</a:t>
            </a:r>
          </a:p>
        </p:txBody>
      </p:sp>
      <p:sp>
        <p:nvSpPr>
          <p:cNvPr id="7" name="矩形: 圓角 6">
            <a:extLst>
              <a:ext uri="{FF2B5EF4-FFF2-40B4-BE49-F238E27FC236}">
                <a16:creationId xmlns:a16="http://schemas.microsoft.com/office/drawing/2014/main" id="{E6ADE02F-E608-43E6-89E9-71FBB45769D4}"/>
              </a:ext>
            </a:extLst>
          </p:cNvPr>
          <p:cNvSpPr/>
          <p:nvPr/>
        </p:nvSpPr>
        <p:spPr>
          <a:xfrm>
            <a:off x="551724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申請專利範圍</a:t>
            </a:r>
          </a:p>
        </p:txBody>
      </p:sp>
      <p:sp>
        <p:nvSpPr>
          <p:cNvPr id="8" name="矩形: 圓角 7">
            <a:extLst>
              <a:ext uri="{FF2B5EF4-FFF2-40B4-BE49-F238E27FC236}">
                <a16:creationId xmlns:a16="http://schemas.microsoft.com/office/drawing/2014/main" id="{C99F5EEB-9765-4652-99AD-CF8567054032}"/>
              </a:ext>
            </a:extLst>
          </p:cNvPr>
          <p:cNvSpPr/>
          <p:nvPr/>
        </p:nvSpPr>
        <p:spPr>
          <a:xfrm>
            <a:off x="727248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申請書</a:t>
            </a:r>
          </a:p>
        </p:txBody>
      </p:sp>
      <p:sp>
        <p:nvSpPr>
          <p:cNvPr id="12" name="矩形 11">
            <a:extLst>
              <a:ext uri="{FF2B5EF4-FFF2-40B4-BE49-F238E27FC236}">
                <a16:creationId xmlns:a16="http://schemas.microsoft.com/office/drawing/2014/main" id="{3DC581E6-1F84-4825-9CB6-060EEBC1D861}"/>
              </a:ext>
            </a:extLst>
          </p:cNvPr>
          <p:cNvSpPr/>
          <p:nvPr/>
        </p:nvSpPr>
        <p:spPr>
          <a:xfrm>
            <a:off x="251520" y="1844824"/>
            <a:ext cx="8640960" cy="4019336"/>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說明書應載明下列事項：</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發明名稱。</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技術領域。</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先前技術：申請人所知之先前技術，並得檢送該先前技術之相關資料。</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發明內容：發明所欲解決之問題、解決問題之技術手段及對照先前技術之功效。</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圖式簡單說明：有圖式者，應以簡明之文字依圖式之圖號順序說明圖式。</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實施方式：記載一個以上之實施方式，必要時得以實施例說明；有圖式者，應參照圖式加以說明。</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符號說明：有圖式者，應依圖號或符號順序列出圖式之主要符號並加以說明。</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發明專利審查基準</a:t>
            </a:r>
          </a:p>
        </p:txBody>
      </p:sp>
      <p:grpSp>
        <p:nvGrpSpPr>
          <p:cNvPr id="13" name="群組 12">
            <a:extLst>
              <a:ext uri="{FF2B5EF4-FFF2-40B4-BE49-F238E27FC236}">
                <a16:creationId xmlns:a16="http://schemas.microsoft.com/office/drawing/2014/main" id="{3FA09F20-CE4B-4CE0-ABB3-90CCB16FCFF9}"/>
              </a:ext>
            </a:extLst>
          </p:cNvPr>
          <p:cNvGrpSpPr/>
          <p:nvPr/>
        </p:nvGrpSpPr>
        <p:grpSpPr>
          <a:xfrm>
            <a:off x="53752" y="6139825"/>
            <a:ext cx="9036496" cy="498696"/>
            <a:chOff x="53752" y="6139825"/>
            <a:chExt cx="9036496" cy="498696"/>
          </a:xfrm>
        </p:grpSpPr>
        <p:sp>
          <p:nvSpPr>
            <p:cNvPr id="14" name="矩形 13">
              <a:extLst>
                <a:ext uri="{FF2B5EF4-FFF2-40B4-BE49-F238E27FC236}">
                  <a16:creationId xmlns:a16="http://schemas.microsoft.com/office/drawing/2014/main" id="{0699ED79-0ACE-4491-9B3C-390A16731D2F}"/>
                </a:ext>
              </a:extLst>
            </p:cNvPr>
            <p:cNvSpPr/>
            <p:nvPr/>
          </p:nvSpPr>
          <p:spPr>
            <a:xfrm>
              <a:off x="53752" y="6139825"/>
              <a:ext cx="9036496" cy="498696"/>
            </a:xfrm>
            <a:prstGeom prst="rect">
              <a:avLst/>
            </a:prstGeom>
            <a:gradFill flip="none" rotWithShape="1">
              <a:gsLst>
                <a:gs pos="55000">
                  <a:schemeClr val="accent4">
                    <a:lumMod val="20000"/>
                    <a:lumOff val="80000"/>
                  </a:schemeClr>
                </a:gs>
                <a:gs pos="0">
                  <a:schemeClr val="accent4">
                    <a:lumMod val="20000"/>
                    <a:lumOff val="80000"/>
                  </a:schemeClr>
                </a:gs>
                <a:gs pos="25000">
                  <a:schemeClr val="accent4">
                    <a:lumMod val="60000"/>
                    <a:lumOff val="40000"/>
                  </a:schemeClr>
                </a:gs>
                <a:gs pos="100000">
                  <a:schemeClr val="accent4">
                    <a:lumMod val="20000"/>
                    <a:lumOff val="80000"/>
                  </a:schemeClr>
                </a:gs>
                <a:gs pos="79000">
                  <a:schemeClr val="accent4">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文字方塊 14">
              <a:extLst>
                <a:ext uri="{FF2B5EF4-FFF2-40B4-BE49-F238E27FC236}">
                  <a16:creationId xmlns:a16="http://schemas.microsoft.com/office/drawing/2014/main" id="{0F4EB819-5368-4434-95F6-43ACB31159E3}"/>
                </a:ext>
              </a:extLst>
            </p:cNvPr>
            <p:cNvSpPr txBox="1"/>
            <p:nvPr/>
          </p:nvSpPr>
          <p:spPr>
            <a:xfrm>
              <a:off x="7759314" y="6201168"/>
              <a:ext cx="697627" cy="400110"/>
            </a:xfrm>
            <a:prstGeom prst="rect">
              <a:avLst/>
            </a:prstGeom>
            <a:noFill/>
          </p:spPr>
          <p:txBody>
            <a:bodyPr wrap="none" rtlCol="0">
              <a:spAutoFit/>
            </a:bodyPr>
            <a:lstStyle/>
            <a:p>
              <a:r>
                <a:rPr lang="zh-TW" altLang="en-US" sz="2000" dirty="0">
                  <a:effectLst>
                    <a:outerShdw blurRad="38100" dist="38100" dir="2700000" algn="tl">
                      <a:srgbClr val="000000">
                        <a:alpha val="43137"/>
                      </a:srgbClr>
                    </a:outerShdw>
                  </a:effectLst>
                </a:rPr>
                <a:t>法律</a:t>
              </a:r>
            </a:p>
          </p:txBody>
        </p:sp>
        <p:sp>
          <p:nvSpPr>
            <p:cNvPr id="16" name="文字方塊 15">
              <a:extLst>
                <a:ext uri="{FF2B5EF4-FFF2-40B4-BE49-F238E27FC236}">
                  <a16:creationId xmlns:a16="http://schemas.microsoft.com/office/drawing/2014/main" id="{06F016DE-4D06-4B9D-B09F-CC67645DDF43}"/>
                </a:ext>
              </a:extLst>
            </p:cNvPr>
            <p:cNvSpPr txBox="1"/>
            <p:nvPr/>
          </p:nvSpPr>
          <p:spPr>
            <a:xfrm>
              <a:off x="378770" y="6189118"/>
              <a:ext cx="697627" cy="400110"/>
            </a:xfrm>
            <a:prstGeom prst="rect">
              <a:avLst/>
            </a:prstGeom>
            <a:noFill/>
          </p:spPr>
          <p:txBody>
            <a:bodyPr wrap="none" rtlCol="0">
              <a:spAutoFit/>
            </a:bodyPr>
            <a:lstStyle/>
            <a:p>
              <a:r>
                <a:rPr lang="zh-TW" altLang="en-US" sz="2000" dirty="0">
                  <a:effectLst>
                    <a:outerShdw blurRad="38100" dist="38100" dir="2700000" algn="tl">
                      <a:srgbClr val="000000">
                        <a:alpha val="43137"/>
                      </a:srgbClr>
                    </a:outerShdw>
                  </a:effectLst>
                </a:rPr>
                <a:t>技術</a:t>
              </a:r>
            </a:p>
          </p:txBody>
        </p:sp>
        <p:cxnSp>
          <p:nvCxnSpPr>
            <p:cNvPr id="17" name="直線接點 16">
              <a:extLst>
                <a:ext uri="{FF2B5EF4-FFF2-40B4-BE49-F238E27FC236}">
                  <a16:creationId xmlns:a16="http://schemas.microsoft.com/office/drawing/2014/main" id="{E0CB6166-5D13-4226-99EC-AB038AD1AA84}"/>
                </a:ext>
              </a:extLst>
            </p:cNvPr>
            <p:cNvCxnSpPr>
              <a:cxnSpLocks/>
            </p:cNvCxnSpPr>
            <p:nvPr/>
          </p:nvCxnSpPr>
          <p:spPr>
            <a:xfrm>
              <a:off x="5486244" y="6139825"/>
              <a:ext cx="0" cy="49869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00946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B11EED-8220-4DBF-8890-586CBDA0197A}"/>
              </a:ext>
            </a:extLst>
          </p:cNvPr>
          <p:cNvSpPr>
            <a:spLocks noGrp="1"/>
          </p:cNvSpPr>
          <p:nvPr>
            <p:ph type="title"/>
          </p:nvPr>
        </p:nvSpPr>
        <p:spPr/>
        <p:txBody>
          <a:bodyPr/>
          <a:lstStyle/>
          <a:p>
            <a:r>
              <a:rPr lang="zh-TW" altLang="en-US" dirty="0"/>
              <a:t>專利文件</a:t>
            </a:r>
          </a:p>
        </p:txBody>
      </p:sp>
      <p:sp>
        <p:nvSpPr>
          <p:cNvPr id="4" name="投影片編號版面配置區 3">
            <a:extLst>
              <a:ext uri="{FF2B5EF4-FFF2-40B4-BE49-F238E27FC236}">
                <a16:creationId xmlns:a16="http://schemas.microsoft.com/office/drawing/2014/main" id="{551AA1F1-71A0-42C0-B08B-D920EFEEF0C7}"/>
              </a:ext>
            </a:extLst>
          </p:cNvPr>
          <p:cNvSpPr>
            <a:spLocks noGrp="1"/>
          </p:cNvSpPr>
          <p:nvPr>
            <p:ph type="sldNum" sz="quarter" idx="12"/>
          </p:nvPr>
        </p:nvSpPr>
        <p:spPr>
          <a:xfrm>
            <a:off x="6758880" y="6549061"/>
            <a:ext cx="2133600" cy="365125"/>
          </a:xfrm>
        </p:spPr>
        <p:txBody>
          <a:bodyPr/>
          <a:lstStyle/>
          <a:p>
            <a:fld id="{51D2D507-09EA-4C6F-96ED-053C801F8797}" type="slidenum">
              <a:rPr lang="zh-TW" altLang="en-US" smtClean="0"/>
              <a:t>29</a:t>
            </a:fld>
            <a:endParaRPr lang="zh-TW" altLang="en-US"/>
          </a:p>
        </p:txBody>
      </p:sp>
      <p:sp>
        <p:nvSpPr>
          <p:cNvPr id="3" name="矩形: 圓角 2">
            <a:extLst>
              <a:ext uri="{FF2B5EF4-FFF2-40B4-BE49-F238E27FC236}">
                <a16:creationId xmlns:a16="http://schemas.microsoft.com/office/drawing/2014/main" id="{75790D6E-2D04-411A-BFC8-C347B4B956D9}"/>
              </a:ext>
            </a:extLst>
          </p:cNvPr>
          <p:cNvSpPr/>
          <p:nvPr/>
        </p:nvSpPr>
        <p:spPr>
          <a:xfrm>
            <a:off x="25152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摘要</a:t>
            </a:r>
          </a:p>
        </p:txBody>
      </p:sp>
      <p:sp>
        <p:nvSpPr>
          <p:cNvPr id="5" name="矩形: 圓角 4">
            <a:extLst>
              <a:ext uri="{FF2B5EF4-FFF2-40B4-BE49-F238E27FC236}">
                <a16:creationId xmlns:a16="http://schemas.microsoft.com/office/drawing/2014/main" id="{EB952180-2843-4146-9D19-6FDFD185C28B}"/>
              </a:ext>
            </a:extLst>
          </p:cNvPr>
          <p:cNvSpPr/>
          <p:nvPr/>
        </p:nvSpPr>
        <p:spPr>
          <a:xfrm>
            <a:off x="200676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說明書</a:t>
            </a:r>
          </a:p>
        </p:txBody>
      </p:sp>
      <p:sp>
        <p:nvSpPr>
          <p:cNvPr id="6" name="矩形: 圓角 5">
            <a:extLst>
              <a:ext uri="{FF2B5EF4-FFF2-40B4-BE49-F238E27FC236}">
                <a16:creationId xmlns:a16="http://schemas.microsoft.com/office/drawing/2014/main" id="{3DBC721F-F520-4FC1-AAD0-DF431ADFBD3A}"/>
              </a:ext>
            </a:extLst>
          </p:cNvPr>
          <p:cNvSpPr/>
          <p:nvPr/>
        </p:nvSpPr>
        <p:spPr>
          <a:xfrm>
            <a:off x="3762000" y="899555"/>
            <a:ext cx="1620000" cy="576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圖式</a:t>
            </a:r>
          </a:p>
        </p:txBody>
      </p:sp>
      <p:sp>
        <p:nvSpPr>
          <p:cNvPr id="7" name="矩形: 圓角 6">
            <a:extLst>
              <a:ext uri="{FF2B5EF4-FFF2-40B4-BE49-F238E27FC236}">
                <a16:creationId xmlns:a16="http://schemas.microsoft.com/office/drawing/2014/main" id="{E6ADE02F-E608-43E6-89E9-71FBB45769D4}"/>
              </a:ext>
            </a:extLst>
          </p:cNvPr>
          <p:cNvSpPr/>
          <p:nvPr/>
        </p:nvSpPr>
        <p:spPr>
          <a:xfrm>
            <a:off x="551724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申請專利範圍</a:t>
            </a:r>
          </a:p>
        </p:txBody>
      </p:sp>
      <p:sp>
        <p:nvSpPr>
          <p:cNvPr id="8" name="矩形: 圓角 7">
            <a:extLst>
              <a:ext uri="{FF2B5EF4-FFF2-40B4-BE49-F238E27FC236}">
                <a16:creationId xmlns:a16="http://schemas.microsoft.com/office/drawing/2014/main" id="{C99F5EEB-9765-4652-99AD-CF8567054032}"/>
              </a:ext>
            </a:extLst>
          </p:cNvPr>
          <p:cNvSpPr/>
          <p:nvPr/>
        </p:nvSpPr>
        <p:spPr>
          <a:xfrm>
            <a:off x="727248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申請書</a:t>
            </a:r>
          </a:p>
        </p:txBody>
      </p:sp>
      <p:sp>
        <p:nvSpPr>
          <p:cNvPr id="12" name="矩形 11">
            <a:extLst>
              <a:ext uri="{FF2B5EF4-FFF2-40B4-BE49-F238E27FC236}">
                <a16:creationId xmlns:a16="http://schemas.microsoft.com/office/drawing/2014/main" id="{3DC581E6-1F84-4825-9CB6-060EEBC1D861}"/>
              </a:ext>
            </a:extLst>
          </p:cNvPr>
          <p:cNvSpPr/>
          <p:nvPr/>
        </p:nvSpPr>
        <p:spPr>
          <a:xfrm>
            <a:off x="251520" y="1844824"/>
            <a:ext cx="8640960" cy="4019336"/>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342900" indent="-342900">
              <a:buFont typeface="Arial" panose="020B0604020202020204" pitchFamily="34" charset="0"/>
              <a:buChar char="•"/>
            </a:pPr>
            <a:r>
              <a:rPr lang="zh-TW" altLang="en-US" sz="2000" b="0" i="0" dirty="0">
                <a:solidFill>
                  <a:srgbClr val="000000"/>
                </a:solidFill>
                <a:effectLst/>
                <a:latin typeface="微軟正黑體" panose="020B0604030504040204" pitchFamily="34" charset="-120"/>
                <a:ea typeface="微軟正黑體" panose="020B0604030504040204" pitchFamily="34" charset="-120"/>
              </a:rPr>
              <a:t>應參照</a:t>
            </a:r>
            <a:r>
              <a:rPr lang="zh-TW" altLang="en-US" sz="2000" b="1" i="0" u="sng" dirty="0">
                <a:solidFill>
                  <a:srgbClr val="000000"/>
                </a:solidFill>
                <a:effectLst/>
                <a:latin typeface="微軟正黑體" panose="020B0604030504040204" pitchFamily="34" charset="-120"/>
                <a:ea typeface="微軟正黑體" panose="020B0604030504040204" pitchFamily="34" charset="-120"/>
              </a:rPr>
              <a:t>工程製圖方法</a:t>
            </a:r>
            <a:r>
              <a:rPr lang="zh-TW" altLang="en-US" sz="2000" b="0" i="0" dirty="0">
                <a:solidFill>
                  <a:srgbClr val="000000"/>
                </a:solidFill>
                <a:effectLst/>
                <a:latin typeface="微軟正黑體" panose="020B0604030504040204" pitchFamily="34" charset="-120"/>
                <a:ea typeface="微軟正黑體" panose="020B0604030504040204" pitchFamily="34" charset="-120"/>
              </a:rPr>
              <a:t>以墨線繪製清晰，於各圖縮小至三分之二時，仍得</a:t>
            </a:r>
            <a:r>
              <a:rPr lang="zh-TW" altLang="en-US" sz="2000" b="1" i="0" u="sng" dirty="0">
                <a:solidFill>
                  <a:srgbClr val="000000"/>
                </a:solidFill>
                <a:effectLst/>
                <a:latin typeface="微軟正黑體" panose="020B0604030504040204" pitchFamily="34" charset="-120"/>
                <a:ea typeface="微軟正黑體" panose="020B0604030504040204" pitchFamily="34" charset="-120"/>
              </a:rPr>
              <a:t>清晰分辨</a:t>
            </a:r>
            <a:r>
              <a:rPr lang="zh-TW" altLang="en-US" sz="2000" b="0" i="0" dirty="0">
                <a:solidFill>
                  <a:srgbClr val="000000"/>
                </a:solidFill>
                <a:effectLst/>
                <a:latin typeface="微軟正黑體" panose="020B0604030504040204" pitchFamily="34" charset="-120"/>
                <a:ea typeface="微軟正黑體" panose="020B0604030504040204" pitchFamily="34" charset="-120"/>
              </a:rPr>
              <a:t>圖式中各項細節。</a:t>
            </a:r>
            <a:endParaRPr lang="en-US" altLang="zh-TW" sz="2000" b="0" i="0" dirty="0">
              <a:solidFill>
                <a:srgbClr val="000000"/>
              </a:solidFill>
              <a:effectLst/>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圖式應註明圖號及符號，並依圖號順序排列，除必要註記外，</a:t>
            </a:r>
            <a:r>
              <a:rPr lang="zh-TW" altLang="en-US" sz="2000" u="sng" dirty="0">
                <a:solidFill>
                  <a:schemeClr val="tx1"/>
                </a:solidFill>
                <a:latin typeface="微軟正黑體" panose="020B0604030504040204" pitchFamily="34" charset="-120"/>
                <a:ea typeface="微軟正黑體" panose="020B0604030504040204" pitchFamily="34" charset="-120"/>
              </a:rPr>
              <a:t>不得記載其他說明文字</a:t>
            </a:r>
            <a:r>
              <a:rPr lang="zh-TW" altLang="en-US" sz="2000" dirty="0">
                <a:solidFill>
                  <a:schemeClr val="tx1"/>
                </a:solidFill>
                <a:latin typeface="微軟正黑體" panose="020B0604030504040204" pitchFamily="34" charset="-120"/>
                <a:ea typeface="微軟正黑體" panose="020B0604030504040204" pitchFamily="34" charset="-120"/>
              </a:rPr>
              <a:t>。</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發明專利審查基準</a:t>
            </a:r>
          </a:p>
          <a:p>
            <a:endParaRPr lang="zh-TW" altLang="en-US" sz="2000" dirty="0">
              <a:solidFill>
                <a:schemeClr val="tx1"/>
              </a:solidFill>
              <a:latin typeface="微軟正黑體" panose="020B0604030504040204" pitchFamily="34" charset="-120"/>
              <a:ea typeface="微軟正黑體" panose="020B0604030504040204" pitchFamily="34" charset="-120"/>
            </a:endParaRPr>
          </a:p>
        </p:txBody>
      </p:sp>
      <p:grpSp>
        <p:nvGrpSpPr>
          <p:cNvPr id="13" name="群組 12">
            <a:extLst>
              <a:ext uri="{FF2B5EF4-FFF2-40B4-BE49-F238E27FC236}">
                <a16:creationId xmlns:a16="http://schemas.microsoft.com/office/drawing/2014/main" id="{BA6C9E15-176B-4995-84B3-EEDA1DF4C1DB}"/>
              </a:ext>
            </a:extLst>
          </p:cNvPr>
          <p:cNvGrpSpPr/>
          <p:nvPr/>
        </p:nvGrpSpPr>
        <p:grpSpPr>
          <a:xfrm>
            <a:off x="53752" y="6139825"/>
            <a:ext cx="9036496" cy="498696"/>
            <a:chOff x="53752" y="6139825"/>
            <a:chExt cx="9036496" cy="498696"/>
          </a:xfrm>
        </p:grpSpPr>
        <p:sp>
          <p:nvSpPr>
            <p:cNvPr id="14" name="矩形 13">
              <a:extLst>
                <a:ext uri="{FF2B5EF4-FFF2-40B4-BE49-F238E27FC236}">
                  <a16:creationId xmlns:a16="http://schemas.microsoft.com/office/drawing/2014/main" id="{5EB46872-4471-4C86-812D-980D2150BB5F}"/>
                </a:ext>
              </a:extLst>
            </p:cNvPr>
            <p:cNvSpPr/>
            <p:nvPr/>
          </p:nvSpPr>
          <p:spPr>
            <a:xfrm>
              <a:off x="53752" y="6139825"/>
              <a:ext cx="9036496" cy="498696"/>
            </a:xfrm>
            <a:prstGeom prst="rect">
              <a:avLst/>
            </a:prstGeom>
            <a:gradFill flip="none" rotWithShape="1">
              <a:gsLst>
                <a:gs pos="55000">
                  <a:schemeClr val="accent4">
                    <a:lumMod val="20000"/>
                    <a:lumOff val="80000"/>
                  </a:schemeClr>
                </a:gs>
                <a:gs pos="0">
                  <a:schemeClr val="accent4">
                    <a:lumMod val="20000"/>
                    <a:lumOff val="80000"/>
                  </a:schemeClr>
                </a:gs>
                <a:gs pos="25000">
                  <a:schemeClr val="accent4">
                    <a:lumMod val="60000"/>
                    <a:lumOff val="40000"/>
                  </a:schemeClr>
                </a:gs>
                <a:gs pos="100000">
                  <a:schemeClr val="accent4">
                    <a:lumMod val="20000"/>
                    <a:lumOff val="80000"/>
                  </a:schemeClr>
                </a:gs>
                <a:gs pos="79000">
                  <a:schemeClr val="accent4">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文字方塊 14">
              <a:extLst>
                <a:ext uri="{FF2B5EF4-FFF2-40B4-BE49-F238E27FC236}">
                  <a16:creationId xmlns:a16="http://schemas.microsoft.com/office/drawing/2014/main" id="{9258476D-698C-4291-A412-8104268FBD72}"/>
                </a:ext>
              </a:extLst>
            </p:cNvPr>
            <p:cNvSpPr txBox="1"/>
            <p:nvPr/>
          </p:nvSpPr>
          <p:spPr>
            <a:xfrm>
              <a:off x="7759314" y="6201168"/>
              <a:ext cx="697627" cy="400110"/>
            </a:xfrm>
            <a:prstGeom prst="rect">
              <a:avLst/>
            </a:prstGeom>
            <a:noFill/>
          </p:spPr>
          <p:txBody>
            <a:bodyPr wrap="none" rtlCol="0">
              <a:spAutoFit/>
            </a:bodyPr>
            <a:lstStyle/>
            <a:p>
              <a:r>
                <a:rPr lang="zh-TW" altLang="en-US" sz="2000" dirty="0">
                  <a:effectLst>
                    <a:outerShdw blurRad="38100" dist="38100" dir="2700000" algn="tl">
                      <a:srgbClr val="000000">
                        <a:alpha val="43137"/>
                      </a:srgbClr>
                    </a:outerShdw>
                  </a:effectLst>
                </a:rPr>
                <a:t>法律</a:t>
              </a:r>
            </a:p>
          </p:txBody>
        </p:sp>
        <p:sp>
          <p:nvSpPr>
            <p:cNvPr id="16" name="文字方塊 15">
              <a:extLst>
                <a:ext uri="{FF2B5EF4-FFF2-40B4-BE49-F238E27FC236}">
                  <a16:creationId xmlns:a16="http://schemas.microsoft.com/office/drawing/2014/main" id="{BFC3DD66-6A52-4E4B-8300-96F378D844DE}"/>
                </a:ext>
              </a:extLst>
            </p:cNvPr>
            <p:cNvSpPr txBox="1"/>
            <p:nvPr/>
          </p:nvSpPr>
          <p:spPr>
            <a:xfrm>
              <a:off x="378770" y="6189118"/>
              <a:ext cx="697627" cy="400110"/>
            </a:xfrm>
            <a:prstGeom prst="rect">
              <a:avLst/>
            </a:prstGeom>
            <a:noFill/>
          </p:spPr>
          <p:txBody>
            <a:bodyPr wrap="none" rtlCol="0">
              <a:spAutoFit/>
            </a:bodyPr>
            <a:lstStyle/>
            <a:p>
              <a:r>
                <a:rPr lang="zh-TW" altLang="en-US" sz="2000" dirty="0">
                  <a:effectLst>
                    <a:outerShdw blurRad="38100" dist="38100" dir="2700000" algn="tl">
                      <a:srgbClr val="000000">
                        <a:alpha val="43137"/>
                      </a:srgbClr>
                    </a:outerShdw>
                  </a:effectLst>
                </a:rPr>
                <a:t>技術</a:t>
              </a:r>
            </a:p>
          </p:txBody>
        </p:sp>
        <p:cxnSp>
          <p:nvCxnSpPr>
            <p:cNvPr id="17" name="直線接點 16">
              <a:extLst>
                <a:ext uri="{FF2B5EF4-FFF2-40B4-BE49-F238E27FC236}">
                  <a16:creationId xmlns:a16="http://schemas.microsoft.com/office/drawing/2014/main" id="{F3974FBE-BFAF-4997-947A-E078EE22DC3C}"/>
                </a:ext>
              </a:extLst>
            </p:cNvPr>
            <p:cNvCxnSpPr>
              <a:cxnSpLocks/>
            </p:cNvCxnSpPr>
            <p:nvPr/>
          </p:nvCxnSpPr>
          <p:spPr>
            <a:xfrm>
              <a:off x="5486244" y="6139825"/>
              <a:ext cx="0" cy="49869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412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B11EED-8220-4DBF-8890-586CBDA0197A}"/>
              </a:ext>
            </a:extLst>
          </p:cNvPr>
          <p:cNvSpPr>
            <a:spLocks noGrp="1"/>
          </p:cNvSpPr>
          <p:nvPr>
            <p:ph type="title"/>
          </p:nvPr>
        </p:nvSpPr>
        <p:spPr/>
        <p:txBody>
          <a:bodyPr/>
          <a:lstStyle/>
          <a:p>
            <a:r>
              <a:rPr lang="zh-TW" altLang="en-US" dirty="0"/>
              <a:t>專利文件</a:t>
            </a:r>
          </a:p>
        </p:txBody>
      </p:sp>
      <p:sp>
        <p:nvSpPr>
          <p:cNvPr id="4" name="投影片編號版面配置區 3">
            <a:extLst>
              <a:ext uri="{FF2B5EF4-FFF2-40B4-BE49-F238E27FC236}">
                <a16:creationId xmlns:a16="http://schemas.microsoft.com/office/drawing/2014/main" id="{551AA1F1-71A0-42C0-B08B-D920EFEEF0C7}"/>
              </a:ext>
            </a:extLst>
          </p:cNvPr>
          <p:cNvSpPr>
            <a:spLocks noGrp="1"/>
          </p:cNvSpPr>
          <p:nvPr>
            <p:ph type="sldNum" sz="quarter" idx="12"/>
          </p:nvPr>
        </p:nvSpPr>
        <p:spPr>
          <a:xfrm>
            <a:off x="6758880" y="6549061"/>
            <a:ext cx="2133600" cy="365125"/>
          </a:xfrm>
        </p:spPr>
        <p:txBody>
          <a:bodyPr/>
          <a:lstStyle/>
          <a:p>
            <a:fld id="{51D2D507-09EA-4C6F-96ED-053C801F8797}" type="slidenum">
              <a:rPr lang="zh-TW" altLang="en-US" smtClean="0"/>
              <a:t>30</a:t>
            </a:fld>
            <a:endParaRPr lang="zh-TW" altLang="en-US"/>
          </a:p>
        </p:txBody>
      </p:sp>
      <p:sp>
        <p:nvSpPr>
          <p:cNvPr id="3" name="矩形: 圓角 2">
            <a:extLst>
              <a:ext uri="{FF2B5EF4-FFF2-40B4-BE49-F238E27FC236}">
                <a16:creationId xmlns:a16="http://schemas.microsoft.com/office/drawing/2014/main" id="{75790D6E-2D04-411A-BFC8-C347B4B956D9}"/>
              </a:ext>
            </a:extLst>
          </p:cNvPr>
          <p:cNvSpPr/>
          <p:nvPr/>
        </p:nvSpPr>
        <p:spPr>
          <a:xfrm>
            <a:off x="25152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摘要</a:t>
            </a:r>
          </a:p>
        </p:txBody>
      </p:sp>
      <p:sp>
        <p:nvSpPr>
          <p:cNvPr id="5" name="矩形: 圓角 4">
            <a:extLst>
              <a:ext uri="{FF2B5EF4-FFF2-40B4-BE49-F238E27FC236}">
                <a16:creationId xmlns:a16="http://schemas.microsoft.com/office/drawing/2014/main" id="{EB952180-2843-4146-9D19-6FDFD185C28B}"/>
              </a:ext>
            </a:extLst>
          </p:cNvPr>
          <p:cNvSpPr/>
          <p:nvPr/>
        </p:nvSpPr>
        <p:spPr>
          <a:xfrm>
            <a:off x="200676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說明書</a:t>
            </a:r>
          </a:p>
        </p:txBody>
      </p:sp>
      <p:sp>
        <p:nvSpPr>
          <p:cNvPr id="6" name="矩形: 圓角 5">
            <a:extLst>
              <a:ext uri="{FF2B5EF4-FFF2-40B4-BE49-F238E27FC236}">
                <a16:creationId xmlns:a16="http://schemas.microsoft.com/office/drawing/2014/main" id="{3DBC721F-F520-4FC1-AAD0-DF431ADFBD3A}"/>
              </a:ext>
            </a:extLst>
          </p:cNvPr>
          <p:cNvSpPr/>
          <p:nvPr/>
        </p:nvSpPr>
        <p:spPr>
          <a:xfrm>
            <a:off x="376200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圖式</a:t>
            </a:r>
          </a:p>
        </p:txBody>
      </p:sp>
      <p:sp>
        <p:nvSpPr>
          <p:cNvPr id="7" name="矩形: 圓角 6">
            <a:extLst>
              <a:ext uri="{FF2B5EF4-FFF2-40B4-BE49-F238E27FC236}">
                <a16:creationId xmlns:a16="http://schemas.microsoft.com/office/drawing/2014/main" id="{E6ADE02F-E608-43E6-89E9-71FBB45769D4}"/>
              </a:ext>
            </a:extLst>
          </p:cNvPr>
          <p:cNvSpPr/>
          <p:nvPr/>
        </p:nvSpPr>
        <p:spPr>
          <a:xfrm>
            <a:off x="5517240" y="899555"/>
            <a:ext cx="1620000" cy="576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申請專利範圍</a:t>
            </a:r>
          </a:p>
        </p:txBody>
      </p:sp>
      <p:sp>
        <p:nvSpPr>
          <p:cNvPr id="8" name="矩形: 圓角 7">
            <a:extLst>
              <a:ext uri="{FF2B5EF4-FFF2-40B4-BE49-F238E27FC236}">
                <a16:creationId xmlns:a16="http://schemas.microsoft.com/office/drawing/2014/main" id="{C99F5EEB-9765-4652-99AD-CF8567054032}"/>
              </a:ext>
            </a:extLst>
          </p:cNvPr>
          <p:cNvSpPr/>
          <p:nvPr/>
        </p:nvSpPr>
        <p:spPr>
          <a:xfrm>
            <a:off x="727248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申請書</a:t>
            </a:r>
          </a:p>
        </p:txBody>
      </p:sp>
      <p:sp>
        <p:nvSpPr>
          <p:cNvPr id="12" name="矩形 11">
            <a:extLst>
              <a:ext uri="{FF2B5EF4-FFF2-40B4-BE49-F238E27FC236}">
                <a16:creationId xmlns:a16="http://schemas.microsoft.com/office/drawing/2014/main" id="{3DC581E6-1F84-4825-9CB6-060EEBC1D861}"/>
              </a:ext>
            </a:extLst>
          </p:cNvPr>
          <p:cNvSpPr/>
          <p:nvPr/>
        </p:nvSpPr>
        <p:spPr>
          <a:xfrm>
            <a:off x="251520" y="1844824"/>
            <a:ext cx="8640960" cy="4019336"/>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zh-TW" altLang="en-US" sz="2000" b="0" i="0" dirty="0">
                <a:solidFill>
                  <a:srgbClr val="000000"/>
                </a:solidFill>
                <a:effectLst/>
                <a:latin typeface="微軟正黑體" panose="020B0604030504040204" pitchFamily="34" charset="-120"/>
                <a:ea typeface="微軟正黑體" panose="020B0604030504040204" pitchFamily="34" charset="-120"/>
              </a:rPr>
              <a:t>發明之申請專利範圍，得以一項以上之獨立項表示；其項數應配合發明之內容；必要時，得有一項以上之附屬項。</a:t>
            </a:r>
            <a:r>
              <a:rPr lang="zh-TW" altLang="en-US" sz="2000" b="0" i="0" u="sng" dirty="0">
                <a:solidFill>
                  <a:srgbClr val="000000"/>
                </a:solidFill>
                <a:effectLst/>
                <a:latin typeface="微軟正黑體" panose="020B0604030504040204" pitchFamily="34" charset="-120"/>
                <a:ea typeface="微軟正黑體" panose="020B0604030504040204" pitchFamily="34" charset="-120"/>
              </a:rPr>
              <a:t>獨立項、附屬項，應以其依附關係，依序以阿拉伯數字編號排列</a:t>
            </a:r>
            <a:r>
              <a:rPr lang="zh-TW" altLang="en-US" sz="2000" b="0" i="0" dirty="0">
                <a:solidFill>
                  <a:srgbClr val="000000"/>
                </a:solidFill>
                <a:effectLst/>
                <a:latin typeface="微軟正黑體" panose="020B0604030504040204" pitchFamily="34" charset="-120"/>
                <a:ea typeface="微軟正黑體" panose="020B0604030504040204" pitchFamily="34" charset="-120"/>
              </a:rPr>
              <a:t>。</a:t>
            </a:r>
            <a:endParaRPr lang="en-US" altLang="zh-TW" sz="2000" b="0" i="0" dirty="0">
              <a:solidFill>
                <a:srgbClr val="000000"/>
              </a:solidFill>
              <a:effectLst/>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b="0" i="0" dirty="0">
                <a:solidFill>
                  <a:srgbClr val="000000"/>
                </a:solidFill>
                <a:effectLst/>
                <a:latin typeface="微軟正黑體" panose="020B0604030504040204" pitchFamily="34" charset="-120"/>
                <a:ea typeface="微軟正黑體" panose="020B0604030504040204" pitchFamily="34" charset="-120"/>
              </a:rPr>
              <a:t>獨立項應敘明申請專利之標的名稱及申請人所認定之發明之必要技術特徵。</a:t>
            </a:r>
            <a:endParaRPr lang="en-US" altLang="zh-TW" sz="2000" b="0" i="0" dirty="0">
              <a:solidFill>
                <a:srgbClr val="000000"/>
              </a:solidFill>
              <a:effectLst/>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b="0" i="0" dirty="0">
                <a:solidFill>
                  <a:srgbClr val="000000"/>
                </a:solidFill>
                <a:effectLst/>
                <a:latin typeface="微軟正黑體" panose="020B0604030504040204" pitchFamily="34" charset="-120"/>
                <a:ea typeface="微軟正黑體" panose="020B0604030504040204" pitchFamily="34" charset="-120"/>
              </a:rPr>
              <a:t>附屬項應敘明所依附之項號，並敘明標的名稱及所依附請求項外之技術特徵，其依附之項號並應以阿拉伯數字為之；於解釋附屬項時，應包含所依附請求項之所有技術特徵。</a:t>
            </a:r>
            <a:endParaRPr lang="en-US" altLang="zh-TW" sz="2000" b="0" i="0" dirty="0">
              <a:solidFill>
                <a:srgbClr val="000000"/>
              </a:solidFill>
              <a:effectLst/>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b="0" i="0" dirty="0">
                <a:solidFill>
                  <a:srgbClr val="000000"/>
                </a:solidFill>
                <a:effectLst/>
                <a:latin typeface="微軟正黑體" panose="020B0604030504040204" pitchFamily="34" charset="-120"/>
                <a:ea typeface="微軟正黑體" panose="020B0604030504040204" pitchFamily="34" charset="-120"/>
              </a:rPr>
              <a:t>依附於二項以上之附屬項為多項附屬項，應以</a:t>
            </a:r>
            <a:r>
              <a:rPr lang="zh-TW" altLang="en-US" sz="2000" b="0" i="0" u="sng" dirty="0">
                <a:solidFill>
                  <a:srgbClr val="000000"/>
                </a:solidFill>
                <a:effectLst/>
                <a:latin typeface="微軟正黑體" panose="020B0604030504040204" pitchFamily="34" charset="-120"/>
                <a:ea typeface="微軟正黑體" panose="020B0604030504040204" pitchFamily="34" charset="-120"/>
              </a:rPr>
              <a:t>選擇式</a:t>
            </a:r>
            <a:r>
              <a:rPr lang="zh-TW" altLang="en-US" sz="2000" b="0" i="0" dirty="0">
                <a:solidFill>
                  <a:srgbClr val="000000"/>
                </a:solidFill>
                <a:effectLst/>
                <a:latin typeface="微軟正黑體" panose="020B0604030504040204" pitchFamily="34" charset="-120"/>
                <a:ea typeface="微軟正黑體" panose="020B0604030504040204" pitchFamily="34" charset="-120"/>
              </a:rPr>
              <a:t>為之。</a:t>
            </a:r>
            <a:endParaRPr lang="en-US" altLang="zh-TW" sz="2000" b="0" i="0" dirty="0">
              <a:solidFill>
                <a:srgbClr val="000000"/>
              </a:solidFill>
              <a:effectLst/>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b="0" i="0" dirty="0">
                <a:solidFill>
                  <a:srgbClr val="000000"/>
                </a:solidFill>
                <a:effectLst/>
                <a:latin typeface="微軟正黑體" panose="020B0604030504040204" pitchFamily="34" charset="-120"/>
                <a:ea typeface="微軟正黑體" panose="020B0604030504040204" pitchFamily="34" charset="-120"/>
              </a:rPr>
              <a:t>附屬項僅得依附在前之獨立項或附屬項。但</a:t>
            </a:r>
            <a:r>
              <a:rPr lang="zh-TW" altLang="en-US" sz="2000" b="0" i="0" u="sng" dirty="0">
                <a:solidFill>
                  <a:srgbClr val="000000"/>
                </a:solidFill>
                <a:effectLst/>
                <a:latin typeface="微軟正黑體" panose="020B0604030504040204" pitchFamily="34" charset="-120"/>
                <a:ea typeface="微軟正黑體" panose="020B0604030504040204" pitchFamily="34" charset="-120"/>
              </a:rPr>
              <a:t>多項附屬項間不得直接或間接依附</a:t>
            </a:r>
            <a:r>
              <a:rPr lang="zh-TW" altLang="en-US" sz="2000" b="0" i="0" dirty="0">
                <a:solidFill>
                  <a:srgbClr val="000000"/>
                </a:solidFill>
                <a:effectLst/>
                <a:latin typeface="微軟正黑體" panose="020B0604030504040204" pitchFamily="34" charset="-120"/>
                <a:ea typeface="微軟正黑體" panose="020B0604030504040204" pitchFamily="34" charset="-120"/>
              </a:rPr>
              <a:t>。</a:t>
            </a:r>
            <a:endParaRPr lang="en-US" altLang="zh-TW" sz="2000" b="0" i="0" dirty="0">
              <a:solidFill>
                <a:srgbClr val="000000"/>
              </a:solidFill>
              <a:effectLst/>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b="0" i="0" dirty="0">
                <a:solidFill>
                  <a:srgbClr val="000000"/>
                </a:solidFill>
                <a:effectLst/>
                <a:latin typeface="微軟正黑體" panose="020B0604030504040204" pitchFamily="34" charset="-120"/>
                <a:ea typeface="微軟正黑體" panose="020B0604030504040204" pitchFamily="34" charset="-120"/>
              </a:rPr>
              <a:t>獨立項或附屬項之文字敘述，應以</a:t>
            </a:r>
            <a:r>
              <a:rPr lang="zh-TW" altLang="en-US" sz="2000" b="0" i="0" u="sng" dirty="0">
                <a:solidFill>
                  <a:srgbClr val="000000"/>
                </a:solidFill>
                <a:effectLst/>
                <a:latin typeface="微軟正黑體" panose="020B0604030504040204" pitchFamily="34" charset="-120"/>
                <a:ea typeface="微軟正黑體" panose="020B0604030504040204" pitchFamily="34" charset="-120"/>
              </a:rPr>
              <a:t>單句為之</a:t>
            </a:r>
            <a:r>
              <a:rPr lang="zh-TW" altLang="en-US" sz="2000" b="0" i="0" dirty="0">
                <a:solidFill>
                  <a:srgbClr val="000000"/>
                </a:solidFill>
                <a:effectLst/>
                <a:latin typeface="微軟正黑體" panose="020B0604030504040204" pitchFamily="34" charset="-120"/>
                <a:ea typeface="微軟正黑體" panose="020B0604030504040204" pitchFamily="34" charset="-120"/>
              </a:rPr>
              <a:t>。</a:t>
            </a:r>
            <a:endParaRPr lang="en-US" altLang="zh-TW" sz="2000" b="0" i="0" dirty="0">
              <a:solidFill>
                <a:srgbClr val="000000"/>
              </a:solidFill>
              <a:effectLst/>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a:solidFill>
                  <a:schemeClr val="tx1"/>
                </a:solidFill>
                <a:latin typeface="微軟正黑體" panose="020B0604030504040204" pitchFamily="34" charset="-120"/>
                <a:ea typeface="微軟正黑體" panose="020B0604030504040204" pitchFamily="34" charset="-120"/>
              </a:rPr>
              <a:t>發明專利審查基準</a:t>
            </a:r>
          </a:p>
          <a:p>
            <a:endParaRPr lang="zh-TW" altLang="en-US" sz="2000" dirty="0">
              <a:solidFill>
                <a:schemeClr val="tx1"/>
              </a:solidFill>
              <a:latin typeface="微軟正黑體" panose="020B0604030504040204" pitchFamily="34" charset="-120"/>
              <a:ea typeface="微軟正黑體" panose="020B0604030504040204" pitchFamily="34" charset="-120"/>
            </a:endParaRPr>
          </a:p>
        </p:txBody>
      </p:sp>
      <p:grpSp>
        <p:nvGrpSpPr>
          <p:cNvPr id="16" name="群組 15">
            <a:extLst>
              <a:ext uri="{FF2B5EF4-FFF2-40B4-BE49-F238E27FC236}">
                <a16:creationId xmlns:a16="http://schemas.microsoft.com/office/drawing/2014/main" id="{A1A1BCEC-6794-4FF8-B37F-0117893AE1D4}"/>
              </a:ext>
            </a:extLst>
          </p:cNvPr>
          <p:cNvGrpSpPr/>
          <p:nvPr/>
        </p:nvGrpSpPr>
        <p:grpSpPr>
          <a:xfrm>
            <a:off x="53752" y="6139825"/>
            <a:ext cx="9036496" cy="498696"/>
            <a:chOff x="53752" y="6139825"/>
            <a:chExt cx="9036496" cy="498696"/>
          </a:xfrm>
        </p:grpSpPr>
        <p:sp>
          <p:nvSpPr>
            <p:cNvPr id="9" name="矩形 8">
              <a:extLst>
                <a:ext uri="{FF2B5EF4-FFF2-40B4-BE49-F238E27FC236}">
                  <a16:creationId xmlns:a16="http://schemas.microsoft.com/office/drawing/2014/main" id="{2920E5C1-97A7-401B-A558-B93100B73C6B}"/>
                </a:ext>
              </a:extLst>
            </p:cNvPr>
            <p:cNvSpPr/>
            <p:nvPr/>
          </p:nvSpPr>
          <p:spPr>
            <a:xfrm>
              <a:off x="53752" y="6139825"/>
              <a:ext cx="9036496" cy="498696"/>
            </a:xfrm>
            <a:prstGeom prst="rect">
              <a:avLst/>
            </a:prstGeom>
            <a:gradFill flip="none" rotWithShape="1">
              <a:gsLst>
                <a:gs pos="55000">
                  <a:schemeClr val="accent4">
                    <a:lumMod val="20000"/>
                    <a:lumOff val="80000"/>
                  </a:schemeClr>
                </a:gs>
                <a:gs pos="0">
                  <a:schemeClr val="accent4">
                    <a:lumMod val="20000"/>
                    <a:lumOff val="80000"/>
                  </a:schemeClr>
                </a:gs>
                <a:gs pos="25000">
                  <a:schemeClr val="accent4">
                    <a:lumMod val="60000"/>
                    <a:lumOff val="40000"/>
                  </a:schemeClr>
                </a:gs>
                <a:gs pos="100000">
                  <a:schemeClr val="accent4">
                    <a:lumMod val="20000"/>
                    <a:lumOff val="80000"/>
                  </a:schemeClr>
                </a:gs>
                <a:gs pos="79000">
                  <a:schemeClr val="accent4">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文字方塊 9">
              <a:extLst>
                <a:ext uri="{FF2B5EF4-FFF2-40B4-BE49-F238E27FC236}">
                  <a16:creationId xmlns:a16="http://schemas.microsoft.com/office/drawing/2014/main" id="{900A7F22-ECE0-43D6-9922-9DBEF6BDB22E}"/>
                </a:ext>
              </a:extLst>
            </p:cNvPr>
            <p:cNvSpPr txBox="1"/>
            <p:nvPr/>
          </p:nvSpPr>
          <p:spPr>
            <a:xfrm>
              <a:off x="7759314" y="6201168"/>
              <a:ext cx="697627" cy="400110"/>
            </a:xfrm>
            <a:prstGeom prst="rect">
              <a:avLst/>
            </a:prstGeom>
            <a:noFill/>
          </p:spPr>
          <p:txBody>
            <a:bodyPr wrap="none" rtlCol="0">
              <a:spAutoFit/>
            </a:bodyPr>
            <a:lstStyle/>
            <a:p>
              <a:r>
                <a:rPr lang="zh-TW" altLang="en-US" sz="2000" dirty="0">
                  <a:effectLst>
                    <a:outerShdw blurRad="38100" dist="38100" dir="2700000" algn="tl">
                      <a:srgbClr val="000000">
                        <a:alpha val="43137"/>
                      </a:srgbClr>
                    </a:outerShdw>
                  </a:effectLst>
                </a:rPr>
                <a:t>法律</a:t>
              </a:r>
            </a:p>
          </p:txBody>
        </p:sp>
        <p:sp>
          <p:nvSpPr>
            <p:cNvPr id="11" name="文字方塊 10">
              <a:extLst>
                <a:ext uri="{FF2B5EF4-FFF2-40B4-BE49-F238E27FC236}">
                  <a16:creationId xmlns:a16="http://schemas.microsoft.com/office/drawing/2014/main" id="{5EADCBED-047F-463F-9103-9C7EE56D15AF}"/>
                </a:ext>
              </a:extLst>
            </p:cNvPr>
            <p:cNvSpPr txBox="1"/>
            <p:nvPr/>
          </p:nvSpPr>
          <p:spPr>
            <a:xfrm>
              <a:off x="378770" y="6189118"/>
              <a:ext cx="697627" cy="400110"/>
            </a:xfrm>
            <a:prstGeom prst="rect">
              <a:avLst/>
            </a:prstGeom>
            <a:noFill/>
          </p:spPr>
          <p:txBody>
            <a:bodyPr wrap="none" rtlCol="0">
              <a:spAutoFit/>
            </a:bodyPr>
            <a:lstStyle/>
            <a:p>
              <a:r>
                <a:rPr lang="zh-TW" altLang="en-US" sz="2000" dirty="0">
                  <a:effectLst>
                    <a:outerShdw blurRad="38100" dist="38100" dir="2700000" algn="tl">
                      <a:srgbClr val="000000">
                        <a:alpha val="43137"/>
                      </a:srgbClr>
                    </a:outerShdw>
                  </a:effectLst>
                </a:rPr>
                <a:t>技術</a:t>
              </a:r>
            </a:p>
          </p:txBody>
        </p:sp>
        <p:cxnSp>
          <p:nvCxnSpPr>
            <p:cNvPr id="14" name="直線接點 13">
              <a:extLst>
                <a:ext uri="{FF2B5EF4-FFF2-40B4-BE49-F238E27FC236}">
                  <a16:creationId xmlns:a16="http://schemas.microsoft.com/office/drawing/2014/main" id="{75D2BACE-2405-4CD0-840F-D60BA3D40CE0}"/>
                </a:ext>
              </a:extLst>
            </p:cNvPr>
            <p:cNvCxnSpPr>
              <a:cxnSpLocks/>
            </p:cNvCxnSpPr>
            <p:nvPr/>
          </p:nvCxnSpPr>
          <p:spPr>
            <a:xfrm>
              <a:off x="5486244" y="6139825"/>
              <a:ext cx="0" cy="49869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755769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B11EED-8220-4DBF-8890-586CBDA0197A}"/>
              </a:ext>
            </a:extLst>
          </p:cNvPr>
          <p:cNvSpPr>
            <a:spLocks noGrp="1"/>
          </p:cNvSpPr>
          <p:nvPr>
            <p:ph type="title"/>
          </p:nvPr>
        </p:nvSpPr>
        <p:spPr/>
        <p:txBody>
          <a:bodyPr/>
          <a:lstStyle/>
          <a:p>
            <a:r>
              <a:rPr lang="zh-TW" altLang="en-US" dirty="0"/>
              <a:t>專利文件</a:t>
            </a:r>
          </a:p>
        </p:txBody>
      </p:sp>
      <p:sp>
        <p:nvSpPr>
          <p:cNvPr id="4" name="投影片編號版面配置區 3">
            <a:extLst>
              <a:ext uri="{FF2B5EF4-FFF2-40B4-BE49-F238E27FC236}">
                <a16:creationId xmlns:a16="http://schemas.microsoft.com/office/drawing/2014/main" id="{551AA1F1-71A0-42C0-B08B-D920EFEEF0C7}"/>
              </a:ext>
            </a:extLst>
          </p:cNvPr>
          <p:cNvSpPr>
            <a:spLocks noGrp="1"/>
          </p:cNvSpPr>
          <p:nvPr>
            <p:ph type="sldNum" sz="quarter" idx="12"/>
          </p:nvPr>
        </p:nvSpPr>
        <p:spPr>
          <a:xfrm>
            <a:off x="6758880" y="6549061"/>
            <a:ext cx="2133600" cy="365125"/>
          </a:xfrm>
        </p:spPr>
        <p:txBody>
          <a:bodyPr/>
          <a:lstStyle/>
          <a:p>
            <a:fld id="{51D2D507-09EA-4C6F-96ED-053C801F8797}" type="slidenum">
              <a:rPr lang="zh-TW" altLang="en-US" smtClean="0"/>
              <a:t>31</a:t>
            </a:fld>
            <a:endParaRPr lang="zh-TW" altLang="en-US"/>
          </a:p>
        </p:txBody>
      </p:sp>
      <p:sp>
        <p:nvSpPr>
          <p:cNvPr id="3" name="矩形: 圓角 2">
            <a:extLst>
              <a:ext uri="{FF2B5EF4-FFF2-40B4-BE49-F238E27FC236}">
                <a16:creationId xmlns:a16="http://schemas.microsoft.com/office/drawing/2014/main" id="{75790D6E-2D04-411A-BFC8-C347B4B956D9}"/>
              </a:ext>
            </a:extLst>
          </p:cNvPr>
          <p:cNvSpPr/>
          <p:nvPr/>
        </p:nvSpPr>
        <p:spPr>
          <a:xfrm>
            <a:off x="25152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摘要</a:t>
            </a:r>
          </a:p>
        </p:txBody>
      </p:sp>
      <p:sp>
        <p:nvSpPr>
          <p:cNvPr id="5" name="矩形: 圓角 4">
            <a:extLst>
              <a:ext uri="{FF2B5EF4-FFF2-40B4-BE49-F238E27FC236}">
                <a16:creationId xmlns:a16="http://schemas.microsoft.com/office/drawing/2014/main" id="{EB952180-2843-4146-9D19-6FDFD185C28B}"/>
              </a:ext>
            </a:extLst>
          </p:cNvPr>
          <p:cNvSpPr/>
          <p:nvPr/>
        </p:nvSpPr>
        <p:spPr>
          <a:xfrm>
            <a:off x="200676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說明書</a:t>
            </a:r>
          </a:p>
        </p:txBody>
      </p:sp>
      <p:sp>
        <p:nvSpPr>
          <p:cNvPr id="6" name="矩形: 圓角 5">
            <a:extLst>
              <a:ext uri="{FF2B5EF4-FFF2-40B4-BE49-F238E27FC236}">
                <a16:creationId xmlns:a16="http://schemas.microsoft.com/office/drawing/2014/main" id="{3DBC721F-F520-4FC1-AAD0-DF431ADFBD3A}"/>
              </a:ext>
            </a:extLst>
          </p:cNvPr>
          <p:cNvSpPr/>
          <p:nvPr/>
        </p:nvSpPr>
        <p:spPr>
          <a:xfrm>
            <a:off x="376200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圖式</a:t>
            </a:r>
          </a:p>
        </p:txBody>
      </p:sp>
      <p:sp>
        <p:nvSpPr>
          <p:cNvPr id="7" name="矩形: 圓角 6">
            <a:extLst>
              <a:ext uri="{FF2B5EF4-FFF2-40B4-BE49-F238E27FC236}">
                <a16:creationId xmlns:a16="http://schemas.microsoft.com/office/drawing/2014/main" id="{E6ADE02F-E608-43E6-89E9-71FBB45769D4}"/>
              </a:ext>
            </a:extLst>
          </p:cNvPr>
          <p:cNvSpPr/>
          <p:nvPr/>
        </p:nvSpPr>
        <p:spPr>
          <a:xfrm>
            <a:off x="5517240" y="899555"/>
            <a:ext cx="1620000" cy="576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申請專利範圍</a:t>
            </a:r>
          </a:p>
        </p:txBody>
      </p:sp>
      <p:sp>
        <p:nvSpPr>
          <p:cNvPr id="8" name="矩形: 圓角 7">
            <a:extLst>
              <a:ext uri="{FF2B5EF4-FFF2-40B4-BE49-F238E27FC236}">
                <a16:creationId xmlns:a16="http://schemas.microsoft.com/office/drawing/2014/main" id="{C99F5EEB-9765-4652-99AD-CF8567054032}"/>
              </a:ext>
            </a:extLst>
          </p:cNvPr>
          <p:cNvSpPr/>
          <p:nvPr/>
        </p:nvSpPr>
        <p:spPr>
          <a:xfrm>
            <a:off x="7272480" y="899555"/>
            <a:ext cx="1620000" cy="576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申請書</a:t>
            </a:r>
          </a:p>
        </p:txBody>
      </p:sp>
      <p:sp>
        <p:nvSpPr>
          <p:cNvPr id="12" name="矩形 11">
            <a:extLst>
              <a:ext uri="{FF2B5EF4-FFF2-40B4-BE49-F238E27FC236}">
                <a16:creationId xmlns:a16="http://schemas.microsoft.com/office/drawing/2014/main" id="{3DC581E6-1F84-4825-9CB6-060EEBC1D861}"/>
              </a:ext>
            </a:extLst>
          </p:cNvPr>
          <p:cNvSpPr/>
          <p:nvPr/>
        </p:nvSpPr>
        <p:spPr>
          <a:xfrm>
            <a:off x="251520" y="1844824"/>
            <a:ext cx="8640960" cy="4019336"/>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zh-TW" altLang="en-US" sz="2000" b="0" i="0" dirty="0">
                <a:solidFill>
                  <a:srgbClr val="000000"/>
                </a:solidFill>
                <a:effectLst/>
                <a:latin typeface="微軟正黑體" panose="020B0604030504040204" pitchFamily="34" charset="-120"/>
                <a:ea typeface="微軟正黑體" panose="020B0604030504040204" pitchFamily="34" charset="-120"/>
              </a:rPr>
              <a:t>申請發明專利者，其申請書應載明下列事項：</a:t>
            </a:r>
            <a:endParaRPr lang="en-US" altLang="zh-TW" sz="2000" b="0" i="0" dirty="0">
              <a:solidFill>
                <a:srgbClr val="000000"/>
              </a:solidFill>
              <a:effectLst/>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發明名稱。</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發明人姓名、國籍。</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申請人姓名或名稱、國籍、住居所或營業所；有代表人者，並應載明代表人姓名。</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委任代理人者，其姓名、事務所。</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有下列情事之一，並應於申請時敘明之：</a:t>
            </a:r>
          </a:p>
          <a:p>
            <a:pPr marL="1200150" lvl="2"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主張國際優先權者。</a:t>
            </a:r>
          </a:p>
          <a:p>
            <a:pPr marL="1200150" lvl="2"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主張國內優先權者。</a:t>
            </a:r>
          </a:p>
          <a:p>
            <a:pPr marL="1200150" lvl="2"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聲明一案兩請者。</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以申請書、說明書、申請專利範圍及必要之圖式齊備之日為申請日。</a:t>
            </a:r>
          </a:p>
        </p:txBody>
      </p:sp>
      <p:grpSp>
        <p:nvGrpSpPr>
          <p:cNvPr id="13" name="群組 12">
            <a:extLst>
              <a:ext uri="{FF2B5EF4-FFF2-40B4-BE49-F238E27FC236}">
                <a16:creationId xmlns:a16="http://schemas.microsoft.com/office/drawing/2014/main" id="{25CDC032-3858-4980-B567-BDE85B21C2E3}"/>
              </a:ext>
            </a:extLst>
          </p:cNvPr>
          <p:cNvGrpSpPr/>
          <p:nvPr/>
        </p:nvGrpSpPr>
        <p:grpSpPr>
          <a:xfrm>
            <a:off x="53752" y="6139825"/>
            <a:ext cx="9036496" cy="498696"/>
            <a:chOff x="53752" y="6139825"/>
            <a:chExt cx="9036496" cy="498696"/>
          </a:xfrm>
        </p:grpSpPr>
        <p:sp>
          <p:nvSpPr>
            <p:cNvPr id="14" name="矩形 13">
              <a:extLst>
                <a:ext uri="{FF2B5EF4-FFF2-40B4-BE49-F238E27FC236}">
                  <a16:creationId xmlns:a16="http://schemas.microsoft.com/office/drawing/2014/main" id="{565F81E2-0AB6-443D-85EB-BE17D0974BBF}"/>
                </a:ext>
              </a:extLst>
            </p:cNvPr>
            <p:cNvSpPr/>
            <p:nvPr/>
          </p:nvSpPr>
          <p:spPr>
            <a:xfrm>
              <a:off x="53752" y="6139825"/>
              <a:ext cx="9036496" cy="498696"/>
            </a:xfrm>
            <a:prstGeom prst="rect">
              <a:avLst/>
            </a:prstGeom>
            <a:gradFill flip="none" rotWithShape="1">
              <a:gsLst>
                <a:gs pos="55000">
                  <a:schemeClr val="accent4">
                    <a:lumMod val="20000"/>
                    <a:lumOff val="80000"/>
                  </a:schemeClr>
                </a:gs>
                <a:gs pos="0">
                  <a:schemeClr val="accent4">
                    <a:lumMod val="20000"/>
                    <a:lumOff val="80000"/>
                  </a:schemeClr>
                </a:gs>
                <a:gs pos="25000">
                  <a:schemeClr val="accent4">
                    <a:lumMod val="60000"/>
                    <a:lumOff val="40000"/>
                  </a:schemeClr>
                </a:gs>
                <a:gs pos="100000">
                  <a:schemeClr val="accent4">
                    <a:lumMod val="20000"/>
                    <a:lumOff val="80000"/>
                  </a:schemeClr>
                </a:gs>
                <a:gs pos="79000">
                  <a:schemeClr val="accent4">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文字方塊 14">
              <a:extLst>
                <a:ext uri="{FF2B5EF4-FFF2-40B4-BE49-F238E27FC236}">
                  <a16:creationId xmlns:a16="http://schemas.microsoft.com/office/drawing/2014/main" id="{54482902-5C71-48F0-90B7-866E4611135B}"/>
                </a:ext>
              </a:extLst>
            </p:cNvPr>
            <p:cNvSpPr txBox="1"/>
            <p:nvPr/>
          </p:nvSpPr>
          <p:spPr>
            <a:xfrm>
              <a:off x="7759314" y="6201168"/>
              <a:ext cx="697627" cy="400110"/>
            </a:xfrm>
            <a:prstGeom prst="rect">
              <a:avLst/>
            </a:prstGeom>
            <a:noFill/>
          </p:spPr>
          <p:txBody>
            <a:bodyPr wrap="none" rtlCol="0">
              <a:spAutoFit/>
            </a:bodyPr>
            <a:lstStyle/>
            <a:p>
              <a:r>
                <a:rPr lang="zh-TW" altLang="en-US" sz="2000" dirty="0">
                  <a:effectLst>
                    <a:outerShdw blurRad="38100" dist="38100" dir="2700000" algn="tl">
                      <a:srgbClr val="000000">
                        <a:alpha val="43137"/>
                      </a:srgbClr>
                    </a:outerShdw>
                  </a:effectLst>
                </a:rPr>
                <a:t>法律</a:t>
              </a:r>
            </a:p>
          </p:txBody>
        </p:sp>
        <p:sp>
          <p:nvSpPr>
            <p:cNvPr id="16" name="文字方塊 15">
              <a:extLst>
                <a:ext uri="{FF2B5EF4-FFF2-40B4-BE49-F238E27FC236}">
                  <a16:creationId xmlns:a16="http://schemas.microsoft.com/office/drawing/2014/main" id="{64BF742A-0FA0-409F-9AA4-F0F703A15D9C}"/>
                </a:ext>
              </a:extLst>
            </p:cNvPr>
            <p:cNvSpPr txBox="1"/>
            <p:nvPr/>
          </p:nvSpPr>
          <p:spPr>
            <a:xfrm>
              <a:off x="378770" y="6189118"/>
              <a:ext cx="697627" cy="400110"/>
            </a:xfrm>
            <a:prstGeom prst="rect">
              <a:avLst/>
            </a:prstGeom>
            <a:noFill/>
          </p:spPr>
          <p:txBody>
            <a:bodyPr wrap="none" rtlCol="0">
              <a:spAutoFit/>
            </a:bodyPr>
            <a:lstStyle/>
            <a:p>
              <a:r>
                <a:rPr lang="zh-TW" altLang="en-US" sz="2000" dirty="0">
                  <a:effectLst>
                    <a:outerShdw blurRad="38100" dist="38100" dir="2700000" algn="tl">
                      <a:srgbClr val="000000">
                        <a:alpha val="43137"/>
                      </a:srgbClr>
                    </a:outerShdw>
                  </a:effectLst>
                </a:rPr>
                <a:t>技術</a:t>
              </a:r>
            </a:p>
          </p:txBody>
        </p:sp>
        <p:cxnSp>
          <p:nvCxnSpPr>
            <p:cNvPr id="17" name="直線接點 16">
              <a:extLst>
                <a:ext uri="{FF2B5EF4-FFF2-40B4-BE49-F238E27FC236}">
                  <a16:creationId xmlns:a16="http://schemas.microsoft.com/office/drawing/2014/main" id="{DD8D9280-DAE3-48CF-A824-06BE52882A4B}"/>
                </a:ext>
              </a:extLst>
            </p:cNvPr>
            <p:cNvCxnSpPr>
              <a:cxnSpLocks/>
            </p:cNvCxnSpPr>
            <p:nvPr/>
          </p:nvCxnSpPr>
          <p:spPr>
            <a:xfrm>
              <a:off x="5486244" y="6139825"/>
              <a:ext cx="0" cy="49869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999601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6C16CD-8AA2-4D05-B009-F02E46FA9247}"/>
              </a:ext>
            </a:extLst>
          </p:cNvPr>
          <p:cNvSpPr>
            <a:spLocks noGrp="1"/>
          </p:cNvSpPr>
          <p:nvPr>
            <p:ph type="title"/>
          </p:nvPr>
        </p:nvSpPr>
        <p:spPr/>
        <p:txBody>
          <a:bodyPr/>
          <a:lstStyle/>
          <a:p>
            <a:r>
              <a:rPr lang="zh-TW" altLang="en-US" dirty="0"/>
              <a:t>專利要件</a:t>
            </a:r>
          </a:p>
        </p:txBody>
      </p:sp>
      <p:sp>
        <p:nvSpPr>
          <p:cNvPr id="4" name="投影片編號版面配置區 3">
            <a:extLst>
              <a:ext uri="{FF2B5EF4-FFF2-40B4-BE49-F238E27FC236}">
                <a16:creationId xmlns:a16="http://schemas.microsoft.com/office/drawing/2014/main" id="{248273A1-9491-4DEA-A76B-E0191101BFB1}"/>
              </a:ext>
            </a:extLst>
          </p:cNvPr>
          <p:cNvSpPr>
            <a:spLocks noGrp="1"/>
          </p:cNvSpPr>
          <p:nvPr>
            <p:ph type="sldNum" sz="quarter" idx="12"/>
          </p:nvPr>
        </p:nvSpPr>
        <p:spPr/>
        <p:txBody>
          <a:bodyPr/>
          <a:lstStyle/>
          <a:p>
            <a:fld id="{51D2D507-09EA-4C6F-96ED-053C801F8797}" type="slidenum">
              <a:rPr lang="zh-TW" altLang="en-US" smtClean="0"/>
              <a:t>32</a:t>
            </a:fld>
            <a:endParaRPr lang="zh-TW" altLang="en-US"/>
          </a:p>
        </p:txBody>
      </p:sp>
      <p:grpSp>
        <p:nvGrpSpPr>
          <p:cNvPr id="38" name="群組 37">
            <a:extLst>
              <a:ext uri="{FF2B5EF4-FFF2-40B4-BE49-F238E27FC236}">
                <a16:creationId xmlns:a16="http://schemas.microsoft.com/office/drawing/2014/main" id="{F9FBABD9-56B3-4266-8869-A5F05DECB90B}"/>
              </a:ext>
            </a:extLst>
          </p:cNvPr>
          <p:cNvGrpSpPr/>
          <p:nvPr/>
        </p:nvGrpSpPr>
        <p:grpSpPr>
          <a:xfrm>
            <a:off x="206054" y="844395"/>
            <a:ext cx="8731891" cy="799355"/>
            <a:chOff x="228272" y="2776783"/>
            <a:chExt cx="8731891" cy="799355"/>
          </a:xfrm>
        </p:grpSpPr>
        <p:sp>
          <p:nvSpPr>
            <p:cNvPr id="32" name="手繪多邊形: 圖案 31">
              <a:extLst>
                <a:ext uri="{FF2B5EF4-FFF2-40B4-BE49-F238E27FC236}">
                  <a16:creationId xmlns:a16="http://schemas.microsoft.com/office/drawing/2014/main" id="{65741CEC-7773-4620-9797-73E69E9D5056}"/>
                </a:ext>
              </a:extLst>
            </p:cNvPr>
            <p:cNvSpPr/>
            <p:nvPr/>
          </p:nvSpPr>
          <p:spPr>
            <a:xfrm>
              <a:off x="228272" y="2776783"/>
              <a:ext cx="1608788" cy="799355"/>
            </a:xfrm>
            <a:custGeom>
              <a:avLst/>
              <a:gdLst>
                <a:gd name="connsiteX0" fmla="*/ 0 w 1608788"/>
                <a:gd name="connsiteY0" fmla="*/ 0 h 799355"/>
                <a:gd name="connsiteX1" fmla="*/ 1209111 w 1608788"/>
                <a:gd name="connsiteY1" fmla="*/ 0 h 799355"/>
                <a:gd name="connsiteX2" fmla="*/ 1608788 w 1608788"/>
                <a:gd name="connsiteY2" fmla="*/ 399678 h 799355"/>
                <a:gd name="connsiteX3" fmla="*/ 1209111 w 1608788"/>
                <a:gd name="connsiteY3" fmla="*/ 799355 h 799355"/>
                <a:gd name="connsiteX4" fmla="*/ 0 w 1608788"/>
                <a:gd name="connsiteY4" fmla="*/ 799355 h 799355"/>
                <a:gd name="connsiteX5" fmla="*/ 399678 w 1608788"/>
                <a:gd name="connsiteY5" fmla="*/ 399678 h 799355"/>
                <a:gd name="connsiteX6" fmla="*/ 0 w 1608788"/>
                <a:gd name="connsiteY6" fmla="*/ 0 h 799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355">
                  <a:moveTo>
                    <a:pt x="0" y="0"/>
                  </a:moveTo>
                  <a:lnTo>
                    <a:pt x="1209111" y="0"/>
                  </a:lnTo>
                  <a:lnTo>
                    <a:pt x="1608788" y="399678"/>
                  </a:lnTo>
                  <a:lnTo>
                    <a:pt x="1209111" y="799355"/>
                  </a:lnTo>
                  <a:lnTo>
                    <a:pt x="0" y="799355"/>
                  </a:lnTo>
                  <a:lnTo>
                    <a:pt x="399678" y="399678"/>
                  </a:lnTo>
                  <a:lnTo>
                    <a:pt x="0" y="0"/>
                  </a:lnTo>
                  <a:close/>
                </a:path>
              </a:pathLst>
            </a:custGeom>
          </p:spPr>
          <p:style>
            <a:lnRef idx="0">
              <a:schemeClr val="accent4"/>
            </a:lnRef>
            <a:fillRef idx="3">
              <a:schemeClr val="accent4"/>
            </a:fillRef>
            <a:effectRef idx="3">
              <a:schemeClr val="accent4"/>
            </a:effectRef>
            <a:fontRef idx="minor">
              <a:schemeClr val="lt1"/>
            </a:fontRef>
          </p:style>
          <p:txBody>
            <a:bodyPr spcFirstLastPara="0" vert="horz" wrap="square" lIns="471687" tIns="24003" rIns="423680"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法定不予專利</a:t>
              </a:r>
            </a:p>
          </p:txBody>
        </p:sp>
        <p:sp>
          <p:nvSpPr>
            <p:cNvPr id="33" name="手繪多邊形: 圖案 32">
              <a:extLst>
                <a:ext uri="{FF2B5EF4-FFF2-40B4-BE49-F238E27FC236}">
                  <a16:creationId xmlns:a16="http://schemas.microsoft.com/office/drawing/2014/main" id="{C0FA3C7A-37C0-4331-A1CC-8574B911A991}"/>
                </a:ext>
              </a:extLst>
            </p:cNvPr>
            <p:cNvSpPr/>
            <p:nvPr/>
          </p:nvSpPr>
          <p:spPr>
            <a:xfrm>
              <a:off x="1652893"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1">
              <a:schemeClr val="accent4"/>
            </a:lnRef>
            <a:fillRef idx="3">
              <a:schemeClr val="accent4"/>
            </a:fillRef>
            <a:effectRef idx="2">
              <a:schemeClr val="accent4"/>
            </a:effectRef>
            <a:fontRef idx="minor">
              <a:schemeClr val="lt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發明定義</a:t>
              </a:r>
            </a:p>
          </p:txBody>
        </p:sp>
        <p:sp>
          <p:nvSpPr>
            <p:cNvPr id="34" name="手繪多邊形: 圖案 33">
              <a:extLst>
                <a:ext uri="{FF2B5EF4-FFF2-40B4-BE49-F238E27FC236}">
                  <a16:creationId xmlns:a16="http://schemas.microsoft.com/office/drawing/2014/main" id="{81049DBA-0F1C-4BBA-AFB0-4FFA5540BCEF}"/>
                </a:ext>
              </a:extLst>
            </p:cNvPr>
            <p:cNvSpPr/>
            <p:nvPr/>
          </p:nvSpPr>
          <p:spPr>
            <a:xfrm>
              <a:off x="3077514"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1">
              <a:schemeClr val="dk1"/>
            </a:lnRef>
            <a:fillRef idx="2">
              <a:schemeClr val="dk1"/>
            </a:fillRef>
            <a:effectRef idx="1">
              <a:schemeClr val="dk1"/>
            </a:effectRef>
            <a:fontRef idx="minor">
              <a:schemeClr val="dk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揭露要件</a:t>
              </a:r>
            </a:p>
          </p:txBody>
        </p:sp>
        <p:sp>
          <p:nvSpPr>
            <p:cNvPr id="35" name="手繪多邊形: 圖案 34">
              <a:extLst>
                <a:ext uri="{FF2B5EF4-FFF2-40B4-BE49-F238E27FC236}">
                  <a16:creationId xmlns:a16="http://schemas.microsoft.com/office/drawing/2014/main" id="{DC886ECF-EFE7-4C89-AB34-EFE6C57DDD84}"/>
                </a:ext>
              </a:extLst>
            </p:cNvPr>
            <p:cNvSpPr/>
            <p:nvPr/>
          </p:nvSpPr>
          <p:spPr>
            <a:xfrm>
              <a:off x="4502135"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1">
              <a:schemeClr val="dk1"/>
            </a:lnRef>
            <a:fillRef idx="2">
              <a:schemeClr val="dk1"/>
            </a:fillRef>
            <a:effectRef idx="1">
              <a:schemeClr val="dk1"/>
            </a:effectRef>
            <a:fontRef idx="minor">
              <a:schemeClr val="dk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產業利用性</a:t>
              </a:r>
            </a:p>
          </p:txBody>
        </p:sp>
        <p:sp>
          <p:nvSpPr>
            <p:cNvPr id="36" name="手繪多邊形: 圖案 35">
              <a:extLst>
                <a:ext uri="{FF2B5EF4-FFF2-40B4-BE49-F238E27FC236}">
                  <a16:creationId xmlns:a16="http://schemas.microsoft.com/office/drawing/2014/main" id="{7E429521-4340-407A-8DCC-D69E2F51AD47}"/>
                </a:ext>
              </a:extLst>
            </p:cNvPr>
            <p:cNvSpPr/>
            <p:nvPr/>
          </p:nvSpPr>
          <p:spPr>
            <a:xfrm>
              <a:off x="5926756"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1">
              <a:schemeClr val="dk1"/>
            </a:lnRef>
            <a:fillRef idx="2">
              <a:schemeClr val="dk1"/>
            </a:fillRef>
            <a:effectRef idx="1">
              <a:schemeClr val="dk1"/>
            </a:effectRef>
            <a:fontRef idx="minor">
              <a:schemeClr val="dk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新穎性</a:t>
              </a:r>
            </a:p>
          </p:txBody>
        </p:sp>
        <p:sp>
          <p:nvSpPr>
            <p:cNvPr id="37" name="手繪多邊形: 圖案 36">
              <a:extLst>
                <a:ext uri="{FF2B5EF4-FFF2-40B4-BE49-F238E27FC236}">
                  <a16:creationId xmlns:a16="http://schemas.microsoft.com/office/drawing/2014/main" id="{CA6ED132-D892-4BB3-9DB7-352D25ED4C2A}"/>
                </a:ext>
              </a:extLst>
            </p:cNvPr>
            <p:cNvSpPr/>
            <p:nvPr/>
          </p:nvSpPr>
          <p:spPr>
            <a:xfrm>
              <a:off x="7351375"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1">
              <a:schemeClr val="dk1"/>
            </a:lnRef>
            <a:fillRef idx="2">
              <a:schemeClr val="dk1"/>
            </a:fillRef>
            <a:effectRef idx="1">
              <a:schemeClr val="dk1"/>
            </a:effectRef>
            <a:fontRef idx="minor">
              <a:schemeClr val="dk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進步性</a:t>
              </a:r>
            </a:p>
          </p:txBody>
        </p:sp>
      </p:grpSp>
      <p:sp>
        <p:nvSpPr>
          <p:cNvPr id="39" name="矩形 38">
            <a:extLst>
              <a:ext uri="{FF2B5EF4-FFF2-40B4-BE49-F238E27FC236}">
                <a16:creationId xmlns:a16="http://schemas.microsoft.com/office/drawing/2014/main" id="{406F0CA8-51F3-4911-A48C-E684FEC3DF0F}"/>
              </a:ext>
            </a:extLst>
          </p:cNvPr>
          <p:cNvSpPr/>
          <p:nvPr/>
        </p:nvSpPr>
        <p:spPr>
          <a:xfrm>
            <a:off x="217365" y="2132856"/>
            <a:ext cx="8640960" cy="4019336"/>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不予發明專利：</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動、植物及生產動、植物之主要生物學方法。但微生物學之生產方法，不在此限。</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人類或動物之診斷、治療或外科手術方法。</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妨害公共秩序或善良風俗者。</a:t>
            </a:r>
            <a:endParaRPr lang="en-US" altLang="zh-TW" sz="2000" dirty="0">
              <a:solidFill>
                <a:schemeClr val="tx1"/>
              </a:solidFill>
              <a:latin typeface="微軟正黑體" panose="020B0604030504040204" pitchFamily="34" charset="-120"/>
              <a:ea typeface="微軟正黑體" panose="020B0604030504040204" pitchFamily="34" charset="-120"/>
            </a:endParaRPr>
          </a:p>
          <a:p>
            <a:pPr lvl="1"/>
            <a:endParaRPr lang="zh-TW" altLang="en-US" sz="2000" dirty="0">
              <a:solidFill>
                <a:schemeClr val="tx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發明，指利用自然法則之技術思想之創作。</a:t>
            </a:r>
          </a:p>
        </p:txBody>
      </p:sp>
    </p:spTree>
    <p:extLst>
      <p:ext uri="{BB962C8B-B14F-4D97-AF65-F5344CB8AC3E}">
        <p14:creationId xmlns:p14="http://schemas.microsoft.com/office/powerpoint/2010/main" val="12610268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6C16CD-8AA2-4D05-B009-F02E46FA9247}"/>
              </a:ext>
            </a:extLst>
          </p:cNvPr>
          <p:cNvSpPr>
            <a:spLocks noGrp="1"/>
          </p:cNvSpPr>
          <p:nvPr>
            <p:ph type="title"/>
          </p:nvPr>
        </p:nvSpPr>
        <p:spPr/>
        <p:txBody>
          <a:bodyPr/>
          <a:lstStyle/>
          <a:p>
            <a:r>
              <a:rPr lang="zh-TW" altLang="en-US" dirty="0"/>
              <a:t>專利要件</a:t>
            </a:r>
          </a:p>
        </p:txBody>
      </p:sp>
      <p:sp>
        <p:nvSpPr>
          <p:cNvPr id="4" name="投影片編號版面配置區 3">
            <a:extLst>
              <a:ext uri="{FF2B5EF4-FFF2-40B4-BE49-F238E27FC236}">
                <a16:creationId xmlns:a16="http://schemas.microsoft.com/office/drawing/2014/main" id="{248273A1-9491-4DEA-A76B-E0191101BFB1}"/>
              </a:ext>
            </a:extLst>
          </p:cNvPr>
          <p:cNvSpPr>
            <a:spLocks noGrp="1"/>
          </p:cNvSpPr>
          <p:nvPr>
            <p:ph type="sldNum" sz="quarter" idx="12"/>
          </p:nvPr>
        </p:nvSpPr>
        <p:spPr/>
        <p:txBody>
          <a:bodyPr/>
          <a:lstStyle/>
          <a:p>
            <a:fld id="{51D2D507-09EA-4C6F-96ED-053C801F8797}" type="slidenum">
              <a:rPr lang="zh-TW" altLang="en-US" smtClean="0"/>
              <a:t>33</a:t>
            </a:fld>
            <a:endParaRPr lang="zh-TW" altLang="en-US"/>
          </a:p>
        </p:txBody>
      </p:sp>
      <p:grpSp>
        <p:nvGrpSpPr>
          <p:cNvPr id="38" name="群組 37">
            <a:extLst>
              <a:ext uri="{FF2B5EF4-FFF2-40B4-BE49-F238E27FC236}">
                <a16:creationId xmlns:a16="http://schemas.microsoft.com/office/drawing/2014/main" id="{F9FBABD9-56B3-4266-8869-A5F05DECB90B}"/>
              </a:ext>
            </a:extLst>
          </p:cNvPr>
          <p:cNvGrpSpPr/>
          <p:nvPr/>
        </p:nvGrpSpPr>
        <p:grpSpPr>
          <a:xfrm>
            <a:off x="206054" y="844395"/>
            <a:ext cx="8731891" cy="799355"/>
            <a:chOff x="228272" y="2776783"/>
            <a:chExt cx="8731891" cy="799355"/>
          </a:xfrm>
        </p:grpSpPr>
        <p:sp>
          <p:nvSpPr>
            <p:cNvPr id="32" name="手繪多邊形: 圖案 31">
              <a:extLst>
                <a:ext uri="{FF2B5EF4-FFF2-40B4-BE49-F238E27FC236}">
                  <a16:creationId xmlns:a16="http://schemas.microsoft.com/office/drawing/2014/main" id="{65741CEC-7773-4620-9797-73E69E9D5056}"/>
                </a:ext>
              </a:extLst>
            </p:cNvPr>
            <p:cNvSpPr/>
            <p:nvPr/>
          </p:nvSpPr>
          <p:spPr>
            <a:xfrm>
              <a:off x="228272" y="2776783"/>
              <a:ext cx="1608788" cy="799355"/>
            </a:xfrm>
            <a:custGeom>
              <a:avLst/>
              <a:gdLst>
                <a:gd name="connsiteX0" fmla="*/ 0 w 1608788"/>
                <a:gd name="connsiteY0" fmla="*/ 0 h 799355"/>
                <a:gd name="connsiteX1" fmla="*/ 1209111 w 1608788"/>
                <a:gd name="connsiteY1" fmla="*/ 0 h 799355"/>
                <a:gd name="connsiteX2" fmla="*/ 1608788 w 1608788"/>
                <a:gd name="connsiteY2" fmla="*/ 399678 h 799355"/>
                <a:gd name="connsiteX3" fmla="*/ 1209111 w 1608788"/>
                <a:gd name="connsiteY3" fmla="*/ 799355 h 799355"/>
                <a:gd name="connsiteX4" fmla="*/ 0 w 1608788"/>
                <a:gd name="connsiteY4" fmla="*/ 799355 h 799355"/>
                <a:gd name="connsiteX5" fmla="*/ 399678 w 1608788"/>
                <a:gd name="connsiteY5" fmla="*/ 399678 h 799355"/>
                <a:gd name="connsiteX6" fmla="*/ 0 w 1608788"/>
                <a:gd name="connsiteY6" fmla="*/ 0 h 799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355">
                  <a:moveTo>
                    <a:pt x="0" y="0"/>
                  </a:moveTo>
                  <a:lnTo>
                    <a:pt x="1209111" y="0"/>
                  </a:lnTo>
                  <a:lnTo>
                    <a:pt x="1608788" y="399678"/>
                  </a:lnTo>
                  <a:lnTo>
                    <a:pt x="1209111" y="799355"/>
                  </a:lnTo>
                  <a:lnTo>
                    <a:pt x="0" y="799355"/>
                  </a:lnTo>
                  <a:lnTo>
                    <a:pt x="399678" y="399678"/>
                  </a:lnTo>
                  <a:lnTo>
                    <a:pt x="0" y="0"/>
                  </a:lnTo>
                  <a:close/>
                </a:path>
              </a:pathLst>
            </a:custGeom>
          </p:spPr>
          <p:style>
            <a:lnRef idx="1">
              <a:schemeClr val="dk1"/>
            </a:lnRef>
            <a:fillRef idx="2">
              <a:schemeClr val="dk1"/>
            </a:fillRef>
            <a:effectRef idx="1">
              <a:schemeClr val="dk1"/>
            </a:effectRef>
            <a:fontRef idx="minor">
              <a:schemeClr val="dk1"/>
            </a:fontRef>
          </p:style>
          <p:txBody>
            <a:bodyPr spcFirstLastPara="0" vert="horz" wrap="square" lIns="471687" tIns="24003" rIns="423680"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法定不予專利</a:t>
              </a:r>
            </a:p>
          </p:txBody>
        </p:sp>
        <p:sp>
          <p:nvSpPr>
            <p:cNvPr id="33" name="手繪多邊形: 圖案 32">
              <a:extLst>
                <a:ext uri="{FF2B5EF4-FFF2-40B4-BE49-F238E27FC236}">
                  <a16:creationId xmlns:a16="http://schemas.microsoft.com/office/drawing/2014/main" id="{C0FA3C7A-37C0-4331-A1CC-8574B911A991}"/>
                </a:ext>
              </a:extLst>
            </p:cNvPr>
            <p:cNvSpPr/>
            <p:nvPr/>
          </p:nvSpPr>
          <p:spPr>
            <a:xfrm>
              <a:off x="1652893"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1">
              <a:schemeClr val="dk1"/>
            </a:lnRef>
            <a:fillRef idx="2">
              <a:schemeClr val="dk1"/>
            </a:fillRef>
            <a:effectRef idx="1">
              <a:schemeClr val="dk1"/>
            </a:effectRef>
            <a:fontRef idx="minor">
              <a:schemeClr val="dk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發明定義</a:t>
              </a:r>
            </a:p>
          </p:txBody>
        </p:sp>
        <p:sp>
          <p:nvSpPr>
            <p:cNvPr id="34" name="手繪多邊形: 圖案 33">
              <a:extLst>
                <a:ext uri="{FF2B5EF4-FFF2-40B4-BE49-F238E27FC236}">
                  <a16:creationId xmlns:a16="http://schemas.microsoft.com/office/drawing/2014/main" id="{81049DBA-0F1C-4BBA-AFB0-4FFA5540BCEF}"/>
                </a:ext>
              </a:extLst>
            </p:cNvPr>
            <p:cNvSpPr/>
            <p:nvPr/>
          </p:nvSpPr>
          <p:spPr>
            <a:xfrm>
              <a:off x="3077514"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0">
              <a:schemeClr val="accent4"/>
            </a:lnRef>
            <a:fillRef idx="3">
              <a:schemeClr val="accent4"/>
            </a:fillRef>
            <a:effectRef idx="3">
              <a:schemeClr val="accent4"/>
            </a:effectRef>
            <a:fontRef idx="minor">
              <a:schemeClr val="lt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揭露要件</a:t>
              </a:r>
            </a:p>
          </p:txBody>
        </p:sp>
        <p:sp>
          <p:nvSpPr>
            <p:cNvPr id="35" name="手繪多邊形: 圖案 34">
              <a:extLst>
                <a:ext uri="{FF2B5EF4-FFF2-40B4-BE49-F238E27FC236}">
                  <a16:creationId xmlns:a16="http://schemas.microsoft.com/office/drawing/2014/main" id="{DC886ECF-EFE7-4C89-AB34-EFE6C57DDD84}"/>
                </a:ext>
              </a:extLst>
            </p:cNvPr>
            <p:cNvSpPr/>
            <p:nvPr/>
          </p:nvSpPr>
          <p:spPr>
            <a:xfrm>
              <a:off x="4502135"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1">
              <a:schemeClr val="dk1"/>
            </a:lnRef>
            <a:fillRef idx="2">
              <a:schemeClr val="dk1"/>
            </a:fillRef>
            <a:effectRef idx="1">
              <a:schemeClr val="dk1"/>
            </a:effectRef>
            <a:fontRef idx="minor">
              <a:schemeClr val="dk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產業利用性</a:t>
              </a:r>
            </a:p>
          </p:txBody>
        </p:sp>
        <p:sp>
          <p:nvSpPr>
            <p:cNvPr id="36" name="手繪多邊形: 圖案 35">
              <a:extLst>
                <a:ext uri="{FF2B5EF4-FFF2-40B4-BE49-F238E27FC236}">
                  <a16:creationId xmlns:a16="http://schemas.microsoft.com/office/drawing/2014/main" id="{7E429521-4340-407A-8DCC-D69E2F51AD47}"/>
                </a:ext>
              </a:extLst>
            </p:cNvPr>
            <p:cNvSpPr/>
            <p:nvPr/>
          </p:nvSpPr>
          <p:spPr>
            <a:xfrm>
              <a:off x="5926756"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1">
              <a:schemeClr val="dk1"/>
            </a:lnRef>
            <a:fillRef idx="2">
              <a:schemeClr val="dk1"/>
            </a:fillRef>
            <a:effectRef idx="1">
              <a:schemeClr val="dk1"/>
            </a:effectRef>
            <a:fontRef idx="minor">
              <a:schemeClr val="dk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新穎性</a:t>
              </a:r>
            </a:p>
          </p:txBody>
        </p:sp>
        <p:sp>
          <p:nvSpPr>
            <p:cNvPr id="37" name="手繪多邊形: 圖案 36">
              <a:extLst>
                <a:ext uri="{FF2B5EF4-FFF2-40B4-BE49-F238E27FC236}">
                  <a16:creationId xmlns:a16="http://schemas.microsoft.com/office/drawing/2014/main" id="{CA6ED132-D892-4BB3-9DB7-352D25ED4C2A}"/>
                </a:ext>
              </a:extLst>
            </p:cNvPr>
            <p:cNvSpPr/>
            <p:nvPr/>
          </p:nvSpPr>
          <p:spPr>
            <a:xfrm>
              <a:off x="7351375"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1">
              <a:schemeClr val="dk1"/>
            </a:lnRef>
            <a:fillRef idx="2">
              <a:schemeClr val="dk1"/>
            </a:fillRef>
            <a:effectRef idx="1">
              <a:schemeClr val="dk1"/>
            </a:effectRef>
            <a:fontRef idx="minor">
              <a:schemeClr val="dk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進步性</a:t>
              </a:r>
            </a:p>
          </p:txBody>
        </p:sp>
      </p:grpSp>
      <p:sp>
        <p:nvSpPr>
          <p:cNvPr id="39" name="矩形 38">
            <a:extLst>
              <a:ext uri="{FF2B5EF4-FFF2-40B4-BE49-F238E27FC236}">
                <a16:creationId xmlns:a16="http://schemas.microsoft.com/office/drawing/2014/main" id="{406F0CA8-51F3-4911-A48C-E684FEC3DF0F}"/>
              </a:ext>
            </a:extLst>
          </p:cNvPr>
          <p:cNvSpPr/>
          <p:nvPr/>
        </p:nvSpPr>
        <p:spPr>
          <a:xfrm>
            <a:off x="217365" y="2132856"/>
            <a:ext cx="8640960" cy="4019336"/>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說明書應</a:t>
            </a:r>
            <a:r>
              <a:rPr lang="zh-TW" altLang="en-US" sz="2000" u="sng" dirty="0">
                <a:solidFill>
                  <a:schemeClr val="tx1"/>
                </a:solidFill>
                <a:latin typeface="微軟正黑體" panose="020B0604030504040204" pitchFamily="34" charset="-120"/>
                <a:ea typeface="微軟正黑體" panose="020B0604030504040204" pitchFamily="34" charset="-120"/>
              </a:rPr>
              <a:t>明確且充分揭露</a:t>
            </a:r>
            <a:r>
              <a:rPr lang="zh-TW" altLang="en-US" sz="2000" dirty="0">
                <a:solidFill>
                  <a:schemeClr val="tx1"/>
                </a:solidFill>
                <a:latin typeface="微軟正黑體" panose="020B0604030504040204" pitchFamily="34" charset="-120"/>
                <a:ea typeface="微軟正黑體" panose="020B0604030504040204" pitchFamily="34" charset="-120"/>
              </a:rPr>
              <a:t>，使該發明所屬技術領域中具有通常知識者，能瞭解其內容，並</a:t>
            </a:r>
            <a:r>
              <a:rPr lang="zh-TW" altLang="en-US" sz="2000" b="1" u="sng" dirty="0">
                <a:solidFill>
                  <a:schemeClr val="tx1"/>
                </a:solidFill>
                <a:latin typeface="微軟正黑體" panose="020B0604030504040204" pitchFamily="34" charset="-120"/>
                <a:ea typeface="微軟正黑體" panose="020B0604030504040204" pitchFamily="34" charset="-120"/>
              </a:rPr>
              <a:t>可據以實現</a:t>
            </a:r>
            <a:r>
              <a:rPr lang="zh-TW" altLang="en-US" sz="2000" dirty="0">
                <a:solidFill>
                  <a:schemeClr val="tx1"/>
                </a:solidFill>
                <a:latin typeface="微軟正黑體" panose="020B0604030504040204" pitchFamily="34" charset="-120"/>
                <a:ea typeface="微軟正黑體" panose="020B0604030504040204" pitchFamily="34" charset="-120"/>
              </a:rPr>
              <a:t>。</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申請專利範圍應界定申請專利之發明；其得包括一項以上之請求項，各請求項應以</a:t>
            </a:r>
            <a:r>
              <a:rPr lang="zh-TW" altLang="en-US" sz="2000" u="sng" dirty="0">
                <a:solidFill>
                  <a:schemeClr val="tx1"/>
                </a:solidFill>
                <a:latin typeface="微軟正黑體" panose="020B0604030504040204" pitchFamily="34" charset="-120"/>
                <a:ea typeface="微軟正黑體" panose="020B0604030504040204" pitchFamily="34" charset="-120"/>
              </a:rPr>
              <a:t>明確、簡潔之方式記載，且必須為說明書所支持</a:t>
            </a:r>
            <a:r>
              <a:rPr lang="zh-TW" altLang="en-US" sz="2000" dirty="0">
                <a:solidFill>
                  <a:schemeClr val="tx1"/>
                </a:solidFill>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摘要應敘明所揭露發明內容之概要；其不得用於決定揭露是否充分，及申請專利之發明是否符合專利要件。</a:t>
            </a:r>
          </a:p>
          <a:p>
            <a:pPr marL="285750"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說明書、申請專利範圍、摘要及圖式之揭露方式，於本法施行細則定之。</a:t>
            </a:r>
          </a:p>
        </p:txBody>
      </p:sp>
    </p:spTree>
    <p:extLst>
      <p:ext uri="{BB962C8B-B14F-4D97-AF65-F5344CB8AC3E}">
        <p14:creationId xmlns:p14="http://schemas.microsoft.com/office/powerpoint/2010/main" val="33045816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6C16CD-8AA2-4D05-B009-F02E46FA9247}"/>
              </a:ext>
            </a:extLst>
          </p:cNvPr>
          <p:cNvSpPr>
            <a:spLocks noGrp="1"/>
          </p:cNvSpPr>
          <p:nvPr>
            <p:ph type="title"/>
          </p:nvPr>
        </p:nvSpPr>
        <p:spPr/>
        <p:txBody>
          <a:bodyPr/>
          <a:lstStyle/>
          <a:p>
            <a:r>
              <a:rPr lang="zh-TW" altLang="en-US" dirty="0"/>
              <a:t>專利要件</a:t>
            </a:r>
          </a:p>
        </p:txBody>
      </p:sp>
      <p:sp>
        <p:nvSpPr>
          <p:cNvPr id="4" name="投影片編號版面配置區 3">
            <a:extLst>
              <a:ext uri="{FF2B5EF4-FFF2-40B4-BE49-F238E27FC236}">
                <a16:creationId xmlns:a16="http://schemas.microsoft.com/office/drawing/2014/main" id="{248273A1-9491-4DEA-A76B-E0191101BFB1}"/>
              </a:ext>
            </a:extLst>
          </p:cNvPr>
          <p:cNvSpPr>
            <a:spLocks noGrp="1"/>
          </p:cNvSpPr>
          <p:nvPr>
            <p:ph type="sldNum" sz="quarter" idx="12"/>
          </p:nvPr>
        </p:nvSpPr>
        <p:spPr/>
        <p:txBody>
          <a:bodyPr/>
          <a:lstStyle/>
          <a:p>
            <a:fld id="{51D2D507-09EA-4C6F-96ED-053C801F8797}" type="slidenum">
              <a:rPr lang="zh-TW" altLang="en-US" smtClean="0"/>
              <a:t>34</a:t>
            </a:fld>
            <a:endParaRPr lang="zh-TW" altLang="en-US"/>
          </a:p>
        </p:txBody>
      </p:sp>
      <p:grpSp>
        <p:nvGrpSpPr>
          <p:cNvPr id="38" name="群組 37">
            <a:extLst>
              <a:ext uri="{FF2B5EF4-FFF2-40B4-BE49-F238E27FC236}">
                <a16:creationId xmlns:a16="http://schemas.microsoft.com/office/drawing/2014/main" id="{F9FBABD9-56B3-4266-8869-A5F05DECB90B}"/>
              </a:ext>
            </a:extLst>
          </p:cNvPr>
          <p:cNvGrpSpPr/>
          <p:nvPr/>
        </p:nvGrpSpPr>
        <p:grpSpPr>
          <a:xfrm>
            <a:off x="206054" y="844395"/>
            <a:ext cx="8731891" cy="799355"/>
            <a:chOff x="228272" y="2776783"/>
            <a:chExt cx="8731891" cy="799355"/>
          </a:xfrm>
        </p:grpSpPr>
        <p:sp>
          <p:nvSpPr>
            <p:cNvPr id="32" name="手繪多邊形: 圖案 31">
              <a:extLst>
                <a:ext uri="{FF2B5EF4-FFF2-40B4-BE49-F238E27FC236}">
                  <a16:creationId xmlns:a16="http://schemas.microsoft.com/office/drawing/2014/main" id="{65741CEC-7773-4620-9797-73E69E9D5056}"/>
                </a:ext>
              </a:extLst>
            </p:cNvPr>
            <p:cNvSpPr/>
            <p:nvPr/>
          </p:nvSpPr>
          <p:spPr>
            <a:xfrm>
              <a:off x="228272" y="2776783"/>
              <a:ext cx="1608788" cy="799355"/>
            </a:xfrm>
            <a:custGeom>
              <a:avLst/>
              <a:gdLst>
                <a:gd name="connsiteX0" fmla="*/ 0 w 1608788"/>
                <a:gd name="connsiteY0" fmla="*/ 0 h 799355"/>
                <a:gd name="connsiteX1" fmla="*/ 1209111 w 1608788"/>
                <a:gd name="connsiteY1" fmla="*/ 0 h 799355"/>
                <a:gd name="connsiteX2" fmla="*/ 1608788 w 1608788"/>
                <a:gd name="connsiteY2" fmla="*/ 399678 h 799355"/>
                <a:gd name="connsiteX3" fmla="*/ 1209111 w 1608788"/>
                <a:gd name="connsiteY3" fmla="*/ 799355 h 799355"/>
                <a:gd name="connsiteX4" fmla="*/ 0 w 1608788"/>
                <a:gd name="connsiteY4" fmla="*/ 799355 h 799355"/>
                <a:gd name="connsiteX5" fmla="*/ 399678 w 1608788"/>
                <a:gd name="connsiteY5" fmla="*/ 399678 h 799355"/>
                <a:gd name="connsiteX6" fmla="*/ 0 w 1608788"/>
                <a:gd name="connsiteY6" fmla="*/ 0 h 799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355">
                  <a:moveTo>
                    <a:pt x="0" y="0"/>
                  </a:moveTo>
                  <a:lnTo>
                    <a:pt x="1209111" y="0"/>
                  </a:lnTo>
                  <a:lnTo>
                    <a:pt x="1608788" y="399678"/>
                  </a:lnTo>
                  <a:lnTo>
                    <a:pt x="1209111" y="799355"/>
                  </a:lnTo>
                  <a:lnTo>
                    <a:pt x="0" y="799355"/>
                  </a:lnTo>
                  <a:lnTo>
                    <a:pt x="399678" y="399678"/>
                  </a:lnTo>
                  <a:lnTo>
                    <a:pt x="0" y="0"/>
                  </a:lnTo>
                  <a:close/>
                </a:path>
              </a:pathLst>
            </a:custGeom>
          </p:spPr>
          <p:style>
            <a:lnRef idx="1">
              <a:schemeClr val="dk1"/>
            </a:lnRef>
            <a:fillRef idx="2">
              <a:schemeClr val="dk1"/>
            </a:fillRef>
            <a:effectRef idx="1">
              <a:schemeClr val="dk1"/>
            </a:effectRef>
            <a:fontRef idx="minor">
              <a:schemeClr val="dk1"/>
            </a:fontRef>
          </p:style>
          <p:txBody>
            <a:bodyPr spcFirstLastPara="0" vert="horz" wrap="square" lIns="471687" tIns="24003" rIns="423680"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法定不予專利</a:t>
              </a:r>
            </a:p>
          </p:txBody>
        </p:sp>
        <p:sp>
          <p:nvSpPr>
            <p:cNvPr id="33" name="手繪多邊形: 圖案 32">
              <a:extLst>
                <a:ext uri="{FF2B5EF4-FFF2-40B4-BE49-F238E27FC236}">
                  <a16:creationId xmlns:a16="http://schemas.microsoft.com/office/drawing/2014/main" id="{C0FA3C7A-37C0-4331-A1CC-8574B911A991}"/>
                </a:ext>
              </a:extLst>
            </p:cNvPr>
            <p:cNvSpPr/>
            <p:nvPr/>
          </p:nvSpPr>
          <p:spPr>
            <a:xfrm>
              <a:off x="1652893"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1">
              <a:schemeClr val="dk1"/>
            </a:lnRef>
            <a:fillRef idx="2">
              <a:schemeClr val="dk1"/>
            </a:fillRef>
            <a:effectRef idx="1">
              <a:schemeClr val="dk1"/>
            </a:effectRef>
            <a:fontRef idx="minor">
              <a:schemeClr val="dk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發明定義</a:t>
              </a:r>
            </a:p>
          </p:txBody>
        </p:sp>
        <p:sp>
          <p:nvSpPr>
            <p:cNvPr id="34" name="手繪多邊形: 圖案 33">
              <a:extLst>
                <a:ext uri="{FF2B5EF4-FFF2-40B4-BE49-F238E27FC236}">
                  <a16:creationId xmlns:a16="http://schemas.microsoft.com/office/drawing/2014/main" id="{81049DBA-0F1C-4BBA-AFB0-4FFA5540BCEF}"/>
                </a:ext>
              </a:extLst>
            </p:cNvPr>
            <p:cNvSpPr/>
            <p:nvPr/>
          </p:nvSpPr>
          <p:spPr>
            <a:xfrm>
              <a:off x="3077514"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1">
              <a:schemeClr val="dk1"/>
            </a:lnRef>
            <a:fillRef idx="2">
              <a:schemeClr val="dk1"/>
            </a:fillRef>
            <a:effectRef idx="1">
              <a:schemeClr val="dk1"/>
            </a:effectRef>
            <a:fontRef idx="minor">
              <a:schemeClr val="dk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揭露要件</a:t>
              </a:r>
            </a:p>
          </p:txBody>
        </p:sp>
        <p:sp>
          <p:nvSpPr>
            <p:cNvPr id="35" name="手繪多邊形: 圖案 34">
              <a:extLst>
                <a:ext uri="{FF2B5EF4-FFF2-40B4-BE49-F238E27FC236}">
                  <a16:creationId xmlns:a16="http://schemas.microsoft.com/office/drawing/2014/main" id="{DC886ECF-EFE7-4C89-AB34-EFE6C57DDD84}"/>
                </a:ext>
              </a:extLst>
            </p:cNvPr>
            <p:cNvSpPr/>
            <p:nvPr/>
          </p:nvSpPr>
          <p:spPr>
            <a:xfrm>
              <a:off x="4502135"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0">
              <a:schemeClr val="accent4"/>
            </a:lnRef>
            <a:fillRef idx="3">
              <a:schemeClr val="accent4"/>
            </a:fillRef>
            <a:effectRef idx="3">
              <a:schemeClr val="accent4"/>
            </a:effectRef>
            <a:fontRef idx="minor">
              <a:schemeClr val="lt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產業利用性</a:t>
              </a:r>
            </a:p>
          </p:txBody>
        </p:sp>
        <p:sp>
          <p:nvSpPr>
            <p:cNvPr id="36" name="手繪多邊形: 圖案 35">
              <a:extLst>
                <a:ext uri="{FF2B5EF4-FFF2-40B4-BE49-F238E27FC236}">
                  <a16:creationId xmlns:a16="http://schemas.microsoft.com/office/drawing/2014/main" id="{7E429521-4340-407A-8DCC-D69E2F51AD47}"/>
                </a:ext>
              </a:extLst>
            </p:cNvPr>
            <p:cNvSpPr/>
            <p:nvPr/>
          </p:nvSpPr>
          <p:spPr>
            <a:xfrm>
              <a:off x="5926756"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0">
              <a:schemeClr val="accent4"/>
            </a:lnRef>
            <a:fillRef idx="3">
              <a:schemeClr val="accent4"/>
            </a:fillRef>
            <a:effectRef idx="3">
              <a:schemeClr val="accent4"/>
            </a:effectRef>
            <a:fontRef idx="minor">
              <a:schemeClr val="lt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新穎性</a:t>
              </a:r>
            </a:p>
          </p:txBody>
        </p:sp>
        <p:sp>
          <p:nvSpPr>
            <p:cNvPr id="37" name="手繪多邊形: 圖案 36">
              <a:extLst>
                <a:ext uri="{FF2B5EF4-FFF2-40B4-BE49-F238E27FC236}">
                  <a16:creationId xmlns:a16="http://schemas.microsoft.com/office/drawing/2014/main" id="{CA6ED132-D892-4BB3-9DB7-352D25ED4C2A}"/>
                </a:ext>
              </a:extLst>
            </p:cNvPr>
            <p:cNvSpPr/>
            <p:nvPr/>
          </p:nvSpPr>
          <p:spPr>
            <a:xfrm>
              <a:off x="7351375" y="2776938"/>
              <a:ext cx="1608788" cy="799200"/>
            </a:xfrm>
            <a:custGeom>
              <a:avLst/>
              <a:gdLst>
                <a:gd name="connsiteX0" fmla="*/ 0 w 1608788"/>
                <a:gd name="connsiteY0" fmla="*/ 0 h 799200"/>
                <a:gd name="connsiteX1" fmla="*/ 1209188 w 1608788"/>
                <a:gd name="connsiteY1" fmla="*/ 0 h 799200"/>
                <a:gd name="connsiteX2" fmla="*/ 1608788 w 1608788"/>
                <a:gd name="connsiteY2" fmla="*/ 399600 h 799200"/>
                <a:gd name="connsiteX3" fmla="*/ 1209188 w 1608788"/>
                <a:gd name="connsiteY3" fmla="*/ 799200 h 799200"/>
                <a:gd name="connsiteX4" fmla="*/ 0 w 1608788"/>
                <a:gd name="connsiteY4" fmla="*/ 799200 h 799200"/>
                <a:gd name="connsiteX5" fmla="*/ 399600 w 1608788"/>
                <a:gd name="connsiteY5" fmla="*/ 399600 h 799200"/>
                <a:gd name="connsiteX6" fmla="*/ 0 w 1608788"/>
                <a:gd name="connsiteY6" fmla="*/ 0 h 79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8788" h="799200">
                  <a:moveTo>
                    <a:pt x="0" y="0"/>
                  </a:moveTo>
                  <a:lnTo>
                    <a:pt x="1209188" y="0"/>
                  </a:lnTo>
                  <a:lnTo>
                    <a:pt x="1608788" y="399600"/>
                  </a:lnTo>
                  <a:lnTo>
                    <a:pt x="1209188" y="799200"/>
                  </a:lnTo>
                  <a:lnTo>
                    <a:pt x="0" y="799200"/>
                  </a:lnTo>
                  <a:lnTo>
                    <a:pt x="399600" y="399600"/>
                  </a:lnTo>
                  <a:lnTo>
                    <a:pt x="0" y="0"/>
                  </a:lnTo>
                  <a:close/>
                </a:path>
              </a:pathLst>
            </a:custGeom>
          </p:spPr>
          <p:style>
            <a:lnRef idx="0">
              <a:schemeClr val="accent4"/>
            </a:lnRef>
            <a:fillRef idx="3">
              <a:schemeClr val="accent4"/>
            </a:fillRef>
            <a:effectRef idx="3">
              <a:schemeClr val="accent4"/>
            </a:effectRef>
            <a:fontRef idx="minor">
              <a:schemeClr val="lt1"/>
            </a:fontRef>
          </p:style>
          <p:txBody>
            <a:bodyPr spcFirstLastPara="0" vert="horz" wrap="square" lIns="471609" tIns="24003" rIns="423603" bIns="24003" numCol="1" spcCol="1270" anchor="ctr" anchorCtr="0">
              <a:noAutofit/>
            </a:bodyPr>
            <a:lstStyle/>
            <a:p>
              <a:pPr marL="0" lvl="0" indent="0" algn="ctr" defTabSz="800100">
                <a:lnSpc>
                  <a:spcPts val="2000"/>
                </a:lnSpc>
                <a:spcBef>
                  <a:spcPct val="0"/>
                </a:spcBef>
                <a:spcAft>
                  <a:spcPts val="0"/>
                </a:spcAft>
                <a:buNone/>
              </a:pPr>
              <a:r>
                <a:rPr lang="zh-TW" altLang="en-US" sz="1800" kern="1200" dirty="0">
                  <a:latin typeface="微軟正黑體" panose="020B0604030504040204" pitchFamily="34" charset="-120"/>
                  <a:ea typeface="微軟正黑體" panose="020B0604030504040204" pitchFamily="34" charset="-120"/>
                </a:rPr>
                <a:t>進步性</a:t>
              </a:r>
            </a:p>
          </p:txBody>
        </p:sp>
      </p:grpSp>
      <p:sp>
        <p:nvSpPr>
          <p:cNvPr id="39" name="矩形 38">
            <a:extLst>
              <a:ext uri="{FF2B5EF4-FFF2-40B4-BE49-F238E27FC236}">
                <a16:creationId xmlns:a16="http://schemas.microsoft.com/office/drawing/2014/main" id="{406F0CA8-51F3-4911-A48C-E684FEC3DF0F}"/>
              </a:ext>
            </a:extLst>
          </p:cNvPr>
          <p:cNvSpPr/>
          <p:nvPr/>
        </p:nvSpPr>
        <p:spPr>
          <a:xfrm>
            <a:off x="217365" y="2132856"/>
            <a:ext cx="8640960" cy="4019336"/>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可供產業上利用之發明</a:t>
            </a:r>
            <a:endParaRPr lang="en-US" altLang="zh-TW" sz="2000" dirty="0">
              <a:solidFill>
                <a:schemeClr val="tx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endParaRPr lang="en-US" altLang="zh-TW" sz="2000" dirty="0">
              <a:solidFill>
                <a:schemeClr val="tx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無下列情事之一，得取得發明專利：</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申請前已見於刊物者。</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申請前已公開實施者。</a:t>
            </a:r>
          </a:p>
          <a:p>
            <a:pPr marL="742950" lvl="1"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申請前已為公眾所知悉者。</a:t>
            </a:r>
          </a:p>
          <a:p>
            <a:pPr marL="285750" indent="-285750">
              <a:buFont typeface="Arial" panose="020B0604020202020204" pitchFamily="34" charset="0"/>
              <a:buChar char="•"/>
            </a:pPr>
            <a:endParaRPr lang="zh-TW" altLang="en-US" sz="2000" dirty="0">
              <a:solidFill>
                <a:schemeClr val="tx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000" dirty="0">
                <a:solidFill>
                  <a:schemeClr val="tx1"/>
                </a:solidFill>
                <a:latin typeface="微軟正黑體" panose="020B0604030504040204" pitchFamily="34" charset="-120"/>
                <a:ea typeface="微軟正黑體" panose="020B0604030504040204" pitchFamily="34" charset="-120"/>
              </a:rPr>
              <a:t>發明雖無前項各款所列情事，但為其所屬技術領域中具有通常知識者依申請前之先前技術所能輕易完成時，仍不得取得發明專利。</a:t>
            </a:r>
          </a:p>
        </p:txBody>
      </p:sp>
    </p:spTree>
    <p:extLst>
      <p:ext uri="{BB962C8B-B14F-4D97-AF65-F5344CB8AC3E}">
        <p14:creationId xmlns:p14="http://schemas.microsoft.com/office/powerpoint/2010/main" val="30111213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58C0207-BCD9-BB69-5586-419527E5F983}"/>
              </a:ext>
            </a:extLst>
          </p:cNvPr>
          <p:cNvSpPr>
            <a:spLocks noGrp="1"/>
          </p:cNvSpPr>
          <p:nvPr>
            <p:ph type="title"/>
          </p:nvPr>
        </p:nvSpPr>
        <p:spPr/>
        <p:txBody>
          <a:bodyPr/>
          <a:lstStyle/>
          <a:p>
            <a:br>
              <a:rPr lang="en-US" altLang="zh-TW" dirty="0"/>
            </a:br>
            <a:endParaRPr lang="zh-TW" altLang="en-US" dirty="0"/>
          </a:p>
        </p:txBody>
      </p:sp>
      <p:sp>
        <p:nvSpPr>
          <p:cNvPr id="4" name="投影片編號版面配置區 3">
            <a:extLst>
              <a:ext uri="{FF2B5EF4-FFF2-40B4-BE49-F238E27FC236}">
                <a16:creationId xmlns:a16="http://schemas.microsoft.com/office/drawing/2014/main" id="{89FF21DB-E45A-9776-CC22-1B01BE9B4CE4}"/>
              </a:ext>
            </a:extLst>
          </p:cNvPr>
          <p:cNvSpPr>
            <a:spLocks noGrp="1"/>
          </p:cNvSpPr>
          <p:nvPr>
            <p:ph type="sldNum" sz="quarter" idx="12"/>
          </p:nvPr>
        </p:nvSpPr>
        <p:spPr>
          <a:xfrm>
            <a:off x="4764816" y="7621178"/>
            <a:ext cx="444504" cy="142254"/>
          </a:xfrm>
        </p:spPr>
        <p:txBody>
          <a:bodyPr/>
          <a:lstStyle/>
          <a:p>
            <a:fld id="{51D2D507-09EA-4C6F-96ED-053C801F8797}" type="slidenum">
              <a:rPr lang="zh-TW" altLang="en-US" smtClean="0"/>
              <a:t>35</a:t>
            </a:fld>
            <a:endParaRPr lang="zh-TW" altLang="en-US"/>
          </a:p>
        </p:txBody>
      </p:sp>
      <p:sp>
        <p:nvSpPr>
          <p:cNvPr id="3" name="標題 1">
            <a:extLst>
              <a:ext uri="{FF2B5EF4-FFF2-40B4-BE49-F238E27FC236}">
                <a16:creationId xmlns:a16="http://schemas.microsoft.com/office/drawing/2014/main" id="{12827C07-A51F-DF05-3108-B911A5360FAB}"/>
              </a:ext>
            </a:extLst>
          </p:cNvPr>
          <p:cNvSpPr txBox="1">
            <a:spLocks/>
          </p:cNvSpPr>
          <p:nvPr/>
        </p:nvSpPr>
        <p:spPr>
          <a:xfrm>
            <a:off x="691952" y="155354"/>
            <a:ext cx="8229600" cy="761750"/>
          </a:xfrm>
          <a:prstGeom prst="rect">
            <a:avLst/>
          </a:prstGeom>
        </p:spPr>
        <p:txBody>
          <a:bodyPr/>
          <a:lstStyle>
            <a:lvl1pPr algn="ctr" defTabSz="914400" rtl="0" eaLnBrk="1" latinLnBrk="0" hangingPunct="1">
              <a:spcBef>
                <a:spcPct val="0"/>
              </a:spcBef>
              <a:buNone/>
              <a:defRPr sz="3600" kern="120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sz="3600" dirty="0"/>
              <a:t>專利</a:t>
            </a:r>
            <a:r>
              <a:rPr lang="zh-TW" altLang="en-US" dirty="0"/>
              <a:t>閱讀焦點</a:t>
            </a:r>
          </a:p>
        </p:txBody>
      </p:sp>
      <p:sp>
        <p:nvSpPr>
          <p:cNvPr id="20" name="投影片編號版面配置區 1">
            <a:extLst>
              <a:ext uri="{FF2B5EF4-FFF2-40B4-BE49-F238E27FC236}">
                <a16:creationId xmlns:a16="http://schemas.microsoft.com/office/drawing/2014/main" id="{AF8963FF-FABB-0742-CDE0-5CA5AF17699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rgbClr val="6699FF"/>
                </a:solidFill>
                <a:latin typeface="Adobe 繁黑體 Std B"/>
                <a:ea typeface="Adobe 繁黑體 Std B"/>
                <a:cs typeface="Adobe 繁黑體 Std B"/>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1D2D507-09EA-4C6F-96ED-053C801F8797}" type="slidenum">
              <a:rPr lang="zh-TW" altLang="en-US" smtClean="0"/>
              <a:pPr/>
              <a:t>35</a:t>
            </a:fld>
            <a:endParaRPr lang="zh-TW" altLang="en-US"/>
          </a:p>
        </p:txBody>
      </p:sp>
      <p:grpSp>
        <p:nvGrpSpPr>
          <p:cNvPr id="8" name="群組 7"/>
          <p:cNvGrpSpPr/>
          <p:nvPr/>
        </p:nvGrpSpPr>
        <p:grpSpPr>
          <a:xfrm>
            <a:off x="395536" y="1462822"/>
            <a:ext cx="927750" cy="4969695"/>
            <a:chOff x="7980495" y="2076956"/>
            <a:chExt cx="927750" cy="4279394"/>
          </a:xfrm>
        </p:grpSpPr>
        <p:sp>
          <p:nvSpPr>
            <p:cNvPr id="9" name="圓角矩形 8"/>
            <p:cNvSpPr/>
            <p:nvPr/>
          </p:nvSpPr>
          <p:spPr>
            <a:xfrm>
              <a:off x="8046171" y="2211680"/>
              <a:ext cx="796399" cy="35208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目的</a:t>
              </a:r>
            </a:p>
          </p:txBody>
        </p:sp>
        <p:sp>
          <p:nvSpPr>
            <p:cNvPr id="10" name="圓角矩形 9"/>
            <p:cNvSpPr/>
            <p:nvPr/>
          </p:nvSpPr>
          <p:spPr>
            <a:xfrm>
              <a:off x="8046171" y="3713567"/>
              <a:ext cx="796399" cy="35208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手段</a:t>
              </a:r>
            </a:p>
          </p:txBody>
        </p:sp>
        <p:sp>
          <p:nvSpPr>
            <p:cNvPr id="11" name="圓角矩形 10"/>
            <p:cNvSpPr/>
            <p:nvPr/>
          </p:nvSpPr>
          <p:spPr>
            <a:xfrm>
              <a:off x="8046303" y="5215454"/>
              <a:ext cx="796399" cy="35208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功效</a:t>
              </a:r>
            </a:p>
          </p:txBody>
        </p:sp>
        <p:sp>
          <p:nvSpPr>
            <p:cNvPr id="12" name="AutoShape 71"/>
            <p:cNvSpPr>
              <a:spLocks noChangeArrowheads="1"/>
            </p:cNvSpPr>
            <p:nvPr/>
          </p:nvSpPr>
          <p:spPr bwMode="auto">
            <a:xfrm rot="5400000">
              <a:off x="6304673" y="3752778"/>
              <a:ext cx="4279394" cy="927750"/>
            </a:xfrm>
            <a:prstGeom prst="rightArrow">
              <a:avLst>
                <a:gd name="adj1" fmla="val 70389"/>
                <a:gd name="adj2" fmla="val 62116"/>
              </a:avLst>
            </a:prstGeom>
            <a:solidFill>
              <a:srgbClr val="B2B2B2">
                <a:alpha val="30000"/>
              </a:srgbClr>
            </a:solidFill>
            <a:ln w="12700" algn="ctr">
              <a:solidFill>
                <a:schemeClr val="bg2"/>
              </a:solidFill>
              <a:round/>
              <a:headEnd/>
              <a:tailEnd/>
            </a:ln>
          </p:spPr>
          <p:txBody>
            <a:bodyPr anchor="ctr"/>
            <a:lstStyle/>
            <a:p>
              <a:pPr algn="ctr"/>
              <a:endParaRPr lang="zh-CN" altLang="zh-CN">
                <a:solidFill>
                  <a:srgbClr val="FFFFFF"/>
                </a:solidFill>
                <a:latin typeface="Calibri" pitchFamily="34" charset="0"/>
              </a:endParaRPr>
            </a:p>
          </p:txBody>
        </p:sp>
      </p:grpSp>
      <p:sp>
        <p:nvSpPr>
          <p:cNvPr id="5" name="圓角矩形 4"/>
          <p:cNvSpPr/>
          <p:nvPr/>
        </p:nvSpPr>
        <p:spPr>
          <a:xfrm>
            <a:off x="1547664" y="1619278"/>
            <a:ext cx="3384376" cy="121284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先前技術</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先前技術的缺失</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發明目的</a:t>
            </a:r>
          </a:p>
        </p:txBody>
      </p:sp>
      <p:sp>
        <p:nvSpPr>
          <p:cNvPr id="14" name="圓角矩形 13"/>
          <p:cNvSpPr/>
          <p:nvPr/>
        </p:nvSpPr>
        <p:spPr>
          <a:xfrm>
            <a:off x="1547664" y="3007046"/>
            <a:ext cx="3384376" cy="194421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符合發明目的的技術手段</a:t>
            </a:r>
            <a:endParaRPr lang="en-US" altLang="zh-TW"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核心技術手段</a:t>
            </a:r>
            <a:endParaRPr lang="en-US" altLang="zh-TW" dirty="0">
              <a:latin typeface="微軟正黑體" panose="020B0604030504040204" pitchFamily="34" charset="-120"/>
              <a:ea typeface="微軟正黑體" panose="020B0604030504040204" pitchFamily="34" charset="-120"/>
            </a:endParaRPr>
          </a:p>
          <a:p>
            <a:pPr marL="1200150" lvl="2"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特別技術特徵</a:t>
            </a:r>
            <a:endParaRPr lang="en-US" altLang="zh-TW" dirty="0">
              <a:latin typeface="微軟正黑體" panose="020B0604030504040204" pitchFamily="34" charset="-120"/>
              <a:ea typeface="微軟正黑體" panose="020B0604030504040204" pitchFamily="34" charset="-120"/>
            </a:endParaRPr>
          </a:p>
          <a:p>
            <a:pPr marL="1200150" lvl="2"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一般技術特徵</a:t>
            </a:r>
            <a:endParaRPr lang="en-US" altLang="zh-TW"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附加技術手段</a:t>
            </a:r>
          </a:p>
        </p:txBody>
      </p:sp>
      <p:sp>
        <p:nvSpPr>
          <p:cNvPr id="15" name="圓角矩形 14"/>
          <p:cNvSpPr/>
          <p:nvPr/>
        </p:nvSpPr>
        <p:spPr>
          <a:xfrm>
            <a:off x="1547664" y="5107585"/>
            <a:ext cx="3384376" cy="118091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達成有別於先前技術的功效</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無法預期之功效</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有利功效</a:t>
            </a:r>
            <a:endParaRPr lang="en-US" altLang="zh-TW" dirty="0">
              <a:latin typeface="微軟正黑體" panose="020B0604030504040204" pitchFamily="34" charset="-120"/>
              <a:ea typeface="微軟正黑體" panose="020B0604030504040204" pitchFamily="34" charset="-120"/>
            </a:endParaRPr>
          </a:p>
        </p:txBody>
      </p:sp>
      <p:sp>
        <p:nvSpPr>
          <p:cNvPr id="16" name="圓角矩形 15"/>
          <p:cNvSpPr/>
          <p:nvPr/>
        </p:nvSpPr>
        <p:spPr>
          <a:xfrm>
            <a:off x="5148064" y="1619278"/>
            <a:ext cx="3384376" cy="1212840"/>
          </a:xfrm>
          <a:prstGeom prst="roundRect">
            <a:avLst/>
          </a:prstGeom>
          <a:ln w="25400">
            <a:solidFill>
              <a:srgbClr val="00B0F0"/>
            </a:solidFill>
          </a:ln>
        </p:spPr>
        <p:style>
          <a:lnRef idx="1">
            <a:schemeClr val="dk1"/>
          </a:lnRef>
          <a:fillRef idx="2">
            <a:schemeClr val="dk1"/>
          </a:fillRef>
          <a:effectRef idx="1">
            <a:schemeClr val="dk1"/>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先前技術</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整體綜合考量</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通常知識</a:t>
            </a:r>
          </a:p>
        </p:txBody>
      </p:sp>
      <p:sp>
        <p:nvSpPr>
          <p:cNvPr id="17" name="圓角矩形 16"/>
          <p:cNvSpPr/>
          <p:nvPr/>
        </p:nvSpPr>
        <p:spPr>
          <a:xfrm>
            <a:off x="5148064" y="3007046"/>
            <a:ext cx="3384376" cy="1944216"/>
          </a:xfrm>
          <a:prstGeom prst="roundRect">
            <a:avLst/>
          </a:prstGeom>
          <a:ln w="25400">
            <a:solidFill>
              <a:srgbClr val="7030A0"/>
            </a:solidFill>
          </a:ln>
        </p:spPr>
        <p:style>
          <a:lnRef idx="1">
            <a:schemeClr val="dk1"/>
          </a:lnRef>
          <a:fillRef idx="2">
            <a:schemeClr val="dk1"/>
          </a:fillRef>
          <a:effectRef idx="1">
            <a:schemeClr val="dk1"/>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申請專利範圍</a:t>
            </a:r>
            <a:endParaRPr lang="en-US" altLang="zh-TW"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獨立項</a:t>
            </a:r>
            <a:endParaRPr lang="en-US" altLang="zh-TW"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附屬項</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發明內容</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實施方式</a:t>
            </a:r>
            <a:endParaRPr lang="en-US" altLang="zh-TW"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配合圖式</a:t>
            </a:r>
          </a:p>
        </p:txBody>
      </p:sp>
      <p:sp>
        <p:nvSpPr>
          <p:cNvPr id="18" name="圓角矩形 17"/>
          <p:cNvSpPr/>
          <p:nvPr/>
        </p:nvSpPr>
        <p:spPr>
          <a:xfrm>
            <a:off x="5148064" y="5107585"/>
            <a:ext cx="3384376" cy="1180917"/>
          </a:xfrm>
          <a:prstGeom prst="roundRect">
            <a:avLst/>
          </a:prstGeom>
          <a:ln w="25400">
            <a:solidFill>
              <a:srgbClr val="FFC000"/>
            </a:solidFill>
          </a:ln>
        </p:spPr>
        <p:style>
          <a:lnRef idx="1">
            <a:schemeClr val="dk1"/>
          </a:lnRef>
          <a:fillRef idx="2">
            <a:schemeClr val="dk1"/>
          </a:fillRef>
          <a:effectRef idx="1">
            <a:schemeClr val="dk1"/>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整體綜合考量</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通常知識與先前技術</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申復理由</a:t>
            </a:r>
            <a:endParaRPr lang="en-US" altLang="zh-TW" dirty="0">
              <a:latin typeface="微軟正黑體" panose="020B0604030504040204" pitchFamily="34" charset="-120"/>
              <a:ea typeface="微軟正黑體" panose="020B0604030504040204" pitchFamily="34" charset="-120"/>
            </a:endParaRPr>
          </a:p>
        </p:txBody>
      </p:sp>
      <p:sp>
        <p:nvSpPr>
          <p:cNvPr id="6" name="圓角矩形 5"/>
          <p:cNvSpPr/>
          <p:nvPr/>
        </p:nvSpPr>
        <p:spPr>
          <a:xfrm>
            <a:off x="1547664" y="1037380"/>
            <a:ext cx="3384376" cy="50696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b="1" dirty="0">
                <a:latin typeface="微軟正黑體" panose="020B0604030504040204" pitchFamily="34" charset="-120"/>
                <a:ea typeface="微軟正黑體" panose="020B0604030504040204" pitchFamily="34" charset="-120"/>
              </a:rPr>
              <a:t>閱讀要點</a:t>
            </a:r>
          </a:p>
        </p:txBody>
      </p:sp>
      <p:sp>
        <p:nvSpPr>
          <p:cNvPr id="21" name="圓角矩形 20"/>
          <p:cNvSpPr/>
          <p:nvPr/>
        </p:nvSpPr>
        <p:spPr>
          <a:xfrm>
            <a:off x="5168079" y="1035361"/>
            <a:ext cx="3384376" cy="50696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TW" altLang="en-US" b="1" dirty="0">
                <a:latin typeface="微軟正黑體" panose="020B0604030504040204" pitchFamily="34" charset="-120"/>
                <a:ea typeface="微軟正黑體" panose="020B0604030504040204" pitchFamily="34" charset="-120"/>
              </a:rPr>
              <a:t>專利文件段落</a:t>
            </a:r>
          </a:p>
        </p:txBody>
      </p:sp>
    </p:spTree>
    <p:extLst>
      <p:ext uri="{BB962C8B-B14F-4D97-AF65-F5344CB8AC3E}">
        <p14:creationId xmlns:p14="http://schemas.microsoft.com/office/powerpoint/2010/main" val="7114043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案例一</a:t>
            </a:r>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36</a:t>
            </a:fld>
            <a:endParaRPr lang="zh-TW" altLang="en-US"/>
          </a:p>
        </p:txBody>
      </p:sp>
      <p:sp>
        <p:nvSpPr>
          <p:cNvPr id="5" name="矩形 4"/>
          <p:cNvSpPr/>
          <p:nvPr/>
        </p:nvSpPr>
        <p:spPr>
          <a:xfrm>
            <a:off x="179512" y="1462506"/>
            <a:ext cx="4424911" cy="4708981"/>
          </a:xfrm>
          <a:prstGeom prst="rect">
            <a:avLst/>
          </a:prstGeom>
        </p:spPr>
        <p:txBody>
          <a:bodyPr wrap="square">
            <a:spAutoFit/>
          </a:bodyPr>
          <a:lstStyle/>
          <a:p>
            <a:pPr indent="534988"/>
            <a:r>
              <a:rPr lang="zh-TW" altLang="en-US" sz="2000" dirty="0">
                <a:latin typeface="微軟正黑體" panose="020B0604030504040204" pitchFamily="34" charset="-120"/>
                <a:ea typeface="微軟正黑體" panose="020B0604030504040204" pitchFamily="34" charset="-120"/>
              </a:rPr>
              <a:t>一種客戶價值因子轉換及</a:t>
            </a:r>
            <a:r>
              <a:rPr lang="zh-TW" altLang="en-US" sz="2000" b="1" u="sng" dirty="0">
                <a:latin typeface="微軟正黑體" panose="020B0604030504040204" pitchFamily="34" charset="-120"/>
                <a:ea typeface="微軟正黑體" panose="020B0604030504040204" pitchFamily="34" charset="-120"/>
              </a:rPr>
              <a:t>行為預測</a:t>
            </a:r>
            <a:r>
              <a:rPr lang="zh-TW" altLang="en-US" sz="2000" dirty="0">
                <a:latin typeface="微軟正黑體" panose="020B0604030504040204" pitchFamily="34" charset="-120"/>
                <a:ea typeface="微軟正黑體" panose="020B0604030504040204" pitchFamily="34" charset="-120"/>
              </a:rPr>
              <a:t>系統，包含一儲存模組、一通訊模組、及一處理模組。該通訊模組接收對應一新進客戶的一開戶資料，該開戶資料包括多個欄位資訊。該處理模組電連接該儲存模組及該通訊模組，並根據該開戶資料的該等欄位資訊，產生</a:t>
            </a:r>
            <a:r>
              <a:rPr lang="zh-TW" altLang="en-US" sz="2000" b="1" u="sng" dirty="0">
                <a:latin typeface="微軟正黑體" panose="020B0604030504040204" pitchFamily="34" charset="-120"/>
                <a:ea typeface="微軟正黑體" panose="020B0604030504040204" pitchFamily="34" charset="-120"/>
              </a:rPr>
              <a:t>一內部資料及一外部資料</a:t>
            </a:r>
            <a:r>
              <a:rPr lang="zh-TW" altLang="en-US" sz="2000" dirty="0">
                <a:latin typeface="微軟正黑體" panose="020B0604030504040204" pitchFamily="34" charset="-120"/>
                <a:ea typeface="微軟正黑體" panose="020B0604030504040204" pitchFamily="34" charset="-120"/>
              </a:rPr>
              <a:t>，且將該內部資料及該外部資料輸入至該儲存單元所儲存的一機器學習模型，以獲得</a:t>
            </a:r>
            <a:r>
              <a:rPr lang="zh-TW" altLang="en-US" sz="2000" b="1" u="sng" dirty="0">
                <a:latin typeface="微軟正黑體" panose="020B0604030504040204" pitchFamily="34" charset="-120"/>
                <a:ea typeface="微軟正黑體" panose="020B0604030504040204" pitchFamily="34" charset="-120"/>
              </a:rPr>
              <a:t>在開戶後的一第一時間區間內是否會交易的一預測結果</a:t>
            </a:r>
            <a:r>
              <a:rPr lang="zh-TW" altLang="en-US" sz="2000" dirty="0">
                <a:latin typeface="微軟正黑體" panose="020B0604030504040204" pitchFamily="34" charset="-120"/>
                <a:ea typeface="微軟正黑體" panose="020B0604030504040204" pitchFamily="34" charset="-120"/>
              </a:rPr>
              <a:t>。該處理模組再根據該預測結果及該等欄位資訊之其中一者，將該新進客戶作分類以作為資源投入的依據。</a:t>
            </a:r>
          </a:p>
        </p:txBody>
      </p:sp>
      <p:sp>
        <p:nvSpPr>
          <p:cNvPr id="6" name="圓角矩形 5"/>
          <p:cNvSpPr/>
          <p:nvPr/>
        </p:nvSpPr>
        <p:spPr>
          <a:xfrm>
            <a:off x="467544" y="836712"/>
            <a:ext cx="914400" cy="4572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2000" dirty="0">
                <a:latin typeface="微軟正黑體" panose="020B0604030504040204" pitchFamily="34" charset="-120"/>
                <a:ea typeface="微軟正黑體" panose="020B0604030504040204" pitchFamily="34" charset="-120"/>
              </a:rPr>
              <a:t>摘要</a:t>
            </a:r>
          </a:p>
        </p:txBody>
      </p:sp>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607534" y="1460826"/>
            <a:ext cx="4385007" cy="45365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348026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602ACF-E5F6-B348-E66E-EE1CE3C7FD62}"/>
              </a:ext>
            </a:extLst>
          </p:cNvPr>
          <p:cNvSpPr>
            <a:spLocks noGrp="1"/>
          </p:cNvSpPr>
          <p:nvPr>
            <p:ph type="title"/>
          </p:nvPr>
        </p:nvSpPr>
        <p:spPr/>
        <p:txBody>
          <a:bodyPr/>
          <a:lstStyle/>
          <a:p>
            <a:r>
              <a:rPr lang="zh-TW" altLang="en-US" dirty="0"/>
              <a:t>案例一</a:t>
            </a:r>
          </a:p>
        </p:txBody>
      </p:sp>
      <p:sp>
        <p:nvSpPr>
          <p:cNvPr id="4" name="投影片編號版面配置區 3">
            <a:extLst>
              <a:ext uri="{FF2B5EF4-FFF2-40B4-BE49-F238E27FC236}">
                <a16:creationId xmlns:a16="http://schemas.microsoft.com/office/drawing/2014/main" id="{EF68DAA7-8B43-E988-E30E-2FB5946C4F2E}"/>
              </a:ext>
            </a:extLst>
          </p:cNvPr>
          <p:cNvSpPr>
            <a:spLocks noGrp="1"/>
          </p:cNvSpPr>
          <p:nvPr>
            <p:ph type="sldNum" sz="quarter" idx="12"/>
          </p:nvPr>
        </p:nvSpPr>
        <p:spPr/>
        <p:txBody>
          <a:bodyPr/>
          <a:lstStyle/>
          <a:p>
            <a:fld id="{51D2D507-09EA-4C6F-96ED-053C801F8797}" type="slidenum">
              <a:rPr lang="zh-TW" altLang="en-US" smtClean="0"/>
              <a:t>37</a:t>
            </a:fld>
            <a:endParaRPr lang="zh-TW" altLang="en-US"/>
          </a:p>
        </p:txBody>
      </p:sp>
      <p:sp>
        <p:nvSpPr>
          <p:cNvPr id="7" name="文字方塊 6">
            <a:extLst>
              <a:ext uri="{FF2B5EF4-FFF2-40B4-BE49-F238E27FC236}">
                <a16:creationId xmlns:a16="http://schemas.microsoft.com/office/drawing/2014/main" id="{195456C3-C6D7-5B7E-51EF-97B6A00AD1C5}"/>
              </a:ext>
            </a:extLst>
          </p:cNvPr>
          <p:cNvSpPr txBox="1"/>
          <p:nvPr/>
        </p:nvSpPr>
        <p:spPr>
          <a:xfrm>
            <a:off x="251520" y="975203"/>
            <a:ext cx="8640960" cy="2585323"/>
          </a:xfrm>
          <a:prstGeom prst="rect">
            <a:avLst/>
          </a:prstGeom>
          <a:noFill/>
        </p:spPr>
        <p:txBody>
          <a:bodyPr wrap="square">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先前技術</a:t>
            </a:r>
            <a:r>
              <a:rPr lang="en-US" altLang="zh-TW" dirty="0">
                <a:latin typeface="微軟正黑體" panose="020B0604030504040204" pitchFamily="34" charset="-120"/>
                <a:ea typeface="微軟正黑體" panose="020B0604030504040204" pitchFamily="34" charset="-120"/>
              </a:rPr>
              <a:t>】</a:t>
            </a:r>
          </a:p>
          <a:p>
            <a:pPr indent="531813"/>
            <a:r>
              <a:rPr lang="zh-TW" altLang="en-US" dirty="0">
                <a:latin typeface="微軟正黑體" panose="020B0604030504040204" pitchFamily="34" charset="-120"/>
                <a:ea typeface="微軟正黑體" panose="020B0604030504040204" pitchFamily="34" charset="-120"/>
              </a:rPr>
              <a:t>傳統上使用者欲在股市進行投資行為之前，必須親自前往證券商的據點，由櫃檯的接待人員安排填妥各種書面資料，再介紹對應的業務人員為其服務，以執行各種股票買賣的指令。然而，並非每一使用者在開戶之後，就會立即下單進場投資，使得</a:t>
            </a:r>
            <a:r>
              <a:rPr lang="zh-TW" altLang="en-US" b="1" u="sng" dirty="0">
                <a:latin typeface="微軟正黑體" panose="020B0604030504040204" pitchFamily="34" charset="-120"/>
                <a:ea typeface="微軟正黑體" panose="020B0604030504040204" pitchFamily="34" charset="-120"/>
              </a:rPr>
              <a:t>業務人員往往需要藉由自身過去的經驗，在與該客戶面對面且短暫的接觸時間中來推測該客戶是否值得花費更多的人力與時間，在開戶後進行業務的開拓與推廣</a:t>
            </a:r>
            <a:r>
              <a:rPr lang="zh-TW" altLang="en-US" dirty="0">
                <a:latin typeface="微軟正黑體" panose="020B0604030504040204" pitchFamily="34" charset="-120"/>
                <a:ea typeface="微軟正黑體" panose="020B0604030504040204" pitchFamily="34" charset="-120"/>
              </a:rPr>
              <a:t>。再者，隨著網際網路的普及，</a:t>
            </a:r>
            <a:r>
              <a:rPr lang="zh-TW" altLang="en-US" b="1" u="sng" dirty="0">
                <a:latin typeface="微軟正黑體" panose="020B0604030504040204" pitchFamily="34" charset="-120"/>
                <a:ea typeface="微軟正黑體" panose="020B0604030504040204" pitchFamily="34" charset="-120"/>
              </a:rPr>
              <a:t>線上開戶更廣泛成為另一種被大眾所喜愛的運作方式</a:t>
            </a:r>
            <a:r>
              <a:rPr lang="zh-TW" altLang="en-US" dirty="0">
                <a:latin typeface="微軟正黑體" panose="020B0604030504040204" pitchFamily="34" charset="-120"/>
                <a:ea typeface="微軟正黑體" panose="020B0604030504040204" pitchFamily="34" charset="-120"/>
              </a:rPr>
              <a:t>，但如此一來，更加導致證券商難以預測新進客戶是否實際需要進行投資。因此，是否存有一種有效的客戶預測系統便成為一個待解決的問題。</a:t>
            </a:r>
          </a:p>
        </p:txBody>
      </p:sp>
      <p:sp>
        <p:nvSpPr>
          <p:cNvPr id="8" name="文字方塊 7">
            <a:extLst>
              <a:ext uri="{FF2B5EF4-FFF2-40B4-BE49-F238E27FC236}">
                <a16:creationId xmlns:a16="http://schemas.microsoft.com/office/drawing/2014/main" id="{828FC294-E3DF-2CE1-F55F-431955EE7E85}"/>
              </a:ext>
            </a:extLst>
          </p:cNvPr>
          <p:cNvSpPr txBox="1"/>
          <p:nvPr/>
        </p:nvSpPr>
        <p:spPr>
          <a:xfrm>
            <a:off x="333872" y="3665776"/>
            <a:ext cx="8640960" cy="2031325"/>
          </a:xfrm>
          <a:prstGeom prst="rect">
            <a:avLst/>
          </a:prstGeom>
          <a:noFill/>
        </p:spPr>
        <p:txBody>
          <a:bodyPr wrap="square">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實施方式</a:t>
            </a:r>
            <a:r>
              <a:rPr lang="en-US" altLang="zh-TW" dirty="0">
                <a:latin typeface="微軟正黑體" panose="020B0604030504040204" pitchFamily="34" charset="-120"/>
                <a:ea typeface="微軟正黑體" panose="020B0604030504040204" pitchFamily="34" charset="-120"/>
              </a:rPr>
              <a:t>】</a:t>
            </a:r>
          </a:p>
          <a:p>
            <a:pPr indent="531813"/>
            <a:r>
              <a:rPr lang="zh-TW" altLang="en-US" dirty="0">
                <a:latin typeface="微軟正黑體" panose="020B0604030504040204" pitchFamily="34" charset="-120"/>
                <a:ea typeface="微軟正黑體" panose="020B0604030504040204" pitchFamily="34" charset="-120"/>
              </a:rPr>
              <a:t>該儲存模組</a:t>
            </a:r>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例如是一硬碟裝置，並儲存</a:t>
            </a:r>
            <a:r>
              <a:rPr lang="zh-TW" altLang="en-US" b="1" u="sng" dirty="0">
                <a:latin typeface="微軟正黑體" panose="020B0604030504040204" pitchFamily="34" charset="-120"/>
                <a:ea typeface="微軟正黑體" panose="020B0604030504040204" pitchFamily="34" charset="-120"/>
              </a:rPr>
              <a:t>一機器學習模型</a:t>
            </a:r>
            <a:r>
              <a:rPr lang="zh-TW" altLang="en-US" dirty="0">
                <a:latin typeface="微軟正黑體" panose="020B0604030504040204" pitchFamily="34" charset="-120"/>
                <a:ea typeface="微軟正黑體" panose="020B0604030504040204" pitchFamily="34" charset="-120"/>
              </a:rPr>
              <a:t>。該通訊模組</a:t>
            </a:r>
            <a:r>
              <a:rPr lang="en-US" altLang="zh-TW" dirty="0">
                <a:latin typeface="微軟正黑體" panose="020B0604030504040204" pitchFamily="34" charset="-120"/>
                <a:ea typeface="微軟正黑體" panose="020B0604030504040204" pitchFamily="34" charset="-120"/>
              </a:rPr>
              <a:t>3</a:t>
            </a:r>
            <a:r>
              <a:rPr lang="zh-TW" altLang="en-US" dirty="0">
                <a:latin typeface="微軟正黑體" panose="020B0604030504040204" pitchFamily="34" charset="-120"/>
                <a:ea typeface="微軟正黑體" panose="020B0604030504040204" pitchFamily="34" charset="-120"/>
              </a:rPr>
              <a:t>例如是一網路卡或一無線通訊裝置，並用於接收對應一新進客戶的一開戶資料。</a:t>
            </a:r>
            <a:r>
              <a:rPr lang="en-US" altLang="zh-TW" dirty="0">
                <a:latin typeface="微軟正黑體" panose="020B0604030504040204" pitchFamily="34" charset="-120"/>
                <a:ea typeface="微軟正黑體" panose="020B0604030504040204" pitchFamily="34" charset="-120"/>
              </a:rPr>
              <a:t>…</a:t>
            </a:r>
          </a:p>
          <a:p>
            <a:pPr indent="531813"/>
            <a:r>
              <a:rPr lang="zh-TW" altLang="en-US" dirty="0">
                <a:latin typeface="微軟正黑體" panose="020B0604030504040204" pitchFamily="34" charset="-120"/>
                <a:ea typeface="微軟正黑體" panose="020B0604030504040204" pitchFamily="34" charset="-120"/>
              </a:rPr>
              <a:t>根據該開戶資料的該等欄位資訊，</a:t>
            </a:r>
            <a:r>
              <a:rPr lang="zh-TW" altLang="en-US" b="1" u="sng" dirty="0">
                <a:latin typeface="微軟正黑體" panose="020B0604030504040204" pitchFamily="34" charset="-120"/>
                <a:ea typeface="微軟正黑體" panose="020B0604030504040204" pitchFamily="34" charset="-120"/>
              </a:rPr>
              <a:t>產生一內部資料及一外部資料</a:t>
            </a:r>
            <a:r>
              <a:rPr lang="zh-TW" altLang="en-US" dirty="0">
                <a:latin typeface="微軟正黑體" panose="020B0604030504040204" pitchFamily="34" charset="-120"/>
                <a:ea typeface="微軟正黑體" panose="020B0604030504040204" pitchFamily="34" charset="-120"/>
              </a:rPr>
              <a:t>。在本實施例中，該</a:t>
            </a:r>
            <a:r>
              <a:rPr lang="zh-TW" altLang="en-US" u="sng" dirty="0">
                <a:latin typeface="微軟正黑體" panose="020B0604030504040204" pitchFamily="34" charset="-120"/>
                <a:ea typeface="微軟正黑體" panose="020B0604030504040204" pitchFamily="34" charset="-120"/>
              </a:rPr>
              <a:t>內部資料包括一出生地、一性別、一年齡、一生肖、一星座、及該開戶日期</a:t>
            </a:r>
            <a:r>
              <a:rPr lang="zh-TW" altLang="en-US" dirty="0">
                <a:latin typeface="微軟正黑體" panose="020B0604030504040204" pitchFamily="34" charset="-120"/>
                <a:ea typeface="微軟正黑體" panose="020B0604030504040204" pitchFamily="34" charset="-120"/>
              </a:rPr>
              <a:t>。該</a:t>
            </a:r>
            <a:r>
              <a:rPr lang="zh-TW" altLang="en-US" u="sng" dirty="0">
                <a:latin typeface="微軟正黑體" panose="020B0604030504040204" pitchFamily="34" charset="-120"/>
                <a:ea typeface="微軟正黑體" panose="020B0604030504040204" pitchFamily="34" charset="-120"/>
              </a:rPr>
              <a:t>外部資料包括對應該居住地址或該戶籍地址且相關於一所得收入的一開放資料或一研究報告</a:t>
            </a:r>
            <a:r>
              <a:rPr lang="zh-TW" altLang="en-US" dirty="0">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24548646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602ACF-E5F6-B348-E66E-EE1CE3C7FD62}"/>
              </a:ext>
            </a:extLst>
          </p:cNvPr>
          <p:cNvSpPr>
            <a:spLocks noGrp="1"/>
          </p:cNvSpPr>
          <p:nvPr>
            <p:ph type="title"/>
          </p:nvPr>
        </p:nvSpPr>
        <p:spPr/>
        <p:txBody>
          <a:bodyPr/>
          <a:lstStyle/>
          <a:p>
            <a:r>
              <a:rPr lang="zh-TW" altLang="en-US" dirty="0"/>
              <a:t>案例一</a:t>
            </a:r>
          </a:p>
        </p:txBody>
      </p:sp>
      <p:sp>
        <p:nvSpPr>
          <p:cNvPr id="4" name="投影片編號版面配置區 3">
            <a:extLst>
              <a:ext uri="{FF2B5EF4-FFF2-40B4-BE49-F238E27FC236}">
                <a16:creationId xmlns:a16="http://schemas.microsoft.com/office/drawing/2014/main" id="{EF68DAA7-8B43-E988-E30E-2FB5946C4F2E}"/>
              </a:ext>
            </a:extLst>
          </p:cNvPr>
          <p:cNvSpPr>
            <a:spLocks noGrp="1"/>
          </p:cNvSpPr>
          <p:nvPr>
            <p:ph type="sldNum" sz="quarter" idx="12"/>
          </p:nvPr>
        </p:nvSpPr>
        <p:spPr/>
        <p:txBody>
          <a:bodyPr/>
          <a:lstStyle/>
          <a:p>
            <a:fld id="{51D2D507-09EA-4C6F-96ED-053C801F8797}" type="slidenum">
              <a:rPr lang="zh-TW" altLang="en-US" smtClean="0"/>
              <a:t>38</a:t>
            </a:fld>
            <a:endParaRPr lang="zh-TW" altLang="en-US"/>
          </a:p>
        </p:txBody>
      </p:sp>
      <p:sp>
        <p:nvSpPr>
          <p:cNvPr id="8" name="文字方塊 7">
            <a:extLst>
              <a:ext uri="{FF2B5EF4-FFF2-40B4-BE49-F238E27FC236}">
                <a16:creationId xmlns:a16="http://schemas.microsoft.com/office/drawing/2014/main" id="{828FC294-E3DF-2CE1-F55F-431955EE7E85}"/>
              </a:ext>
            </a:extLst>
          </p:cNvPr>
          <p:cNvSpPr txBox="1"/>
          <p:nvPr/>
        </p:nvSpPr>
        <p:spPr>
          <a:xfrm>
            <a:off x="251520" y="980728"/>
            <a:ext cx="8640960" cy="1754326"/>
          </a:xfrm>
          <a:prstGeom prst="rect">
            <a:avLst/>
          </a:prstGeom>
          <a:noFill/>
        </p:spPr>
        <p:txBody>
          <a:bodyPr wrap="square">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實施方式</a:t>
            </a:r>
            <a:r>
              <a:rPr lang="en-US" altLang="zh-TW" dirty="0">
                <a:latin typeface="微軟正黑體" panose="020B0604030504040204" pitchFamily="34" charset="-120"/>
                <a:ea typeface="微軟正黑體" panose="020B0604030504040204" pitchFamily="34" charset="-120"/>
              </a:rPr>
              <a:t>】</a:t>
            </a:r>
          </a:p>
          <a:p>
            <a:pPr indent="531813"/>
            <a:r>
              <a:rPr lang="zh-TW" altLang="en-US" dirty="0">
                <a:latin typeface="微軟正黑體" panose="020B0604030504040204" pitchFamily="34" charset="-120"/>
                <a:ea typeface="微軟正黑體" panose="020B0604030504040204" pitchFamily="34" charset="-120"/>
              </a:rPr>
              <a:t>再參閱圖</a:t>
            </a:r>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，該處理模組</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再將</a:t>
            </a:r>
            <a:r>
              <a:rPr lang="zh-TW" altLang="en-US" u="sng" dirty="0">
                <a:latin typeface="微軟正黑體" panose="020B0604030504040204" pitchFamily="34" charset="-120"/>
                <a:ea typeface="微軟正黑體" panose="020B0604030504040204" pitchFamily="34" charset="-120"/>
              </a:rPr>
              <a:t>根據該等欄位資訊</a:t>
            </a:r>
            <a:r>
              <a:rPr lang="en-US" altLang="zh-TW" u="sng" dirty="0">
                <a:latin typeface="微軟正黑體" panose="020B0604030504040204" pitchFamily="34" charset="-120"/>
                <a:ea typeface="微軟正黑體" panose="020B0604030504040204" pitchFamily="34" charset="-120"/>
              </a:rPr>
              <a:t>91</a:t>
            </a:r>
            <a:r>
              <a:rPr lang="zh-TW" altLang="en-US" u="sng" dirty="0">
                <a:latin typeface="微軟正黑體" panose="020B0604030504040204" pitchFamily="34" charset="-120"/>
                <a:ea typeface="微軟正黑體" panose="020B0604030504040204" pitchFamily="34" charset="-120"/>
              </a:rPr>
              <a:t>所產生的該</a:t>
            </a:r>
            <a:r>
              <a:rPr lang="zh-TW" altLang="en-US" b="1" u="sng" dirty="0">
                <a:latin typeface="微軟正黑體" panose="020B0604030504040204" pitchFamily="34" charset="-120"/>
                <a:ea typeface="微軟正黑體" panose="020B0604030504040204" pitchFamily="34" charset="-120"/>
              </a:rPr>
              <a:t>內部資料</a:t>
            </a:r>
            <a:r>
              <a:rPr lang="en-US" altLang="zh-TW" u="sng" dirty="0">
                <a:latin typeface="微軟正黑體" panose="020B0604030504040204" pitchFamily="34" charset="-120"/>
                <a:ea typeface="微軟正黑體" panose="020B0604030504040204" pitchFamily="34" charset="-120"/>
              </a:rPr>
              <a:t>92</a:t>
            </a:r>
            <a:r>
              <a:rPr lang="zh-TW" altLang="en-US" u="sng" dirty="0">
                <a:latin typeface="微軟正黑體" panose="020B0604030504040204" pitchFamily="34" charset="-120"/>
                <a:ea typeface="微軟正黑體" panose="020B0604030504040204" pitchFamily="34" charset="-120"/>
              </a:rPr>
              <a:t>及該</a:t>
            </a:r>
            <a:r>
              <a:rPr lang="zh-TW" altLang="en-US" b="1" u="sng" dirty="0">
                <a:latin typeface="微軟正黑體" panose="020B0604030504040204" pitchFamily="34" charset="-120"/>
                <a:ea typeface="微軟正黑體" panose="020B0604030504040204" pitchFamily="34" charset="-120"/>
              </a:rPr>
              <a:t>外部資料</a:t>
            </a:r>
            <a:r>
              <a:rPr lang="en-US" altLang="zh-TW" u="sng" dirty="0">
                <a:latin typeface="微軟正黑體" panose="020B0604030504040204" pitchFamily="34" charset="-120"/>
                <a:ea typeface="微軟正黑體" panose="020B0604030504040204" pitchFamily="34" charset="-120"/>
              </a:rPr>
              <a:t>93</a:t>
            </a:r>
            <a:r>
              <a:rPr lang="zh-TW" altLang="en-US" b="1" u="sng" dirty="0">
                <a:latin typeface="微軟正黑體" panose="020B0604030504040204" pitchFamily="34" charset="-120"/>
                <a:ea typeface="微軟正黑體" panose="020B0604030504040204" pitchFamily="34" charset="-120"/>
              </a:rPr>
              <a:t>輸入至該機器學習模型</a:t>
            </a:r>
            <a:r>
              <a:rPr lang="en-US" altLang="zh-TW" u="sng" dirty="0">
                <a:latin typeface="微軟正黑體" panose="020B0604030504040204" pitchFamily="34" charset="-120"/>
                <a:ea typeface="微軟正黑體" panose="020B0604030504040204" pitchFamily="34" charset="-120"/>
              </a:rPr>
              <a:t>21</a:t>
            </a:r>
            <a:r>
              <a:rPr lang="zh-TW" altLang="en-US" u="sng" dirty="0">
                <a:latin typeface="微軟正黑體" panose="020B0604030504040204" pitchFamily="34" charset="-120"/>
                <a:ea typeface="微軟正黑體" panose="020B0604030504040204" pitchFamily="34" charset="-120"/>
              </a:rPr>
              <a:t>，以獲得一</a:t>
            </a:r>
            <a:r>
              <a:rPr lang="zh-TW" altLang="en-US" b="1" u="sng" dirty="0">
                <a:latin typeface="微軟正黑體" panose="020B0604030504040204" pitchFamily="34" charset="-120"/>
                <a:ea typeface="微軟正黑體" panose="020B0604030504040204" pitchFamily="34" charset="-120"/>
              </a:rPr>
              <a:t>預測結果</a:t>
            </a:r>
            <a:r>
              <a:rPr lang="en-US" altLang="zh-TW" u="sng" dirty="0">
                <a:latin typeface="微軟正黑體" panose="020B0604030504040204" pitchFamily="34" charset="-120"/>
                <a:ea typeface="微軟正黑體" panose="020B0604030504040204" pitchFamily="34" charset="-120"/>
              </a:rPr>
              <a:t>94</a:t>
            </a:r>
            <a:r>
              <a:rPr lang="zh-TW" altLang="en-US" dirty="0">
                <a:latin typeface="微軟正黑體" panose="020B0604030504040204" pitchFamily="34" charset="-120"/>
                <a:ea typeface="微軟正黑體" panose="020B0604030504040204" pitchFamily="34" charset="-120"/>
              </a:rPr>
              <a:t>。該預測結果</a:t>
            </a:r>
            <a:r>
              <a:rPr lang="en-US" altLang="zh-TW" dirty="0">
                <a:latin typeface="微軟正黑體" panose="020B0604030504040204" pitchFamily="34" charset="-120"/>
                <a:ea typeface="微軟正黑體" panose="020B0604030504040204" pitchFamily="34" charset="-120"/>
              </a:rPr>
              <a:t>94</a:t>
            </a:r>
            <a:r>
              <a:rPr lang="zh-TW" altLang="en-US" dirty="0">
                <a:latin typeface="微軟正黑體" panose="020B0604030504040204" pitchFamily="34" charset="-120"/>
                <a:ea typeface="微軟正黑體" panose="020B0604030504040204" pitchFamily="34" charset="-120"/>
              </a:rPr>
              <a:t>包括在開戶後的一第一時間區間內會交易，及在開戶後的該第一時間區間內不會交易。在本實施例中，該第一時間區例如是六個月，而在其他的實施例中，也可以視情況調整期間的長度，例如是三個月或其他長度的時間區間。</a:t>
            </a:r>
            <a:endParaRPr lang="en-US" altLang="zh-TW" dirty="0">
              <a:latin typeface="微軟正黑體" panose="020B0604030504040204" pitchFamily="34" charset="-120"/>
              <a:ea typeface="微軟正黑體" panose="020B0604030504040204" pitchFamily="34" charset="-120"/>
            </a:endParaRPr>
          </a:p>
        </p:txBody>
      </p:sp>
      <p:pic>
        <p:nvPicPr>
          <p:cNvPr id="6" name="圖片 5">
            <a:extLst>
              <a:ext uri="{FF2B5EF4-FFF2-40B4-BE49-F238E27FC236}">
                <a16:creationId xmlns:a16="http://schemas.microsoft.com/office/drawing/2014/main" id="{69E7FE71-AB23-DFFF-5D54-A86CE6E44C70}"/>
              </a:ext>
            </a:extLst>
          </p:cNvPr>
          <p:cNvPicPr>
            <a:picLocks noChangeAspect="1"/>
          </p:cNvPicPr>
          <p:nvPr/>
        </p:nvPicPr>
        <p:blipFill>
          <a:blip r:embed="rId2"/>
          <a:stretch>
            <a:fillRect/>
          </a:stretch>
        </p:blipFill>
        <p:spPr>
          <a:xfrm>
            <a:off x="1043608" y="2673715"/>
            <a:ext cx="6840760" cy="4177660"/>
          </a:xfrm>
          <a:prstGeom prst="rect">
            <a:avLst/>
          </a:prstGeom>
        </p:spPr>
      </p:pic>
    </p:spTree>
    <p:extLst>
      <p:ext uri="{BB962C8B-B14F-4D97-AF65-F5344CB8AC3E}">
        <p14:creationId xmlns:p14="http://schemas.microsoft.com/office/powerpoint/2010/main" val="11148405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602ACF-E5F6-B348-E66E-EE1CE3C7FD62}"/>
              </a:ext>
            </a:extLst>
          </p:cNvPr>
          <p:cNvSpPr>
            <a:spLocks noGrp="1"/>
          </p:cNvSpPr>
          <p:nvPr>
            <p:ph type="title"/>
          </p:nvPr>
        </p:nvSpPr>
        <p:spPr/>
        <p:txBody>
          <a:bodyPr/>
          <a:lstStyle/>
          <a:p>
            <a:r>
              <a:rPr lang="zh-TW" altLang="en-US" dirty="0"/>
              <a:t>案例一</a:t>
            </a:r>
          </a:p>
        </p:txBody>
      </p:sp>
      <p:sp>
        <p:nvSpPr>
          <p:cNvPr id="4" name="投影片編號版面配置區 3">
            <a:extLst>
              <a:ext uri="{FF2B5EF4-FFF2-40B4-BE49-F238E27FC236}">
                <a16:creationId xmlns:a16="http://schemas.microsoft.com/office/drawing/2014/main" id="{EF68DAA7-8B43-E988-E30E-2FB5946C4F2E}"/>
              </a:ext>
            </a:extLst>
          </p:cNvPr>
          <p:cNvSpPr>
            <a:spLocks noGrp="1"/>
          </p:cNvSpPr>
          <p:nvPr>
            <p:ph type="sldNum" sz="quarter" idx="12"/>
          </p:nvPr>
        </p:nvSpPr>
        <p:spPr/>
        <p:txBody>
          <a:bodyPr/>
          <a:lstStyle/>
          <a:p>
            <a:fld id="{51D2D507-09EA-4C6F-96ED-053C801F8797}" type="slidenum">
              <a:rPr lang="zh-TW" altLang="en-US" smtClean="0"/>
              <a:t>39</a:t>
            </a:fld>
            <a:endParaRPr lang="zh-TW" altLang="en-US"/>
          </a:p>
        </p:txBody>
      </p:sp>
      <p:sp>
        <p:nvSpPr>
          <p:cNvPr id="8" name="文字方塊 7">
            <a:extLst>
              <a:ext uri="{FF2B5EF4-FFF2-40B4-BE49-F238E27FC236}">
                <a16:creationId xmlns:a16="http://schemas.microsoft.com/office/drawing/2014/main" id="{828FC294-E3DF-2CE1-F55F-431955EE7E85}"/>
              </a:ext>
            </a:extLst>
          </p:cNvPr>
          <p:cNvSpPr txBox="1"/>
          <p:nvPr/>
        </p:nvSpPr>
        <p:spPr>
          <a:xfrm>
            <a:off x="251520" y="980728"/>
            <a:ext cx="8640960" cy="3970318"/>
          </a:xfrm>
          <a:prstGeom prst="rect">
            <a:avLst/>
          </a:prstGeom>
          <a:noFill/>
        </p:spPr>
        <p:txBody>
          <a:bodyPr wrap="square">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實施方式</a:t>
            </a:r>
            <a:r>
              <a:rPr lang="en-US" altLang="zh-TW" dirty="0">
                <a:latin typeface="微軟正黑體" panose="020B0604030504040204" pitchFamily="34" charset="-120"/>
                <a:ea typeface="微軟正黑體" panose="020B0604030504040204" pitchFamily="34" charset="-120"/>
              </a:rPr>
              <a:t>】</a:t>
            </a:r>
          </a:p>
          <a:p>
            <a:pPr indent="531813"/>
            <a:r>
              <a:rPr lang="zh-TW" altLang="en-US" dirty="0">
                <a:latin typeface="微軟正黑體" panose="020B0604030504040204" pitchFamily="34" charset="-120"/>
                <a:ea typeface="微軟正黑體" panose="020B0604030504040204" pitchFamily="34" charset="-120"/>
              </a:rPr>
              <a:t>該處理模組</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再根據該預測結果及該等欄位資訊之其中一者，將該新進客戶作分類以作為資源投入多寡的依據。在本實施例中，該處理模組</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是</a:t>
            </a:r>
            <a:r>
              <a:rPr lang="zh-TW" altLang="en-US" u="sng" dirty="0">
                <a:latin typeface="微軟正黑體" panose="020B0604030504040204" pitchFamily="34" charset="-120"/>
                <a:ea typeface="微軟正黑體" panose="020B0604030504040204" pitchFamily="34" charset="-120"/>
              </a:rPr>
              <a:t>根據該預測結果及該外部資料的</a:t>
            </a:r>
            <a:r>
              <a:rPr lang="zh-TW" altLang="en-US" b="1" u="sng" dirty="0">
                <a:latin typeface="微軟正黑體" panose="020B0604030504040204" pitchFamily="34" charset="-120"/>
                <a:ea typeface="微軟正黑體" panose="020B0604030504040204" pitchFamily="34" charset="-120"/>
              </a:rPr>
              <a:t>該所得收入</a:t>
            </a:r>
            <a:r>
              <a:rPr lang="zh-TW" altLang="en-US" dirty="0">
                <a:latin typeface="微軟正黑體" panose="020B0604030504040204" pitchFamily="34" charset="-120"/>
                <a:ea typeface="微軟正黑體" panose="020B0604030504040204" pitchFamily="34" charset="-120"/>
              </a:rPr>
              <a:t>，當判斷該預測結果是在開戶後的該第一時間區間內會交易，且</a:t>
            </a:r>
            <a:r>
              <a:rPr lang="zh-TW" altLang="en-US" b="1" u="sng" dirty="0">
                <a:latin typeface="微軟正黑體" panose="020B0604030504040204" pitchFamily="34" charset="-120"/>
                <a:ea typeface="微軟正黑體" panose="020B0604030504040204" pitchFamily="34" charset="-120"/>
              </a:rPr>
              <a:t>該所得收入大於一預設閥值</a:t>
            </a:r>
            <a:r>
              <a:rPr lang="zh-TW" altLang="en-US" dirty="0">
                <a:latin typeface="微軟正黑體" panose="020B0604030504040204" pitchFamily="34" charset="-120"/>
                <a:ea typeface="微軟正黑體" panose="020B0604030504040204" pitchFamily="34" charset="-120"/>
              </a:rPr>
              <a:t>時，將該新進客戶分類為一</a:t>
            </a:r>
            <a:r>
              <a:rPr lang="zh-TW" altLang="en-US" b="1" u="sng" dirty="0">
                <a:latin typeface="微軟正黑體" panose="020B0604030504040204" pitchFamily="34" charset="-120"/>
                <a:ea typeface="微軟正黑體" panose="020B0604030504040204" pitchFamily="34" charset="-120"/>
              </a:rPr>
              <a:t>第一價值客戶</a:t>
            </a:r>
            <a:r>
              <a:rPr lang="zh-TW" altLang="en-US" dirty="0">
                <a:latin typeface="微軟正黑體" panose="020B0604030504040204" pitchFamily="34" charset="-120"/>
                <a:ea typeface="微軟正黑體" panose="020B0604030504040204" pitchFamily="34" charset="-120"/>
              </a:rPr>
              <a:t>。該預設閥值例如是該開放資料或該研究報告中所有統計資料的平均值。</a:t>
            </a:r>
            <a:endParaRPr lang="en-US" altLang="zh-TW" dirty="0">
              <a:latin typeface="微軟正黑體" panose="020B0604030504040204" pitchFamily="34" charset="-120"/>
              <a:ea typeface="微軟正黑體" panose="020B0604030504040204" pitchFamily="34" charset="-120"/>
            </a:endParaRPr>
          </a:p>
          <a:p>
            <a:pPr indent="531813"/>
            <a:r>
              <a:rPr lang="zh-TW" altLang="en-US" dirty="0">
                <a:latin typeface="微軟正黑體" panose="020B0604030504040204" pitchFamily="34" charset="-120"/>
                <a:ea typeface="微軟正黑體" panose="020B0604030504040204" pitchFamily="34" charset="-120"/>
              </a:rPr>
              <a:t>當該處理模組</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判斷該預測結果是在開戶後的該第一時間區間內不會交易，且該所得收入大於該預設閥值時，將該新進客戶分類為一第二價值客戶。而當該處理模組</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判斷該預測結果是在開戶後的該第一時間區間內會交易，且該所得收入小於該預設閥值時，將該新進客戶分類為一第三價值客戶。而當該處理模組</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判斷該預測結果是在開戶後的該第一時間區間內不會交易，且該所得收入小於該預設閥值時，將該新進客戶分類為一第四價值客戶。</a:t>
            </a:r>
            <a:endParaRPr lang="en-US" altLang="zh-TW" dirty="0">
              <a:latin typeface="微軟正黑體" panose="020B0604030504040204" pitchFamily="34" charset="-120"/>
              <a:ea typeface="微軟正黑體" panose="020B0604030504040204" pitchFamily="34" charset="-120"/>
            </a:endParaRPr>
          </a:p>
          <a:p>
            <a:pPr indent="531813"/>
            <a:r>
              <a:rPr lang="zh-TW" altLang="en-US" dirty="0">
                <a:latin typeface="微軟正黑體" panose="020B0604030504040204" pitchFamily="34" charset="-120"/>
                <a:ea typeface="微軟正黑體" panose="020B0604030504040204" pitchFamily="34" charset="-120"/>
              </a:rPr>
              <a:t>該證券業者認為該第一價值客戶至該第四價值客戶依序分別例如是屬於重要價值客戶、重要挽留客戶、一般價值客戶、及一般挽留客戶。</a:t>
            </a:r>
          </a:p>
        </p:txBody>
      </p:sp>
    </p:spTree>
    <p:extLst>
      <p:ext uri="{BB962C8B-B14F-4D97-AF65-F5344CB8AC3E}">
        <p14:creationId xmlns:p14="http://schemas.microsoft.com/office/powerpoint/2010/main" val="21103218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602ACF-E5F6-B348-E66E-EE1CE3C7FD62}"/>
              </a:ext>
            </a:extLst>
          </p:cNvPr>
          <p:cNvSpPr>
            <a:spLocks noGrp="1"/>
          </p:cNvSpPr>
          <p:nvPr>
            <p:ph type="title"/>
          </p:nvPr>
        </p:nvSpPr>
        <p:spPr/>
        <p:txBody>
          <a:bodyPr/>
          <a:lstStyle/>
          <a:p>
            <a:r>
              <a:rPr lang="zh-TW" altLang="en-US" dirty="0"/>
              <a:t>案例一</a:t>
            </a:r>
          </a:p>
        </p:txBody>
      </p:sp>
      <p:sp>
        <p:nvSpPr>
          <p:cNvPr id="4" name="投影片編號版面配置區 3">
            <a:extLst>
              <a:ext uri="{FF2B5EF4-FFF2-40B4-BE49-F238E27FC236}">
                <a16:creationId xmlns:a16="http://schemas.microsoft.com/office/drawing/2014/main" id="{EF68DAA7-8B43-E988-E30E-2FB5946C4F2E}"/>
              </a:ext>
            </a:extLst>
          </p:cNvPr>
          <p:cNvSpPr>
            <a:spLocks noGrp="1"/>
          </p:cNvSpPr>
          <p:nvPr>
            <p:ph type="sldNum" sz="quarter" idx="12"/>
          </p:nvPr>
        </p:nvSpPr>
        <p:spPr/>
        <p:txBody>
          <a:bodyPr/>
          <a:lstStyle/>
          <a:p>
            <a:fld id="{51D2D507-09EA-4C6F-96ED-053C801F8797}" type="slidenum">
              <a:rPr lang="zh-TW" altLang="en-US" smtClean="0"/>
              <a:t>40</a:t>
            </a:fld>
            <a:endParaRPr lang="zh-TW" altLang="en-US"/>
          </a:p>
        </p:txBody>
      </p:sp>
      <p:sp>
        <p:nvSpPr>
          <p:cNvPr id="8" name="文字方塊 7">
            <a:extLst>
              <a:ext uri="{FF2B5EF4-FFF2-40B4-BE49-F238E27FC236}">
                <a16:creationId xmlns:a16="http://schemas.microsoft.com/office/drawing/2014/main" id="{828FC294-E3DF-2CE1-F55F-431955EE7E85}"/>
              </a:ext>
            </a:extLst>
          </p:cNvPr>
          <p:cNvSpPr txBox="1"/>
          <p:nvPr/>
        </p:nvSpPr>
        <p:spPr>
          <a:xfrm>
            <a:off x="251520" y="980728"/>
            <a:ext cx="8640960" cy="5632311"/>
          </a:xfrm>
          <a:prstGeom prst="rect">
            <a:avLst/>
          </a:prstGeom>
          <a:noFill/>
        </p:spPr>
        <p:txBody>
          <a:bodyPr wrap="square">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請求項</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一種客戶價值因子轉換及行為預測系統，包含：</a:t>
            </a:r>
          </a:p>
          <a:p>
            <a:r>
              <a:rPr lang="zh-TW" altLang="en-US" dirty="0">
                <a:latin typeface="微軟正黑體" panose="020B0604030504040204" pitchFamily="34" charset="-120"/>
                <a:ea typeface="微軟正黑體" panose="020B0604030504040204" pitchFamily="34" charset="-120"/>
              </a:rPr>
              <a:t>一儲存模組，儲存一機器學習模型；</a:t>
            </a:r>
          </a:p>
          <a:p>
            <a:r>
              <a:rPr lang="zh-TW" altLang="en-US" dirty="0">
                <a:latin typeface="微軟正黑體" panose="020B0604030504040204" pitchFamily="34" charset="-120"/>
                <a:ea typeface="微軟正黑體" panose="020B0604030504040204" pitchFamily="34" charset="-120"/>
              </a:rPr>
              <a:t>一通訊模組，接收對應一新進客戶的一開戶資料，該開戶資料包括多個欄位資訊；及</a:t>
            </a:r>
          </a:p>
          <a:p>
            <a:r>
              <a:rPr lang="zh-TW" altLang="en-US" dirty="0">
                <a:latin typeface="微軟正黑體" panose="020B0604030504040204" pitchFamily="34" charset="-120"/>
                <a:ea typeface="微軟正黑體" panose="020B0604030504040204" pitchFamily="34" charset="-120"/>
              </a:rPr>
              <a:t>一處理模組，電連接該儲存模組及該通訊模組，並根據該開戶資料的該等欄位資訊，產生一內部資料及一外部資料，且將該內部資料及該外部資料輸入至該機器學習模型，以獲得一預測結果，該預測結果包括在開戶後的一第一時間區間內會交易，及在開戶後的該第一時間區間內不會交易，該處理模組再根據該預測結果及該等欄位資訊之其中一者，將該新進客戶作分類以作為資源投入的依據。</a:t>
            </a:r>
          </a:p>
          <a:p>
            <a:endParaRPr lang="zh-TW" altLang="en-US" dirty="0">
              <a:latin typeface="微軟正黑體" panose="020B0604030504040204" pitchFamily="34" charset="-120"/>
              <a:ea typeface="微軟正黑體" panose="020B0604030504040204" pitchFamily="34" charset="-120"/>
            </a:endParaRPr>
          </a:p>
          <a:p>
            <a:r>
              <a:rPr lang="en-US" altLang="zh-TW" b="0" i="0" dirty="0">
                <a:solidFill>
                  <a:srgbClr val="000000"/>
                </a:solidFill>
                <a:effectLst/>
                <a:latin typeface="微軟正黑體" panose="020B0604030504040204" pitchFamily="34" charset="-120"/>
                <a:ea typeface="微軟正黑體" panose="020B0604030504040204" pitchFamily="34" charset="-120"/>
              </a:rPr>
              <a:t>【</a:t>
            </a:r>
            <a:r>
              <a:rPr lang="zh-TW" altLang="en-US" b="0" i="0" dirty="0">
                <a:solidFill>
                  <a:srgbClr val="000000"/>
                </a:solidFill>
                <a:effectLst/>
                <a:latin typeface="微軟正黑體" panose="020B0604030504040204" pitchFamily="34" charset="-120"/>
                <a:ea typeface="微軟正黑體" panose="020B0604030504040204" pitchFamily="34" charset="-120"/>
              </a:rPr>
              <a:t>請求項</a:t>
            </a:r>
            <a:r>
              <a:rPr lang="en-US" altLang="zh-TW" b="0" i="0" dirty="0">
                <a:solidFill>
                  <a:srgbClr val="000000"/>
                </a:solidFill>
                <a:effectLst/>
                <a:latin typeface="微軟正黑體" panose="020B0604030504040204" pitchFamily="34" charset="-120"/>
                <a:ea typeface="微軟正黑體" panose="020B0604030504040204" pitchFamily="34" charset="-120"/>
              </a:rPr>
              <a:t>3】</a:t>
            </a:r>
            <a:r>
              <a:rPr lang="zh-TW" altLang="en-US" b="0" i="0" dirty="0">
                <a:solidFill>
                  <a:srgbClr val="000000"/>
                </a:solidFill>
                <a:effectLst/>
                <a:latin typeface="微軟正黑體" panose="020B0604030504040204" pitchFamily="34" charset="-120"/>
                <a:ea typeface="微軟正黑體" panose="020B0604030504040204" pitchFamily="34" charset="-120"/>
              </a:rPr>
              <a:t>如請求項</a:t>
            </a:r>
            <a:r>
              <a:rPr lang="en-US" altLang="zh-TW" b="0" i="0" dirty="0">
                <a:solidFill>
                  <a:srgbClr val="000000"/>
                </a:solidFill>
                <a:effectLst/>
                <a:latin typeface="微軟正黑體" panose="020B0604030504040204" pitchFamily="34" charset="-120"/>
                <a:ea typeface="微軟正黑體" panose="020B0604030504040204" pitchFamily="34" charset="-120"/>
              </a:rPr>
              <a:t>2</a:t>
            </a:r>
            <a:r>
              <a:rPr lang="zh-TW" altLang="en-US" b="0" i="0" dirty="0">
                <a:solidFill>
                  <a:srgbClr val="000000"/>
                </a:solidFill>
                <a:effectLst/>
                <a:latin typeface="微軟正黑體" panose="020B0604030504040204" pitchFamily="34" charset="-120"/>
                <a:ea typeface="微軟正黑體" panose="020B0604030504040204" pitchFamily="34" charset="-120"/>
              </a:rPr>
              <a:t>所述的客戶價值因子轉換及行為預測系統，其中，該內部資料包括一出生地、一性別、一年齡、一生肖、一星座、及該開戶日期之其中至少一者。</a:t>
            </a:r>
            <a:endParaRPr lang="en-US" altLang="zh-TW" b="0" i="0" dirty="0">
              <a:solidFill>
                <a:srgbClr val="000000"/>
              </a:solidFill>
              <a:effectLst/>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請求項</a:t>
            </a:r>
            <a:r>
              <a:rPr lang="en-US" altLang="zh-TW" dirty="0">
                <a:latin typeface="微軟正黑體" panose="020B0604030504040204" pitchFamily="34" charset="-120"/>
                <a:ea typeface="微軟正黑體" panose="020B0604030504040204" pitchFamily="34" charset="-120"/>
              </a:rPr>
              <a:t>5】</a:t>
            </a:r>
            <a:r>
              <a:rPr lang="zh-TW" altLang="en-US" dirty="0">
                <a:latin typeface="微軟正黑體" panose="020B0604030504040204" pitchFamily="34" charset="-120"/>
                <a:ea typeface="微軟正黑體" panose="020B0604030504040204" pitchFamily="34" charset="-120"/>
              </a:rPr>
              <a:t>如請求項</a:t>
            </a:r>
            <a:r>
              <a:rPr lang="en-US" altLang="zh-TW" dirty="0">
                <a:latin typeface="微軟正黑體" panose="020B0604030504040204" pitchFamily="34" charset="-120"/>
                <a:ea typeface="微軟正黑體" panose="020B0604030504040204" pitchFamily="34" charset="-120"/>
              </a:rPr>
              <a:t>4</a:t>
            </a:r>
            <a:r>
              <a:rPr lang="zh-TW" altLang="en-US" dirty="0">
                <a:latin typeface="微軟正黑體" panose="020B0604030504040204" pitchFamily="34" charset="-120"/>
                <a:ea typeface="微軟正黑體" panose="020B0604030504040204" pitchFamily="34" charset="-120"/>
              </a:rPr>
              <a:t>所述的客戶價值因子轉換及行為預測系統，其中，該處理模組是根據該預測結果及該外部資料的該所得收入，當判斷該預測結果是在開戶後的該第一時間區間內會交易，且該所得收入大於一預設閥值時，將該新進客戶分類為一第一價值客戶，且將該新進客戶屬於該第一價值客戶的訊息經由該通訊模組傳送至一業務單位的一電腦設備。</a:t>
            </a:r>
          </a:p>
          <a:p>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1045833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58C0207-BCD9-BB69-5586-419527E5F983}"/>
              </a:ext>
            </a:extLst>
          </p:cNvPr>
          <p:cNvSpPr>
            <a:spLocks noGrp="1"/>
          </p:cNvSpPr>
          <p:nvPr>
            <p:ph type="title"/>
          </p:nvPr>
        </p:nvSpPr>
        <p:spPr/>
        <p:txBody>
          <a:bodyPr/>
          <a:lstStyle/>
          <a:p>
            <a:br>
              <a:rPr lang="en-US" altLang="zh-TW" dirty="0"/>
            </a:br>
            <a:endParaRPr lang="zh-TW" altLang="en-US" dirty="0"/>
          </a:p>
        </p:txBody>
      </p:sp>
      <p:sp>
        <p:nvSpPr>
          <p:cNvPr id="4" name="投影片編號版面配置區 3">
            <a:extLst>
              <a:ext uri="{FF2B5EF4-FFF2-40B4-BE49-F238E27FC236}">
                <a16:creationId xmlns:a16="http://schemas.microsoft.com/office/drawing/2014/main" id="{89FF21DB-E45A-9776-CC22-1B01BE9B4CE4}"/>
              </a:ext>
            </a:extLst>
          </p:cNvPr>
          <p:cNvSpPr>
            <a:spLocks noGrp="1"/>
          </p:cNvSpPr>
          <p:nvPr>
            <p:ph type="sldNum" sz="quarter" idx="12"/>
          </p:nvPr>
        </p:nvSpPr>
        <p:spPr>
          <a:xfrm>
            <a:off x="4764816" y="7621178"/>
            <a:ext cx="444504" cy="142254"/>
          </a:xfrm>
        </p:spPr>
        <p:txBody>
          <a:bodyPr/>
          <a:lstStyle/>
          <a:p>
            <a:fld id="{51D2D507-09EA-4C6F-96ED-053C801F8797}" type="slidenum">
              <a:rPr lang="zh-TW" altLang="en-US" smtClean="0"/>
              <a:t>41</a:t>
            </a:fld>
            <a:endParaRPr lang="zh-TW" altLang="en-US"/>
          </a:p>
        </p:txBody>
      </p:sp>
      <p:sp>
        <p:nvSpPr>
          <p:cNvPr id="3" name="標題 1">
            <a:extLst>
              <a:ext uri="{FF2B5EF4-FFF2-40B4-BE49-F238E27FC236}">
                <a16:creationId xmlns:a16="http://schemas.microsoft.com/office/drawing/2014/main" id="{12827C07-A51F-DF05-3108-B911A5360FAB}"/>
              </a:ext>
            </a:extLst>
          </p:cNvPr>
          <p:cNvSpPr txBox="1">
            <a:spLocks/>
          </p:cNvSpPr>
          <p:nvPr/>
        </p:nvSpPr>
        <p:spPr>
          <a:xfrm>
            <a:off x="691952" y="155354"/>
            <a:ext cx="8229600" cy="761750"/>
          </a:xfrm>
          <a:prstGeom prst="rect">
            <a:avLst/>
          </a:prstGeom>
        </p:spPr>
        <p:txBody>
          <a:bodyPr/>
          <a:lstStyle>
            <a:lvl1pPr algn="ctr" defTabSz="914400" rtl="0" eaLnBrk="1" latinLnBrk="0" hangingPunct="1">
              <a:spcBef>
                <a:spcPct val="0"/>
              </a:spcBef>
              <a:buNone/>
              <a:defRPr sz="3600" kern="120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sz="3600" dirty="0"/>
              <a:t>專利</a:t>
            </a:r>
            <a:r>
              <a:rPr lang="zh-TW" altLang="en-US" dirty="0"/>
              <a:t>閱讀焦點</a:t>
            </a:r>
          </a:p>
        </p:txBody>
      </p:sp>
      <p:sp>
        <p:nvSpPr>
          <p:cNvPr id="20" name="投影片編號版面配置區 1">
            <a:extLst>
              <a:ext uri="{FF2B5EF4-FFF2-40B4-BE49-F238E27FC236}">
                <a16:creationId xmlns:a16="http://schemas.microsoft.com/office/drawing/2014/main" id="{AF8963FF-FABB-0742-CDE0-5CA5AF17699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rgbClr val="6699FF"/>
                </a:solidFill>
                <a:latin typeface="Adobe 繁黑體 Std B"/>
                <a:ea typeface="Adobe 繁黑體 Std B"/>
                <a:cs typeface="Adobe 繁黑體 Std B"/>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1D2D507-09EA-4C6F-96ED-053C801F8797}" type="slidenum">
              <a:rPr lang="zh-TW" altLang="en-US" smtClean="0"/>
              <a:pPr/>
              <a:t>41</a:t>
            </a:fld>
            <a:endParaRPr lang="zh-TW" altLang="en-US" dirty="0"/>
          </a:p>
        </p:txBody>
      </p:sp>
      <p:grpSp>
        <p:nvGrpSpPr>
          <p:cNvPr id="8" name="群組 7"/>
          <p:cNvGrpSpPr/>
          <p:nvPr/>
        </p:nvGrpSpPr>
        <p:grpSpPr>
          <a:xfrm>
            <a:off x="395536" y="1462822"/>
            <a:ext cx="927750" cy="4969695"/>
            <a:chOff x="7980495" y="2076956"/>
            <a:chExt cx="927750" cy="4279394"/>
          </a:xfrm>
        </p:grpSpPr>
        <p:sp>
          <p:nvSpPr>
            <p:cNvPr id="9" name="圓角矩形 8"/>
            <p:cNvSpPr/>
            <p:nvPr/>
          </p:nvSpPr>
          <p:spPr>
            <a:xfrm>
              <a:off x="8046171" y="2211680"/>
              <a:ext cx="796399" cy="35208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目的</a:t>
              </a:r>
            </a:p>
          </p:txBody>
        </p:sp>
        <p:sp>
          <p:nvSpPr>
            <p:cNvPr id="10" name="圓角矩形 9"/>
            <p:cNvSpPr/>
            <p:nvPr/>
          </p:nvSpPr>
          <p:spPr>
            <a:xfrm>
              <a:off x="8046171" y="3713567"/>
              <a:ext cx="796399" cy="35208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手段</a:t>
              </a:r>
            </a:p>
          </p:txBody>
        </p:sp>
        <p:sp>
          <p:nvSpPr>
            <p:cNvPr id="11" name="圓角矩形 10"/>
            <p:cNvSpPr/>
            <p:nvPr/>
          </p:nvSpPr>
          <p:spPr>
            <a:xfrm>
              <a:off x="8046303" y="5215454"/>
              <a:ext cx="796399" cy="35208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功效</a:t>
              </a:r>
            </a:p>
          </p:txBody>
        </p:sp>
        <p:sp>
          <p:nvSpPr>
            <p:cNvPr id="12" name="AutoShape 71"/>
            <p:cNvSpPr>
              <a:spLocks noChangeArrowheads="1"/>
            </p:cNvSpPr>
            <p:nvPr/>
          </p:nvSpPr>
          <p:spPr bwMode="auto">
            <a:xfrm rot="5400000">
              <a:off x="6304673" y="3752778"/>
              <a:ext cx="4279394" cy="927750"/>
            </a:xfrm>
            <a:prstGeom prst="rightArrow">
              <a:avLst>
                <a:gd name="adj1" fmla="val 70389"/>
                <a:gd name="adj2" fmla="val 62116"/>
              </a:avLst>
            </a:prstGeom>
            <a:solidFill>
              <a:srgbClr val="B2B2B2">
                <a:alpha val="30000"/>
              </a:srgbClr>
            </a:solidFill>
            <a:ln w="12700" algn="ctr">
              <a:solidFill>
                <a:schemeClr val="bg2"/>
              </a:solidFill>
              <a:round/>
              <a:headEnd/>
              <a:tailEnd/>
            </a:ln>
          </p:spPr>
          <p:txBody>
            <a:bodyPr anchor="ctr"/>
            <a:lstStyle/>
            <a:p>
              <a:pPr algn="ctr"/>
              <a:endParaRPr lang="zh-CN" altLang="zh-CN">
                <a:solidFill>
                  <a:srgbClr val="FFFFFF"/>
                </a:solidFill>
                <a:latin typeface="Calibri" pitchFamily="34" charset="0"/>
              </a:endParaRPr>
            </a:p>
          </p:txBody>
        </p:sp>
      </p:grpSp>
      <p:sp>
        <p:nvSpPr>
          <p:cNvPr id="5" name="圓角矩形 4"/>
          <p:cNvSpPr/>
          <p:nvPr/>
        </p:nvSpPr>
        <p:spPr>
          <a:xfrm>
            <a:off x="1547664" y="1619278"/>
            <a:ext cx="3384376" cy="121284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先前技術</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先前技術的缺失</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發明目的</a:t>
            </a:r>
          </a:p>
        </p:txBody>
      </p:sp>
      <p:sp>
        <p:nvSpPr>
          <p:cNvPr id="14" name="圓角矩形 13"/>
          <p:cNvSpPr/>
          <p:nvPr/>
        </p:nvSpPr>
        <p:spPr>
          <a:xfrm>
            <a:off x="1547664" y="3007046"/>
            <a:ext cx="3384376" cy="194421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符合發明目的的技術手段</a:t>
            </a:r>
            <a:endParaRPr lang="en-US" altLang="zh-TW"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核心技術手段</a:t>
            </a:r>
            <a:endParaRPr lang="en-US" altLang="zh-TW" dirty="0">
              <a:latin typeface="微軟正黑體" panose="020B0604030504040204" pitchFamily="34" charset="-120"/>
              <a:ea typeface="微軟正黑體" panose="020B0604030504040204" pitchFamily="34" charset="-120"/>
            </a:endParaRPr>
          </a:p>
          <a:p>
            <a:pPr marL="1200150" lvl="2"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特別技術特徵</a:t>
            </a:r>
            <a:endParaRPr lang="en-US" altLang="zh-TW" dirty="0">
              <a:latin typeface="微軟正黑體" panose="020B0604030504040204" pitchFamily="34" charset="-120"/>
              <a:ea typeface="微軟正黑體" panose="020B0604030504040204" pitchFamily="34" charset="-120"/>
            </a:endParaRPr>
          </a:p>
          <a:p>
            <a:pPr marL="1200150" lvl="2"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一般技術特徵</a:t>
            </a:r>
            <a:endParaRPr lang="en-US" altLang="zh-TW"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附加技術手段</a:t>
            </a:r>
          </a:p>
        </p:txBody>
      </p:sp>
      <p:sp>
        <p:nvSpPr>
          <p:cNvPr id="15" name="圓角矩形 14"/>
          <p:cNvSpPr/>
          <p:nvPr/>
        </p:nvSpPr>
        <p:spPr>
          <a:xfrm>
            <a:off x="1547664" y="5107585"/>
            <a:ext cx="3384376" cy="118091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達成有別於先前技術的功效</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無法預期之功效</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有利功效</a:t>
            </a:r>
            <a:endParaRPr lang="en-US" altLang="zh-TW" dirty="0">
              <a:latin typeface="微軟正黑體" panose="020B0604030504040204" pitchFamily="34" charset="-120"/>
              <a:ea typeface="微軟正黑體" panose="020B0604030504040204" pitchFamily="34" charset="-120"/>
            </a:endParaRPr>
          </a:p>
        </p:txBody>
      </p:sp>
      <p:sp>
        <p:nvSpPr>
          <p:cNvPr id="16" name="圓角矩形 15"/>
          <p:cNvSpPr/>
          <p:nvPr/>
        </p:nvSpPr>
        <p:spPr>
          <a:xfrm>
            <a:off x="5148064" y="1619278"/>
            <a:ext cx="3384376" cy="1212840"/>
          </a:xfrm>
          <a:prstGeom prst="roundRect">
            <a:avLst/>
          </a:prstGeom>
          <a:ln w="25400">
            <a:solidFill>
              <a:srgbClr val="00B0F0"/>
            </a:solidFill>
          </a:ln>
        </p:spPr>
        <p:style>
          <a:lnRef idx="1">
            <a:schemeClr val="dk1"/>
          </a:lnRef>
          <a:fillRef idx="2">
            <a:schemeClr val="dk1"/>
          </a:fillRef>
          <a:effectRef idx="1">
            <a:schemeClr val="dk1"/>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先前技術</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整體綜合考量</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通常知識</a:t>
            </a:r>
          </a:p>
        </p:txBody>
      </p:sp>
      <p:sp>
        <p:nvSpPr>
          <p:cNvPr id="17" name="圓角矩形 16"/>
          <p:cNvSpPr/>
          <p:nvPr/>
        </p:nvSpPr>
        <p:spPr>
          <a:xfrm>
            <a:off x="5148064" y="3007046"/>
            <a:ext cx="3384376" cy="1944216"/>
          </a:xfrm>
          <a:prstGeom prst="roundRect">
            <a:avLst/>
          </a:prstGeom>
          <a:ln w="25400">
            <a:solidFill>
              <a:srgbClr val="7030A0"/>
            </a:solidFill>
          </a:ln>
        </p:spPr>
        <p:style>
          <a:lnRef idx="1">
            <a:schemeClr val="dk1"/>
          </a:lnRef>
          <a:fillRef idx="2">
            <a:schemeClr val="dk1"/>
          </a:fillRef>
          <a:effectRef idx="1">
            <a:schemeClr val="dk1"/>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申請專利範圍</a:t>
            </a:r>
            <a:endParaRPr lang="en-US" altLang="zh-TW"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獨立項</a:t>
            </a:r>
            <a:endParaRPr lang="en-US" altLang="zh-TW"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附屬項</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發明內容</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實施方式</a:t>
            </a:r>
            <a:endParaRPr lang="en-US" altLang="zh-TW"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配合圖式</a:t>
            </a:r>
          </a:p>
        </p:txBody>
      </p:sp>
      <p:sp>
        <p:nvSpPr>
          <p:cNvPr id="18" name="圓角矩形 17"/>
          <p:cNvSpPr/>
          <p:nvPr/>
        </p:nvSpPr>
        <p:spPr>
          <a:xfrm>
            <a:off x="5148064" y="5107585"/>
            <a:ext cx="3384376" cy="1180917"/>
          </a:xfrm>
          <a:prstGeom prst="roundRect">
            <a:avLst/>
          </a:prstGeom>
          <a:ln w="25400">
            <a:solidFill>
              <a:srgbClr val="FFC000"/>
            </a:solidFill>
          </a:ln>
        </p:spPr>
        <p:style>
          <a:lnRef idx="1">
            <a:schemeClr val="dk1"/>
          </a:lnRef>
          <a:fillRef idx="2">
            <a:schemeClr val="dk1"/>
          </a:fillRef>
          <a:effectRef idx="1">
            <a:schemeClr val="dk1"/>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整體綜合考量</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通常知識與先前技術</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申復理由</a:t>
            </a:r>
            <a:endParaRPr lang="en-US" altLang="zh-TW" dirty="0">
              <a:latin typeface="微軟正黑體" panose="020B0604030504040204" pitchFamily="34" charset="-120"/>
              <a:ea typeface="微軟正黑體" panose="020B0604030504040204" pitchFamily="34" charset="-120"/>
            </a:endParaRPr>
          </a:p>
        </p:txBody>
      </p:sp>
      <p:sp>
        <p:nvSpPr>
          <p:cNvPr id="6" name="圓角矩形 5"/>
          <p:cNvSpPr/>
          <p:nvPr/>
        </p:nvSpPr>
        <p:spPr>
          <a:xfrm>
            <a:off x="1547664" y="1037380"/>
            <a:ext cx="3384376" cy="50696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b="1" dirty="0">
                <a:latin typeface="微軟正黑體" panose="020B0604030504040204" pitchFamily="34" charset="-120"/>
                <a:ea typeface="微軟正黑體" panose="020B0604030504040204" pitchFamily="34" charset="-120"/>
              </a:rPr>
              <a:t>閱讀要點</a:t>
            </a:r>
          </a:p>
        </p:txBody>
      </p:sp>
      <p:sp>
        <p:nvSpPr>
          <p:cNvPr id="21" name="圓角矩形 20"/>
          <p:cNvSpPr/>
          <p:nvPr/>
        </p:nvSpPr>
        <p:spPr>
          <a:xfrm>
            <a:off x="5168079" y="1035361"/>
            <a:ext cx="3384376" cy="50696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TW" altLang="en-US" b="1" dirty="0">
                <a:latin typeface="微軟正黑體" panose="020B0604030504040204" pitchFamily="34" charset="-120"/>
                <a:ea typeface="微軟正黑體" panose="020B0604030504040204" pitchFamily="34" charset="-120"/>
              </a:rPr>
              <a:t>專利文件段落</a:t>
            </a:r>
          </a:p>
        </p:txBody>
      </p:sp>
    </p:spTree>
    <p:extLst>
      <p:ext uri="{BB962C8B-B14F-4D97-AF65-F5344CB8AC3E}">
        <p14:creationId xmlns:p14="http://schemas.microsoft.com/office/powerpoint/2010/main" val="36094129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標題 1"/>
          <p:cNvSpPr>
            <a:spLocks noGrp="1"/>
          </p:cNvSpPr>
          <p:nvPr>
            <p:ph type="title"/>
          </p:nvPr>
        </p:nvSpPr>
        <p:spPr>
          <a:xfrm>
            <a:off x="990600" y="0"/>
            <a:ext cx="7153300" cy="762000"/>
          </a:xfrm>
        </p:spPr>
        <p:txBody>
          <a:bodyPr/>
          <a:lstStyle/>
          <a:p>
            <a:pPr eaLnBrk="1" hangingPunct="1"/>
            <a:r>
              <a:rPr lang="zh-TW" altLang="en-US" dirty="0">
                <a:latin typeface="標楷體" pitchFamily="65" charset="-120"/>
              </a:rPr>
              <a:t>說明書閱讀</a:t>
            </a:r>
          </a:p>
        </p:txBody>
      </p:sp>
      <p:sp>
        <p:nvSpPr>
          <p:cNvPr id="3" name="內容版面配置區 2"/>
          <p:cNvSpPr>
            <a:spLocks noGrp="1"/>
          </p:cNvSpPr>
          <p:nvPr>
            <p:ph idx="1"/>
          </p:nvPr>
        </p:nvSpPr>
        <p:spPr>
          <a:xfrm>
            <a:off x="457200" y="980728"/>
            <a:ext cx="8435280" cy="5616624"/>
          </a:xfrm>
        </p:spPr>
        <p:txBody>
          <a:bodyPr>
            <a:normAutofit fontScale="92500" lnSpcReduction="20000"/>
          </a:bodyPr>
          <a:lstStyle/>
          <a:p>
            <a:pPr eaLnBrk="1" hangingPunct="1">
              <a:defRPr/>
            </a:pPr>
            <a:r>
              <a:rPr lang="zh-TW" altLang="en-US" dirty="0">
                <a:latin typeface="標楷體" pitchFamily="65" charset="-120"/>
              </a:rPr>
              <a:t>有效掌握發明的本質</a:t>
            </a:r>
            <a:endParaRPr lang="en-US" altLang="zh-TW" dirty="0">
              <a:latin typeface="標楷體" pitchFamily="65" charset="-120"/>
            </a:endParaRPr>
          </a:p>
          <a:p>
            <a:pPr lvl="1" eaLnBrk="1" hangingPunct="1">
              <a:defRPr/>
            </a:pPr>
            <a:r>
              <a:rPr lang="zh-TW" altLang="en-US" dirty="0">
                <a:latin typeface="標楷體" pitchFamily="65" charset="-120"/>
              </a:rPr>
              <a:t>欲解決問題、達成功效、技術手段</a:t>
            </a:r>
            <a:endParaRPr lang="en-US" altLang="zh-TW" dirty="0">
              <a:latin typeface="標楷體" pitchFamily="65" charset="-120"/>
            </a:endParaRPr>
          </a:p>
          <a:p>
            <a:pPr lvl="1" eaLnBrk="1" hangingPunct="1">
              <a:defRPr/>
            </a:pPr>
            <a:r>
              <a:rPr lang="zh-TW" altLang="en-US" dirty="0">
                <a:latin typeface="標楷體" pitchFamily="65" charset="-120"/>
              </a:rPr>
              <a:t>從</a:t>
            </a:r>
            <a:r>
              <a:rPr lang="en-US" altLang="zh-TW" dirty="0">
                <a:latin typeface="標楷體" pitchFamily="65" charset="-120"/>
              </a:rPr>
              <a:t>[</a:t>
            </a:r>
            <a:r>
              <a:rPr lang="zh-TW" altLang="en-US" dirty="0">
                <a:latin typeface="標楷體" pitchFamily="65" charset="-120"/>
              </a:rPr>
              <a:t>先前技術</a:t>
            </a:r>
            <a:r>
              <a:rPr lang="en-US" altLang="zh-TW" dirty="0">
                <a:latin typeface="標楷體" pitchFamily="65" charset="-120"/>
              </a:rPr>
              <a:t>]</a:t>
            </a:r>
            <a:r>
              <a:rPr lang="zh-TW" altLang="en-US" dirty="0">
                <a:latin typeface="標楷體" pitchFamily="65" charset="-120"/>
              </a:rPr>
              <a:t>段落快速掌握</a:t>
            </a:r>
            <a:endParaRPr lang="en-US" altLang="zh-TW" dirty="0">
              <a:latin typeface="標楷體" pitchFamily="65" charset="-120"/>
            </a:endParaRPr>
          </a:p>
          <a:p>
            <a:pPr lvl="1" eaLnBrk="1" hangingPunct="1">
              <a:defRPr/>
            </a:pPr>
            <a:r>
              <a:rPr lang="zh-TW" altLang="en-US" dirty="0">
                <a:latin typeface="標楷體" pitchFamily="65" charset="-120"/>
              </a:rPr>
              <a:t>搭配圖式閱讀實施例第</a:t>
            </a:r>
            <a:r>
              <a:rPr lang="en-US" altLang="zh-TW" dirty="0">
                <a:latin typeface="標楷體" pitchFamily="65" charset="-120"/>
              </a:rPr>
              <a:t>1</a:t>
            </a:r>
            <a:r>
              <a:rPr lang="zh-TW" altLang="en-US" dirty="0">
                <a:latin typeface="標楷體" pitchFamily="65" charset="-120"/>
              </a:rPr>
              <a:t>例</a:t>
            </a:r>
            <a:endParaRPr lang="en-US" altLang="zh-TW" dirty="0">
              <a:latin typeface="標楷體" pitchFamily="65" charset="-120"/>
            </a:endParaRPr>
          </a:p>
          <a:p>
            <a:pPr eaLnBrk="1" hangingPunct="1">
              <a:defRPr/>
            </a:pPr>
            <a:r>
              <a:rPr lang="zh-TW" altLang="en-US" dirty="0">
                <a:latin typeface="標楷體" pitchFamily="65" charset="-120"/>
              </a:rPr>
              <a:t>掌握核心技術</a:t>
            </a:r>
            <a:endParaRPr lang="en-US" altLang="zh-TW" dirty="0">
              <a:latin typeface="標楷體" pitchFamily="65" charset="-120"/>
            </a:endParaRPr>
          </a:p>
          <a:p>
            <a:pPr lvl="1" eaLnBrk="1" hangingPunct="1">
              <a:defRPr/>
            </a:pPr>
            <a:r>
              <a:rPr lang="zh-TW" altLang="en-US" dirty="0">
                <a:latin typeface="標楷體" pitchFamily="65" charset="-120"/>
              </a:rPr>
              <a:t>從獨立項瞭解發明的核心技術</a:t>
            </a:r>
            <a:endParaRPr lang="en-US" altLang="zh-TW" dirty="0">
              <a:latin typeface="標楷體" pitchFamily="65" charset="-120"/>
            </a:endParaRPr>
          </a:p>
          <a:p>
            <a:pPr lvl="2">
              <a:defRPr/>
            </a:pPr>
            <a:r>
              <a:rPr lang="zh-TW" altLang="en-US" dirty="0">
                <a:latin typeface="標楷體" pitchFamily="65" charset="-120"/>
              </a:rPr>
              <a:t>主要技術特徵</a:t>
            </a:r>
            <a:endParaRPr lang="en-US" altLang="zh-TW" dirty="0">
              <a:latin typeface="標楷體" pitchFamily="65" charset="-120"/>
            </a:endParaRPr>
          </a:p>
          <a:p>
            <a:pPr lvl="1" eaLnBrk="1" hangingPunct="1">
              <a:defRPr/>
            </a:pPr>
            <a:r>
              <a:rPr lang="zh-TW" altLang="en-US" dirty="0">
                <a:latin typeface="標楷體" pitchFamily="65" charset="-120"/>
              </a:rPr>
              <a:t>界定請求項的涵蓋範圍</a:t>
            </a:r>
            <a:endParaRPr lang="en-US" altLang="zh-TW" dirty="0">
              <a:latin typeface="標楷體" pitchFamily="65" charset="-120"/>
            </a:endParaRPr>
          </a:p>
          <a:p>
            <a:pPr lvl="2">
              <a:defRPr/>
            </a:pPr>
            <a:r>
              <a:rPr lang="zh-TW" altLang="en-US" dirty="0">
                <a:latin typeface="標楷體" pitchFamily="65" charset="-120"/>
              </a:rPr>
              <a:t>說明書是否支持</a:t>
            </a:r>
            <a:endParaRPr lang="en-US" altLang="zh-TW" dirty="0">
              <a:latin typeface="標楷體" pitchFamily="65" charset="-120"/>
            </a:endParaRPr>
          </a:p>
          <a:p>
            <a:pPr lvl="2">
              <a:defRPr/>
            </a:pPr>
            <a:r>
              <a:rPr lang="zh-TW" altLang="en-US" dirty="0">
                <a:latin typeface="標楷體" pitchFamily="65" charset="-120"/>
              </a:rPr>
              <a:t>說明書是否明確且充分而可以據以實現</a:t>
            </a:r>
            <a:endParaRPr lang="en-US" altLang="zh-TW" dirty="0">
              <a:latin typeface="標楷體" pitchFamily="65" charset="-120"/>
            </a:endParaRPr>
          </a:p>
          <a:p>
            <a:pPr eaLnBrk="1" hangingPunct="1">
              <a:defRPr/>
            </a:pPr>
            <a:r>
              <a:rPr lang="zh-TW" altLang="en-US" dirty="0">
                <a:latin typeface="標楷體" pitchFamily="65" charset="-120"/>
              </a:rPr>
              <a:t>檢索前準備</a:t>
            </a:r>
            <a:endParaRPr lang="en-US" altLang="zh-TW" dirty="0">
              <a:latin typeface="標楷體" pitchFamily="65" charset="-120"/>
            </a:endParaRPr>
          </a:p>
          <a:p>
            <a:pPr lvl="1">
              <a:defRPr/>
            </a:pPr>
            <a:r>
              <a:rPr lang="zh-TW" altLang="en-US" dirty="0">
                <a:latin typeface="標楷體" pitchFamily="65" charset="-120"/>
              </a:rPr>
              <a:t>通常知識的理解</a:t>
            </a:r>
            <a:endParaRPr lang="en-US" altLang="zh-TW" dirty="0">
              <a:latin typeface="標楷體" pitchFamily="65" charset="-120"/>
            </a:endParaRPr>
          </a:p>
          <a:p>
            <a:pPr lvl="2">
              <a:defRPr/>
            </a:pPr>
            <a:r>
              <a:rPr lang="zh-TW" altLang="en-US" dirty="0">
                <a:latin typeface="標楷體" pitchFamily="65" charset="-120"/>
              </a:rPr>
              <a:t>檢索前</a:t>
            </a:r>
            <a:endParaRPr lang="en-US" altLang="zh-TW" dirty="0">
              <a:latin typeface="標楷體" pitchFamily="65" charset="-120"/>
            </a:endParaRPr>
          </a:p>
          <a:p>
            <a:pPr lvl="2">
              <a:defRPr/>
            </a:pPr>
            <a:r>
              <a:rPr lang="zh-TW" altLang="en-US" dirty="0">
                <a:latin typeface="標楷體" pitchFamily="65" charset="-120"/>
              </a:rPr>
              <a:t>檢索後</a:t>
            </a:r>
          </a:p>
        </p:txBody>
      </p:sp>
      <p:sp>
        <p:nvSpPr>
          <p:cNvPr id="5" name="投影片編號版面配置區 4"/>
          <p:cNvSpPr>
            <a:spLocks noGrp="1"/>
          </p:cNvSpPr>
          <p:nvPr>
            <p:ph type="sldNum" sz="quarter" idx="12"/>
          </p:nvPr>
        </p:nvSpPr>
        <p:spPr>
          <a:xfrm>
            <a:off x="3929058" y="6492875"/>
            <a:ext cx="2133600" cy="365125"/>
          </a:xfrm>
        </p:spPr>
        <p:txBody>
          <a:bodyPr/>
          <a:lstStyle/>
          <a:p>
            <a:pPr algn="ctr">
              <a:defRPr/>
            </a:pPr>
            <a:fld id="{BF94F6AE-91C8-4754-AA85-B9548BB6DFEC}" type="slidenum">
              <a:rPr lang="zh-TW" altLang="en-US"/>
              <a:pPr algn="ctr">
                <a:defRPr/>
              </a:pPr>
              <a:t>42</a:t>
            </a:fld>
            <a:endParaRPr lang="zh-TW" altLang="en-US" dirty="0"/>
          </a:p>
        </p:txBody>
      </p:sp>
      <p:sp>
        <p:nvSpPr>
          <p:cNvPr id="2" name="投影片編號版面配置區 1">
            <a:extLst>
              <a:ext uri="{FF2B5EF4-FFF2-40B4-BE49-F238E27FC236}">
                <a16:creationId xmlns:a16="http://schemas.microsoft.com/office/drawing/2014/main" id="{C39C3289-0327-59EF-072A-C08485A8686E}"/>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rgbClr val="6699FF"/>
                </a:solidFill>
                <a:latin typeface="Adobe 繁黑體 Std B"/>
                <a:ea typeface="Adobe 繁黑體 Std B"/>
                <a:cs typeface="Adobe 繁黑體 Std B"/>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1D2D507-09EA-4C6F-96ED-053C801F8797}" type="slidenum">
              <a:rPr lang="zh-TW" altLang="en-US" smtClean="0"/>
              <a:pPr/>
              <a:t>42</a:t>
            </a:fld>
            <a:endParaRPr lang="zh-TW"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691680" y="2954"/>
            <a:ext cx="7077472" cy="761750"/>
          </a:xfrm>
        </p:spPr>
        <p:txBody>
          <a:bodyPr>
            <a:normAutofit fontScale="90000"/>
          </a:bodyPr>
          <a:lstStyle/>
          <a:p>
            <a:pPr>
              <a:defRPr/>
            </a:pPr>
            <a:r>
              <a:rPr lang="zh-TW" altLang="en-US" dirty="0">
                <a:latin typeface="標楷體" pitchFamily="65" charset="-120"/>
              </a:rPr>
              <a:t>說明書閱讀</a:t>
            </a:r>
            <a:r>
              <a:rPr lang="en-US" altLang="zh-TW" dirty="0">
                <a:latin typeface="標楷體" pitchFamily="65" charset="-120"/>
              </a:rPr>
              <a:t>-</a:t>
            </a:r>
            <a:r>
              <a:rPr lang="zh-TW" altLang="en-US" sz="2700" dirty="0">
                <a:latin typeface="標楷體" pitchFamily="65" charset="-120"/>
              </a:rPr>
              <a:t>可據以實現、支持、必要技術特徵</a:t>
            </a:r>
          </a:p>
        </p:txBody>
      </p:sp>
      <p:sp>
        <p:nvSpPr>
          <p:cNvPr id="25603" name="內容版面配置區 2"/>
          <p:cNvSpPr>
            <a:spLocks noGrp="1"/>
          </p:cNvSpPr>
          <p:nvPr>
            <p:ph idx="1"/>
          </p:nvPr>
        </p:nvSpPr>
        <p:spPr/>
        <p:txBody>
          <a:bodyPr/>
          <a:lstStyle/>
          <a:p>
            <a:pPr eaLnBrk="1" hangingPunct="1"/>
            <a:r>
              <a:rPr lang="zh-TW" altLang="en-US" sz="2400" dirty="0">
                <a:latin typeface="標楷體" pitchFamily="65" charset="-120"/>
              </a:rPr>
              <a:t>說明書應明確且充分揭露，使該發明所屬技術領域中具有通常知識者，能瞭解其內容，並可據以實現。</a:t>
            </a:r>
            <a:r>
              <a:rPr lang="en-US" altLang="zh-TW" sz="2400" dirty="0">
                <a:latin typeface="標楷體" pitchFamily="65" charset="-120"/>
              </a:rPr>
              <a:t>(</a:t>
            </a:r>
            <a:r>
              <a:rPr lang="zh-TW" altLang="en-US" sz="2400" dirty="0">
                <a:latin typeface="標楷體" pitchFamily="65" charset="-120"/>
              </a:rPr>
              <a:t>專</a:t>
            </a:r>
            <a:r>
              <a:rPr lang="en-US" altLang="zh-TW" sz="2400" dirty="0">
                <a:latin typeface="標楷體" pitchFamily="65" charset="-120"/>
              </a:rPr>
              <a:t>26-1)</a:t>
            </a:r>
          </a:p>
          <a:p>
            <a:pPr eaLnBrk="1" hangingPunct="1"/>
            <a:r>
              <a:rPr lang="zh-TW" altLang="en-US" sz="2400" dirty="0">
                <a:latin typeface="標楷體" pitchFamily="65" charset="-120"/>
              </a:rPr>
              <a:t>申請專利範圍應界定申請專利之發明；其得包括一項以上之請求項，各請求項應以明確、簡潔之方式記載，且必須為說明書所支持。</a:t>
            </a:r>
            <a:r>
              <a:rPr lang="en-US" altLang="zh-TW" sz="2400" dirty="0">
                <a:latin typeface="標楷體" pitchFamily="65" charset="-120"/>
              </a:rPr>
              <a:t>(</a:t>
            </a:r>
            <a:r>
              <a:rPr lang="zh-TW" altLang="en-US" sz="2400" dirty="0">
                <a:latin typeface="標楷體" pitchFamily="65" charset="-120"/>
              </a:rPr>
              <a:t>專</a:t>
            </a:r>
            <a:r>
              <a:rPr lang="en-US" altLang="zh-TW" sz="2400" dirty="0">
                <a:latin typeface="標楷體" pitchFamily="65" charset="-120"/>
              </a:rPr>
              <a:t>26-2)</a:t>
            </a:r>
          </a:p>
          <a:p>
            <a:r>
              <a:rPr lang="zh-TW" altLang="en-US" sz="2400" dirty="0">
                <a:latin typeface="標楷體" pitchFamily="65" charset="-120"/>
              </a:rPr>
              <a:t>獨立項應敘明申請專利之標的名稱及申請人所認定之發明之必要技術特徵。</a:t>
            </a:r>
            <a:r>
              <a:rPr lang="en-US" altLang="zh-TW" sz="2400" dirty="0">
                <a:latin typeface="標楷體" pitchFamily="65" charset="-120"/>
              </a:rPr>
              <a:t>(</a:t>
            </a:r>
            <a:r>
              <a:rPr lang="zh-TW" altLang="en-US" sz="2400" dirty="0">
                <a:latin typeface="標楷體" pitchFamily="65" charset="-120"/>
              </a:rPr>
              <a:t>專</a:t>
            </a:r>
            <a:r>
              <a:rPr lang="en-US" altLang="zh-TW" sz="2400" dirty="0">
                <a:latin typeface="標楷體" pitchFamily="65" charset="-120"/>
              </a:rPr>
              <a:t>26-4)(</a:t>
            </a:r>
            <a:r>
              <a:rPr lang="zh-TW" altLang="en-US" sz="2400" dirty="0">
                <a:latin typeface="標楷體" pitchFamily="65" charset="-120"/>
              </a:rPr>
              <a:t>細則</a:t>
            </a:r>
            <a:r>
              <a:rPr lang="en-US" altLang="zh-TW" sz="2400" dirty="0">
                <a:latin typeface="標楷體" pitchFamily="65" charset="-120"/>
              </a:rPr>
              <a:t>18-2)</a:t>
            </a:r>
          </a:p>
          <a:p>
            <a:pPr lvl="1"/>
            <a:r>
              <a:rPr lang="zh-TW" altLang="en-US" sz="2400" dirty="0">
                <a:latin typeface="標楷體" pitchFamily="65" charset="-120"/>
              </a:rPr>
              <a:t>必要技術特徵，指申請專利之發明為解決問題所不可或缺的技術特徵。如依說明書之記載，並參酌申請時之通常知識，認定獨立項未敘明必要技術特徵，屬請求項不明確之情形。</a:t>
            </a:r>
            <a:r>
              <a:rPr lang="en-US" altLang="zh-TW" sz="2400" dirty="0">
                <a:latin typeface="標楷體" pitchFamily="65" charset="-120"/>
              </a:rPr>
              <a:t>(</a:t>
            </a:r>
            <a:r>
              <a:rPr lang="zh-TW" altLang="en-US" sz="2400" dirty="0">
                <a:latin typeface="標楷體" pitchFamily="65" charset="-120"/>
              </a:rPr>
              <a:t>專利審查基準第二篇第十二章</a:t>
            </a:r>
            <a:r>
              <a:rPr lang="en-US" altLang="zh-TW" sz="2400" dirty="0">
                <a:latin typeface="標楷體" pitchFamily="65" charset="-120"/>
              </a:rPr>
              <a:t>2.2.3.6)</a:t>
            </a:r>
          </a:p>
        </p:txBody>
      </p:sp>
      <p:sp>
        <p:nvSpPr>
          <p:cNvPr id="5" name="投影片編號版面配置區 4"/>
          <p:cNvSpPr>
            <a:spLocks noGrp="1"/>
          </p:cNvSpPr>
          <p:nvPr>
            <p:ph type="sldNum" sz="quarter" idx="12"/>
          </p:nvPr>
        </p:nvSpPr>
        <p:spPr>
          <a:xfrm>
            <a:off x="4000496" y="6492875"/>
            <a:ext cx="2133600" cy="365125"/>
          </a:xfrm>
        </p:spPr>
        <p:txBody>
          <a:bodyPr/>
          <a:lstStyle/>
          <a:p>
            <a:pPr algn="ctr">
              <a:defRPr/>
            </a:pPr>
            <a:fld id="{A1ED6813-6BFC-4F41-B815-AE68D29FE7F5}" type="slidenum">
              <a:rPr lang="zh-TW" altLang="en-US"/>
              <a:pPr algn="ctr">
                <a:defRPr/>
              </a:pPr>
              <a:t>43</a:t>
            </a:fld>
            <a:endParaRPr lang="zh-TW"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標題 1"/>
          <p:cNvSpPr>
            <a:spLocks noGrp="1"/>
          </p:cNvSpPr>
          <p:nvPr>
            <p:ph type="title"/>
          </p:nvPr>
        </p:nvSpPr>
        <p:spPr/>
        <p:txBody>
          <a:bodyPr/>
          <a:lstStyle/>
          <a:p>
            <a:pPr eaLnBrk="1" hangingPunct="1"/>
            <a:r>
              <a:rPr lang="zh-TW" altLang="en-US">
                <a:latin typeface="標楷體" pitchFamily="65" charset="-120"/>
              </a:rPr>
              <a:t>必要技術特徵</a:t>
            </a:r>
          </a:p>
        </p:txBody>
      </p:sp>
      <p:sp>
        <p:nvSpPr>
          <p:cNvPr id="28675" name="內容版面配置區 2"/>
          <p:cNvSpPr>
            <a:spLocks noGrp="1"/>
          </p:cNvSpPr>
          <p:nvPr>
            <p:ph idx="1"/>
          </p:nvPr>
        </p:nvSpPr>
        <p:spPr>
          <a:xfrm>
            <a:off x="492919" y="1108869"/>
            <a:ext cx="8229600" cy="1257300"/>
          </a:xfrm>
        </p:spPr>
        <p:txBody>
          <a:bodyPr>
            <a:normAutofit/>
          </a:bodyPr>
          <a:lstStyle/>
          <a:p>
            <a:pPr eaLnBrk="1" hangingPunct="1"/>
            <a:r>
              <a:rPr lang="zh-TW" altLang="en-US" sz="2400" dirty="0">
                <a:latin typeface="標楷體" pitchFamily="65" charset="-120"/>
              </a:rPr>
              <a:t>必要技術特徵，指申請專利之發明為</a:t>
            </a:r>
            <a:r>
              <a:rPr lang="zh-TW" altLang="en-US" sz="2400" b="1" dirty="0">
                <a:latin typeface="標楷體" pitchFamily="65" charset="-120"/>
              </a:rPr>
              <a:t>解決問題所不可或缺的技術特徵</a:t>
            </a:r>
            <a:r>
              <a:rPr lang="zh-TW" altLang="en-US" sz="2400" dirty="0">
                <a:latin typeface="標楷體" pitchFamily="65" charset="-120"/>
              </a:rPr>
              <a:t>，其整體構成發明的技術手段，係申請專利之發明</a:t>
            </a:r>
            <a:r>
              <a:rPr lang="zh-TW" altLang="en-US" sz="2400" b="1" dirty="0">
                <a:latin typeface="標楷體" pitchFamily="65" charset="-120"/>
              </a:rPr>
              <a:t>與先前技術比對之基礎</a:t>
            </a:r>
          </a:p>
        </p:txBody>
      </p:sp>
      <p:sp>
        <p:nvSpPr>
          <p:cNvPr id="5" name="投影片編號版面配置區 4"/>
          <p:cNvSpPr>
            <a:spLocks noGrp="1"/>
          </p:cNvSpPr>
          <p:nvPr>
            <p:ph type="sldNum" sz="quarter" idx="12"/>
          </p:nvPr>
        </p:nvSpPr>
        <p:spPr>
          <a:xfrm>
            <a:off x="4071934" y="6492875"/>
            <a:ext cx="2133600" cy="365125"/>
          </a:xfrm>
        </p:spPr>
        <p:txBody>
          <a:bodyPr/>
          <a:lstStyle/>
          <a:p>
            <a:pPr algn="ctr">
              <a:defRPr/>
            </a:pPr>
            <a:fld id="{CD8F42D9-02FB-41C1-A541-5BAEC1AC4E01}" type="slidenum">
              <a:rPr lang="zh-TW" altLang="en-US"/>
              <a:pPr algn="ctr">
                <a:defRPr/>
              </a:pPr>
              <a:t>44</a:t>
            </a:fld>
            <a:endParaRPr lang="zh-TW" altLang="en-US" dirty="0"/>
          </a:p>
        </p:txBody>
      </p:sp>
      <p:sp>
        <p:nvSpPr>
          <p:cNvPr id="6" name="矩形 5"/>
          <p:cNvSpPr/>
          <p:nvPr/>
        </p:nvSpPr>
        <p:spPr>
          <a:xfrm>
            <a:off x="2428875" y="3000375"/>
            <a:ext cx="4286250" cy="5715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TW" altLang="en-US" sz="2800" b="1" dirty="0">
                <a:solidFill>
                  <a:schemeClr val="tx1"/>
                </a:solidFill>
                <a:latin typeface="微軟正黑體" panose="020B0604030504040204" pitchFamily="34" charset="-120"/>
                <a:ea typeface="微軟正黑體" panose="020B0604030504040204" pitchFamily="34" charset="-120"/>
              </a:rPr>
              <a:t>解決問題的技術手段</a:t>
            </a:r>
          </a:p>
        </p:txBody>
      </p:sp>
      <p:sp>
        <p:nvSpPr>
          <p:cNvPr id="7" name="矩形 6"/>
          <p:cNvSpPr/>
          <p:nvPr/>
        </p:nvSpPr>
        <p:spPr>
          <a:xfrm>
            <a:off x="1000125" y="4000500"/>
            <a:ext cx="7215188" cy="14287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TW" altLang="en-US" sz="2400" dirty="0">
              <a:solidFill>
                <a:schemeClr val="tx1"/>
              </a:solidFill>
              <a:latin typeface="標楷體" pitchFamily="65" charset="-120"/>
            </a:endParaRPr>
          </a:p>
        </p:txBody>
      </p:sp>
      <p:sp>
        <p:nvSpPr>
          <p:cNvPr id="8" name="矩形 7"/>
          <p:cNvSpPr/>
          <p:nvPr/>
        </p:nvSpPr>
        <p:spPr>
          <a:xfrm>
            <a:off x="2500313" y="5868988"/>
            <a:ext cx="4286250" cy="5715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TW" altLang="en-US" sz="2400" b="1" dirty="0">
                <a:solidFill>
                  <a:schemeClr val="tx1"/>
                </a:solidFill>
                <a:latin typeface="微軟正黑體" panose="020B0604030504040204" pitchFamily="34" charset="-120"/>
                <a:ea typeface="微軟正黑體" panose="020B0604030504040204" pitchFamily="34" charset="-120"/>
              </a:rPr>
              <a:t>達成之功效</a:t>
            </a:r>
          </a:p>
        </p:txBody>
      </p:sp>
      <p:sp>
        <p:nvSpPr>
          <p:cNvPr id="9" name="矩形 8"/>
          <p:cNvSpPr/>
          <p:nvPr/>
        </p:nvSpPr>
        <p:spPr>
          <a:xfrm>
            <a:off x="1214438" y="4606925"/>
            <a:ext cx="1928812" cy="5715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TW" altLang="en-US" sz="2400" b="1" dirty="0">
                <a:solidFill>
                  <a:schemeClr val="tx1"/>
                </a:solidFill>
                <a:latin typeface="微軟正黑體" panose="020B0604030504040204" pitchFamily="34" charset="-120"/>
                <a:ea typeface="微軟正黑體" panose="020B0604030504040204" pitchFamily="34" charset="-120"/>
              </a:rPr>
              <a:t>技術特徵</a:t>
            </a:r>
            <a:r>
              <a:rPr lang="en-US" altLang="zh-TW" sz="2400" b="1" dirty="0">
                <a:solidFill>
                  <a:schemeClr val="tx1"/>
                </a:solidFill>
                <a:latin typeface="微軟正黑體" panose="020B0604030504040204" pitchFamily="34" charset="-120"/>
                <a:ea typeface="微軟正黑體" panose="020B0604030504040204" pitchFamily="34" charset="-120"/>
              </a:rPr>
              <a:t>1</a:t>
            </a:r>
            <a:endParaRPr lang="zh-TW" altLang="en-US" sz="2400" b="1" dirty="0">
              <a:solidFill>
                <a:schemeClr val="tx1"/>
              </a:solidFill>
              <a:latin typeface="微軟正黑體" panose="020B0604030504040204" pitchFamily="34" charset="-120"/>
              <a:ea typeface="微軟正黑體" panose="020B0604030504040204" pitchFamily="34" charset="-120"/>
            </a:endParaRPr>
          </a:p>
        </p:txBody>
      </p:sp>
      <p:sp>
        <p:nvSpPr>
          <p:cNvPr id="10" name="矩形 9"/>
          <p:cNvSpPr/>
          <p:nvPr/>
        </p:nvSpPr>
        <p:spPr>
          <a:xfrm>
            <a:off x="3571875" y="4606925"/>
            <a:ext cx="1928813" cy="5715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TW" altLang="en-US" sz="2400" b="1" dirty="0">
                <a:solidFill>
                  <a:schemeClr val="tx1"/>
                </a:solidFill>
                <a:latin typeface="微軟正黑體" panose="020B0604030504040204" pitchFamily="34" charset="-120"/>
                <a:ea typeface="微軟正黑體" panose="020B0604030504040204" pitchFamily="34" charset="-120"/>
              </a:rPr>
              <a:t>技術特徵</a:t>
            </a:r>
            <a:r>
              <a:rPr lang="en-US" altLang="zh-TW" sz="2400" b="1" dirty="0">
                <a:solidFill>
                  <a:schemeClr val="tx1"/>
                </a:solidFill>
                <a:latin typeface="微軟正黑體" panose="020B0604030504040204" pitchFamily="34" charset="-120"/>
                <a:ea typeface="微軟正黑體" panose="020B0604030504040204" pitchFamily="34" charset="-120"/>
              </a:rPr>
              <a:t>2</a:t>
            </a:r>
            <a:endParaRPr lang="zh-TW" altLang="en-US" sz="2400" b="1" dirty="0">
              <a:solidFill>
                <a:schemeClr val="tx1"/>
              </a:solidFill>
              <a:latin typeface="微軟正黑體" panose="020B0604030504040204" pitchFamily="34" charset="-120"/>
              <a:ea typeface="微軟正黑體" panose="020B0604030504040204" pitchFamily="34" charset="-120"/>
            </a:endParaRPr>
          </a:p>
        </p:txBody>
      </p:sp>
      <p:sp>
        <p:nvSpPr>
          <p:cNvPr id="11" name="矩形 10"/>
          <p:cNvSpPr/>
          <p:nvPr/>
        </p:nvSpPr>
        <p:spPr>
          <a:xfrm>
            <a:off x="5929313" y="4606925"/>
            <a:ext cx="1928812" cy="5715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TW" altLang="en-US" sz="2400" b="1" dirty="0">
                <a:solidFill>
                  <a:schemeClr val="tx1"/>
                </a:solidFill>
                <a:latin typeface="微軟正黑體" panose="020B0604030504040204" pitchFamily="34" charset="-120"/>
                <a:ea typeface="微軟正黑體" panose="020B0604030504040204" pitchFamily="34" charset="-120"/>
              </a:rPr>
              <a:t>技術特徵</a:t>
            </a:r>
            <a:r>
              <a:rPr lang="en-US" altLang="zh-TW" sz="2400" b="1" dirty="0">
                <a:solidFill>
                  <a:schemeClr val="tx1"/>
                </a:solidFill>
                <a:latin typeface="微軟正黑體" panose="020B0604030504040204" pitchFamily="34" charset="-120"/>
                <a:ea typeface="微軟正黑體" panose="020B0604030504040204" pitchFamily="34" charset="-120"/>
              </a:rPr>
              <a:t>3</a:t>
            </a:r>
            <a:endParaRPr lang="zh-TW" altLang="en-US" sz="2400" b="1" dirty="0">
              <a:solidFill>
                <a:schemeClr val="tx1"/>
              </a:solidFill>
              <a:latin typeface="微軟正黑體" panose="020B0604030504040204" pitchFamily="34" charset="-120"/>
              <a:ea typeface="微軟正黑體" panose="020B0604030504040204" pitchFamily="34" charset="-120"/>
            </a:endParaRPr>
          </a:p>
        </p:txBody>
      </p:sp>
      <p:sp>
        <p:nvSpPr>
          <p:cNvPr id="12" name="矩形 11"/>
          <p:cNvSpPr/>
          <p:nvPr/>
        </p:nvSpPr>
        <p:spPr>
          <a:xfrm>
            <a:off x="1143000" y="4000500"/>
            <a:ext cx="4286250" cy="571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TW" altLang="en-US" sz="2400" b="1" dirty="0">
                <a:solidFill>
                  <a:schemeClr val="tx1"/>
                </a:solidFill>
                <a:latin typeface="微軟正黑體" panose="020B0604030504040204" pitchFamily="34" charset="-120"/>
                <a:ea typeface="微軟正黑體" panose="020B0604030504040204" pitchFamily="34" charset="-120"/>
              </a:rPr>
              <a:t>請求項</a:t>
            </a:r>
          </a:p>
        </p:txBody>
      </p:sp>
      <p:sp>
        <p:nvSpPr>
          <p:cNvPr id="13" name="向下箭號 12"/>
          <p:cNvSpPr/>
          <p:nvPr/>
        </p:nvSpPr>
        <p:spPr>
          <a:xfrm>
            <a:off x="4111625" y="3571875"/>
            <a:ext cx="928688" cy="428625"/>
          </a:xfrm>
          <a:prstGeom prst="downArrow">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TW" altLang="en-US"/>
          </a:p>
        </p:txBody>
      </p:sp>
      <p:sp>
        <p:nvSpPr>
          <p:cNvPr id="14" name="向下箭號 13"/>
          <p:cNvSpPr/>
          <p:nvPr/>
        </p:nvSpPr>
        <p:spPr>
          <a:xfrm>
            <a:off x="4143375" y="5429250"/>
            <a:ext cx="928688" cy="428625"/>
          </a:xfrm>
          <a:prstGeom prst="downArrow">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TW" altLang="en-US"/>
          </a:p>
        </p:txBody>
      </p:sp>
      <p:cxnSp>
        <p:nvCxnSpPr>
          <p:cNvPr id="17" name="直線單箭頭接點 16"/>
          <p:cNvCxnSpPr>
            <a:stCxn id="13" idx="2"/>
            <a:endCxn id="11" idx="0"/>
          </p:cNvCxnSpPr>
          <p:nvPr/>
        </p:nvCxnSpPr>
        <p:spPr>
          <a:xfrm rot="16200000" flipH="1">
            <a:off x="5431631" y="3144044"/>
            <a:ext cx="606425" cy="2319338"/>
          </a:xfrm>
          <a:prstGeom prst="straightConnector1">
            <a:avLst/>
          </a:prstGeom>
          <a:ln w="25400">
            <a:prstDash val="dash"/>
            <a:tailEnd type="arrow"/>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stCxn id="11" idx="2"/>
            <a:endCxn id="14" idx="0"/>
          </p:cNvCxnSpPr>
          <p:nvPr/>
        </p:nvCxnSpPr>
        <p:spPr>
          <a:xfrm rot="5400000">
            <a:off x="5626100" y="4160838"/>
            <a:ext cx="250825" cy="2286000"/>
          </a:xfrm>
          <a:prstGeom prst="straightConnector1">
            <a:avLst/>
          </a:prstGeom>
          <a:ln w="25400">
            <a:prstDash val="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標題 1"/>
          <p:cNvSpPr>
            <a:spLocks noGrp="1"/>
          </p:cNvSpPr>
          <p:nvPr>
            <p:ph type="title"/>
          </p:nvPr>
        </p:nvSpPr>
        <p:spPr/>
        <p:txBody>
          <a:bodyPr/>
          <a:lstStyle/>
          <a:p>
            <a:r>
              <a:rPr lang="zh-TW" altLang="en-US" dirty="0">
                <a:latin typeface="標楷體" pitchFamily="65" charset="-120"/>
              </a:rPr>
              <a:t>說明書閱讀</a:t>
            </a:r>
            <a:r>
              <a:rPr lang="en-US" altLang="zh-TW" dirty="0">
                <a:latin typeface="標楷體" pitchFamily="65" charset="-120"/>
              </a:rPr>
              <a:t>-</a:t>
            </a:r>
            <a:r>
              <a:rPr lang="zh-TW" altLang="en-US" dirty="0">
                <a:latin typeface="標楷體" pitchFamily="65" charset="-120"/>
              </a:rPr>
              <a:t>可據以實現</a:t>
            </a:r>
          </a:p>
        </p:txBody>
      </p:sp>
      <p:sp>
        <p:nvSpPr>
          <p:cNvPr id="3" name="內容版面配置區 2"/>
          <p:cNvSpPr>
            <a:spLocks noGrp="1"/>
          </p:cNvSpPr>
          <p:nvPr>
            <p:ph idx="1"/>
          </p:nvPr>
        </p:nvSpPr>
        <p:spPr/>
        <p:txBody>
          <a:bodyPr>
            <a:normAutofit/>
          </a:bodyPr>
          <a:lstStyle/>
          <a:p>
            <a:pPr eaLnBrk="1" hangingPunct="1">
              <a:defRPr/>
            </a:pPr>
            <a:r>
              <a:rPr lang="zh-TW" altLang="en-US" dirty="0">
                <a:latin typeface="標楷體" pitchFamily="65" charset="-120"/>
              </a:rPr>
              <a:t>基礎</a:t>
            </a:r>
            <a:endParaRPr lang="en-US" altLang="zh-TW" dirty="0">
              <a:latin typeface="標楷體" pitchFamily="65" charset="-120"/>
            </a:endParaRPr>
          </a:p>
          <a:p>
            <a:pPr lvl="1">
              <a:defRPr/>
            </a:pPr>
            <a:r>
              <a:rPr lang="zh-TW" altLang="en-US" dirty="0"/>
              <a:t>專利法第</a:t>
            </a:r>
            <a:r>
              <a:rPr lang="en-US" altLang="zh-TW" dirty="0"/>
              <a:t>26</a:t>
            </a:r>
            <a:r>
              <a:rPr lang="zh-TW" altLang="en-US" dirty="0"/>
              <a:t>條第</a:t>
            </a:r>
            <a:r>
              <a:rPr lang="en-US" altLang="zh-TW" dirty="0"/>
              <a:t>1</a:t>
            </a:r>
            <a:r>
              <a:rPr lang="zh-TW" altLang="en-US" dirty="0"/>
              <a:t>項規定「使該發明所屬技術領域中具有通常知識者，能瞭解其內容，並可據以實現」，指說明書應明確且充分記載申請專利之發明，記載之用語亦應明確，使該發明所屬技術領域中</a:t>
            </a:r>
            <a:r>
              <a:rPr lang="zh-TW" altLang="en-US" b="1" dirty="0"/>
              <a:t>具有通常知識者</a:t>
            </a:r>
            <a:r>
              <a:rPr lang="zh-TW" altLang="en-US" dirty="0"/>
              <a:t>，在</a:t>
            </a:r>
            <a:r>
              <a:rPr lang="zh-TW" altLang="en-US" b="1" dirty="0"/>
              <a:t>說明書</a:t>
            </a:r>
            <a:r>
              <a:rPr lang="zh-TW" altLang="en-US" dirty="0"/>
              <a:t>、</a:t>
            </a:r>
            <a:r>
              <a:rPr lang="zh-TW" altLang="en-US" b="1" dirty="0"/>
              <a:t>申請專利範圍</a:t>
            </a:r>
            <a:r>
              <a:rPr lang="zh-TW" altLang="en-US" dirty="0"/>
              <a:t>及</a:t>
            </a:r>
            <a:r>
              <a:rPr lang="zh-TW" altLang="en-US" b="1" dirty="0"/>
              <a:t>圖式</a:t>
            </a:r>
            <a:r>
              <a:rPr lang="zh-TW" altLang="en-US" dirty="0"/>
              <a:t>三者整體之基礎上，參酌</a:t>
            </a:r>
            <a:r>
              <a:rPr lang="zh-TW" altLang="en-US" b="1" dirty="0"/>
              <a:t>申請時之通常知識</a:t>
            </a:r>
            <a:r>
              <a:rPr lang="zh-TW" altLang="en-US" dirty="0"/>
              <a:t>，</a:t>
            </a:r>
            <a:r>
              <a:rPr lang="zh-TW" altLang="en-US" b="1" dirty="0"/>
              <a:t>無須過度實驗</a:t>
            </a:r>
            <a:r>
              <a:rPr lang="zh-TW" altLang="en-US" dirty="0"/>
              <a:t>，即能瞭解其內容，據以</a:t>
            </a:r>
            <a:r>
              <a:rPr lang="zh-TW" altLang="en-US" b="1" dirty="0"/>
              <a:t>製造及使用</a:t>
            </a:r>
            <a:r>
              <a:rPr lang="zh-TW" altLang="en-US" dirty="0"/>
              <a:t>申請專利之發明，解決問題，並且產生預期的功效。</a:t>
            </a:r>
            <a:endParaRPr lang="en-US" altLang="zh-TW" dirty="0">
              <a:latin typeface="標楷體" pitchFamily="65" charset="-120"/>
            </a:endParaRPr>
          </a:p>
        </p:txBody>
      </p:sp>
      <p:sp>
        <p:nvSpPr>
          <p:cNvPr id="5" name="投影片編號版面配置區 4"/>
          <p:cNvSpPr>
            <a:spLocks noGrp="1"/>
          </p:cNvSpPr>
          <p:nvPr>
            <p:ph type="sldNum" sz="quarter" idx="12"/>
          </p:nvPr>
        </p:nvSpPr>
        <p:spPr>
          <a:xfrm>
            <a:off x="3857620" y="6492875"/>
            <a:ext cx="2133600" cy="365125"/>
          </a:xfrm>
        </p:spPr>
        <p:txBody>
          <a:bodyPr/>
          <a:lstStyle/>
          <a:p>
            <a:pPr algn="ctr">
              <a:defRPr/>
            </a:pPr>
            <a:fld id="{94512BF5-FE79-46C6-BDD1-3B560C811A45}" type="slidenum">
              <a:rPr lang="zh-TW" altLang="en-US"/>
              <a:pPr algn="ctr">
                <a:defRPr/>
              </a:pPr>
              <a:t>45</a:t>
            </a:fld>
            <a:endParaRPr lang="zh-TW"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標題 1"/>
          <p:cNvSpPr>
            <a:spLocks noGrp="1"/>
          </p:cNvSpPr>
          <p:nvPr>
            <p:ph type="title"/>
          </p:nvPr>
        </p:nvSpPr>
        <p:spPr/>
        <p:txBody>
          <a:bodyPr/>
          <a:lstStyle/>
          <a:p>
            <a:r>
              <a:rPr lang="zh-TW" altLang="en-US" dirty="0">
                <a:latin typeface="標楷體" pitchFamily="65" charset="-120"/>
              </a:rPr>
              <a:t>說明書閱讀</a:t>
            </a:r>
            <a:r>
              <a:rPr lang="en-US" altLang="zh-TW" dirty="0">
                <a:latin typeface="標楷體" pitchFamily="65" charset="-120"/>
              </a:rPr>
              <a:t>-</a:t>
            </a:r>
            <a:r>
              <a:rPr lang="zh-TW" altLang="en-US" dirty="0">
                <a:latin typeface="標楷體" pitchFamily="65" charset="-120"/>
              </a:rPr>
              <a:t>可據以實現</a:t>
            </a:r>
          </a:p>
        </p:txBody>
      </p:sp>
      <p:sp>
        <p:nvSpPr>
          <p:cNvPr id="3" name="內容版面配置區 2"/>
          <p:cNvSpPr>
            <a:spLocks noGrp="1"/>
          </p:cNvSpPr>
          <p:nvPr>
            <p:ph idx="1"/>
          </p:nvPr>
        </p:nvSpPr>
        <p:spPr/>
        <p:txBody>
          <a:bodyPr>
            <a:normAutofit lnSpcReduction="10000"/>
          </a:bodyPr>
          <a:lstStyle/>
          <a:p>
            <a:pPr eaLnBrk="1" hangingPunct="1">
              <a:defRPr/>
            </a:pPr>
            <a:r>
              <a:rPr lang="zh-TW" altLang="en-US" dirty="0">
                <a:latin typeface="標楷體" pitchFamily="65" charset="-120"/>
              </a:rPr>
              <a:t>明確</a:t>
            </a:r>
            <a:endParaRPr lang="en-US" altLang="zh-TW" dirty="0">
              <a:latin typeface="標楷體" pitchFamily="65" charset="-120"/>
            </a:endParaRPr>
          </a:p>
          <a:p>
            <a:pPr lvl="1">
              <a:defRPr/>
            </a:pPr>
            <a:r>
              <a:rPr lang="zh-TW" altLang="en-US" dirty="0"/>
              <a:t>申請專利之發明應明確，係指應記載所欲解決之問題、解決問題之技術手段及以該技術手段解決問題而產生之功效，且問題、技術手段及功效之間應有相對應的關係，使該發明所屬技術領域中具有通常知識者能瞭解申請專利之發明。</a:t>
            </a:r>
            <a:r>
              <a:rPr lang="en-US" altLang="zh-TW" dirty="0"/>
              <a:t>(</a:t>
            </a:r>
            <a:r>
              <a:rPr lang="zh-TW" altLang="en-US" dirty="0"/>
              <a:t>問題</a:t>
            </a:r>
            <a:r>
              <a:rPr lang="en-US" dirty="0">
                <a:sym typeface="Wingdings"/>
              </a:rPr>
              <a:t></a:t>
            </a:r>
            <a:r>
              <a:rPr lang="zh-TW" altLang="en-US" dirty="0"/>
              <a:t>手段</a:t>
            </a:r>
            <a:r>
              <a:rPr lang="en-US" dirty="0">
                <a:sym typeface="Wingdings"/>
              </a:rPr>
              <a:t></a:t>
            </a:r>
            <a:r>
              <a:rPr lang="zh-TW" altLang="en-US" dirty="0"/>
              <a:t>功效</a:t>
            </a:r>
            <a:r>
              <a:rPr lang="en-US" altLang="zh-TW" dirty="0"/>
              <a:t>)</a:t>
            </a:r>
          </a:p>
          <a:p>
            <a:pPr lvl="1">
              <a:defRPr/>
            </a:pPr>
            <a:r>
              <a:rPr lang="zh-TW" altLang="en-US" dirty="0"/>
              <a:t>記載之用語應明確，係指應使用發明所屬技術領域中之技術用語，用語應清楚、易懂，以界定其真正涵義，不得模糊不清或模稜兩可，且說明書、申請專利範圍及摘要中之技術用語及符號應一致。</a:t>
            </a:r>
            <a:endParaRPr lang="en-US" altLang="zh-TW" b="1" dirty="0"/>
          </a:p>
        </p:txBody>
      </p:sp>
      <p:sp>
        <p:nvSpPr>
          <p:cNvPr id="5" name="投影片編號版面配置區 4"/>
          <p:cNvSpPr>
            <a:spLocks noGrp="1"/>
          </p:cNvSpPr>
          <p:nvPr>
            <p:ph type="sldNum" sz="quarter" idx="12"/>
          </p:nvPr>
        </p:nvSpPr>
        <p:spPr>
          <a:xfrm>
            <a:off x="3786182" y="6492875"/>
            <a:ext cx="2133600" cy="365125"/>
          </a:xfrm>
        </p:spPr>
        <p:txBody>
          <a:bodyPr/>
          <a:lstStyle/>
          <a:p>
            <a:pPr algn="ctr">
              <a:defRPr/>
            </a:pPr>
            <a:fld id="{94512BF5-FE79-46C6-BDD1-3B560C811A45}" type="slidenum">
              <a:rPr lang="zh-TW" altLang="en-US"/>
              <a:pPr algn="ctr">
                <a:defRPr/>
              </a:pPr>
              <a:t>46</a:t>
            </a:fld>
            <a:endParaRPr lang="zh-TW"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標題 1"/>
          <p:cNvSpPr>
            <a:spLocks noGrp="1"/>
          </p:cNvSpPr>
          <p:nvPr>
            <p:ph type="title"/>
          </p:nvPr>
        </p:nvSpPr>
        <p:spPr/>
        <p:txBody>
          <a:bodyPr/>
          <a:lstStyle/>
          <a:p>
            <a:r>
              <a:rPr lang="zh-TW" altLang="en-US" dirty="0">
                <a:latin typeface="標楷體" pitchFamily="65" charset="-120"/>
              </a:rPr>
              <a:t>說明書閱讀</a:t>
            </a:r>
            <a:r>
              <a:rPr lang="en-US" altLang="zh-TW" dirty="0">
                <a:latin typeface="標楷體" pitchFamily="65" charset="-120"/>
              </a:rPr>
              <a:t>-</a:t>
            </a:r>
            <a:r>
              <a:rPr lang="zh-TW" altLang="en-US" dirty="0">
                <a:latin typeface="標楷體" pitchFamily="65" charset="-120"/>
              </a:rPr>
              <a:t>可據以實現</a:t>
            </a:r>
          </a:p>
        </p:txBody>
      </p:sp>
      <p:sp>
        <p:nvSpPr>
          <p:cNvPr id="3" name="內容版面配置區 2"/>
          <p:cNvSpPr>
            <a:spLocks noGrp="1"/>
          </p:cNvSpPr>
          <p:nvPr>
            <p:ph idx="1"/>
          </p:nvPr>
        </p:nvSpPr>
        <p:spPr>
          <a:xfrm>
            <a:off x="714348" y="1285860"/>
            <a:ext cx="7772400" cy="4876800"/>
          </a:xfrm>
        </p:spPr>
        <p:txBody>
          <a:bodyPr>
            <a:normAutofit fontScale="92500"/>
          </a:bodyPr>
          <a:lstStyle/>
          <a:p>
            <a:pPr>
              <a:defRPr/>
            </a:pPr>
            <a:r>
              <a:rPr lang="zh-TW" altLang="en-US" dirty="0">
                <a:latin typeface="標楷體" pitchFamily="65" charset="-120"/>
              </a:rPr>
              <a:t>充分</a:t>
            </a:r>
            <a:endParaRPr lang="en-US" altLang="zh-TW" dirty="0">
              <a:latin typeface="標楷體" pitchFamily="65" charset="-120"/>
            </a:endParaRPr>
          </a:p>
          <a:p>
            <a:pPr lvl="1">
              <a:defRPr/>
            </a:pPr>
            <a:r>
              <a:rPr lang="zh-TW" altLang="en-US" dirty="0"/>
              <a:t>瞭解申請專利之發明所需的內容。例如應記載發明所屬之技術領域及先前技術等，有圖式者，尚應包括圖式簡單說明。</a:t>
            </a:r>
            <a:endParaRPr lang="en-US" altLang="zh-TW" dirty="0"/>
          </a:p>
          <a:p>
            <a:pPr lvl="1">
              <a:defRPr/>
            </a:pPr>
            <a:r>
              <a:rPr lang="zh-TW" altLang="en-US" dirty="0"/>
              <a:t>判斷申請專利之發明是否具備專利要件所需的內容。例如應記載發明所欲解決之問題、解決問題之技術手段及對照先前技術之功效。</a:t>
            </a:r>
            <a:endParaRPr lang="en-US" altLang="zh-TW" dirty="0"/>
          </a:p>
          <a:p>
            <a:pPr lvl="1">
              <a:defRPr/>
            </a:pPr>
            <a:r>
              <a:rPr lang="zh-TW" altLang="en-US" dirty="0"/>
              <a:t>實施申請專利之發明所需的內容。例如應記載一個以上之實施方式，必要時得以實施例說明。</a:t>
            </a:r>
            <a:endParaRPr lang="en-US" altLang="zh-TW" dirty="0"/>
          </a:p>
          <a:p>
            <a:pPr lvl="1">
              <a:defRPr/>
            </a:pPr>
            <a:r>
              <a:rPr lang="zh-TW" altLang="en-US" dirty="0"/>
              <a:t>有通常知識者，從先前技術無法直接無歧異得知之內容。</a:t>
            </a:r>
            <a:endParaRPr lang="en-US" altLang="zh-TW" dirty="0">
              <a:latin typeface="標楷體" pitchFamily="65" charset="-120"/>
            </a:endParaRPr>
          </a:p>
        </p:txBody>
      </p:sp>
      <p:sp>
        <p:nvSpPr>
          <p:cNvPr id="5" name="投影片編號版面配置區 4"/>
          <p:cNvSpPr>
            <a:spLocks noGrp="1"/>
          </p:cNvSpPr>
          <p:nvPr>
            <p:ph type="sldNum" sz="quarter" idx="12"/>
          </p:nvPr>
        </p:nvSpPr>
        <p:spPr>
          <a:xfrm>
            <a:off x="3857620" y="6492875"/>
            <a:ext cx="2133600" cy="365125"/>
          </a:xfrm>
        </p:spPr>
        <p:txBody>
          <a:bodyPr/>
          <a:lstStyle/>
          <a:p>
            <a:pPr algn="ctr">
              <a:defRPr/>
            </a:pPr>
            <a:fld id="{94512BF5-FE79-46C6-BDD1-3B560C811A45}" type="slidenum">
              <a:rPr lang="zh-TW" altLang="en-US"/>
              <a:pPr algn="ctr">
                <a:defRPr/>
              </a:pPr>
              <a:t>47</a:t>
            </a:fld>
            <a:endParaRPr lang="zh-TW"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標題 1"/>
          <p:cNvSpPr>
            <a:spLocks noGrp="1"/>
          </p:cNvSpPr>
          <p:nvPr>
            <p:ph type="title"/>
          </p:nvPr>
        </p:nvSpPr>
        <p:spPr/>
        <p:txBody>
          <a:bodyPr/>
          <a:lstStyle/>
          <a:p>
            <a:r>
              <a:rPr lang="zh-TW" altLang="en-US" dirty="0">
                <a:latin typeface="標楷體" pitchFamily="65" charset="-120"/>
              </a:rPr>
              <a:t>說明書閱讀</a:t>
            </a:r>
            <a:r>
              <a:rPr lang="en-US" altLang="zh-TW" dirty="0">
                <a:latin typeface="標楷體" pitchFamily="65" charset="-120"/>
              </a:rPr>
              <a:t>-</a:t>
            </a:r>
            <a:r>
              <a:rPr lang="zh-TW" altLang="en-US" dirty="0">
                <a:latin typeface="標楷體" pitchFamily="65" charset="-120"/>
              </a:rPr>
              <a:t>可據以實現</a:t>
            </a:r>
          </a:p>
        </p:txBody>
      </p:sp>
      <p:sp>
        <p:nvSpPr>
          <p:cNvPr id="3" name="內容版面配置區 2"/>
          <p:cNvSpPr>
            <a:spLocks noGrp="1"/>
          </p:cNvSpPr>
          <p:nvPr>
            <p:ph idx="1"/>
          </p:nvPr>
        </p:nvSpPr>
        <p:spPr/>
        <p:txBody>
          <a:bodyPr>
            <a:normAutofit/>
          </a:bodyPr>
          <a:lstStyle/>
          <a:p>
            <a:pPr eaLnBrk="1" hangingPunct="1">
              <a:defRPr/>
            </a:pPr>
            <a:r>
              <a:rPr lang="zh-TW" altLang="en-US" dirty="0">
                <a:latin typeface="標楷體" pitchFamily="65" charset="-120"/>
              </a:rPr>
              <a:t>無須過度實驗</a:t>
            </a:r>
            <a:endParaRPr lang="en-US" altLang="zh-TW" dirty="0">
              <a:latin typeface="標楷體" pitchFamily="65" charset="-120"/>
            </a:endParaRPr>
          </a:p>
          <a:p>
            <a:pPr lvl="1" eaLnBrk="1" hangingPunct="1">
              <a:defRPr/>
            </a:pPr>
            <a:r>
              <a:rPr lang="zh-TW" altLang="en-US" dirty="0">
                <a:latin typeface="標楷體" pitchFamily="65" charset="-120"/>
              </a:rPr>
              <a:t>申請專利範圍</a:t>
            </a:r>
            <a:endParaRPr lang="en-US" altLang="zh-TW" dirty="0">
              <a:latin typeface="標楷體" pitchFamily="65" charset="-120"/>
            </a:endParaRPr>
          </a:p>
          <a:p>
            <a:pPr lvl="2" eaLnBrk="1" hangingPunct="1">
              <a:defRPr/>
            </a:pPr>
            <a:r>
              <a:rPr lang="zh-TW" altLang="en-US" dirty="0">
                <a:latin typeface="標楷體" pitchFamily="65" charset="-120"/>
              </a:rPr>
              <a:t>廣度</a:t>
            </a:r>
            <a:endParaRPr lang="en-US" altLang="zh-TW" dirty="0">
              <a:latin typeface="標楷體" pitchFamily="65" charset="-120"/>
            </a:endParaRPr>
          </a:p>
          <a:p>
            <a:pPr lvl="2" eaLnBrk="1" hangingPunct="1">
              <a:defRPr/>
            </a:pPr>
            <a:r>
              <a:rPr lang="zh-TW" altLang="en-US" dirty="0">
                <a:latin typeface="標楷體" pitchFamily="65" charset="-120"/>
              </a:rPr>
              <a:t>發明的本質</a:t>
            </a:r>
            <a:endParaRPr lang="en-US" altLang="zh-TW" dirty="0">
              <a:latin typeface="標楷體" pitchFamily="65" charset="-120"/>
            </a:endParaRPr>
          </a:p>
          <a:p>
            <a:pPr lvl="1" eaLnBrk="1" hangingPunct="1">
              <a:defRPr/>
            </a:pPr>
            <a:r>
              <a:rPr lang="zh-TW" altLang="en-US" dirty="0">
                <a:latin typeface="標楷體" pitchFamily="65" charset="-120"/>
              </a:rPr>
              <a:t>所屬技術領域</a:t>
            </a:r>
            <a:endParaRPr lang="en-US" altLang="zh-TW" dirty="0">
              <a:latin typeface="標楷體" pitchFamily="65" charset="-120"/>
            </a:endParaRPr>
          </a:p>
          <a:p>
            <a:pPr lvl="2" eaLnBrk="1" hangingPunct="1">
              <a:defRPr/>
            </a:pPr>
            <a:r>
              <a:rPr lang="zh-TW" altLang="en-US" dirty="0">
                <a:latin typeface="標楷體" pitchFamily="65" charset="-120"/>
              </a:rPr>
              <a:t>通常知識者之一般知識及普通技能</a:t>
            </a:r>
            <a:endParaRPr lang="en-US" altLang="zh-TW" dirty="0">
              <a:latin typeface="標楷體" pitchFamily="65" charset="-120"/>
            </a:endParaRPr>
          </a:p>
          <a:p>
            <a:pPr lvl="2" eaLnBrk="1" hangingPunct="1">
              <a:defRPr/>
            </a:pPr>
            <a:r>
              <a:rPr lang="zh-TW" altLang="en-US" dirty="0">
                <a:latin typeface="標楷體" pitchFamily="65" charset="-120"/>
              </a:rPr>
              <a:t>可預測程度</a:t>
            </a:r>
            <a:endParaRPr lang="en-US" altLang="zh-TW" dirty="0">
              <a:latin typeface="標楷體" pitchFamily="65" charset="-120"/>
            </a:endParaRPr>
          </a:p>
          <a:p>
            <a:pPr lvl="1" eaLnBrk="1" hangingPunct="1">
              <a:defRPr/>
            </a:pPr>
            <a:r>
              <a:rPr lang="zh-TW" altLang="en-US" dirty="0">
                <a:latin typeface="標楷體" pitchFamily="65" charset="-120"/>
              </a:rPr>
              <a:t>說明書</a:t>
            </a:r>
            <a:endParaRPr lang="en-US" altLang="zh-TW" dirty="0">
              <a:latin typeface="標楷體" pitchFamily="65" charset="-120"/>
            </a:endParaRPr>
          </a:p>
          <a:p>
            <a:pPr lvl="2" eaLnBrk="1" hangingPunct="1">
              <a:defRPr/>
            </a:pPr>
            <a:r>
              <a:rPr lang="zh-TW" altLang="en-US" dirty="0">
                <a:latin typeface="標楷體" pitchFamily="65" charset="-120"/>
              </a:rPr>
              <a:t>所提供指引的數量</a:t>
            </a:r>
            <a:endParaRPr lang="en-US" altLang="zh-TW" dirty="0">
              <a:latin typeface="標楷體" pitchFamily="65" charset="-120"/>
            </a:endParaRPr>
          </a:p>
          <a:p>
            <a:pPr lvl="2" eaLnBrk="1" hangingPunct="1">
              <a:defRPr/>
            </a:pPr>
            <a:r>
              <a:rPr lang="zh-TW" altLang="en-US" dirty="0">
                <a:latin typeface="標楷體" pitchFamily="65" charset="-120"/>
              </a:rPr>
              <a:t>基於揭露內容而製造及使用申請專利之發明所需實驗的數量</a:t>
            </a:r>
          </a:p>
        </p:txBody>
      </p:sp>
      <p:sp>
        <p:nvSpPr>
          <p:cNvPr id="5" name="投影片編號版面配置區 4"/>
          <p:cNvSpPr>
            <a:spLocks noGrp="1"/>
          </p:cNvSpPr>
          <p:nvPr>
            <p:ph type="sldNum" sz="quarter" idx="12"/>
          </p:nvPr>
        </p:nvSpPr>
        <p:spPr>
          <a:xfrm>
            <a:off x="3929058" y="6492875"/>
            <a:ext cx="2133600" cy="365125"/>
          </a:xfrm>
        </p:spPr>
        <p:txBody>
          <a:bodyPr/>
          <a:lstStyle/>
          <a:p>
            <a:pPr algn="ctr">
              <a:defRPr/>
            </a:pPr>
            <a:fld id="{94512BF5-FE79-46C6-BDD1-3B560C811A45}" type="slidenum">
              <a:rPr lang="zh-TW" altLang="en-US"/>
              <a:pPr algn="ctr">
                <a:defRPr/>
              </a:pPr>
              <a:t>48</a:t>
            </a:fld>
            <a:endParaRPr lang="zh-TW"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標題 1"/>
          <p:cNvSpPr>
            <a:spLocks noGrp="1"/>
          </p:cNvSpPr>
          <p:nvPr>
            <p:ph type="title"/>
          </p:nvPr>
        </p:nvSpPr>
        <p:spPr>
          <a:xfrm>
            <a:off x="990600" y="0"/>
            <a:ext cx="7224738" cy="762000"/>
          </a:xfrm>
        </p:spPr>
        <p:txBody>
          <a:bodyPr/>
          <a:lstStyle/>
          <a:p>
            <a:r>
              <a:rPr lang="zh-TW" altLang="en-US" dirty="0">
                <a:latin typeface="標楷體" pitchFamily="65" charset="-120"/>
              </a:rPr>
              <a:t>說明書閱讀</a:t>
            </a:r>
            <a:r>
              <a:rPr lang="en-US" altLang="zh-TW" dirty="0">
                <a:latin typeface="標楷體" pitchFamily="65" charset="-120"/>
              </a:rPr>
              <a:t>-</a:t>
            </a:r>
            <a:r>
              <a:rPr lang="zh-TW" altLang="en-US" dirty="0">
                <a:latin typeface="標楷體" pitchFamily="65" charset="-120"/>
              </a:rPr>
              <a:t>可據以實現</a:t>
            </a:r>
          </a:p>
        </p:txBody>
      </p:sp>
      <p:sp>
        <p:nvSpPr>
          <p:cNvPr id="3" name="內容版面配置區 2"/>
          <p:cNvSpPr>
            <a:spLocks noGrp="1"/>
          </p:cNvSpPr>
          <p:nvPr>
            <p:ph idx="1"/>
          </p:nvPr>
        </p:nvSpPr>
        <p:spPr/>
        <p:txBody>
          <a:bodyPr>
            <a:normAutofit fontScale="85000" lnSpcReduction="20000"/>
          </a:bodyPr>
          <a:lstStyle/>
          <a:p>
            <a:pPr>
              <a:lnSpc>
                <a:spcPct val="120000"/>
              </a:lnSpc>
              <a:defRPr/>
            </a:pPr>
            <a:r>
              <a:rPr lang="zh-TW" altLang="en-US" dirty="0">
                <a:latin typeface="標楷體" pitchFamily="65" charset="-120"/>
              </a:rPr>
              <a:t>違反可據以實現之要件</a:t>
            </a:r>
            <a:endParaRPr lang="en-US" altLang="zh-TW" dirty="0">
              <a:latin typeface="標楷體" pitchFamily="65" charset="-120"/>
            </a:endParaRPr>
          </a:p>
          <a:p>
            <a:pPr lvl="1">
              <a:lnSpc>
                <a:spcPct val="120000"/>
              </a:lnSpc>
              <a:defRPr/>
            </a:pPr>
            <a:r>
              <a:rPr lang="zh-TW" altLang="en-US" b="1" dirty="0"/>
              <a:t>未記載技術手段</a:t>
            </a:r>
            <a:r>
              <a:rPr lang="zh-TW" altLang="en-US" dirty="0"/>
              <a:t>：說明書僅記載目的或構想，或僅表示願望或結果，但未記載任何技術手段者</a:t>
            </a:r>
            <a:endParaRPr lang="en-US" altLang="zh-TW" dirty="0">
              <a:latin typeface="標楷體" pitchFamily="65" charset="-120"/>
            </a:endParaRPr>
          </a:p>
          <a:p>
            <a:pPr lvl="1">
              <a:lnSpc>
                <a:spcPct val="120000"/>
              </a:lnSpc>
              <a:defRPr/>
            </a:pPr>
            <a:r>
              <a:rPr lang="zh-TW" altLang="en-US" b="1" dirty="0"/>
              <a:t>技術手段不明確</a:t>
            </a:r>
            <a:r>
              <a:rPr lang="zh-TW" altLang="en-US" dirty="0"/>
              <a:t>：說明書雖然載有解決問題之技術手段，但不明確或不充分者</a:t>
            </a:r>
            <a:endParaRPr lang="en-US" altLang="zh-TW" dirty="0">
              <a:latin typeface="標楷體" pitchFamily="65" charset="-120"/>
            </a:endParaRPr>
          </a:p>
          <a:p>
            <a:pPr lvl="1">
              <a:lnSpc>
                <a:spcPct val="120000"/>
              </a:lnSpc>
              <a:defRPr/>
            </a:pPr>
            <a:r>
              <a:rPr lang="zh-TW" altLang="en-US" b="1" dirty="0"/>
              <a:t>技術手段不能解決問題</a:t>
            </a:r>
            <a:r>
              <a:rPr lang="zh-TW" altLang="en-US" dirty="0"/>
              <a:t>：說明書雖然載有解決問題之技術手段，但採用該技術手段不能解決問題者</a:t>
            </a:r>
            <a:endParaRPr lang="en-US" altLang="zh-TW" dirty="0">
              <a:latin typeface="標楷體" pitchFamily="65" charset="-120"/>
            </a:endParaRPr>
          </a:p>
          <a:p>
            <a:pPr lvl="1">
              <a:lnSpc>
                <a:spcPct val="120000"/>
              </a:lnSpc>
              <a:defRPr/>
            </a:pPr>
            <a:r>
              <a:rPr lang="zh-TW" altLang="en-US" b="1" dirty="0"/>
              <a:t>技術手段無法再現</a:t>
            </a:r>
            <a:r>
              <a:rPr lang="zh-TW" altLang="en-US" dirty="0"/>
              <a:t>：說明書雖然載有解決問題之技術手段，但無法再現或僅能隨機再現說明書所載之結果者</a:t>
            </a:r>
            <a:endParaRPr lang="en-US" altLang="zh-TW" dirty="0"/>
          </a:p>
          <a:p>
            <a:pPr lvl="1">
              <a:lnSpc>
                <a:spcPct val="120000"/>
              </a:lnSpc>
              <a:defRPr/>
            </a:pPr>
            <a:r>
              <a:rPr lang="zh-TW" altLang="en-US" b="1" dirty="0"/>
              <a:t>未提供實驗數據</a:t>
            </a:r>
            <a:r>
              <a:rPr lang="zh-TW" altLang="en-US" dirty="0"/>
              <a:t>：說明書雖然載有具體的技術手段，且該手段必須依賴實驗結果予以證，但未提供實驗數據，致無法證實該技術手段可達成所欲解決之問題</a:t>
            </a:r>
            <a:endParaRPr lang="zh-TW" altLang="en-US" dirty="0">
              <a:latin typeface="標楷體" pitchFamily="65" charset="-120"/>
            </a:endParaRPr>
          </a:p>
        </p:txBody>
      </p:sp>
      <p:sp>
        <p:nvSpPr>
          <p:cNvPr id="5" name="投影片編號版面配置區 4"/>
          <p:cNvSpPr>
            <a:spLocks noGrp="1"/>
          </p:cNvSpPr>
          <p:nvPr>
            <p:ph type="sldNum" sz="quarter" idx="12"/>
          </p:nvPr>
        </p:nvSpPr>
        <p:spPr>
          <a:xfrm>
            <a:off x="3786182" y="6492875"/>
            <a:ext cx="2133600" cy="365125"/>
          </a:xfrm>
        </p:spPr>
        <p:txBody>
          <a:bodyPr/>
          <a:lstStyle/>
          <a:p>
            <a:pPr algn="ctr">
              <a:defRPr/>
            </a:pPr>
            <a:fld id="{94512BF5-FE79-46C6-BDD1-3B560C811A45}" type="slidenum">
              <a:rPr lang="zh-TW" altLang="en-US"/>
              <a:pPr algn="ctr">
                <a:defRPr/>
              </a:pPr>
              <a:t>49</a:t>
            </a:fld>
            <a:endParaRPr lang="zh-TW"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90600" y="0"/>
            <a:ext cx="7010424" cy="762000"/>
          </a:xfrm>
        </p:spPr>
        <p:txBody>
          <a:bodyPr/>
          <a:lstStyle/>
          <a:p>
            <a:r>
              <a:rPr lang="zh-TW" altLang="en-US" dirty="0">
                <a:latin typeface="標楷體" pitchFamily="65" charset="-120"/>
              </a:rPr>
              <a:t>說明書閱讀</a:t>
            </a:r>
            <a:r>
              <a:rPr lang="en-US" altLang="zh-TW" dirty="0">
                <a:latin typeface="標楷體" pitchFamily="65" charset="-120"/>
              </a:rPr>
              <a:t>-</a:t>
            </a:r>
            <a:r>
              <a:rPr lang="zh-TW" altLang="en-US" dirty="0">
                <a:latin typeface="標楷體" pitchFamily="65" charset="-120"/>
              </a:rPr>
              <a:t>可據以實現</a:t>
            </a:r>
            <a:endParaRPr lang="zh-TW" altLang="en-US" dirty="0"/>
          </a:p>
        </p:txBody>
      </p:sp>
      <p:sp>
        <p:nvSpPr>
          <p:cNvPr id="3" name="內容版面配置區 2"/>
          <p:cNvSpPr>
            <a:spLocks noGrp="1"/>
          </p:cNvSpPr>
          <p:nvPr>
            <p:ph idx="1"/>
          </p:nvPr>
        </p:nvSpPr>
        <p:spPr>
          <a:xfrm>
            <a:off x="685800" y="1295400"/>
            <a:ext cx="7772400" cy="5013920"/>
          </a:xfrm>
        </p:spPr>
        <p:txBody>
          <a:bodyPr/>
          <a:lstStyle/>
          <a:p>
            <a:r>
              <a:rPr lang="zh-TW" altLang="en-US" dirty="0"/>
              <a:t>案例一</a:t>
            </a:r>
            <a:endParaRPr lang="en-US" altLang="zh-TW" dirty="0"/>
          </a:p>
          <a:p>
            <a:pPr lvl="1"/>
            <a:r>
              <a:rPr lang="zh-TW" altLang="en-US" dirty="0"/>
              <a:t>是否明確</a:t>
            </a:r>
            <a:endParaRPr lang="en-US" altLang="zh-TW" dirty="0"/>
          </a:p>
          <a:p>
            <a:pPr lvl="1"/>
            <a:r>
              <a:rPr lang="zh-TW" altLang="en-US" dirty="0"/>
              <a:t>是否充分揭露</a:t>
            </a:r>
            <a:endParaRPr lang="en-US" altLang="zh-TW" dirty="0"/>
          </a:p>
          <a:p>
            <a:pPr lvl="2"/>
            <a:r>
              <a:rPr lang="zh-TW" altLang="en-US" dirty="0"/>
              <a:t>充分</a:t>
            </a:r>
            <a:endParaRPr lang="en-US" altLang="zh-TW" dirty="0"/>
          </a:p>
          <a:p>
            <a:pPr lvl="2"/>
            <a:r>
              <a:rPr lang="zh-TW" altLang="en-US" dirty="0"/>
              <a:t>過度實驗</a:t>
            </a:r>
            <a:endParaRPr lang="en-US" altLang="zh-TW" dirty="0"/>
          </a:p>
          <a:p>
            <a:pPr lvl="1"/>
            <a:r>
              <a:rPr lang="zh-TW" altLang="en-US" dirty="0"/>
              <a:t>是否違反</a:t>
            </a:r>
            <a:r>
              <a:rPr lang="zh-TW" altLang="en-US" dirty="0">
                <a:latin typeface="標楷體" pitchFamily="65" charset="-120"/>
              </a:rPr>
              <a:t>可據以實現之要件</a:t>
            </a:r>
            <a:endParaRPr lang="en-US" altLang="zh-TW" dirty="0">
              <a:latin typeface="標楷體" pitchFamily="65" charset="-120"/>
            </a:endParaRPr>
          </a:p>
        </p:txBody>
      </p:sp>
      <p:sp>
        <p:nvSpPr>
          <p:cNvPr id="4" name="投影片編號版面配置區 3"/>
          <p:cNvSpPr>
            <a:spLocks noGrp="1"/>
          </p:cNvSpPr>
          <p:nvPr>
            <p:ph type="sldNum" sz="quarter" idx="12"/>
          </p:nvPr>
        </p:nvSpPr>
        <p:spPr/>
        <p:txBody>
          <a:bodyPr/>
          <a:lstStyle/>
          <a:p>
            <a:pPr>
              <a:defRPr/>
            </a:pPr>
            <a:fld id="{ACF8C152-224D-4A1B-B03E-C45F7A3BFC3C}" type="slidenum">
              <a:rPr lang="en-US" altLang="zh-TW" smtClean="0"/>
              <a:pPr>
                <a:defRPr/>
              </a:pPr>
              <a:t>50</a:t>
            </a:fld>
            <a:endParaRPr lang="en-US" altLang="zh-TW"/>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標題 1"/>
          <p:cNvSpPr>
            <a:spLocks noGrp="1"/>
          </p:cNvSpPr>
          <p:nvPr>
            <p:ph type="title"/>
          </p:nvPr>
        </p:nvSpPr>
        <p:spPr/>
        <p:txBody>
          <a:bodyPr/>
          <a:lstStyle/>
          <a:p>
            <a:r>
              <a:rPr lang="zh-TW" altLang="en-US" dirty="0">
                <a:latin typeface="標楷體" pitchFamily="65" charset="-120"/>
              </a:rPr>
              <a:t>說明書閱讀</a:t>
            </a:r>
            <a:r>
              <a:rPr lang="en-US" altLang="zh-TW" dirty="0">
                <a:latin typeface="標楷體" pitchFamily="65" charset="-120"/>
              </a:rPr>
              <a:t>-</a:t>
            </a:r>
            <a:r>
              <a:rPr lang="zh-TW" altLang="en-US" dirty="0">
                <a:latin typeface="標楷體" pitchFamily="65" charset="-120"/>
              </a:rPr>
              <a:t>支持</a:t>
            </a:r>
          </a:p>
        </p:txBody>
      </p:sp>
      <p:sp>
        <p:nvSpPr>
          <p:cNvPr id="26627" name="內容版面配置區 2"/>
          <p:cNvSpPr>
            <a:spLocks noGrp="1"/>
          </p:cNvSpPr>
          <p:nvPr>
            <p:ph idx="1"/>
          </p:nvPr>
        </p:nvSpPr>
        <p:spPr/>
        <p:txBody>
          <a:bodyPr>
            <a:normAutofit/>
          </a:bodyPr>
          <a:lstStyle/>
          <a:p>
            <a:pPr eaLnBrk="1" hangingPunct="1"/>
            <a:r>
              <a:rPr lang="zh-TW" altLang="en-US" dirty="0">
                <a:latin typeface="標楷體" pitchFamily="65" charset="-120"/>
              </a:rPr>
              <a:t>支持的範圍</a:t>
            </a:r>
            <a:endParaRPr lang="en-US" altLang="zh-TW" dirty="0">
              <a:latin typeface="標楷體" pitchFamily="65" charset="-120"/>
            </a:endParaRPr>
          </a:p>
          <a:p>
            <a:pPr lvl="1" eaLnBrk="1" hangingPunct="1"/>
            <a:r>
              <a:rPr lang="zh-TW" altLang="en-US" dirty="0">
                <a:latin typeface="標楷體" pitchFamily="65" charset="-120"/>
              </a:rPr>
              <a:t>由說明書揭露的內容合理預測或延伸至請求項之範圍時，應認定請求項為說明書所支持</a:t>
            </a:r>
            <a:endParaRPr lang="en-US" altLang="zh-TW" dirty="0">
              <a:latin typeface="標楷體" pitchFamily="65" charset="-120"/>
            </a:endParaRPr>
          </a:p>
          <a:p>
            <a:pPr lvl="2"/>
            <a:r>
              <a:rPr lang="zh-TW" altLang="en-US" dirty="0">
                <a:latin typeface="標楷體" pitchFamily="65" charset="-120"/>
              </a:rPr>
              <a:t>就說明書所揭露的內容，直接得到</a:t>
            </a:r>
            <a:endParaRPr lang="en-US" altLang="zh-TW" dirty="0">
              <a:latin typeface="標楷體" pitchFamily="65" charset="-120"/>
            </a:endParaRPr>
          </a:p>
          <a:p>
            <a:pPr lvl="3"/>
            <a:r>
              <a:rPr lang="zh-TW" altLang="en-US" dirty="0">
                <a:latin typeface="標楷體" pitchFamily="65" charset="-120"/>
              </a:rPr>
              <a:t>必須是申請人在申請時已認知並記載於說明書中之發明，由於請求項為主張發明專利權範圍的基本單元，若請求項之範圍超出說明書揭露之內容，將使得超出部分之未公開發明具有排他性的權利，剝奪公眾自由使用的利益，進而阻礙產業發展</a:t>
            </a:r>
            <a:endParaRPr lang="en-US" altLang="zh-TW" dirty="0">
              <a:latin typeface="標楷體" pitchFamily="65" charset="-120"/>
            </a:endParaRPr>
          </a:p>
          <a:p>
            <a:pPr lvl="2"/>
            <a:r>
              <a:rPr lang="zh-TW" altLang="en-US" dirty="0">
                <a:latin typeface="標楷體" pitchFamily="65" charset="-120"/>
              </a:rPr>
              <a:t>就說明書所揭露的內容，總括得到</a:t>
            </a:r>
            <a:endParaRPr lang="en-US" altLang="zh-TW" dirty="0">
              <a:latin typeface="標楷體" pitchFamily="65" charset="-120"/>
            </a:endParaRPr>
          </a:p>
          <a:p>
            <a:pPr lvl="3"/>
            <a:r>
              <a:rPr lang="zh-TW" altLang="en-US" dirty="0"/>
              <a:t>以上位概念總括</a:t>
            </a:r>
            <a:endParaRPr lang="en-US" altLang="zh-TW" dirty="0"/>
          </a:p>
          <a:p>
            <a:pPr lvl="3"/>
            <a:r>
              <a:rPr lang="zh-TW" altLang="en-US" dirty="0"/>
              <a:t>以擇一形式總括</a:t>
            </a:r>
            <a:endParaRPr lang="en-US" altLang="zh-TW" dirty="0">
              <a:latin typeface="標楷體" pitchFamily="65" charset="-120"/>
            </a:endParaRPr>
          </a:p>
        </p:txBody>
      </p:sp>
      <p:sp>
        <p:nvSpPr>
          <p:cNvPr id="5" name="投影片編號版面配置區 4"/>
          <p:cNvSpPr>
            <a:spLocks noGrp="1"/>
          </p:cNvSpPr>
          <p:nvPr>
            <p:ph type="sldNum" sz="quarter" idx="12"/>
          </p:nvPr>
        </p:nvSpPr>
        <p:spPr>
          <a:xfrm>
            <a:off x="4000496" y="6492875"/>
            <a:ext cx="2133600" cy="365125"/>
          </a:xfrm>
        </p:spPr>
        <p:txBody>
          <a:bodyPr/>
          <a:lstStyle/>
          <a:p>
            <a:pPr algn="ctr">
              <a:defRPr/>
            </a:pPr>
            <a:fld id="{F589D1AC-8370-4284-A6E8-41FB50FA8B8B}" type="slidenum">
              <a:rPr lang="zh-TW" altLang="en-US"/>
              <a:pPr algn="ctr">
                <a:defRPr/>
              </a:pPr>
              <a:t>51</a:t>
            </a:fld>
            <a:endParaRPr lang="zh-TW"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標楷體" pitchFamily="65" charset="-120"/>
              </a:rPr>
              <a:t>說明書閱讀</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sz="3000" dirty="0"/>
              <a:t>上位</a:t>
            </a:r>
            <a:endParaRPr lang="en-US" altLang="zh-TW" sz="3000" dirty="0"/>
          </a:p>
          <a:p>
            <a:pPr lvl="1"/>
            <a:r>
              <a:rPr lang="zh-TW" altLang="en-US" sz="2600" dirty="0"/>
              <a:t>上位概念，指複數技術特徵屬於同族或同類的總括概念，或複數技術特徵</a:t>
            </a:r>
            <a:r>
              <a:rPr lang="zh-TW" altLang="en-US" sz="2600" b="1" u="sng" dirty="0"/>
              <a:t>具有類似的本質</a:t>
            </a:r>
            <a:r>
              <a:rPr lang="zh-TW" altLang="en-US" sz="2600" dirty="0"/>
              <a:t>的總括概念。發明包含以上位概念表現之技術特徵者，稱為上位概念發明。</a:t>
            </a:r>
            <a:r>
              <a:rPr lang="en-US" altLang="zh-TW" sz="2600" dirty="0"/>
              <a:t>(</a:t>
            </a:r>
            <a:r>
              <a:rPr lang="zh-TW" altLang="en-US" sz="2600" dirty="0"/>
              <a:t>基準第二篇第三章</a:t>
            </a:r>
            <a:r>
              <a:rPr lang="en-US" altLang="zh-TW" sz="2600" dirty="0"/>
              <a:t>2.4)</a:t>
            </a:r>
          </a:p>
          <a:p>
            <a:pPr lvl="2"/>
            <a:r>
              <a:rPr lang="zh-TW" altLang="en-US" sz="2600" dirty="0"/>
              <a:t>下位概念，係相對於上位概念表現為下位之具體概念。發明包含以下位概念表現之技術特徵者，稱為下位概念發明。</a:t>
            </a:r>
            <a:endParaRPr lang="en-US" altLang="zh-TW" sz="2600" dirty="0"/>
          </a:p>
          <a:p>
            <a:pPr lvl="1"/>
            <a:r>
              <a:rPr lang="zh-TW" altLang="en-US" sz="2600" dirty="0"/>
              <a:t>例如以「</a:t>
            </a:r>
            <a:r>
              <a:rPr lang="en-US" altLang="zh-TW" sz="2600" dirty="0"/>
              <a:t>C</a:t>
            </a:r>
            <a:r>
              <a:rPr lang="en-US" altLang="zh-TW" sz="2600" baseline="30000" dirty="0"/>
              <a:t>1</a:t>
            </a:r>
            <a:r>
              <a:rPr lang="en-US" altLang="zh-TW" sz="2600" dirty="0"/>
              <a:t>-C</a:t>
            </a:r>
            <a:r>
              <a:rPr lang="en-US" altLang="zh-TW" sz="2600" baseline="30000" dirty="0"/>
              <a:t>4</a:t>
            </a:r>
            <a:r>
              <a:rPr lang="zh-TW" altLang="en-US" sz="2600" dirty="0"/>
              <a:t>烷基」總括甲基、乙基、丙基及丁基；以「固定手段」總括螺釘、螺栓及釘等</a:t>
            </a:r>
            <a:endParaRPr lang="en-US" altLang="zh-TW" sz="2600" dirty="0"/>
          </a:p>
          <a:p>
            <a:pPr lvl="1"/>
            <a:r>
              <a:rPr lang="zh-TW" altLang="en-US" sz="2600" dirty="0"/>
              <a:t>對於上位概念之請求項，雖然其總括的範圍較寬，若其獲得說明書之支持，並可據以實現者，應接受該上位概念之請求項。惟若說明書記載之內容不明確或不充分，應通知申請人申復或修正請求項。</a:t>
            </a:r>
            <a:endParaRPr lang="en-US" altLang="zh-TW" sz="2600" dirty="0"/>
          </a:p>
        </p:txBody>
      </p:sp>
      <p:sp>
        <p:nvSpPr>
          <p:cNvPr id="4" name="投影片編號版面配置區 3"/>
          <p:cNvSpPr>
            <a:spLocks noGrp="1"/>
          </p:cNvSpPr>
          <p:nvPr>
            <p:ph type="sldNum" sz="quarter" idx="12"/>
          </p:nvPr>
        </p:nvSpPr>
        <p:spPr/>
        <p:txBody>
          <a:bodyPr/>
          <a:lstStyle/>
          <a:p>
            <a:pPr>
              <a:defRPr/>
            </a:pPr>
            <a:fld id="{ACF8C152-224D-4A1B-B03E-C45F7A3BFC3C}" type="slidenum">
              <a:rPr lang="en-US" altLang="zh-TW" smtClean="0"/>
              <a:pPr>
                <a:defRPr/>
              </a:pPr>
              <a:t>52</a:t>
            </a:fld>
            <a:endParaRPr lang="en-US" altLang="zh-TW"/>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標楷體" pitchFamily="65" charset="-120"/>
              </a:rPr>
              <a:t>說明書閱讀</a:t>
            </a:r>
            <a:endParaRPr lang="zh-TW" altLang="en-US" dirty="0"/>
          </a:p>
        </p:txBody>
      </p:sp>
      <p:sp>
        <p:nvSpPr>
          <p:cNvPr id="3" name="內容版面配置區 2"/>
          <p:cNvSpPr>
            <a:spLocks noGrp="1"/>
          </p:cNvSpPr>
          <p:nvPr>
            <p:ph idx="1"/>
          </p:nvPr>
        </p:nvSpPr>
        <p:spPr>
          <a:xfrm>
            <a:off x="683568" y="1052736"/>
            <a:ext cx="7772400" cy="5303614"/>
          </a:xfrm>
        </p:spPr>
        <p:txBody>
          <a:bodyPr>
            <a:normAutofit/>
          </a:bodyPr>
          <a:lstStyle/>
          <a:p>
            <a:r>
              <a:rPr lang="zh-TW" altLang="en-US" sz="3000" dirty="0"/>
              <a:t>擇一形式</a:t>
            </a:r>
            <a:endParaRPr lang="en-US" altLang="zh-TW" sz="3000" dirty="0"/>
          </a:p>
          <a:p>
            <a:pPr lvl="1"/>
            <a:r>
              <a:rPr lang="zh-TW" altLang="en-US" sz="2600" dirty="0"/>
              <a:t>擇一形式，指一請求項記載一群發明，而該發明群中之每一發明係由請求項所載之擇一形式中各個選項分別予以界定，以「或」、「及」並列數個選項的具體特徵</a:t>
            </a:r>
            <a:endParaRPr lang="en-US" altLang="zh-TW" sz="2600" dirty="0"/>
          </a:p>
          <a:p>
            <a:pPr lvl="2"/>
            <a:r>
              <a:rPr lang="zh-TW" altLang="en-US" dirty="0"/>
              <a:t>特徵</a:t>
            </a:r>
            <a:r>
              <a:rPr lang="en-US" altLang="zh-TW" dirty="0"/>
              <a:t>A</a:t>
            </a:r>
            <a:r>
              <a:rPr lang="zh-TW" altLang="en-US" dirty="0"/>
              <a:t>、</a:t>
            </a:r>
            <a:r>
              <a:rPr lang="en-US" altLang="zh-TW" dirty="0"/>
              <a:t>B</a:t>
            </a:r>
            <a:r>
              <a:rPr lang="zh-TW" altLang="en-US" dirty="0"/>
              <a:t>、</a:t>
            </a:r>
            <a:r>
              <a:rPr lang="en-US" altLang="zh-TW" dirty="0"/>
              <a:t>C</a:t>
            </a:r>
            <a:r>
              <a:rPr lang="zh-TW" altLang="en-US" dirty="0"/>
              <a:t>或</a:t>
            </a:r>
            <a:r>
              <a:rPr lang="en-US" altLang="zh-TW" dirty="0"/>
              <a:t>D</a:t>
            </a:r>
          </a:p>
          <a:p>
            <a:pPr lvl="2"/>
            <a:r>
              <a:rPr lang="zh-TW" altLang="en-US" dirty="0"/>
              <a:t>由</a:t>
            </a:r>
            <a:r>
              <a:rPr lang="en-US" altLang="zh-TW" dirty="0"/>
              <a:t>A</a:t>
            </a:r>
            <a:r>
              <a:rPr lang="zh-TW" altLang="en-US" dirty="0"/>
              <a:t>、</a:t>
            </a:r>
            <a:r>
              <a:rPr lang="en-US" altLang="zh-TW" dirty="0"/>
              <a:t>B</a:t>
            </a:r>
            <a:r>
              <a:rPr lang="zh-TW" altLang="en-US" dirty="0"/>
              <a:t>、</a:t>
            </a:r>
            <a:r>
              <a:rPr lang="en-US" altLang="zh-TW" dirty="0"/>
              <a:t>C</a:t>
            </a:r>
            <a:r>
              <a:rPr lang="zh-TW" altLang="en-US" dirty="0"/>
              <a:t>及</a:t>
            </a:r>
            <a:r>
              <a:rPr lang="en-US" altLang="zh-TW" dirty="0"/>
              <a:t>D</a:t>
            </a:r>
            <a:r>
              <a:rPr lang="zh-TW" altLang="en-US" dirty="0"/>
              <a:t>組成的物質群中選擇的一種物質</a:t>
            </a:r>
            <a:endParaRPr lang="en-US" altLang="zh-TW" dirty="0"/>
          </a:p>
          <a:p>
            <a:pPr lvl="1"/>
            <a:r>
              <a:rPr lang="zh-TW" altLang="en-US" sz="2600" dirty="0"/>
              <a:t>並列的各選項應具有類似的本質</a:t>
            </a:r>
            <a:endParaRPr lang="en-US" altLang="zh-TW" sz="2600" dirty="0"/>
          </a:p>
          <a:p>
            <a:pPr lvl="1"/>
            <a:r>
              <a:rPr lang="zh-TW" altLang="en-US" sz="2600" dirty="0"/>
              <a:t>不得將以上位概念特徵總括的內容與下位概念特徵並列</a:t>
            </a:r>
            <a:endParaRPr lang="en-US" altLang="zh-TW" sz="2600" dirty="0"/>
          </a:p>
          <a:p>
            <a:pPr lvl="1"/>
            <a:r>
              <a:rPr lang="zh-TW" altLang="en-US" sz="2600" dirty="0"/>
              <a:t>請求項中並列之各發明應符合發明單一性規定</a:t>
            </a:r>
            <a:endParaRPr lang="en-US" altLang="zh-TW" sz="2600" dirty="0"/>
          </a:p>
        </p:txBody>
      </p:sp>
      <p:sp>
        <p:nvSpPr>
          <p:cNvPr id="4" name="投影片編號版面配置區 3"/>
          <p:cNvSpPr>
            <a:spLocks noGrp="1"/>
          </p:cNvSpPr>
          <p:nvPr>
            <p:ph type="sldNum" sz="quarter" idx="12"/>
          </p:nvPr>
        </p:nvSpPr>
        <p:spPr/>
        <p:txBody>
          <a:bodyPr/>
          <a:lstStyle/>
          <a:p>
            <a:pPr>
              <a:defRPr/>
            </a:pPr>
            <a:fld id="{ACF8C152-224D-4A1B-B03E-C45F7A3BFC3C}" type="slidenum">
              <a:rPr lang="en-US" altLang="zh-TW" smtClean="0"/>
              <a:pPr>
                <a:defRPr/>
              </a:pPr>
              <a:t>53</a:t>
            </a:fld>
            <a:endParaRPr lang="en-US" altLang="zh-TW"/>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p:cNvSpPr/>
          <p:nvPr/>
        </p:nvSpPr>
        <p:spPr>
          <a:xfrm>
            <a:off x="1214438" y="2143125"/>
            <a:ext cx="2714625" cy="2643188"/>
          </a:xfrm>
          <a:prstGeom prst="ellipse">
            <a:avLst/>
          </a:prstGeom>
          <a:solidFill>
            <a:srgbClr val="FF0000">
              <a:alpha val="9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TW" altLang="en-US"/>
          </a:p>
        </p:txBody>
      </p:sp>
      <p:cxnSp>
        <p:nvCxnSpPr>
          <p:cNvPr id="10" name="弧形接點 9"/>
          <p:cNvCxnSpPr>
            <a:stCxn id="29700" idx="2"/>
          </p:cNvCxnSpPr>
          <p:nvPr/>
        </p:nvCxnSpPr>
        <p:spPr>
          <a:xfrm rot="5400000">
            <a:off x="1739528" y="1803833"/>
            <a:ext cx="957202" cy="150006"/>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9700" name="文字方塊 14"/>
          <p:cNvSpPr txBox="1">
            <a:spLocks noChangeArrowheads="1"/>
          </p:cNvSpPr>
          <p:nvPr/>
        </p:nvSpPr>
        <p:spPr bwMode="auto">
          <a:xfrm>
            <a:off x="1071538" y="1000125"/>
            <a:ext cx="2443187" cy="400110"/>
          </a:xfrm>
          <a:prstGeom prst="rect">
            <a:avLst/>
          </a:prstGeom>
          <a:noFill/>
          <a:ln w="9525">
            <a:noFill/>
            <a:miter lim="800000"/>
            <a:headEnd/>
            <a:tailEnd/>
          </a:ln>
        </p:spPr>
        <p:txBody>
          <a:bodyPr wrap="square">
            <a:spAutoFit/>
          </a:bodyPr>
          <a:lstStyle/>
          <a:p>
            <a:r>
              <a:rPr lang="zh-TW" altLang="en-US" sz="2000" dirty="0">
                <a:latin typeface="微軟正黑體" panose="020B0604030504040204" pitchFamily="34" charset="-120"/>
                <a:ea typeface="微軟正黑體" panose="020B0604030504040204" pitchFamily="34" charset="-120"/>
              </a:rPr>
              <a:t>說明書所揭露內容</a:t>
            </a:r>
          </a:p>
        </p:txBody>
      </p:sp>
      <p:sp>
        <p:nvSpPr>
          <p:cNvPr id="12" name="標題 1"/>
          <p:cNvSpPr>
            <a:spLocks noGrp="1"/>
          </p:cNvSpPr>
          <p:nvPr>
            <p:ph type="title"/>
          </p:nvPr>
        </p:nvSpPr>
        <p:spPr>
          <a:xfrm>
            <a:off x="990600" y="0"/>
            <a:ext cx="7296176" cy="762000"/>
          </a:xfrm>
        </p:spPr>
        <p:txBody>
          <a:bodyPr/>
          <a:lstStyle/>
          <a:p>
            <a:pPr eaLnBrk="1" hangingPunct="1"/>
            <a:r>
              <a:rPr lang="zh-TW" altLang="en-US" dirty="0">
                <a:latin typeface="標楷體" pitchFamily="65" charset="-120"/>
              </a:rPr>
              <a:t>說明書閱讀</a:t>
            </a:r>
          </a:p>
        </p:txBody>
      </p:sp>
      <p:sp>
        <p:nvSpPr>
          <p:cNvPr id="23" name="內容版面配置區 2"/>
          <p:cNvSpPr>
            <a:spLocks noGrp="1"/>
          </p:cNvSpPr>
          <p:nvPr>
            <p:ph idx="1"/>
          </p:nvPr>
        </p:nvSpPr>
        <p:spPr>
          <a:xfrm>
            <a:off x="4857750" y="1071563"/>
            <a:ext cx="3818706" cy="5309765"/>
          </a:xfrm>
        </p:spPr>
        <p:txBody>
          <a:bodyPr>
            <a:noAutofit/>
          </a:bodyPr>
          <a:lstStyle/>
          <a:p>
            <a:pPr marL="342900" lvl="1" indent="-342900">
              <a:buNone/>
              <a:defRPr/>
            </a:pPr>
            <a:r>
              <a:rPr lang="zh-TW" altLang="en-US" sz="2200" dirty="0"/>
              <a:t>可據以實現</a:t>
            </a:r>
            <a:r>
              <a:rPr lang="en-US" altLang="zh-TW" sz="2200" dirty="0"/>
              <a:t>?</a:t>
            </a:r>
          </a:p>
          <a:p>
            <a:pPr marL="342900" lvl="1" indent="-342900" eaLnBrk="1" hangingPunct="1">
              <a:buFontTx/>
              <a:buNone/>
              <a:defRPr/>
            </a:pPr>
            <a:r>
              <a:rPr lang="zh-TW" altLang="en-US" sz="2200" dirty="0"/>
              <a:t>支持</a:t>
            </a:r>
            <a:r>
              <a:rPr lang="en-US" altLang="zh-TW" sz="2200" dirty="0"/>
              <a:t>?</a:t>
            </a:r>
          </a:p>
          <a:p>
            <a:pPr marL="342900" lvl="1" indent="-342900" eaLnBrk="1" hangingPunct="1">
              <a:buFontTx/>
              <a:buNone/>
              <a:defRPr/>
            </a:pPr>
            <a:r>
              <a:rPr lang="zh-TW" altLang="en-US" sz="2200" dirty="0"/>
              <a:t>必要技術特徵</a:t>
            </a:r>
            <a:r>
              <a:rPr lang="en-US" altLang="zh-TW" sz="2200" dirty="0"/>
              <a:t>?</a:t>
            </a:r>
          </a:p>
          <a:p>
            <a:pPr eaLnBrk="1" hangingPunct="1">
              <a:defRPr/>
            </a:pPr>
            <a:r>
              <a:rPr lang="zh-TW" altLang="en-US" sz="2200" dirty="0"/>
              <a:t>請求項</a:t>
            </a:r>
            <a:r>
              <a:rPr lang="en-US" altLang="zh-TW" sz="2200" dirty="0"/>
              <a:t>A</a:t>
            </a:r>
          </a:p>
          <a:p>
            <a:pPr eaLnBrk="1" hangingPunct="1">
              <a:defRPr/>
            </a:pPr>
            <a:r>
              <a:rPr lang="zh-TW" altLang="en-US" sz="2200" dirty="0"/>
              <a:t>請求項</a:t>
            </a:r>
            <a:r>
              <a:rPr lang="en-US" altLang="zh-TW" sz="2200" dirty="0"/>
              <a:t>B</a:t>
            </a:r>
          </a:p>
          <a:p>
            <a:pPr lvl="1" eaLnBrk="1" hangingPunct="1">
              <a:defRPr/>
            </a:pPr>
            <a:r>
              <a:rPr lang="zh-TW" altLang="en-US" sz="2200" dirty="0"/>
              <a:t>上位概念</a:t>
            </a:r>
            <a:r>
              <a:rPr lang="en-US" altLang="zh-TW" sz="2200" dirty="0"/>
              <a:t>?</a:t>
            </a:r>
          </a:p>
          <a:p>
            <a:pPr lvl="1" eaLnBrk="1" hangingPunct="1">
              <a:defRPr/>
            </a:pPr>
            <a:r>
              <a:rPr lang="zh-TW" altLang="en-US" sz="2200" dirty="0"/>
              <a:t>支持</a:t>
            </a:r>
            <a:r>
              <a:rPr lang="en-US" altLang="zh-TW" sz="2200" dirty="0"/>
              <a:t>?</a:t>
            </a:r>
          </a:p>
          <a:p>
            <a:pPr lvl="1" eaLnBrk="1" hangingPunct="1">
              <a:defRPr/>
            </a:pPr>
            <a:r>
              <a:rPr lang="zh-TW" altLang="en-US" sz="2200" dirty="0"/>
              <a:t>可據以實現</a:t>
            </a:r>
            <a:r>
              <a:rPr lang="en-US" altLang="zh-TW" sz="2200" dirty="0"/>
              <a:t>?</a:t>
            </a:r>
          </a:p>
          <a:p>
            <a:pPr lvl="2" eaLnBrk="1" hangingPunct="1">
              <a:defRPr/>
            </a:pPr>
            <a:r>
              <a:rPr lang="zh-TW" altLang="en-US" sz="2200" dirty="0"/>
              <a:t>是否僅概念描述，缺少足夠的實施例</a:t>
            </a:r>
            <a:endParaRPr lang="en-US" altLang="zh-TW" sz="2200" dirty="0"/>
          </a:p>
          <a:p>
            <a:pPr lvl="1" eaLnBrk="1" hangingPunct="1">
              <a:defRPr/>
            </a:pPr>
            <a:r>
              <a:rPr lang="zh-TW" altLang="en-US" sz="2200" dirty="0"/>
              <a:t>必要技術特徵</a:t>
            </a:r>
            <a:r>
              <a:rPr lang="en-US" altLang="zh-TW" sz="2200" dirty="0"/>
              <a:t>?</a:t>
            </a:r>
          </a:p>
          <a:p>
            <a:pPr lvl="2" eaLnBrk="1" hangingPunct="1">
              <a:defRPr/>
            </a:pPr>
            <a:r>
              <a:rPr lang="zh-TW" altLang="en-US" sz="2200" dirty="0"/>
              <a:t>解決問題之必要技術特徵</a:t>
            </a:r>
            <a:endParaRPr lang="en-US" altLang="zh-TW" sz="2200" dirty="0"/>
          </a:p>
        </p:txBody>
      </p:sp>
      <p:sp>
        <p:nvSpPr>
          <p:cNvPr id="9" name="投影片編號版面配置區 8"/>
          <p:cNvSpPr>
            <a:spLocks noGrp="1"/>
          </p:cNvSpPr>
          <p:nvPr>
            <p:ph type="sldNum" sz="quarter" idx="12"/>
          </p:nvPr>
        </p:nvSpPr>
        <p:spPr>
          <a:xfrm>
            <a:off x="3857620" y="6492875"/>
            <a:ext cx="2133600" cy="365125"/>
          </a:xfrm>
        </p:spPr>
        <p:txBody>
          <a:bodyPr/>
          <a:lstStyle/>
          <a:p>
            <a:pPr algn="ctr">
              <a:defRPr/>
            </a:pPr>
            <a:fld id="{2E6281D4-8CD4-49FA-A1BF-4086802DA205}" type="slidenum">
              <a:rPr lang="zh-TW" altLang="en-US"/>
              <a:pPr algn="ctr">
                <a:defRPr/>
              </a:pPr>
              <a:t>54</a:t>
            </a:fld>
            <a:endParaRPr lang="zh-TW" altLang="en-US"/>
          </a:p>
        </p:txBody>
      </p:sp>
      <p:sp>
        <p:nvSpPr>
          <p:cNvPr id="18" name="橢圓 17"/>
          <p:cNvSpPr/>
          <p:nvPr/>
        </p:nvSpPr>
        <p:spPr>
          <a:xfrm>
            <a:off x="2428875" y="3571875"/>
            <a:ext cx="914400" cy="914400"/>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TW" altLang="en-US" dirty="0">
                <a:solidFill>
                  <a:schemeClr val="tx1"/>
                </a:solidFill>
                <a:latin typeface="微軟正黑體" panose="020B0604030504040204" pitchFamily="34" charset="-120"/>
                <a:ea typeface="微軟正黑體" panose="020B0604030504040204" pitchFamily="34" charset="-120"/>
              </a:rPr>
              <a:t>請求項</a:t>
            </a:r>
            <a:r>
              <a:rPr lang="en-US" altLang="zh-TW" dirty="0">
                <a:solidFill>
                  <a:schemeClr val="tx1"/>
                </a:solidFill>
                <a:latin typeface="微軟正黑體" panose="020B0604030504040204" pitchFamily="34" charset="-120"/>
                <a:ea typeface="微軟正黑體" panose="020B0604030504040204" pitchFamily="34" charset="-120"/>
              </a:rPr>
              <a:t>A</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24" name="橢圓 23"/>
          <p:cNvSpPr/>
          <p:nvPr/>
        </p:nvSpPr>
        <p:spPr>
          <a:xfrm>
            <a:off x="3000375" y="2643188"/>
            <a:ext cx="1271588" cy="9144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TW" altLang="en-US" dirty="0">
                <a:solidFill>
                  <a:schemeClr val="tx1"/>
                </a:solidFill>
              </a:rPr>
              <a:t>請求項</a:t>
            </a:r>
            <a:r>
              <a:rPr lang="en-US" altLang="zh-TW" dirty="0">
                <a:solidFill>
                  <a:schemeClr val="tx1"/>
                </a:solidFill>
              </a:rPr>
              <a:t>B</a:t>
            </a:r>
            <a:endParaRPr lang="zh-TW" altLang="en-US" dirty="0">
              <a:solidFill>
                <a:schemeClr val="tx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A56739-EDC6-9AE9-16C9-7A231C36908A}"/>
              </a:ext>
            </a:extLst>
          </p:cNvPr>
          <p:cNvSpPr>
            <a:spLocks noGrp="1"/>
          </p:cNvSpPr>
          <p:nvPr>
            <p:ph type="title"/>
          </p:nvPr>
        </p:nvSpPr>
        <p:spPr>
          <a:xfrm>
            <a:off x="1187624" y="0"/>
            <a:ext cx="7869560" cy="761750"/>
          </a:xfrm>
        </p:spPr>
        <p:txBody>
          <a:bodyPr anchor="ctr" anchorCtr="0"/>
          <a:lstStyle/>
          <a:p>
            <a:r>
              <a:rPr lang="zh-TW" altLang="en-US" sz="3200" dirty="0"/>
              <a:t>案例二</a:t>
            </a:r>
            <a:r>
              <a:rPr lang="en-US" altLang="zh-TW" sz="3200" dirty="0"/>
              <a:t>-</a:t>
            </a:r>
            <a:r>
              <a:rPr lang="zh-TW" altLang="en-US" sz="3200" dirty="0"/>
              <a:t>電子裝置及其展示程式執行方法</a:t>
            </a:r>
          </a:p>
        </p:txBody>
      </p:sp>
      <p:sp>
        <p:nvSpPr>
          <p:cNvPr id="4" name="投影片編號版面配置區 3">
            <a:extLst>
              <a:ext uri="{FF2B5EF4-FFF2-40B4-BE49-F238E27FC236}">
                <a16:creationId xmlns:a16="http://schemas.microsoft.com/office/drawing/2014/main" id="{C5D1A5ED-123E-A909-BFB4-97A3FE0CF3D4}"/>
              </a:ext>
            </a:extLst>
          </p:cNvPr>
          <p:cNvSpPr>
            <a:spLocks noGrp="1"/>
          </p:cNvSpPr>
          <p:nvPr>
            <p:ph type="sldNum" sz="quarter" idx="12"/>
          </p:nvPr>
        </p:nvSpPr>
        <p:spPr/>
        <p:txBody>
          <a:bodyPr/>
          <a:lstStyle/>
          <a:p>
            <a:fld id="{51D2D507-09EA-4C6F-96ED-053C801F8797}" type="slidenum">
              <a:rPr lang="zh-TW" altLang="en-US" smtClean="0"/>
              <a:t>55</a:t>
            </a:fld>
            <a:endParaRPr lang="zh-TW" altLang="en-US" dirty="0"/>
          </a:p>
        </p:txBody>
      </p:sp>
      <p:sp>
        <p:nvSpPr>
          <p:cNvPr id="3" name="矩形 2"/>
          <p:cNvSpPr/>
          <p:nvPr/>
        </p:nvSpPr>
        <p:spPr>
          <a:xfrm>
            <a:off x="179512" y="785522"/>
            <a:ext cx="8784976" cy="1815882"/>
          </a:xfrm>
          <a:prstGeom prst="rect">
            <a:avLst/>
          </a:prstGeom>
        </p:spPr>
        <p:txBody>
          <a:bodyPr wrap="square">
            <a:spAutoFit/>
          </a:bodyPr>
          <a:lstStyle/>
          <a:p>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先前技術</a:t>
            </a:r>
            <a:r>
              <a:rPr lang="en-US" altLang="zh-TW" sz="1600" dirty="0">
                <a:latin typeface="微軟正黑體" panose="020B0604030504040204" pitchFamily="34" charset="-120"/>
                <a:ea typeface="微軟正黑體" panose="020B0604030504040204" pitchFamily="34" charset="-120"/>
              </a:rPr>
              <a:t>】</a:t>
            </a:r>
          </a:p>
          <a:p>
            <a:pPr algn="just"/>
            <a:r>
              <a:rPr lang="zh-TW" altLang="en-US" sz="1600" dirty="0">
                <a:latin typeface="微軟正黑體" panose="020B0604030504040204" pitchFamily="34" charset="-120"/>
                <a:ea typeface="微軟正黑體" panose="020B0604030504040204" pitchFamily="34" charset="-120"/>
              </a:rPr>
              <a:t>習知</a:t>
            </a:r>
            <a:r>
              <a:rPr lang="zh-TW" altLang="en-US" sz="1600" b="1" dirty="0">
                <a:latin typeface="微軟正黑體" panose="020B0604030504040204" pitchFamily="34" charset="-120"/>
                <a:ea typeface="微軟正黑體" panose="020B0604030504040204" pitchFamily="34" charset="-120"/>
              </a:rPr>
              <a:t>展示電腦</a:t>
            </a:r>
            <a:r>
              <a:rPr lang="zh-TW" altLang="en-US" sz="1600" dirty="0">
                <a:latin typeface="微軟正黑體" panose="020B0604030504040204" pitchFamily="34" charset="-120"/>
                <a:ea typeface="微軟正黑體" panose="020B0604030504040204" pitchFamily="34" charset="-120"/>
              </a:rPr>
              <a:t>在商店的展示，</a:t>
            </a:r>
            <a:r>
              <a:rPr lang="zh-TW" altLang="en-US" sz="1600" b="1" dirty="0">
                <a:latin typeface="微軟正黑體" panose="020B0604030504040204" pitchFamily="34" charset="-120"/>
                <a:ea typeface="微軟正黑體" panose="020B0604030504040204" pitchFamily="34" charset="-120"/>
              </a:rPr>
              <a:t>通常是需要銷售人員人工操作</a:t>
            </a:r>
            <a:r>
              <a:rPr lang="zh-TW" altLang="en-US" sz="1600" dirty="0">
                <a:latin typeface="微軟正黑體" panose="020B0604030504040204" pitchFamily="34" charset="-120"/>
                <a:ea typeface="微軟正黑體" panose="020B0604030504040204" pitchFamily="34" charset="-120"/>
              </a:rPr>
              <a:t>，在儲存於硬碟內之作業系統上安裝展示程式或播放展示影片。然而，這樣的展示方法的問題是：若</a:t>
            </a:r>
            <a:r>
              <a:rPr lang="zh-TW" altLang="en-US" sz="1600" b="1" dirty="0">
                <a:latin typeface="微軟正黑體" panose="020B0604030504040204" pitchFamily="34" charset="-120"/>
                <a:ea typeface="微軟正黑體" panose="020B0604030504040204" pitchFamily="34" charset="-120"/>
              </a:rPr>
              <a:t>展示電腦售出，須將硬碟內作業系統恢復至出廠設定</a:t>
            </a:r>
            <a:r>
              <a:rPr lang="zh-TW" altLang="en-US" sz="1600" dirty="0">
                <a:latin typeface="微軟正黑體" panose="020B0604030504040204" pitchFamily="34" charset="-120"/>
                <a:ea typeface="微軟正黑體" panose="020B0604030504040204" pitchFamily="34" charset="-120"/>
              </a:rPr>
              <a:t>，此需要花費一段時間處理。且，展示程式</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或展示影片</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的下載更新需要人工逐一處理，例如，銷售人員須確認是否有更新版展示程式上架，或不同機型有不同的展示程式</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或展示影片</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，此須由人工逐一確認處理。因此，提出一種新的展示方法是改善前述習知問題是本技術領域業者努力目標之一。</a:t>
            </a:r>
          </a:p>
        </p:txBody>
      </p:sp>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674920" y="3077822"/>
            <a:ext cx="4452888" cy="3204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179512" y="2541085"/>
            <a:ext cx="4680520" cy="4278094"/>
          </a:xfrm>
          <a:prstGeom prst="rect">
            <a:avLst/>
          </a:prstGeom>
        </p:spPr>
        <p:txBody>
          <a:bodyPr wrap="square">
            <a:spAutoFit/>
          </a:bodyPr>
          <a:lstStyle/>
          <a:p>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實施方式</a:t>
            </a:r>
            <a:r>
              <a:rPr lang="en-US" altLang="zh-TW" sz="1600" dirty="0">
                <a:latin typeface="微軟正黑體" panose="020B0604030504040204" pitchFamily="34" charset="-120"/>
                <a:ea typeface="微軟正黑體" panose="020B0604030504040204" pitchFamily="34" charset="-120"/>
              </a:rPr>
              <a:t>】</a:t>
            </a:r>
          </a:p>
          <a:p>
            <a:pPr algn="just"/>
            <a:r>
              <a:rPr lang="zh-TW" altLang="en-US" sz="1600" dirty="0">
                <a:latin typeface="微軟正黑體" panose="020B0604030504040204" pitchFamily="34" charset="-120"/>
                <a:ea typeface="微軟正黑體" panose="020B0604030504040204" pitchFamily="34" charset="-120"/>
              </a:rPr>
              <a:t>請參照第</a:t>
            </a:r>
            <a:r>
              <a:rPr lang="en-US" altLang="zh-TW" sz="1600" dirty="0">
                <a:latin typeface="微軟正黑體" panose="020B0604030504040204" pitchFamily="34" charset="-120"/>
                <a:ea typeface="微軟正黑體" panose="020B0604030504040204" pitchFamily="34" charset="-120"/>
              </a:rPr>
              <a:t>1</a:t>
            </a:r>
            <a:r>
              <a:rPr lang="zh-TW" altLang="en-US" sz="1600" dirty="0">
                <a:latin typeface="微軟正黑體" panose="020B0604030504040204" pitchFamily="34" charset="-120"/>
                <a:ea typeface="微軟正黑體" panose="020B0604030504040204" pitchFamily="34" charset="-120"/>
              </a:rPr>
              <a:t>圖，其繪示依照本發明一實施例之電子裝置</a:t>
            </a:r>
            <a:r>
              <a:rPr lang="en-US" altLang="zh-TW" sz="1600" dirty="0">
                <a:latin typeface="微軟正黑體" panose="020B0604030504040204" pitchFamily="34" charset="-120"/>
                <a:ea typeface="微軟正黑體" panose="020B0604030504040204" pitchFamily="34" charset="-120"/>
              </a:rPr>
              <a:t>100</a:t>
            </a:r>
            <a:r>
              <a:rPr lang="zh-TW" altLang="en-US" sz="1600" dirty="0">
                <a:latin typeface="微軟正黑體" panose="020B0604030504040204" pitchFamily="34" charset="-120"/>
                <a:ea typeface="微軟正黑體" panose="020B0604030504040204" pitchFamily="34" charset="-120"/>
              </a:rPr>
              <a:t>的功能方塊圖。電子裝置</a:t>
            </a:r>
            <a:r>
              <a:rPr lang="en-US" altLang="zh-TW" sz="1600" dirty="0">
                <a:latin typeface="微軟正黑體" panose="020B0604030504040204" pitchFamily="34" charset="-120"/>
                <a:ea typeface="微軟正黑體" panose="020B0604030504040204" pitchFamily="34" charset="-120"/>
              </a:rPr>
              <a:t>100</a:t>
            </a:r>
            <a:r>
              <a:rPr lang="zh-TW" altLang="en-US" sz="1600" dirty="0">
                <a:latin typeface="微軟正黑體" panose="020B0604030504040204" pitchFamily="34" charset="-120"/>
                <a:ea typeface="微軟正黑體" panose="020B0604030504040204" pitchFamily="34" charset="-120"/>
              </a:rPr>
              <a:t>例如是桌上型電腦、筆記型電腦、平板電腦、智慧型手機或其它類型的電子裝置。電子裝置</a:t>
            </a:r>
            <a:r>
              <a:rPr lang="en-US" altLang="zh-TW" sz="1600" dirty="0">
                <a:latin typeface="微軟正黑體" panose="020B0604030504040204" pitchFamily="34" charset="-120"/>
                <a:ea typeface="微軟正黑體" panose="020B0604030504040204" pitchFamily="34" charset="-120"/>
              </a:rPr>
              <a:t>100</a:t>
            </a:r>
            <a:r>
              <a:rPr lang="zh-TW" altLang="en-US" sz="1600" dirty="0">
                <a:latin typeface="微軟正黑體" panose="020B0604030504040204" pitchFamily="34" charset="-120"/>
                <a:ea typeface="微軟正黑體" panose="020B0604030504040204" pitchFamily="34" charset="-120"/>
              </a:rPr>
              <a:t>包括通訊模組</a:t>
            </a:r>
            <a:r>
              <a:rPr lang="en-US" altLang="zh-TW" sz="1600" dirty="0">
                <a:latin typeface="微軟正黑體" panose="020B0604030504040204" pitchFamily="34" charset="-120"/>
                <a:ea typeface="微軟正黑體" panose="020B0604030504040204" pitchFamily="34" charset="-120"/>
              </a:rPr>
              <a:t>110</a:t>
            </a:r>
            <a:r>
              <a:rPr lang="zh-TW" altLang="en-US" sz="1600" dirty="0">
                <a:latin typeface="微軟正黑體" panose="020B0604030504040204" pitchFamily="34" charset="-120"/>
                <a:ea typeface="微軟正黑體" panose="020B0604030504040204" pitchFamily="34" charset="-120"/>
              </a:rPr>
              <a:t>、記憶體</a:t>
            </a:r>
            <a:r>
              <a:rPr lang="en-US" altLang="zh-TW" sz="1600" dirty="0">
                <a:latin typeface="微軟正黑體" panose="020B0604030504040204" pitchFamily="34" charset="-120"/>
                <a:ea typeface="微軟正黑體" panose="020B0604030504040204" pitchFamily="34" charset="-120"/>
              </a:rPr>
              <a:t>120</a:t>
            </a:r>
            <a:r>
              <a:rPr lang="zh-TW" altLang="en-US" sz="1600" dirty="0">
                <a:latin typeface="微軟正黑體" panose="020B0604030504040204" pitchFamily="34" charset="-120"/>
                <a:ea typeface="微軟正黑體" panose="020B0604030504040204" pitchFamily="34" charset="-120"/>
              </a:rPr>
              <a:t>、基本輸入</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輸出系統</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以下稱</a:t>
            </a:r>
            <a:r>
              <a:rPr lang="en-US" altLang="zh-TW" sz="1600" dirty="0">
                <a:latin typeface="微軟正黑體" panose="020B0604030504040204" pitchFamily="34" charset="-120"/>
                <a:ea typeface="微軟正黑體" panose="020B0604030504040204" pitchFamily="34" charset="-120"/>
              </a:rPr>
              <a:t>BIOS)130</a:t>
            </a:r>
            <a:r>
              <a:rPr lang="zh-TW" altLang="en-US" sz="1600" dirty="0">
                <a:latin typeface="微軟正黑體" panose="020B0604030504040204" pitchFamily="34" charset="-120"/>
                <a:ea typeface="微軟正黑體" panose="020B0604030504040204" pitchFamily="34" charset="-120"/>
              </a:rPr>
              <a:t>、處理器</a:t>
            </a:r>
            <a:r>
              <a:rPr lang="en-US" altLang="zh-TW" sz="1600" dirty="0">
                <a:latin typeface="微軟正黑體" panose="020B0604030504040204" pitchFamily="34" charset="-120"/>
                <a:ea typeface="微軟正黑體" panose="020B0604030504040204" pitchFamily="34" charset="-120"/>
              </a:rPr>
              <a:t>140</a:t>
            </a:r>
            <a:r>
              <a:rPr lang="zh-TW" altLang="en-US" sz="1600" dirty="0">
                <a:latin typeface="微軟正黑體" panose="020B0604030504040204" pitchFamily="34" charset="-120"/>
                <a:ea typeface="微軟正黑體" panose="020B0604030504040204" pitchFamily="34" charset="-120"/>
              </a:rPr>
              <a:t>及硬碟</a:t>
            </a:r>
            <a:r>
              <a:rPr lang="en-US" altLang="zh-TW" sz="1600" dirty="0">
                <a:latin typeface="微軟正黑體" panose="020B0604030504040204" pitchFamily="34" charset="-120"/>
                <a:ea typeface="微軟正黑體" panose="020B0604030504040204" pitchFamily="34" charset="-120"/>
              </a:rPr>
              <a:t>150</a:t>
            </a:r>
            <a:r>
              <a:rPr lang="zh-TW" altLang="en-US" sz="1600" dirty="0">
                <a:latin typeface="微軟正黑體" panose="020B0604030504040204" pitchFamily="34" charset="-120"/>
                <a:ea typeface="微軟正黑體" panose="020B0604030504040204" pitchFamily="34" charset="-120"/>
              </a:rPr>
              <a:t>。通訊模組</a:t>
            </a:r>
            <a:r>
              <a:rPr lang="en-US" altLang="zh-TW" sz="1600" dirty="0">
                <a:latin typeface="微軟正黑體" panose="020B0604030504040204" pitchFamily="34" charset="-120"/>
                <a:ea typeface="微軟正黑體" panose="020B0604030504040204" pitchFamily="34" charset="-120"/>
              </a:rPr>
              <a:t>110</a:t>
            </a:r>
            <a:r>
              <a:rPr lang="zh-TW" altLang="en-US" sz="1600" dirty="0">
                <a:latin typeface="微軟正黑體" panose="020B0604030504040204" pitchFamily="34" charset="-120"/>
                <a:ea typeface="微軟正黑體" panose="020B0604030504040204" pitchFamily="34" charset="-120"/>
              </a:rPr>
              <a:t>用以建立伺服器</a:t>
            </a:r>
            <a:r>
              <a:rPr lang="en-US" altLang="zh-TW" sz="1600" dirty="0">
                <a:latin typeface="微軟正黑體" panose="020B0604030504040204" pitchFamily="34" charset="-120"/>
                <a:ea typeface="微軟正黑體" panose="020B0604030504040204" pitchFamily="34" charset="-120"/>
              </a:rPr>
              <a:t>10</a:t>
            </a:r>
            <a:r>
              <a:rPr lang="zh-TW" altLang="en-US" sz="1600" dirty="0">
                <a:latin typeface="微軟正黑體" panose="020B0604030504040204" pitchFamily="34" charset="-120"/>
                <a:ea typeface="微軟正黑體" panose="020B0604030504040204" pitchFamily="34" charset="-120"/>
              </a:rPr>
              <a:t>與通訊模組</a:t>
            </a:r>
            <a:r>
              <a:rPr lang="en-US" altLang="zh-TW" sz="1600" dirty="0">
                <a:latin typeface="微軟正黑體" panose="020B0604030504040204" pitchFamily="34" charset="-120"/>
                <a:ea typeface="微軟正黑體" panose="020B0604030504040204" pitchFamily="34" charset="-120"/>
              </a:rPr>
              <a:t>110</a:t>
            </a:r>
            <a:r>
              <a:rPr lang="zh-TW" altLang="en-US" sz="1600" dirty="0">
                <a:latin typeface="微軟正黑體" panose="020B0604030504040204" pitchFamily="34" charset="-120"/>
                <a:ea typeface="微軟正黑體" panose="020B0604030504040204" pitchFamily="34" charset="-120"/>
              </a:rPr>
              <a:t>之間的連線</a:t>
            </a:r>
            <a:r>
              <a:rPr lang="en-US" altLang="zh-TW" sz="1600" dirty="0">
                <a:latin typeface="微軟正黑體" panose="020B0604030504040204" pitchFamily="34" charset="-120"/>
                <a:ea typeface="微軟正黑體" panose="020B0604030504040204" pitchFamily="34" charset="-120"/>
              </a:rPr>
              <a:t>L1</a:t>
            </a:r>
            <a:r>
              <a:rPr lang="zh-TW" altLang="en-US" sz="1600" dirty="0">
                <a:latin typeface="微軟正黑體" panose="020B0604030504040204" pitchFamily="34" charset="-120"/>
                <a:ea typeface="微軟正黑體" panose="020B0604030504040204" pitchFamily="34" charset="-120"/>
              </a:rPr>
              <a:t>。記憶體</a:t>
            </a:r>
            <a:r>
              <a:rPr lang="en-US" altLang="zh-TW" sz="1600" dirty="0">
                <a:latin typeface="微軟正黑體" panose="020B0604030504040204" pitchFamily="34" charset="-120"/>
                <a:ea typeface="微軟正黑體" panose="020B0604030504040204" pitchFamily="34" charset="-120"/>
              </a:rPr>
              <a:t>120</a:t>
            </a:r>
            <a:r>
              <a:rPr lang="zh-TW" altLang="en-US" sz="1600" dirty="0">
                <a:latin typeface="微軟正黑體" panose="020B0604030504040204" pitchFamily="34" charset="-120"/>
                <a:ea typeface="微軟正黑體" panose="020B0604030504040204" pitchFamily="34" charset="-120"/>
              </a:rPr>
              <a:t>用以儲存透過連線</a:t>
            </a:r>
            <a:r>
              <a:rPr lang="en-US" altLang="zh-TW" sz="1600" dirty="0">
                <a:latin typeface="微軟正黑體" panose="020B0604030504040204" pitchFamily="34" charset="-120"/>
                <a:ea typeface="微軟正黑體" panose="020B0604030504040204" pitchFamily="34" charset="-120"/>
              </a:rPr>
              <a:t>L1</a:t>
            </a:r>
            <a:r>
              <a:rPr lang="zh-TW" altLang="en-US" sz="1600" dirty="0">
                <a:latin typeface="微軟正黑體" panose="020B0604030504040204" pitchFamily="34" charset="-120"/>
                <a:ea typeface="微軟正黑體" panose="020B0604030504040204" pitchFamily="34" charset="-120"/>
              </a:rPr>
              <a:t>所下載之展示應用程式</a:t>
            </a:r>
            <a:r>
              <a:rPr lang="en-US" altLang="zh-TW" sz="1600" dirty="0">
                <a:latin typeface="微軟正黑體" panose="020B0604030504040204" pitchFamily="34" charset="-120"/>
                <a:ea typeface="微軟正黑體" panose="020B0604030504040204" pitchFamily="34" charset="-120"/>
              </a:rPr>
              <a:t>A1</a:t>
            </a:r>
            <a:r>
              <a:rPr lang="zh-TW" altLang="en-US" sz="1600" dirty="0">
                <a:latin typeface="微軟正黑體" panose="020B0604030504040204" pitchFamily="34" charset="-120"/>
                <a:ea typeface="微軟正黑體" panose="020B0604030504040204" pitchFamily="34" charset="-120"/>
              </a:rPr>
              <a:t>，展示</a:t>
            </a:r>
            <a:r>
              <a:rPr lang="zh-TW" altLang="en-US" sz="1600" b="1" dirty="0">
                <a:latin typeface="微軟正黑體" panose="020B0604030504040204" pitchFamily="34" charset="-120"/>
                <a:ea typeface="微軟正黑體" panose="020B0604030504040204" pitchFamily="34" charset="-120"/>
              </a:rPr>
              <a:t>應用程式</a:t>
            </a:r>
            <a:r>
              <a:rPr lang="en-US" altLang="zh-TW" sz="1600" b="1" dirty="0">
                <a:latin typeface="微軟正黑體" panose="020B0604030504040204" pitchFamily="34" charset="-120"/>
                <a:ea typeface="微軟正黑體" panose="020B0604030504040204" pitchFamily="34" charset="-120"/>
              </a:rPr>
              <a:t>A1</a:t>
            </a:r>
            <a:r>
              <a:rPr lang="zh-TW" altLang="en-US" sz="1600" b="1" dirty="0">
                <a:latin typeface="微軟正黑體" panose="020B0604030504040204" pitchFamily="34" charset="-120"/>
                <a:ea typeface="微軟正黑體" panose="020B0604030504040204" pitchFamily="34" charset="-120"/>
              </a:rPr>
              <a:t>包含類作業系統程式</a:t>
            </a:r>
            <a:r>
              <a:rPr lang="en-US" altLang="zh-TW" sz="1600" b="1" dirty="0">
                <a:latin typeface="微軟正黑體" panose="020B0604030504040204" pitchFamily="34" charset="-120"/>
                <a:ea typeface="微軟正黑體" panose="020B0604030504040204" pitchFamily="34" charset="-120"/>
              </a:rPr>
              <a:t>A11</a:t>
            </a:r>
            <a:r>
              <a:rPr lang="zh-TW" altLang="en-US" sz="1600" b="1" dirty="0">
                <a:latin typeface="微軟正黑體" panose="020B0604030504040204" pitchFamily="34" charset="-120"/>
                <a:ea typeface="微軟正黑體" panose="020B0604030504040204" pitchFamily="34" charset="-120"/>
              </a:rPr>
              <a:t>及展示程式</a:t>
            </a:r>
            <a:r>
              <a:rPr lang="en-US" altLang="zh-TW" sz="1600" b="1" dirty="0">
                <a:latin typeface="微軟正黑體" panose="020B0604030504040204" pitchFamily="34" charset="-120"/>
                <a:ea typeface="微軟正黑體" panose="020B0604030504040204" pitchFamily="34" charset="-120"/>
              </a:rPr>
              <a:t>A12</a:t>
            </a:r>
            <a:r>
              <a:rPr lang="zh-TW" altLang="en-US" sz="1600" dirty="0">
                <a:latin typeface="微軟正黑體" panose="020B0604030504040204" pitchFamily="34" charset="-120"/>
                <a:ea typeface="微軟正黑體" panose="020B0604030504040204" pitchFamily="34" charset="-120"/>
              </a:rPr>
              <a:t>，其中展示應用程式</a:t>
            </a:r>
            <a:r>
              <a:rPr lang="en-US" altLang="zh-TW" sz="1600" dirty="0">
                <a:latin typeface="微軟正黑體" panose="020B0604030504040204" pitchFamily="34" charset="-120"/>
                <a:ea typeface="微軟正黑體" panose="020B0604030504040204" pitchFamily="34" charset="-120"/>
              </a:rPr>
              <a:t>A1</a:t>
            </a:r>
            <a:r>
              <a:rPr lang="zh-TW" altLang="en-US" sz="1600" dirty="0">
                <a:latin typeface="微軟正黑體" panose="020B0604030504040204" pitchFamily="34" charset="-120"/>
                <a:ea typeface="微軟正黑體" panose="020B0604030504040204" pitchFamily="34" charset="-120"/>
              </a:rPr>
              <a:t>對應一展示程式識別碼</a:t>
            </a:r>
            <a:r>
              <a:rPr lang="en-US" altLang="zh-TW" sz="1600" dirty="0">
                <a:latin typeface="微軟正黑體" panose="020B0604030504040204" pitchFamily="34" charset="-120"/>
                <a:ea typeface="微軟正黑體" panose="020B0604030504040204" pitchFamily="34" charset="-120"/>
              </a:rPr>
              <a:t>R1</a:t>
            </a:r>
            <a:r>
              <a:rPr lang="zh-TW" altLang="en-US" sz="1600" dirty="0">
                <a:latin typeface="微軟正黑體" panose="020B0604030504040204" pitchFamily="34" charset="-120"/>
                <a:ea typeface="微軟正黑體" panose="020B0604030504040204" pitchFamily="34" charset="-120"/>
              </a:rPr>
              <a:t>。</a:t>
            </a:r>
            <a:r>
              <a:rPr lang="en-US" altLang="zh-TW" sz="1600" dirty="0">
                <a:latin typeface="微軟正黑體" panose="020B0604030504040204" pitchFamily="34" charset="-120"/>
                <a:ea typeface="微軟正黑體" panose="020B0604030504040204" pitchFamily="34" charset="-120"/>
              </a:rPr>
              <a:t>BIOS130</a:t>
            </a:r>
            <a:r>
              <a:rPr lang="zh-TW" altLang="en-US" sz="1600" dirty="0">
                <a:latin typeface="微軟正黑體" panose="020B0604030504040204" pitchFamily="34" charset="-120"/>
                <a:ea typeface="微軟正黑體" panose="020B0604030504040204" pitchFamily="34" charset="-120"/>
              </a:rPr>
              <a:t>用以：將展示程式識別碼</a:t>
            </a:r>
            <a:r>
              <a:rPr lang="en-US" altLang="zh-TW" sz="1600" dirty="0">
                <a:latin typeface="微軟正黑體" panose="020B0604030504040204" pitchFamily="34" charset="-120"/>
                <a:ea typeface="微軟正黑體" panose="020B0604030504040204" pitchFamily="34" charset="-120"/>
              </a:rPr>
              <a:t>R1</a:t>
            </a:r>
            <a:r>
              <a:rPr lang="zh-TW" altLang="en-US" sz="1600" dirty="0">
                <a:latin typeface="微軟正黑體" panose="020B0604030504040204" pitchFamily="34" charset="-120"/>
                <a:ea typeface="微軟正黑體" panose="020B0604030504040204" pitchFamily="34" charset="-120"/>
              </a:rPr>
              <a:t>傳送給伺服器</a:t>
            </a:r>
            <a:r>
              <a:rPr lang="en-US" altLang="zh-TW" sz="1600" dirty="0">
                <a:latin typeface="微軟正黑體" panose="020B0604030504040204" pitchFamily="34" charset="-120"/>
                <a:ea typeface="微軟正黑體" panose="020B0604030504040204" pitchFamily="34" charset="-120"/>
              </a:rPr>
              <a:t>10</a:t>
            </a:r>
            <a:r>
              <a:rPr lang="zh-TW" altLang="en-US" sz="1600" dirty="0">
                <a:latin typeface="微軟正黑體" panose="020B0604030504040204" pitchFamily="34" charset="-120"/>
                <a:ea typeface="微軟正黑體" panose="020B0604030504040204" pitchFamily="34" charset="-120"/>
              </a:rPr>
              <a:t>以及啟動類作業系統程式</a:t>
            </a:r>
            <a:r>
              <a:rPr lang="en-US" altLang="zh-TW" sz="1600" dirty="0">
                <a:latin typeface="微軟正黑體" panose="020B0604030504040204" pitchFamily="34" charset="-120"/>
                <a:ea typeface="微軟正黑體" panose="020B0604030504040204" pitchFamily="34" charset="-120"/>
              </a:rPr>
              <a:t>A11</a:t>
            </a:r>
            <a:r>
              <a:rPr lang="zh-TW" altLang="en-US" sz="1600" dirty="0">
                <a:latin typeface="微軟正黑體" panose="020B0604030504040204" pitchFamily="34" charset="-120"/>
                <a:ea typeface="微軟正黑體" panose="020B0604030504040204" pitchFamily="34" charset="-120"/>
              </a:rPr>
              <a:t>，由類作業系統程式</a:t>
            </a:r>
            <a:r>
              <a:rPr lang="en-US" altLang="zh-TW" sz="1600" dirty="0">
                <a:latin typeface="微軟正黑體" panose="020B0604030504040204" pitchFamily="34" charset="-120"/>
                <a:ea typeface="微軟正黑體" panose="020B0604030504040204" pitchFamily="34" charset="-120"/>
              </a:rPr>
              <a:t>A11</a:t>
            </a:r>
            <a:r>
              <a:rPr lang="zh-TW" altLang="en-US" sz="1600" dirty="0">
                <a:latin typeface="微軟正黑體" panose="020B0604030504040204" pitchFamily="34" charset="-120"/>
                <a:ea typeface="微軟正黑體" panose="020B0604030504040204" pitchFamily="34" charset="-120"/>
              </a:rPr>
              <a:t>執行展示程式</a:t>
            </a:r>
            <a:r>
              <a:rPr lang="en-US" altLang="zh-TW" sz="1600" dirty="0">
                <a:latin typeface="微軟正黑體" panose="020B0604030504040204" pitchFamily="34" charset="-120"/>
                <a:ea typeface="微軟正黑體" panose="020B0604030504040204" pitchFamily="34" charset="-120"/>
              </a:rPr>
              <a:t>A12</a:t>
            </a:r>
            <a:r>
              <a:rPr lang="zh-TW" altLang="en-US" sz="1600" dirty="0">
                <a:latin typeface="微軟正黑體" panose="020B0604030504040204" pitchFamily="34" charset="-120"/>
                <a:ea typeface="微軟正黑體" panose="020B0604030504040204" pitchFamily="34" charset="-120"/>
              </a:rPr>
              <a:t>。在本實施例中，執行展示程式</a:t>
            </a:r>
            <a:r>
              <a:rPr lang="en-US" altLang="zh-TW" sz="1600" dirty="0">
                <a:latin typeface="微軟正黑體" panose="020B0604030504040204" pitchFamily="34" charset="-120"/>
                <a:ea typeface="微軟正黑體" panose="020B0604030504040204" pitchFamily="34" charset="-120"/>
              </a:rPr>
              <a:t>A12</a:t>
            </a:r>
            <a:r>
              <a:rPr lang="zh-TW" altLang="en-US" sz="1600" dirty="0">
                <a:latin typeface="微軟正黑體" panose="020B0604030504040204" pitchFamily="34" charset="-120"/>
                <a:ea typeface="微軟正黑體" panose="020B0604030504040204" pitchFamily="34" charset="-120"/>
              </a:rPr>
              <a:t>的過程與硬碟</a:t>
            </a:r>
            <a:r>
              <a:rPr lang="en-US" altLang="zh-TW" sz="1600" dirty="0">
                <a:latin typeface="微軟正黑體" panose="020B0604030504040204" pitchFamily="34" charset="-120"/>
                <a:ea typeface="微軟正黑體" panose="020B0604030504040204" pitchFamily="34" charset="-120"/>
              </a:rPr>
              <a:t>150</a:t>
            </a:r>
            <a:r>
              <a:rPr lang="zh-TW" altLang="en-US" sz="1600" dirty="0">
                <a:latin typeface="微軟正黑體" panose="020B0604030504040204" pitchFamily="34" charset="-120"/>
                <a:ea typeface="微軟正黑體" panose="020B0604030504040204" pitchFamily="34" charset="-120"/>
              </a:rPr>
              <a:t>內資料無關及</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或在執行展示程式</a:t>
            </a:r>
            <a:r>
              <a:rPr lang="en-US" altLang="zh-TW" sz="1600" dirty="0">
                <a:latin typeface="微軟正黑體" panose="020B0604030504040204" pitchFamily="34" charset="-120"/>
                <a:ea typeface="微軟正黑體" panose="020B0604030504040204" pitchFamily="34" charset="-120"/>
              </a:rPr>
              <a:t>A12</a:t>
            </a:r>
            <a:r>
              <a:rPr lang="zh-TW" altLang="en-US" sz="1600" dirty="0">
                <a:latin typeface="微軟正黑體" panose="020B0604030504040204" pitchFamily="34" charset="-120"/>
                <a:ea typeface="微軟正黑體" panose="020B0604030504040204" pitchFamily="34" charset="-120"/>
              </a:rPr>
              <a:t>的過程不使用且不修改硬碟</a:t>
            </a:r>
            <a:r>
              <a:rPr lang="en-US" altLang="zh-TW" sz="1600" dirty="0">
                <a:latin typeface="微軟正黑體" panose="020B0604030504040204" pitchFamily="34" charset="-120"/>
                <a:ea typeface="微軟正黑體" panose="020B0604030504040204" pitchFamily="34" charset="-120"/>
              </a:rPr>
              <a:t>150</a:t>
            </a:r>
            <a:r>
              <a:rPr lang="zh-TW" altLang="en-US" sz="1600" dirty="0">
                <a:latin typeface="微軟正黑體" panose="020B0604030504040204" pitchFamily="34" charset="-120"/>
                <a:ea typeface="微軟正黑體" panose="020B0604030504040204" pitchFamily="34" charset="-120"/>
              </a:rPr>
              <a:t>內的資料。</a:t>
            </a:r>
          </a:p>
        </p:txBody>
      </p:sp>
    </p:spTree>
    <p:extLst>
      <p:ext uri="{BB962C8B-B14F-4D97-AF65-F5344CB8AC3E}">
        <p14:creationId xmlns:p14="http://schemas.microsoft.com/office/powerpoint/2010/main" val="33473259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A56739-EDC6-9AE9-16C9-7A231C36908A}"/>
              </a:ext>
            </a:extLst>
          </p:cNvPr>
          <p:cNvSpPr>
            <a:spLocks noGrp="1"/>
          </p:cNvSpPr>
          <p:nvPr>
            <p:ph type="title"/>
          </p:nvPr>
        </p:nvSpPr>
        <p:spPr>
          <a:xfrm>
            <a:off x="1187624" y="0"/>
            <a:ext cx="7869560" cy="761750"/>
          </a:xfrm>
        </p:spPr>
        <p:txBody>
          <a:bodyPr anchor="ctr" anchorCtr="0"/>
          <a:lstStyle/>
          <a:p>
            <a:r>
              <a:rPr lang="zh-TW" altLang="en-US" sz="3200" dirty="0"/>
              <a:t>案例二</a:t>
            </a:r>
            <a:r>
              <a:rPr lang="en-US" altLang="zh-TW" sz="3200" dirty="0"/>
              <a:t>-</a:t>
            </a:r>
            <a:r>
              <a:rPr lang="zh-TW" altLang="en-US" sz="3200" dirty="0"/>
              <a:t>電子裝置及其展示程式執行方法</a:t>
            </a:r>
          </a:p>
        </p:txBody>
      </p:sp>
      <p:sp>
        <p:nvSpPr>
          <p:cNvPr id="4" name="投影片編號版面配置區 3">
            <a:extLst>
              <a:ext uri="{FF2B5EF4-FFF2-40B4-BE49-F238E27FC236}">
                <a16:creationId xmlns:a16="http://schemas.microsoft.com/office/drawing/2014/main" id="{C5D1A5ED-123E-A909-BFB4-97A3FE0CF3D4}"/>
              </a:ext>
            </a:extLst>
          </p:cNvPr>
          <p:cNvSpPr>
            <a:spLocks noGrp="1"/>
          </p:cNvSpPr>
          <p:nvPr>
            <p:ph type="sldNum" sz="quarter" idx="12"/>
          </p:nvPr>
        </p:nvSpPr>
        <p:spPr/>
        <p:txBody>
          <a:bodyPr/>
          <a:lstStyle/>
          <a:p>
            <a:fld id="{51D2D507-09EA-4C6F-96ED-053C801F8797}" type="slidenum">
              <a:rPr lang="zh-TW" altLang="en-US" smtClean="0"/>
              <a:t>56</a:t>
            </a:fld>
            <a:endParaRPr lang="zh-TW" altLang="en-US" dirty="0"/>
          </a:p>
        </p:txBody>
      </p:sp>
      <p:sp>
        <p:nvSpPr>
          <p:cNvPr id="6" name="矩形 5"/>
          <p:cNvSpPr/>
          <p:nvPr/>
        </p:nvSpPr>
        <p:spPr>
          <a:xfrm>
            <a:off x="179512" y="847076"/>
            <a:ext cx="8784976" cy="584775"/>
          </a:xfrm>
          <a:prstGeom prst="rect">
            <a:avLst/>
          </a:prstGeom>
        </p:spPr>
        <p:txBody>
          <a:bodyPr wrap="square">
            <a:spAutoFit/>
          </a:bodyPr>
          <a:lstStyle/>
          <a:p>
            <a:pPr algn="just"/>
            <a:r>
              <a:rPr lang="zh-TW" altLang="en-US" sz="1600" dirty="0">
                <a:latin typeface="微軟正黑體" panose="020B0604030504040204" pitchFamily="34" charset="-120"/>
                <a:ea typeface="微軟正黑體" panose="020B0604030504040204" pitchFamily="34" charset="-120"/>
              </a:rPr>
              <a:t>請參照第</a:t>
            </a:r>
            <a:r>
              <a:rPr lang="en-US" altLang="zh-TW" sz="1600" dirty="0">
                <a:latin typeface="微軟正黑體" panose="020B0604030504040204" pitchFamily="34" charset="-120"/>
                <a:ea typeface="微軟正黑體" panose="020B0604030504040204" pitchFamily="34" charset="-120"/>
              </a:rPr>
              <a:t>2</a:t>
            </a:r>
            <a:r>
              <a:rPr lang="zh-TW" altLang="en-US" sz="1600" dirty="0">
                <a:latin typeface="微軟正黑體" panose="020B0604030504040204" pitchFamily="34" charset="-120"/>
                <a:ea typeface="微軟正黑體" panose="020B0604030504040204" pitchFamily="34" charset="-120"/>
              </a:rPr>
              <a:t>圖，其繪示第</a:t>
            </a:r>
            <a:r>
              <a:rPr lang="en-US" altLang="zh-TW" sz="1600" dirty="0">
                <a:latin typeface="微軟正黑體" panose="020B0604030504040204" pitchFamily="34" charset="-120"/>
                <a:ea typeface="微軟正黑體" panose="020B0604030504040204" pitchFamily="34" charset="-120"/>
              </a:rPr>
              <a:t>1</a:t>
            </a:r>
            <a:r>
              <a:rPr lang="zh-TW" altLang="en-US" sz="1600" dirty="0">
                <a:latin typeface="微軟正黑體" panose="020B0604030504040204" pitchFamily="34" charset="-120"/>
                <a:ea typeface="微軟正黑體" panose="020B0604030504040204" pitchFamily="34" charset="-120"/>
              </a:rPr>
              <a:t>圖之電子裝置</a:t>
            </a:r>
            <a:r>
              <a:rPr lang="en-US" altLang="zh-TW" sz="1600" dirty="0">
                <a:latin typeface="微軟正黑體" panose="020B0604030504040204" pitchFamily="34" charset="-120"/>
                <a:ea typeface="微軟正黑體" panose="020B0604030504040204" pitchFamily="34" charset="-120"/>
              </a:rPr>
              <a:t>100</a:t>
            </a:r>
            <a:r>
              <a:rPr lang="zh-TW" altLang="en-US" sz="1600" dirty="0">
                <a:latin typeface="微軟正黑體" panose="020B0604030504040204" pitchFamily="34" charset="-120"/>
                <a:ea typeface="微軟正黑體" panose="020B0604030504040204" pitchFamily="34" charset="-120"/>
              </a:rPr>
              <a:t>的展示程式執行方法的流程圖。</a:t>
            </a:r>
          </a:p>
          <a:p>
            <a:pPr indent="266700" algn="just"/>
            <a:r>
              <a:rPr lang="en-US" altLang="zh-TW" sz="1600" dirty="0">
                <a:latin typeface="微軟正黑體" panose="020B0604030504040204" pitchFamily="34" charset="-120"/>
                <a:ea typeface="微軟正黑體" panose="020B0604030504040204" pitchFamily="34" charset="-120"/>
              </a:rPr>
              <a:t>…</a:t>
            </a:r>
            <a:endParaRPr lang="zh-TW" altLang="en-US" sz="1600" dirty="0">
              <a:latin typeface="微軟正黑體" panose="020B0604030504040204" pitchFamily="34" charset="-120"/>
              <a:ea typeface="微軟正黑體" panose="020B0604030504040204" pitchFamily="34" charset="-12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1460016"/>
            <a:ext cx="5457825" cy="4772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458070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A56739-EDC6-9AE9-16C9-7A231C36908A}"/>
              </a:ext>
            </a:extLst>
          </p:cNvPr>
          <p:cNvSpPr>
            <a:spLocks noGrp="1"/>
          </p:cNvSpPr>
          <p:nvPr>
            <p:ph type="title"/>
          </p:nvPr>
        </p:nvSpPr>
        <p:spPr>
          <a:xfrm>
            <a:off x="1187624" y="0"/>
            <a:ext cx="7869560" cy="761750"/>
          </a:xfrm>
        </p:spPr>
        <p:txBody>
          <a:bodyPr anchor="ctr" anchorCtr="0"/>
          <a:lstStyle/>
          <a:p>
            <a:r>
              <a:rPr lang="zh-TW" altLang="en-US" sz="3200" dirty="0"/>
              <a:t>案例二</a:t>
            </a:r>
            <a:r>
              <a:rPr lang="en-US" altLang="zh-TW" sz="3200" dirty="0"/>
              <a:t>-</a:t>
            </a:r>
            <a:r>
              <a:rPr lang="zh-TW" altLang="en-US" sz="3200" dirty="0"/>
              <a:t>電子裝置及其展示程式執行方法</a:t>
            </a:r>
          </a:p>
        </p:txBody>
      </p:sp>
      <p:sp>
        <p:nvSpPr>
          <p:cNvPr id="4" name="投影片編號版面配置區 3">
            <a:extLst>
              <a:ext uri="{FF2B5EF4-FFF2-40B4-BE49-F238E27FC236}">
                <a16:creationId xmlns:a16="http://schemas.microsoft.com/office/drawing/2014/main" id="{C5D1A5ED-123E-A909-BFB4-97A3FE0CF3D4}"/>
              </a:ext>
            </a:extLst>
          </p:cNvPr>
          <p:cNvSpPr>
            <a:spLocks noGrp="1"/>
          </p:cNvSpPr>
          <p:nvPr>
            <p:ph type="sldNum" sz="quarter" idx="12"/>
          </p:nvPr>
        </p:nvSpPr>
        <p:spPr/>
        <p:txBody>
          <a:bodyPr/>
          <a:lstStyle/>
          <a:p>
            <a:fld id="{51D2D507-09EA-4C6F-96ED-053C801F8797}" type="slidenum">
              <a:rPr lang="zh-TW" altLang="en-US" smtClean="0"/>
              <a:t>57</a:t>
            </a:fld>
            <a:endParaRPr lang="zh-TW" altLang="en-US" dirty="0"/>
          </a:p>
        </p:txBody>
      </p:sp>
      <p:sp>
        <p:nvSpPr>
          <p:cNvPr id="6" name="矩形 5"/>
          <p:cNvSpPr/>
          <p:nvPr/>
        </p:nvSpPr>
        <p:spPr>
          <a:xfrm>
            <a:off x="179512" y="980728"/>
            <a:ext cx="8784976" cy="2585323"/>
          </a:xfrm>
          <a:prstGeom prst="rect">
            <a:avLst/>
          </a:prstGeom>
        </p:spPr>
        <p:txBody>
          <a:bodyPr wrap="square">
            <a:spAutoFit/>
          </a:bodyPr>
          <a:lstStyle/>
          <a:p>
            <a:pPr algn="just"/>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請求項</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一種電子裝置，包括：</a:t>
            </a:r>
          </a:p>
          <a:p>
            <a:pPr indent="266700" algn="just"/>
            <a:r>
              <a:rPr lang="zh-TW" altLang="en-US" b="1" u="sng" dirty="0">
                <a:latin typeface="微軟正黑體" panose="020B0604030504040204" pitchFamily="34" charset="-120"/>
                <a:ea typeface="微軟正黑體" panose="020B0604030504040204" pitchFamily="34" charset="-120"/>
              </a:rPr>
              <a:t>一通訊模組</a:t>
            </a:r>
            <a:r>
              <a:rPr lang="zh-TW" altLang="en-US" dirty="0">
                <a:latin typeface="微軟正黑體" panose="020B0604030504040204" pitchFamily="34" charset="-120"/>
                <a:ea typeface="微軟正黑體" panose="020B0604030504040204" pitchFamily="34" charset="-120"/>
              </a:rPr>
              <a:t>，用以建立一伺服器與該通訊模組的一連線；</a:t>
            </a:r>
          </a:p>
          <a:p>
            <a:pPr indent="266700" algn="just"/>
            <a:r>
              <a:rPr lang="zh-TW" altLang="en-US" b="1" u="sng" dirty="0">
                <a:latin typeface="微軟正黑體" panose="020B0604030504040204" pitchFamily="34" charset="-120"/>
                <a:ea typeface="微軟正黑體" panose="020B0604030504040204" pitchFamily="34" charset="-120"/>
              </a:rPr>
              <a:t>一記憶體</a:t>
            </a:r>
            <a:r>
              <a:rPr lang="zh-TW" altLang="en-US" dirty="0">
                <a:latin typeface="微軟正黑體" panose="020B0604030504040204" pitchFamily="34" charset="-120"/>
                <a:ea typeface="微軟正黑體" panose="020B0604030504040204" pitchFamily="34" charset="-120"/>
              </a:rPr>
              <a:t>，用以儲存透過該連線自該伺服器所下載之一展示應用程式，該展示應用程式包含一類作業系統程式及一展示程式，其中該展示應用程式對應一展示程式識別碼；以及</a:t>
            </a:r>
          </a:p>
          <a:p>
            <a:pPr indent="266700" algn="just"/>
            <a:r>
              <a:rPr lang="zh-TW" altLang="en-US" b="1" u="sng" dirty="0">
                <a:latin typeface="微軟正黑體" panose="020B0604030504040204" pitchFamily="34" charset="-120"/>
                <a:ea typeface="微軟正黑體" panose="020B0604030504040204" pitchFamily="34" charset="-120"/>
              </a:rPr>
              <a:t>一基本輸入</a:t>
            </a:r>
            <a:r>
              <a:rPr lang="en-US" altLang="zh-TW" b="1" u="sng" dirty="0">
                <a:latin typeface="微軟正黑體" panose="020B0604030504040204" pitchFamily="34" charset="-120"/>
                <a:ea typeface="微軟正黑體" panose="020B0604030504040204" pitchFamily="34" charset="-120"/>
              </a:rPr>
              <a:t>/</a:t>
            </a:r>
            <a:r>
              <a:rPr lang="zh-TW" altLang="en-US" b="1" u="sng" dirty="0">
                <a:latin typeface="微軟正黑體" panose="020B0604030504040204" pitchFamily="34" charset="-120"/>
                <a:ea typeface="微軟正黑體" panose="020B0604030504040204" pitchFamily="34" charset="-120"/>
              </a:rPr>
              <a:t>輸出系統</a:t>
            </a:r>
            <a:r>
              <a:rPr lang="en-US" altLang="zh-TW" dirty="0">
                <a:latin typeface="微軟正黑體" panose="020B0604030504040204" pitchFamily="34" charset="-120"/>
                <a:ea typeface="微軟正黑體" panose="020B0604030504040204" pitchFamily="34" charset="-120"/>
              </a:rPr>
              <a:t>(</a:t>
            </a:r>
            <a:r>
              <a:rPr lang="en-US" altLang="zh-TW" dirty="0" err="1">
                <a:latin typeface="微軟正黑體" panose="020B0604030504040204" pitchFamily="34" charset="-120"/>
                <a:ea typeface="微軟正黑體" panose="020B0604030504040204" pitchFamily="34" charset="-120"/>
              </a:rPr>
              <a:t>BasicInput</a:t>
            </a:r>
            <a:r>
              <a:rPr lang="en-US" altLang="zh-TW" dirty="0">
                <a:latin typeface="微軟正黑體" panose="020B0604030504040204" pitchFamily="34" charset="-120"/>
                <a:ea typeface="微軟正黑體" panose="020B0604030504040204" pitchFamily="34" charset="-120"/>
              </a:rPr>
              <a:t>/</a:t>
            </a:r>
            <a:r>
              <a:rPr lang="en-US" altLang="zh-TW" dirty="0" err="1">
                <a:latin typeface="微軟正黑體" panose="020B0604030504040204" pitchFamily="34" charset="-120"/>
                <a:ea typeface="微軟正黑體" panose="020B0604030504040204" pitchFamily="34" charset="-120"/>
              </a:rPr>
              <a:t>OutputSystem,BIOS</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，用以：</a:t>
            </a:r>
          </a:p>
          <a:p>
            <a:pPr marL="534988" algn="just"/>
            <a:r>
              <a:rPr lang="zh-TW" altLang="en-US" dirty="0">
                <a:latin typeface="微軟正黑體" panose="020B0604030504040204" pitchFamily="34" charset="-120"/>
                <a:ea typeface="微軟正黑體" panose="020B0604030504040204" pitchFamily="34" charset="-120"/>
              </a:rPr>
              <a:t>將該展示程式識別碼透過該連線傳送給該伺服器；及</a:t>
            </a:r>
          </a:p>
          <a:p>
            <a:pPr marL="534988" algn="just"/>
            <a:r>
              <a:rPr lang="zh-TW" altLang="en-US" dirty="0">
                <a:latin typeface="微軟正黑體" panose="020B0604030504040204" pitchFamily="34" charset="-120"/>
                <a:ea typeface="微軟正黑體" panose="020B0604030504040204" pitchFamily="34" charset="-120"/>
              </a:rPr>
              <a:t>啟動</a:t>
            </a:r>
            <a:r>
              <a:rPr lang="en-US" altLang="zh-TW" dirty="0">
                <a:latin typeface="微軟正黑體" panose="020B0604030504040204" pitchFamily="34" charset="-120"/>
                <a:ea typeface="微軟正黑體" panose="020B0604030504040204" pitchFamily="34" charset="-120"/>
              </a:rPr>
              <a:t>(Boot)</a:t>
            </a:r>
            <a:r>
              <a:rPr lang="zh-TW" altLang="en-US" dirty="0">
                <a:latin typeface="微軟正黑體" panose="020B0604030504040204" pitchFamily="34" charset="-120"/>
                <a:ea typeface="微軟正黑體" panose="020B0604030504040204" pitchFamily="34" charset="-120"/>
              </a:rPr>
              <a:t>該類作業系統程式，由該類作業系統程式執行該展示程式；</a:t>
            </a:r>
          </a:p>
          <a:p>
            <a:pPr marL="534988" algn="just"/>
            <a:r>
              <a:rPr lang="zh-TW" altLang="en-US" dirty="0">
                <a:latin typeface="微軟正黑體" panose="020B0604030504040204" pitchFamily="34" charset="-120"/>
                <a:ea typeface="微軟正黑體" panose="020B0604030504040204" pitchFamily="34" charset="-120"/>
              </a:rPr>
              <a:t>其中，該類作業系統程式與一作業系統</a:t>
            </a:r>
            <a:r>
              <a:rPr lang="en-US" altLang="zh-TW" dirty="0">
                <a:latin typeface="微軟正黑體" panose="020B0604030504040204" pitchFamily="34" charset="-120"/>
                <a:ea typeface="微軟正黑體" panose="020B0604030504040204" pitchFamily="34" charset="-120"/>
              </a:rPr>
              <a:t>(</a:t>
            </a:r>
            <a:r>
              <a:rPr lang="en-US" altLang="zh-TW" dirty="0" err="1">
                <a:latin typeface="微軟正黑體" panose="020B0604030504040204" pitchFamily="34" charset="-120"/>
                <a:ea typeface="微軟正黑體" panose="020B0604030504040204" pitchFamily="34" charset="-120"/>
              </a:rPr>
              <a:t>OperatingSystem,OS</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無直接關係。</a:t>
            </a:r>
          </a:p>
        </p:txBody>
      </p:sp>
      <p:sp>
        <p:nvSpPr>
          <p:cNvPr id="7" name="圓角矩形 6"/>
          <p:cNvSpPr/>
          <p:nvPr/>
        </p:nvSpPr>
        <p:spPr>
          <a:xfrm>
            <a:off x="175867" y="4792907"/>
            <a:ext cx="2232248" cy="121284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先前技術</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先前技術的缺失</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發明目的</a:t>
            </a:r>
          </a:p>
        </p:txBody>
      </p:sp>
      <p:sp>
        <p:nvSpPr>
          <p:cNvPr id="8" name="圓角矩形 7"/>
          <p:cNvSpPr/>
          <p:nvPr/>
        </p:nvSpPr>
        <p:spPr>
          <a:xfrm>
            <a:off x="2555596" y="4395296"/>
            <a:ext cx="3240360" cy="194421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符合發明目的的技術手段</a:t>
            </a:r>
            <a:endParaRPr lang="en-US" altLang="zh-TW"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核心技術手段</a:t>
            </a:r>
            <a:endParaRPr lang="en-US" altLang="zh-TW" dirty="0">
              <a:latin typeface="微軟正黑體" panose="020B0604030504040204" pitchFamily="34" charset="-120"/>
              <a:ea typeface="微軟正黑體" panose="020B0604030504040204" pitchFamily="34" charset="-120"/>
            </a:endParaRPr>
          </a:p>
          <a:p>
            <a:pPr marL="1200150" lvl="2"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特別技術特徵</a:t>
            </a:r>
            <a:endParaRPr lang="en-US" altLang="zh-TW" dirty="0">
              <a:latin typeface="微軟正黑體" panose="020B0604030504040204" pitchFamily="34" charset="-120"/>
              <a:ea typeface="微軟正黑體" panose="020B0604030504040204" pitchFamily="34" charset="-120"/>
            </a:endParaRPr>
          </a:p>
          <a:p>
            <a:pPr marL="1200150" lvl="2"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一般技術特徵</a:t>
            </a:r>
            <a:endParaRPr lang="en-US" altLang="zh-TW" dirty="0">
              <a:latin typeface="微軟正黑體" panose="020B0604030504040204" pitchFamily="34" charset="-120"/>
              <a:ea typeface="微軟正黑體" panose="020B0604030504040204" pitchFamily="34" charset="-120"/>
            </a:endParaRPr>
          </a:p>
          <a:p>
            <a:pPr marL="742950" lvl="1"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附加技術手段</a:t>
            </a:r>
          </a:p>
        </p:txBody>
      </p:sp>
      <p:sp>
        <p:nvSpPr>
          <p:cNvPr id="9" name="圓角矩形 8"/>
          <p:cNvSpPr/>
          <p:nvPr/>
        </p:nvSpPr>
        <p:spPr>
          <a:xfrm>
            <a:off x="5903460" y="4792907"/>
            <a:ext cx="3060848" cy="118091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達成有別於先前技術的功效</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無法預期之功效</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有利功效</a:t>
            </a:r>
            <a:endParaRPr lang="en-US" altLang="zh-TW" dirty="0">
              <a:latin typeface="微軟正黑體" panose="020B0604030504040204" pitchFamily="34" charset="-120"/>
              <a:ea typeface="微軟正黑體" panose="020B0604030504040204" pitchFamily="34" charset="-120"/>
            </a:endParaRPr>
          </a:p>
        </p:txBody>
      </p:sp>
      <p:sp>
        <p:nvSpPr>
          <p:cNvPr id="3" name="圓角矩形 2"/>
          <p:cNvSpPr/>
          <p:nvPr/>
        </p:nvSpPr>
        <p:spPr>
          <a:xfrm>
            <a:off x="1475656" y="3161516"/>
            <a:ext cx="6696744" cy="42508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直線圖說文字 2 (無框線) 4"/>
          <p:cNvSpPr/>
          <p:nvPr/>
        </p:nvSpPr>
        <p:spPr>
          <a:xfrm>
            <a:off x="5903460" y="3717032"/>
            <a:ext cx="1980908" cy="504056"/>
          </a:xfrm>
          <a:prstGeom prst="callout2">
            <a:avLst>
              <a:gd name="adj1" fmla="val 53401"/>
              <a:gd name="adj2" fmla="val -2627"/>
              <a:gd name="adj3" fmla="val 43210"/>
              <a:gd name="adj4" fmla="val -23928"/>
              <a:gd name="adj5" fmla="val -15913"/>
              <a:gd name="adj6" fmla="val -39820"/>
            </a:avLst>
          </a:prstGeom>
          <a:noFill/>
          <a:ln>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rgbClr val="FF0000"/>
                </a:solidFill>
                <a:latin typeface="微軟正黑體" panose="020B0604030504040204" pitchFamily="34" charset="-120"/>
                <a:ea typeface="微軟正黑體" panose="020B0604030504040204" pitchFamily="34" charset="-120"/>
              </a:rPr>
              <a:t>如何解讀</a:t>
            </a:r>
            <a:r>
              <a:rPr lang="en-US" altLang="zh-TW" dirty="0">
                <a:solidFill>
                  <a:srgbClr val="FF0000"/>
                </a:solidFill>
                <a:latin typeface="微軟正黑體" panose="020B0604030504040204" pitchFamily="34" charset="-120"/>
                <a:ea typeface="微軟正黑體" panose="020B0604030504040204" pitchFamily="34" charset="-120"/>
              </a:rPr>
              <a:t>?</a:t>
            </a:r>
            <a:endParaRPr lang="zh-TW" altLang="en-US" dirty="0">
              <a:solidFill>
                <a:srgbClr val="FF000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7393320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解讀申請專利範圍</a:t>
            </a:r>
          </a:p>
        </p:txBody>
      </p:sp>
      <p:sp>
        <p:nvSpPr>
          <p:cNvPr id="3" name="內容版面配置區 2"/>
          <p:cNvSpPr>
            <a:spLocks noGrp="1"/>
          </p:cNvSpPr>
          <p:nvPr>
            <p:ph idx="1"/>
          </p:nvPr>
        </p:nvSpPr>
        <p:spPr>
          <a:xfrm>
            <a:off x="457200" y="980728"/>
            <a:ext cx="8435280" cy="5688632"/>
          </a:xfrm>
        </p:spPr>
        <p:txBody>
          <a:bodyPr>
            <a:normAutofit/>
          </a:bodyPr>
          <a:lstStyle/>
          <a:p>
            <a:r>
              <a:rPr lang="zh-TW" altLang="en-US" dirty="0"/>
              <a:t>請求項結構</a:t>
            </a:r>
            <a:endParaRPr lang="en-US" altLang="zh-TW" dirty="0"/>
          </a:p>
          <a:p>
            <a:pPr lvl="1"/>
            <a:r>
              <a:rPr lang="zh-TW" altLang="en-US" dirty="0"/>
              <a:t>前言部分</a:t>
            </a:r>
            <a:endParaRPr lang="en-US" altLang="zh-TW" dirty="0"/>
          </a:p>
          <a:p>
            <a:pPr lvl="2">
              <a:lnSpc>
                <a:spcPct val="90000"/>
              </a:lnSpc>
            </a:pPr>
            <a:r>
              <a:rPr lang="zh-TW" altLang="en-US" sz="2000" dirty="0"/>
              <a:t>標的名稱：指與發明有關的裝置、組成物、方法等名稱，且必須屬於說明書中所載發明所屬的技術領域</a:t>
            </a:r>
            <a:endParaRPr lang="en-US" altLang="zh-TW" sz="2000" dirty="0"/>
          </a:p>
          <a:p>
            <a:pPr lvl="2">
              <a:lnSpc>
                <a:spcPct val="90000"/>
              </a:lnSpc>
            </a:pPr>
            <a:r>
              <a:rPr lang="zh-TW" altLang="en-US" sz="2000" dirty="0"/>
              <a:t>以二段式撰寫者前言部分應包含申請專利之標的名稱及</a:t>
            </a:r>
            <a:r>
              <a:rPr lang="zh-TW" altLang="en-US" sz="2000" u="sng" dirty="0"/>
              <a:t>與先前技術共有之必要技術特徵</a:t>
            </a:r>
          </a:p>
          <a:p>
            <a:pPr lvl="1"/>
            <a:r>
              <a:rPr lang="zh-TW" altLang="en-US" dirty="0"/>
              <a:t>連接詞</a:t>
            </a:r>
            <a:endParaRPr lang="en-US" altLang="zh-TW" dirty="0"/>
          </a:p>
          <a:p>
            <a:pPr lvl="2">
              <a:lnSpc>
                <a:spcPct val="90000"/>
              </a:lnSpc>
            </a:pPr>
            <a:r>
              <a:rPr lang="zh-TW" altLang="en-US" sz="2000" dirty="0"/>
              <a:t>開放式</a:t>
            </a:r>
            <a:endParaRPr lang="en-US" altLang="zh-TW" sz="2000" dirty="0"/>
          </a:p>
          <a:p>
            <a:pPr lvl="2">
              <a:lnSpc>
                <a:spcPct val="90000"/>
              </a:lnSpc>
            </a:pPr>
            <a:r>
              <a:rPr lang="zh-TW" altLang="en-US" sz="2000" dirty="0">
                <a:sym typeface="Wingdings" pitchFamily="2" charset="2"/>
              </a:rPr>
              <a:t>封閉式</a:t>
            </a:r>
            <a:endParaRPr lang="en-US" altLang="zh-TW" sz="1600" dirty="0">
              <a:sym typeface="Wingdings" pitchFamily="2" charset="2"/>
            </a:endParaRPr>
          </a:p>
          <a:p>
            <a:pPr lvl="2">
              <a:lnSpc>
                <a:spcPct val="90000"/>
              </a:lnSpc>
            </a:pPr>
            <a:r>
              <a:rPr lang="zh-TW" altLang="en-US" sz="2000" dirty="0">
                <a:sym typeface="Wingdings" pitchFamily="2" charset="2"/>
              </a:rPr>
              <a:t>半開放式</a:t>
            </a:r>
            <a:endParaRPr lang="en-US" altLang="zh-TW" sz="2000" dirty="0">
              <a:sym typeface="Wingdings" pitchFamily="2" charset="2"/>
            </a:endParaRPr>
          </a:p>
          <a:p>
            <a:pPr lvl="2">
              <a:lnSpc>
                <a:spcPct val="90000"/>
              </a:lnSpc>
            </a:pPr>
            <a:r>
              <a:rPr lang="zh-TW" altLang="en-US" dirty="0"/>
              <a:t>其他</a:t>
            </a:r>
            <a:endParaRPr lang="en-US" altLang="zh-TW" dirty="0"/>
          </a:p>
          <a:p>
            <a:pPr lvl="1">
              <a:lnSpc>
                <a:spcPct val="90000"/>
              </a:lnSpc>
            </a:pPr>
            <a:r>
              <a:rPr lang="zh-TW" altLang="en-US" dirty="0"/>
              <a:t>主體部分</a:t>
            </a:r>
            <a:endParaRPr lang="en-US" altLang="zh-TW" dirty="0"/>
          </a:p>
          <a:p>
            <a:pPr lvl="2">
              <a:lnSpc>
                <a:spcPct val="90000"/>
              </a:lnSpc>
            </a:pPr>
            <a:r>
              <a:rPr lang="zh-TW" altLang="en-US" sz="2000" dirty="0"/>
              <a:t>元件、技術特徵</a:t>
            </a:r>
          </a:p>
          <a:p>
            <a:pPr lvl="2">
              <a:lnSpc>
                <a:spcPct val="90000"/>
              </a:lnSpc>
            </a:pPr>
            <a:r>
              <a:rPr lang="zh-TW" altLang="en-US" sz="2000" dirty="0"/>
              <a:t>連接關係</a:t>
            </a:r>
            <a:endParaRPr lang="en-US" altLang="zh-TW" sz="2000" dirty="0"/>
          </a:p>
        </p:txBody>
      </p:sp>
      <p:sp>
        <p:nvSpPr>
          <p:cNvPr id="5" name="投影片編號版面配置區 4"/>
          <p:cNvSpPr>
            <a:spLocks noGrp="1"/>
          </p:cNvSpPr>
          <p:nvPr>
            <p:ph type="sldNum" sz="quarter" idx="12"/>
          </p:nvPr>
        </p:nvSpPr>
        <p:spPr>
          <a:xfrm>
            <a:off x="4000496" y="6492875"/>
            <a:ext cx="2133600" cy="365125"/>
          </a:xfrm>
          <a:prstGeom prst="rect">
            <a:avLst/>
          </a:prstGeom>
        </p:spPr>
        <p:txBody>
          <a:bodyPr/>
          <a:lstStyle/>
          <a:p>
            <a:pPr algn="ctr"/>
            <a:fld id="{73DA0BB7-265A-403C-9275-D587AB510EDC}" type="slidenum">
              <a:rPr lang="zh-TW" altLang="en-US" smtClean="0"/>
              <a:pPr algn="ctr"/>
              <a:t>58</a:t>
            </a:fld>
            <a:endParaRPr lang="zh-TW"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解讀申請專利範圍</a:t>
            </a:r>
          </a:p>
        </p:txBody>
      </p:sp>
      <p:sp>
        <p:nvSpPr>
          <p:cNvPr id="3" name="內容版面配置區 2"/>
          <p:cNvSpPr>
            <a:spLocks noGrp="1"/>
          </p:cNvSpPr>
          <p:nvPr>
            <p:ph idx="1"/>
          </p:nvPr>
        </p:nvSpPr>
        <p:spPr>
          <a:xfrm>
            <a:off x="457200" y="980728"/>
            <a:ext cx="8435280" cy="5688632"/>
          </a:xfrm>
        </p:spPr>
        <p:txBody>
          <a:bodyPr>
            <a:normAutofit fontScale="92500" lnSpcReduction="10000"/>
          </a:bodyPr>
          <a:lstStyle/>
          <a:p>
            <a:pPr>
              <a:lnSpc>
                <a:spcPct val="110000"/>
              </a:lnSpc>
            </a:pPr>
            <a:r>
              <a:rPr lang="zh-TW" altLang="en-US" dirty="0"/>
              <a:t>連接詞</a:t>
            </a:r>
            <a:endParaRPr lang="en-US" altLang="zh-TW" dirty="0"/>
          </a:p>
          <a:p>
            <a:pPr lvl="1">
              <a:lnSpc>
                <a:spcPct val="110000"/>
              </a:lnSpc>
            </a:pPr>
            <a:r>
              <a:rPr lang="zh-TW" altLang="en-US" sz="2400" dirty="0"/>
              <a:t>開放式：開放式連接詞係表示元件、成分或步驟之組合中，不排除請求項未記載的元件、成分或步驟</a:t>
            </a:r>
            <a:endParaRPr lang="en-US" altLang="zh-TW" sz="2400" dirty="0"/>
          </a:p>
          <a:p>
            <a:pPr lvl="2">
              <a:lnSpc>
                <a:spcPct val="110000"/>
              </a:lnSpc>
            </a:pPr>
            <a:r>
              <a:rPr lang="en-US" altLang="zh-TW" sz="2000" dirty="0">
                <a:sym typeface="Wingdings" pitchFamily="2" charset="2"/>
              </a:rPr>
              <a:t>comprising</a:t>
            </a:r>
            <a:r>
              <a:rPr lang="zh-TW" altLang="en-US" sz="2000" dirty="0">
                <a:sym typeface="Wingdings" pitchFamily="2" charset="2"/>
              </a:rPr>
              <a:t>、</a:t>
            </a:r>
            <a:r>
              <a:rPr lang="en-US" altLang="zh-TW" sz="2000" dirty="0">
                <a:sym typeface="Wingdings" pitchFamily="2" charset="2"/>
              </a:rPr>
              <a:t>containing</a:t>
            </a:r>
            <a:r>
              <a:rPr lang="zh-TW" altLang="en-US" sz="2000" dirty="0">
                <a:sym typeface="Wingdings" pitchFamily="2" charset="2"/>
              </a:rPr>
              <a:t>、</a:t>
            </a:r>
            <a:r>
              <a:rPr lang="en-US" altLang="zh-TW" sz="2000" dirty="0">
                <a:sym typeface="Wingdings" pitchFamily="2" charset="2"/>
              </a:rPr>
              <a:t>including[</a:t>
            </a:r>
            <a:r>
              <a:rPr lang="zh-TW" altLang="en-US" sz="2000" dirty="0">
                <a:sym typeface="Wingdings" pitchFamily="2" charset="2"/>
              </a:rPr>
              <a:t>包含、包括</a:t>
            </a:r>
            <a:r>
              <a:rPr lang="en-US" altLang="zh-TW" sz="2000" dirty="0">
                <a:sym typeface="Wingdings" pitchFamily="2" charset="2"/>
              </a:rPr>
              <a:t>]</a:t>
            </a:r>
          </a:p>
          <a:p>
            <a:pPr lvl="1">
              <a:lnSpc>
                <a:spcPct val="110000"/>
              </a:lnSpc>
            </a:pPr>
            <a:r>
              <a:rPr lang="zh-TW" altLang="en-US" sz="2400" dirty="0">
                <a:sym typeface="Wingdings" pitchFamily="2" charset="2"/>
              </a:rPr>
              <a:t>封閉式：封閉式連接詞係表示元件、成分或步驟之組合中，僅包含請求項中所記載之元件、成分或步驟</a:t>
            </a:r>
            <a:endParaRPr lang="en-US" altLang="zh-TW" sz="2400" dirty="0">
              <a:sym typeface="Wingdings" pitchFamily="2" charset="2"/>
            </a:endParaRPr>
          </a:p>
          <a:p>
            <a:pPr lvl="2">
              <a:lnSpc>
                <a:spcPct val="110000"/>
              </a:lnSpc>
            </a:pPr>
            <a:r>
              <a:rPr lang="en-US" altLang="zh-TW" sz="2000" dirty="0" err="1">
                <a:sym typeface="Wingdings" pitchFamily="2" charset="2"/>
              </a:rPr>
              <a:t>consistingof</a:t>
            </a:r>
            <a:r>
              <a:rPr lang="en-US" altLang="zh-TW" sz="2000" dirty="0">
                <a:sym typeface="Wingdings" pitchFamily="2" charset="2"/>
              </a:rPr>
              <a:t>[</a:t>
            </a:r>
            <a:r>
              <a:rPr lang="zh-TW" altLang="en-US" sz="2000" dirty="0">
                <a:sym typeface="Wingdings" pitchFamily="2" charset="2"/>
              </a:rPr>
              <a:t>由</a:t>
            </a:r>
            <a:r>
              <a:rPr lang="en-US" altLang="zh-TW" sz="2000" dirty="0">
                <a:sym typeface="Wingdings" pitchFamily="2" charset="2"/>
              </a:rPr>
              <a:t>…</a:t>
            </a:r>
            <a:r>
              <a:rPr lang="zh-TW" altLang="en-US" sz="2000" dirty="0">
                <a:sym typeface="Wingdings" pitchFamily="2" charset="2"/>
              </a:rPr>
              <a:t>組成</a:t>
            </a:r>
            <a:r>
              <a:rPr lang="en-US" altLang="zh-TW" sz="2000" dirty="0">
                <a:sym typeface="Wingdings" pitchFamily="2" charset="2"/>
              </a:rPr>
              <a:t>]</a:t>
            </a:r>
          </a:p>
          <a:p>
            <a:pPr lvl="1">
              <a:lnSpc>
                <a:spcPct val="110000"/>
              </a:lnSpc>
            </a:pPr>
            <a:r>
              <a:rPr lang="zh-TW" altLang="en-US" sz="2400" dirty="0">
                <a:sym typeface="Wingdings" pitchFamily="2" charset="2"/>
              </a:rPr>
              <a:t>半開放式：半開放式連接詞介於以上開放式與封閉式之間，係表示元件、成分或步驟之組合中，不排除說明書中有記載而實質上不會影響請求項中所記載的元件、成分或步驟</a:t>
            </a:r>
            <a:endParaRPr lang="en-US" altLang="zh-TW" sz="2400" dirty="0">
              <a:sym typeface="Wingdings" pitchFamily="2" charset="2"/>
            </a:endParaRPr>
          </a:p>
          <a:p>
            <a:pPr lvl="2">
              <a:lnSpc>
                <a:spcPct val="110000"/>
              </a:lnSpc>
            </a:pPr>
            <a:r>
              <a:rPr lang="en-US" altLang="zh-TW" sz="2000" dirty="0">
                <a:sym typeface="Wingdings" pitchFamily="2" charset="2"/>
              </a:rPr>
              <a:t>Consisting</a:t>
            </a:r>
            <a:r>
              <a:rPr lang="zh-TW" altLang="en-US" sz="2000" dirty="0">
                <a:sym typeface="Wingdings" pitchFamily="2" charset="2"/>
              </a:rPr>
              <a:t> </a:t>
            </a:r>
            <a:r>
              <a:rPr lang="en-US" altLang="zh-TW" sz="2000" dirty="0">
                <a:sym typeface="Wingdings" pitchFamily="2" charset="2"/>
              </a:rPr>
              <a:t>essentially</a:t>
            </a:r>
            <a:r>
              <a:rPr lang="zh-TW" altLang="en-US" sz="2000" dirty="0">
                <a:sym typeface="Wingdings" pitchFamily="2" charset="2"/>
              </a:rPr>
              <a:t> </a:t>
            </a:r>
            <a:r>
              <a:rPr lang="en-US" altLang="zh-TW" sz="2000" dirty="0">
                <a:sym typeface="Wingdings" pitchFamily="2" charset="2"/>
              </a:rPr>
              <a:t>of[</a:t>
            </a:r>
            <a:r>
              <a:rPr lang="zh-TW" altLang="en-US" sz="2000" dirty="0">
                <a:sym typeface="Wingdings" pitchFamily="2" charset="2"/>
              </a:rPr>
              <a:t>實質上由</a:t>
            </a:r>
            <a:r>
              <a:rPr lang="en-US" altLang="zh-TW" sz="2000" dirty="0">
                <a:sym typeface="Wingdings" pitchFamily="2" charset="2"/>
              </a:rPr>
              <a:t>…</a:t>
            </a:r>
            <a:r>
              <a:rPr lang="zh-TW" altLang="en-US" sz="2000" dirty="0">
                <a:sym typeface="Wingdings" pitchFamily="2" charset="2"/>
              </a:rPr>
              <a:t>組成</a:t>
            </a:r>
            <a:r>
              <a:rPr lang="en-US" altLang="zh-TW" sz="2000" dirty="0">
                <a:sym typeface="Wingdings" pitchFamily="2" charset="2"/>
              </a:rPr>
              <a:t>]</a:t>
            </a:r>
          </a:p>
          <a:p>
            <a:pPr lvl="1">
              <a:lnSpc>
                <a:spcPct val="110000"/>
              </a:lnSpc>
            </a:pPr>
            <a:r>
              <a:rPr lang="zh-TW" altLang="en-US" sz="2400" dirty="0"/>
              <a:t>其他：究竟屬於開放式、封閉式或半開放式連接詞，應參照說明書上、下文意，依個案予以認定</a:t>
            </a:r>
            <a:endParaRPr lang="en-US" altLang="zh-TW" sz="2400" dirty="0"/>
          </a:p>
          <a:p>
            <a:pPr lvl="2">
              <a:lnSpc>
                <a:spcPct val="110000"/>
              </a:lnSpc>
            </a:pPr>
            <a:r>
              <a:rPr lang="zh-TW" altLang="en-US" sz="2000" dirty="0"/>
              <a:t>如「構成」（</a:t>
            </a:r>
            <a:r>
              <a:rPr lang="en-US" altLang="zh-TW" sz="2000" dirty="0" err="1"/>
              <a:t>composedof</a:t>
            </a:r>
            <a:r>
              <a:rPr lang="zh-TW" altLang="en-US" sz="2000" dirty="0"/>
              <a:t>）、「具有」（</a:t>
            </a:r>
            <a:r>
              <a:rPr lang="en-US" altLang="zh-TW" sz="2000" dirty="0"/>
              <a:t>having</a:t>
            </a:r>
            <a:r>
              <a:rPr lang="zh-TW" altLang="en-US" sz="2000" dirty="0"/>
              <a:t>）、「係」（</a:t>
            </a:r>
            <a:r>
              <a:rPr lang="en-US" altLang="zh-TW" sz="2000" dirty="0"/>
              <a:t>being</a:t>
            </a:r>
            <a:r>
              <a:rPr lang="zh-TW" altLang="en-US" sz="2000" dirty="0"/>
              <a:t>）等連接詞</a:t>
            </a:r>
            <a:endParaRPr lang="en-US" altLang="zh-TW" sz="2000" dirty="0"/>
          </a:p>
        </p:txBody>
      </p:sp>
      <p:sp>
        <p:nvSpPr>
          <p:cNvPr id="5" name="投影片編號版面配置區 4"/>
          <p:cNvSpPr>
            <a:spLocks noGrp="1"/>
          </p:cNvSpPr>
          <p:nvPr>
            <p:ph type="sldNum" sz="quarter" idx="12"/>
          </p:nvPr>
        </p:nvSpPr>
        <p:spPr>
          <a:xfrm>
            <a:off x="4000496" y="6492875"/>
            <a:ext cx="2133600" cy="365125"/>
          </a:xfrm>
          <a:prstGeom prst="rect">
            <a:avLst/>
          </a:prstGeom>
        </p:spPr>
        <p:txBody>
          <a:bodyPr/>
          <a:lstStyle/>
          <a:p>
            <a:pPr algn="ctr"/>
            <a:fld id="{73DA0BB7-265A-403C-9275-D587AB510EDC}" type="slidenum">
              <a:rPr lang="zh-TW" altLang="en-US" smtClean="0"/>
              <a:pPr algn="ctr"/>
              <a:t>59</a:t>
            </a:fld>
            <a:endParaRPr lang="zh-TW" altLang="en-US" dirty="0"/>
          </a:p>
        </p:txBody>
      </p:sp>
    </p:spTree>
    <p:extLst>
      <p:ext uri="{BB962C8B-B14F-4D97-AF65-F5344CB8AC3E}">
        <p14:creationId xmlns:p14="http://schemas.microsoft.com/office/powerpoint/2010/main" val="36342611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解讀申請專利範圍</a:t>
            </a:r>
          </a:p>
        </p:txBody>
      </p:sp>
      <p:sp>
        <p:nvSpPr>
          <p:cNvPr id="3" name="內容版面配置區 2"/>
          <p:cNvSpPr>
            <a:spLocks noGrp="1"/>
          </p:cNvSpPr>
          <p:nvPr>
            <p:ph idx="1"/>
          </p:nvPr>
        </p:nvSpPr>
        <p:spPr/>
        <p:txBody>
          <a:bodyPr>
            <a:normAutofit/>
          </a:bodyPr>
          <a:lstStyle/>
          <a:p>
            <a:pPr>
              <a:buNone/>
            </a:pPr>
            <a:r>
              <a:rPr lang="zh-TW" altLang="en-US" sz="2000" dirty="0"/>
              <a:t>　</a:t>
            </a:r>
            <a:r>
              <a:rPr lang="en-US" altLang="zh-TW" sz="2000" dirty="0"/>
              <a:t>1.</a:t>
            </a:r>
            <a:r>
              <a:rPr lang="zh-TW" altLang="en-US" sz="2400" dirty="0"/>
              <a:t>一種磁碟陣列裝置，其係與電子設備相連接，並儲存電子設備上之數據資料，其裝置包括如下：</a:t>
            </a:r>
            <a:endParaRPr lang="en-US" altLang="zh-TW" sz="2400" dirty="0"/>
          </a:p>
          <a:p>
            <a:pPr indent="641350">
              <a:buNone/>
            </a:pPr>
            <a:r>
              <a:rPr lang="zh-TW" altLang="en-US" sz="2400" dirty="0"/>
              <a:t>一連接介面，其係與電子設備作電性連接，透過該連接介面，使本裝置與電子設備間相互傳輸數據資料；</a:t>
            </a:r>
            <a:endParaRPr lang="en-US" altLang="zh-TW" sz="2400" dirty="0"/>
          </a:p>
          <a:p>
            <a:pPr indent="641350">
              <a:buNone/>
            </a:pPr>
            <a:r>
              <a:rPr lang="zh-TW" altLang="en-US" sz="2400" dirty="0"/>
              <a:t>一磁碟陣列，其係透過連接介面與電子設備作電性連接，該磁碟陣列上設有磁碟陣列控制器，且該磁碟陣列控制器並與若干快閃記憶體</a:t>
            </a:r>
            <a:r>
              <a:rPr lang="en-US" altLang="zh-TW" sz="2400" dirty="0"/>
              <a:t>(Flash</a:t>
            </a:r>
            <a:r>
              <a:rPr lang="zh-TW" altLang="en-US" sz="2400" dirty="0"/>
              <a:t> </a:t>
            </a:r>
            <a:r>
              <a:rPr lang="en-US" altLang="zh-TW" sz="2400" dirty="0"/>
              <a:t>memory)</a:t>
            </a:r>
            <a:r>
              <a:rPr lang="zh-TW" altLang="en-US" sz="2400" dirty="0"/>
              <a:t>連接，以控制該等記憶體之儲存及讀取資料用；</a:t>
            </a:r>
            <a:endParaRPr lang="en-US" altLang="zh-TW" sz="2400" dirty="0"/>
          </a:p>
          <a:p>
            <a:pPr indent="641350">
              <a:buNone/>
            </a:pPr>
            <a:r>
              <a:rPr lang="zh-TW" altLang="en-US" sz="2400" dirty="0"/>
              <a:t>如此一來，透過磁碟陣列控制器之控制，將快閃記憶體作為磁碟使用，而將數據資料以陣列方式儲存在快閃記憶體中。</a:t>
            </a:r>
            <a:br>
              <a:rPr lang="zh-TW" altLang="en-US" sz="2400" dirty="0"/>
            </a:br>
            <a:endParaRPr lang="en-US" altLang="zh-TW" sz="2400" dirty="0"/>
          </a:p>
        </p:txBody>
      </p:sp>
      <p:sp>
        <p:nvSpPr>
          <p:cNvPr id="5" name="投影片編號版面配置區 4"/>
          <p:cNvSpPr>
            <a:spLocks noGrp="1"/>
          </p:cNvSpPr>
          <p:nvPr>
            <p:ph type="sldNum" sz="quarter" idx="12"/>
          </p:nvPr>
        </p:nvSpPr>
        <p:spPr>
          <a:xfrm>
            <a:off x="4071934" y="6492875"/>
            <a:ext cx="2133600" cy="365125"/>
          </a:xfrm>
          <a:prstGeom prst="rect">
            <a:avLst/>
          </a:prstGeom>
        </p:spPr>
        <p:txBody>
          <a:bodyPr/>
          <a:lstStyle/>
          <a:p>
            <a:pPr algn="ctr"/>
            <a:fld id="{73DA0BB7-265A-403C-9275-D587AB510EDC}" type="slidenum">
              <a:rPr lang="zh-TW" altLang="en-US" smtClean="0"/>
              <a:pPr algn="ctr"/>
              <a:t>60</a:t>
            </a:fld>
            <a:endParaRPr lang="zh-TW"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解讀申請專利範圍</a:t>
            </a:r>
          </a:p>
        </p:txBody>
      </p:sp>
      <p:sp>
        <p:nvSpPr>
          <p:cNvPr id="3" name="內容版面配置區 2"/>
          <p:cNvSpPr>
            <a:spLocks noGrp="1"/>
          </p:cNvSpPr>
          <p:nvPr>
            <p:ph idx="1"/>
          </p:nvPr>
        </p:nvSpPr>
        <p:spPr>
          <a:xfrm>
            <a:off x="457200" y="836712"/>
            <a:ext cx="8229600" cy="5616624"/>
          </a:xfrm>
        </p:spPr>
        <p:txBody>
          <a:bodyPr>
            <a:normAutofit/>
          </a:bodyPr>
          <a:lstStyle/>
          <a:p>
            <a:r>
              <a:rPr lang="zh-TW" altLang="en-US" sz="2800" dirty="0"/>
              <a:t>獨立項</a:t>
            </a:r>
          </a:p>
          <a:p>
            <a:pPr lvl="1"/>
            <a:r>
              <a:rPr lang="zh-TW" altLang="en-US" sz="2400" dirty="0"/>
              <a:t>一種音頻鍵盤，包括：</a:t>
            </a:r>
            <a:r>
              <a:rPr lang="en-US" altLang="zh-TW" sz="2400" dirty="0"/>
              <a:t>…</a:t>
            </a:r>
          </a:p>
          <a:p>
            <a:pPr lvl="1"/>
            <a:r>
              <a:rPr lang="zh-TW" altLang="en-US" sz="2400" dirty="0"/>
              <a:t>引用記載形式獨立項</a:t>
            </a:r>
            <a:endParaRPr lang="en-US" altLang="zh-TW" sz="2400" dirty="0"/>
          </a:p>
          <a:p>
            <a:pPr lvl="2"/>
            <a:r>
              <a:rPr lang="zh-TW" altLang="en-US" sz="2000" dirty="0"/>
              <a:t>一種如申請專利範圍第○項所述之</a:t>
            </a:r>
            <a:r>
              <a:rPr lang="en-US" altLang="zh-TW" sz="2000" dirty="0"/>
              <a:t>...</a:t>
            </a:r>
            <a:r>
              <a:rPr lang="zh-TW" altLang="en-US" sz="2000" dirty="0"/>
              <a:t>，</a:t>
            </a:r>
            <a:r>
              <a:rPr lang="en-US" altLang="zh-TW" sz="2000" dirty="0"/>
              <a:t>...</a:t>
            </a:r>
          </a:p>
          <a:p>
            <a:r>
              <a:rPr lang="zh-TW" altLang="en-US" sz="2800" dirty="0"/>
              <a:t>附屬項</a:t>
            </a:r>
          </a:p>
          <a:p>
            <a:pPr lvl="1"/>
            <a:r>
              <a:rPr lang="zh-TW" altLang="en-US" sz="2400" dirty="0"/>
              <a:t>附屬項係依附在前之另一請求項，包含所依附請求項之所有技術特徵，並另外增加技術特徵，進一步限定被依附之請求項</a:t>
            </a:r>
            <a:endParaRPr lang="en-US" altLang="zh-TW" sz="2400" dirty="0"/>
          </a:p>
          <a:p>
            <a:pPr lvl="2"/>
            <a:r>
              <a:rPr lang="zh-TW" altLang="en-US" sz="2000" dirty="0"/>
              <a:t>附加式</a:t>
            </a:r>
            <a:endParaRPr lang="en-US" altLang="zh-TW" sz="2000" dirty="0"/>
          </a:p>
          <a:p>
            <a:pPr lvl="3"/>
            <a:r>
              <a:rPr lang="zh-TW" altLang="en-US" sz="1800" dirty="0"/>
              <a:t>如申請專利範圍第○項所述之</a:t>
            </a:r>
            <a:r>
              <a:rPr lang="en-US" altLang="zh-TW" sz="1800" dirty="0"/>
              <a:t>…</a:t>
            </a:r>
            <a:r>
              <a:rPr lang="zh-TW" altLang="en-US" sz="1800" dirty="0"/>
              <a:t>，更可包括一容置空間</a:t>
            </a:r>
            <a:r>
              <a:rPr lang="en-US" altLang="zh-TW" sz="1800" dirty="0"/>
              <a:t>...</a:t>
            </a:r>
            <a:endParaRPr lang="zh-TW" altLang="en-US" sz="1800" dirty="0"/>
          </a:p>
          <a:p>
            <a:pPr lvl="2"/>
            <a:r>
              <a:rPr lang="zh-TW" altLang="en-US" sz="2000" dirty="0"/>
              <a:t>詳述式</a:t>
            </a:r>
            <a:endParaRPr lang="en-US" altLang="zh-TW" sz="2000" dirty="0"/>
          </a:p>
          <a:p>
            <a:pPr lvl="3"/>
            <a:r>
              <a:rPr lang="zh-TW" altLang="en-US" sz="1800" dirty="0"/>
              <a:t>如申請專利範圍第○項所述之</a:t>
            </a:r>
            <a:r>
              <a:rPr lang="en-US" altLang="zh-TW" sz="1800" dirty="0"/>
              <a:t>…</a:t>
            </a:r>
            <a:r>
              <a:rPr lang="zh-TW" altLang="en-US" sz="1800" dirty="0"/>
              <a:t>，其中該鍵盤主體係為</a:t>
            </a:r>
            <a:r>
              <a:rPr lang="en-US" altLang="zh-TW" sz="1800" dirty="0"/>
              <a:t>…</a:t>
            </a:r>
            <a:endParaRPr lang="zh-TW" altLang="en-US" sz="1800" dirty="0"/>
          </a:p>
          <a:p>
            <a:pPr>
              <a:buNone/>
            </a:pPr>
            <a:endParaRPr lang="en-US" altLang="zh-TW" sz="2000" dirty="0"/>
          </a:p>
        </p:txBody>
      </p:sp>
      <p:sp>
        <p:nvSpPr>
          <p:cNvPr id="5" name="投影片編號版面配置區 4"/>
          <p:cNvSpPr>
            <a:spLocks noGrp="1"/>
          </p:cNvSpPr>
          <p:nvPr>
            <p:ph type="sldNum" sz="quarter" idx="12"/>
          </p:nvPr>
        </p:nvSpPr>
        <p:spPr>
          <a:xfrm>
            <a:off x="3929058" y="6492875"/>
            <a:ext cx="2133600" cy="365125"/>
          </a:xfrm>
          <a:prstGeom prst="rect">
            <a:avLst/>
          </a:prstGeom>
        </p:spPr>
        <p:txBody>
          <a:bodyPr/>
          <a:lstStyle/>
          <a:p>
            <a:pPr algn="ctr"/>
            <a:fld id="{73DA0BB7-265A-403C-9275-D587AB510EDC}" type="slidenum">
              <a:rPr lang="zh-TW" altLang="en-US" smtClean="0"/>
              <a:pPr algn="ctr"/>
              <a:t>61</a:t>
            </a:fld>
            <a:endParaRPr lang="zh-TW" altLang="en-US" dirty="0"/>
          </a:p>
        </p:txBody>
      </p:sp>
    </p:spTree>
    <p:extLst>
      <p:ext uri="{BB962C8B-B14F-4D97-AF65-F5344CB8AC3E}">
        <p14:creationId xmlns:p14="http://schemas.microsoft.com/office/powerpoint/2010/main" val="7878654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171FCE-635D-F72A-D36A-75E937FEEC48}"/>
              </a:ext>
            </a:extLst>
          </p:cNvPr>
          <p:cNvSpPr>
            <a:spLocks noGrp="1"/>
          </p:cNvSpPr>
          <p:nvPr>
            <p:ph type="title"/>
          </p:nvPr>
        </p:nvSpPr>
        <p:spPr/>
        <p:txBody>
          <a:bodyPr/>
          <a:lstStyle/>
          <a:p>
            <a:r>
              <a:rPr lang="zh-TW" altLang="en-US" dirty="0"/>
              <a:t>申請專利範圍的層次</a:t>
            </a:r>
          </a:p>
        </p:txBody>
      </p:sp>
      <p:sp>
        <p:nvSpPr>
          <p:cNvPr id="4" name="投影片編號版面配置區 3">
            <a:extLst>
              <a:ext uri="{FF2B5EF4-FFF2-40B4-BE49-F238E27FC236}">
                <a16:creationId xmlns:a16="http://schemas.microsoft.com/office/drawing/2014/main" id="{55C5B07D-3334-44A8-A9AA-4C78C70C9646}"/>
              </a:ext>
            </a:extLst>
          </p:cNvPr>
          <p:cNvSpPr>
            <a:spLocks noGrp="1"/>
          </p:cNvSpPr>
          <p:nvPr>
            <p:ph type="sldNum" sz="quarter" idx="12"/>
          </p:nvPr>
        </p:nvSpPr>
        <p:spPr/>
        <p:txBody>
          <a:bodyPr/>
          <a:lstStyle/>
          <a:p>
            <a:fld id="{51D2D507-09EA-4C6F-96ED-053C801F8797}" type="slidenum">
              <a:rPr lang="zh-TW" altLang="en-US" smtClean="0"/>
              <a:t>62</a:t>
            </a:fld>
            <a:endParaRPr lang="zh-TW" altLang="en-US"/>
          </a:p>
        </p:txBody>
      </p:sp>
      <p:pic>
        <p:nvPicPr>
          <p:cNvPr id="6" name="圖片 5">
            <a:extLst>
              <a:ext uri="{FF2B5EF4-FFF2-40B4-BE49-F238E27FC236}">
                <a16:creationId xmlns:a16="http://schemas.microsoft.com/office/drawing/2014/main" id="{7DF67956-2207-884F-F268-70A699E3A06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608" y="1124744"/>
            <a:ext cx="9144000" cy="5101714"/>
          </a:xfrm>
          <a:prstGeom prst="rect">
            <a:avLst/>
          </a:prstGeom>
        </p:spPr>
      </p:pic>
    </p:spTree>
    <p:extLst>
      <p:ext uri="{BB962C8B-B14F-4D97-AF65-F5344CB8AC3E}">
        <p14:creationId xmlns:p14="http://schemas.microsoft.com/office/powerpoint/2010/main" val="17920472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解讀申請專利範圍</a:t>
            </a:r>
          </a:p>
        </p:txBody>
      </p:sp>
      <p:sp>
        <p:nvSpPr>
          <p:cNvPr id="3" name="內容版面配置區 2"/>
          <p:cNvSpPr>
            <a:spLocks noGrp="1"/>
          </p:cNvSpPr>
          <p:nvPr>
            <p:ph idx="1"/>
          </p:nvPr>
        </p:nvSpPr>
        <p:spPr/>
        <p:txBody>
          <a:bodyPr/>
          <a:lstStyle/>
          <a:p>
            <a:r>
              <a:rPr lang="zh-TW" altLang="en-US" dirty="0"/>
              <a:t>請求項格式</a:t>
            </a:r>
            <a:endParaRPr lang="en-US" altLang="zh-TW" dirty="0"/>
          </a:p>
          <a:p>
            <a:pPr marL="685800" lvl="1">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一般式</a:t>
            </a:r>
            <a:endParaRPr lang="en-US" altLang="zh-TW" dirty="0">
              <a:latin typeface="微軟正黑體" panose="020B0604030504040204" pitchFamily="34" charset="-120"/>
              <a:ea typeface="微軟正黑體" panose="020B0604030504040204" pitchFamily="34" charset="-120"/>
            </a:endParaRPr>
          </a:p>
          <a:p>
            <a:pPr marL="685800" lvl="1">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組合式</a:t>
            </a:r>
            <a:endParaRPr lang="en-US" altLang="zh-TW" dirty="0">
              <a:latin typeface="微軟正黑體" panose="020B0604030504040204" pitchFamily="34" charset="-120"/>
              <a:ea typeface="微軟正黑體" panose="020B0604030504040204" pitchFamily="34" charset="-120"/>
            </a:endParaRPr>
          </a:p>
          <a:p>
            <a:pPr marL="685800" lvl="1">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特徵式</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二段式：</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，其特徵在於</a:t>
            </a:r>
            <a:r>
              <a:rPr lang="en-US" altLang="zh-TW" dirty="0">
                <a:latin typeface="微軟正黑體" panose="020B0604030504040204" pitchFamily="34" charset="-120"/>
                <a:ea typeface="微軟正黑體" panose="020B0604030504040204" pitchFamily="34" charset="-120"/>
              </a:rPr>
              <a:t>…</a:t>
            </a:r>
          </a:p>
          <a:p>
            <a:pPr marL="685800" lvl="1">
              <a:buFont typeface="Arial" panose="020B0604020202020204" pitchFamily="34" charset="0"/>
              <a:buChar char="•"/>
            </a:pPr>
            <a:r>
              <a:rPr lang="zh-TW" altLang="en-US" sz="2800" dirty="0"/>
              <a:t>擇一形式</a:t>
            </a:r>
            <a:r>
              <a:rPr lang="en-US" altLang="zh-TW" sz="2800" dirty="0"/>
              <a:t>(</a:t>
            </a:r>
            <a:r>
              <a:rPr lang="zh-TW" altLang="en-US" sz="2800" dirty="0"/>
              <a:t>馬庫西式</a:t>
            </a:r>
            <a:r>
              <a:rPr lang="en-US" altLang="zh-TW" sz="2800" dirty="0"/>
              <a:t>)</a:t>
            </a:r>
          </a:p>
        </p:txBody>
      </p:sp>
      <p:sp>
        <p:nvSpPr>
          <p:cNvPr id="5" name="投影片編號版面配置區 4"/>
          <p:cNvSpPr>
            <a:spLocks noGrp="1"/>
          </p:cNvSpPr>
          <p:nvPr>
            <p:ph type="sldNum" sz="quarter" idx="12"/>
          </p:nvPr>
        </p:nvSpPr>
        <p:spPr>
          <a:xfrm>
            <a:off x="4143372" y="6492875"/>
            <a:ext cx="2133600" cy="365125"/>
          </a:xfrm>
          <a:prstGeom prst="rect">
            <a:avLst/>
          </a:prstGeom>
        </p:spPr>
        <p:txBody>
          <a:bodyPr/>
          <a:lstStyle/>
          <a:p>
            <a:pPr algn="ctr"/>
            <a:fld id="{73DA0BB7-265A-403C-9275-D587AB510EDC}" type="slidenum">
              <a:rPr lang="zh-TW" altLang="en-US" smtClean="0"/>
              <a:pPr algn="ctr"/>
              <a:t>63</a:t>
            </a:fld>
            <a:endParaRPr lang="zh-TW"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單句式</a:t>
            </a:r>
          </a:p>
        </p:txBody>
      </p:sp>
      <p:sp>
        <p:nvSpPr>
          <p:cNvPr id="3" name="內容版面配置區 2"/>
          <p:cNvSpPr>
            <a:spLocks noGrp="1"/>
          </p:cNvSpPr>
          <p:nvPr>
            <p:ph idx="1"/>
          </p:nvPr>
        </p:nvSpPr>
        <p:spPr>
          <a:xfrm>
            <a:off x="457200" y="980728"/>
            <a:ext cx="8229600" cy="1584176"/>
          </a:xfrm>
        </p:spPr>
        <p:txBody>
          <a:bodyPr>
            <a:normAutofit/>
          </a:bodyPr>
          <a:lstStyle/>
          <a:p>
            <a:r>
              <a:rPr lang="zh-TW" altLang="en-US" sz="1800" dirty="0"/>
              <a:t>一種資訊嵌入方法，適用於具使用者端與伺服器端之系統，包括有：取得一第一資訊；將該第一資訊比對一關連條件，藉以偵測該第一資訊內是否內含關連條件；依據該第一資訊所內含之該關連條件，取得與該第一資訊內含關連條件相對應之第二資訊；及將對應之該第二資訊嵌入該第一資訊，藉以產生一第三資訊。</a:t>
            </a:r>
            <a:r>
              <a:rPr lang="en-US" altLang="zh-TW" sz="1800" dirty="0"/>
              <a:t>(TW200832161A)</a:t>
            </a:r>
          </a:p>
        </p:txBody>
      </p:sp>
      <p:sp>
        <p:nvSpPr>
          <p:cNvPr id="5" name="投影片編號版面配置區 4"/>
          <p:cNvSpPr>
            <a:spLocks noGrp="1"/>
          </p:cNvSpPr>
          <p:nvPr>
            <p:ph type="sldNum" sz="quarter" idx="12"/>
          </p:nvPr>
        </p:nvSpPr>
        <p:spPr>
          <a:xfrm>
            <a:off x="4000496" y="6492875"/>
            <a:ext cx="2133600" cy="365125"/>
          </a:xfrm>
          <a:prstGeom prst="rect">
            <a:avLst/>
          </a:prstGeom>
        </p:spPr>
        <p:txBody>
          <a:bodyPr/>
          <a:lstStyle/>
          <a:p>
            <a:pPr algn="ctr"/>
            <a:fld id="{73DA0BB7-265A-403C-9275-D587AB510EDC}" type="slidenum">
              <a:rPr lang="zh-TW" altLang="en-US" smtClean="0"/>
              <a:pPr algn="ctr"/>
              <a:t>64</a:t>
            </a:fld>
            <a:endParaRPr lang="zh-TW" altLang="en-US"/>
          </a:p>
        </p:txBody>
      </p:sp>
      <p:sp>
        <p:nvSpPr>
          <p:cNvPr id="4" name="內容版面配置區 2">
            <a:extLst>
              <a:ext uri="{FF2B5EF4-FFF2-40B4-BE49-F238E27FC236}">
                <a16:creationId xmlns:a16="http://schemas.microsoft.com/office/drawing/2014/main" id="{D1E1F5AF-589D-FCB4-F4FC-E3DB5FFE39B5}"/>
              </a:ext>
            </a:extLst>
          </p:cNvPr>
          <p:cNvSpPr txBox="1">
            <a:spLocks/>
          </p:cNvSpPr>
          <p:nvPr/>
        </p:nvSpPr>
        <p:spPr>
          <a:xfrm>
            <a:off x="476267" y="4011141"/>
            <a:ext cx="8229600" cy="266429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軟正黑體" panose="020B0604030504040204" pitchFamily="34" charset="-120"/>
                <a:ea typeface="微軟正黑體" panose="020B0604030504040204" pitchFamily="34" charset="-120"/>
                <a:cs typeface="Adobe 繁黑體 Std B"/>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軟正黑體" panose="020B0604030504040204" pitchFamily="34" charset="-120"/>
                <a:ea typeface="微軟正黑體" panose="020B0604030504040204" pitchFamily="34" charset="-120"/>
                <a:cs typeface="Adobe 繁黑體 Std B"/>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軟正黑體" panose="020B0604030504040204" pitchFamily="34" charset="-120"/>
                <a:ea typeface="微軟正黑體" panose="020B0604030504040204" pitchFamily="34" charset="-120"/>
                <a:cs typeface="Adobe 繁黑體 Std B"/>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軟正黑體" panose="020B0604030504040204" pitchFamily="34" charset="-120"/>
                <a:ea typeface="微軟正黑體" panose="020B0604030504040204" pitchFamily="34" charset="-120"/>
                <a:cs typeface="Adobe 繁黑體 Std B"/>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軟正黑體" panose="020B0604030504040204" pitchFamily="34" charset="-120"/>
                <a:ea typeface="微軟正黑體" panose="020B0604030504040204" pitchFamily="34" charset="-120"/>
                <a:cs typeface="Adobe 繁黑體 Std B"/>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TW" altLang="en-US" sz="1800" dirty="0"/>
              <a:t>一種資訊嵌入方法，適用於具使用者端與伺服器端之系統，包括有：</a:t>
            </a:r>
            <a:endParaRPr lang="en-US" altLang="zh-TW" sz="1800" dirty="0"/>
          </a:p>
          <a:p>
            <a:pPr indent="0">
              <a:buNone/>
            </a:pPr>
            <a:r>
              <a:rPr lang="zh-TW" altLang="en-US" sz="1800" dirty="0"/>
              <a:t>取得一第一資訊；</a:t>
            </a:r>
            <a:endParaRPr lang="en-US" altLang="zh-TW" sz="1800" dirty="0"/>
          </a:p>
          <a:p>
            <a:pPr indent="0">
              <a:buNone/>
            </a:pPr>
            <a:r>
              <a:rPr lang="zh-TW" altLang="en-US" sz="1800" dirty="0"/>
              <a:t>將該第一資訊比對一關連條件，藉以偵測該第一資訊內是否內含關連條件；</a:t>
            </a:r>
            <a:endParaRPr lang="en-US" altLang="zh-TW" sz="1800" dirty="0"/>
          </a:p>
          <a:p>
            <a:pPr indent="0">
              <a:buNone/>
            </a:pPr>
            <a:r>
              <a:rPr lang="zh-TW" altLang="en-US" sz="1800" dirty="0"/>
              <a:t>依據該第一資訊所內含之該關連條件，取得與該第一資訊內含關連條件相對應之第二資訊；</a:t>
            </a:r>
            <a:endParaRPr lang="en-US" altLang="zh-TW" sz="1800" dirty="0"/>
          </a:p>
          <a:p>
            <a:pPr indent="0">
              <a:buNone/>
            </a:pPr>
            <a:r>
              <a:rPr lang="zh-TW" altLang="en-US" sz="1800" dirty="0"/>
              <a:t>及將對應之該第二資訊嵌入該第一資訊，藉以產生一第三資訊。</a:t>
            </a:r>
            <a:endParaRPr lang="en-US" altLang="zh-TW"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組合式</a:t>
            </a:r>
          </a:p>
        </p:txBody>
      </p:sp>
      <p:sp>
        <p:nvSpPr>
          <p:cNvPr id="3" name="內容版面配置區 2"/>
          <p:cNvSpPr>
            <a:spLocks noGrp="1"/>
          </p:cNvSpPr>
          <p:nvPr>
            <p:ph idx="1"/>
          </p:nvPr>
        </p:nvSpPr>
        <p:spPr/>
        <p:txBody>
          <a:bodyPr>
            <a:normAutofit lnSpcReduction="10000"/>
          </a:bodyPr>
          <a:lstStyle/>
          <a:p>
            <a:r>
              <a:rPr lang="zh-TW" altLang="en-US" sz="2800" dirty="0"/>
              <a:t>一種○○系統，其主要包括：</a:t>
            </a:r>
            <a:endParaRPr lang="en-US" altLang="zh-TW" sz="2800" dirty="0"/>
          </a:p>
          <a:p>
            <a:pPr>
              <a:buNone/>
            </a:pPr>
            <a:r>
              <a:rPr lang="en-US" altLang="zh-TW" sz="2800" dirty="0"/>
              <a:t>	</a:t>
            </a:r>
            <a:r>
              <a:rPr lang="zh-TW" altLang="en-US" sz="2800" dirty="0"/>
              <a:t>一○○模組，○○○○；</a:t>
            </a:r>
            <a:endParaRPr lang="en-US" altLang="zh-TW" sz="2800" dirty="0"/>
          </a:p>
          <a:p>
            <a:pPr>
              <a:buNone/>
            </a:pPr>
            <a:r>
              <a:rPr lang="en-US" altLang="zh-TW" sz="2800" dirty="0"/>
              <a:t>	</a:t>
            </a:r>
            <a:r>
              <a:rPr lang="zh-TW" altLang="en-US" sz="2800" dirty="0"/>
              <a:t>一○○模組，○○○○；及</a:t>
            </a:r>
            <a:endParaRPr lang="en-US" altLang="zh-TW" sz="2800" dirty="0"/>
          </a:p>
          <a:p>
            <a:pPr>
              <a:buNone/>
            </a:pPr>
            <a:r>
              <a:rPr lang="en-US" altLang="zh-TW" sz="2800" dirty="0"/>
              <a:t>	</a:t>
            </a:r>
            <a:r>
              <a:rPr lang="zh-TW" altLang="en-US" sz="2800" dirty="0"/>
              <a:t>一資料庫，○○○○。</a:t>
            </a:r>
            <a:endParaRPr lang="en-US" altLang="zh-TW" sz="2800" dirty="0"/>
          </a:p>
          <a:p>
            <a:pPr>
              <a:buNone/>
            </a:pPr>
            <a:endParaRPr lang="en-US" altLang="zh-TW" sz="2800" dirty="0"/>
          </a:p>
          <a:p>
            <a:pPr>
              <a:buNone/>
            </a:pPr>
            <a:r>
              <a:rPr lang="zh-TW" altLang="en-US" sz="2800" dirty="0"/>
              <a:t>一種○○系統，其主要包括：</a:t>
            </a:r>
            <a:endParaRPr lang="en-US" altLang="zh-TW" sz="2800" dirty="0"/>
          </a:p>
          <a:p>
            <a:pPr>
              <a:buNone/>
            </a:pPr>
            <a:r>
              <a:rPr lang="en-US" altLang="zh-TW" sz="2800" dirty="0"/>
              <a:t>	</a:t>
            </a:r>
            <a:r>
              <a:rPr lang="zh-TW" altLang="en-US" sz="2800" dirty="0"/>
              <a:t>一○○模組，○○○○；</a:t>
            </a:r>
            <a:endParaRPr lang="en-US" altLang="zh-TW" sz="2800" dirty="0"/>
          </a:p>
          <a:p>
            <a:pPr>
              <a:buNone/>
            </a:pPr>
            <a:r>
              <a:rPr lang="en-US" altLang="zh-TW" sz="2800" dirty="0"/>
              <a:t>		</a:t>
            </a:r>
            <a:r>
              <a:rPr lang="zh-TW" altLang="en-US" sz="2800" dirty="0"/>
              <a:t>一○○次模組，○○○○；及</a:t>
            </a:r>
            <a:endParaRPr lang="en-US" altLang="zh-TW" sz="2800" dirty="0"/>
          </a:p>
          <a:p>
            <a:pPr>
              <a:buNone/>
            </a:pPr>
            <a:r>
              <a:rPr lang="en-US" altLang="zh-TW" sz="2800" dirty="0"/>
              <a:t>		</a:t>
            </a:r>
            <a:r>
              <a:rPr lang="zh-TW" altLang="en-US" sz="2800" dirty="0"/>
              <a:t>一○○次模組，○○○○；</a:t>
            </a:r>
            <a:endParaRPr lang="en-US" altLang="zh-TW" sz="2800" dirty="0"/>
          </a:p>
          <a:p>
            <a:pPr>
              <a:buNone/>
            </a:pPr>
            <a:r>
              <a:rPr lang="en-US" altLang="zh-TW" sz="2800" dirty="0"/>
              <a:t>	</a:t>
            </a:r>
            <a:r>
              <a:rPr lang="zh-TW" altLang="en-US" sz="2800" dirty="0"/>
              <a:t>一○○模組，○○○○；及</a:t>
            </a:r>
            <a:endParaRPr lang="en-US" altLang="zh-TW" sz="2800" dirty="0"/>
          </a:p>
          <a:p>
            <a:pPr>
              <a:buNone/>
            </a:pPr>
            <a:r>
              <a:rPr lang="en-US" altLang="zh-TW" sz="2800" dirty="0"/>
              <a:t>	</a:t>
            </a:r>
            <a:r>
              <a:rPr lang="zh-TW" altLang="en-US" sz="2800" dirty="0"/>
              <a:t>一資料庫，○○○○。</a:t>
            </a:r>
            <a:endParaRPr lang="en-US" altLang="zh-TW" sz="2800" dirty="0"/>
          </a:p>
          <a:p>
            <a:pPr>
              <a:buNone/>
            </a:pPr>
            <a:endParaRPr lang="en-US" altLang="zh-TW" sz="2800" dirty="0"/>
          </a:p>
        </p:txBody>
      </p:sp>
      <p:sp>
        <p:nvSpPr>
          <p:cNvPr id="5" name="投影片編號版面配置區 4"/>
          <p:cNvSpPr>
            <a:spLocks noGrp="1"/>
          </p:cNvSpPr>
          <p:nvPr>
            <p:ph type="sldNum" sz="quarter" idx="12"/>
          </p:nvPr>
        </p:nvSpPr>
        <p:spPr>
          <a:xfrm>
            <a:off x="4143372" y="6492875"/>
            <a:ext cx="2133600" cy="365125"/>
          </a:xfrm>
          <a:prstGeom prst="rect">
            <a:avLst/>
          </a:prstGeom>
        </p:spPr>
        <p:txBody>
          <a:bodyPr/>
          <a:lstStyle/>
          <a:p>
            <a:pPr algn="ctr"/>
            <a:fld id="{73DA0BB7-265A-403C-9275-D587AB510EDC}" type="slidenum">
              <a:rPr lang="zh-TW" altLang="en-US" smtClean="0"/>
              <a:pPr algn="ctr"/>
              <a:t>65</a:t>
            </a:fld>
            <a:endParaRPr lang="zh-TW"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二段式</a:t>
            </a:r>
            <a:r>
              <a:rPr lang="en-US" altLang="zh-TW" dirty="0"/>
              <a:t>(</a:t>
            </a:r>
            <a:r>
              <a:rPr lang="zh-TW" altLang="en-US" dirty="0"/>
              <a:t>吉普森式</a:t>
            </a:r>
            <a:r>
              <a:rPr lang="en-US" altLang="zh-TW" dirty="0"/>
              <a:t>)</a:t>
            </a:r>
            <a:r>
              <a:rPr lang="en-US" altLang="zh-TW" sz="2000" dirty="0">
                <a:solidFill>
                  <a:srgbClr val="CC0000"/>
                </a:solidFill>
              </a:rPr>
              <a:t>(</a:t>
            </a:r>
            <a:r>
              <a:rPr lang="zh-TW" altLang="en-US" sz="2000" dirty="0">
                <a:solidFill>
                  <a:srgbClr val="CC0000"/>
                </a:solidFill>
              </a:rPr>
              <a:t>細則</a:t>
            </a:r>
            <a:r>
              <a:rPr lang="en-US" altLang="zh-TW" sz="2000" dirty="0">
                <a:solidFill>
                  <a:srgbClr val="CC0000"/>
                </a:solidFill>
                <a:cs typeface="Times New Roman" pitchFamily="18" charset="0"/>
              </a:rPr>
              <a:t>§20(1)</a:t>
            </a:r>
            <a:r>
              <a:rPr lang="en-US" altLang="zh-TW" sz="2000" dirty="0">
                <a:solidFill>
                  <a:srgbClr val="CC0000"/>
                </a:solidFill>
              </a:rPr>
              <a:t>)</a:t>
            </a:r>
            <a:endParaRPr lang="zh-TW" altLang="en-US" dirty="0"/>
          </a:p>
        </p:txBody>
      </p:sp>
      <p:sp>
        <p:nvSpPr>
          <p:cNvPr id="3" name="內容版面配置區 2"/>
          <p:cNvSpPr>
            <a:spLocks noGrp="1"/>
          </p:cNvSpPr>
          <p:nvPr>
            <p:ph idx="1"/>
          </p:nvPr>
        </p:nvSpPr>
        <p:spPr/>
        <p:txBody>
          <a:bodyPr>
            <a:normAutofit/>
          </a:bodyPr>
          <a:lstStyle/>
          <a:p>
            <a:r>
              <a:rPr lang="zh-TW" altLang="en-US" sz="2800" dirty="0"/>
              <a:t>通式</a:t>
            </a:r>
            <a:r>
              <a:rPr lang="en-US" altLang="zh-TW" sz="2800" dirty="0"/>
              <a:t>:</a:t>
            </a:r>
            <a:r>
              <a:rPr lang="zh-TW" altLang="en-US" sz="2800" dirty="0"/>
              <a:t>一種○○，</a:t>
            </a:r>
            <a:r>
              <a:rPr lang="en-US" altLang="zh-TW" sz="2800" dirty="0"/>
              <a:t>…[</a:t>
            </a:r>
            <a:r>
              <a:rPr lang="zh-TW" altLang="en-US" sz="2800" dirty="0"/>
              <a:t>前言部分</a:t>
            </a:r>
            <a:r>
              <a:rPr lang="en-US" altLang="zh-TW" sz="2800" dirty="0"/>
              <a:t>]</a:t>
            </a:r>
            <a:r>
              <a:rPr lang="zh-TW" altLang="en-US" sz="2800" dirty="0"/>
              <a:t>，其特徵為</a:t>
            </a:r>
            <a:r>
              <a:rPr lang="en-US" altLang="zh-TW" sz="2800" dirty="0"/>
              <a:t>[</a:t>
            </a:r>
            <a:r>
              <a:rPr lang="zh-TW" altLang="en-US" sz="2800" dirty="0"/>
              <a:t>連接詞</a:t>
            </a:r>
            <a:r>
              <a:rPr lang="en-US" altLang="zh-TW" sz="2800" dirty="0"/>
              <a:t>]………[</a:t>
            </a:r>
            <a:r>
              <a:rPr lang="zh-TW" altLang="en-US" sz="2800" dirty="0"/>
              <a:t>主體</a:t>
            </a:r>
            <a:r>
              <a:rPr lang="en-US" altLang="zh-TW" sz="2800" dirty="0"/>
              <a:t>]</a:t>
            </a:r>
            <a:r>
              <a:rPr lang="zh-TW" altLang="en-US" sz="2800" dirty="0"/>
              <a:t>。</a:t>
            </a:r>
            <a:endParaRPr lang="en-US" altLang="zh-TW" sz="2800" dirty="0"/>
          </a:p>
          <a:p>
            <a:r>
              <a:rPr lang="zh-TW" altLang="en-US" sz="2800" dirty="0"/>
              <a:t>前言部分</a:t>
            </a:r>
            <a:endParaRPr lang="en-US" altLang="zh-TW" sz="2800" dirty="0"/>
          </a:p>
          <a:p>
            <a:pPr lvl="1"/>
            <a:r>
              <a:rPr lang="zh-TW" altLang="en-US" sz="2400" dirty="0"/>
              <a:t>申請專利之標的</a:t>
            </a:r>
            <a:endParaRPr lang="en-US" altLang="zh-TW" sz="2400" dirty="0"/>
          </a:p>
          <a:p>
            <a:pPr lvl="1"/>
            <a:r>
              <a:rPr lang="zh-TW" altLang="en-US" sz="2400" dirty="0"/>
              <a:t>與先前技術共有之必要技術特徵</a:t>
            </a:r>
            <a:endParaRPr lang="en-US" altLang="zh-TW" sz="2400" dirty="0"/>
          </a:p>
          <a:p>
            <a:r>
              <a:rPr lang="zh-TW" altLang="en-US" sz="2800" dirty="0"/>
              <a:t>特徵部份</a:t>
            </a:r>
            <a:endParaRPr lang="en-US" altLang="zh-TW" sz="2800" dirty="0"/>
          </a:p>
          <a:p>
            <a:pPr lvl="1"/>
            <a:r>
              <a:rPr lang="zh-TW" altLang="en-US" sz="2400" dirty="0"/>
              <a:t>有別於先前技術之必要技術特徵</a:t>
            </a:r>
            <a:endParaRPr lang="en-US" altLang="zh-TW" sz="2400" dirty="0"/>
          </a:p>
          <a:p>
            <a:pPr lvl="1">
              <a:buNone/>
            </a:pPr>
            <a:endParaRPr lang="en-US" altLang="zh-TW" sz="2400" dirty="0"/>
          </a:p>
          <a:p>
            <a:pPr marL="0" indent="0">
              <a:buFont typeface="Wingdings" pitchFamily="2" charset="2"/>
              <a:buNone/>
            </a:pPr>
            <a:r>
              <a:rPr lang="zh-TW" altLang="en-US" sz="2200" dirty="0"/>
              <a:t>一種○○警示裝置</a:t>
            </a:r>
            <a:r>
              <a:rPr lang="en-US" altLang="zh-TW" sz="2200" dirty="0"/>
              <a:t>,</a:t>
            </a:r>
            <a:r>
              <a:rPr lang="zh-TW" altLang="en-US" sz="2200" dirty="0"/>
              <a:t>主要包括</a:t>
            </a:r>
            <a:r>
              <a:rPr lang="en-US" altLang="zh-TW" sz="2200" dirty="0"/>
              <a:t>:</a:t>
            </a:r>
            <a:br>
              <a:rPr lang="en-US" altLang="zh-TW" sz="2200" dirty="0"/>
            </a:br>
            <a:r>
              <a:rPr lang="zh-TW" altLang="en-US" sz="2200" dirty="0"/>
              <a:t>一本體</a:t>
            </a:r>
            <a:r>
              <a:rPr lang="en-US" altLang="zh-TW" sz="2200" dirty="0"/>
              <a:t>,</a:t>
            </a:r>
            <a:r>
              <a:rPr lang="zh-TW" altLang="en-US" sz="2200" dirty="0"/>
              <a:t>與一感測單元電性連結</a:t>
            </a:r>
            <a:r>
              <a:rPr lang="en-US" altLang="zh-TW" sz="2200" dirty="0"/>
              <a:t>,</a:t>
            </a:r>
            <a:r>
              <a:rPr lang="zh-TW" altLang="en-US" sz="2200" dirty="0">
                <a:solidFill>
                  <a:srgbClr val="0000FF"/>
                </a:solidFill>
              </a:rPr>
              <a:t>其特徵在於</a:t>
            </a:r>
            <a:r>
              <a:rPr lang="en-US" altLang="zh-TW" sz="2200" dirty="0"/>
              <a:t>:</a:t>
            </a:r>
          </a:p>
          <a:p>
            <a:pPr marL="0" indent="0">
              <a:buFont typeface="Wingdings" pitchFamily="2" charset="2"/>
              <a:buNone/>
            </a:pPr>
            <a:r>
              <a:rPr lang="zh-TW" altLang="en-US" sz="2200" dirty="0"/>
              <a:t>感測單元感測値達警示値時，一發光元件產生警示亮光。</a:t>
            </a:r>
            <a:endParaRPr lang="en-US" altLang="zh-TW" sz="2200" dirty="0"/>
          </a:p>
        </p:txBody>
      </p:sp>
      <p:sp>
        <p:nvSpPr>
          <p:cNvPr id="6" name="投影片編號版面配置區 5"/>
          <p:cNvSpPr>
            <a:spLocks noGrp="1"/>
          </p:cNvSpPr>
          <p:nvPr>
            <p:ph type="sldNum" sz="quarter" idx="12"/>
          </p:nvPr>
        </p:nvSpPr>
        <p:spPr>
          <a:xfrm>
            <a:off x="4000496" y="6492875"/>
            <a:ext cx="2133600" cy="365125"/>
          </a:xfrm>
          <a:prstGeom prst="rect">
            <a:avLst/>
          </a:prstGeom>
        </p:spPr>
        <p:txBody>
          <a:bodyPr/>
          <a:lstStyle/>
          <a:p>
            <a:pPr algn="ctr"/>
            <a:fld id="{73DA0BB7-265A-403C-9275-D587AB510EDC}" type="slidenum">
              <a:rPr lang="zh-TW" altLang="en-US" smtClean="0"/>
              <a:pPr algn="ctr"/>
              <a:t>66</a:t>
            </a:fld>
            <a:endParaRPr lang="zh-TW" altLang="en-US" dirty="0"/>
          </a:p>
        </p:txBody>
      </p:sp>
      <p:sp>
        <p:nvSpPr>
          <p:cNvPr id="4" name="矩形 3"/>
          <p:cNvSpPr/>
          <p:nvPr/>
        </p:nvSpPr>
        <p:spPr>
          <a:xfrm>
            <a:off x="456714" y="4653136"/>
            <a:ext cx="8143932" cy="13573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pPr lvl="1" algn="ctr" rtl="0">
              <a:spcBef>
                <a:spcPct val="0"/>
              </a:spcBef>
            </a:pPr>
            <a:r>
              <a:rPr lang="zh-TW" altLang="en-US" sz="4400" dirty="0">
                <a:latin typeface="微軟正黑體" panose="020B0604030504040204" pitchFamily="34" charset="-120"/>
                <a:ea typeface="微軟正黑體" panose="020B0604030504040204" pitchFamily="34" charset="-120"/>
              </a:rPr>
              <a:t>擇一形式</a:t>
            </a:r>
            <a:r>
              <a:rPr lang="en-US" altLang="zh-TW" sz="4400" dirty="0">
                <a:latin typeface="微軟正黑體" panose="020B0604030504040204" pitchFamily="34" charset="-120"/>
                <a:ea typeface="微軟正黑體" panose="020B0604030504040204" pitchFamily="34" charset="-120"/>
              </a:rPr>
              <a:t>(</a:t>
            </a:r>
            <a:r>
              <a:rPr lang="zh-TW" altLang="en-US" sz="4400" dirty="0">
                <a:latin typeface="微軟正黑體" panose="020B0604030504040204" pitchFamily="34" charset="-120"/>
                <a:ea typeface="微軟正黑體" panose="020B0604030504040204" pitchFamily="34" charset="-120"/>
              </a:rPr>
              <a:t>馬庫西式</a:t>
            </a:r>
            <a:r>
              <a:rPr lang="en-US" altLang="zh-TW" sz="4400" dirty="0">
                <a:latin typeface="微軟正黑體" panose="020B0604030504040204" pitchFamily="34" charset="-120"/>
                <a:ea typeface="微軟正黑體" panose="020B0604030504040204" pitchFamily="34" charset="-120"/>
              </a:rPr>
              <a:t>)</a:t>
            </a:r>
            <a:endParaRPr lang="zh-TW" altLang="en-US" sz="4400"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p:txBody>
          <a:bodyPr>
            <a:normAutofit/>
          </a:bodyPr>
          <a:lstStyle/>
          <a:p>
            <a:r>
              <a:rPr lang="zh-TW" altLang="en-US" sz="2800" dirty="0"/>
              <a:t>以「或」、「及」並列數個選項的具體技術特徵</a:t>
            </a:r>
            <a:endParaRPr lang="en-US" altLang="zh-TW" sz="2800" dirty="0"/>
          </a:p>
          <a:p>
            <a:pPr lvl="1"/>
            <a:r>
              <a:rPr lang="zh-TW" altLang="en-US" sz="2400" dirty="0"/>
              <a:t>特徵</a:t>
            </a:r>
            <a:r>
              <a:rPr lang="en-US" altLang="zh-TW" sz="2400" dirty="0"/>
              <a:t>A</a:t>
            </a:r>
            <a:r>
              <a:rPr lang="zh-TW" altLang="en-US" sz="2400" dirty="0"/>
              <a:t>、</a:t>
            </a:r>
            <a:r>
              <a:rPr lang="en-US" altLang="zh-TW" sz="2400" dirty="0"/>
              <a:t>B</a:t>
            </a:r>
            <a:r>
              <a:rPr lang="zh-TW" altLang="en-US" sz="2400" dirty="0"/>
              <a:t>、</a:t>
            </a:r>
            <a:r>
              <a:rPr lang="en-US" altLang="zh-TW" sz="2400" dirty="0"/>
              <a:t>C</a:t>
            </a:r>
            <a:r>
              <a:rPr lang="zh-TW" altLang="en-US" sz="2400" dirty="0"/>
              <a:t>或</a:t>
            </a:r>
            <a:r>
              <a:rPr lang="en-US" altLang="zh-TW" sz="2400" dirty="0"/>
              <a:t>D</a:t>
            </a:r>
          </a:p>
          <a:p>
            <a:pPr lvl="1"/>
            <a:r>
              <a:rPr lang="zh-TW" altLang="en-US" sz="2400" dirty="0"/>
              <a:t>由</a:t>
            </a:r>
            <a:r>
              <a:rPr lang="en-US" altLang="zh-TW" sz="2400" dirty="0"/>
              <a:t>A</a:t>
            </a:r>
            <a:r>
              <a:rPr lang="zh-TW" altLang="en-US" sz="2400" dirty="0"/>
              <a:t>、</a:t>
            </a:r>
            <a:r>
              <a:rPr lang="en-US" altLang="zh-TW" sz="2400" dirty="0"/>
              <a:t>B</a:t>
            </a:r>
            <a:r>
              <a:rPr lang="zh-TW" altLang="en-US" sz="2400" dirty="0"/>
              <a:t>、</a:t>
            </a:r>
            <a:r>
              <a:rPr lang="en-US" altLang="zh-TW" sz="2400" dirty="0"/>
              <a:t>C</a:t>
            </a:r>
            <a:r>
              <a:rPr lang="zh-TW" altLang="en-US" sz="2400" dirty="0"/>
              <a:t>及</a:t>
            </a:r>
            <a:r>
              <a:rPr lang="en-US" altLang="zh-TW" sz="2400" dirty="0"/>
              <a:t>D</a:t>
            </a:r>
            <a:r>
              <a:rPr lang="zh-TW" altLang="en-US" sz="2400" dirty="0"/>
              <a:t>組成的物質群中選擇的一種物質</a:t>
            </a:r>
            <a:endParaRPr lang="en-US" altLang="zh-TW" sz="2400" dirty="0"/>
          </a:p>
          <a:p>
            <a:r>
              <a:rPr lang="zh-TW" altLang="en-US" sz="2800" dirty="0"/>
              <a:t>並列的各選項應具有類似的性質</a:t>
            </a:r>
          </a:p>
        </p:txBody>
      </p:sp>
      <p:sp>
        <p:nvSpPr>
          <p:cNvPr id="6" name="投影片編號版面配置區 5"/>
          <p:cNvSpPr>
            <a:spLocks noGrp="1"/>
          </p:cNvSpPr>
          <p:nvPr>
            <p:ph type="sldNum" sz="quarter" idx="12"/>
          </p:nvPr>
        </p:nvSpPr>
        <p:spPr>
          <a:xfrm>
            <a:off x="3786182" y="6492875"/>
            <a:ext cx="2133600" cy="365125"/>
          </a:xfrm>
          <a:prstGeom prst="rect">
            <a:avLst/>
          </a:prstGeom>
        </p:spPr>
        <p:txBody>
          <a:bodyPr/>
          <a:lstStyle/>
          <a:p>
            <a:pPr algn="ctr"/>
            <a:fld id="{73DA0BB7-265A-403C-9275-D587AB510EDC}" type="slidenum">
              <a:rPr lang="zh-TW" altLang="en-US" smtClean="0"/>
              <a:pPr algn="ctr"/>
              <a:t>67</a:t>
            </a:fld>
            <a:endParaRPr lang="zh-TW" altLang="en-US" dirty="0"/>
          </a:p>
        </p:txBody>
      </p:sp>
      <p:sp>
        <p:nvSpPr>
          <p:cNvPr id="4" name="矩形 3"/>
          <p:cNvSpPr/>
          <p:nvPr/>
        </p:nvSpPr>
        <p:spPr>
          <a:xfrm>
            <a:off x="500034" y="3714752"/>
            <a:ext cx="8072494" cy="2862322"/>
          </a:xfrm>
          <a:prstGeom prst="rect">
            <a:avLst/>
          </a:prstGeom>
          <a:ln>
            <a:solidFill>
              <a:schemeClr val="accent1"/>
            </a:solidFill>
          </a:ln>
        </p:spPr>
        <p:txBody>
          <a:bodyPr wrap="square">
            <a:spAutoFit/>
          </a:bodyPr>
          <a:lstStyle/>
          <a:p>
            <a:r>
              <a:rPr lang="en-US" altLang="zh-TW" sz="2000" dirty="0">
                <a:latin typeface="微軟正黑體" panose="020B0604030504040204" pitchFamily="34" charset="-120"/>
                <a:ea typeface="微軟正黑體" panose="020B0604030504040204" pitchFamily="34" charset="-120"/>
              </a:rPr>
              <a:t>1.</a:t>
            </a:r>
            <a:r>
              <a:rPr lang="zh-TW" altLang="en-US" sz="2000" dirty="0">
                <a:latin typeface="微軟正黑體" panose="020B0604030504040204" pitchFamily="34" charset="-120"/>
                <a:ea typeface="微軟正黑體" panose="020B0604030504040204" pitchFamily="34" charset="-120"/>
              </a:rPr>
              <a:t>一種雨傘結構</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二</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其係包含</a:t>
            </a:r>
            <a:r>
              <a:rPr lang="en-US" altLang="zh-TW" sz="2000" dirty="0">
                <a:latin typeface="微軟正黑體" panose="020B0604030504040204" pitchFamily="34" charset="-120"/>
                <a:ea typeface="微軟正黑體" panose="020B0604030504040204" pitchFamily="34" charset="-120"/>
              </a:rPr>
              <a:t>:</a:t>
            </a:r>
            <a:br>
              <a:rPr lang="en-US" altLang="zh-TW" sz="2000" dirty="0">
                <a:latin typeface="微軟正黑體" panose="020B0604030504040204" pitchFamily="34" charset="-120"/>
                <a:ea typeface="微軟正黑體" panose="020B0604030504040204" pitchFamily="34" charset="-120"/>
              </a:rPr>
            </a:br>
            <a:r>
              <a:rPr lang="zh-TW" altLang="en-US" sz="2000" dirty="0">
                <a:latin typeface="微軟正黑體" panose="020B0604030504040204" pitchFamily="34" charset="-120"/>
                <a:ea typeface="微軟正黑體" panose="020B0604030504040204" pitchFamily="34" charset="-120"/>
              </a:rPr>
              <a:t>一傘面</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其係連結於一支架</a:t>
            </a:r>
            <a:r>
              <a:rPr lang="en-US" altLang="zh-TW" sz="2000" dirty="0">
                <a:latin typeface="微軟正黑體" panose="020B0604030504040204" pitchFamily="34" charset="-120"/>
                <a:ea typeface="微軟正黑體" panose="020B0604030504040204" pitchFamily="34" charset="-120"/>
              </a:rPr>
              <a:t>;</a:t>
            </a:r>
            <a:br>
              <a:rPr lang="en-US" altLang="zh-TW" sz="2000" dirty="0">
                <a:latin typeface="微軟正黑體" panose="020B0604030504040204" pitchFamily="34" charset="-120"/>
                <a:ea typeface="微軟正黑體" panose="020B0604030504040204" pitchFamily="34" charset="-120"/>
              </a:rPr>
            </a:br>
            <a:r>
              <a:rPr lang="zh-TW" altLang="en-US" sz="2000" dirty="0">
                <a:latin typeface="微軟正黑體" panose="020B0604030504040204" pitchFamily="34" charset="-120"/>
                <a:ea typeface="微軟正黑體" panose="020B0604030504040204" pitchFamily="34" charset="-120"/>
              </a:rPr>
              <a:t>一握持部</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其係連結於該支架</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以及</a:t>
            </a:r>
            <a:br>
              <a:rPr lang="zh-TW" altLang="en-US" sz="2000" dirty="0">
                <a:latin typeface="微軟正黑體" panose="020B0604030504040204" pitchFamily="34" charset="-120"/>
                <a:ea typeface="微軟正黑體" panose="020B0604030504040204" pitchFamily="34" charset="-120"/>
              </a:rPr>
            </a:br>
            <a:r>
              <a:rPr lang="zh-TW" altLang="en-US" sz="2000" dirty="0">
                <a:latin typeface="微軟正黑體" panose="020B0604030504040204" pitchFamily="34" charset="-120"/>
                <a:ea typeface="微軟正黑體" panose="020B0604030504040204" pitchFamily="34" charset="-120"/>
              </a:rPr>
              <a:t>一發光模組</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其係連結於該握持部</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該發光模組開啓以提供光線。</a:t>
            </a:r>
            <a:br>
              <a:rPr lang="zh-TW" altLang="en-US" sz="2000" dirty="0">
                <a:latin typeface="微軟正黑體" panose="020B0604030504040204" pitchFamily="34" charset="-120"/>
                <a:ea typeface="微軟正黑體" panose="020B0604030504040204" pitchFamily="34" charset="-120"/>
              </a:rPr>
            </a:br>
            <a:r>
              <a:rPr lang="en-US" altLang="zh-TW" sz="2000" dirty="0">
                <a:latin typeface="微軟正黑體" panose="020B0604030504040204" pitchFamily="34" charset="-120"/>
                <a:ea typeface="微軟正黑體" panose="020B0604030504040204" pitchFamily="34" charset="-120"/>
              </a:rPr>
              <a:t>…</a:t>
            </a:r>
            <a:br>
              <a:rPr lang="zh-TW" altLang="en-US" sz="2000" dirty="0">
                <a:latin typeface="微軟正黑體" panose="020B0604030504040204" pitchFamily="34" charset="-120"/>
                <a:ea typeface="微軟正黑體" panose="020B0604030504040204" pitchFamily="34" charset="-120"/>
              </a:rPr>
            </a:br>
            <a:r>
              <a:rPr lang="en-US" altLang="zh-TW" sz="2000" dirty="0">
                <a:latin typeface="微軟正黑體" panose="020B0604030504040204" pitchFamily="34" charset="-120"/>
                <a:ea typeface="微軟正黑體" panose="020B0604030504040204" pitchFamily="34" charset="-120"/>
              </a:rPr>
              <a:t>4.</a:t>
            </a:r>
            <a:r>
              <a:rPr lang="zh-TW" altLang="en-US" sz="2000" dirty="0">
                <a:latin typeface="微軟正黑體" panose="020B0604030504040204" pitchFamily="34" charset="-120"/>
                <a:ea typeface="微軟正黑體" panose="020B0604030504040204" pitchFamily="34" charset="-120"/>
              </a:rPr>
              <a:t>如申請專利範圍第</a:t>
            </a:r>
            <a:r>
              <a:rPr lang="en-US" altLang="zh-TW" sz="2000" dirty="0">
                <a:latin typeface="微軟正黑體" panose="020B0604030504040204" pitchFamily="34" charset="-120"/>
                <a:ea typeface="微軟正黑體" panose="020B0604030504040204" pitchFamily="34" charset="-120"/>
              </a:rPr>
              <a:t>1</a:t>
            </a:r>
            <a:r>
              <a:rPr lang="zh-TW" altLang="en-US" sz="2000" dirty="0">
                <a:latin typeface="微軟正黑體" panose="020B0604030504040204" pitchFamily="34" charset="-120"/>
                <a:ea typeface="微軟正黑體" panose="020B0604030504040204" pitchFamily="34" charset="-120"/>
              </a:rPr>
              <a:t>項所述之雨傘結構</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二</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其中該握持部與該支架的材質係選自於</a:t>
            </a:r>
            <a:r>
              <a:rPr lang="zh-TW" altLang="en-US" sz="2000" b="1" dirty="0">
                <a:latin typeface="微軟正黑體" panose="020B0604030504040204" pitchFamily="34" charset="-120"/>
                <a:ea typeface="微軟正黑體" panose="020B0604030504040204" pitchFamily="34" charset="-120"/>
              </a:rPr>
              <a:t>塑膠、合成纖維、木材、鋁、不銹鋼或合金</a:t>
            </a:r>
            <a:r>
              <a:rPr lang="zh-TW" altLang="en-US" sz="2000" dirty="0">
                <a:latin typeface="微軟正黑體" panose="020B0604030504040204" pitchFamily="34" charset="-120"/>
                <a:ea typeface="微軟正黑體" panose="020B0604030504040204" pitchFamily="34" charset="-120"/>
              </a:rPr>
              <a:t>。</a:t>
            </a:r>
            <a:r>
              <a:rPr lang="en-US" altLang="zh-TW" sz="2000" dirty="0">
                <a:latin typeface="微軟正黑體" panose="020B0604030504040204" pitchFamily="34" charset="-120"/>
                <a:ea typeface="微軟正黑體" panose="020B0604030504040204" pitchFamily="34" charset="-120"/>
              </a:rPr>
              <a:t>(TWM363826)</a:t>
            </a:r>
            <a:br>
              <a:rPr lang="zh-TW" altLang="en-US" sz="2000" dirty="0">
                <a:latin typeface="微軟正黑體" panose="020B0604030504040204" pitchFamily="34" charset="-120"/>
                <a:ea typeface="微軟正黑體" panose="020B0604030504040204" pitchFamily="34" charset="-120"/>
              </a:rPr>
            </a:br>
            <a:endParaRPr lang="zh-TW" altLang="en-US" sz="2000"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解讀申請專利範圍</a:t>
            </a:r>
          </a:p>
        </p:txBody>
      </p:sp>
      <p:sp>
        <p:nvSpPr>
          <p:cNvPr id="3" name="內容版面配置區 2"/>
          <p:cNvSpPr>
            <a:spLocks noGrp="1"/>
          </p:cNvSpPr>
          <p:nvPr>
            <p:ph idx="1"/>
          </p:nvPr>
        </p:nvSpPr>
        <p:spPr/>
        <p:txBody>
          <a:bodyPr>
            <a:normAutofit/>
          </a:bodyPr>
          <a:lstStyle/>
          <a:p>
            <a:r>
              <a:rPr lang="zh-TW" altLang="en-US" sz="2800" dirty="0"/>
              <a:t>以特性界定物</a:t>
            </a:r>
            <a:endParaRPr lang="en-US" altLang="zh-TW" sz="2800" dirty="0"/>
          </a:p>
          <a:p>
            <a:r>
              <a:rPr lang="zh-TW" altLang="en-US" sz="2800" dirty="0"/>
              <a:t>以製法界定物</a:t>
            </a:r>
            <a:endParaRPr lang="en-US" altLang="zh-TW" sz="2800" dirty="0"/>
          </a:p>
          <a:p>
            <a:r>
              <a:rPr lang="zh-TW" altLang="en-US" sz="2800" dirty="0"/>
              <a:t>以功能界定物</a:t>
            </a:r>
            <a:endParaRPr lang="en-US" altLang="zh-TW" sz="2800" dirty="0"/>
          </a:p>
          <a:p>
            <a:pPr lvl="1"/>
            <a:r>
              <a:rPr lang="zh-TW" altLang="en-US" dirty="0"/>
              <a:t>手段功能</a:t>
            </a:r>
            <a:r>
              <a:rPr lang="en-US" altLang="zh-TW" dirty="0"/>
              <a:t>(</a:t>
            </a:r>
            <a:r>
              <a:rPr lang="zh-TW" altLang="en-US" dirty="0"/>
              <a:t>功能界定物或方法</a:t>
            </a:r>
            <a:r>
              <a:rPr lang="en-US" altLang="zh-TW" dirty="0"/>
              <a:t>)</a:t>
            </a:r>
          </a:p>
          <a:p>
            <a:r>
              <a:rPr lang="zh-TW" altLang="en-US" sz="2800" dirty="0"/>
              <a:t>以用途界定物</a:t>
            </a:r>
            <a:endParaRPr lang="en-US" altLang="zh-TW" sz="2800" dirty="0"/>
          </a:p>
          <a:p>
            <a:r>
              <a:rPr lang="zh-TW" altLang="en-US" sz="2800" dirty="0"/>
              <a:t>用途請求項</a:t>
            </a:r>
            <a:endParaRPr lang="en-US" altLang="zh-TW" sz="2800" dirty="0"/>
          </a:p>
        </p:txBody>
      </p:sp>
      <p:sp>
        <p:nvSpPr>
          <p:cNvPr id="5" name="投影片編號版面配置區 4"/>
          <p:cNvSpPr>
            <a:spLocks noGrp="1"/>
          </p:cNvSpPr>
          <p:nvPr>
            <p:ph type="sldNum" sz="quarter" idx="12"/>
          </p:nvPr>
        </p:nvSpPr>
        <p:spPr>
          <a:xfrm>
            <a:off x="4071934" y="6492875"/>
            <a:ext cx="2133600" cy="365125"/>
          </a:xfrm>
          <a:prstGeom prst="rect">
            <a:avLst/>
          </a:prstGeom>
        </p:spPr>
        <p:txBody>
          <a:bodyPr/>
          <a:lstStyle/>
          <a:p>
            <a:pPr algn="ctr"/>
            <a:fld id="{73DA0BB7-265A-403C-9275-D587AB510EDC}" type="slidenum">
              <a:rPr lang="zh-TW" altLang="en-US" smtClean="0"/>
              <a:pPr algn="ctr"/>
              <a:t>68</a:t>
            </a:fld>
            <a:endParaRPr lang="zh-TW"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pPr lvl="1" algn="ctr" rtl="0">
              <a:spcBef>
                <a:spcPct val="0"/>
              </a:spcBef>
            </a:pPr>
            <a:r>
              <a:rPr lang="zh-TW" altLang="en-US" sz="4400" dirty="0">
                <a:latin typeface="微軟正黑體" panose="020B0604030504040204" pitchFamily="34" charset="-120"/>
                <a:ea typeface="微軟正黑體" panose="020B0604030504040204" pitchFamily="34" charset="-120"/>
              </a:rPr>
              <a:t>以特性界定物</a:t>
            </a:r>
          </a:p>
        </p:txBody>
      </p:sp>
      <p:sp>
        <p:nvSpPr>
          <p:cNvPr id="3" name="內容版面配置區 2"/>
          <p:cNvSpPr>
            <a:spLocks noGrp="1"/>
          </p:cNvSpPr>
          <p:nvPr>
            <p:ph idx="1"/>
          </p:nvPr>
        </p:nvSpPr>
        <p:spPr/>
        <p:txBody>
          <a:bodyPr>
            <a:normAutofit/>
          </a:bodyPr>
          <a:lstStyle/>
          <a:p>
            <a:r>
              <a:rPr lang="zh-TW" altLang="en-US" sz="2800" dirty="0"/>
              <a:t>對於物之發明，例如化學物質之發明，一般係以化學名稱或分子式、結構式予以界定，若無法以化學名稱或分子式、結構式等結構特徵界定請求項時，得以其物理或化學特性等（如熔點、分子量、光譜、</a:t>
            </a:r>
            <a:r>
              <a:rPr lang="en-US" altLang="zh-TW" sz="2800" dirty="0"/>
              <a:t>PH</a:t>
            </a:r>
            <a:r>
              <a:rPr lang="zh-TW" altLang="en-US" sz="2800" dirty="0"/>
              <a:t>值等）予以界定</a:t>
            </a:r>
            <a:endParaRPr lang="en-US" altLang="zh-TW" sz="2800" dirty="0"/>
          </a:p>
        </p:txBody>
      </p:sp>
      <p:sp>
        <p:nvSpPr>
          <p:cNvPr id="5" name="投影片編號版面配置區 4"/>
          <p:cNvSpPr>
            <a:spLocks noGrp="1"/>
          </p:cNvSpPr>
          <p:nvPr>
            <p:ph type="sldNum" sz="quarter" idx="12"/>
          </p:nvPr>
        </p:nvSpPr>
        <p:spPr>
          <a:xfrm>
            <a:off x="3857620" y="6492875"/>
            <a:ext cx="2133600" cy="365125"/>
          </a:xfrm>
          <a:prstGeom prst="rect">
            <a:avLst/>
          </a:prstGeom>
        </p:spPr>
        <p:txBody>
          <a:bodyPr/>
          <a:lstStyle/>
          <a:p>
            <a:pPr algn="ctr"/>
            <a:fld id="{73DA0BB7-265A-403C-9275-D587AB510EDC}" type="slidenum">
              <a:rPr lang="zh-TW" altLang="en-US" smtClean="0"/>
              <a:pPr algn="ctr"/>
              <a:t>69</a:t>
            </a:fld>
            <a:endParaRPr lang="zh-TW"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pPr lvl="1" algn="ctr" rtl="0">
              <a:spcBef>
                <a:spcPct val="0"/>
              </a:spcBef>
            </a:pPr>
            <a:r>
              <a:rPr lang="zh-TW" altLang="en-US" sz="4400" dirty="0">
                <a:latin typeface="微軟正黑體" panose="020B0604030504040204" pitchFamily="34" charset="-120"/>
                <a:ea typeface="微軟正黑體" panose="020B0604030504040204" pitchFamily="34" charset="-120"/>
              </a:rPr>
              <a:t>以製法界定物</a:t>
            </a:r>
          </a:p>
        </p:txBody>
      </p:sp>
      <p:sp>
        <p:nvSpPr>
          <p:cNvPr id="3" name="內容版面配置區 2"/>
          <p:cNvSpPr>
            <a:spLocks noGrp="1"/>
          </p:cNvSpPr>
          <p:nvPr>
            <p:ph idx="1"/>
          </p:nvPr>
        </p:nvSpPr>
        <p:spPr>
          <a:xfrm>
            <a:off x="457200" y="980728"/>
            <a:ext cx="8229600" cy="5760640"/>
          </a:xfrm>
        </p:spPr>
        <p:txBody>
          <a:bodyPr>
            <a:normAutofit fontScale="85000" lnSpcReduction="20000"/>
          </a:bodyPr>
          <a:lstStyle/>
          <a:p>
            <a:pPr>
              <a:lnSpc>
                <a:spcPct val="120000"/>
              </a:lnSpc>
            </a:pPr>
            <a:r>
              <a:rPr lang="zh-TW" altLang="en-US" sz="2800" spc="40" dirty="0"/>
              <a:t>對於物之發明，若以其製法之外的技術特徵無法充分界定申請專利之發明時，始得以製法界定物之發明</a:t>
            </a:r>
            <a:endParaRPr lang="en-US" altLang="zh-TW" sz="2800" spc="40" dirty="0"/>
          </a:p>
          <a:p>
            <a:pPr>
              <a:lnSpc>
                <a:spcPct val="120000"/>
              </a:lnSpc>
            </a:pPr>
            <a:r>
              <a:rPr lang="zh-TW" altLang="en-US" sz="2800" spc="40" dirty="0"/>
              <a:t>以製法界定物之請求項，其申請專利之發明應為請求項中所載之製法所賦予特性之物本身，亦即以製法界定物之請求項，其是否具備新穎性或進步性並非由製法決定，而係由該物本身來決定</a:t>
            </a:r>
            <a:endParaRPr lang="en-US" altLang="zh-TW" sz="2800" spc="40" dirty="0"/>
          </a:p>
          <a:p>
            <a:pPr>
              <a:lnSpc>
                <a:spcPct val="120000"/>
              </a:lnSpc>
            </a:pPr>
            <a:r>
              <a:rPr lang="zh-TW" altLang="en-US" sz="2800" spc="40" dirty="0"/>
              <a:t>若請求項所載之物與先前技術中所揭露之物相同或屬能輕易完成者，即使先前技術所揭露之物係以不同方法所製得，該請求項仍不得予以專利</a:t>
            </a:r>
            <a:endParaRPr lang="en-US" altLang="zh-TW" sz="2800" spc="40" dirty="0"/>
          </a:p>
          <a:p>
            <a:pPr>
              <a:lnSpc>
                <a:spcPct val="120000"/>
              </a:lnSpc>
            </a:pPr>
            <a:r>
              <a:rPr lang="zh-TW" altLang="en-US" sz="2800" spc="40" dirty="0"/>
              <a:t>請求項中所載之發明為方法</a:t>
            </a:r>
            <a:r>
              <a:rPr lang="en-US" altLang="zh-TW" sz="2800" spc="40" dirty="0"/>
              <a:t>P</a:t>
            </a:r>
            <a:r>
              <a:rPr lang="zh-TW" altLang="en-US" sz="2800" spc="40" dirty="0"/>
              <a:t>（步驟</a:t>
            </a:r>
            <a:r>
              <a:rPr lang="en-US" altLang="zh-TW" sz="2800" spc="40" dirty="0"/>
              <a:t>P1</a:t>
            </a:r>
            <a:r>
              <a:rPr lang="zh-TW" altLang="en-US" sz="2800" spc="40" dirty="0"/>
              <a:t>、</a:t>
            </a:r>
            <a:r>
              <a:rPr lang="en-US" altLang="zh-TW" sz="2800" spc="40" dirty="0"/>
              <a:t>P2</a:t>
            </a:r>
            <a:r>
              <a:rPr lang="zh-TW" altLang="en-US" sz="2800" spc="40" dirty="0"/>
              <a:t>、</a:t>
            </a:r>
            <a:r>
              <a:rPr lang="en-US" altLang="zh-TW" sz="2800" spc="40" dirty="0"/>
              <a:t>……</a:t>
            </a:r>
            <a:r>
              <a:rPr lang="zh-TW" altLang="en-US" sz="2800" spc="40" dirty="0"/>
              <a:t>及</a:t>
            </a:r>
            <a:r>
              <a:rPr lang="en-US" altLang="zh-TW" sz="2800" spc="40" dirty="0" err="1"/>
              <a:t>Pn</a:t>
            </a:r>
            <a:r>
              <a:rPr lang="zh-TW" altLang="en-US" sz="2800" spc="40" dirty="0"/>
              <a:t>）所製得之蛋白質，若以不同的方法</a:t>
            </a:r>
            <a:r>
              <a:rPr lang="en-US" altLang="zh-TW" sz="2800" spc="40" dirty="0"/>
              <a:t>Q</a:t>
            </a:r>
            <a:r>
              <a:rPr lang="zh-TW" altLang="en-US" sz="2800" spc="40" dirty="0"/>
              <a:t>所製得的蛋白質</a:t>
            </a:r>
            <a:r>
              <a:rPr lang="en-US" altLang="zh-TW" sz="2800" spc="40" dirty="0"/>
              <a:t>Z</a:t>
            </a:r>
            <a:r>
              <a:rPr lang="zh-TW" altLang="en-US" sz="2800" spc="40" dirty="0"/>
              <a:t>與所請求的蛋白質名稱相同且具有由方法</a:t>
            </a:r>
            <a:r>
              <a:rPr lang="en-US" altLang="zh-TW" sz="2800" spc="40" dirty="0"/>
              <a:t>P</a:t>
            </a:r>
            <a:r>
              <a:rPr lang="zh-TW" altLang="en-US" sz="2800" spc="40" dirty="0"/>
              <a:t>所得之相同特性，且蛋白質</a:t>
            </a:r>
            <a:r>
              <a:rPr lang="en-US" altLang="zh-TW" sz="2800" spc="40" dirty="0"/>
              <a:t>Z</a:t>
            </a:r>
            <a:r>
              <a:rPr lang="zh-TW" altLang="en-US" sz="2800" spc="40" dirty="0"/>
              <a:t>為先前技術時，則無論申請時方法</a:t>
            </a:r>
            <a:r>
              <a:rPr lang="en-US" altLang="zh-TW" sz="2800" spc="40" dirty="0"/>
              <a:t>P</a:t>
            </a:r>
            <a:r>
              <a:rPr lang="zh-TW" altLang="en-US" sz="2800" spc="40" dirty="0"/>
              <a:t>是否已經能為公眾得知，所請求的蛋白質喪失新穎性</a:t>
            </a:r>
            <a:endParaRPr lang="en-US" altLang="zh-TW" sz="2800" spc="40" dirty="0"/>
          </a:p>
        </p:txBody>
      </p:sp>
      <p:sp>
        <p:nvSpPr>
          <p:cNvPr id="5" name="投影片編號版面配置區 4"/>
          <p:cNvSpPr>
            <a:spLocks noGrp="1"/>
          </p:cNvSpPr>
          <p:nvPr>
            <p:ph type="sldNum" sz="quarter" idx="12"/>
          </p:nvPr>
        </p:nvSpPr>
        <p:spPr>
          <a:xfrm>
            <a:off x="3857620" y="6492875"/>
            <a:ext cx="2133600" cy="365125"/>
          </a:xfrm>
          <a:prstGeom prst="rect">
            <a:avLst/>
          </a:prstGeom>
        </p:spPr>
        <p:txBody>
          <a:bodyPr/>
          <a:lstStyle/>
          <a:p>
            <a:pPr algn="ctr"/>
            <a:fld id="{73DA0BB7-265A-403C-9275-D587AB510EDC}" type="slidenum">
              <a:rPr lang="zh-TW" altLang="en-US" smtClean="0"/>
              <a:pPr algn="ctr"/>
              <a:t>70</a:t>
            </a:fld>
            <a:endParaRPr lang="zh-TW" altLang="en-US" dirty="0"/>
          </a:p>
        </p:txBody>
      </p:sp>
    </p:spTree>
    <p:extLst>
      <p:ext uri="{BB962C8B-B14F-4D97-AF65-F5344CB8AC3E}">
        <p14:creationId xmlns:p14="http://schemas.microsoft.com/office/powerpoint/2010/main" val="12815223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pPr lvl="1" algn="ctr" rtl="0">
              <a:spcBef>
                <a:spcPct val="0"/>
              </a:spcBef>
            </a:pPr>
            <a:r>
              <a:rPr lang="zh-TW" altLang="en-US" sz="4400" dirty="0">
                <a:latin typeface="微軟正黑體" panose="020B0604030504040204" pitchFamily="34" charset="-120"/>
                <a:ea typeface="微軟正黑體" panose="020B0604030504040204" pitchFamily="34" charset="-120"/>
              </a:rPr>
              <a:t>以功能界定物</a:t>
            </a:r>
          </a:p>
        </p:txBody>
      </p:sp>
      <p:sp>
        <p:nvSpPr>
          <p:cNvPr id="3" name="內容版面配置區 2"/>
          <p:cNvSpPr>
            <a:spLocks noGrp="1"/>
          </p:cNvSpPr>
          <p:nvPr>
            <p:ph idx="1"/>
          </p:nvPr>
        </p:nvSpPr>
        <p:spPr/>
        <p:txBody>
          <a:bodyPr>
            <a:normAutofit/>
          </a:bodyPr>
          <a:lstStyle/>
          <a:p>
            <a:r>
              <a:rPr lang="zh-TW" altLang="en-US" dirty="0"/>
              <a:t>若某些技術特徵無法以結構、特性或步驟界定，或者以功能界定較為清楚，而且依說明書中明確且充分揭露的實驗或操作，能直接確實驗證該功能時，得以功能界定請求項</a:t>
            </a:r>
            <a:endParaRPr lang="en-US" altLang="zh-TW" dirty="0"/>
          </a:p>
          <a:p>
            <a:pPr lvl="1"/>
            <a:r>
              <a:rPr lang="zh-TW" altLang="en-US" dirty="0"/>
              <a:t>單純功能界定</a:t>
            </a:r>
            <a:r>
              <a:rPr lang="en-US" altLang="zh-TW" dirty="0"/>
              <a:t>(</a:t>
            </a:r>
            <a:r>
              <a:rPr lang="zh-TW" altLang="en-US" dirty="0"/>
              <a:t>基準第二篇第十二章</a:t>
            </a:r>
            <a:r>
              <a:rPr lang="en-US" altLang="zh-TW" dirty="0"/>
              <a:t>2.3)</a:t>
            </a:r>
          </a:p>
          <a:p>
            <a:pPr lvl="2"/>
            <a:r>
              <a:rPr lang="zh-TW" altLang="en-US" dirty="0"/>
              <a:t>於請求項中僅以功能界定之技術特徵，基於審查效率，審查人員得先解釋為包含任何能達成或實現該功能之裝置或步驟，據以進行先前技術檢索與比對</a:t>
            </a:r>
            <a:endParaRPr lang="en-US" altLang="zh-TW" dirty="0"/>
          </a:p>
          <a:p>
            <a:pPr lvl="1"/>
            <a:r>
              <a:rPr lang="zh-TW" altLang="en-US" dirty="0"/>
              <a:t>手段功能用語</a:t>
            </a:r>
            <a:endParaRPr lang="en-US" altLang="zh-TW" dirty="0"/>
          </a:p>
        </p:txBody>
      </p:sp>
      <p:sp>
        <p:nvSpPr>
          <p:cNvPr id="5" name="投影片編號版面配置區 4"/>
          <p:cNvSpPr>
            <a:spLocks noGrp="1"/>
          </p:cNvSpPr>
          <p:nvPr>
            <p:ph type="sldNum" sz="quarter" idx="12"/>
          </p:nvPr>
        </p:nvSpPr>
        <p:spPr>
          <a:xfrm>
            <a:off x="4000496" y="6492875"/>
            <a:ext cx="2133600" cy="365125"/>
          </a:xfrm>
          <a:prstGeom prst="rect">
            <a:avLst/>
          </a:prstGeom>
        </p:spPr>
        <p:txBody>
          <a:bodyPr/>
          <a:lstStyle/>
          <a:p>
            <a:pPr algn="ctr"/>
            <a:fld id="{73DA0BB7-265A-403C-9275-D587AB510EDC}" type="slidenum">
              <a:rPr lang="zh-TW" altLang="en-US" smtClean="0"/>
              <a:pPr algn="ctr"/>
              <a:t>71</a:t>
            </a:fld>
            <a:endParaRPr lang="zh-TW"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pPr lvl="1" algn="ctr" rtl="0">
              <a:spcBef>
                <a:spcPct val="0"/>
              </a:spcBef>
            </a:pPr>
            <a:r>
              <a:rPr lang="zh-TW" altLang="en-US" sz="4400" dirty="0">
                <a:latin typeface="微軟正黑體" panose="020B0604030504040204" pitchFamily="34" charset="-120"/>
                <a:ea typeface="微軟正黑體" panose="020B0604030504040204" pitchFamily="34" charset="-120"/>
              </a:rPr>
              <a:t>手段功能用語</a:t>
            </a:r>
          </a:p>
        </p:txBody>
      </p:sp>
      <p:sp>
        <p:nvSpPr>
          <p:cNvPr id="3" name="內容版面配置區 2"/>
          <p:cNvSpPr>
            <a:spLocks noGrp="1"/>
          </p:cNvSpPr>
          <p:nvPr>
            <p:ph idx="1"/>
          </p:nvPr>
        </p:nvSpPr>
        <p:spPr/>
        <p:txBody>
          <a:bodyPr>
            <a:normAutofit/>
          </a:bodyPr>
          <a:lstStyle/>
          <a:p>
            <a:r>
              <a:rPr lang="zh-TW" altLang="en-US" sz="2400" dirty="0"/>
              <a:t>解釋以手段功能用語或步驟功能用語表示之請求項時，應包含說明書中所敘述對應於該功能之結構、材料或動作及其均等範圍，而該均等範圍應以申請時該發明所屬技術領域中具有通常知識者不會產生疑義之範圍為限。</a:t>
            </a:r>
            <a:endParaRPr lang="en-US" altLang="zh-TW" sz="2400" dirty="0"/>
          </a:p>
          <a:p>
            <a:r>
              <a:rPr lang="zh-TW" altLang="en-US" sz="2400" dirty="0"/>
              <a:t>例如請求項中某一技術特徵的功能敘述為「</a:t>
            </a:r>
            <a:r>
              <a:rPr lang="en-US" altLang="zh-TW" sz="2400" dirty="0"/>
              <a:t>……</a:t>
            </a:r>
            <a:r>
              <a:rPr lang="zh-TW" altLang="en-US" sz="2400" dirty="0"/>
              <a:t>手段，用以轉換多個影像成為一特定之數位格式」，說明書中對應該功能的構造是資料擷取器或電腦錄影處理器，只能將類比資料轉換成數位格式，雖然「以程式完成之數位對數位轉換」之技術內容也能達成該功能，但因說明書並未記載該技術內容，解釋請求項時，請求項之範圍不包含「以程式完成數位對數位轉換」之技術內容。</a:t>
            </a:r>
          </a:p>
        </p:txBody>
      </p:sp>
      <p:sp>
        <p:nvSpPr>
          <p:cNvPr id="5" name="投影片編號版面配置區 4"/>
          <p:cNvSpPr>
            <a:spLocks noGrp="1"/>
          </p:cNvSpPr>
          <p:nvPr>
            <p:ph type="sldNum" sz="quarter" idx="12"/>
          </p:nvPr>
        </p:nvSpPr>
        <p:spPr>
          <a:xfrm>
            <a:off x="4000496" y="6492875"/>
            <a:ext cx="2133600" cy="365125"/>
          </a:xfrm>
          <a:prstGeom prst="rect">
            <a:avLst/>
          </a:prstGeom>
        </p:spPr>
        <p:txBody>
          <a:bodyPr/>
          <a:lstStyle/>
          <a:p>
            <a:pPr algn="ctr"/>
            <a:fld id="{73DA0BB7-265A-403C-9275-D587AB510EDC}" type="slidenum">
              <a:rPr lang="zh-TW" altLang="en-US" smtClean="0"/>
              <a:pPr algn="ctr"/>
              <a:t>72</a:t>
            </a:fld>
            <a:endParaRPr lang="zh-TW"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pPr lvl="1" algn="ctr" rtl="0">
              <a:spcBef>
                <a:spcPct val="0"/>
              </a:spcBef>
            </a:pPr>
            <a:r>
              <a:rPr lang="zh-TW" altLang="en-US" sz="4400" dirty="0">
                <a:latin typeface="微軟正黑體" panose="020B0604030504040204" pitchFamily="34" charset="-120"/>
                <a:ea typeface="微軟正黑體" panose="020B0604030504040204" pitchFamily="34" charset="-120"/>
              </a:rPr>
              <a:t>手段功能用語</a:t>
            </a:r>
          </a:p>
        </p:txBody>
      </p:sp>
      <p:sp>
        <p:nvSpPr>
          <p:cNvPr id="3" name="內容版面配置區 2"/>
          <p:cNvSpPr>
            <a:spLocks noGrp="1"/>
          </p:cNvSpPr>
          <p:nvPr>
            <p:ph idx="1"/>
          </p:nvPr>
        </p:nvSpPr>
        <p:spPr>
          <a:xfrm>
            <a:off x="457200" y="980727"/>
            <a:ext cx="8229600" cy="2631827"/>
          </a:xfrm>
        </p:spPr>
        <p:txBody>
          <a:bodyPr>
            <a:normAutofit fontScale="92500" lnSpcReduction="20000"/>
          </a:bodyPr>
          <a:lstStyle/>
          <a:p>
            <a:pPr>
              <a:buNone/>
            </a:pPr>
            <a:r>
              <a:rPr lang="zh-TW" altLang="en-US" sz="2400" dirty="0"/>
              <a:t>請求項中之記載符合下列三項條件者即認定其為手段功能用語或步驟功能用語：</a:t>
            </a:r>
          </a:p>
          <a:p>
            <a:pPr>
              <a:buNone/>
            </a:pPr>
            <a:r>
              <a:rPr lang="zh-TW" altLang="en-US" sz="2400" dirty="0"/>
              <a:t>一、使用「</a:t>
            </a:r>
            <a:r>
              <a:rPr lang="en-US" altLang="zh-TW" sz="2400" dirty="0"/>
              <a:t>…</a:t>
            </a:r>
            <a:r>
              <a:rPr lang="zh-TW" altLang="en-US" sz="2400" dirty="0"/>
              <a:t>手段（或裝置）用以（</a:t>
            </a:r>
            <a:r>
              <a:rPr lang="en-US" altLang="zh-TW" sz="2400" dirty="0" err="1"/>
              <a:t>meansfor</a:t>
            </a:r>
            <a:r>
              <a:rPr lang="zh-TW" altLang="en-US" sz="2400" dirty="0"/>
              <a:t>）</a:t>
            </a:r>
            <a:r>
              <a:rPr lang="en-US" altLang="zh-TW" sz="2400" dirty="0"/>
              <a:t>…</a:t>
            </a:r>
            <a:r>
              <a:rPr lang="zh-TW" altLang="en-US" sz="2400" dirty="0"/>
              <a:t>」或「</a:t>
            </a:r>
            <a:r>
              <a:rPr lang="en-US" altLang="zh-TW" sz="2400" dirty="0"/>
              <a:t>…</a:t>
            </a:r>
            <a:r>
              <a:rPr lang="zh-TW" altLang="en-US" sz="2400" dirty="0"/>
              <a:t>步驟用以（</a:t>
            </a:r>
            <a:r>
              <a:rPr lang="en-US" altLang="zh-TW" sz="2400" dirty="0" err="1"/>
              <a:t>stepfor</a:t>
            </a:r>
            <a:r>
              <a:rPr lang="zh-TW" altLang="en-US" sz="2400" dirty="0"/>
              <a:t>）</a:t>
            </a:r>
            <a:r>
              <a:rPr lang="en-US" altLang="zh-TW" sz="2400" dirty="0"/>
              <a:t>…</a:t>
            </a:r>
            <a:r>
              <a:rPr lang="zh-TW" altLang="en-US" sz="2400" dirty="0"/>
              <a:t>」之用語記載技術特徵。</a:t>
            </a:r>
          </a:p>
          <a:p>
            <a:pPr>
              <a:buNone/>
            </a:pPr>
            <a:r>
              <a:rPr lang="zh-TW" altLang="en-US" sz="2400" dirty="0"/>
              <a:t>二、「</a:t>
            </a:r>
            <a:r>
              <a:rPr lang="en-US" altLang="zh-TW" sz="2400" dirty="0"/>
              <a:t>…</a:t>
            </a:r>
            <a:r>
              <a:rPr lang="zh-TW" altLang="en-US" sz="2400" dirty="0"/>
              <a:t>手段（或裝置）用以</a:t>
            </a:r>
            <a:r>
              <a:rPr lang="en-US" altLang="zh-TW" sz="2400" dirty="0"/>
              <a:t>…</a:t>
            </a:r>
            <a:r>
              <a:rPr lang="zh-TW" altLang="en-US" sz="2400" dirty="0"/>
              <a:t>」或「</a:t>
            </a:r>
            <a:r>
              <a:rPr lang="en-US" altLang="zh-TW" sz="2400" dirty="0"/>
              <a:t>…</a:t>
            </a:r>
            <a:r>
              <a:rPr lang="zh-TW" altLang="en-US" sz="2400" dirty="0"/>
              <a:t>步驟用以</a:t>
            </a:r>
            <a:r>
              <a:rPr lang="en-US" altLang="zh-TW" sz="2400" dirty="0"/>
              <a:t>…</a:t>
            </a:r>
            <a:r>
              <a:rPr lang="zh-TW" altLang="en-US" sz="2400" dirty="0"/>
              <a:t>」之用語中必須記載特定功能。</a:t>
            </a:r>
          </a:p>
          <a:p>
            <a:pPr>
              <a:buNone/>
            </a:pPr>
            <a:r>
              <a:rPr lang="zh-TW" altLang="en-US" sz="2400" dirty="0"/>
              <a:t>三、「</a:t>
            </a:r>
            <a:r>
              <a:rPr lang="en-US" altLang="zh-TW" sz="2400" dirty="0"/>
              <a:t>…</a:t>
            </a:r>
            <a:r>
              <a:rPr lang="zh-TW" altLang="en-US" sz="2400" dirty="0"/>
              <a:t>手段（或裝置）用以</a:t>
            </a:r>
            <a:r>
              <a:rPr lang="en-US" altLang="zh-TW" sz="2400" dirty="0"/>
              <a:t>…</a:t>
            </a:r>
            <a:r>
              <a:rPr lang="zh-TW" altLang="en-US" sz="2400" dirty="0"/>
              <a:t>」或「</a:t>
            </a:r>
            <a:r>
              <a:rPr lang="en-US" altLang="zh-TW" sz="2400" dirty="0"/>
              <a:t>…</a:t>
            </a:r>
            <a:r>
              <a:rPr lang="zh-TW" altLang="en-US" sz="2400" dirty="0"/>
              <a:t>步驟用以</a:t>
            </a:r>
            <a:r>
              <a:rPr lang="en-US" altLang="zh-TW" sz="2400" dirty="0"/>
              <a:t>…</a:t>
            </a:r>
            <a:r>
              <a:rPr lang="zh-TW" altLang="en-US" sz="2400" dirty="0"/>
              <a:t>」之用語中不得記載足以達成該特定功能之完整結構、材料或動作。</a:t>
            </a:r>
          </a:p>
        </p:txBody>
      </p:sp>
      <p:sp>
        <p:nvSpPr>
          <p:cNvPr id="5" name="投影片編號版面配置區 4"/>
          <p:cNvSpPr>
            <a:spLocks noGrp="1"/>
          </p:cNvSpPr>
          <p:nvPr>
            <p:ph type="sldNum" sz="quarter" idx="12"/>
          </p:nvPr>
        </p:nvSpPr>
        <p:spPr>
          <a:xfrm>
            <a:off x="4000496" y="6492875"/>
            <a:ext cx="2133600" cy="365125"/>
          </a:xfrm>
          <a:prstGeom prst="rect">
            <a:avLst/>
          </a:prstGeom>
        </p:spPr>
        <p:txBody>
          <a:bodyPr/>
          <a:lstStyle/>
          <a:p>
            <a:pPr algn="ctr"/>
            <a:fld id="{73DA0BB7-265A-403C-9275-D587AB510EDC}" type="slidenum">
              <a:rPr lang="zh-TW" altLang="en-US" smtClean="0"/>
              <a:pPr algn="ctr"/>
              <a:t>73</a:t>
            </a:fld>
            <a:endParaRPr lang="zh-TW" altLang="en-US" dirty="0"/>
          </a:p>
        </p:txBody>
      </p:sp>
      <p:sp>
        <p:nvSpPr>
          <p:cNvPr id="4" name="矩形 3">
            <a:extLst>
              <a:ext uri="{FF2B5EF4-FFF2-40B4-BE49-F238E27FC236}">
                <a16:creationId xmlns:a16="http://schemas.microsoft.com/office/drawing/2014/main" id="{B16EE10C-884D-D6F0-1927-828FF05F692C}"/>
              </a:ext>
            </a:extLst>
          </p:cNvPr>
          <p:cNvSpPr/>
          <p:nvPr/>
        </p:nvSpPr>
        <p:spPr>
          <a:xfrm>
            <a:off x="6444208" y="4104118"/>
            <a:ext cx="1872208" cy="2631827"/>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一種</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裝置，具有第一手段用以</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執行「</a:t>
            </a:r>
            <a:r>
              <a:rPr lang="en-US" altLang="zh-TW" dirty="0">
                <a:latin typeface="微軟正黑體" panose="020B0604030504040204" pitchFamily="34" charset="-120"/>
                <a:ea typeface="微軟正黑體" panose="020B0604030504040204" pitchFamily="34" charset="-120"/>
              </a:rPr>
              <a:t>A</a:t>
            </a:r>
            <a:r>
              <a:rPr lang="zh-TW" altLang="en-US" dirty="0">
                <a:latin typeface="微軟正黑體" panose="020B0604030504040204" pitchFamily="34" charset="-120"/>
                <a:ea typeface="微軟正黑體" panose="020B0604030504040204" pitchFamily="34" charset="-120"/>
              </a:rPr>
              <a:t>功能」</a:t>
            </a:r>
            <a:endParaRPr lang="en-US" altLang="zh-TW"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p:sp>
        <p:nvSpPr>
          <p:cNvPr id="6" name="矩形 5">
            <a:extLst>
              <a:ext uri="{FF2B5EF4-FFF2-40B4-BE49-F238E27FC236}">
                <a16:creationId xmlns:a16="http://schemas.microsoft.com/office/drawing/2014/main" id="{C0B311D7-06EF-DA41-EE16-8BF21FC28F4C}"/>
              </a:ext>
            </a:extLst>
          </p:cNvPr>
          <p:cNvSpPr/>
          <p:nvPr/>
        </p:nvSpPr>
        <p:spPr>
          <a:xfrm>
            <a:off x="1259632" y="4104117"/>
            <a:ext cx="2232248" cy="2631827"/>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altLang="zh-TW" dirty="0"/>
              <a:t>[</a:t>
            </a:r>
            <a:r>
              <a:rPr lang="zh-TW" altLang="en-US" dirty="0"/>
              <a:t>實施例</a:t>
            </a:r>
            <a:r>
              <a:rPr lang="en-US" altLang="zh-TW" dirty="0"/>
              <a:t>1]</a:t>
            </a:r>
          </a:p>
          <a:p>
            <a:r>
              <a:rPr lang="zh-TW" altLang="en-US" dirty="0"/>
              <a:t>具有</a:t>
            </a:r>
            <a:r>
              <a:rPr lang="en-US" altLang="zh-TW" dirty="0"/>
              <a:t>A</a:t>
            </a:r>
            <a:r>
              <a:rPr lang="zh-TW" altLang="en-US" dirty="0"/>
              <a:t>功能之甲元件</a:t>
            </a:r>
            <a:endParaRPr lang="en-US" altLang="zh-TW" dirty="0"/>
          </a:p>
          <a:p>
            <a:r>
              <a:rPr lang="en-US" altLang="zh-TW" dirty="0"/>
              <a:t>…</a:t>
            </a:r>
          </a:p>
          <a:p>
            <a:r>
              <a:rPr lang="en-US" altLang="zh-TW" dirty="0"/>
              <a:t>[</a:t>
            </a:r>
            <a:r>
              <a:rPr lang="zh-TW" altLang="en-US" dirty="0"/>
              <a:t>實施例</a:t>
            </a:r>
            <a:r>
              <a:rPr lang="en-US" altLang="zh-TW" dirty="0"/>
              <a:t>2]</a:t>
            </a:r>
          </a:p>
          <a:p>
            <a:r>
              <a:rPr lang="zh-TW" altLang="en-US" dirty="0"/>
              <a:t>具有</a:t>
            </a:r>
            <a:r>
              <a:rPr lang="en-US" altLang="zh-TW" dirty="0"/>
              <a:t>A</a:t>
            </a:r>
            <a:r>
              <a:rPr lang="zh-TW" altLang="en-US" dirty="0"/>
              <a:t>功能之乙元件</a:t>
            </a:r>
            <a:endParaRPr lang="en-US" altLang="zh-TW" dirty="0"/>
          </a:p>
          <a:p>
            <a:r>
              <a:rPr lang="en-US" altLang="zh-TW" dirty="0"/>
              <a:t>…</a:t>
            </a:r>
            <a:endParaRPr lang="zh-TW" altLang="en-US" dirty="0"/>
          </a:p>
          <a:p>
            <a:r>
              <a:rPr lang="en-US" altLang="zh-TW" dirty="0"/>
              <a:t>[</a:t>
            </a:r>
            <a:r>
              <a:rPr lang="zh-TW" altLang="en-US" dirty="0"/>
              <a:t>實施例</a:t>
            </a:r>
            <a:r>
              <a:rPr lang="en-US" altLang="zh-TW" dirty="0"/>
              <a:t>3]</a:t>
            </a:r>
          </a:p>
          <a:p>
            <a:r>
              <a:rPr lang="zh-TW" altLang="en-US" dirty="0"/>
              <a:t>具有</a:t>
            </a:r>
            <a:r>
              <a:rPr lang="en-US" altLang="zh-TW" dirty="0"/>
              <a:t>A</a:t>
            </a:r>
            <a:r>
              <a:rPr lang="zh-TW" altLang="en-US" dirty="0"/>
              <a:t>功能之丙元件</a:t>
            </a:r>
            <a:endParaRPr lang="en-US" altLang="zh-TW" dirty="0"/>
          </a:p>
          <a:p>
            <a:r>
              <a:rPr lang="en-US" altLang="zh-TW" dirty="0"/>
              <a:t>…</a:t>
            </a:r>
            <a:endParaRPr lang="zh-TW" altLang="en-US" dirty="0"/>
          </a:p>
          <a:p>
            <a:endParaRPr lang="zh-TW" altLang="en-US" dirty="0"/>
          </a:p>
        </p:txBody>
      </p:sp>
      <p:sp>
        <p:nvSpPr>
          <p:cNvPr id="7" name="矩形: 圓角 6">
            <a:extLst>
              <a:ext uri="{FF2B5EF4-FFF2-40B4-BE49-F238E27FC236}">
                <a16:creationId xmlns:a16="http://schemas.microsoft.com/office/drawing/2014/main" id="{0558382D-53CB-E8C7-5563-4D257067A663}"/>
              </a:ext>
            </a:extLst>
          </p:cNvPr>
          <p:cNvSpPr/>
          <p:nvPr/>
        </p:nvSpPr>
        <p:spPr>
          <a:xfrm>
            <a:off x="1259632" y="3528053"/>
            <a:ext cx="2232248" cy="5760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說明書</a:t>
            </a:r>
          </a:p>
        </p:txBody>
      </p:sp>
      <p:sp>
        <p:nvSpPr>
          <p:cNvPr id="8" name="矩形: 圓角 7">
            <a:extLst>
              <a:ext uri="{FF2B5EF4-FFF2-40B4-BE49-F238E27FC236}">
                <a16:creationId xmlns:a16="http://schemas.microsoft.com/office/drawing/2014/main" id="{F36C89AB-F935-4641-ED2F-ED6421980489}"/>
              </a:ext>
            </a:extLst>
          </p:cNvPr>
          <p:cNvSpPr/>
          <p:nvPr/>
        </p:nvSpPr>
        <p:spPr>
          <a:xfrm>
            <a:off x="6444208" y="3528053"/>
            <a:ext cx="1872208" cy="5760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申請專利範圍</a:t>
            </a:r>
          </a:p>
        </p:txBody>
      </p:sp>
      <p:cxnSp>
        <p:nvCxnSpPr>
          <p:cNvPr id="11" name="直線單箭頭接點 10">
            <a:extLst>
              <a:ext uri="{FF2B5EF4-FFF2-40B4-BE49-F238E27FC236}">
                <a16:creationId xmlns:a16="http://schemas.microsoft.com/office/drawing/2014/main" id="{F2329308-6E7D-9CBE-56D2-5CA6749F74BF}"/>
              </a:ext>
            </a:extLst>
          </p:cNvPr>
          <p:cNvCxnSpPr/>
          <p:nvPr/>
        </p:nvCxnSpPr>
        <p:spPr>
          <a:xfrm flipH="1">
            <a:off x="3491880" y="4437112"/>
            <a:ext cx="2952328" cy="0"/>
          </a:xfrm>
          <a:prstGeom prst="straightConnector1">
            <a:avLst/>
          </a:prstGeom>
          <a:ln w="44450">
            <a:tailEnd type="triangle"/>
          </a:ln>
        </p:spPr>
        <p:style>
          <a:lnRef idx="1">
            <a:schemeClr val="accent2"/>
          </a:lnRef>
          <a:fillRef idx="0">
            <a:schemeClr val="accent2"/>
          </a:fillRef>
          <a:effectRef idx="0">
            <a:schemeClr val="accent2"/>
          </a:effectRef>
          <a:fontRef idx="minor">
            <a:schemeClr val="tx1"/>
          </a:fontRef>
        </p:style>
      </p:cxnSp>
      <p:cxnSp>
        <p:nvCxnSpPr>
          <p:cNvPr id="13" name="直線單箭頭接點 12">
            <a:extLst>
              <a:ext uri="{FF2B5EF4-FFF2-40B4-BE49-F238E27FC236}">
                <a16:creationId xmlns:a16="http://schemas.microsoft.com/office/drawing/2014/main" id="{009C209B-6123-3DA7-E61A-98ABD1FD89A8}"/>
              </a:ext>
            </a:extLst>
          </p:cNvPr>
          <p:cNvCxnSpPr>
            <a:cxnSpLocks/>
          </p:cNvCxnSpPr>
          <p:nvPr/>
        </p:nvCxnSpPr>
        <p:spPr>
          <a:xfrm flipH="1">
            <a:off x="3521539" y="4437008"/>
            <a:ext cx="2850661" cy="828196"/>
          </a:xfrm>
          <a:prstGeom prst="straightConnector1">
            <a:avLst/>
          </a:prstGeom>
          <a:ln w="44450">
            <a:tailEnd type="triangle"/>
          </a:ln>
        </p:spPr>
        <p:style>
          <a:lnRef idx="1">
            <a:schemeClr val="accent2"/>
          </a:lnRef>
          <a:fillRef idx="0">
            <a:schemeClr val="accent2"/>
          </a:fillRef>
          <a:effectRef idx="0">
            <a:schemeClr val="accent2"/>
          </a:effectRef>
          <a:fontRef idx="minor">
            <a:schemeClr val="tx1"/>
          </a:fontRef>
        </p:style>
      </p:cxnSp>
      <p:cxnSp>
        <p:nvCxnSpPr>
          <p:cNvPr id="15" name="直線單箭頭接點 14">
            <a:extLst>
              <a:ext uri="{FF2B5EF4-FFF2-40B4-BE49-F238E27FC236}">
                <a16:creationId xmlns:a16="http://schemas.microsoft.com/office/drawing/2014/main" id="{84D553F4-04AA-86C4-1CD7-BBC4502C16A3}"/>
              </a:ext>
            </a:extLst>
          </p:cNvPr>
          <p:cNvCxnSpPr/>
          <p:nvPr/>
        </p:nvCxnSpPr>
        <p:spPr>
          <a:xfrm flipH="1">
            <a:off x="3563888" y="4437112"/>
            <a:ext cx="2880320" cy="1656184"/>
          </a:xfrm>
          <a:prstGeom prst="straightConnector1">
            <a:avLst/>
          </a:prstGeom>
          <a:ln w="44450">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pPr lvl="1" algn="ctr" rtl="0">
              <a:spcBef>
                <a:spcPct val="0"/>
              </a:spcBef>
            </a:pPr>
            <a:r>
              <a:rPr lang="zh-TW" altLang="en-US" sz="4400" dirty="0">
                <a:latin typeface="微軟正黑體" panose="020B0604030504040204" pitchFamily="34" charset="-120"/>
                <a:ea typeface="微軟正黑體" panose="020B0604030504040204" pitchFamily="34" charset="-120"/>
              </a:rPr>
              <a:t>以用途界定物</a:t>
            </a:r>
          </a:p>
        </p:txBody>
      </p:sp>
      <p:sp>
        <p:nvSpPr>
          <p:cNvPr id="3" name="內容版面配置區 2"/>
          <p:cNvSpPr>
            <a:spLocks noGrp="1"/>
          </p:cNvSpPr>
          <p:nvPr>
            <p:ph idx="1"/>
          </p:nvPr>
        </p:nvSpPr>
        <p:spPr/>
        <p:txBody>
          <a:bodyPr>
            <a:normAutofit fontScale="92500" lnSpcReduction="20000"/>
          </a:bodyPr>
          <a:lstStyle/>
          <a:p>
            <a:r>
              <a:rPr lang="zh-TW" altLang="en-US" dirty="0"/>
              <a:t>於解釋請求項時應當參酌說明書所揭露之內容及申請時之通常知識，考量請求項中的用途特徵是否對所請求保護之物產生影響，即該用途是否隱含請求保護的物具有適用該用途之某種特定結構及</a:t>
            </a:r>
            <a:r>
              <a:rPr lang="en-US" altLang="zh-TW" dirty="0"/>
              <a:t>/</a:t>
            </a:r>
            <a:r>
              <a:rPr lang="zh-TW" altLang="en-US" dirty="0"/>
              <a:t>或組成</a:t>
            </a:r>
            <a:endParaRPr lang="en-US" altLang="zh-TW" dirty="0"/>
          </a:p>
          <a:p>
            <a:pPr lvl="1"/>
            <a:r>
              <a:rPr lang="zh-TW" altLang="en-US" dirty="0"/>
              <a:t>請求項記載為「一種用於熔化鋼鐵之鑄模」，該「用於熔化鋼鐵」之用途對申請標的「鑄模」具有限定作用，為具有高熔點，故具有低熔點的一般塑膠製冰盒，雖然亦屬一種鑄模，但不致於落入前述請求項之範圍</a:t>
            </a:r>
            <a:endParaRPr lang="en-US" altLang="zh-TW" dirty="0"/>
          </a:p>
          <a:p>
            <a:r>
              <a:rPr lang="zh-TW" altLang="en-US" dirty="0"/>
              <a:t>若該用途之界定對所要求保護之物本身並無影響，僅係物之目的或使用方式之描述，對於物是否符合新穎性或進步性之判斷不生作用</a:t>
            </a:r>
            <a:endParaRPr lang="en-US" altLang="zh-TW" dirty="0"/>
          </a:p>
        </p:txBody>
      </p:sp>
      <p:sp>
        <p:nvSpPr>
          <p:cNvPr id="5" name="投影片編號版面配置區 4"/>
          <p:cNvSpPr>
            <a:spLocks noGrp="1"/>
          </p:cNvSpPr>
          <p:nvPr>
            <p:ph type="sldNum" sz="quarter" idx="12"/>
          </p:nvPr>
        </p:nvSpPr>
        <p:spPr>
          <a:xfrm>
            <a:off x="4000496" y="6492875"/>
            <a:ext cx="2133600" cy="365125"/>
          </a:xfrm>
          <a:prstGeom prst="rect">
            <a:avLst/>
          </a:prstGeom>
        </p:spPr>
        <p:txBody>
          <a:bodyPr/>
          <a:lstStyle/>
          <a:p>
            <a:pPr algn="ctr"/>
            <a:fld id="{73DA0BB7-265A-403C-9275-D587AB510EDC}" type="slidenum">
              <a:rPr lang="zh-TW" altLang="en-US" smtClean="0"/>
              <a:pPr algn="ctr"/>
              <a:t>74</a:t>
            </a:fld>
            <a:endParaRPr lang="zh-TW" altLang="en-US" dirty="0"/>
          </a:p>
        </p:txBody>
      </p:sp>
    </p:spTree>
    <p:extLst>
      <p:ext uri="{BB962C8B-B14F-4D97-AF65-F5344CB8AC3E}">
        <p14:creationId xmlns:p14="http://schemas.microsoft.com/office/powerpoint/2010/main" val="37636411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pPr lvl="1" algn="ctr" rtl="0">
              <a:spcBef>
                <a:spcPct val="0"/>
              </a:spcBef>
            </a:pPr>
            <a:r>
              <a:rPr lang="zh-TW" altLang="en-US" sz="4400" dirty="0">
                <a:latin typeface="微軟正黑體" panose="020B0604030504040204" pitchFamily="34" charset="-120"/>
                <a:ea typeface="微軟正黑體" panose="020B0604030504040204" pitchFamily="34" charset="-120"/>
              </a:rPr>
              <a:t>用途請求項</a:t>
            </a:r>
          </a:p>
        </p:txBody>
      </p:sp>
      <p:sp>
        <p:nvSpPr>
          <p:cNvPr id="3" name="內容版面配置區 2"/>
          <p:cNvSpPr>
            <a:spLocks noGrp="1"/>
          </p:cNvSpPr>
          <p:nvPr>
            <p:ph idx="1"/>
          </p:nvPr>
        </p:nvSpPr>
        <p:spPr/>
        <p:txBody>
          <a:bodyPr>
            <a:normAutofit lnSpcReduction="10000"/>
          </a:bodyPr>
          <a:lstStyle/>
          <a:p>
            <a:r>
              <a:rPr lang="zh-TW" altLang="en-US" dirty="0"/>
              <a:t>基於發現物的未知特性而利用該特性於特定用途之發明，得以用途請求項予以保護</a:t>
            </a:r>
            <a:endParaRPr lang="en-US" altLang="zh-TW" dirty="0"/>
          </a:p>
          <a:p>
            <a:r>
              <a:rPr lang="zh-TW" altLang="en-US" dirty="0"/>
              <a:t>無論是已知物或新穎之物，其特性是該物所固有的，故用途請求項的本質不在物本身，而在於物之特性的應用。</a:t>
            </a:r>
            <a:endParaRPr lang="en-US" altLang="zh-TW" dirty="0"/>
          </a:p>
          <a:p>
            <a:r>
              <a:rPr lang="zh-TW" altLang="en-US" dirty="0"/>
              <a:t>用途請求項是一種使用物之方法，屬於方法發明</a:t>
            </a:r>
            <a:endParaRPr lang="en-US" altLang="zh-TW" dirty="0"/>
          </a:p>
          <a:p>
            <a:pPr lvl="1"/>
            <a:r>
              <a:rPr lang="zh-TW" altLang="en-US" dirty="0"/>
              <a:t>請求項記載為「一種化合物</a:t>
            </a:r>
            <a:r>
              <a:rPr lang="en-US" altLang="zh-TW" dirty="0"/>
              <a:t>A</a:t>
            </a:r>
            <a:r>
              <a:rPr lang="zh-TW" altLang="en-US" dirty="0"/>
              <a:t>作為殺蟲之用途」，為用途請求項，視同「使用化合物</a:t>
            </a:r>
            <a:r>
              <a:rPr lang="en-US" altLang="zh-TW" dirty="0"/>
              <a:t>A</a:t>
            </a:r>
            <a:r>
              <a:rPr lang="zh-TW" altLang="en-US" dirty="0"/>
              <a:t>殺蟲之方法」，而不認定為「作為殺蟲劑之化合物</a:t>
            </a:r>
            <a:r>
              <a:rPr lang="en-US" altLang="zh-TW" dirty="0"/>
              <a:t>A</a:t>
            </a:r>
            <a:r>
              <a:rPr lang="zh-TW" altLang="en-US" dirty="0"/>
              <a:t>」（申請標的為物）</a:t>
            </a:r>
            <a:endParaRPr lang="en-US" altLang="zh-TW" dirty="0"/>
          </a:p>
        </p:txBody>
      </p:sp>
      <p:sp>
        <p:nvSpPr>
          <p:cNvPr id="5" name="投影片編號版面配置區 4"/>
          <p:cNvSpPr>
            <a:spLocks noGrp="1"/>
          </p:cNvSpPr>
          <p:nvPr>
            <p:ph type="sldNum" sz="quarter" idx="12"/>
          </p:nvPr>
        </p:nvSpPr>
        <p:spPr>
          <a:xfrm>
            <a:off x="4000496" y="6492875"/>
            <a:ext cx="2133600" cy="365125"/>
          </a:xfrm>
          <a:prstGeom prst="rect">
            <a:avLst/>
          </a:prstGeom>
        </p:spPr>
        <p:txBody>
          <a:bodyPr/>
          <a:lstStyle/>
          <a:p>
            <a:pPr algn="ctr"/>
            <a:fld id="{73DA0BB7-265A-403C-9275-D587AB510EDC}" type="slidenum">
              <a:rPr lang="zh-TW" altLang="en-US" smtClean="0"/>
              <a:pPr algn="ctr"/>
              <a:t>75</a:t>
            </a:fld>
            <a:endParaRPr lang="zh-TW" altLang="en-US" dirty="0"/>
          </a:p>
        </p:txBody>
      </p:sp>
    </p:spTree>
    <p:extLst>
      <p:ext uri="{BB962C8B-B14F-4D97-AF65-F5344CB8AC3E}">
        <p14:creationId xmlns:p14="http://schemas.microsoft.com/office/powerpoint/2010/main" val="18632439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解讀申請專利範圍</a:t>
            </a:r>
          </a:p>
        </p:txBody>
      </p:sp>
      <p:sp>
        <p:nvSpPr>
          <p:cNvPr id="3" name="內容版面配置區 2"/>
          <p:cNvSpPr>
            <a:spLocks noGrp="1"/>
          </p:cNvSpPr>
          <p:nvPr>
            <p:ph idx="1"/>
          </p:nvPr>
        </p:nvSpPr>
        <p:spPr/>
        <p:txBody>
          <a:bodyPr/>
          <a:lstStyle/>
          <a:p>
            <a:r>
              <a:rPr lang="zh-TW" altLang="en-US" dirty="0"/>
              <a:t>解釋與讀入</a:t>
            </a:r>
            <a:endParaRPr lang="en-US" altLang="zh-TW" dirty="0"/>
          </a:p>
          <a:p>
            <a:pPr lvl="1"/>
            <a:r>
              <a:rPr lang="zh-TW" altLang="en-US" dirty="0"/>
              <a:t>解釋請求項時，得參酌說明書，但不得將說明書中之技術特徵不當讀入請求項</a:t>
            </a:r>
            <a:endParaRPr lang="en-US" altLang="zh-TW" dirty="0"/>
          </a:p>
          <a:p>
            <a:pPr lvl="1"/>
            <a:r>
              <a:rPr lang="zh-TW" altLang="en-US" dirty="0"/>
              <a:t>解釋時，所參酌之內部證據或外部證據均只是作為解釋申請專利範圍的輔助資料，不得作為界定申請專利範圍的依據而讀入或限縮申請專利範圍中所載之技術特徵</a:t>
            </a:r>
            <a:endParaRPr lang="en-US" altLang="zh-TW" dirty="0"/>
          </a:p>
          <a:p>
            <a:pPr lvl="1"/>
            <a:r>
              <a:rPr lang="zh-TW" altLang="en-US" dirty="0"/>
              <a:t>新創的或非屬該發明所屬技術領域中具有通常知識者所知悉的技術用語</a:t>
            </a:r>
            <a:endParaRPr lang="en-US" altLang="zh-TW" dirty="0"/>
          </a:p>
        </p:txBody>
      </p:sp>
      <p:sp>
        <p:nvSpPr>
          <p:cNvPr id="5" name="投影片編號版面配置區 4"/>
          <p:cNvSpPr>
            <a:spLocks noGrp="1"/>
          </p:cNvSpPr>
          <p:nvPr>
            <p:ph type="sldNum" sz="quarter" idx="12"/>
          </p:nvPr>
        </p:nvSpPr>
        <p:spPr>
          <a:xfrm>
            <a:off x="3857620" y="6492875"/>
            <a:ext cx="2133600" cy="365125"/>
          </a:xfrm>
          <a:prstGeom prst="rect">
            <a:avLst/>
          </a:prstGeom>
        </p:spPr>
        <p:txBody>
          <a:bodyPr/>
          <a:lstStyle/>
          <a:p>
            <a:pPr algn="ctr"/>
            <a:fld id="{73DA0BB7-265A-403C-9275-D587AB510EDC}" type="slidenum">
              <a:rPr lang="zh-TW" altLang="en-US" smtClean="0"/>
              <a:pPr algn="ctr"/>
              <a:t>76</a:t>
            </a:fld>
            <a:endParaRPr lang="zh-TW"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解釋原則</a:t>
            </a:r>
          </a:p>
        </p:txBody>
      </p:sp>
      <p:sp>
        <p:nvSpPr>
          <p:cNvPr id="3" name="內容版面配置區 2"/>
          <p:cNvSpPr>
            <a:spLocks noGrp="1"/>
          </p:cNvSpPr>
          <p:nvPr>
            <p:ph idx="1"/>
          </p:nvPr>
        </p:nvSpPr>
        <p:spPr/>
        <p:txBody>
          <a:bodyPr>
            <a:normAutofit fontScale="92500"/>
          </a:bodyPr>
          <a:lstStyle/>
          <a:p>
            <a:r>
              <a:rPr lang="zh-TW" altLang="en-US" dirty="0"/>
              <a:t>發明專利權之範圍，以申請專利範圍為準，於解釋申請專利範圍時，並得審酌說明書及圖式</a:t>
            </a:r>
            <a:endParaRPr lang="en-US" altLang="zh-TW" dirty="0"/>
          </a:p>
          <a:p>
            <a:r>
              <a:rPr lang="zh-TW" altLang="en-US" dirty="0"/>
              <a:t>請求項之解釋應以請求項中所載之文字為基礎，並得審酌說明書、圖式及申請時之通常知識</a:t>
            </a:r>
            <a:endParaRPr lang="en-US" altLang="zh-TW" dirty="0"/>
          </a:p>
          <a:p>
            <a:r>
              <a:rPr lang="zh-TW" altLang="en-US" dirty="0"/>
              <a:t>解釋請求項時，原則上應給予在請求項中之用語最廣泛、合理且與說明書一致之解釋</a:t>
            </a:r>
            <a:endParaRPr lang="en-US" altLang="zh-TW" dirty="0"/>
          </a:p>
          <a:p>
            <a:r>
              <a:rPr lang="zh-TW" altLang="en-US" dirty="0"/>
              <a:t>對於請求項中之用語，若說明書中另有明確揭露之定義或說明時，應考量該定義或說明</a:t>
            </a:r>
            <a:endParaRPr lang="en-US" altLang="zh-TW" dirty="0"/>
          </a:p>
          <a:p>
            <a:r>
              <a:rPr lang="zh-TW" altLang="en-US" dirty="0"/>
              <a:t>對於請求項中之記載有疑義而需要解釋時，則應一併考量說明書、圖式及申請時之通常知識</a:t>
            </a:r>
            <a:endParaRPr lang="en-US" altLang="zh-TW" dirty="0"/>
          </a:p>
        </p:txBody>
      </p:sp>
      <p:sp>
        <p:nvSpPr>
          <p:cNvPr id="7" name="投影片編號版面配置區 6"/>
          <p:cNvSpPr>
            <a:spLocks noGrp="1"/>
          </p:cNvSpPr>
          <p:nvPr>
            <p:ph type="sldNum" sz="quarter" idx="12"/>
          </p:nvPr>
        </p:nvSpPr>
        <p:spPr>
          <a:xfrm>
            <a:off x="4143372" y="6492875"/>
            <a:ext cx="2133600" cy="365125"/>
          </a:xfrm>
          <a:prstGeom prst="rect">
            <a:avLst/>
          </a:prstGeom>
        </p:spPr>
        <p:txBody>
          <a:bodyPr/>
          <a:lstStyle/>
          <a:p>
            <a:pPr algn="ctr"/>
            <a:fld id="{73DA0BB7-265A-403C-9275-D587AB510EDC}" type="slidenum">
              <a:rPr lang="zh-TW" altLang="en-US" smtClean="0"/>
              <a:pPr algn="ctr"/>
              <a:t>77</a:t>
            </a:fld>
            <a:endParaRPr lang="zh-TW"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extLst>
              <p:ext uri="{D42A27DB-BD31-4B8C-83A1-F6EECF244321}">
                <p14:modId xmlns:p14="http://schemas.microsoft.com/office/powerpoint/2010/main" val="3368114942"/>
              </p:ext>
            </p:extLst>
          </p:nvPr>
        </p:nvGraphicFramePr>
        <p:xfrm>
          <a:off x="2339752" y="3789040"/>
          <a:ext cx="6408712" cy="2857895"/>
        </p:xfrm>
        <a:graphic>
          <a:graphicData uri="http://schemas.openxmlformats.org/drawingml/2006/table">
            <a:tbl>
              <a:tblPr firstRow="1" firstCol="1" bandRow="1">
                <a:tableStyleId>{5C22544A-7EE6-4342-B048-85BDC9FD1C3A}</a:tableStyleId>
              </a:tblPr>
              <a:tblGrid>
                <a:gridCol w="1564372">
                  <a:extLst>
                    <a:ext uri="{9D8B030D-6E8A-4147-A177-3AD203B41FA5}">
                      <a16:colId xmlns:a16="http://schemas.microsoft.com/office/drawing/2014/main" val="20000"/>
                    </a:ext>
                  </a:extLst>
                </a:gridCol>
                <a:gridCol w="4844340">
                  <a:extLst>
                    <a:ext uri="{9D8B030D-6E8A-4147-A177-3AD203B41FA5}">
                      <a16:colId xmlns:a16="http://schemas.microsoft.com/office/drawing/2014/main" val="20001"/>
                    </a:ext>
                  </a:extLst>
                </a:gridCol>
              </a:tblGrid>
              <a:tr h="566459">
                <a:tc>
                  <a:txBody>
                    <a:bodyPr/>
                    <a:lstStyle/>
                    <a:p>
                      <a:pPr algn="ctr">
                        <a:lnSpc>
                          <a:spcPts val="2200"/>
                        </a:lnSpc>
                        <a:spcBef>
                          <a:spcPts val="360"/>
                        </a:spcBef>
                        <a:spcAft>
                          <a:spcPts val="0"/>
                        </a:spcAft>
                      </a:pPr>
                      <a:r>
                        <a:rPr lang="zh-TW" sz="1600" kern="100" dirty="0">
                          <a:effectLst/>
                          <a:latin typeface="微軟正黑體" panose="020B0604030504040204" pitchFamily="34" charset="-120"/>
                          <a:ea typeface="微軟正黑體" panose="020B0604030504040204" pitchFamily="34" charset="-120"/>
                        </a:rPr>
                        <a:t>請求項技術名詞</a:t>
                      </a:r>
                    </a:p>
                  </a:txBody>
                  <a:tcPr marL="68580" marR="68580" marT="0" marB="0" anchor="ctr"/>
                </a:tc>
                <a:tc>
                  <a:txBody>
                    <a:bodyPr/>
                    <a:lstStyle/>
                    <a:p>
                      <a:pPr algn="ctr">
                        <a:lnSpc>
                          <a:spcPts val="2200"/>
                        </a:lnSpc>
                        <a:spcBef>
                          <a:spcPts val="360"/>
                        </a:spcBef>
                        <a:spcAft>
                          <a:spcPts val="0"/>
                        </a:spcAft>
                      </a:pPr>
                      <a:r>
                        <a:rPr lang="zh-TW" sz="1600" kern="100" dirty="0">
                          <a:effectLst/>
                          <a:latin typeface="微軟正黑體" panose="020B0604030504040204" pitchFamily="34" charset="-120"/>
                          <a:ea typeface="微軟正黑體" panose="020B0604030504040204" pitchFamily="34" charset="-120"/>
                        </a:rPr>
                        <a:t>相當的名詞</a:t>
                      </a:r>
                    </a:p>
                  </a:txBody>
                  <a:tcPr marL="68580" marR="68580" marT="0" marB="0" anchor="ctr"/>
                </a:tc>
                <a:extLst>
                  <a:ext uri="{0D108BD9-81ED-4DB2-BD59-A6C34878D82A}">
                    <a16:rowId xmlns:a16="http://schemas.microsoft.com/office/drawing/2014/main" val="10000"/>
                  </a:ext>
                </a:extLst>
              </a:tr>
              <a:tr h="334929">
                <a:tc>
                  <a:txBody>
                    <a:bodyPr/>
                    <a:lstStyle/>
                    <a:p>
                      <a:pPr algn="ctr">
                        <a:lnSpc>
                          <a:spcPts val="2200"/>
                        </a:lnSpc>
                        <a:spcBef>
                          <a:spcPts val="360"/>
                        </a:spcBef>
                        <a:spcAft>
                          <a:spcPts val="0"/>
                        </a:spcAft>
                      </a:pPr>
                      <a:r>
                        <a:rPr lang="zh-TW" sz="1600" kern="100" dirty="0">
                          <a:effectLst/>
                          <a:latin typeface="微軟正黑體" panose="020B0604030504040204" pitchFamily="34" charset="-120"/>
                          <a:ea typeface="微軟正黑體" panose="020B0604030504040204" pitchFamily="34" charset="-120"/>
                        </a:rPr>
                        <a:t>採集模組</a:t>
                      </a:r>
                    </a:p>
                  </a:txBody>
                  <a:tcPr marL="68580" marR="68580" marT="0" marB="0" anchor="ctr"/>
                </a:tc>
                <a:tc>
                  <a:txBody>
                    <a:bodyPr/>
                    <a:lstStyle/>
                    <a:p>
                      <a:pPr>
                        <a:lnSpc>
                          <a:spcPts val="2200"/>
                        </a:lnSpc>
                        <a:spcBef>
                          <a:spcPts val="360"/>
                        </a:spcBef>
                        <a:spcAft>
                          <a:spcPts val="0"/>
                        </a:spcAft>
                      </a:pPr>
                      <a:r>
                        <a:rPr lang="zh-TW" sz="1600" kern="100" dirty="0">
                          <a:effectLst/>
                          <a:latin typeface="微軟正黑體" panose="020B0604030504040204" pitchFamily="34" charset="-120"/>
                          <a:ea typeface="微軟正黑體" panose="020B0604030504040204" pitchFamily="34" charset="-120"/>
                        </a:rPr>
                        <a:t>問卷</a:t>
                      </a:r>
                    </a:p>
                  </a:txBody>
                  <a:tcPr marL="68580" marR="68580" marT="0" marB="0" anchor="ctr"/>
                </a:tc>
                <a:extLst>
                  <a:ext uri="{0D108BD9-81ED-4DB2-BD59-A6C34878D82A}">
                    <a16:rowId xmlns:a16="http://schemas.microsoft.com/office/drawing/2014/main" val="10001"/>
                  </a:ext>
                </a:extLst>
              </a:tr>
              <a:tr h="360040">
                <a:tc>
                  <a:txBody>
                    <a:bodyPr/>
                    <a:lstStyle/>
                    <a:p>
                      <a:pPr algn="ctr">
                        <a:lnSpc>
                          <a:spcPts val="2200"/>
                        </a:lnSpc>
                        <a:spcBef>
                          <a:spcPts val="360"/>
                        </a:spcBef>
                        <a:spcAft>
                          <a:spcPts val="0"/>
                        </a:spcAft>
                      </a:pPr>
                      <a:r>
                        <a:rPr lang="zh-TW" sz="1600" kern="100">
                          <a:effectLst/>
                          <a:latin typeface="微軟正黑體" panose="020B0604030504040204" pitchFamily="34" charset="-120"/>
                          <a:ea typeface="微軟正黑體" panose="020B0604030504040204" pitchFamily="34" charset="-120"/>
                        </a:rPr>
                        <a:t>採集域</a:t>
                      </a:r>
                    </a:p>
                  </a:txBody>
                  <a:tcPr marL="68580" marR="68580" marT="0" marB="0" anchor="ctr"/>
                </a:tc>
                <a:tc>
                  <a:txBody>
                    <a:bodyPr/>
                    <a:lstStyle/>
                    <a:p>
                      <a:pPr>
                        <a:lnSpc>
                          <a:spcPts val="2200"/>
                        </a:lnSpc>
                        <a:spcBef>
                          <a:spcPts val="360"/>
                        </a:spcBef>
                        <a:spcAft>
                          <a:spcPts val="0"/>
                        </a:spcAft>
                      </a:pPr>
                      <a:r>
                        <a:rPr lang="zh-TW" sz="1600" kern="100" dirty="0">
                          <a:effectLst/>
                          <a:latin typeface="微軟正黑體" panose="020B0604030504040204" pitchFamily="34" charset="-120"/>
                          <a:ea typeface="微軟正黑體" panose="020B0604030504040204" pitchFamily="34" charset="-120"/>
                        </a:rPr>
                        <a:t>問卷的選項：年紀區間、工作類別</a:t>
                      </a:r>
                    </a:p>
                  </a:txBody>
                  <a:tcPr marL="68580" marR="68580" marT="0" marB="0" anchor="ctr"/>
                </a:tc>
                <a:extLst>
                  <a:ext uri="{0D108BD9-81ED-4DB2-BD59-A6C34878D82A}">
                    <a16:rowId xmlns:a16="http://schemas.microsoft.com/office/drawing/2014/main" val="10002"/>
                  </a:ext>
                </a:extLst>
              </a:tr>
              <a:tr h="547850">
                <a:tc>
                  <a:txBody>
                    <a:bodyPr/>
                    <a:lstStyle/>
                    <a:p>
                      <a:pPr algn="ctr">
                        <a:lnSpc>
                          <a:spcPts val="2200"/>
                        </a:lnSpc>
                        <a:spcBef>
                          <a:spcPts val="360"/>
                        </a:spcBef>
                        <a:spcAft>
                          <a:spcPts val="0"/>
                        </a:spcAft>
                      </a:pPr>
                      <a:r>
                        <a:rPr lang="zh-TW" sz="1600" kern="100">
                          <a:effectLst/>
                          <a:latin typeface="微軟正黑體" panose="020B0604030504040204" pitchFamily="34" charset="-120"/>
                          <a:ea typeface="微軟正黑體" panose="020B0604030504040204" pitchFamily="34" charset="-120"/>
                        </a:rPr>
                        <a:t>閾值</a:t>
                      </a:r>
                    </a:p>
                  </a:txBody>
                  <a:tcPr marL="68580" marR="68580" marT="0" marB="0" anchor="ctr"/>
                </a:tc>
                <a:tc>
                  <a:txBody>
                    <a:bodyPr/>
                    <a:lstStyle/>
                    <a:p>
                      <a:pPr>
                        <a:lnSpc>
                          <a:spcPts val="2200"/>
                        </a:lnSpc>
                        <a:spcBef>
                          <a:spcPts val="360"/>
                        </a:spcBef>
                        <a:spcAft>
                          <a:spcPts val="0"/>
                        </a:spcAft>
                      </a:pPr>
                      <a:r>
                        <a:rPr lang="zh-TW" sz="1600" kern="100" dirty="0">
                          <a:effectLst/>
                          <a:latin typeface="微軟正黑體" panose="020B0604030504040204" pitchFamily="34" charset="-120"/>
                          <a:ea typeface="微軟正黑體" panose="020B0604030504040204" pitchFamily="34" charset="-120"/>
                        </a:rPr>
                        <a:t>問卷的選項的配額指標：年齡</a:t>
                      </a:r>
                      <a:r>
                        <a:rPr lang="en-US" sz="1600" kern="100" dirty="0">
                          <a:effectLst/>
                          <a:latin typeface="微軟正黑體" panose="020B0604030504040204" pitchFamily="34" charset="-120"/>
                          <a:ea typeface="微軟正黑體" panose="020B0604030504040204" pitchFamily="34" charset="-120"/>
                        </a:rPr>
                        <a:t>20-30</a:t>
                      </a:r>
                      <a:r>
                        <a:rPr lang="zh-TW" sz="1600" kern="100" dirty="0">
                          <a:effectLst/>
                          <a:latin typeface="微軟正黑體" panose="020B0604030504040204" pitchFamily="34" charset="-120"/>
                          <a:ea typeface="微軟正黑體" panose="020B0604030504040204" pitchFamily="34" charset="-120"/>
                        </a:rPr>
                        <a:t>需回收</a:t>
                      </a:r>
                      <a:r>
                        <a:rPr lang="en-US" sz="1600" kern="100" dirty="0">
                          <a:effectLst/>
                          <a:latin typeface="微軟正黑體" panose="020B0604030504040204" pitchFamily="34" charset="-120"/>
                          <a:ea typeface="微軟正黑體" panose="020B0604030504040204" pitchFamily="34" charset="-120"/>
                        </a:rPr>
                        <a:t>50</a:t>
                      </a:r>
                      <a:r>
                        <a:rPr lang="zh-TW" sz="1600" kern="100" dirty="0">
                          <a:effectLst/>
                          <a:latin typeface="微軟正黑體" panose="020B0604030504040204" pitchFamily="34" charset="-120"/>
                          <a:ea typeface="微軟正黑體" panose="020B0604030504040204" pitchFamily="34" charset="-120"/>
                        </a:rPr>
                        <a:t>份</a:t>
                      </a:r>
                    </a:p>
                  </a:txBody>
                  <a:tcPr marL="68580" marR="68580" marT="0" marB="0" anchor="ctr"/>
                </a:tc>
                <a:extLst>
                  <a:ext uri="{0D108BD9-81ED-4DB2-BD59-A6C34878D82A}">
                    <a16:rowId xmlns:a16="http://schemas.microsoft.com/office/drawing/2014/main" val="10003"/>
                  </a:ext>
                </a:extLst>
              </a:tr>
              <a:tr h="360040">
                <a:tc>
                  <a:txBody>
                    <a:bodyPr/>
                    <a:lstStyle/>
                    <a:p>
                      <a:pPr algn="ctr">
                        <a:lnSpc>
                          <a:spcPts val="2200"/>
                        </a:lnSpc>
                        <a:spcBef>
                          <a:spcPts val="360"/>
                        </a:spcBef>
                        <a:spcAft>
                          <a:spcPts val="0"/>
                        </a:spcAft>
                      </a:pPr>
                      <a:r>
                        <a:rPr lang="zh-TW" sz="1600" kern="100">
                          <a:effectLst/>
                          <a:latin typeface="微軟正黑體" panose="020B0604030504040204" pitchFamily="34" charset="-120"/>
                          <a:ea typeface="微軟正黑體" panose="020B0604030504040204" pitchFamily="34" charset="-120"/>
                        </a:rPr>
                        <a:t>目標對象</a:t>
                      </a:r>
                    </a:p>
                  </a:txBody>
                  <a:tcPr marL="68580" marR="68580" marT="0" marB="0" anchor="ctr"/>
                </a:tc>
                <a:tc>
                  <a:txBody>
                    <a:bodyPr/>
                    <a:lstStyle/>
                    <a:p>
                      <a:pPr>
                        <a:lnSpc>
                          <a:spcPts val="2200"/>
                        </a:lnSpc>
                        <a:spcBef>
                          <a:spcPts val="360"/>
                        </a:spcBef>
                        <a:spcAft>
                          <a:spcPts val="0"/>
                        </a:spcAft>
                      </a:pPr>
                      <a:r>
                        <a:rPr lang="zh-TW" sz="1600" kern="100" dirty="0">
                          <a:effectLst/>
                          <a:latin typeface="微軟正黑體" panose="020B0604030504040204" pitchFamily="34" charset="-120"/>
                          <a:ea typeface="微軟正黑體" panose="020B0604030504040204" pitchFamily="34" charset="-120"/>
                        </a:rPr>
                        <a:t>從事餐飲美食且性別爲女的人群</a:t>
                      </a:r>
                    </a:p>
                  </a:txBody>
                  <a:tcPr marL="68580" marR="68580" marT="0" marB="0" anchor="ctr"/>
                </a:tc>
                <a:extLst>
                  <a:ext uri="{0D108BD9-81ED-4DB2-BD59-A6C34878D82A}">
                    <a16:rowId xmlns:a16="http://schemas.microsoft.com/office/drawing/2014/main" val="10004"/>
                  </a:ext>
                </a:extLst>
              </a:tr>
              <a:tr h="360040">
                <a:tc>
                  <a:txBody>
                    <a:bodyPr/>
                    <a:lstStyle/>
                    <a:p>
                      <a:pPr algn="ctr">
                        <a:lnSpc>
                          <a:spcPts val="2200"/>
                        </a:lnSpc>
                        <a:spcBef>
                          <a:spcPts val="360"/>
                        </a:spcBef>
                        <a:spcAft>
                          <a:spcPts val="0"/>
                        </a:spcAft>
                      </a:pPr>
                      <a:r>
                        <a:rPr lang="zh-TW" sz="1600" kern="100">
                          <a:effectLst/>
                          <a:latin typeface="微軟正黑體" panose="020B0604030504040204" pitchFamily="34" charset="-120"/>
                          <a:ea typeface="微軟正黑體" panose="020B0604030504040204" pitchFamily="34" charset="-120"/>
                        </a:rPr>
                        <a:t>傳播平台發送埠</a:t>
                      </a:r>
                    </a:p>
                  </a:txBody>
                  <a:tcPr marL="68580" marR="68580" marT="0" marB="0" anchor="ctr"/>
                </a:tc>
                <a:tc>
                  <a:txBody>
                    <a:bodyPr/>
                    <a:lstStyle/>
                    <a:p>
                      <a:pPr>
                        <a:lnSpc>
                          <a:spcPts val="2200"/>
                        </a:lnSpc>
                        <a:spcBef>
                          <a:spcPts val="360"/>
                        </a:spcBef>
                        <a:spcAft>
                          <a:spcPts val="0"/>
                        </a:spcAft>
                      </a:pPr>
                      <a:r>
                        <a:rPr lang="zh-TW" sz="1600" kern="100" dirty="0">
                          <a:effectLst/>
                          <a:latin typeface="微軟正黑體" panose="020B0604030504040204" pitchFamily="34" charset="-120"/>
                          <a:ea typeface="微軟正黑體" panose="020B0604030504040204" pitchFamily="34" charset="-120"/>
                        </a:rPr>
                        <a:t>發送問卷的網站</a:t>
                      </a:r>
                    </a:p>
                  </a:txBody>
                  <a:tcPr marL="68580" marR="68580" marT="0" marB="0" anchor="ctr"/>
                </a:tc>
                <a:extLst>
                  <a:ext uri="{0D108BD9-81ED-4DB2-BD59-A6C34878D82A}">
                    <a16:rowId xmlns:a16="http://schemas.microsoft.com/office/drawing/2014/main" val="10005"/>
                  </a:ext>
                </a:extLst>
              </a:tr>
              <a:tr h="328537">
                <a:tc>
                  <a:txBody>
                    <a:bodyPr/>
                    <a:lstStyle/>
                    <a:p>
                      <a:pPr algn="ctr">
                        <a:lnSpc>
                          <a:spcPts val="2200"/>
                        </a:lnSpc>
                        <a:spcBef>
                          <a:spcPts val="360"/>
                        </a:spcBef>
                        <a:spcAft>
                          <a:spcPts val="0"/>
                        </a:spcAft>
                      </a:pPr>
                      <a:r>
                        <a:rPr lang="zh-TW" sz="1600" kern="100">
                          <a:effectLst/>
                          <a:latin typeface="微軟正黑體" panose="020B0604030504040204" pitchFamily="34" charset="-120"/>
                          <a:ea typeface="微軟正黑體" panose="020B0604030504040204" pitchFamily="34" charset="-120"/>
                        </a:rPr>
                        <a:t>反饋數據</a:t>
                      </a:r>
                    </a:p>
                  </a:txBody>
                  <a:tcPr marL="68580" marR="68580" marT="0" marB="0" anchor="ctr"/>
                </a:tc>
                <a:tc>
                  <a:txBody>
                    <a:bodyPr/>
                    <a:lstStyle/>
                    <a:p>
                      <a:pPr>
                        <a:lnSpc>
                          <a:spcPts val="2200"/>
                        </a:lnSpc>
                        <a:spcBef>
                          <a:spcPts val="360"/>
                        </a:spcBef>
                        <a:spcAft>
                          <a:spcPts val="0"/>
                        </a:spcAft>
                      </a:pPr>
                      <a:r>
                        <a:rPr lang="zh-TW" sz="1600" kern="100" dirty="0">
                          <a:effectLst/>
                          <a:latin typeface="微軟正黑體" panose="020B0604030504040204" pitchFamily="34" charset="-120"/>
                          <a:ea typeface="微軟正黑體" panose="020B0604030504040204" pitchFamily="34" charset="-120"/>
                        </a:rPr>
                        <a:t>穿著喜好：公務員的著裝喜好</a:t>
                      </a:r>
                    </a:p>
                  </a:txBody>
                  <a:tcPr marL="68580" marR="68580" marT="0" marB="0" anchor="ctr"/>
                </a:tc>
                <a:extLst>
                  <a:ext uri="{0D108BD9-81ED-4DB2-BD59-A6C34878D82A}">
                    <a16:rowId xmlns:a16="http://schemas.microsoft.com/office/drawing/2014/main" val="10006"/>
                  </a:ext>
                </a:extLst>
              </a:tr>
            </a:tbl>
          </a:graphicData>
        </a:graphic>
      </p:graphicFrame>
      <p:sp>
        <p:nvSpPr>
          <p:cNvPr id="2" name="標題 1">
            <a:extLst>
              <a:ext uri="{FF2B5EF4-FFF2-40B4-BE49-F238E27FC236}">
                <a16:creationId xmlns:a16="http://schemas.microsoft.com/office/drawing/2014/main" id="{14A56739-EDC6-9AE9-16C9-7A231C36908A}"/>
              </a:ext>
            </a:extLst>
          </p:cNvPr>
          <p:cNvSpPr>
            <a:spLocks noGrp="1"/>
          </p:cNvSpPr>
          <p:nvPr>
            <p:ph type="title"/>
          </p:nvPr>
        </p:nvSpPr>
        <p:spPr/>
        <p:txBody>
          <a:bodyPr/>
          <a:lstStyle/>
          <a:p>
            <a:r>
              <a:rPr lang="zh-TW" altLang="en-US" dirty="0"/>
              <a:t>案例三</a:t>
            </a:r>
            <a:r>
              <a:rPr lang="en-US" altLang="zh-TW" dirty="0"/>
              <a:t>-</a:t>
            </a:r>
            <a:r>
              <a:rPr lang="zh-TW" altLang="en-US" dirty="0"/>
              <a:t>一種數據採集方法</a:t>
            </a:r>
          </a:p>
        </p:txBody>
      </p:sp>
      <p:sp>
        <p:nvSpPr>
          <p:cNvPr id="4" name="投影片編號版面配置區 3">
            <a:extLst>
              <a:ext uri="{FF2B5EF4-FFF2-40B4-BE49-F238E27FC236}">
                <a16:creationId xmlns:a16="http://schemas.microsoft.com/office/drawing/2014/main" id="{C5D1A5ED-123E-A909-BFB4-97A3FE0CF3D4}"/>
              </a:ext>
            </a:extLst>
          </p:cNvPr>
          <p:cNvSpPr>
            <a:spLocks noGrp="1"/>
          </p:cNvSpPr>
          <p:nvPr>
            <p:ph type="sldNum" sz="quarter" idx="12"/>
          </p:nvPr>
        </p:nvSpPr>
        <p:spPr/>
        <p:txBody>
          <a:bodyPr/>
          <a:lstStyle/>
          <a:p>
            <a:fld id="{51D2D507-09EA-4C6F-96ED-053C801F8797}" type="slidenum">
              <a:rPr lang="zh-TW" altLang="en-US" smtClean="0"/>
              <a:t>78</a:t>
            </a:fld>
            <a:endParaRPr lang="zh-TW" altLang="en-US"/>
          </a:p>
        </p:txBody>
      </p:sp>
      <p:sp>
        <p:nvSpPr>
          <p:cNvPr id="3" name="矩形 2"/>
          <p:cNvSpPr/>
          <p:nvPr/>
        </p:nvSpPr>
        <p:spPr>
          <a:xfrm>
            <a:off x="291460" y="939812"/>
            <a:ext cx="8601019" cy="2862322"/>
          </a:xfrm>
          <a:prstGeom prst="rect">
            <a:avLst/>
          </a:prstGeom>
        </p:spPr>
        <p:txBody>
          <a:bodyPr wrap="square">
            <a:spAutoFit/>
          </a:bodyPr>
          <a:lstStyle/>
          <a:p>
            <a:pPr algn="just"/>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請求項</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一種數據採集方法，步驟包括：</a:t>
            </a:r>
          </a:p>
          <a:p>
            <a:pPr indent="452438" algn="just"/>
            <a:r>
              <a:rPr lang="zh-TW" altLang="en-US" b="1" u="sng" dirty="0">
                <a:latin typeface="微軟正黑體" panose="020B0604030504040204" pitchFamily="34" charset="-120"/>
                <a:ea typeface="微軟正黑體" panose="020B0604030504040204" pitchFamily="34" charset="-120"/>
              </a:rPr>
              <a:t>採集端</a:t>
            </a:r>
            <a:r>
              <a:rPr lang="zh-TW" altLang="en-US" dirty="0">
                <a:latin typeface="微軟正黑體" panose="020B0604030504040204" pitchFamily="34" charset="-120"/>
                <a:ea typeface="微軟正黑體" panose="020B0604030504040204" pitchFamily="34" charset="-120"/>
              </a:rPr>
              <a:t>爲至少一個數據採集模組中每一個設置至少一個採集域，以及爲所述採集域的採集次數預設閾值；</a:t>
            </a:r>
          </a:p>
          <a:p>
            <a:pPr indent="452438" algn="just"/>
            <a:r>
              <a:rPr lang="zh-TW" altLang="en-US" b="1" u="sng" dirty="0">
                <a:latin typeface="微軟正黑體" panose="020B0604030504040204" pitchFamily="34" charset="-120"/>
                <a:ea typeface="微軟正黑體" panose="020B0604030504040204" pitchFamily="34" charset="-120"/>
              </a:rPr>
              <a:t>分發端</a:t>
            </a:r>
            <a:r>
              <a:rPr lang="zh-TW" altLang="en-US" dirty="0">
                <a:latin typeface="微軟正黑體" panose="020B0604030504040204" pitchFamily="34" charset="-120"/>
                <a:ea typeface="微軟正黑體" panose="020B0604030504040204" pitchFamily="34" charset="-120"/>
              </a:rPr>
              <a:t>通過調用一個或多個傳播平臺的發送埠，基於所述採集域將所述數據採集模組發送給多個目標對象終端；</a:t>
            </a:r>
          </a:p>
          <a:p>
            <a:pPr indent="452438" algn="just"/>
            <a:r>
              <a:rPr lang="zh-TW" altLang="en-US" dirty="0">
                <a:latin typeface="微軟正黑體" panose="020B0604030504040204" pitchFamily="34" charset="-120"/>
                <a:ea typeface="微軟正黑體" panose="020B0604030504040204" pitchFamily="34" charset="-120"/>
              </a:rPr>
              <a:t>所述多個目標對象終端連線接收到所述數據採集模組後連線反饋至少一個數據，並將所述至少一個數據連線返回給所述採集端；以及</a:t>
            </a:r>
          </a:p>
          <a:p>
            <a:pPr indent="452438" algn="just"/>
            <a:r>
              <a:rPr lang="zh-TW" altLang="en-US" dirty="0">
                <a:latin typeface="微軟正黑體" panose="020B0604030504040204" pitchFamily="34" charset="-120"/>
                <a:ea typeface="微軟正黑體" panose="020B0604030504040204" pitchFamily="34" charset="-120"/>
              </a:rPr>
              <a:t>所述採集端基於接收到的所述至少一個數據進行連線分析；</a:t>
            </a:r>
          </a:p>
          <a:p>
            <a:pPr indent="452438" algn="just"/>
            <a:r>
              <a:rPr lang="zh-TW" altLang="en-US" u="sng" dirty="0">
                <a:latin typeface="微軟正黑體" panose="020B0604030504040204" pitchFamily="34" charset="-120"/>
                <a:ea typeface="微軟正黑體" panose="020B0604030504040204" pitchFamily="34" charset="-120"/>
              </a:rPr>
              <a:t>其中所述採集域是一問卷的一選項，以及所述閾值是該問卷的該選項的一回收配額指標</a:t>
            </a:r>
            <a:r>
              <a:rPr lang="zh-TW" altLang="en-US" dirty="0">
                <a:latin typeface="微軟正黑體" panose="020B0604030504040204" pitchFamily="34" charset="-120"/>
                <a:ea typeface="微軟正黑體" panose="020B0604030504040204" pitchFamily="34" charset="-120"/>
              </a:rPr>
              <a:t>。</a:t>
            </a:r>
          </a:p>
        </p:txBody>
      </p:sp>
      <p:sp>
        <p:nvSpPr>
          <p:cNvPr id="6" name="直線圖說文字 1 (無框線) 5"/>
          <p:cNvSpPr/>
          <p:nvPr/>
        </p:nvSpPr>
        <p:spPr>
          <a:xfrm>
            <a:off x="297645" y="4365104"/>
            <a:ext cx="1296144" cy="1872208"/>
          </a:xfrm>
          <a:prstGeom prst="callout1">
            <a:avLst>
              <a:gd name="adj1" fmla="val -457"/>
              <a:gd name="adj2" fmla="val 52703"/>
              <a:gd name="adj3" fmla="val -42803"/>
              <a:gd name="adj4" fmla="val 111481"/>
            </a:avLst>
          </a:prstGeom>
          <a:ln>
            <a:tailEnd type="stealth"/>
          </a:ln>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限縮條件</a:t>
            </a:r>
            <a:endParaRPr lang="en-US" altLang="zh-TW" dirty="0">
              <a:latin typeface="微軟正黑體" panose="020B0604030504040204" pitchFamily="34" charset="-120"/>
              <a:ea typeface="微軟正黑體" panose="020B0604030504040204" pitchFamily="34" charset="-120"/>
            </a:endParaRPr>
          </a:p>
          <a:p>
            <a:pPr algn="ctr"/>
            <a:r>
              <a:rPr lang="en-US" altLang="zh-TW" dirty="0">
                <a:latin typeface="微軟正黑體" panose="020B0604030504040204" pitchFamily="34" charset="-120"/>
                <a:ea typeface="微軟正黑體" panose="020B0604030504040204" pitchFamily="34" charset="-120"/>
              </a:rPr>
              <a:t>OR</a:t>
            </a:r>
          </a:p>
          <a:p>
            <a:pPr algn="ctr"/>
            <a:r>
              <a:rPr lang="zh-TW" altLang="en-US" dirty="0">
                <a:latin typeface="微軟正黑體" panose="020B0604030504040204" pitchFamily="34" charset="-120"/>
                <a:ea typeface="微軟正黑體" panose="020B0604030504040204" pitchFamily="34" charset="-120"/>
              </a:rPr>
              <a:t>解釋</a:t>
            </a:r>
            <a:endParaRPr lang="en-US" altLang="zh-TW" dirty="0">
              <a:latin typeface="微軟正黑體" panose="020B0604030504040204" pitchFamily="34" charset="-120"/>
              <a:ea typeface="微軟正黑體" panose="020B0604030504040204" pitchFamily="34" charset="-120"/>
            </a:endParaRPr>
          </a:p>
          <a:p>
            <a:pPr algn="ct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3317383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type="subTitle" idx="4294967295"/>
          </p:nvPr>
        </p:nvSpPr>
        <p:spPr>
          <a:xfrm>
            <a:off x="2267744" y="3140968"/>
            <a:ext cx="5040560" cy="1008112"/>
          </a:xfrm>
        </p:spPr>
        <p:txBody>
          <a:bodyPr>
            <a:noAutofit/>
          </a:bodyPr>
          <a:lstStyle/>
          <a:p>
            <a:pPr marL="0" indent="0" algn="ctr">
              <a:lnSpc>
                <a:spcPts val="5000"/>
              </a:lnSpc>
              <a:buNone/>
            </a:pPr>
            <a:r>
              <a:rPr lang="zh-TW" altLang="en-US" b="1" dirty="0">
                <a:solidFill>
                  <a:srgbClr val="0070C0"/>
                </a:solidFill>
                <a:latin typeface="微軟正黑體" panose="020B0604030504040204" pitchFamily="34" charset="-120"/>
                <a:ea typeface="微軟正黑體" panose="020B0604030504040204" pitchFamily="34" charset="-120"/>
                <a:cs typeface="Adobe 繁黑體 Std B"/>
              </a:rPr>
              <a:t>感謝，並請指教</a:t>
            </a:r>
            <a:endParaRPr lang="zh-TW" altLang="en-US" dirty="0">
              <a:solidFill>
                <a:srgbClr val="0070C0"/>
              </a:solidFill>
              <a:latin typeface="微軟正黑體" panose="020B0604030504040204" pitchFamily="34" charset="-120"/>
              <a:ea typeface="微軟正黑體" panose="020B0604030504040204" pitchFamily="34" charset="-120"/>
              <a:cs typeface="Adobe 繁黑體 Std B"/>
            </a:endParaRPr>
          </a:p>
        </p:txBody>
      </p:sp>
      <p:sp>
        <p:nvSpPr>
          <p:cNvPr id="2" name="投影片編號版面配置區 1"/>
          <p:cNvSpPr>
            <a:spLocks noGrp="1"/>
          </p:cNvSpPr>
          <p:nvPr>
            <p:ph type="sldNum" sz="quarter" idx="12"/>
          </p:nvPr>
        </p:nvSpPr>
        <p:spPr/>
        <p:txBody>
          <a:bodyPr/>
          <a:lstStyle/>
          <a:p>
            <a:fld id="{51D2D507-09EA-4C6F-96ED-053C801F8797}" type="slidenum">
              <a:rPr lang="zh-TW" altLang="en-US" smtClean="0"/>
              <a:t>79</a:t>
            </a:fld>
            <a:endParaRPr lang="zh-TW" altLang="en-US"/>
          </a:p>
        </p:txBody>
      </p:sp>
      <p:sp>
        <p:nvSpPr>
          <p:cNvPr id="6" name="文字方塊 5">
            <a:extLst>
              <a:ext uri="{FF2B5EF4-FFF2-40B4-BE49-F238E27FC236}">
                <a16:creationId xmlns:a16="http://schemas.microsoft.com/office/drawing/2014/main" id="{4BEA8DA3-2D67-E776-63FB-53442742B3C4}"/>
              </a:ext>
            </a:extLst>
          </p:cNvPr>
          <p:cNvSpPr txBox="1"/>
          <p:nvPr/>
        </p:nvSpPr>
        <p:spPr>
          <a:xfrm>
            <a:off x="1763688" y="4140316"/>
            <a:ext cx="6264696" cy="892552"/>
          </a:xfrm>
          <a:prstGeom prst="rect">
            <a:avLst/>
          </a:prstGeom>
          <a:noFill/>
        </p:spPr>
        <p:txBody>
          <a:bodyPr wrap="square" rtlCol="0">
            <a:spAutoFit/>
          </a:bodyPr>
          <a:lstStyle/>
          <a:p>
            <a:r>
              <a:rPr lang="en-US" altLang="zh-TW" sz="2800" dirty="0"/>
              <a:t>email</a:t>
            </a:r>
            <a:r>
              <a:rPr lang="zh-TW" altLang="en-US" sz="2800" dirty="0">
                <a:latin typeface="微軟正黑體" panose="020B0604030504040204" pitchFamily="34" charset="-120"/>
                <a:ea typeface="微軟正黑體" panose="020B0604030504040204" pitchFamily="34" charset="-120"/>
                <a:cs typeface="Adobe 繁黑體 Std B"/>
                <a:sym typeface="Wingdings" panose="05000000000000000000" pitchFamily="2" charset="2"/>
              </a:rPr>
              <a:t>：</a:t>
            </a:r>
            <a:r>
              <a:rPr lang="en-US" altLang="zh-TW" sz="2800" dirty="0">
                <a:solidFill>
                  <a:prstClr val="black"/>
                </a:solidFill>
              </a:rPr>
              <a:t>ycjen20453@judicial.gov.tw</a:t>
            </a:r>
          </a:p>
          <a:p>
            <a:r>
              <a:rPr lang="en-US" altLang="zh-TW" sz="2400" dirty="0">
                <a:latin typeface="微軟正黑體" panose="020B0604030504040204" pitchFamily="34" charset="-120"/>
                <a:ea typeface="微軟正黑體" panose="020B0604030504040204" pitchFamily="34" charset="-120"/>
                <a:cs typeface="Adobe 繁黑體 Std B"/>
              </a:rPr>
              <a:t>TEL</a:t>
            </a:r>
            <a:r>
              <a:rPr lang="zh-TW" altLang="en-US" sz="2400" dirty="0">
                <a:latin typeface="微軟正黑體" panose="020B0604030504040204" pitchFamily="34" charset="-120"/>
                <a:ea typeface="微軟正黑體" panose="020B0604030504040204" pitchFamily="34" charset="-120"/>
                <a:cs typeface="Adobe 繁黑體 Std B"/>
                <a:sym typeface="Wingdings" panose="05000000000000000000" pitchFamily="2" charset="2"/>
              </a:rPr>
              <a:t>：</a:t>
            </a:r>
            <a:r>
              <a:rPr lang="en-US" altLang="zh-TW" sz="2400" dirty="0">
                <a:latin typeface="微軟正黑體" panose="020B0604030504040204" pitchFamily="34" charset="-120"/>
                <a:ea typeface="微軟正黑體" panose="020B0604030504040204" pitchFamily="34" charset="-120"/>
                <a:cs typeface="Adobe 繁黑體 Std B"/>
                <a:sym typeface="Wingdings" panose="05000000000000000000" pitchFamily="2" charset="2"/>
              </a:rPr>
              <a:t>(</a:t>
            </a:r>
            <a:r>
              <a:rPr lang="en-US" altLang="zh-TW" sz="2400" dirty="0">
                <a:latin typeface="微軟正黑體" panose="020B0604030504040204" pitchFamily="34" charset="-120"/>
                <a:ea typeface="微軟正黑體" panose="020B0604030504040204" pitchFamily="34" charset="-120"/>
                <a:cs typeface="Adobe 繁黑體 Std B"/>
              </a:rPr>
              <a:t>02) 22726696 ext.383</a:t>
            </a:r>
            <a:endParaRPr lang="zh-TW" altLang="en-US" sz="2400" dirty="0">
              <a:latin typeface="微軟正黑體" panose="020B0604030504040204" pitchFamily="34" charset="-120"/>
              <a:ea typeface="微軟正黑體" panose="020B0604030504040204" pitchFamily="34" charset="-120"/>
              <a:cs typeface="Adobe 繁黑體 Std B"/>
            </a:endParaRPr>
          </a:p>
        </p:txBody>
      </p:sp>
    </p:spTree>
    <p:extLst>
      <p:ext uri="{BB962C8B-B14F-4D97-AF65-F5344CB8AC3E}">
        <p14:creationId xmlns:p14="http://schemas.microsoft.com/office/powerpoint/2010/main" val="3783656051"/>
      </p:ext>
    </p:extLst>
  </p:cSld>
  <p:clrMapOvr>
    <a:masterClrMapping/>
  </p:clrMapOvr>
</p:sld>
</file>

<file path=ppt/theme/theme1.xml><?xml version="1.0" encoding="utf-8"?>
<a:theme xmlns:a="http://schemas.openxmlformats.org/drawingml/2006/main" name="1_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佈景主題1" id="{3A1DDD62-4D60-498C-BF1A-121A51BAE175}" vid="{72899AA4-27B7-4F65-B73A-110BD17E31A1}"/>
    </a:ext>
  </a:extLst>
</a:theme>
</file>

<file path=ppt/theme/theme3.xml><?xml version="1.0" encoding="utf-8"?>
<a:theme xmlns:a="http://schemas.openxmlformats.org/drawingml/2006/main" name="1_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佈景主題1" id="{3A1DDD62-4D60-498C-BF1A-121A51BAE175}" vid="{72899AA4-27B7-4F65-B73A-110BD17E31A1}"/>
    </a:ext>
  </a:ext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15722</TotalTime>
  <Words>8564</Words>
  <Application>Microsoft Office PowerPoint</Application>
  <PresentationFormat>如螢幕大小 (4:3)</PresentationFormat>
  <Paragraphs>787</Paragraphs>
  <Slides>79</Slides>
  <Notes>32</Notes>
  <HiddenSlides>0</HiddenSlides>
  <MMClips>0</MMClips>
  <ScaleCrop>false</ScaleCrop>
  <HeadingPairs>
    <vt:vector size="6" baseType="variant">
      <vt:variant>
        <vt:lpstr>使用字型</vt:lpstr>
      </vt:variant>
      <vt:variant>
        <vt:i4>10</vt:i4>
      </vt:variant>
      <vt:variant>
        <vt:lpstr>佈景主題</vt:lpstr>
      </vt:variant>
      <vt:variant>
        <vt:i4>3</vt:i4>
      </vt:variant>
      <vt:variant>
        <vt:lpstr>投影片標題</vt:lpstr>
      </vt:variant>
      <vt:variant>
        <vt:i4>79</vt:i4>
      </vt:variant>
    </vt:vector>
  </HeadingPairs>
  <TitlesOfParts>
    <vt:vector size="92" baseType="lpstr">
      <vt:lpstr>Adobe 繁黑體 Std B</vt:lpstr>
      <vt:lpstr>Noto Sans TC</vt:lpstr>
      <vt:lpstr>微軟正黑體</vt:lpstr>
      <vt:lpstr>標楷體</vt:lpstr>
      <vt:lpstr>Arial</vt:lpstr>
      <vt:lpstr>Calibri</vt:lpstr>
      <vt:lpstr>Corbel</vt:lpstr>
      <vt:lpstr>Open Sans</vt:lpstr>
      <vt:lpstr>Times New Roman</vt:lpstr>
      <vt:lpstr>Wingdings</vt:lpstr>
      <vt:lpstr>1_Office 佈景主題</vt:lpstr>
      <vt:lpstr>佈景主題1</vt:lpstr>
      <vt:lpstr>1_佈景主題1</vt:lpstr>
      <vt:lpstr>專利閱讀</vt:lpstr>
      <vt:lpstr>自行閱讀資料</vt:lpstr>
      <vt:lpstr>大綱</vt:lpstr>
      <vt:lpstr>專利閱讀目的</vt:lpstr>
      <vt:lpstr>專利公報</vt:lpstr>
      <vt:lpstr>專利制度</vt:lpstr>
      <vt:lpstr>發明公開公報</vt:lpstr>
      <vt:lpstr>專利公報</vt:lpstr>
      <vt:lpstr>專利公報</vt:lpstr>
      <vt:lpstr>INID碼</vt:lpstr>
      <vt:lpstr>PowerPoint 簡報</vt:lpstr>
      <vt:lpstr>專利權維護及變動 </vt:lpstr>
      <vt:lpstr>專利公報</vt:lpstr>
      <vt:lpstr>專利分類</vt:lpstr>
      <vt:lpstr>專利分類</vt:lpstr>
      <vt:lpstr>國際專利分類IPC </vt:lpstr>
      <vt:lpstr>國際專利分類IPC</vt:lpstr>
      <vt:lpstr>國際專利分類IPC</vt:lpstr>
      <vt:lpstr>通常知識者</vt:lpstr>
      <vt:lpstr> </vt:lpstr>
      <vt:lpstr> </vt:lpstr>
      <vt:lpstr> </vt:lpstr>
      <vt:lpstr> </vt:lpstr>
      <vt:lpstr>專利說明書及圖式</vt:lpstr>
      <vt:lpstr>PowerPoint 簡報</vt:lpstr>
      <vt:lpstr>專利文件架構</vt:lpstr>
      <vt:lpstr>專利文件</vt:lpstr>
      <vt:lpstr>專利文件</vt:lpstr>
      <vt:lpstr>專利文件</vt:lpstr>
      <vt:lpstr>專利文件</vt:lpstr>
      <vt:lpstr>專利文件</vt:lpstr>
      <vt:lpstr>專利要件</vt:lpstr>
      <vt:lpstr>專利要件</vt:lpstr>
      <vt:lpstr>專利要件</vt:lpstr>
      <vt:lpstr> </vt:lpstr>
      <vt:lpstr>案例一</vt:lpstr>
      <vt:lpstr>案例一</vt:lpstr>
      <vt:lpstr>案例一</vt:lpstr>
      <vt:lpstr>案例一</vt:lpstr>
      <vt:lpstr>案例一</vt:lpstr>
      <vt:lpstr> </vt:lpstr>
      <vt:lpstr>說明書閱讀</vt:lpstr>
      <vt:lpstr>說明書閱讀-可據以實現、支持、必要技術特徵</vt:lpstr>
      <vt:lpstr>必要技術特徵</vt:lpstr>
      <vt:lpstr>說明書閱讀-可據以實現</vt:lpstr>
      <vt:lpstr>說明書閱讀-可據以實現</vt:lpstr>
      <vt:lpstr>說明書閱讀-可據以實現</vt:lpstr>
      <vt:lpstr>說明書閱讀-可據以實現</vt:lpstr>
      <vt:lpstr>說明書閱讀-可據以實現</vt:lpstr>
      <vt:lpstr>說明書閱讀-可據以實現</vt:lpstr>
      <vt:lpstr>說明書閱讀-支持</vt:lpstr>
      <vt:lpstr>說明書閱讀</vt:lpstr>
      <vt:lpstr>說明書閱讀</vt:lpstr>
      <vt:lpstr>說明書閱讀</vt:lpstr>
      <vt:lpstr>案例二-電子裝置及其展示程式執行方法</vt:lpstr>
      <vt:lpstr>案例二-電子裝置及其展示程式執行方法</vt:lpstr>
      <vt:lpstr>案例二-電子裝置及其展示程式執行方法</vt:lpstr>
      <vt:lpstr>解讀申請專利範圍</vt:lpstr>
      <vt:lpstr>解讀申請專利範圍</vt:lpstr>
      <vt:lpstr>解讀申請專利範圍</vt:lpstr>
      <vt:lpstr>解讀申請專利範圍</vt:lpstr>
      <vt:lpstr>申請專利範圍的層次</vt:lpstr>
      <vt:lpstr>解讀申請專利範圍</vt:lpstr>
      <vt:lpstr>單句式</vt:lpstr>
      <vt:lpstr>組合式</vt:lpstr>
      <vt:lpstr>二段式(吉普森式)(細則§20(1))</vt:lpstr>
      <vt:lpstr>擇一形式(馬庫西式)</vt:lpstr>
      <vt:lpstr>解讀申請專利範圍</vt:lpstr>
      <vt:lpstr>以特性界定物</vt:lpstr>
      <vt:lpstr>以製法界定物</vt:lpstr>
      <vt:lpstr>以功能界定物</vt:lpstr>
      <vt:lpstr>手段功能用語</vt:lpstr>
      <vt:lpstr>手段功能用語</vt:lpstr>
      <vt:lpstr>以用途界定物</vt:lpstr>
      <vt:lpstr>用途請求項</vt:lpstr>
      <vt:lpstr>解讀申請專利範圍</vt:lpstr>
      <vt:lpstr>解釋原則</vt:lpstr>
      <vt:lpstr>案例三-一種數據採集方法</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100年度智慧財產局業務座談會 新專利法相關法制修正重點</dc:title>
  <dc:creator>00572</dc:creator>
  <cp:lastModifiedBy>顏俊仁</cp:lastModifiedBy>
  <cp:revision>1644</cp:revision>
  <cp:lastPrinted>2016-06-21T04:14:05Z</cp:lastPrinted>
  <dcterms:created xsi:type="dcterms:W3CDTF">2012-04-26T02:48:05Z</dcterms:created>
  <dcterms:modified xsi:type="dcterms:W3CDTF">2026-09-19T02:36:14Z</dcterms:modified>
</cp:coreProperties>
</file>