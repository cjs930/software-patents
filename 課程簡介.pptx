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56" r:id="rId1"/>
  </p:sldMasterIdLst>
  <p:notesMasterIdLst>
    <p:notesMasterId r:id="rId11"/>
  </p:notesMasterIdLst>
  <p:handoutMasterIdLst>
    <p:handoutMasterId r:id="rId12"/>
  </p:handoutMasterIdLst>
  <p:sldIdLst>
    <p:sldId id="704" r:id="rId2"/>
    <p:sldId id="480" r:id="rId3"/>
    <p:sldId id="703" r:id="rId4"/>
    <p:sldId id="706" r:id="rId5"/>
    <p:sldId id="711" r:id="rId6"/>
    <p:sldId id="709" r:id="rId7"/>
    <p:sldId id="710" r:id="rId8"/>
    <p:sldId id="712" r:id="rId9"/>
    <p:sldId id="684" r:id="rId10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693FF76-3DA0-4C54-B69D-2A34510122B9}">
          <p14:sldIdLst>
            <p14:sldId id="704"/>
            <p14:sldId id="480"/>
            <p14:sldId id="703"/>
            <p14:sldId id="706"/>
            <p14:sldId id="711"/>
            <p14:sldId id="709"/>
            <p14:sldId id="710"/>
            <p14:sldId id="712"/>
          </p14:sldIdLst>
        </p14:section>
        <p14:section name="未命名的章節" id="{7057124F-C2FB-410C-9DAE-0C6B9C7DD835}">
          <p14:sldIdLst>
            <p14:sldId id="6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66FF"/>
    <a:srgbClr val="0000FF"/>
    <a:srgbClr val="3399FF"/>
    <a:srgbClr val="6699FF"/>
    <a:srgbClr val="99CCFF"/>
    <a:srgbClr val="66CC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8" autoAdjust="0"/>
    <p:restoredTop sz="95940" autoAdjust="0"/>
  </p:normalViewPr>
  <p:slideViewPr>
    <p:cSldViewPr>
      <p:cViewPr varScale="1">
        <p:scale>
          <a:sx n="75" d="100"/>
          <a:sy n="75" d="100"/>
        </p:scale>
        <p:origin x="1579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368"/>
    </p:cViewPr>
  </p:sorterViewPr>
  <p:notesViewPr>
    <p:cSldViewPr>
      <p:cViewPr varScale="1">
        <p:scale>
          <a:sx n="80" d="100"/>
          <a:sy n="80" d="100"/>
        </p:scale>
        <p:origin x="-3996" y="-96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A22000-4681-40C7-8E25-D353E8ABFDC3}" type="doc">
      <dgm:prSet loTypeId="urn:microsoft.com/office/officeart/2005/8/layout/arrow2" loCatId="process" qsTypeId="urn:microsoft.com/office/officeart/2005/8/quickstyle/3d1#1" qsCatId="3D" csTypeId="urn:microsoft.com/office/officeart/2005/8/colors/colorful1#2" csCatId="colorful" phldr="1"/>
      <dgm:spPr/>
    </dgm:pt>
    <dgm:pt modelId="{B0526D60-9C9B-46A5-A6E3-BBB73485C5D6}">
      <dgm:prSet phldrT="[文本]" custT="1"/>
      <dgm:spPr/>
      <dgm:t>
        <a:bodyPr/>
        <a:lstStyle/>
        <a:p>
          <a:pPr>
            <a:lnSpc>
              <a:spcPts val="3800"/>
            </a:lnSpc>
            <a:spcAft>
              <a:spcPts val="0"/>
            </a:spcAft>
          </a:pPr>
          <a:r>
            <a: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認識專利</a:t>
          </a:r>
          <a:endParaRPr lang="en-US" alt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lnSpc>
              <a:spcPts val="3800"/>
            </a:lnSpc>
            <a:spcAft>
              <a:spcPts val="0"/>
            </a:spcAft>
          </a:pPr>
          <a:r>
            <a: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看懂專利</a:t>
          </a:r>
          <a:endParaRPr lang="en-US" alt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7DFB8C7-A47C-499C-80C0-754BDF4F0B56}" type="parTrans" cxnId="{756BF2AB-5B6F-4835-8651-60C51AFFEDE5}">
      <dgm:prSet/>
      <dgm:spPr/>
      <dgm:t>
        <a:bodyPr/>
        <a:lstStyle/>
        <a:p>
          <a:endParaRPr lang="zh-CN" altLang="en-US"/>
        </a:p>
      </dgm:t>
    </dgm:pt>
    <dgm:pt modelId="{2DC2144D-0B1D-4043-AFA3-64C0C42B02EF}" type="sibTrans" cxnId="{756BF2AB-5B6F-4835-8651-60C51AFFEDE5}">
      <dgm:prSet/>
      <dgm:spPr/>
      <dgm:t>
        <a:bodyPr/>
        <a:lstStyle/>
        <a:p>
          <a:endParaRPr lang="zh-CN" altLang="en-US"/>
        </a:p>
      </dgm:t>
    </dgm:pt>
    <dgm:pt modelId="{084380AE-B93B-46C6-8A5E-FBFC1BCD6AFD}">
      <dgm:prSet phldrT="[文本]" custT="1"/>
      <dgm:spPr/>
      <dgm:t>
        <a:bodyPr/>
        <a:lstStyle/>
        <a:p>
          <a:pPr>
            <a:lnSpc>
              <a:spcPts val="3800"/>
            </a:lnSpc>
            <a:spcAft>
              <a:spcPts val="0"/>
            </a:spcAft>
          </a:pPr>
          <a:r>
            <a: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軟體專利要件及審查實務</a:t>
          </a:r>
          <a:endParaRPr lang="en-US" alt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lnSpc>
              <a:spcPts val="3800"/>
            </a:lnSpc>
            <a:spcAft>
              <a:spcPts val="0"/>
            </a:spcAft>
          </a:pPr>
          <a:endParaRPr lang="zh-CN" altLang="en-US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6A78E25-FDCF-4ADD-92C1-3BA2165B597D}" type="parTrans" cxnId="{843B75DE-9DB2-478C-8007-8F67F4563B7C}">
      <dgm:prSet/>
      <dgm:spPr/>
      <dgm:t>
        <a:bodyPr/>
        <a:lstStyle/>
        <a:p>
          <a:endParaRPr lang="zh-CN" altLang="en-US"/>
        </a:p>
      </dgm:t>
    </dgm:pt>
    <dgm:pt modelId="{C6E5DD89-D67B-4908-AB95-6D56DAC9D2F5}" type="sibTrans" cxnId="{843B75DE-9DB2-478C-8007-8F67F4563B7C}">
      <dgm:prSet/>
      <dgm:spPr/>
      <dgm:t>
        <a:bodyPr/>
        <a:lstStyle/>
        <a:p>
          <a:endParaRPr lang="zh-CN" altLang="en-US"/>
        </a:p>
      </dgm:t>
    </dgm:pt>
    <dgm:pt modelId="{4ADCAA2B-7BDE-4A13-BF08-2278713D185D}">
      <dgm:prSet phldrT="[文本]" custT="1"/>
      <dgm:spPr/>
      <dgm:t>
        <a:bodyPr/>
        <a:lstStyle/>
        <a:p>
          <a:pPr>
            <a:lnSpc>
              <a:spcPts val="3500"/>
            </a:lnSpc>
            <a:spcAft>
              <a:spcPts val="0"/>
            </a:spcAft>
          </a:pPr>
          <a:r>
            <a: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撰寫軟體專利及申請</a:t>
          </a:r>
          <a:endParaRPr lang="zh-CN" altLang="en-US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ED7F0F0-B40F-4385-9E37-BCB71781E360}" type="parTrans" cxnId="{B6381562-D36B-4E16-8AE7-B314159C7C4C}">
      <dgm:prSet/>
      <dgm:spPr/>
      <dgm:t>
        <a:bodyPr/>
        <a:lstStyle/>
        <a:p>
          <a:endParaRPr lang="zh-CN" altLang="en-US"/>
        </a:p>
      </dgm:t>
    </dgm:pt>
    <dgm:pt modelId="{199A85F9-5680-4076-9980-27AA454FE283}" type="sibTrans" cxnId="{B6381562-D36B-4E16-8AE7-B314159C7C4C}">
      <dgm:prSet/>
      <dgm:spPr/>
      <dgm:t>
        <a:bodyPr/>
        <a:lstStyle/>
        <a:p>
          <a:endParaRPr lang="zh-CN" altLang="en-US"/>
        </a:p>
      </dgm:t>
    </dgm:pt>
    <dgm:pt modelId="{883A80C8-B8DF-4D94-9C6D-54A8365460D4}" type="pres">
      <dgm:prSet presAssocID="{55A22000-4681-40C7-8E25-D353E8ABFDC3}" presName="arrowDiagram" presStyleCnt="0">
        <dgm:presLayoutVars>
          <dgm:chMax val="5"/>
          <dgm:dir/>
          <dgm:resizeHandles val="exact"/>
        </dgm:presLayoutVars>
      </dgm:prSet>
      <dgm:spPr/>
    </dgm:pt>
    <dgm:pt modelId="{85F6C52A-85C9-44AF-BB86-4026024961F5}" type="pres">
      <dgm:prSet presAssocID="{55A22000-4681-40C7-8E25-D353E8ABFDC3}" presName="arrow" presStyleLbl="bgShp" presStyleIdx="0" presStyleCnt="1"/>
      <dgm:spPr/>
    </dgm:pt>
    <dgm:pt modelId="{AF6756CC-42C7-4D50-BF3F-7CC55E55F0C7}" type="pres">
      <dgm:prSet presAssocID="{55A22000-4681-40C7-8E25-D353E8ABFDC3}" presName="arrowDiagram3" presStyleCnt="0"/>
      <dgm:spPr/>
    </dgm:pt>
    <dgm:pt modelId="{64812938-AC4D-4BBE-93AD-6B44E99CA9DC}" type="pres">
      <dgm:prSet presAssocID="{B0526D60-9C9B-46A5-A6E3-BBB73485C5D6}" presName="bullet3a" presStyleLbl="node1" presStyleIdx="0" presStyleCnt="3"/>
      <dgm:spPr/>
    </dgm:pt>
    <dgm:pt modelId="{FA327882-55BC-4C03-B9C6-76035334F7F4}" type="pres">
      <dgm:prSet presAssocID="{B0526D60-9C9B-46A5-A6E3-BBB73485C5D6}" presName="textBox3a" presStyleLbl="revTx" presStyleIdx="0" presStyleCnt="3">
        <dgm:presLayoutVars>
          <dgm:bulletEnabled val="1"/>
        </dgm:presLayoutVars>
      </dgm:prSet>
      <dgm:spPr/>
    </dgm:pt>
    <dgm:pt modelId="{3E2A2290-36BE-4B58-819C-D70E7140EAD7}" type="pres">
      <dgm:prSet presAssocID="{084380AE-B93B-46C6-8A5E-FBFC1BCD6AFD}" presName="bullet3b" presStyleLbl="node1" presStyleIdx="1" presStyleCnt="3"/>
      <dgm:spPr/>
    </dgm:pt>
    <dgm:pt modelId="{9AB51EB8-2C28-4769-BDFE-E375DD00C872}" type="pres">
      <dgm:prSet presAssocID="{084380AE-B93B-46C6-8A5E-FBFC1BCD6AFD}" presName="textBox3b" presStyleLbl="revTx" presStyleIdx="1" presStyleCnt="3" custScaleX="108646">
        <dgm:presLayoutVars>
          <dgm:bulletEnabled val="1"/>
        </dgm:presLayoutVars>
      </dgm:prSet>
      <dgm:spPr/>
    </dgm:pt>
    <dgm:pt modelId="{2A08EA08-D751-4518-B991-6EE6A2A8FC73}" type="pres">
      <dgm:prSet presAssocID="{4ADCAA2B-7BDE-4A13-BF08-2278713D185D}" presName="bullet3c" presStyleLbl="node1" presStyleIdx="2" presStyleCnt="3"/>
      <dgm:spPr/>
    </dgm:pt>
    <dgm:pt modelId="{DD008432-C651-433D-B662-07ADCC0CFEC2}" type="pres">
      <dgm:prSet presAssocID="{4ADCAA2B-7BDE-4A13-BF08-2278713D185D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96F0E000-4793-4B7C-B956-E15E60A97E61}" type="presOf" srcId="{B0526D60-9C9B-46A5-A6E3-BBB73485C5D6}" destId="{FA327882-55BC-4C03-B9C6-76035334F7F4}" srcOrd="0" destOrd="0" presId="urn:microsoft.com/office/officeart/2005/8/layout/arrow2"/>
    <dgm:cxn modelId="{B6381562-D36B-4E16-8AE7-B314159C7C4C}" srcId="{55A22000-4681-40C7-8E25-D353E8ABFDC3}" destId="{4ADCAA2B-7BDE-4A13-BF08-2278713D185D}" srcOrd="2" destOrd="0" parTransId="{1ED7F0F0-B40F-4385-9E37-BCB71781E360}" sibTransId="{199A85F9-5680-4076-9980-27AA454FE283}"/>
    <dgm:cxn modelId="{25B5488C-FEBC-4598-80CA-F0F52D3B9A50}" type="presOf" srcId="{55A22000-4681-40C7-8E25-D353E8ABFDC3}" destId="{883A80C8-B8DF-4D94-9C6D-54A8365460D4}" srcOrd="0" destOrd="0" presId="urn:microsoft.com/office/officeart/2005/8/layout/arrow2"/>
    <dgm:cxn modelId="{756BF2AB-5B6F-4835-8651-60C51AFFEDE5}" srcId="{55A22000-4681-40C7-8E25-D353E8ABFDC3}" destId="{B0526D60-9C9B-46A5-A6E3-BBB73485C5D6}" srcOrd="0" destOrd="0" parTransId="{C7DFB8C7-A47C-499C-80C0-754BDF4F0B56}" sibTransId="{2DC2144D-0B1D-4043-AFA3-64C0C42B02EF}"/>
    <dgm:cxn modelId="{BC4CFDB3-64BA-4D6D-BD48-B6092E5E887F}" type="presOf" srcId="{084380AE-B93B-46C6-8A5E-FBFC1BCD6AFD}" destId="{9AB51EB8-2C28-4769-BDFE-E375DD00C872}" srcOrd="0" destOrd="0" presId="urn:microsoft.com/office/officeart/2005/8/layout/arrow2"/>
    <dgm:cxn modelId="{A68E26C9-86D6-4C57-ABB9-62E465E21CD5}" type="presOf" srcId="{4ADCAA2B-7BDE-4A13-BF08-2278713D185D}" destId="{DD008432-C651-433D-B662-07ADCC0CFEC2}" srcOrd="0" destOrd="0" presId="urn:microsoft.com/office/officeart/2005/8/layout/arrow2"/>
    <dgm:cxn modelId="{843B75DE-9DB2-478C-8007-8F67F4563B7C}" srcId="{55A22000-4681-40C7-8E25-D353E8ABFDC3}" destId="{084380AE-B93B-46C6-8A5E-FBFC1BCD6AFD}" srcOrd="1" destOrd="0" parTransId="{D6A78E25-FDCF-4ADD-92C1-3BA2165B597D}" sibTransId="{C6E5DD89-D67B-4908-AB95-6D56DAC9D2F5}"/>
    <dgm:cxn modelId="{124D34C4-9329-4DCC-A80C-B37E64D60498}" type="presParOf" srcId="{883A80C8-B8DF-4D94-9C6D-54A8365460D4}" destId="{85F6C52A-85C9-44AF-BB86-4026024961F5}" srcOrd="0" destOrd="0" presId="urn:microsoft.com/office/officeart/2005/8/layout/arrow2"/>
    <dgm:cxn modelId="{07BDDC95-08E4-40F7-8708-4FD4B6817E94}" type="presParOf" srcId="{883A80C8-B8DF-4D94-9C6D-54A8365460D4}" destId="{AF6756CC-42C7-4D50-BF3F-7CC55E55F0C7}" srcOrd="1" destOrd="0" presId="urn:microsoft.com/office/officeart/2005/8/layout/arrow2"/>
    <dgm:cxn modelId="{1560A715-0228-45E1-8264-07C09A7BD570}" type="presParOf" srcId="{AF6756CC-42C7-4D50-BF3F-7CC55E55F0C7}" destId="{64812938-AC4D-4BBE-93AD-6B44E99CA9DC}" srcOrd="0" destOrd="0" presId="urn:microsoft.com/office/officeart/2005/8/layout/arrow2"/>
    <dgm:cxn modelId="{199A40D9-4871-4FAC-B0C5-76196089FACE}" type="presParOf" srcId="{AF6756CC-42C7-4D50-BF3F-7CC55E55F0C7}" destId="{FA327882-55BC-4C03-B9C6-76035334F7F4}" srcOrd="1" destOrd="0" presId="urn:microsoft.com/office/officeart/2005/8/layout/arrow2"/>
    <dgm:cxn modelId="{1753B7CE-9E9E-4416-928F-DFC47C72358E}" type="presParOf" srcId="{AF6756CC-42C7-4D50-BF3F-7CC55E55F0C7}" destId="{3E2A2290-36BE-4B58-819C-D70E7140EAD7}" srcOrd="2" destOrd="0" presId="urn:microsoft.com/office/officeart/2005/8/layout/arrow2"/>
    <dgm:cxn modelId="{8E1CB92A-B470-4D2C-9FB7-ABF2C576DAD1}" type="presParOf" srcId="{AF6756CC-42C7-4D50-BF3F-7CC55E55F0C7}" destId="{9AB51EB8-2C28-4769-BDFE-E375DD00C872}" srcOrd="3" destOrd="0" presId="urn:microsoft.com/office/officeart/2005/8/layout/arrow2"/>
    <dgm:cxn modelId="{3C057664-E461-4485-81F6-73C3A68F21BD}" type="presParOf" srcId="{AF6756CC-42C7-4D50-BF3F-7CC55E55F0C7}" destId="{2A08EA08-D751-4518-B991-6EE6A2A8FC73}" srcOrd="4" destOrd="0" presId="urn:microsoft.com/office/officeart/2005/8/layout/arrow2"/>
    <dgm:cxn modelId="{1E141A6B-A7C0-439B-B06E-6C61663BC6A6}" type="presParOf" srcId="{AF6756CC-42C7-4D50-BF3F-7CC55E55F0C7}" destId="{DD008432-C651-433D-B662-07ADCC0CFEC2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6C52A-85C9-44AF-BB86-4026024961F5}">
      <dsp:nvSpPr>
        <dsp:cNvPr id="0" name=""/>
        <dsp:cNvSpPr/>
      </dsp:nvSpPr>
      <dsp:spPr>
        <a:xfrm>
          <a:off x="0" y="103511"/>
          <a:ext cx="7272808" cy="4545505"/>
        </a:xfrm>
        <a:prstGeom prst="swooshArrow">
          <a:avLst>
            <a:gd name="adj1" fmla="val 25000"/>
            <a:gd name="adj2" fmla="val 2500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4812938-AC4D-4BBE-93AD-6B44E99CA9DC}">
      <dsp:nvSpPr>
        <dsp:cNvPr id="0" name=""/>
        <dsp:cNvSpPr/>
      </dsp:nvSpPr>
      <dsp:spPr>
        <a:xfrm>
          <a:off x="923646" y="3240819"/>
          <a:ext cx="189093" cy="18909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27882-55BC-4C03-B9C6-76035334F7F4}">
      <dsp:nvSpPr>
        <dsp:cNvPr id="0" name=""/>
        <dsp:cNvSpPr/>
      </dsp:nvSpPr>
      <dsp:spPr>
        <a:xfrm>
          <a:off x="1018193" y="3335365"/>
          <a:ext cx="1694564" cy="1313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196" tIns="0" rIns="0" bIns="0" numCol="1" spcCol="1270" anchor="t" anchorCtr="0">
          <a:noAutofit/>
        </a:bodyPr>
        <a:lstStyle/>
        <a:p>
          <a:pPr marL="0" lvl="0" indent="0" algn="l" defTabSz="1244600">
            <a:lnSpc>
              <a:spcPts val="38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認識專利</a:t>
          </a:r>
          <a:endParaRPr lang="en-US" alt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l" defTabSz="1244600">
            <a:lnSpc>
              <a:spcPts val="38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看懂專利</a:t>
          </a:r>
          <a:endParaRPr lang="en-US" alt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018193" y="3335365"/>
        <a:ext cx="1694564" cy="1313650"/>
      </dsp:txXfrm>
    </dsp:sp>
    <dsp:sp modelId="{3E2A2290-36BE-4B58-819C-D70E7140EAD7}">
      <dsp:nvSpPr>
        <dsp:cNvPr id="0" name=""/>
        <dsp:cNvSpPr/>
      </dsp:nvSpPr>
      <dsp:spPr>
        <a:xfrm>
          <a:off x="2592756" y="2005350"/>
          <a:ext cx="341821" cy="34182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B51EB8-2C28-4769-BDFE-E375DD00C872}">
      <dsp:nvSpPr>
        <dsp:cNvPr id="0" name=""/>
        <dsp:cNvSpPr/>
      </dsp:nvSpPr>
      <dsp:spPr>
        <a:xfrm>
          <a:off x="2688210" y="2176261"/>
          <a:ext cx="1896387" cy="2472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124" tIns="0" rIns="0" bIns="0" numCol="1" spcCol="1270" anchor="t" anchorCtr="0">
          <a:noAutofit/>
        </a:bodyPr>
        <a:lstStyle/>
        <a:p>
          <a:pPr marL="0" lvl="0" indent="0" algn="l" defTabSz="1244600">
            <a:lnSpc>
              <a:spcPts val="38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軟體專利要件及審查實務</a:t>
          </a:r>
          <a:endParaRPr lang="en-US" alt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l" defTabSz="1244600">
            <a:lnSpc>
              <a:spcPts val="38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688210" y="2176261"/>
        <a:ext cx="1896387" cy="2472754"/>
      </dsp:txXfrm>
    </dsp:sp>
    <dsp:sp modelId="{2A08EA08-D751-4518-B991-6EE6A2A8FC73}">
      <dsp:nvSpPr>
        <dsp:cNvPr id="0" name=""/>
        <dsp:cNvSpPr/>
      </dsp:nvSpPr>
      <dsp:spPr>
        <a:xfrm>
          <a:off x="4600051" y="1253524"/>
          <a:ext cx="472732" cy="47273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008432-C651-433D-B662-07ADCC0CFEC2}">
      <dsp:nvSpPr>
        <dsp:cNvPr id="0" name=""/>
        <dsp:cNvSpPr/>
      </dsp:nvSpPr>
      <dsp:spPr>
        <a:xfrm>
          <a:off x="4836417" y="1489890"/>
          <a:ext cx="1745473" cy="3159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91" tIns="0" rIns="0" bIns="0" numCol="1" spcCol="1270" anchor="t" anchorCtr="0">
          <a:noAutofit/>
        </a:bodyPr>
        <a:lstStyle/>
        <a:p>
          <a:pPr marL="0" lvl="0" indent="0" algn="l" defTabSz="1244600">
            <a:lnSpc>
              <a:spcPts val="35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撰寫軟體專利及申請</a:t>
          </a:r>
          <a:endParaRPr lang="zh-CN" altLang="en-US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836417" y="1489890"/>
        <a:ext cx="1745473" cy="3159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A9855-3F96-4576-AAE2-F318826004DF}" type="datetimeFigureOut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2D098-3D61-4D79-B034-817F8A064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613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786" cy="496967"/>
          </a:xfrm>
          <a:prstGeom prst="rect">
            <a:avLst/>
          </a:prstGeom>
        </p:spPr>
        <p:txBody>
          <a:bodyPr vert="horz" lIns="91532" tIns="45765" rIns="91532" bIns="4576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2"/>
            <a:ext cx="2949786" cy="496967"/>
          </a:xfrm>
          <a:prstGeom prst="rect">
            <a:avLst/>
          </a:prstGeom>
        </p:spPr>
        <p:txBody>
          <a:bodyPr vert="horz" lIns="91532" tIns="45765" rIns="91532" bIns="45765" rtlCol="0"/>
          <a:lstStyle>
            <a:lvl1pPr algn="r">
              <a:defRPr sz="1200"/>
            </a:lvl1pPr>
          </a:lstStyle>
          <a:p>
            <a:fld id="{B38FD96E-D0D4-4DF9-AEB8-F08767C1DA62}" type="datetimeFigureOut">
              <a:rPr lang="zh-TW" altLang="en-US" smtClean="0"/>
              <a:pPr/>
              <a:t>2026/9/5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887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32" tIns="45765" rIns="91532" bIns="45765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32" tIns="45765" rIns="91532" bIns="45765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3" y="9440649"/>
            <a:ext cx="2949786" cy="496967"/>
          </a:xfrm>
          <a:prstGeom prst="rect">
            <a:avLst/>
          </a:prstGeom>
        </p:spPr>
        <p:txBody>
          <a:bodyPr vert="horz" lIns="91532" tIns="45765" rIns="91532" bIns="4576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9"/>
            <a:ext cx="2949786" cy="496967"/>
          </a:xfrm>
          <a:prstGeom prst="rect">
            <a:avLst/>
          </a:prstGeom>
        </p:spPr>
        <p:txBody>
          <a:bodyPr vert="horz" lIns="91532" tIns="45765" rIns="91532" bIns="45765" rtlCol="0" anchor="b"/>
          <a:lstStyle>
            <a:lvl1pPr algn="r">
              <a:defRPr sz="1200"/>
            </a:lvl1pPr>
          </a:lstStyle>
          <a:p>
            <a:fld id="{E6E6162F-E6B6-4E89-9406-F1B14BCAC84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1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6162F-E6B6-4E89-9406-F1B14BCAC847}" type="slidenum">
              <a:rPr lang="zh-TW" altLang="en-US" smtClean="0">
                <a:solidFill>
                  <a:prstClr val="black"/>
                </a:solidFill>
              </a:rPr>
              <a:pPr/>
              <a:t>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09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1E1F03-3838-4E69-B509-EAFFFDD074E7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691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1E1F03-3838-4E69-B509-EAFFFDD074E7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69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FD4C76-6549-4A04-AF33-74F6F7A9492D}" type="slidenum">
              <a:rPr lang="zh-TW" altLang="en-US" smtClean="0">
                <a:solidFill>
                  <a:prstClr val="black"/>
                </a:solidFill>
              </a:rPr>
              <a:pPr/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90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23156" y="1715541"/>
            <a:ext cx="7772400" cy="176102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717032"/>
            <a:ext cx="6400800" cy="1176536"/>
          </a:xfrm>
        </p:spPr>
        <p:txBody>
          <a:bodyPr/>
          <a:lstStyle>
            <a:lvl1pPr marL="0" indent="0" algn="ctr">
              <a:buNone/>
              <a:defRPr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1640" y="4462180"/>
            <a:ext cx="6836421" cy="6085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835697" y="4614580"/>
            <a:ext cx="6836421" cy="60853"/>
          </a:xfrm>
          <a:prstGeom prst="rect">
            <a:avLst/>
          </a:prstGeom>
        </p:spPr>
      </p:pic>
      <p:pic>
        <p:nvPicPr>
          <p:cNvPr id="6" name="圖片 5" descr="一張含有 燈泡 的圖片&#10;&#10;AI 產生的內容可能不正確。">
            <a:extLst>
              <a:ext uri="{FF2B5EF4-FFF2-40B4-BE49-F238E27FC236}">
                <a16:creationId xmlns:a16="http://schemas.microsoft.com/office/drawing/2014/main" id="{95745729-B72A-8FEF-792C-146789B7B2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050" y="648950"/>
            <a:ext cx="3958059" cy="406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85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42D8-9C80-47F7-991A-AE2212DADCA5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50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B04D-3439-4155-A703-E234727B63F5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53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2954"/>
            <a:ext cx="8229600" cy="76175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6385-44E4-4C40-81A0-E5CA0A057240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2954"/>
            <a:ext cx="8229600" cy="76175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6385-44E4-4C40-81A0-E5CA0A057240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3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9A50-0BC0-438D-A316-B9E866D145E2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42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2EFE-9673-4B8D-8AAB-FFE12DB95A02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36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7C1D-2BAD-47FF-8692-8390F4A32171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96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30CC-13BF-4556-B1CC-E41F47AA4FDE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81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52D3-C2E9-4EF2-BBD8-579438826593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09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6D3-B797-47F4-8EC2-0E56D2529CFD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92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FDBD-9D1D-4D8B-9FE7-57ED3383D391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528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103C8-556C-4CF7-B50B-277ADBFCA120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766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C106-07EF-4E7F-90CC-4204CDD1BCD8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352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31F2-BDED-4AEB-AE33-006F9ECCA2C8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2D507-09EA-4C6F-96ED-053C801F8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10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3" y="1"/>
            <a:ext cx="9140677" cy="764703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</a:lstStyle>
          <a:p>
            <a:fld id="{10354FD9-B00D-48FF-85D9-3561B9EC258A}" type="datetime1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</a:lstStyle>
          <a:p>
            <a:fld id="{51D2D507-09EA-4C6F-96ED-053C801F87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 descr="一張含有 燈泡 的圖片&#10;&#10;AI 產生的內容可能不正確。">
            <a:extLst>
              <a:ext uri="{FF2B5EF4-FFF2-40B4-BE49-F238E27FC236}">
                <a16:creationId xmlns:a16="http://schemas.microsoft.com/office/drawing/2014/main" id="{964116FB-86BB-9EDE-0671-C50A7DC09B5A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2"/>
            <a:ext cx="763736" cy="7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9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822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821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6699FF"/>
          </a:solidFill>
          <a:latin typeface="Adobe 繁黑體 Std B"/>
          <a:ea typeface="Adobe 繁黑體 Std B"/>
          <a:cs typeface="Adobe 繁黑體 Std B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6699FF"/>
          </a:solidFill>
          <a:latin typeface="Adobe 繁黑體 Std B"/>
          <a:ea typeface="Adobe 繁黑體 Std B"/>
          <a:cs typeface="Adobe 繁黑體 Std B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6699FF"/>
          </a:solidFill>
          <a:latin typeface="Adobe 繁黑體 Std B"/>
          <a:ea typeface="Adobe 繁黑體 Std B"/>
          <a:cs typeface="Adobe 繁黑體 Std B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6699FF"/>
          </a:solidFill>
          <a:latin typeface="Adobe 繁黑體 Std B"/>
          <a:ea typeface="Adobe 繁黑體 Std B"/>
          <a:cs typeface="Adobe 繁黑體 Std B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6699FF"/>
          </a:solidFill>
          <a:latin typeface="Adobe 繁黑體 Std B"/>
          <a:ea typeface="Adobe 繁黑體 Std B"/>
          <a:cs typeface="Adobe 繁黑體 Std B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mailto:ycjen20453@judicial.gov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419872" y="2905200"/>
            <a:ext cx="5328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1F497D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</a:rPr>
              <a:t>課程簡介</a:t>
            </a:r>
            <a:endParaRPr lang="en-US" altLang="zh-TW" sz="4800" b="1" dirty="0">
              <a:solidFill>
                <a:srgbClr val="1F497D">
                  <a:lumMod val="75000"/>
                </a:srgb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副標題 3"/>
          <p:cNvSpPr>
            <a:spLocks noGrp="1"/>
          </p:cNvSpPr>
          <p:nvPr>
            <p:ph type="subTitle" idx="1"/>
          </p:nvPr>
        </p:nvSpPr>
        <p:spPr>
          <a:xfrm>
            <a:off x="4575446" y="6308361"/>
            <a:ext cx="2310333" cy="404664"/>
          </a:xfrm>
        </p:spPr>
        <p:txBody>
          <a:bodyPr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zh-TW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115</a:t>
            </a:r>
            <a:r>
              <a:rPr lang="zh-TW" altLang="en-US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</a:p>
        </p:txBody>
      </p:sp>
      <p:sp>
        <p:nvSpPr>
          <p:cNvPr id="10" name="副標題 2"/>
          <p:cNvSpPr txBox="1">
            <a:spLocks/>
          </p:cNvSpPr>
          <p:nvPr/>
        </p:nvSpPr>
        <p:spPr>
          <a:xfrm>
            <a:off x="4067944" y="4727401"/>
            <a:ext cx="3325339" cy="7920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rgbClr val="6699FF"/>
                </a:solidFill>
                <a:latin typeface="Adobe 繁黑體 Std B"/>
                <a:ea typeface="Adobe 繁黑體 Std B"/>
                <a:cs typeface="Adobe 繁黑體 Std B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dobe 繁黑體 Std B"/>
                <a:ea typeface="Adobe 繁黑體 Std B"/>
                <a:cs typeface="Adobe 繁黑體 Std B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dobe 繁黑體 Std B"/>
                <a:ea typeface="Adobe 繁黑體 Std B"/>
                <a:cs typeface="Adobe 繁黑體 Std B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dobe 繁黑體 Std B"/>
                <a:ea typeface="Adobe 繁黑體 Std B"/>
                <a:cs typeface="Adobe 繁黑體 Std B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dobe 繁黑體 Std B"/>
                <a:ea typeface="Adobe 繁黑體 Std B"/>
                <a:cs typeface="Adobe 繁黑體 Std B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  <a:defRPr/>
            </a:pPr>
            <a:r>
              <a:rPr lang="zh-TW" altLang="en-US" sz="22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智慧財產及商業法院</a:t>
            </a:r>
          </a:p>
          <a:p>
            <a:pPr>
              <a:defRPr/>
            </a:pPr>
            <a:r>
              <a:rPr lang="zh-TW" altLang="en-US" sz="2200" dirty="0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rPr>
              <a:t>顏俊仁</a:t>
            </a:r>
          </a:p>
        </p:txBody>
      </p:sp>
    </p:spTree>
    <p:extLst>
      <p:ext uri="{BB962C8B-B14F-4D97-AF65-F5344CB8AC3E}">
        <p14:creationId xmlns:p14="http://schemas.microsoft.com/office/powerpoint/2010/main" val="145594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課程目標 </a:t>
            </a:r>
          </a:p>
        </p:txBody>
      </p:sp>
      <p:graphicFrame>
        <p:nvGraphicFramePr>
          <p:cNvPr id="8" name="图示 4">
            <a:extLst>
              <a:ext uri="{FF2B5EF4-FFF2-40B4-BE49-F238E27FC236}">
                <a16:creationId xmlns:a16="http://schemas.microsoft.com/office/drawing/2014/main" id="{0B07687A-0B62-B289-5EEE-F6B386385C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676315"/>
              </p:ext>
            </p:extLst>
          </p:nvPr>
        </p:nvGraphicFramePr>
        <p:xfrm>
          <a:off x="1331640" y="1772816"/>
          <a:ext cx="727280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2B9770A0-0D44-3FC9-88EF-7BFE983C9F90}"/>
              </a:ext>
            </a:extLst>
          </p:cNvPr>
          <p:cNvSpPr txBox="1"/>
          <p:nvPr/>
        </p:nvSpPr>
        <p:spPr>
          <a:xfrm>
            <a:off x="323528" y="979119"/>
            <a:ext cx="504056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完成一篇簡要、完整專利文件為前提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，從創意發想、進一步具備專利基本知識、審查要件、檢索技能、撰寫專利文件技巧，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到完成一篇專利文件作為驗證自己所學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938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課程大綱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C3D3289-E422-198A-044D-A162C383D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32908"/>
              </p:ext>
            </p:extLst>
          </p:nvPr>
        </p:nvGraphicFramePr>
        <p:xfrm>
          <a:off x="899592" y="908720"/>
          <a:ext cx="7488832" cy="5688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139">
                  <a:extLst>
                    <a:ext uri="{9D8B030D-6E8A-4147-A177-3AD203B41FA5}">
                      <a16:colId xmlns:a16="http://schemas.microsoft.com/office/drawing/2014/main" val="271123377"/>
                    </a:ext>
                  </a:extLst>
                </a:gridCol>
                <a:gridCol w="4243672">
                  <a:extLst>
                    <a:ext uri="{9D8B030D-6E8A-4147-A177-3AD203B41FA5}">
                      <a16:colId xmlns:a16="http://schemas.microsoft.com/office/drawing/2014/main" val="3280078275"/>
                    </a:ext>
                  </a:extLst>
                </a:gridCol>
                <a:gridCol w="1997021">
                  <a:extLst>
                    <a:ext uri="{9D8B030D-6E8A-4147-A177-3AD203B41FA5}">
                      <a16:colId xmlns:a16="http://schemas.microsoft.com/office/drawing/2014/main" val="88816265"/>
                    </a:ext>
                  </a:extLst>
                </a:gridCol>
              </a:tblGrid>
              <a:tr h="352829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週數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單元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上課日期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3574729391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軟體專利概說、專利概論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)-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認識專利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9/12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337033539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專利概論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)-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專利文件閱讀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9/19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422439125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中秋節連假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9/26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377003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專利概論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)-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專利要件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10/3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1318035176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國慶日連假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10/10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61963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軟體專利簡介及標的適格性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10/17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78304438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軟體專利檢索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10/24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3274858139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軟體專利要件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10/31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2155096614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軟體專利要件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	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11/7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875398481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軟體專利撰寫理論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11/14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142799672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從創新到專利：軟體專利撰寫實作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11/21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2929371313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從創新到專利：軟體專利撰寫實作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11/28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1570592137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軟體專利寫作指導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12/5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4232615740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期末口頭報告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(I)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12/12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1204773125"/>
                  </a:ext>
                </a:extLst>
              </a:tr>
              <a:tr h="35572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  <a:buNone/>
                      </a:pPr>
                      <a:r>
                        <a:rPr lang="zh-TW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期末口頭報告</a:t>
                      </a:r>
                      <a:r>
                        <a:rPr lang="en-US" sz="1600" kern="1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(II)</a:t>
                      </a:r>
                      <a:endParaRPr lang="zh-TW" sz="16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12/19</a:t>
                      </a:r>
                      <a:endParaRPr lang="zh-TW" sz="16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71337" marR="71337" marT="35669" marB="35669"/>
                </a:tc>
                <a:extLst>
                  <a:ext uri="{0D108BD9-81ED-4DB2-BD59-A6C34878D82A}">
                    <a16:rowId xmlns:a16="http://schemas.microsoft.com/office/drawing/2014/main" val="283246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8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期中作業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AA06F-E62F-95A9-B710-C966953BE702}"/>
              </a:ext>
            </a:extLst>
          </p:cNvPr>
          <p:cNvSpPr txBox="1"/>
          <p:nvPr/>
        </p:nvSpPr>
        <p:spPr>
          <a:xfrm>
            <a:off x="107504" y="908720"/>
            <a:ext cx="8928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TW" altLang="zh-TW" sz="18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軟體專利期中作業</a:t>
            </a:r>
            <a:endParaRPr lang="zh-TW" altLang="zh-TW" sz="1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zh-TW" altLang="zh-TW" sz="1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題目：第</a:t>
            </a:r>
            <a:r>
              <a:rPr lang="en-US" altLang="zh-TW" sz="1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111143811</a:t>
            </a:r>
            <a:r>
              <a:rPr lang="zh-TW" altLang="zh-TW" sz="1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號「多通路上架商品之自動配量系統及其配量推薦方法」</a:t>
            </a:r>
            <a:endParaRPr lang="zh-TW" altLang="zh-TW" sz="1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姓名：</a:t>
            </a: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系級：</a:t>
            </a: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學號：</a:t>
            </a: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專利案基本資料：</a:t>
            </a: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申請日：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  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 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公開日：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 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公告日：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endParaRPr lang="zh-TW" altLang="zh-TW" sz="1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申請號：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            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公開號：</a:t>
            </a:r>
            <a:r>
              <a:rPr lang="zh-TW" altLang="en-US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          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公告號：</a:t>
            </a:r>
          </a:p>
          <a:p>
            <a:pPr>
              <a:buNone/>
            </a:pP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申請人：</a:t>
            </a:r>
            <a:endParaRPr lang="en-US" altLang="zh-TW" sz="1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635B28-7EAB-F298-0D48-0B63A8612EA5}"/>
              </a:ext>
            </a:extLst>
          </p:cNvPr>
          <p:cNvSpPr txBox="1"/>
          <p:nvPr/>
        </p:nvSpPr>
        <p:spPr>
          <a:xfrm>
            <a:off x="132589" y="3593805"/>
            <a:ext cx="4572000" cy="318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 本案欲解決的問題</a:t>
            </a: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１、先前技術概要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２、先前技術缺失</a:t>
            </a: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３、本案要解決的問題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二、解決問題的技術手段</a:t>
            </a: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１、核心技術手段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特別技術特徵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54238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一般技術特徵</a:t>
            </a:r>
          </a:p>
          <a:p>
            <a:pPr marL="355600">
              <a:lnSpc>
                <a:spcPts val="22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２、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附加技術特徵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三、達成之功效</a:t>
            </a: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１、有別於先前技術之功效</a:t>
            </a:r>
          </a:p>
          <a:p>
            <a:pPr marL="355600">
              <a:lnSpc>
                <a:spcPts val="2200"/>
              </a:lnSpc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２、有利功效或無法預期之功效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AD0C5C6-39A0-06A2-5583-217D78B5C4A8}"/>
              </a:ext>
            </a:extLst>
          </p:cNvPr>
          <p:cNvSpPr txBox="1"/>
          <p:nvPr/>
        </p:nvSpPr>
        <p:spPr>
          <a:xfrm>
            <a:off x="4572000" y="3608618"/>
            <a:ext cx="4267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四、心得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１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、本案技術無法解決問題</a:t>
            </a:r>
          </a:p>
          <a:p>
            <a:pPr lvl="1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２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、本案之技術上有可改良部分</a:t>
            </a:r>
          </a:p>
          <a:p>
            <a:pPr marL="893763" lvl="1" indent="-436563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３</a:t>
            </a: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、本案之技術內容揭露未明確且充分，無法據以實現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endPara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3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68F4-2D17-2B5C-C115-9680DC00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6B43A9-8EB7-EB65-71D4-7CA3440F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期末報告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C760BC-2805-F043-8570-4DB492B3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A096FBE-C941-B835-F7AA-46F72526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876582"/>
            <a:ext cx="3990569" cy="594928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346AC44-9733-C67F-2CFA-04A45DDE249A}"/>
              </a:ext>
            </a:extLst>
          </p:cNvPr>
          <p:cNvSpPr txBox="1"/>
          <p:nvPr/>
        </p:nvSpPr>
        <p:spPr>
          <a:xfrm>
            <a:off x="360040" y="1566084"/>
            <a:ext cx="4536504" cy="47600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主題：以資訊、通訊、日用品為主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報告內容：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發明名稱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發明想法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最接近先前技術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經檢索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普遍的經驗得知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先前技術缺失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本發明技術手段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解決問題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發明目的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請求項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至少包括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項獨立項、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項附屬項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實施方式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10664E-182A-B186-D047-37014E40FC98}"/>
              </a:ext>
            </a:extLst>
          </p:cNvPr>
          <p:cNvSpPr txBox="1"/>
          <p:nvPr/>
        </p:nvSpPr>
        <p:spPr>
          <a:xfrm>
            <a:off x="221391" y="980728"/>
            <a:ext cx="45365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撰寫一篇專利文件及口頭報告，題目自訂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635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課程進行方式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C71CFB-6A38-716D-C7E4-04AFF7178C61}"/>
              </a:ext>
            </a:extLst>
          </p:cNvPr>
          <p:cNvSpPr txBox="1"/>
          <p:nvPr/>
        </p:nvSpPr>
        <p:spPr>
          <a:xfrm>
            <a:off x="341193" y="980728"/>
            <a:ext cx="8532440" cy="53641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自製投影片搭配自我預習、複習內容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講說、提問、回答、分組討論、案例研討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課程中的自由回饋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以期末報告為目標的中間結果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檢索心得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學習心得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基於先前技術的技術創新心得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個人期中報告、期末報告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039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計分方式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14017"/>
              </p:ext>
            </p:extLst>
          </p:nvPr>
        </p:nvGraphicFramePr>
        <p:xfrm>
          <a:off x="1043607" y="1397000"/>
          <a:ext cx="7416825" cy="4785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83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成績項目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佔分比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評分項目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平時成績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30%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人到、耳到、眼到、手到、心到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期中作業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30%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專利文件閱讀心得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40%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書面</a:t>
                      </a: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70%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創意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技術內容完整度及邏輯性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符合專利要件程度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可用性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口頭</a:t>
                      </a: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30%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技術內容完整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表達清晰、充分、完整</a:t>
                      </a:r>
                      <a:endParaRPr lang="en-US" altLang="zh-TW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專利知識及問題回應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33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170E-69A4-B167-BC9C-A24957BB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F86DED-497F-361D-7635-8305D3CD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出缺席規定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0FB45D-59CE-2891-42B3-23888E5F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D4C32-7A1A-45A5-84ED-81747F1ABFAE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90CAF4-39AC-FEA9-80F6-509ED3DF7632}"/>
              </a:ext>
            </a:extLst>
          </p:cNvPr>
          <p:cNvSpPr txBox="1"/>
          <p:nvPr/>
        </p:nvSpPr>
        <p:spPr>
          <a:xfrm>
            <a:off x="341193" y="980728"/>
            <a:ext cx="8532440" cy="53641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上課簽到，第一節開始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鐘後為遲到，未簽到為缺席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請假請事先告知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其他請自行注意學校相關規定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797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投影片編號版面配置區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/>
            <a:fld id="{6FBDD5A6-6FCB-4479-9D39-C011806F380C}" type="slidenum">
              <a:rPr lang="zh-TW" altLang="en-US" smtClean="0">
                <a:solidFill>
                  <a:prstClr val="white"/>
                </a:solidFill>
                <a:latin typeface="Verdana" pitchFamily="34" charset="0"/>
                <a:ea typeface="新細明體" charset="-120"/>
              </a:rPr>
              <a:pPr eaLnBrk="1" hangingPunct="1"/>
              <a:t>8</a:t>
            </a:fld>
            <a:endParaRPr lang="en-US" altLang="zh-TW">
              <a:solidFill>
                <a:prstClr val="white"/>
              </a:solidFill>
              <a:latin typeface="Verdana" pitchFamily="34" charset="0"/>
              <a:ea typeface="新細明體" charset="-120"/>
            </a:endParaRPr>
          </a:p>
        </p:txBody>
      </p:sp>
      <p:sp>
        <p:nvSpPr>
          <p:cNvPr id="11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480107" y="1772816"/>
            <a:ext cx="58324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/>
            <a:r>
              <a:rPr lang="zh-TW" altLang="en-US" sz="6000" b="1" dirty="0">
                <a:solidFill>
                  <a:srgbClr val="1F497D"/>
                </a:solidFill>
                <a:latin typeface="微軟正黑體"/>
                <a:ea typeface="微軟正黑體"/>
              </a:rPr>
              <a:t>感謝大家</a:t>
            </a:r>
          </a:p>
          <a:p>
            <a:pPr algn="l" eaLnBrk="1" hangingPunct="1"/>
            <a:r>
              <a:rPr lang="zh-TW" altLang="en-US" sz="6000" b="1" dirty="0">
                <a:solidFill>
                  <a:srgbClr val="1F497D"/>
                </a:solidFill>
                <a:latin typeface="微軟正黑體"/>
                <a:ea typeface="微軟正黑體"/>
              </a:rPr>
              <a:t>   敬請指教！</a:t>
            </a:r>
          </a:p>
        </p:txBody>
      </p:sp>
      <p:pic>
        <p:nvPicPr>
          <p:cNvPr id="8" name="Picture 2" descr="D:\旺矽IPR簡報\擷取46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908" y="4005064"/>
            <a:ext cx="113030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480108" y="4463535"/>
            <a:ext cx="425770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hlinkClick r:id="rId4"/>
              </a:rPr>
              <a:t>ycjen20453@judicial.gov.tw</a:t>
            </a:r>
            <a:endParaRPr lang="en-US" altLang="zh-TW" sz="2800" dirty="0">
              <a:solidFill>
                <a:prstClr val="black"/>
              </a:solidFill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dobe 繁黑體 Std B"/>
              </a:rPr>
              <a:t>TEL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dobe 繁黑體 Std B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dobe 繁黑體 Std B"/>
                <a:sym typeface="Wingdings" panose="05000000000000000000" pitchFamily="2" charset="2"/>
              </a:rPr>
              <a:t>(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dobe 繁黑體 Std B"/>
              </a:rPr>
              <a:t>02) 22726696 ext.383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  <a:cs typeface="Adobe 繁黑體 Std B"/>
            </a:endParaRPr>
          </a:p>
        </p:txBody>
      </p:sp>
    </p:spTree>
    <p:extLst>
      <p:ext uri="{BB962C8B-B14F-4D97-AF65-F5344CB8AC3E}">
        <p14:creationId xmlns:p14="http://schemas.microsoft.com/office/powerpoint/2010/main" val="151501276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14564</TotalTime>
  <Words>644</Words>
  <Application>Microsoft Office PowerPoint</Application>
  <PresentationFormat>如螢幕大小 (4:3)</PresentationFormat>
  <Paragraphs>153</Paragraphs>
  <Slides>9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Adobe 繁黑體 Std B</vt:lpstr>
      <vt:lpstr>微軟正黑體</vt:lpstr>
      <vt:lpstr>Arial</vt:lpstr>
      <vt:lpstr>Calibri</vt:lpstr>
      <vt:lpstr>Verdana</vt:lpstr>
      <vt:lpstr>Wingdings</vt:lpstr>
      <vt:lpstr>佈景主題1</vt:lpstr>
      <vt:lpstr>PowerPoint 簡報</vt:lpstr>
      <vt:lpstr>課程目標 </vt:lpstr>
      <vt:lpstr>課程大綱 </vt:lpstr>
      <vt:lpstr>期中作業</vt:lpstr>
      <vt:lpstr>期末報告</vt:lpstr>
      <vt:lpstr>課程進行方式</vt:lpstr>
      <vt:lpstr>計分方式</vt:lpstr>
      <vt:lpstr>出缺席規定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100年度智慧財產局業務座談會 新專利法相關法制修正重點</dc:title>
  <dc:creator>20457</dc:creator>
  <cp:lastModifiedBy>顏俊仁</cp:lastModifiedBy>
  <cp:revision>1314</cp:revision>
  <cp:lastPrinted>2014-04-14T04:01:04Z</cp:lastPrinted>
  <dcterms:created xsi:type="dcterms:W3CDTF">2012-04-26T02:48:05Z</dcterms:created>
  <dcterms:modified xsi:type="dcterms:W3CDTF">2026-09-05T07:38:19Z</dcterms:modified>
</cp:coreProperties>
</file>