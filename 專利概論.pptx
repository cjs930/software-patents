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56" r:id="rId1"/>
  </p:sldMasterIdLst>
  <p:notesMasterIdLst>
    <p:notesMasterId r:id="rId108"/>
  </p:notesMasterIdLst>
  <p:handoutMasterIdLst>
    <p:handoutMasterId r:id="rId109"/>
  </p:handoutMasterIdLst>
  <p:sldIdLst>
    <p:sldId id="704" r:id="rId2"/>
    <p:sldId id="701" r:id="rId3"/>
    <p:sldId id="708" r:id="rId4"/>
    <p:sldId id="711" r:id="rId5"/>
    <p:sldId id="481" r:id="rId6"/>
    <p:sldId id="702" r:id="rId7"/>
    <p:sldId id="617" r:id="rId8"/>
    <p:sldId id="473" r:id="rId9"/>
    <p:sldId id="685" r:id="rId10"/>
    <p:sldId id="618" r:id="rId11"/>
    <p:sldId id="619" r:id="rId12"/>
    <p:sldId id="621" r:id="rId13"/>
    <p:sldId id="467" r:id="rId14"/>
    <p:sldId id="707" r:id="rId15"/>
    <p:sldId id="482" r:id="rId16"/>
    <p:sldId id="689" r:id="rId17"/>
    <p:sldId id="688" r:id="rId18"/>
    <p:sldId id="565" r:id="rId19"/>
    <p:sldId id="686" r:id="rId20"/>
    <p:sldId id="483" r:id="rId21"/>
    <p:sldId id="387" r:id="rId22"/>
    <p:sldId id="471" r:id="rId23"/>
    <p:sldId id="388" r:id="rId24"/>
    <p:sldId id="485" r:id="rId25"/>
    <p:sldId id="463" r:id="rId26"/>
    <p:sldId id="486" r:id="rId27"/>
    <p:sldId id="487" r:id="rId28"/>
    <p:sldId id="488" r:id="rId29"/>
    <p:sldId id="484" r:id="rId30"/>
    <p:sldId id="623" r:id="rId31"/>
    <p:sldId id="491" r:id="rId32"/>
    <p:sldId id="489" r:id="rId33"/>
    <p:sldId id="690" r:id="rId34"/>
    <p:sldId id="389" r:id="rId35"/>
    <p:sldId id="492" r:id="rId36"/>
    <p:sldId id="390" r:id="rId37"/>
    <p:sldId id="496" r:id="rId38"/>
    <p:sldId id="498" r:id="rId39"/>
    <p:sldId id="625" r:id="rId40"/>
    <p:sldId id="692" r:id="rId41"/>
    <p:sldId id="628" r:id="rId42"/>
    <p:sldId id="499" r:id="rId43"/>
    <p:sldId id="435" r:id="rId44"/>
    <p:sldId id="436" r:id="rId45"/>
    <p:sldId id="391" r:id="rId46"/>
    <p:sldId id="714" r:id="rId47"/>
    <p:sldId id="629" r:id="rId48"/>
    <p:sldId id="712" r:id="rId49"/>
    <p:sldId id="460" r:id="rId50"/>
    <p:sldId id="567" r:id="rId51"/>
    <p:sldId id="713" r:id="rId52"/>
    <p:sldId id="398" r:id="rId53"/>
    <p:sldId id="501" r:id="rId54"/>
    <p:sldId id="715" r:id="rId55"/>
    <p:sldId id="504" r:id="rId56"/>
    <p:sldId id="505" r:id="rId57"/>
    <p:sldId id="506" r:id="rId58"/>
    <p:sldId id="507" r:id="rId59"/>
    <p:sldId id="508" r:id="rId60"/>
    <p:sldId id="509" r:id="rId61"/>
    <p:sldId id="510" r:id="rId62"/>
    <p:sldId id="511" r:id="rId63"/>
    <p:sldId id="568" r:id="rId64"/>
    <p:sldId id="571" r:id="rId65"/>
    <p:sldId id="572" r:id="rId66"/>
    <p:sldId id="573" r:id="rId67"/>
    <p:sldId id="574" r:id="rId68"/>
    <p:sldId id="575" r:id="rId69"/>
    <p:sldId id="516" r:id="rId70"/>
    <p:sldId id="716" r:id="rId71"/>
    <p:sldId id="519" r:id="rId72"/>
    <p:sldId id="717" r:id="rId73"/>
    <p:sldId id="719" r:id="rId74"/>
    <p:sldId id="718" r:id="rId75"/>
    <p:sldId id="523" r:id="rId76"/>
    <p:sldId id="525" r:id="rId77"/>
    <p:sldId id="627" r:id="rId78"/>
    <p:sldId id="636" r:id="rId79"/>
    <p:sldId id="637" r:id="rId80"/>
    <p:sldId id="652" r:id="rId81"/>
    <p:sldId id="720" r:id="rId82"/>
    <p:sldId id="639" r:id="rId83"/>
    <p:sldId id="640" r:id="rId84"/>
    <p:sldId id="641" r:id="rId85"/>
    <p:sldId id="642" r:id="rId86"/>
    <p:sldId id="643" r:id="rId87"/>
    <p:sldId id="644" r:id="rId88"/>
    <p:sldId id="645" r:id="rId89"/>
    <p:sldId id="646" r:id="rId90"/>
    <p:sldId id="647" r:id="rId91"/>
    <p:sldId id="648" r:id="rId92"/>
    <p:sldId id="649" r:id="rId93"/>
    <p:sldId id="650" r:id="rId94"/>
    <p:sldId id="651" r:id="rId95"/>
    <p:sldId id="635" r:id="rId96"/>
    <p:sldId id="634" r:id="rId97"/>
    <p:sldId id="655" r:id="rId98"/>
    <p:sldId id="657" r:id="rId99"/>
    <p:sldId id="632" r:id="rId100"/>
    <p:sldId id="658" r:id="rId101"/>
    <p:sldId id="659" r:id="rId102"/>
    <p:sldId id="661" r:id="rId103"/>
    <p:sldId id="664" r:id="rId104"/>
    <p:sldId id="660" r:id="rId105"/>
    <p:sldId id="700" r:id="rId106"/>
    <p:sldId id="684" r:id="rId107"/>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693FF76-3DA0-4C54-B69D-2A34510122B9}">
          <p14:sldIdLst>
            <p14:sldId id="704"/>
            <p14:sldId id="701"/>
            <p14:sldId id="708"/>
            <p14:sldId id="711"/>
            <p14:sldId id="481"/>
            <p14:sldId id="702"/>
            <p14:sldId id="617"/>
            <p14:sldId id="473"/>
            <p14:sldId id="685"/>
            <p14:sldId id="618"/>
            <p14:sldId id="619"/>
            <p14:sldId id="621"/>
            <p14:sldId id="467"/>
            <p14:sldId id="707"/>
            <p14:sldId id="482"/>
            <p14:sldId id="689"/>
            <p14:sldId id="688"/>
            <p14:sldId id="565"/>
            <p14:sldId id="686"/>
            <p14:sldId id="483"/>
            <p14:sldId id="387"/>
            <p14:sldId id="471"/>
            <p14:sldId id="388"/>
            <p14:sldId id="485"/>
            <p14:sldId id="463"/>
            <p14:sldId id="486"/>
            <p14:sldId id="487"/>
            <p14:sldId id="488"/>
            <p14:sldId id="484"/>
            <p14:sldId id="623"/>
            <p14:sldId id="491"/>
            <p14:sldId id="489"/>
            <p14:sldId id="690"/>
            <p14:sldId id="389"/>
            <p14:sldId id="492"/>
            <p14:sldId id="390"/>
            <p14:sldId id="496"/>
            <p14:sldId id="498"/>
            <p14:sldId id="625"/>
            <p14:sldId id="692"/>
            <p14:sldId id="628"/>
            <p14:sldId id="499"/>
            <p14:sldId id="435"/>
            <p14:sldId id="436"/>
            <p14:sldId id="391"/>
            <p14:sldId id="714"/>
            <p14:sldId id="629"/>
            <p14:sldId id="712"/>
            <p14:sldId id="460"/>
            <p14:sldId id="567"/>
            <p14:sldId id="713"/>
            <p14:sldId id="398"/>
          </p14:sldIdLst>
        </p14:section>
        <p14:section name="未命名的章節" id="{7057124F-C2FB-410C-9DAE-0C6B9C7DD835}">
          <p14:sldIdLst>
            <p14:sldId id="501"/>
            <p14:sldId id="715"/>
            <p14:sldId id="504"/>
            <p14:sldId id="505"/>
            <p14:sldId id="506"/>
            <p14:sldId id="507"/>
            <p14:sldId id="508"/>
            <p14:sldId id="509"/>
            <p14:sldId id="510"/>
            <p14:sldId id="511"/>
            <p14:sldId id="568"/>
            <p14:sldId id="571"/>
            <p14:sldId id="572"/>
            <p14:sldId id="573"/>
            <p14:sldId id="574"/>
            <p14:sldId id="575"/>
            <p14:sldId id="516"/>
            <p14:sldId id="716"/>
            <p14:sldId id="519"/>
            <p14:sldId id="717"/>
            <p14:sldId id="719"/>
            <p14:sldId id="718"/>
            <p14:sldId id="523"/>
            <p14:sldId id="525"/>
            <p14:sldId id="627"/>
            <p14:sldId id="636"/>
            <p14:sldId id="637"/>
            <p14:sldId id="652"/>
            <p14:sldId id="720"/>
            <p14:sldId id="639"/>
            <p14:sldId id="640"/>
            <p14:sldId id="641"/>
            <p14:sldId id="642"/>
            <p14:sldId id="643"/>
            <p14:sldId id="644"/>
            <p14:sldId id="645"/>
            <p14:sldId id="646"/>
            <p14:sldId id="647"/>
            <p14:sldId id="648"/>
            <p14:sldId id="649"/>
            <p14:sldId id="650"/>
            <p14:sldId id="651"/>
            <p14:sldId id="635"/>
            <p14:sldId id="634"/>
            <p14:sldId id="655"/>
            <p14:sldId id="657"/>
            <p14:sldId id="632"/>
            <p14:sldId id="658"/>
            <p14:sldId id="659"/>
            <p14:sldId id="661"/>
            <p14:sldId id="664"/>
            <p14:sldId id="660"/>
            <p14:sldId id="700"/>
            <p14:sldId id="68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66FF"/>
    <a:srgbClr val="0000FF"/>
    <a:srgbClr val="3399FF"/>
    <a:srgbClr val="6699FF"/>
    <a:srgbClr val="99CCFF"/>
    <a:srgbClr val="66CCFF"/>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03447BB-5D67-496B-8E87-E561075AD55C}" styleName="深色樣式 1 - 輔色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88" autoAdjust="0"/>
    <p:restoredTop sz="95026" autoAdjust="0"/>
  </p:normalViewPr>
  <p:slideViewPr>
    <p:cSldViewPr>
      <p:cViewPr varScale="1">
        <p:scale>
          <a:sx n="101" d="100"/>
          <a:sy n="101" d="100"/>
        </p:scale>
        <p:origin x="1818" y="11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5" d="100"/>
          <a:sy n="55" d="100"/>
        </p:scale>
        <p:origin x="3307" y="53"/>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627A6D-7405-4004-9257-E6931CC87816}"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zh-TW" altLang="en-US"/>
        </a:p>
      </dgm:t>
    </dgm:pt>
    <dgm:pt modelId="{78BDCEDE-BC14-482D-B8E2-7343E4D9B58B}">
      <dgm:prSet phldrT="[文字]"/>
      <dgm:spPr/>
      <dgm:t>
        <a:bodyPr/>
        <a:lstStyle/>
        <a:p>
          <a:r>
            <a:rPr lang="zh-TW" altLang="en-US" dirty="0">
              <a:latin typeface="微軟正黑體" panose="020B0604030504040204" pitchFamily="34" charset="-120"/>
              <a:ea typeface="微軟正黑體" panose="020B0604030504040204" pitchFamily="34" charset="-120"/>
            </a:rPr>
            <a:t>職務上發明</a:t>
          </a:r>
        </a:p>
      </dgm:t>
    </dgm:pt>
    <dgm:pt modelId="{D47E9CAD-4D8A-4ED9-B94E-670D0C4A5227}" type="parTrans" cxnId="{B29D68CC-CEF6-4212-B2B4-AF88735DFB21}">
      <dgm:prSet/>
      <dgm:spPr/>
      <dgm:t>
        <a:bodyPr/>
        <a:lstStyle/>
        <a:p>
          <a:endParaRPr lang="zh-TW" altLang="en-US">
            <a:latin typeface="微軟正黑體" panose="020B0604030504040204" pitchFamily="34" charset="-120"/>
            <a:ea typeface="微軟正黑體" panose="020B0604030504040204" pitchFamily="34" charset="-120"/>
          </a:endParaRPr>
        </a:p>
      </dgm:t>
    </dgm:pt>
    <dgm:pt modelId="{934C0AD1-88B7-4D39-81D9-C5E7FD95B2BE}" type="sibTrans" cxnId="{B29D68CC-CEF6-4212-B2B4-AF88735DFB21}">
      <dgm:prSet/>
      <dgm:spPr/>
      <dgm:t>
        <a:bodyPr/>
        <a:lstStyle/>
        <a:p>
          <a:endParaRPr lang="zh-TW" altLang="en-US">
            <a:latin typeface="微軟正黑體" panose="020B0604030504040204" pitchFamily="34" charset="-120"/>
            <a:ea typeface="微軟正黑體" panose="020B0604030504040204" pitchFamily="34" charset="-120"/>
          </a:endParaRPr>
        </a:p>
      </dgm:t>
    </dgm:pt>
    <dgm:pt modelId="{FFACA6DA-4E5F-4754-B07C-BA7113E394B5}">
      <dgm:prSet phldrT="[文字]" custT="1"/>
      <dgm:spPr/>
      <dgm:t>
        <a:bodyPr/>
        <a:lstStyle/>
        <a:p>
          <a:r>
            <a:rPr lang="zh-TW" altLang="en-US" sz="1800" dirty="0">
              <a:latin typeface="微軟正黑體" panose="020B0604030504040204" pitchFamily="34" charset="-120"/>
              <a:ea typeface="微軟正黑體" panose="020B0604030504040204" pitchFamily="34" charset="-120"/>
            </a:rPr>
            <a:t>屬於雇用人，但雇用人應支付適當報酬</a:t>
          </a:r>
        </a:p>
      </dgm:t>
    </dgm:pt>
    <dgm:pt modelId="{0AAAC2CF-2EBB-4C12-A686-58361365E32F}" type="parTrans" cxnId="{08625720-B51F-45C3-BE0E-F73C652856F5}">
      <dgm:prSet/>
      <dgm:spPr/>
      <dgm:t>
        <a:bodyPr/>
        <a:lstStyle/>
        <a:p>
          <a:endParaRPr lang="zh-TW" altLang="en-US">
            <a:latin typeface="微軟正黑體" panose="020B0604030504040204" pitchFamily="34" charset="-120"/>
            <a:ea typeface="微軟正黑體" panose="020B0604030504040204" pitchFamily="34" charset="-120"/>
          </a:endParaRPr>
        </a:p>
      </dgm:t>
    </dgm:pt>
    <dgm:pt modelId="{8AA78715-4FCF-4CC0-805C-8620A9A276A2}" type="sibTrans" cxnId="{08625720-B51F-45C3-BE0E-F73C652856F5}">
      <dgm:prSet/>
      <dgm:spPr/>
      <dgm:t>
        <a:bodyPr/>
        <a:lstStyle/>
        <a:p>
          <a:endParaRPr lang="zh-TW" altLang="en-US">
            <a:latin typeface="微軟正黑體" panose="020B0604030504040204" pitchFamily="34" charset="-120"/>
            <a:ea typeface="微軟正黑體" panose="020B0604030504040204" pitchFamily="34" charset="-120"/>
          </a:endParaRPr>
        </a:p>
      </dgm:t>
    </dgm:pt>
    <dgm:pt modelId="{80E9E593-EB97-434C-AFBE-188012C646CC}">
      <dgm:prSet phldrT="[文字]" custT="1"/>
      <dgm:spPr/>
      <dgm:t>
        <a:bodyPr/>
        <a:lstStyle/>
        <a:p>
          <a:r>
            <a:rPr lang="zh-TW" altLang="en-US" sz="1800" dirty="0">
              <a:latin typeface="微軟正黑體" panose="020B0604030504040204" pitchFamily="34" charset="-120"/>
              <a:ea typeface="微軟正黑體" panose="020B0604030504040204" pitchFamily="34" charset="-120"/>
            </a:rPr>
            <a:t>但契約有約定時，從其約定</a:t>
          </a:r>
        </a:p>
      </dgm:t>
    </dgm:pt>
    <dgm:pt modelId="{F568BC2E-AD7A-42F8-8B8F-860843EF6943}" type="parTrans" cxnId="{48418FF4-B5F2-4F10-A87F-3ECEAAC2BE9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E11C8B91-9686-4E7E-8582-28C4A3C29EFA}" type="sibTrans" cxnId="{48418FF4-B5F2-4F10-A87F-3ECEAAC2BE9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912882E2-F4AE-4647-BAA0-BCCF9C2E801B}">
      <dgm:prSet phldrT="[文字]"/>
      <dgm:spPr/>
      <dgm:t>
        <a:bodyPr/>
        <a:lstStyle/>
        <a:p>
          <a:r>
            <a:rPr lang="zh-TW" altLang="en-US" dirty="0">
              <a:latin typeface="微軟正黑體" panose="020B0604030504040204" pitchFamily="34" charset="-120"/>
              <a:ea typeface="微軟正黑體" panose="020B0604030504040204" pitchFamily="34" charset="-120"/>
            </a:rPr>
            <a:t>非職務上發明</a:t>
          </a:r>
        </a:p>
      </dgm:t>
    </dgm:pt>
    <dgm:pt modelId="{78349EB8-37F8-45D0-8C6A-3FDF5FFBEACE}" type="parTrans" cxnId="{5235E027-A82C-40C9-9DC7-AD8220F4FD03}">
      <dgm:prSet/>
      <dgm:spPr/>
      <dgm:t>
        <a:bodyPr/>
        <a:lstStyle/>
        <a:p>
          <a:endParaRPr lang="zh-TW" altLang="en-US">
            <a:latin typeface="微軟正黑體" panose="020B0604030504040204" pitchFamily="34" charset="-120"/>
            <a:ea typeface="微軟正黑體" panose="020B0604030504040204" pitchFamily="34" charset="-120"/>
          </a:endParaRPr>
        </a:p>
      </dgm:t>
    </dgm:pt>
    <dgm:pt modelId="{C7781376-6CA6-4965-B159-F915A50B880A}" type="sibTrans" cxnId="{5235E027-A82C-40C9-9DC7-AD8220F4FD03}">
      <dgm:prSet/>
      <dgm:spPr/>
      <dgm:t>
        <a:bodyPr/>
        <a:lstStyle/>
        <a:p>
          <a:endParaRPr lang="zh-TW" altLang="en-US">
            <a:latin typeface="微軟正黑體" panose="020B0604030504040204" pitchFamily="34" charset="-120"/>
            <a:ea typeface="微軟正黑體" panose="020B0604030504040204" pitchFamily="34" charset="-120"/>
          </a:endParaRPr>
        </a:p>
      </dgm:t>
    </dgm:pt>
    <dgm:pt modelId="{2838BA81-A097-4122-87BB-152BA79B143A}">
      <dgm:prSet phldrT="[文字]" custT="1"/>
      <dgm:spPr/>
      <dgm:t>
        <a:bodyPr/>
        <a:lstStyle/>
        <a:p>
          <a:r>
            <a:rPr lang="zh-TW" altLang="en-US" sz="1800" dirty="0">
              <a:latin typeface="微軟正黑體" panose="020B0604030504040204" pitchFamily="34" charset="-120"/>
              <a:ea typeface="微軟正黑體" panose="020B0604030504040204" pitchFamily="34" charset="-120"/>
            </a:rPr>
            <a:t>屬於受雇人</a:t>
          </a:r>
        </a:p>
      </dgm:t>
    </dgm:pt>
    <dgm:pt modelId="{6E4346D4-C6AF-48C5-806E-BD3D63280F16}" type="parTrans" cxnId="{55E0915C-89A9-42CD-ABA0-EEE216A7754E}">
      <dgm:prSet/>
      <dgm:spPr/>
      <dgm:t>
        <a:bodyPr/>
        <a:lstStyle/>
        <a:p>
          <a:endParaRPr lang="zh-TW" altLang="en-US">
            <a:latin typeface="微軟正黑體" panose="020B0604030504040204" pitchFamily="34" charset="-120"/>
            <a:ea typeface="微軟正黑體" panose="020B0604030504040204" pitchFamily="34" charset="-120"/>
          </a:endParaRPr>
        </a:p>
      </dgm:t>
    </dgm:pt>
    <dgm:pt modelId="{9F24BFF3-A266-48D8-B8B3-FD7A6A696669}" type="sibTrans" cxnId="{55E0915C-89A9-42CD-ABA0-EEE216A7754E}">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1860B6A-C26B-49EA-82CF-9A3104240B0C}">
      <dgm:prSet phldrT="[文字]" custT="1"/>
      <dgm:spPr/>
      <dgm:t>
        <a:bodyPr/>
        <a:lstStyle/>
        <a:p>
          <a:r>
            <a:rPr lang="zh-TW" altLang="en-US" sz="1800" dirty="0">
              <a:latin typeface="微軟正黑體" panose="020B0604030504040204" pitchFamily="34" charset="-120"/>
              <a:ea typeface="微軟正黑體" panose="020B0604030504040204" pitchFamily="34" charset="-120"/>
            </a:rPr>
            <a:t>但利用雇用人資源或經驗者，雇用人支付合理報酬後，得在該事業實施</a:t>
          </a:r>
        </a:p>
      </dgm:t>
    </dgm:pt>
    <dgm:pt modelId="{49C91026-29EA-4FCC-899A-051110216491}" type="parTrans" cxnId="{E77837E7-8C3B-4B10-9D42-10195E8966EF}">
      <dgm:prSet/>
      <dgm:spPr/>
      <dgm:t>
        <a:bodyPr/>
        <a:lstStyle/>
        <a:p>
          <a:endParaRPr lang="zh-TW" altLang="en-US">
            <a:latin typeface="微軟正黑體" panose="020B0604030504040204" pitchFamily="34" charset="-120"/>
            <a:ea typeface="微軟正黑體" panose="020B0604030504040204" pitchFamily="34" charset="-120"/>
          </a:endParaRPr>
        </a:p>
      </dgm:t>
    </dgm:pt>
    <dgm:pt modelId="{E97ABE8D-A271-46ED-9DC5-E7E5919AF090}" type="sibTrans" cxnId="{E77837E7-8C3B-4B10-9D42-10195E8966EF}">
      <dgm:prSet/>
      <dgm:spPr/>
      <dgm:t>
        <a:bodyPr/>
        <a:lstStyle/>
        <a:p>
          <a:endParaRPr lang="zh-TW" altLang="en-US">
            <a:latin typeface="微軟正黑體" panose="020B0604030504040204" pitchFamily="34" charset="-120"/>
            <a:ea typeface="微軟正黑體" panose="020B0604030504040204" pitchFamily="34" charset="-120"/>
          </a:endParaRPr>
        </a:p>
      </dgm:t>
    </dgm:pt>
    <dgm:pt modelId="{1F214CDA-37FE-4C32-A2A3-D36575E06272}">
      <dgm:prSet phldrT="[文字]"/>
      <dgm:spPr/>
      <dgm:t>
        <a:bodyPr/>
        <a:lstStyle/>
        <a:p>
          <a:r>
            <a:rPr lang="zh-TW" altLang="en-US" dirty="0">
              <a:latin typeface="微軟正黑體" panose="020B0604030504040204" pitchFamily="34" charset="-120"/>
              <a:ea typeface="微軟正黑體" panose="020B0604030504040204" pitchFamily="34" charset="-120"/>
            </a:rPr>
            <a:t>出資聘請研發</a:t>
          </a:r>
        </a:p>
      </dgm:t>
    </dgm:pt>
    <dgm:pt modelId="{E6BE2391-7824-496F-9B2E-C6D04BADF4E8}" type="parTrans" cxnId="{ED266862-AF28-4109-92E6-238F726FD14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8CAC588E-CD73-4B6D-9A83-F62D98593642}" type="sibTrans" cxnId="{ED266862-AF28-4109-92E6-238F726FD14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EC39872-C804-4724-B787-CB788E506181}">
      <dgm:prSet phldrT="[文字]" custT="1"/>
      <dgm:spPr/>
      <dgm:t>
        <a:bodyPr/>
        <a:lstStyle/>
        <a:p>
          <a:r>
            <a:rPr lang="zh-TW" altLang="en-US" sz="1800" dirty="0">
              <a:latin typeface="微軟正黑體" panose="020B0604030504040204" pitchFamily="34" charset="-120"/>
              <a:ea typeface="微軟正黑體" panose="020B0604030504040204" pitchFamily="34" charset="-120"/>
            </a:rPr>
            <a:t>依雙方契約約定</a:t>
          </a:r>
        </a:p>
      </dgm:t>
    </dgm:pt>
    <dgm:pt modelId="{B04C0CD4-EE20-4574-A02A-2453A56E6124}" type="parTrans" cxnId="{15DE48C6-BD8C-4426-A67B-EF3F605A1776}">
      <dgm:prSet/>
      <dgm:spPr/>
      <dgm:t>
        <a:bodyPr/>
        <a:lstStyle/>
        <a:p>
          <a:endParaRPr lang="zh-TW" altLang="en-US">
            <a:latin typeface="微軟正黑體" panose="020B0604030504040204" pitchFamily="34" charset="-120"/>
            <a:ea typeface="微軟正黑體" panose="020B0604030504040204" pitchFamily="34" charset="-120"/>
          </a:endParaRPr>
        </a:p>
      </dgm:t>
    </dgm:pt>
    <dgm:pt modelId="{718EAC96-38AF-4799-AB70-4626B290F589}" type="sibTrans" cxnId="{15DE48C6-BD8C-4426-A67B-EF3F605A1776}">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A608F40-F947-4659-A2A0-361897104C36}">
      <dgm:prSet phldrT="[文字]" custT="1"/>
      <dgm:spPr/>
      <dgm:t>
        <a:bodyPr/>
        <a:lstStyle/>
        <a:p>
          <a:r>
            <a:rPr lang="zh-TW" altLang="en-US" sz="1800" dirty="0">
              <a:latin typeface="微軟正黑體" panose="020B0604030504040204" pitchFamily="34" charset="-120"/>
              <a:ea typeface="微軟正黑體" panose="020B0604030504040204" pitchFamily="34" charset="-120"/>
            </a:rPr>
            <a:t>未約定者，屬於發明人或創作人</a:t>
          </a:r>
          <a:r>
            <a:rPr lang="en-US" altLang="en-US" sz="1800" dirty="0">
              <a:latin typeface="微軟正黑體" panose="020B0604030504040204" pitchFamily="34" charset="-120"/>
              <a:ea typeface="微軟正黑體" panose="020B0604030504040204" pitchFamily="34" charset="-120"/>
            </a:rPr>
            <a:t>(</a:t>
          </a:r>
          <a:r>
            <a:rPr lang="zh-TW" altLang="en-US" sz="1800" dirty="0">
              <a:latin typeface="微軟正黑體" panose="020B0604030504040204" pitchFamily="34" charset="-120"/>
              <a:ea typeface="微軟正黑體" panose="020B0604030504040204" pitchFamily="34" charset="-120"/>
            </a:rPr>
            <a:t>受聘人</a:t>
          </a:r>
          <a:r>
            <a:rPr lang="en-US" altLang="en-US" sz="1800" dirty="0">
              <a:latin typeface="微軟正黑體" panose="020B0604030504040204" pitchFamily="34" charset="-120"/>
              <a:ea typeface="微軟正黑體" panose="020B0604030504040204" pitchFamily="34" charset="-120"/>
            </a:rPr>
            <a:t>)</a:t>
          </a:r>
          <a:r>
            <a:rPr lang="zh-TW" altLang="en-US" sz="1800" dirty="0">
              <a:latin typeface="微軟正黑體" panose="020B0604030504040204" pitchFamily="34" charset="-120"/>
              <a:ea typeface="微軟正黑體" panose="020B0604030504040204" pitchFamily="34" charset="-120"/>
            </a:rPr>
            <a:t>，但出資人得實施</a:t>
          </a:r>
        </a:p>
      </dgm:t>
    </dgm:pt>
    <dgm:pt modelId="{DDCFA1E8-8FA4-438B-8311-42B95DA9A0C7}" type="parTrans" cxnId="{B45D2961-E997-4E4E-9D99-8D904ACF52B7}">
      <dgm:prSet/>
      <dgm:spPr/>
      <dgm:t>
        <a:bodyPr/>
        <a:lstStyle/>
        <a:p>
          <a:endParaRPr lang="zh-TW" altLang="en-US">
            <a:latin typeface="微軟正黑體" panose="020B0604030504040204" pitchFamily="34" charset="-120"/>
            <a:ea typeface="微軟正黑體" panose="020B0604030504040204" pitchFamily="34" charset="-120"/>
          </a:endParaRPr>
        </a:p>
      </dgm:t>
    </dgm:pt>
    <dgm:pt modelId="{91655662-FF06-4209-8D82-0FA28454C52F}" type="sibTrans" cxnId="{B45D2961-E997-4E4E-9D99-8D904ACF52B7}">
      <dgm:prSet/>
      <dgm:spPr/>
      <dgm:t>
        <a:bodyPr/>
        <a:lstStyle/>
        <a:p>
          <a:endParaRPr lang="zh-TW" altLang="en-US">
            <a:latin typeface="微軟正黑體" panose="020B0604030504040204" pitchFamily="34" charset="-120"/>
            <a:ea typeface="微軟正黑體" panose="020B0604030504040204" pitchFamily="34" charset="-120"/>
          </a:endParaRPr>
        </a:p>
      </dgm:t>
    </dgm:pt>
    <dgm:pt modelId="{29CECD4B-9FAA-4680-ABA2-03501DC59F9E}">
      <dgm:prSet phldrT="[文字]" custT="1"/>
      <dgm:spPr/>
      <dgm:t>
        <a:bodyPr/>
        <a:lstStyle/>
        <a:p>
          <a:r>
            <a:rPr lang="zh-TW" altLang="en-US" sz="1800" dirty="0">
              <a:latin typeface="微軟正黑體" panose="020B0604030504040204" pitchFamily="34" charset="-120"/>
              <a:ea typeface="微軟正黑體" panose="020B0604030504040204" pitchFamily="34" charset="-120"/>
            </a:rPr>
            <a:t>發明人享有姓名表示權</a:t>
          </a:r>
        </a:p>
      </dgm:t>
    </dgm:pt>
    <dgm:pt modelId="{37665C7C-6AA2-4FD4-882A-E11EAECC09B0}" type="parTrans" cxnId="{6566AC48-19E6-489B-9F3A-9756F1DEB4A5}">
      <dgm:prSet/>
      <dgm:spPr/>
      <dgm:t>
        <a:bodyPr/>
        <a:lstStyle/>
        <a:p>
          <a:endParaRPr lang="zh-TW" altLang="en-US"/>
        </a:p>
      </dgm:t>
    </dgm:pt>
    <dgm:pt modelId="{901AB284-C036-4FDE-92B7-696D5F1D1E43}" type="sibTrans" cxnId="{6566AC48-19E6-489B-9F3A-9756F1DEB4A5}">
      <dgm:prSet/>
      <dgm:spPr/>
      <dgm:t>
        <a:bodyPr/>
        <a:lstStyle/>
        <a:p>
          <a:endParaRPr lang="zh-TW" altLang="en-US"/>
        </a:p>
      </dgm:t>
    </dgm:pt>
    <dgm:pt modelId="{13AAD5D1-0D25-4A01-B90A-B901F7BCC416}">
      <dgm:prSet phldrT="[文字]" custT="1"/>
      <dgm:spPr/>
      <dgm:t>
        <a:bodyPr/>
        <a:lstStyle/>
        <a:p>
          <a:r>
            <a:rPr lang="zh-TW" altLang="en-US" sz="1800" dirty="0">
              <a:latin typeface="微軟正黑體" panose="020B0604030504040204" pitchFamily="34" charset="-120"/>
              <a:ea typeface="微軟正黑體" panose="020B0604030504040204" pitchFamily="34" charset="-120"/>
            </a:rPr>
            <a:t>發明人享有姓名表示權</a:t>
          </a:r>
        </a:p>
      </dgm:t>
    </dgm:pt>
    <dgm:pt modelId="{D56877DB-A1CB-4FBD-AB46-923E48680D39}" type="parTrans" cxnId="{59B81230-F099-4B5D-A569-E7DC25AD437E}">
      <dgm:prSet/>
      <dgm:spPr/>
      <dgm:t>
        <a:bodyPr/>
        <a:lstStyle/>
        <a:p>
          <a:endParaRPr lang="zh-TW" altLang="en-US"/>
        </a:p>
      </dgm:t>
    </dgm:pt>
    <dgm:pt modelId="{3FFAF688-97A9-44F2-A9A3-A51AF4DBEF4C}" type="sibTrans" cxnId="{59B81230-F099-4B5D-A569-E7DC25AD437E}">
      <dgm:prSet/>
      <dgm:spPr/>
      <dgm:t>
        <a:bodyPr/>
        <a:lstStyle/>
        <a:p>
          <a:endParaRPr lang="zh-TW" altLang="en-US"/>
        </a:p>
      </dgm:t>
    </dgm:pt>
    <dgm:pt modelId="{EB9A5BC9-67A1-4C2F-8FD4-AE8EA528686E}" type="pres">
      <dgm:prSet presAssocID="{80627A6D-7405-4004-9257-E6931CC87816}" presName="Name0" presStyleCnt="0">
        <dgm:presLayoutVars>
          <dgm:dir/>
          <dgm:animLvl val="lvl"/>
          <dgm:resizeHandles val="exact"/>
        </dgm:presLayoutVars>
      </dgm:prSet>
      <dgm:spPr/>
    </dgm:pt>
    <dgm:pt modelId="{A9BBBC58-5716-4847-902D-68833F922D11}" type="pres">
      <dgm:prSet presAssocID="{78BDCEDE-BC14-482D-B8E2-7343E4D9B58B}" presName="linNode" presStyleCnt="0"/>
      <dgm:spPr/>
    </dgm:pt>
    <dgm:pt modelId="{ACF0B067-7DEF-4AEA-A60B-F1DF281614A5}" type="pres">
      <dgm:prSet presAssocID="{78BDCEDE-BC14-482D-B8E2-7343E4D9B58B}" presName="parentText" presStyleLbl="node1" presStyleIdx="0" presStyleCnt="3">
        <dgm:presLayoutVars>
          <dgm:chMax val="1"/>
          <dgm:bulletEnabled val="1"/>
        </dgm:presLayoutVars>
      </dgm:prSet>
      <dgm:spPr/>
    </dgm:pt>
    <dgm:pt modelId="{AA62190D-1142-4608-8A71-9ED3309A4360}" type="pres">
      <dgm:prSet presAssocID="{78BDCEDE-BC14-482D-B8E2-7343E4D9B58B}" presName="descendantText" presStyleLbl="alignAccFollowNode1" presStyleIdx="0" presStyleCnt="3" custScaleY="129916">
        <dgm:presLayoutVars>
          <dgm:bulletEnabled val="1"/>
        </dgm:presLayoutVars>
      </dgm:prSet>
      <dgm:spPr/>
    </dgm:pt>
    <dgm:pt modelId="{EA60666D-774B-4E3C-A211-739FB1AD31A5}" type="pres">
      <dgm:prSet presAssocID="{934C0AD1-88B7-4D39-81D9-C5E7FD95B2BE}" presName="sp" presStyleCnt="0"/>
      <dgm:spPr/>
    </dgm:pt>
    <dgm:pt modelId="{C6F09303-AF98-4EB8-8EF5-3A4CA5CFF6B4}" type="pres">
      <dgm:prSet presAssocID="{912882E2-F4AE-4647-BAA0-BCCF9C2E801B}" presName="linNode" presStyleCnt="0"/>
      <dgm:spPr/>
    </dgm:pt>
    <dgm:pt modelId="{BB412B10-B9D6-49E8-B8F2-DAC5EF89516A}" type="pres">
      <dgm:prSet presAssocID="{912882E2-F4AE-4647-BAA0-BCCF9C2E801B}" presName="parentText" presStyleLbl="node1" presStyleIdx="1" presStyleCnt="3">
        <dgm:presLayoutVars>
          <dgm:chMax val="1"/>
          <dgm:bulletEnabled val="1"/>
        </dgm:presLayoutVars>
      </dgm:prSet>
      <dgm:spPr/>
    </dgm:pt>
    <dgm:pt modelId="{0616A34E-6080-4778-A3F7-86893A157D69}" type="pres">
      <dgm:prSet presAssocID="{912882E2-F4AE-4647-BAA0-BCCF9C2E801B}" presName="descendantText" presStyleLbl="alignAccFollowNode1" presStyleIdx="1" presStyleCnt="3" custScaleY="119577">
        <dgm:presLayoutVars>
          <dgm:bulletEnabled val="1"/>
        </dgm:presLayoutVars>
      </dgm:prSet>
      <dgm:spPr/>
    </dgm:pt>
    <dgm:pt modelId="{90364D8B-062C-4FE0-A966-98E5A007DAA6}" type="pres">
      <dgm:prSet presAssocID="{C7781376-6CA6-4965-B159-F915A50B880A}" presName="sp" presStyleCnt="0"/>
      <dgm:spPr/>
    </dgm:pt>
    <dgm:pt modelId="{5961A1C4-9F60-459E-85D1-57DA9F6BB4FD}" type="pres">
      <dgm:prSet presAssocID="{1F214CDA-37FE-4C32-A2A3-D36575E06272}" presName="linNode" presStyleCnt="0"/>
      <dgm:spPr/>
    </dgm:pt>
    <dgm:pt modelId="{B42A040D-DF7F-49EE-A319-BD17A30C49F8}" type="pres">
      <dgm:prSet presAssocID="{1F214CDA-37FE-4C32-A2A3-D36575E06272}" presName="parentText" presStyleLbl="node1" presStyleIdx="2" presStyleCnt="3">
        <dgm:presLayoutVars>
          <dgm:chMax val="1"/>
          <dgm:bulletEnabled val="1"/>
        </dgm:presLayoutVars>
      </dgm:prSet>
      <dgm:spPr/>
    </dgm:pt>
    <dgm:pt modelId="{D73C8019-D6FE-4E0E-8D4D-8F5CBE6995BC}" type="pres">
      <dgm:prSet presAssocID="{1F214CDA-37FE-4C32-A2A3-D36575E06272}" presName="descendantText" presStyleLbl="alignAccFollowNode1" presStyleIdx="2" presStyleCnt="3" custScaleY="125569">
        <dgm:presLayoutVars>
          <dgm:bulletEnabled val="1"/>
        </dgm:presLayoutVars>
      </dgm:prSet>
      <dgm:spPr/>
    </dgm:pt>
  </dgm:ptLst>
  <dgm:cxnLst>
    <dgm:cxn modelId="{08625720-B51F-45C3-BE0E-F73C652856F5}" srcId="{78BDCEDE-BC14-482D-B8E2-7343E4D9B58B}" destId="{FFACA6DA-4E5F-4754-B07C-BA7113E394B5}" srcOrd="0" destOrd="0" parTransId="{0AAAC2CF-2EBB-4C12-A686-58361365E32F}" sibTransId="{8AA78715-4FCF-4CC0-805C-8620A9A276A2}"/>
    <dgm:cxn modelId="{5235E027-A82C-40C9-9DC7-AD8220F4FD03}" srcId="{80627A6D-7405-4004-9257-E6931CC87816}" destId="{912882E2-F4AE-4647-BAA0-BCCF9C2E801B}" srcOrd="1" destOrd="0" parTransId="{78349EB8-37F8-45D0-8C6A-3FDF5FFBEACE}" sibTransId="{C7781376-6CA6-4965-B159-F915A50B880A}"/>
    <dgm:cxn modelId="{4B2CB82C-3AC5-449F-BD7A-0A4F5CA9DB2C}" type="presOf" srcId="{80E9E593-EB97-434C-AFBE-188012C646CC}" destId="{AA62190D-1142-4608-8A71-9ED3309A4360}" srcOrd="0" destOrd="1" presId="urn:microsoft.com/office/officeart/2005/8/layout/vList5"/>
    <dgm:cxn modelId="{59B81230-F099-4B5D-A569-E7DC25AD437E}" srcId="{1F214CDA-37FE-4C32-A2A3-D36575E06272}" destId="{13AAD5D1-0D25-4A01-B90A-B901F7BCC416}" srcOrd="2" destOrd="0" parTransId="{D56877DB-A1CB-4FBD-AB46-923E48680D39}" sibTransId="{3FFAF688-97A9-44F2-A9A3-A51AF4DBEF4C}"/>
    <dgm:cxn modelId="{55E0915C-89A9-42CD-ABA0-EEE216A7754E}" srcId="{912882E2-F4AE-4647-BAA0-BCCF9C2E801B}" destId="{2838BA81-A097-4122-87BB-152BA79B143A}" srcOrd="0" destOrd="0" parTransId="{6E4346D4-C6AF-48C5-806E-BD3D63280F16}" sibTransId="{9F24BFF3-A266-48D8-B8B3-FD7A6A696669}"/>
    <dgm:cxn modelId="{5A9B045F-E89F-4204-99EA-1B8BCDE76AC1}" type="presOf" srcId="{29CECD4B-9FAA-4680-ABA2-03501DC59F9E}" destId="{AA62190D-1142-4608-8A71-9ED3309A4360}" srcOrd="0" destOrd="2" presId="urn:microsoft.com/office/officeart/2005/8/layout/vList5"/>
    <dgm:cxn modelId="{B45D2961-E997-4E4E-9D99-8D904ACF52B7}" srcId="{1F214CDA-37FE-4C32-A2A3-D36575E06272}" destId="{BA608F40-F947-4659-A2A0-361897104C36}" srcOrd="1" destOrd="0" parTransId="{DDCFA1E8-8FA4-438B-8311-42B95DA9A0C7}" sibTransId="{91655662-FF06-4209-8D82-0FA28454C52F}"/>
    <dgm:cxn modelId="{727A1842-66D7-442E-9383-56E1CCEE5A17}" type="presOf" srcId="{13AAD5D1-0D25-4A01-B90A-B901F7BCC416}" destId="{D73C8019-D6FE-4E0E-8D4D-8F5CBE6995BC}" srcOrd="0" destOrd="2" presId="urn:microsoft.com/office/officeart/2005/8/layout/vList5"/>
    <dgm:cxn modelId="{ED266862-AF28-4109-92E6-238F726FD14B}" srcId="{80627A6D-7405-4004-9257-E6931CC87816}" destId="{1F214CDA-37FE-4C32-A2A3-D36575E06272}" srcOrd="2" destOrd="0" parTransId="{E6BE2391-7824-496F-9B2E-C6D04BADF4E8}" sibTransId="{8CAC588E-CD73-4B6D-9A83-F62D98593642}"/>
    <dgm:cxn modelId="{7E1D4F63-8423-4A14-B8F2-3139E0CA9D2B}" type="presOf" srcId="{FFACA6DA-4E5F-4754-B07C-BA7113E394B5}" destId="{AA62190D-1142-4608-8A71-9ED3309A4360}" srcOrd="0" destOrd="0" presId="urn:microsoft.com/office/officeart/2005/8/layout/vList5"/>
    <dgm:cxn modelId="{6566AC48-19E6-489B-9F3A-9756F1DEB4A5}" srcId="{78BDCEDE-BC14-482D-B8E2-7343E4D9B58B}" destId="{29CECD4B-9FAA-4680-ABA2-03501DC59F9E}" srcOrd="2" destOrd="0" parTransId="{37665C7C-6AA2-4FD4-882A-E11EAECC09B0}" sibTransId="{901AB284-C036-4FDE-92B7-696D5F1D1E43}"/>
    <dgm:cxn modelId="{E97A0F4E-401C-4D3E-BE58-023C8A85E696}" type="presOf" srcId="{2838BA81-A097-4122-87BB-152BA79B143A}" destId="{0616A34E-6080-4778-A3F7-86893A157D69}" srcOrd="0" destOrd="0" presId="urn:microsoft.com/office/officeart/2005/8/layout/vList5"/>
    <dgm:cxn modelId="{4D55FC8E-0D06-4AF3-B72E-4AE85F0EEB32}" type="presOf" srcId="{D1860B6A-C26B-49EA-82CF-9A3104240B0C}" destId="{0616A34E-6080-4778-A3F7-86893A157D69}" srcOrd="0" destOrd="1" presId="urn:microsoft.com/office/officeart/2005/8/layout/vList5"/>
    <dgm:cxn modelId="{15DE48C6-BD8C-4426-A67B-EF3F605A1776}" srcId="{1F214CDA-37FE-4C32-A2A3-D36575E06272}" destId="{DEC39872-C804-4724-B787-CB788E506181}" srcOrd="0" destOrd="0" parTransId="{B04C0CD4-EE20-4574-A02A-2453A56E6124}" sibTransId="{718EAC96-38AF-4799-AB70-4626B290F589}"/>
    <dgm:cxn modelId="{988140C9-588F-48ED-A09B-A225A75AB541}" type="presOf" srcId="{78BDCEDE-BC14-482D-B8E2-7343E4D9B58B}" destId="{ACF0B067-7DEF-4AEA-A60B-F1DF281614A5}" srcOrd="0" destOrd="0" presId="urn:microsoft.com/office/officeart/2005/8/layout/vList5"/>
    <dgm:cxn modelId="{B29D68CC-CEF6-4212-B2B4-AF88735DFB21}" srcId="{80627A6D-7405-4004-9257-E6931CC87816}" destId="{78BDCEDE-BC14-482D-B8E2-7343E4D9B58B}" srcOrd="0" destOrd="0" parTransId="{D47E9CAD-4D8A-4ED9-B94E-670D0C4A5227}" sibTransId="{934C0AD1-88B7-4D39-81D9-C5E7FD95B2BE}"/>
    <dgm:cxn modelId="{4AACD1D7-503A-4D2D-A8E1-4BE9AED8D818}" type="presOf" srcId="{912882E2-F4AE-4647-BAA0-BCCF9C2E801B}" destId="{BB412B10-B9D6-49E8-B8F2-DAC5EF89516A}" srcOrd="0" destOrd="0" presId="urn:microsoft.com/office/officeart/2005/8/layout/vList5"/>
    <dgm:cxn modelId="{39D24BDC-88A3-4E61-9222-A340E991BA79}" type="presOf" srcId="{DEC39872-C804-4724-B787-CB788E506181}" destId="{D73C8019-D6FE-4E0E-8D4D-8F5CBE6995BC}" srcOrd="0" destOrd="0" presId="urn:microsoft.com/office/officeart/2005/8/layout/vList5"/>
    <dgm:cxn modelId="{E77837E7-8C3B-4B10-9D42-10195E8966EF}" srcId="{912882E2-F4AE-4647-BAA0-BCCF9C2E801B}" destId="{D1860B6A-C26B-49EA-82CF-9A3104240B0C}" srcOrd="1" destOrd="0" parTransId="{49C91026-29EA-4FCC-899A-051110216491}" sibTransId="{E97ABE8D-A271-46ED-9DC5-E7E5919AF090}"/>
    <dgm:cxn modelId="{1E1B30F3-08E4-4B2A-ACC4-DB7E1EDC2A02}" type="presOf" srcId="{1F214CDA-37FE-4C32-A2A3-D36575E06272}" destId="{B42A040D-DF7F-49EE-A319-BD17A30C49F8}" srcOrd="0" destOrd="0" presId="urn:microsoft.com/office/officeart/2005/8/layout/vList5"/>
    <dgm:cxn modelId="{48418FF4-B5F2-4F10-A87F-3ECEAAC2BE9B}" srcId="{78BDCEDE-BC14-482D-B8E2-7343E4D9B58B}" destId="{80E9E593-EB97-434C-AFBE-188012C646CC}" srcOrd="1" destOrd="0" parTransId="{F568BC2E-AD7A-42F8-8B8F-860843EF6943}" sibTransId="{E11C8B91-9686-4E7E-8582-28C4A3C29EFA}"/>
    <dgm:cxn modelId="{C94CD2F7-FA5A-4AB0-A5A1-18DFCF1FB167}" type="presOf" srcId="{80627A6D-7405-4004-9257-E6931CC87816}" destId="{EB9A5BC9-67A1-4C2F-8FD4-AE8EA528686E}" srcOrd="0" destOrd="0" presId="urn:microsoft.com/office/officeart/2005/8/layout/vList5"/>
    <dgm:cxn modelId="{DA5E88FB-F765-4BD1-BD90-710142A01747}" type="presOf" srcId="{BA608F40-F947-4659-A2A0-361897104C36}" destId="{D73C8019-D6FE-4E0E-8D4D-8F5CBE6995BC}" srcOrd="0" destOrd="1" presId="urn:microsoft.com/office/officeart/2005/8/layout/vList5"/>
    <dgm:cxn modelId="{A06928FD-933C-4914-B1F5-2199919FD494}" type="presParOf" srcId="{EB9A5BC9-67A1-4C2F-8FD4-AE8EA528686E}" destId="{A9BBBC58-5716-4847-902D-68833F922D11}" srcOrd="0" destOrd="0" presId="urn:microsoft.com/office/officeart/2005/8/layout/vList5"/>
    <dgm:cxn modelId="{04FE20CF-CD23-4614-82F2-2303545A1DAB}" type="presParOf" srcId="{A9BBBC58-5716-4847-902D-68833F922D11}" destId="{ACF0B067-7DEF-4AEA-A60B-F1DF281614A5}" srcOrd="0" destOrd="0" presId="urn:microsoft.com/office/officeart/2005/8/layout/vList5"/>
    <dgm:cxn modelId="{F00F07E9-76E1-4309-89FC-A541A237EF65}" type="presParOf" srcId="{A9BBBC58-5716-4847-902D-68833F922D11}" destId="{AA62190D-1142-4608-8A71-9ED3309A4360}" srcOrd="1" destOrd="0" presId="urn:microsoft.com/office/officeart/2005/8/layout/vList5"/>
    <dgm:cxn modelId="{D90458E3-1BA5-4641-8459-7B28D6982734}" type="presParOf" srcId="{EB9A5BC9-67A1-4C2F-8FD4-AE8EA528686E}" destId="{EA60666D-774B-4E3C-A211-739FB1AD31A5}" srcOrd="1" destOrd="0" presId="urn:microsoft.com/office/officeart/2005/8/layout/vList5"/>
    <dgm:cxn modelId="{00BE46B8-5F11-4730-9023-B8DF487CBE59}" type="presParOf" srcId="{EB9A5BC9-67A1-4C2F-8FD4-AE8EA528686E}" destId="{C6F09303-AF98-4EB8-8EF5-3A4CA5CFF6B4}" srcOrd="2" destOrd="0" presId="urn:microsoft.com/office/officeart/2005/8/layout/vList5"/>
    <dgm:cxn modelId="{1CC9B1F4-8855-4D93-B87C-F05E1FAF3CD8}" type="presParOf" srcId="{C6F09303-AF98-4EB8-8EF5-3A4CA5CFF6B4}" destId="{BB412B10-B9D6-49E8-B8F2-DAC5EF89516A}" srcOrd="0" destOrd="0" presId="urn:microsoft.com/office/officeart/2005/8/layout/vList5"/>
    <dgm:cxn modelId="{994F4146-F3E2-4672-BA30-366E8D4FC432}" type="presParOf" srcId="{C6F09303-AF98-4EB8-8EF5-3A4CA5CFF6B4}" destId="{0616A34E-6080-4778-A3F7-86893A157D69}" srcOrd="1" destOrd="0" presId="urn:microsoft.com/office/officeart/2005/8/layout/vList5"/>
    <dgm:cxn modelId="{DF706B2C-B98E-4F97-98C5-82AFA5D07284}" type="presParOf" srcId="{EB9A5BC9-67A1-4C2F-8FD4-AE8EA528686E}" destId="{90364D8B-062C-4FE0-A966-98E5A007DAA6}" srcOrd="3" destOrd="0" presId="urn:microsoft.com/office/officeart/2005/8/layout/vList5"/>
    <dgm:cxn modelId="{DB2500C1-C96B-4903-88E8-6FC46F13C6EC}" type="presParOf" srcId="{EB9A5BC9-67A1-4C2F-8FD4-AE8EA528686E}" destId="{5961A1C4-9F60-459E-85D1-57DA9F6BB4FD}" srcOrd="4" destOrd="0" presId="urn:microsoft.com/office/officeart/2005/8/layout/vList5"/>
    <dgm:cxn modelId="{813368A1-DB8D-43EF-A8F8-F7EEE3B5C03A}" type="presParOf" srcId="{5961A1C4-9F60-459E-85D1-57DA9F6BB4FD}" destId="{B42A040D-DF7F-49EE-A319-BD17A30C49F8}" srcOrd="0" destOrd="0" presId="urn:microsoft.com/office/officeart/2005/8/layout/vList5"/>
    <dgm:cxn modelId="{F218581A-17B0-40BD-AC94-7DBFD68C507F}" type="presParOf" srcId="{5961A1C4-9F60-459E-85D1-57DA9F6BB4FD}" destId="{D73C8019-D6FE-4E0E-8D4D-8F5CBE6995B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3D5B80E-855B-4DF1-AB2B-3DBC9F24E66F}" type="doc">
      <dgm:prSet loTypeId="urn:microsoft.com/office/officeart/2005/8/layout/chevron1" loCatId="process" qsTypeId="urn:microsoft.com/office/officeart/2005/8/quickstyle/3d2" qsCatId="3D" csTypeId="urn:microsoft.com/office/officeart/2005/8/colors/colorful3" csCatId="colorful" phldr="1"/>
      <dgm:spPr/>
      <dgm:t>
        <a:bodyPr/>
        <a:lstStyle/>
        <a:p>
          <a:endParaRPr lang="zh-TW" altLang="en-US"/>
        </a:p>
      </dgm:t>
    </dgm:pt>
    <dgm:pt modelId="{B162B115-B5B0-4D46-BFC1-BF8C6DC3EB64}">
      <dgm:prSet phldrT="[文字]"/>
      <dgm:spPr/>
      <dgm:t>
        <a:bodyPr/>
        <a:lstStyle/>
        <a:p>
          <a:r>
            <a:rPr lang="zh-TW" altLang="en-US" dirty="0">
              <a:latin typeface="微軟正黑體" panose="020B0604030504040204" pitchFamily="34" charset="-120"/>
              <a:ea typeface="微軟正黑體" panose="020B0604030504040204" pitchFamily="34" charset="-120"/>
            </a:rPr>
            <a:t>申請</a:t>
          </a:r>
        </a:p>
      </dgm:t>
    </dgm:pt>
    <dgm:pt modelId="{BF5D93EB-1BB3-45DC-A1F6-89D48C0DB604}" type="parTrans" cxnId="{1D0B8BAF-A261-4304-948D-EA44A66978E9}">
      <dgm:prSet/>
      <dgm:spPr/>
      <dgm:t>
        <a:bodyPr/>
        <a:lstStyle/>
        <a:p>
          <a:endParaRPr lang="zh-TW" altLang="en-US">
            <a:latin typeface="微軟正黑體" panose="020B0604030504040204" pitchFamily="34" charset="-120"/>
            <a:ea typeface="微軟正黑體" panose="020B0604030504040204" pitchFamily="34" charset="-120"/>
          </a:endParaRPr>
        </a:p>
      </dgm:t>
    </dgm:pt>
    <dgm:pt modelId="{01EEE5FD-117E-4B01-811D-4721F30BD71F}" type="sibTrans" cxnId="{1D0B8BAF-A261-4304-948D-EA44A66978E9}">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6131976-BE4B-497F-8ABE-88D2A5B8E1C6}">
      <dgm:prSet phldrT="[文字]"/>
      <dgm:spPr/>
      <dgm:t>
        <a:bodyPr/>
        <a:lstStyle/>
        <a:p>
          <a:r>
            <a:rPr lang="zh-TW" altLang="en-US" dirty="0">
              <a:latin typeface="微軟正黑體" panose="020B0604030504040204" pitchFamily="34" charset="-120"/>
              <a:ea typeface="微軟正黑體" panose="020B0604030504040204" pitchFamily="34" charset="-120"/>
            </a:rPr>
            <a:t>審查</a:t>
          </a:r>
        </a:p>
      </dgm:t>
    </dgm:pt>
    <dgm:pt modelId="{18680912-77E8-4513-B35F-1FFB635B25AC}" type="parTrans" cxnId="{3FCA1B32-9F3F-4A89-9C55-B523515B18F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7BD5B3DF-356F-4FB3-A97C-0082767D2340}" type="sibTrans" cxnId="{3FCA1B32-9F3F-4A89-9C55-B523515B18F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9FDEB750-03F2-4DD2-BE7D-A73FEE999CAF}">
      <dgm:prSet phldrT="[文字]"/>
      <dgm:spPr/>
      <dgm:t>
        <a:bodyPr/>
        <a:lstStyle/>
        <a:p>
          <a:r>
            <a:rPr lang="zh-TW" altLang="en-US" dirty="0">
              <a:latin typeface="微軟正黑體" panose="020B0604030504040204" pitchFamily="34" charset="-120"/>
              <a:ea typeface="微軟正黑體" panose="020B0604030504040204" pitchFamily="34" charset="-120"/>
            </a:rPr>
            <a:t>審定</a:t>
          </a:r>
        </a:p>
      </dgm:t>
    </dgm:pt>
    <dgm:pt modelId="{181EC409-E8AD-4BE3-ADEC-0E48EF299A2B}" type="parTrans" cxnId="{40B89BFC-1949-4254-BA14-3F87845219A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1C0F31D-57C8-4DE6-A132-8FD96D73196D}" type="sibTrans" cxnId="{40B89BFC-1949-4254-BA14-3F87845219A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77F003C-7E94-448A-9155-F4BC26F3B87B}">
      <dgm:prSet phldrT="[文字]"/>
      <dgm:spPr/>
      <dgm:t>
        <a:bodyPr/>
        <a:lstStyle/>
        <a:p>
          <a:r>
            <a:rPr lang="zh-TW" altLang="en-US" dirty="0">
              <a:latin typeface="微軟正黑體" panose="020B0604030504040204" pitchFamily="34" charset="-120"/>
              <a:ea typeface="微軟正黑體" panose="020B0604030504040204" pitchFamily="34" charset="-120"/>
            </a:rPr>
            <a:t>公告</a:t>
          </a:r>
        </a:p>
      </dgm:t>
    </dgm:pt>
    <dgm:pt modelId="{C2A8D2C3-0072-40EE-A4D0-BE02F9D41A11}" type="parTrans" cxnId="{227EB2FF-609F-4ED8-9948-AC7DEA6790B5}">
      <dgm:prSet/>
      <dgm:spPr/>
      <dgm:t>
        <a:bodyPr/>
        <a:lstStyle/>
        <a:p>
          <a:endParaRPr lang="zh-TW" altLang="en-US">
            <a:latin typeface="微軟正黑體" panose="020B0604030504040204" pitchFamily="34" charset="-120"/>
            <a:ea typeface="微軟正黑體" panose="020B0604030504040204" pitchFamily="34" charset="-120"/>
          </a:endParaRPr>
        </a:p>
      </dgm:t>
    </dgm:pt>
    <dgm:pt modelId="{5A6768FB-BC3D-4B91-9D18-E91E224194D4}" type="sibTrans" cxnId="{227EB2FF-609F-4ED8-9948-AC7DEA6790B5}">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A09B4C0-9160-4150-811C-DF9675D0BAA8}">
      <dgm:prSet phldrT="[文字]" custT="1"/>
      <dgm:spPr/>
      <dgm:t>
        <a:bodyPr/>
        <a:lstStyle/>
        <a:p>
          <a:r>
            <a:rPr lang="zh-TW" altLang="en-US" sz="2000" dirty="0">
              <a:latin typeface="微軟正黑體" panose="020B0604030504040204" pitchFamily="34" charset="-120"/>
              <a:ea typeface="微軟正黑體" panose="020B0604030504040204" pitchFamily="34" charset="-120"/>
            </a:rPr>
            <a:t>送件</a:t>
          </a:r>
          <a:r>
            <a:rPr lang="en-US" altLang="zh-TW" sz="2000" dirty="0">
              <a:latin typeface="微軟正黑體" panose="020B0604030504040204" pitchFamily="34" charset="-120"/>
              <a:ea typeface="微軟正黑體" panose="020B0604030504040204" pitchFamily="34" charset="-120"/>
            </a:rPr>
            <a:t>or</a:t>
          </a:r>
          <a:r>
            <a:rPr lang="zh-TW" altLang="en-US" sz="2000" dirty="0">
              <a:latin typeface="微軟正黑體" panose="020B0604030504040204" pitchFamily="34" charset="-120"/>
              <a:ea typeface="微軟正黑體" panose="020B0604030504040204" pitchFamily="34" charset="-120"/>
            </a:rPr>
            <a:t>補件</a:t>
          </a:r>
        </a:p>
      </dgm:t>
    </dgm:pt>
    <dgm:pt modelId="{2AB7B1A2-A606-4938-8926-60F01AD3BA11}" type="parTrans" cxnId="{A377D823-B603-4648-92B5-8BDA5873E774}">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8762CCC-040B-43DF-9EDF-CFEC79F1C956}" type="sibTrans" cxnId="{A377D823-B603-4648-92B5-8BDA5873E774}">
      <dgm:prSet/>
      <dgm:spPr/>
      <dgm:t>
        <a:bodyPr/>
        <a:lstStyle/>
        <a:p>
          <a:endParaRPr lang="zh-TW" altLang="en-US">
            <a:latin typeface="微軟正黑體" panose="020B0604030504040204" pitchFamily="34" charset="-120"/>
            <a:ea typeface="微軟正黑體" panose="020B0604030504040204" pitchFamily="34" charset="-120"/>
          </a:endParaRPr>
        </a:p>
      </dgm:t>
    </dgm:pt>
    <dgm:pt modelId="{6EAE2F4B-8F9A-4598-AA04-1157EEABA342}">
      <dgm:prSet phldrT="[文字]" custT="1"/>
      <dgm:spPr/>
      <dgm:t>
        <a:bodyPr/>
        <a:lstStyle/>
        <a:p>
          <a:r>
            <a:rPr lang="zh-TW" altLang="en-US" sz="2000" dirty="0">
              <a:latin typeface="微軟正黑體" panose="020B0604030504040204" pitchFamily="34" charset="-120"/>
              <a:ea typeface="微軟正黑體" panose="020B0604030504040204" pitchFamily="34" charset="-120"/>
            </a:rPr>
            <a:t>通知申請日</a:t>
          </a:r>
        </a:p>
      </dgm:t>
    </dgm:pt>
    <dgm:pt modelId="{F8703873-1DDB-4557-A7AE-8B8F46632D11}" type="parTrans" cxnId="{90F0ACE2-CC72-4090-88CC-123921C5B7C1}">
      <dgm:prSet/>
      <dgm:spPr/>
      <dgm:t>
        <a:bodyPr/>
        <a:lstStyle/>
        <a:p>
          <a:endParaRPr lang="zh-TW" altLang="en-US">
            <a:latin typeface="微軟正黑體" panose="020B0604030504040204" pitchFamily="34" charset="-120"/>
            <a:ea typeface="微軟正黑體" panose="020B0604030504040204" pitchFamily="34" charset="-120"/>
          </a:endParaRPr>
        </a:p>
      </dgm:t>
    </dgm:pt>
    <dgm:pt modelId="{80153C6E-215E-416B-BE00-2FDD8163FCFC}" type="sibTrans" cxnId="{90F0ACE2-CC72-4090-88CC-123921C5B7C1}">
      <dgm:prSet/>
      <dgm:spPr/>
      <dgm:t>
        <a:bodyPr/>
        <a:lstStyle/>
        <a:p>
          <a:endParaRPr lang="zh-TW" altLang="en-US">
            <a:latin typeface="微軟正黑體" panose="020B0604030504040204" pitchFamily="34" charset="-120"/>
            <a:ea typeface="微軟正黑體" panose="020B0604030504040204" pitchFamily="34" charset="-120"/>
          </a:endParaRPr>
        </a:p>
      </dgm:t>
    </dgm:pt>
    <dgm:pt modelId="{CF1A7D58-0459-4F53-A7F5-A5A5BCE5E8FD}">
      <dgm:prSet phldrT="[文字]" custT="1"/>
      <dgm:spPr/>
      <dgm:t>
        <a:bodyPr/>
        <a:lstStyle/>
        <a:p>
          <a:r>
            <a:rPr lang="zh-TW" altLang="en-US" sz="2000" dirty="0">
              <a:latin typeface="微軟正黑體" panose="020B0604030504040204" pitchFamily="34" charset="-120"/>
              <a:ea typeface="微軟正黑體" panose="020B0604030504040204" pitchFamily="34" charset="-120"/>
            </a:rPr>
            <a:t>申請實審</a:t>
          </a:r>
        </a:p>
      </dgm:t>
    </dgm:pt>
    <dgm:pt modelId="{1407EDCD-F86C-48A3-8069-8AF5C4476D86}" type="parTrans" cxnId="{C2EB2E54-E156-4BAE-828E-DEE4CBFE7F7F}">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E4D36A7-B5BD-4097-90CB-58144C562820}" type="sibTrans" cxnId="{C2EB2E54-E156-4BAE-828E-DEE4CBFE7F7F}">
      <dgm:prSet/>
      <dgm:spPr/>
      <dgm:t>
        <a:bodyPr/>
        <a:lstStyle/>
        <a:p>
          <a:endParaRPr lang="zh-TW" altLang="en-US">
            <a:latin typeface="微軟正黑體" panose="020B0604030504040204" pitchFamily="34" charset="-120"/>
            <a:ea typeface="微軟正黑體" panose="020B0604030504040204" pitchFamily="34" charset="-120"/>
          </a:endParaRPr>
        </a:p>
      </dgm:t>
    </dgm:pt>
    <dgm:pt modelId="{CFDE0F3C-D65F-44DC-940E-92AA9F961ACA}">
      <dgm:prSet phldrT="[文字]" custT="1"/>
      <dgm:spPr/>
      <dgm:t>
        <a:bodyPr/>
        <a:lstStyle/>
        <a:p>
          <a:r>
            <a:rPr lang="zh-TW" altLang="en-US" sz="2000" dirty="0">
              <a:latin typeface="微軟正黑體" panose="020B0604030504040204" pitchFamily="34" charset="-120"/>
              <a:ea typeface="微軟正黑體" panose="020B0604030504040204" pitchFamily="34" charset="-120"/>
            </a:rPr>
            <a:t>審查意見及修正</a:t>
          </a:r>
        </a:p>
      </dgm:t>
    </dgm:pt>
    <dgm:pt modelId="{B7C305B8-0384-404B-842B-F6CD3B31BFE9}" type="parTrans" cxnId="{0E3CAFA1-98D5-4C2C-9142-ED8A37B73D49}">
      <dgm:prSet/>
      <dgm:spPr/>
      <dgm:t>
        <a:bodyPr/>
        <a:lstStyle/>
        <a:p>
          <a:endParaRPr lang="zh-TW" altLang="en-US">
            <a:latin typeface="微軟正黑體" panose="020B0604030504040204" pitchFamily="34" charset="-120"/>
            <a:ea typeface="微軟正黑體" panose="020B0604030504040204" pitchFamily="34" charset="-120"/>
          </a:endParaRPr>
        </a:p>
      </dgm:t>
    </dgm:pt>
    <dgm:pt modelId="{176E1DAE-0B65-4C4D-B20D-BD3763F15D6F}" type="sibTrans" cxnId="{0E3CAFA1-98D5-4C2C-9142-ED8A37B73D49}">
      <dgm:prSet/>
      <dgm:spPr/>
      <dgm:t>
        <a:bodyPr/>
        <a:lstStyle/>
        <a:p>
          <a:endParaRPr lang="zh-TW" altLang="en-US">
            <a:latin typeface="微軟正黑體" panose="020B0604030504040204" pitchFamily="34" charset="-120"/>
            <a:ea typeface="微軟正黑體" panose="020B0604030504040204" pitchFamily="34" charset="-120"/>
          </a:endParaRPr>
        </a:p>
      </dgm:t>
    </dgm:pt>
    <dgm:pt modelId="{FECEF5FE-957F-4CF5-B3BF-107572296C5F}">
      <dgm:prSet phldrT="[文字]" custT="1"/>
      <dgm:spPr/>
      <dgm:t>
        <a:bodyPr/>
        <a:lstStyle/>
        <a:p>
          <a:r>
            <a:rPr lang="zh-TW" altLang="en-US" sz="2000" dirty="0">
              <a:latin typeface="微軟正黑體" panose="020B0604030504040204" pitchFamily="34" charset="-120"/>
              <a:ea typeface="微軟正黑體" panose="020B0604030504040204" pitchFamily="34" charset="-120"/>
            </a:rPr>
            <a:t>核准或核駁</a:t>
          </a:r>
        </a:p>
      </dgm:t>
    </dgm:pt>
    <dgm:pt modelId="{9D90B424-408D-4F96-958C-13D0E88A5B3F}" type="parTrans" cxnId="{558DA50E-E911-48DC-99F7-EE97F2E43A32}">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0864625-8F07-4F00-AFB7-75F1CBC6A86E}" type="sibTrans" cxnId="{558DA50E-E911-48DC-99F7-EE97F2E43A32}">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BD487C9-ADDA-413B-9037-F4C5D730D794}">
      <dgm:prSet phldrT="[文字]" custT="1"/>
      <dgm:spPr/>
      <dgm:t>
        <a:bodyPr/>
        <a:lstStyle/>
        <a:p>
          <a:r>
            <a:rPr lang="zh-TW" altLang="en-US" sz="2000" dirty="0">
              <a:latin typeface="微軟正黑體" panose="020B0604030504040204" pitchFamily="34" charset="-120"/>
              <a:ea typeface="微軟正黑體" panose="020B0604030504040204" pitchFamily="34" charset="-120"/>
            </a:rPr>
            <a:t>申請再審查</a:t>
          </a:r>
        </a:p>
      </dgm:t>
    </dgm:pt>
    <dgm:pt modelId="{53AE307C-BF4A-4437-B625-B6A7B8355B1F}" type="parTrans" cxnId="{D15DC5EE-6BE6-4C46-B5B5-F8E4EFCD15D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E5FC1542-2AC3-4097-8310-22AA96070B16}" type="sibTrans" cxnId="{D15DC5EE-6BE6-4C46-B5B5-F8E4EFCD15DB}">
      <dgm:prSet/>
      <dgm:spPr/>
      <dgm:t>
        <a:bodyPr/>
        <a:lstStyle/>
        <a:p>
          <a:endParaRPr lang="zh-TW" altLang="en-US">
            <a:latin typeface="微軟正黑體" panose="020B0604030504040204" pitchFamily="34" charset="-120"/>
            <a:ea typeface="微軟正黑體" panose="020B0604030504040204" pitchFamily="34" charset="-120"/>
          </a:endParaRPr>
        </a:p>
      </dgm:t>
    </dgm:pt>
    <dgm:pt modelId="{D953707F-587D-421F-B7CD-FBC9928E7CF9}">
      <dgm:prSet phldrT="[文字]" custT="1"/>
      <dgm:spPr/>
      <dgm:t>
        <a:bodyPr/>
        <a:lstStyle/>
        <a:p>
          <a:r>
            <a:rPr lang="zh-TW" altLang="en-US" sz="2000" dirty="0">
              <a:latin typeface="微軟正黑體" panose="020B0604030504040204" pitchFamily="34" charset="-120"/>
              <a:ea typeface="微軟正黑體" panose="020B0604030504040204" pitchFamily="34" charset="-120"/>
            </a:rPr>
            <a:t>繳費領證</a:t>
          </a:r>
        </a:p>
      </dgm:t>
    </dgm:pt>
    <dgm:pt modelId="{A5B72938-F397-409D-BFC9-E37AA860E4F7}" type="parTrans" cxnId="{D5ECC2ED-D72E-42E8-BEFD-A1F83DFEF7A0}">
      <dgm:prSet/>
      <dgm:spPr/>
      <dgm:t>
        <a:bodyPr/>
        <a:lstStyle/>
        <a:p>
          <a:endParaRPr lang="zh-TW" altLang="en-US">
            <a:latin typeface="微軟正黑體" panose="020B0604030504040204" pitchFamily="34" charset="-120"/>
            <a:ea typeface="微軟正黑體" panose="020B0604030504040204" pitchFamily="34" charset="-120"/>
          </a:endParaRPr>
        </a:p>
      </dgm:t>
    </dgm:pt>
    <dgm:pt modelId="{8AA502AE-FC90-404B-8C04-C2F7BBB42620}" type="sibTrans" cxnId="{D5ECC2ED-D72E-42E8-BEFD-A1F83DFEF7A0}">
      <dgm:prSet/>
      <dgm:spPr/>
      <dgm:t>
        <a:bodyPr/>
        <a:lstStyle/>
        <a:p>
          <a:endParaRPr lang="zh-TW" altLang="en-US">
            <a:latin typeface="微軟正黑體" panose="020B0604030504040204" pitchFamily="34" charset="-120"/>
            <a:ea typeface="微軟正黑體" panose="020B0604030504040204" pitchFamily="34" charset="-120"/>
          </a:endParaRPr>
        </a:p>
      </dgm:t>
    </dgm:pt>
    <dgm:pt modelId="{70333333-B94D-4C86-B258-519D7766454C}">
      <dgm:prSet phldrT="[文字]" custT="1"/>
      <dgm:spPr/>
      <dgm:t>
        <a:bodyPr/>
        <a:lstStyle/>
        <a:p>
          <a:r>
            <a:rPr lang="zh-TW" altLang="en-US" sz="2000" dirty="0">
              <a:latin typeface="微軟正黑體" panose="020B0604030504040204" pitchFamily="34" charset="-120"/>
              <a:ea typeface="微軟正黑體" panose="020B0604030504040204" pitchFamily="34" charset="-120"/>
            </a:rPr>
            <a:t>公告</a:t>
          </a:r>
        </a:p>
      </dgm:t>
    </dgm:pt>
    <dgm:pt modelId="{37DA928E-1F3D-4F2A-99C5-8ABF6D1A3FDF}" type="parTrans" cxnId="{905408E7-4D7F-4088-9DCC-72752E0CB27E}">
      <dgm:prSet/>
      <dgm:spPr/>
      <dgm:t>
        <a:bodyPr/>
        <a:lstStyle/>
        <a:p>
          <a:endParaRPr lang="zh-TW" altLang="en-US">
            <a:latin typeface="微軟正黑體" panose="020B0604030504040204" pitchFamily="34" charset="-120"/>
            <a:ea typeface="微軟正黑體" panose="020B0604030504040204" pitchFamily="34" charset="-120"/>
          </a:endParaRPr>
        </a:p>
      </dgm:t>
    </dgm:pt>
    <dgm:pt modelId="{BE9B4C6E-C281-4CB1-9BC3-C08B3049A8E6}" type="sibTrans" cxnId="{905408E7-4D7F-4088-9DCC-72752E0CB27E}">
      <dgm:prSet/>
      <dgm:spPr/>
      <dgm:t>
        <a:bodyPr/>
        <a:lstStyle/>
        <a:p>
          <a:endParaRPr lang="zh-TW" altLang="en-US">
            <a:latin typeface="微軟正黑體" panose="020B0604030504040204" pitchFamily="34" charset="-120"/>
            <a:ea typeface="微軟正黑體" panose="020B0604030504040204" pitchFamily="34" charset="-120"/>
          </a:endParaRPr>
        </a:p>
      </dgm:t>
    </dgm:pt>
    <dgm:pt modelId="{AACDE3B6-31B3-4E09-A6A7-CBAAA56438B8}" type="pres">
      <dgm:prSet presAssocID="{93D5B80E-855B-4DF1-AB2B-3DBC9F24E66F}" presName="Name0" presStyleCnt="0">
        <dgm:presLayoutVars>
          <dgm:dir/>
          <dgm:animLvl val="lvl"/>
          <dgm:resizeHandles val="exact"/>
        </dgm:presLayoutVars>
      </dgm:prSet>
      <dgm:spPr/>
    </dgm:pt>
    <dgm:pt modelId="{CBFB0C85-14F3-4071-A430-3CB4FC1AA0A4}" type="pres">
      <dgm:prSet presAssocID="{B162B115-B5B0-4D46-BFC1-BF8C6DC3EB64}" presName="composite" presStyleCnt="0"/>
      <dgm:spPr/>
    </dgm:pt>
    <dgm:pt modelId="{589BFED3-CF2A-484F-B9EE-5FE67FC930C5}" type="pres">
      <dgm:prSet presAssocID="{B162B115-B5B0-4D46-BFC1-BF8C6DC3EB64}" presName="parTx" presStyleLbl="node1" presStyleIdx="0" presStyleCnt="4">
        <dgm:presLayoutVars>
          <dgm:chMax val="0"/>
          <dgm:chPref val="0"/>
          <dgm:bulletEnabled val="1"/>
        </dgm:presLayoutVars>
      </dgm:prSet>
      <dgm:spPr/>
    </dgm:pt>
    <dgm:pt modelId="{3B03A943-E044-498A-9B75-C75BB07E2275}" type="pres">
      <dgm:prSet presAssocID="{B162B115-B5B0-4D46-BFC1-BF8C6DC3EB64}" presName="desTx" presStyleLbl="revTx" presStyleIdx="0" presStyleCnt="4">
        <dgm:presLayoutVars>
          <dgm:bulletEnabled val="1"/>
        </dgm:presLayoutVars>
      </dgm:prSet>
      <dgm:spPr/>
    </dgm:pt>
    <dgm:pt modelId="{E2CBE66B-91FD-40B2-9F30-A93FF309B20B}" type="pres">
      <dgm:prSet presAssocID="{01EEE5FD-117E-4B01-811D-4721F30BD71F}" presName="space" presStyleCnt="0"/>
      <dgm:spPr/>
    </dgm:pt>
    <dgm:pt modelId="{5779AE24-8649-4179-AB84-645042B12F36}" type="pres">
      <dgm:prSet presAssocID="{B6131976-BE4B-497F-8ABE-88D2A5B8E1C6}" presName="composite" presStyleCnt="0"/>
      <dgm:spPr/>
    </dgm:pt>
    <dgm:pt modelId="{854708A8-9E60-46A3-A34F-CCA743EF61DF}" type="pres">
      <dgm:prSet presAssocID="{B6131976-BE4B-497F-8ABE-88D2A5B8E1C6}" presName="parTx" presStyleLbl="node1" presStyleIdx="1" presStyleCnt="4">
        <dgm:presLayoutVars>
          <dgm:chMax val="0"/>
          <dgm:chPref val="0"/>
          <dgm:bulletEnabled val="1"/>
        </dgm:presLayoutVars>
      </dgm:prSet>
      <dgm:spPr/>
    </dgm:pt>
    <dgm:pt modelId="{6FD46870-D6E6-44A1-8D55-EE8D8AD38250}" type="pres">
      <dgm:prSet presAssocID="{B6131976-BE4B-497F-8ABE-88D2A5B8E1C6}" presName="desTx" presStyleLbl="revTx" presStyleIdx="1" presStyleCnt="4">
        <dgm:presLayoutVars>
          <dgm:bulletEnabled val="1"/>
        </dgm:presLayoutVars>
      </dgm:prSet>
      <dgm:spPr/>
    </dgm:pt>
    <dgm:pt modelId="{4F83B186-4746-4932-94BB-BB1D3F9A46FF}" type="pres">
      <dgm:prSet presAssocID="{7BD5B3DF-356F-4FB3-A97C-0082767D2340}" presName="space" presStyleCnt="0"/>
      <dgm:spPr/>
    </dgm:pt>
    <dgm:pt modelId="{996FF3EA-C0F7-4ECA-9ACD-B7051D037045}" type="pres">
      <dgm:prSet presAssocID="{9FDEB750-03F2-4DD2-BE7D-A73FEE999CAF}" presName="composite" presStyleCnt="0"/>
      <dgm:spPr/>
    </dgm:pt>
    <dgm:pt modelId="{268A4989-CB95-4CDF-931F-DE899C214924}" type="pres">
      <dgm:prSet presAssocID="{9FDEB750-03F2-4DD2-BE7D-A73FEE999CAF}" presName="parTx" presStyleLbl="node1" presStyleIdx="2" presStyleCnt="4">
        <dgm:presLayoutVars>
          <dgm:chMax val="0"/>
          <dgm:chPref val="0"/>
          <dgm:bulletEnabled val="1"/>
        </dgm:presLayoutVars>
      </dgm:prSet>
      <dgm:spPr/>
    </dgm:pt>
    <dgm:pt modelId="{4594A846-C5F1-4F9D-A308-1FD4F99210EE}" type="pres">
      <dgm:prSet presAssocID="{9FDEB750-03F2-4DD2-BE7D-A73FEE999CAF}" presName="desTx" presStyleLbl="revTx" presStyleIdx="2" presStyleCnt="4">
        <dgm:presLayoutVars>
          <dgm:bulletEnabled val="1"/>
        </dgm:presLayoutVars>
      </dgm:prSet>
      <dgm:spPr/>
    </dgm:pt>
    <dgm:pt modelId="{89D27647-0EF2-44B3-BE6F-2E5CA5156F9B}" type="pres">
      <dgm:prSet presAssocID="{D1C0F31D-57C8-4DE6-A132-8FD96D73196D}" presName="space" presStyleCnt="0"/>
      <dgm:spPr/>
    </dgm:pt>
    <dgm:pt modelId="{123CB541-5D39-4129-B0B6-C43D785D00A5}" type="pres">
      <dgm:prSet presAssocID="{B77F003C-7E94-448A-9155-F4BC26F3B87B}" presName="composite" presStyleCnt="0"/>
      <dgm:spPr/>
    </dgm:pt>
    <dgm:pt modelId="{881D73F5-E64F-4021-BE89-76A8B497E4A7}" type="pres">
      <dgm:prSet presAssocID="{B77F003C-7E94-448A-9155-F4BC26F3B87B}" presName="parTx" presStyleLbl="node1" presStyleIdx="3" presStyleCnt="4">
        <dgm:presLayoutVars>
          <dgm:chMax val="0"/>
          <dgm:chPref val="0"/>
          <dgm:bulletEnabled val="1"/>
        </dgm:presLayoutVars>
      </dgm:prSet>
      <dgm:spPr/>
    </dgm:pt>
    <dgm:pt modelId="{65EA929A-AA66-42FE-A087-DF7D30974C5A}" type="pres">
      <dgm:prSet presAssocID="{B77F003C-7E94-448A-9155-F4BC26F3B87B}" presName="desTx" presStyleLbl="revTx" presStyleIdx="3" presStyleCnt="4">
        <dgm:presLayoutVars>
          <dgm:bulletEnabled val="1"/>
        </dgm:presLayoutVars>
      </dgm:prSet>
      <dgm:spPr/>
    </dgm:pt>
  </dgm:ptLst>
  <dgm:cxnLst>
    <dgm:cxn modelId="{64003D01-8C3A-455D-8922-951E0C6ECBAF}" type="presOf" srcId="{CFDE0F3C-D65F-44DC-940E-92AA9F961ACA}" destId="{6FD46870-D6E6-44A1-8D55-EE8D8AD38250}" srcOrd="0" destOrd="1" presId="urn:microsoft.com/office/officeart/2005/8/layout/chevron1"/>
    <dgm:cxn modelId="{F911EF07-73FA-41D2-B9A1-3B96C6974F30}" type="presOf" srcId="{B77F003C-7E94-448A-9155-F4BC26F3B87B}" destId="{881D73F5-E64F-4021-BE89-76A8B497E4A7}" srcOrd="0" destOrd="0" presId="urn:microsoft.com/office/officeart/2005/8/layout/chevron1"/>
    <dgm:cxn modelId="{CD594109-B88C-4DB0-8511-9488694B0C6E}" type="presOf" srcId="{DBD487C9-ADDA-413B-9037-F4C5D730D794}" destId="{4594A846-C5F1-4F9D-A308-1FD4F99210EE}" srcOrd="0" destOrd="1" presId="urn:microsoft.com/office/officeart/2005/8/layout/chevron1"/>
    <dgm:cxn modelId="{558DA50E-E911-48DC-99F7-EE97F2E43A32}" srcId="{9FDEB750-03F2-4DD2-BE7D-A73FEE999CAF}" destId="{FECEF5FE-957F-4CF5-B3BF-107572296C5F}" srcOrd="0" destOrd="0" parTransId="{9D90B424-408D-4F96-958C-13D0E88A5B3F}" sibTransId="{D0864625-8F07-4F00-AFB7-75F1CBC6A86E}"/>
    <dgm:cxn modelId="{02AA711D-5F3A-4C08-A356-1A07DD1CADC3}" type="presOf" srcId="{6EAE2F4B-8F9A-4598-AA04-1157EEABA342}" destId="{3B03A943-E044-498A-9B75-C75BB07E2275}" srcOrd="0" destOrd="1" presId="urn:microsoft.com/office/officeart/2005/8/layout/chevron1"/>
    <dgm:cxn modelId="{A377D823-B603-4648-92B5-8BDA5873E774}" srcId="{B162B115-B5B0-4D46-BFC1-BF8C6DC3EB64}" destId="{DA09B4C0-9160-4150-811C-DF9675D0BAA8}" srcOrd="0" destOrd="0" parTransId="{2AB7B1A2-A606-4938-8926-60F01AD3BA11}" sibTransId="{B8762CCC-040B-43DF-9EDF-CFEC79F1C956}"/>
    <dgm:cxn modelId="{3FCA1B32-9F3F-4A89-9C55-B523515B18FB}" srcId="{93D5B80E-855B-4DF1-AB2B-3DBC9F24E66F}" destId="{B6131976-BE4B-497F-8ABE-88D2A5B8E1C6}" srcOrd="1" destOrd="0" parTransId="{18680912-77E8-4513-B35F-1FFB635B25AC}" sibTransId="{7BD5B3DF-356F-4FB3-A97C-0082767D2340}"/>
    <dgm:cxn modelId="{1719A035-4F8D-4743-82DF-58EF7ECD1C21}" type="presOf" srcId="{B6131976-BE4B-497F-8ABE-88D2A5B8E1C6}" destId="{854708A8-9E60-46A3-A34F-CCA743EF61DF}" srcOrd="0" destOrd="0" presId="urn:microsoft.com/office/officeart/2005/8/layout/chevron1"/>
    <dgm:cxn modelId="{C2EB2E54-E156-4BAE-828E-DEE4CBFE7F7F}" srcId="{B6131976-BE4B-497F-8ABE-88D2A5B8E1C6}" destId="{CF1A7D58-0459-4F53-A7F5-A5A5BCE5E8FD}" srcOrd="0" destOrd="0" parTransId="{1407EDCD-F86C-48A3-8069-8AF5C4476D86}" sibTransId="{BE4D36A7-B5BD-4097-90CB-58144C562820}"/>
    <dgm:cxn modelId="{8CA2E47E-1D04-487F-8D36-2173CCC60923}" type="presOf" srcId="{B162B115-B5B0-4D46-BFC1-BF8C6DC3EB64}" destId="{589BFED3-CF2A-484F-B9EE-5FE67FC930C5}" srcOrd="0" destOrd="0" presId="urn:microsoft.com/office/officeart/2005/8/layout/chevron1"/>
    <dgm:cxn modelId="{F3339190-4C22-49FC-B302-782D6DE6D8B3}" type="presOf" srcId="{70333333-B94D-4C86-B258-519D7766454C}" destId="{65EA929A-AA66-42FE-A087-DF7D30974C5A}" srcOrd="0" destOrd="1" presId="urn:microsoft.com/office/officeart/2005/8/layout/chevron1"/>
    <dgm:cxn modelId="{0E3CAFA1-98D5-4C2C-9142-ED8A37B73D49}" srcId="{B6131976-BE4B-497F-8ABE-88D2A5B8E1C6}" destId="{CFDE0F3C-D65F-44DC-940E-92AA9F961ACA}" srcOrd="1" destOrd="0" parTransId="{B7C305B8-0384-404B-842B-F6CD3B31BFE9}" sibTransId="{176E1DAE-0B65-4C4D-B20D-BD3763F15D6F}"/>
    <dgm:cxn modelId="{DCC29FA2-5A41-4D48-AAE8-01B8FF650398}" type="presOf" srcId="{93D5B80E-855B-4DF1-AB2B-3DBC9F24E66F}" destId="{AACDE3B6-31B3-4E09-A6A7-CBAAA56438B8}" srcOrd="0" destOrd="0" presId="urn:microsoft.com/office/officeart/2005/8/layout/chevron1"/>
    <dgm:cxn modelId="{0820B7AB-CAFD-4830-B30C-44C0E09427E6}" type="presOf" srcId="{DA09B4C0-9160-4150-811C-DF9675D0BAA8}" destId="{3B03A943-E044-498A-9B75-C75BB07E2275}" srcOrd="0" destOrd="0" presId="urn:microsoft.com/office/officeart/2005/8/layout/chevron1"/>
    <dgm:cxn modelId="{1D0B8BAF-A261-4304-948D-EA44A66978E9}" srcId="{93D5B80E-855B-4DF1-AB2B-3DBC9F24E66F}" destId="{B162B115-B5B0-4D46-BFC1-BF8C6DC3EB64}" srcOrd="0" destOrd="0" parTransId="{BF5D93EB-1BB3-45DC-A1F6-89D48C0DB604}" sibTransId="{01EEE5FD-117E-4B01-811D-4721F30BD71F}"/>
    <dgm:cxn modelId="{D933DFB6-42C1-4917-A758-BAE6F15F6043}" type="presOf" srcId="{FECEF5FE-957F-4CF5-B3BF-107572296C5F}" destId="{4594A846-C5F1-4F9D-A308-1FD4F99210EE}" srcOrd="0" destOrd="0" presId="urn:microsoft.com/office/officeart/2005/8/layout/chevron1"/>
    <dgm:cxn modelId="{F80733C2-A49B-4125-8BD0-6609069BD439}" type="presOf" srcId="{CF1A7D58-0459-4F53-A7F5-A5A5BCE5E8FD}" destId="{6FD46870-D6E6-44A1-8D55-EE8D8AD38250}" srcOrd="0" destOrd="0" presId="urn:microsoft.com/office/officeart/2005/8/layout/chevron1"/>
    <dgm:cxn modelId="{90F0ACE2-CC72-4090-88CC-123921C5B7C1}" srcId="{B162B115-B5B0-4D46-BFC1-BF8C6DC3EB64}" destId="{6EAE2F4B-8F9A-4598-AA04-1157EEABA342}" srcOrd="1" destOrd="0" parTransId="{F8703873-1DDB-4557-A7AE-8B8F46632D11}" sibTransId="{80153C6E-215E-416B-BE00-2FDD8163FCFC}"/>
    <dgm:cxn modelId="{905408E7-4D7F-4088-9DCC-72752E0CB27E}" srcId="{B77F003C-7E94-448A-9155-F4BC26F3B87B}" destId="{70333333-B94D-4C86-B258-519D7766454C}" srcOrd="1" destOrd="0" parTransId="{37DA928E-1F3D-4F2A-99C5-8ABF6D1A3FDF}" sibTransId="{BE9B4C6E-C281-4CB1-9BC3-C08B3049A8E6}"/>
    <dgm:cxn modelId="{D5ECC2ED-D72E-42E8-BEFD-A1F83DFEF7A0}" srcId="{B77F003C-7E94-448A-9155-F4BC26F3B87B}" destId="{D953707F-587D-421F-B7CD-FBC9928E7CF9}" srcOrd="0" destOrd="0" parTransId="{A5B72938-F397-409D-BFC9-E37AA860E4F7}" sibTransId="{8AA502AE-FC90-404B-8C04-C2F7BBB42620}"/>
    <dgm:cxn modelId="{D15DC5EE-6BE6-4C46-B5B5-F8E4EFCD15DB}" srcId="{9FDEB750-03F2-4DD2-BE7D-A73FEE999CAF}" destId="{DBD487C9-ADDA-413B-9037-F4C5D730D794}" srcOrd="1" destOrd="0" parTransId="{53AE307C-BF4A-4437-B625-B6A7B8355B1F}" sibTransId="{E5FC1542-2AC3-4097-8310-22AA96070B16}"/>
    <dgm:cxn modelId="{78B395F3-E460-4BB5-9C86-E0E9FE25437A}" type="presOf" srcId="{9FDEB750-03F2-4DD2-BE7D-A73FEE999CAF}" destId="{268A4989-CB95-4CDF-931F-DE899C214924}" srcOrd="0" destOrd="0" presId="urn:microsoft.com/office/officeart/2005/8/layout/chevron1"/>
    <dgm:cxn modelId="{54FEFFF5-9014-463D-B75B-2ACB0F0497D3}" type="presOf" srcId="{D953707F-587D-421F-B7CD-FBC9928E7CF9}" destId="{65EA929A-AA66-42FE-A087-DF7D30974C5A}" srcOrd="0" destOrd="0" presId="urn:microsoft.com/office/officeart/2005/8/layout/chevron1"/>
    <dgm:cxn modelId="{40B89BFC-1949-4254-BA14-3F87845219AB}" srcId="{93D5B80E-855B-4DF1-AB2B-3DBC9F24E66F}" destId="{9FDEB750-03F2-4DD2-BE7D-A73FEE999CAF}" srcOrd="2" destOrd="0" parTransId="{181EC409-E8AD-4BE3-ADEC-0E48EF299A2B}" sibTransId="{D1C0F31D-57C8-4DE6-A132-8FD96D73196D}"/>
    <dgm:cxn modelId="{227EB2FF-609F-4ED8-9948-AC7DEA6790B5}" srcId="{93D5B80E-855B-4DF1-AB2B-3DBC9F24E66F}" destId="{B77F003C-7E94-448A-9155-F4BC26F3B87B}" srcOrd="3" destOrd="0" parTransId="{C2A8D2C3-0072-40EE-A4D0-BE02F9D41A11}" sibTransId="{5A6768FB-BC3D-4B91-9D18-E91E224194D4}"/>
    <dgm:cxn modelId="{04D6B4BD-1C26-4BF5-B4D2-AB80D48DC3FA}" type="presParOf" srcId="{AACDE3B6-31B3-4E09-A6A7-CBAAA56438B8}" destId="{CBFB0C85-14F3-4071-A430-3CB4FC1AA0A4}" srcOrd="0" destOrd="0" presId="urn:microsoft.com/office/officeart/2005/8/layout/chevron1"/>
    <dgm:cxn modelId="{B74461C0-2607-4A48-8130-E047C354CDEF}" type="presParOf" srcId="{CBFB0C85-14F3-4071-A430-3CB4FC1AA0A4}" destId="{589BFED3-CF2A-484F-B9EE-5FE67FC930C5}" srcOrd="0" destOrd="0" presId="urn:microsoft.com/office/officeart/2005/8/layout/chevron1"/>
    <dgm:cxn modelId="{78802D0F-35F9-4719-BCF4-14F9B9337F1E}" type="presParOf" srcId="{CBFB0C85-14F3-4071-A430-3CB4FC1AA0A4}" destId="{3B03A943-E044-498A-9B75-C75BB07E2275}" srcOrd="1" destOrd="0" presId="urn:microsoft.com/office/officeart/2005/8/layout/chevron1"/>
    <dgm:cxn modelId="{2CC92F42-17BF-4867-A3A9-D4CD349671F7}" type="presParOf" srcId="{AACDE3B6-31B3-4E09-A6A7-CBAAA56438B8}" destId="{E2CBE66B-91FD-40B2-9F30-A93FF309B20B}" srcOrd="1" destOrd="0" presId="urn:microsoft.com/office/officeart/2005/8/layout/chevron1"/>
    <dgm:cxn modelId="{CF287334-0486-4D47-8A3F-803881742C6B}" type="presParOf" srcId="{AACDE3B6-31B3-4E09-A6A7-CBAAA56438B8}" destId="{5779AE24-8649-4179-AB84-645042B12F36}" srcOrd="2" destOrd="0" presId="urn:microsoft.com/office/officeart/2005/8/layout/chevron1"/>
    <dgm:cxn modelId="{AC70D92F-4C7C-4984-961D-C27005E2A660}" type="presParOf" srcId="{5779AE24-8649-4179-AB84-645042B12F36}" destId="{854708A8-9E60-46A3-A34F-CCA743EF61DF}" srcOrd="0" destOrd="0" presId="urn:microsoft.com/office/officeart/2005/8/layout/chevron1"/>
    <dgm:cxn modelId="{DE53CDE0-9010-4795-8D57-7BFC59C72E9D}" type="presParOf" srcId="{5779AE24-8649-4179-AB84-645042B12F36}" destId="{6FD46870-D6E6-44A1-8D55-EE8D8AD38250}" srcOrd="1" destOrd="0" presId="urn:microsoft.com/office/officeart/2005/8/layout/chevron1"/>
    <dgm:cxn modelId="{50A315AE-BEA5-4977-93A0-F5D6189F559F}" type="presParOf" srcId="{AACDE3B6-31B3-4E09-A6A7-CBAAA56438B8}" destId="{4F83B186-4746-4932-94BB-BB1D3F9A46FF}" srcOrd="3" destOrd="0" presId="urn:microsoft.com/office/officeart/2005/8/layout/chevron1"/>
    <dgm:cxn modelId="{7061184F-3360-4AFD-B134-E439587D7AC2}" type="presParOf" srcId="{AACDE3B6-31B3-4E09-A6A7-CBAAA56438B8}" destId="{996FF3EA-C0F7-4ECA-9ACD-B7051D037045}" srcOrd="4" destOrd="0" presId="urn:microsoft.com/office/officeart/2005/8/layout/chevron1"/>
    <dgm:cxn modelId="{03324EC9-B917-4541-A2EF-B63B1C482B25}" type="presParOf" srcId="{996FF3EA-C0F7-4ECA-9ACD-B7051D037045}" destId="{268A4989-CB95-4CDF-931F-DE899C214924}" srcOrd="0" destOrd="0" presId="urn:microsoft.com/office/officeart/2005/8/layout/chevron1"/>
    <dgm:cxn modelId="{56DD30DC-F09C-4348-A9F9-ECF004B16803}" type="presParOf" srcId="{996FF3EA-C0F7-4ECA-9ACD-B7051D037045}" destId="{4594A846-C5F1-4F9D-A308-1FD4F99210EE}" srcOrd="1" destOrd="0" presId="urn:microsoft.com/office/officeart/2005/8/layout/chevron1"/>
    <dgm:cxn modelId="{379C9BB6-B8CB-4BE1-AF48-C3EFE9F48310}" type="presParOf" srcId="{AACDE3B6-31B3-4E09-A6A7-CBAAA56438B8}" destId="{89D27647-0EF2-44B3-BE6F-2E5CA5156F9B}" srcOrd="5" destOrd="0" presId="urn:microsoft.com/office/officeart/2005/8/layout/chevron1"/>
    <dgm:cxn modelId="{1E866EAC-280B-4526-842C-3D38B253BF54}" type="presParOf" srcId="{AACDE3B6-31B3-4E09-A6A7-CBAAA56438B8}" destId="{123CB541-5D39-4129-B0B6-C43D785D00A5}" srcOrd="6" destOrd="0" presId="urn:microsoft.com/office/officeart/2005/8/layout/chevron1"/>
    <dgm:cxn modelId="{FB27258D-1CF4-4DC1-9E6B-9432C09F759E}" type="presParOf" srcId="{123CB541-5D39-4129-B0B6-C43D785D00A5}" destId="{881D73F5-E64F-4021-BE89-76A8B497E4A7}" srcOrd="0" destOrd="0" presId="urn:microsoft.com/office/officeart/2005/8/layout/chevron1"/>
    <dgm:cxn modelId="{062D1116-59FB-4A87-905B-B6089EACD3E9}" type="presParOf" srcId="{123CB541-5D39-4129-B0B6-C43D785D00A5}" destId="{65EA929A-AA66-42FE-A087-DF7D30974C5A}"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4765FE-02C0-46EB-8F1F-D7D2C3D049A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TW" altLang="en-US"/>
        </a:p>
      </dgm:t>
    </dgm:pt>
    <dgm:pt modelId="{5525ED47-D5F2-43AA-9F99-3C3B23C1BC8F}">
      <dgm:prSet phldrT="[文字]" custT="1"/>
      <dgm:spPr/>
      <dgm:t>
        <a:bodyPr/>
        <a:lstStyle/>
        <a:p>
          <a:r>
            <a:rPr lang="zh-TW" altLang="en-US" sz="2000" dirty="0">
              <a:latin typeface="微軟正黑體" panose="020B0604030504040204" pitchFamily="34" charset="-120"/>
              <a:ea typeface="微軟正黑體" panose="020B0604030504040204" pitchFamily="34" charset="-120"/>
            </a:rPr>
            <a:t>審查項目</a:t>
          </a:r>
        </a:p>
      </dgm:t>
    </dgm:pt>
    <dgm:pt modelId="{D3DD4857-AC47-4834-B03E-D4C43B730831}" type="parTrans" cxnId="{077B9C1E-D762-48AE-808E-961F4599C4F2}">
      <dgm:prSet/>
      <dgm:spPr/>
      <dgm:t>
        <a:bodyPr/>
        <a:lstStyle/>
        <a:p>
          <a:endParaRPr lang="zh-TW" altLang="en-US" sz="2000">
            <a:latin typeface="微軟正黑體" panose="020B0604030504040204" pitchFamily="34" charset="-120"/>
            <a:ea typeface="微軟正黑體" panose="020B0604030504040204" pitchFamily="34" charset="-120"/>
          </a:endParaRPr>
        </a:p>
      </dgm:t>
    </dgm:pt>
    <dgm:pt modelId="{192A99E3-337D-4562-BFB8-BE00CFABEAAC}" type="sibTrans" cxnId="{077B9C1E-D762-48AE-808E-961F4599C4F2}">
      <dgm:prSet/>
      <dgm:spPr/>
      <dgm:t>
        <a:bodyPr/>
        <a:lstStyle/>
        <a:p>
          <a:endParaRPr lang="zh-TW" altLang="en-US" sz="2000">
            <a:latin typeface="微軟正黑體" panose="020B0604030504040204" pitchFamily="34" charset="-120"/>
            <a:ea typeface="微軟正黑體" panose="020B0604030504040204" pitchFamily="34" charset="-120"/>
          </a:endParaRPr>
        </a:p>
      </dgm:t>
    </dgm:pt>
    <dgm:pt modelId="{245794E9-D00C-45B1-87ED-B349A89ABD2C}">
      <dgm:prSet phldrT="[文字]" custT="1"/>
      <dgm:spPr/>
      <dgm:t>
        <a:bodyPr/>
        <a:lstStyle/>
        <a:p>
          <a:r>
            <a:rPr lang="zh-TW" altLang="en-US" sz="2000" dirty="0">
              <a:latin typeface="微軟正黑體" panose="020B0604030504040204" pitchFamily="34" charset="-120"/>
              <a:ea typeface="微軟正黑體" panose="020B0604030504040204" pitchFamily="34" charset="-120"/>
            </a:rPr>
            <a:t>不符定義</a:t>
          </a:r>
        </a:p>
      </dgm:t>
    </dgm:pt>
    <dgm:pt modelId="{E846DF6F-79B8-435E-AB6F-30032803E491}" type="parTrans" cxnId="{B5B44CE2-1326-4CEB-BAF3-8C37FD29377B}">
      <dgm:prSet custT="1"/>
      <dgm:spPr/>
      <dgm:t>
        <a:bodyPr/>
        <a:lstStyle/>
        <a:p>
          <a:endParaRPr lang="zh-TW" altLang="en-US" sz="2000">
            <a:latin typeface="微軟正黑體" panose="020B0604030504040204" pitchFamily="34" charset="-120"/>
            <a:ea typeface="微軟正黑體" panose="020B0604030504040204" pitchFamily="34" charset="-120"/>
          </a:endParaRPr>
        </a:p>
      </dgm:t>
    </dgm:pt>
    <dgm:pt modelId="{9AF5D03C-EA9E-4E96-9903-A530B41DAEA1}" type="sibTrans" cxnId="{B5B44CE2-1326-4CEB-BAF3-8C37FD29377B}">
      <dgm:prSet/>
      <dgm:spPr/>
      <dgm:t>
        <a:bodyPr/>
        <a:lstStyle/>
        <a:p>
          <a:endParaRPr lang="zh-TW" altLang="en-US" sz="2000">
            <a:latin typeface="微軟正黑體" panose="020B0604030504040204" pitchFamily="34" charset="-120"/>
            <a:ea typeface="微軟正黑體" panose="020B0604030504040204" pitchFamily="34" charset="-120"/>
          </a:endParaRPr>
        </a:p>
      </dgm:t>
    </dgm:pt>
    <dgm:pt modelId="{C66801A4-5D8A-42CB-8173-D114550F58EE}">
      <dgm:prSet phldrT="[文字]" custT="1"/>
      <dgm:spPr/>
      <dgm:t>
        <a:bodyPr/>
        <a:lstStyle/>
        <a:p>
          <a:r>
            <a:rPr lang="zh-TW" altLang="en-US" sz="2000" dirty="0">
              <a:latin typeface="微軟正黑體" panose="020B0604030504040204" pitchFamily="34" charset="-120"/>
              <a:ea typeface="微軟正黑體" panose="020B0604030504040204" pitchFamily="34" charset="-120"/>
            </a:rPr>
            <a:t>法定事由</a:t>
          </a:r>
        </a:p>
      </dgm:t>
    </dgm:pt>
    <dgm:pt modelId="{01810830-8F23-4EE6-AA61-B795B8806250}" type="parTrans" cxnId="{27B22398-466A-4723-B2B3-B457DD8372E6}">
      <dgm:prSet custT="1"/>
      <dgm:spPr/>
      <dgm:t>
        <a:bodyPr/>
        <a:lstStyle/>
        <a:p>
          <a:endParaRPr lang="zh-TW" altLang="en-US" sz="2000">
            <a:latin typeface="微軟正黑體" panose="020B0604030504040204" pitchFamily="34" charset="-120"/>
            <a:ea typeface="微軟正黑體" panose="020B0604030504040204" pitchFamily="34" charset="-120"/>
          </a:endParaRPr>
        </a:p>
      </dgm:t>
    </dgm:pt>
    <dgm:pt modelId="{CCE0240B-A86B-4C30-A42A-1CA3AB27B5EE}" type="sibTrans" cxnId="{27B22398-466A-4723-B2B3-B457DD8372E6}">
      <dgm:prSet/>
      <dgm:spPr/>
      <dgm:t>
        <a:bodyPr/>
        <a:lstStyle/>
        <a:p>
          <a:endParaRPr lang="zh-TW" altLang="en-US" sz="2000">
            <a:latin typeface="微軟正黑體" panose="020B0604030504040204" pitchFamily="34" charset="-120"/>
            <a:ea typeface="微軟正黑體" panose="020B0604030504040204" pitchFamily="34" charset="-120"/>
          </a:endParaRPr>
        </a:p>
      </dgm:t>
    </dgm:pt>
    <dgm:pt modelId="{D40EF907-DA7F-4BF2-BD4C-93FEF613BA73}">
      <dgm:prSet phldrT="[文字]" custT="1"/>
      <dgm:spPr/>
      <dgm:t>
        <a:bodyPr/>
        <a:lstStyle/>
        <a:p>
          <a:r>
            <a:rPr lang="zh-TW" altLang="en-US" sz="2000" dirty="0">
              <a:latin typeface="微軟正黑體" panose="020B0604030504040204" pitchFamily="34" charset="-120"/>
              <a:ea typeface="微軟正黑體" panose="020B0604030504040204" pitchFamily="34" charset="-120"/>
            </a:rPr>
            <a:t>形式及揭露要件</a:t>
          </a:r>
        </a:p>
      </dgm:t>
    </dgm:pt>
    <dgm:pt modelId="{71A8B3C8-FA8C-4A8E-8351-F08A543C0759}" type="parTrans" cxnId="{FD0527B8-9CB8-475E-A65D-EBD0FD6023CB}">
      <dgm:prSet custT="1"/>
      <dgm:spPr/>
      <dgm:t>
        <a:bodyPr/>
        <a:lstStyle/>
        <a:p>
          <a:endParaRPr lang="zh-TW" altLang="en-US" sz="2000">
            <a:latin typeface="微軟正黑體" panose="020B0604030504040204" pitchFamily="34" charset="-120"/>
            <a:ea typeface="微軟正黑體" panose="020B0604030504040204" pitchFamily="34" charset="-120"/>
          </a:endParaRPr>
        </a:p>
      </dgm:t>
    </dgm:pt>
    <dgm:pt modelId="{529DB118-BF34-421C-BBAE-A269610112C1}" type="sibTrans" cxnId="{FD0527B8-9CB8-475E-A65D-EBD0FD6023CB}">
      <dgm:prSet/>
      <dgm:spPr/>
      <dgm:t>
        <a:bodyPr/>
        <a:lstStyle/>
        <a:p>
          <a:endParaRPr lang="zh-TW" altLang="en-US" sz="2000">
            <a:latin typeface="微軟正黑體" panose="020B0604030504040204" pitchFamily="34" charset="-120"/>
            <a:ea typeface="微軟正黑體" panose="020B0604030504040204" pitchFamily="34" charset="-120"/>
          </a:endParaRPr>
        </a:p>
      </dgm:t>
    </dgm:pt>
    <dgm:pt modelId="{049C1FBA-C2B6-4558-8150-90F498FC54FF}">
      <dgm:prSet phldrT="[文字]" custT="1"/>
      <dgm:spPr/>
      <dgm:t>
        <a:bodyPr/>
        <a:lstStyle/>
        <a:p>
          <a:r>
            <a:rPr lang="zh-TW" altLang="en-US" sz="2000" dirty="0">
              <a:latin typeface="微軟正黑體" panose="020B0604030504040204" pitchFamily="34" charset="-120"/>
              <a:ea typeface="微軟正黑體" panose="020B0604030504040204" pitchFamily="34" charset="-120"/>
            </a:rPr>
            <a:t>一案兩請</a:t>
          </a:r>
        </a:p>
      </dgm:t>
    </dgm:pt>
    <dgm:pt modelId="{D0A825A7-0D63-4904-8177-22E56D1318F0}" type="parTrans" cxnId="{AAB53D94-8067-4BE3-84FA-D876167DD7D4}">
      <dgm:prSet custT="1"/>
      <dgm:spPr/>
      <dgm:t>
        <a:bodyPr/>
        <a:lstStyle/>
        <a:p>
          <a:endParaRPr lang="zh-TW" altLang="en-US" sz="2000"/>
        </a:p>
      </dgm:t>
    </dgm:pt>
    <dgm:pt modelId="{91FF712C-45B3-4661-ADAC-28DD0F1B3F65}" type="sibTrans" cxnId="{AAB53D94-8067-4BE3-84FA-D876167DD7D4}">
      <dgm:prSet/>
      <dgm:spPr/>
      <dgm:t>
        <a:bodyPr/>
        <a:lstStyle/>
        <a:p>
          <a:endParaRPr lang="zh-TW" altLang="en-US" sz="2000"/>
        </a:p>
      </dgm:t>
    </dgm:pt>
    <dgm:pt modelId="{6DE21F6A-8F83-4E6E-9D56-0B94BEC50425}">
      <dgm:prSet phldrT="[文字]" custT="1"/>
      <dgm:spPr/>
      <dgm:t>
        <a:bodyPr/>
        <a:lstStyle/>
        <a:p>
          <a:r>
            <a:rPr lang="zh-TW" altLang="en-US" sz="2000" dirty="0">
              <a:latin typeface="微軟正黑體" panose="020B0604030504040204" pitchFamily="34" charset="-120"/>
              <a:ea typeface="微軟正黑體" panose="020B0604030504040204" pitchFamily="34" charset="-120"/>
            </a:rPr>
            <a:t>專利要件</a:t>
          </a:r>
        </a:p>
      </dgm:t>
    </dgm:pt>
    <dgm:pt modelId="{E979BDEB-DBD6-4525-A96B-07BFC09DF22A}" type="parTrans" cxnId="{DE3A41D9-09A3-420F-A915-42F46A981B74}">
      <dgm:prSet custT="1"/>
      <dgm:spPr/>
      <dgm:t>
        <a:bodyPr/>
        <a:lstStyle/>
        <a:p>
          <a:endParaRPr lang="zh-TW" altLang="en-US" sz="2000"/>
        </a:p>
      </dgm:t>
    </dgm:pt>
    <dgm:pt modelId="{8F7EC5E5-01E8-44B0-BC1E-83F832DD78A0}" type="sibTrans" cxnId="{DE3A41D9-09A3-420F-A915-42F46A981B74}">
      <dgm:prSet/>
      <dgm:spPr/>
      <dgm:t>
        <a:bodyPr/>
        <a:lstStyle/>
        <a:p>
          <a:endParaRPr lang="zh-TW" altLang="en-US" sz="2000"/>
        </a:p>
      </dgm:t>
    </dgm:pt>
    <dgm:pt modelId="{357B0A89-C35F-4143-9DE3-A32B590D4A2E}">
      <dgm:prSet phldrT="[文字]" custT="1"/>
      <dgm:spPr/>
      <dgm:t>
        <a:bodyPr/>
        <a:lstStyle/>
        <a:p>
          <a:r>
            <a:rPr lang="zh-TW" altLang="en-US" sz="2000" dirty="0">
              <a:latin typeface="微軟正黑體" panose="020B0604030504040204" pitchFamily="34" charset="-120"/>
              <a:ea typeface="微軟正黑體" panose="020B0604030504040204" pitchFamily="34" charset="-120"/>
            </a:rPr>
            <a:t>先申請原則</a:t>
          </a:r>
        </a:p>
      </dgm:t>
    </dgm:pt>
    <dgm:pt modelId="{6143220E-C69E-4F3D-8DC3-2F68D7DA916C}" type="parTrans" cxnId="{59CD5091-EDEF-4C07-B93A-3C9759191DC6}">
      <dgm:prSet custT="1"/>
      <dgm:spPr/>
      <dgm:t>
        <a:bodyPr/>
        <a:lstStyle/>
        <a:p>
          <a:endParaRPr lang="zh-TW" altLang="en-US" sz="2000"/>
        </a:p>
      </dgm:t>
    </dgm:pt>
    <dgm:pt modelId="{7A750B4E-B8B6-4F6C-B3AD-3840DFFF29CC}" type="sibTrans" cxnId="{59CD5091-EDEF-4C07-B93A-3C9759191DC6}">
      <dgm:prSet/>
      <dgm:spPr/>
      <dgm:t>
        <a:bodyPr/>
        <a:lstStyle/>
        <a:p>
          <a:endParaRPr lang="zh-TW" altLang="en-US" sz="2000"/>
        </a:p>
      </dgm:t>
    </dgm:pt>
    <dgm:pt modelId="{3A64C300-48EC-41D7-9D2E-4E1F871B4ACB}">
      <dgm:prSet phldrT="[文字]" custT="1"/>
      <dgm:spPr/>
      <dgm:t>
        <a:bodyPr/>
        <a:lstStyle/>
        <a:p>
          <a:r>
            <a:rPr lang="zh-TW" altLang="en-US" sz="2000" dirty="0">
              <a:latin typeface="微軟正黑體" panose="020B0604030504040204" pitchFamily="34" charset="-120"/>
              <a:ea typeface="微軟正黑體" panose="020B0604030504040204" pitchFamily="34" charset="-120"/>
            </a:rPr>
            <a:t>說明書</a:t>
          </a:r>
        </a:p>
      </dgm:t>
    </dgm:pt>
    <dgm:pt modelId="{4935AC1B-BFBD-462C-B79C-1F58528A56BB}" type="parTrans" cxnId="{36FC5E81-80B5-450B-8699-5B4F593FCB6E}">
      <dgm:prSet custT="1"/>
      <dgm:spPr/>
      <dgm:t>
        <a:bodyPr/>
        <a:lstStyle/>
        <a:p>
          <a:endParaRPr lang="zh-TW" altLang="en-US" sz="2000"/>
        </a:p>
      </dgm:t>
    </dgm:pt>
    <dgm:pt modelId="{97A1F146-C9E0-4E31-AEFF-829FDDA4BC3E}" type="sibTrans" cxnId="{36FC5E81-80B5-450B-8699-5B4F593FCB6E}">
      <dgm:prSet/>
      <dgm:spPr/>
      <dgm:t>
        <a:bodyPr/>
        <a:lstStyle/>
        <a:p>
          <a:endParaRPr lang="zh-TW" altLang="en-US" sz="2000"/>
        </a:p>
      </dgm:t>
    </dgm:pt>
    <dgm:pt modelId="{1D5ACD20-68A5-49DE-8444-85C0BEC6F7BF}">
      <dgm:prSet phldrT="[文字]" custT="1"/>
      <dgm:spPr/>
      <dgm:t>
        <a:bodyPr/>
        <a:lstStyle/>
        <a:p>
          <a:r>
            <a:rPr lang="zh-TW" altLang="en-US" sz="2000" dirty="0">
              <a:latin typeface="微軟正黑體" panose="020B0604030504040204" pitchFamily="34" charset="-120"/>
              <a:ea typeface="微軟正黑體" panose="020B0604030504040204" pitchFamily="34" charset="-120"/>
            </a:rPr>
            <a:t>申請專利範圍</a:t>
          </a:r>
        </a:p>
      </dgm:t>
    </dgm:pt>
    <dgm:pt modelId="{EF66D81F-4DA5-497D-8122-B982351053C6}" type="parTrans" cxnId="{A4FAD1D7-7B7E-44FE-A73E-21B8B56DDE0C}">
      <dgm:prSet custT="1"/>
      <dgm:spPr/>
      <dgm:t>
        <a:bodyPr/>
        <a:lstStyle/>
        <a:p>
          <a:endParaRPr lang="zh-TW" altLang="en-US" sz="2000"/>
        </a:p>
      </dgm:t>
    </dgm:pt>
    <dgm:pt modelId="{05BCA274-5875-458F-92ED-9BBE2E206EC0}" type="sibTrans" cxnId="{A4FAD1D7-7B7E-44FE-A73E-21B8B56DDE0C}">
      <dgm:prSet/>
      <dgm:spPr/>
      <dgm:t>
        <a:bodyPr/>
        <a:lstStyle/>
        <a:p>
          <a:endParaRPr lang="zh-TW" altLang="en-US" sz="2000"/>
        </a:p>
      </dgm:t>
    </dgm:pt>
    <dgm:pt modelId="{F7838F08-44A4-4FEA-803D-5AE4DC654349}">
      <dgm:prSet phldrT="[文字]" custT="1"/>
      <dgm:spPr/>
      <dgm:t>
        <a:bodyPr/>
        <a:lstStyle/>
        <a:p>
          <a:r>
            <a:rPr lang="zh-TW" altLang="en-US" sz="2000" dirty="0">
              <a:latin typeface="微軟正黑體" panose="020B0604030504040204" pitchFamily="34" charset="-120"/>
              <a:ea typeface="微軟正黑體" panose="020B0604030504040204" pitchFamily="34" charset="-120"/>
            </a:rPr>
            <a:t>圖式</a:t>
          </a:r>
        </a:p>
      </dgm:t>
    </dgm:pt>
    <dgm:pt modelId="{EC8882DD-5770-4B6F-9DEA-D6A61F23A57A}" type="parTrans" cxnId="{C9814C2A-34AA-4B76-B1D6-8C9E30AD20B6}">
      <dgm:prSet custT="1"/>
      <dgm:spPr/>
      <dgm:t>
        <a:bodyPr/>
        <a:lstStyle/>
        <a:p>
          <a:endParaRPr lang="zh-TW" altLang="en-US" sz="2000"/>
        </a:p>
      </dgm:t>
    </dgm:pt>
    <dgm:pt modelId="{5143566C-BDFC-4988-BE0C-9385D0812093}" type="sibTrans" cxnId="{C9814C2A-34AA-4B76-B1D6-8C9E30AD20B6}">
      <dgm:prSet/>
      <dgm:spPr/>
      <dgm:t>
        <a:bodyPr/>
        <a:lstStyle/>
        <a:p>
          <a:endParaRPr lang="zh-TW" altLang="en-US" sz="2000"/>
        </a:p>
      </dgm:t>
    </dgm:pt>
    <dgm:pt modelId="{07A5BF36-36E2-41A5-BCFA-BFA92F311532}">
      <dgm:prSet phldrT="[文字]" custT="1"/>
      <dgm:spPr/>
      <dgm:t>
        <a:bodyPr/>
        <a:lstStyle/>
        <a:p>
          <a:r>
            <a:rPr lang="zh-TW" altLang="en-US" sz="2000" dirty="0">
              <a:latin typeface="微軟正黑體" panose="020B0604030504040204" pitchFamily="34" charset="-120"/>
              <a:ea typeface="微軟正黑體" panose="020B0604030504040204" pitchFamily="34" charset="-120"/>
            </a:rPr>
            <a:t>產業利用性</a:t>
          </a:r>
        </a:p>
      </dgm:t>
    </dgm:pt>
    <dgm:pt modelId="{84A01D1C-9705-4D47-8C5E-E878774041B2}" type="parTrans" cxnId="{99559F98-4119-4C26-B285-4D7BC457DA2E}">
      <dgm:prSet custT="1"/>
      <dgm:spPr/>
      <dgm:t>
        <a:bodyPr/>
        <a:lstStyle/>
        <a:p>
          <a:endParaRPr lang="zh-TW" altLang="en-US" sz="2000"/>
        </a:p>
      </dgm:t>
    </dgm:pt>
    <dgm:pt modelId="{ACE24E24-8C45-4DAC-A9AC-DA59A2130BFF}" type="sibTrans" cxnId="{99559F98-4119-4C26-B285-4D7BC457DA2E}">
      <dgm:prSet/>
      <dgm:spPr/>
      <dgm:t>
        <a:bodyPr/>
        <a:lstStyle/>
        <a:p>
          <a:endParaRPr lang="zh-TW" altLang="en-US" sz="2000"/>
        </a:p>
      </dgm:t>
    </dgm:pt>
    <dgm:pt modelId="{D1452A15-935B-4877-962C-191C804E2D20}">
      <dgm:prSet phldrT="[文字]" custT="1"/>
      <dgm:spPr/>
      <dgm:t>
        <a:bodyPr/>
        <a:lstStyle/>
        <a:p>
          <a:r>
            <a:rPr lang="zh-TW" altLang="en-US" sz="2000" dirty="0">
              <a:latin typeface="微軟正黑體" panose="020B0604030504040204" pitchFamily="34" charset="-120"/>
              <a:ea typeface="微軟正黑體" panose="020B0604030504040204" pitchFamily="34" charset="-120"/>
            </a:rPr>
            <a:t>新穎性</a:t>
          </a:r>
        </a:p>
      </dgm:t>
    </dgm:pt>
    <dgm:pt modelId="{A5B1F255-0D7D-4D56-8F17-72D6AF47E303}" type="parTrans" cxnId="{EA98A9FA-3E33-4A29-BCF7-C1C82D474ED0}">
      <dgm:prSet custT="1"/>
      <dgm:spPr/>
      <dgm:t>
        <a:bodyPr/>
        <a:lstStyle/>
        <a:p>
          <a:endParaRPr lang="zh-TW" altLang="en-US" sz="2000"/>
        </a:p>
      </dgm:t>
    </dgm:pt>
    <dgm:pt modelId="{A133957B-E427-4378-965E-4D8539AFC261}" type="sibTrans" cxnId="{EA98A9FA-3E33-4A29-BCF7-C1C82D474ED0}">
      <dgm:prSet/>
      <dgm:spPr/>
      <dgm:t>
        <a:bodyPr/>
        <a:lstStyle/>
        <a:p>
          <a:endParaRPr lang="zh-TW" altLang="en-US" sz="2000"/>
        </a:p>
      </dgm:t>
    </dgm:pt>
    <dgm:pt modelId="{A47B8175-5636-45B3-9C09-A236FFD10A74}">
      <dgm:prSet phldrT="[文字]" custT="1"/>
      <dgm:spPr/>
      <dgm:t>
        <a:bodyPr/>
        <a:lstStyle/>
        <a:p>
          <a:r>
            <a:rPr lang="zh-TW" altLang="en-US" sz="2000" dirty="0">
              <a:latin typeface="微軟正黑體" panose="020B0604030504040204" pitchFamily="34" charset="-120"/>
              <a:ea typeface="微軟正黑體" panose="020B0604030504040204" pitchFamily="34" charset="-120"/>
            </a:rPr>
            <a:t>進步性</a:t>
          </a:r>
        </a:p>
      </dgm:t>
    </dgm:pt>
    <dgm:pt modelId="{167A99CC-E1A4-4989-AED1-65D9852EE195}" type="parTrans" cxnId="{0BB795CD-C0CE-4AAD-B02E-460D55A59E49}">
      <dgm:prSet custT="1"/>
      <dgm:spPr/>
      <dgm:t>
        <a:bodyPr/>
        <a:lstStyle/>
        <a:p>
          <a:endParaRPr lang="zh-TW" altLang="en-US" sz="2000"/>
        </a:p>
      </dgm:t>
    </dgm:pt>
    <dgm:pt modelId="{68686B60-EC5E-493D-BB2D-C9CF2D4ADFCF}" type="sibTrans" cxnId="{0BB795CD-C0CE-4AAD-B02E-460D55A59E49}">
      <dgm:prSet/>
      <dgm:spPr/>
      <dgm:t>
        <a:bodyPr/>
        <a:lstStyle/>
        <a:p>
          <a:endParaRPr lang="zh-TW" altLang="en-US" sz="2000"/>
        </a:p>
      </dgm:t>
    </dgm:pt>
    <dgm:pt modelId="{7E48C1C6-8936-4436-8252-DAB15897B031}">
      <dgm:prSet phldrT="[文字]" custT="1"/>
      <dgm:spPr/>
      <dgm:t>
        <a:bodyPr/>
        <a:lstStyle/>
        <a:p>
          <a:r>
            <a:rPr lang="zh-TW" altLang="en-US" sz="2000" dirty="0">
              <a:latin typeface="微軟正黑體" panose="020B0604030504040204" pitchFamily="34" charset="-120"/>
              <a:ea typeface="微軟正黑體" panose="020B0604030504040204" pitchFamily="34" charset="-120"/>
            </a:rPr>
            <a:t>擬制喪失新穎性</a:t>
          </a:r>
        </a:p>
      </dgm:t>
    </dgm:pt>
    <dgm:pt modelId="{D89AA43E-4561-46F1-AC10-9698E8902F89}" type="parTrans" cxnId="{2705E3FC-2201-466D-A4A6-5991C869CD12}">
      <dgm:prSet custT="1"/>
      <dgm:spPr/>
      <dgm:t>
        <a:bodyPr/>
        <a:lstStyle/>
        <a:p>
          <a:endParaRPr lang="zh-TW" altLang="en-US" sz="2000"/>
        </a:p>
      </dgm:t>
    </dgm:pt>
    <dgm:pt modelId="{834F7060-7DF4-4E3A-9D77-9AD5A1F4952C}" type="sibTrans" cxnId="{2705E3FC-2201-466D-A4A6-5991C869CD12}">
      <dgm:prSet/>
      <dgm:spPr/>
      <dgm:t>
        <a:bodyPr/>
        <a:lstStyle/>
        <a:p>
          <a:endParaRPr lang="zh-TW" altLang="en-US" sz="2000"/>
        </a:p>
      </dgm:t>
    </dgm:pt>
    <dgm:pt modelId="{780898F2-1E58-487D-BEC5-24C3AECB6642}">
      <dgm:prSet phldrT="[文字]" custT="1"/>
      <dgm:spPr/>
      <dgm:t>
        <a:bodyPr/>
        <a:lstStyle/>
        <a:p>
          <a:r>
            <a:rPr lang="zh-TW" altLang="en-US" sz="2000" dirty="0">
              <a:latin typeface="微軟正黑體" panose="020B0604030504040204" pitchFamily="34" charset="-120"/>
              <a:ea typeface="微軟正黑體" panose="020B0604030504040204" pitchFamily="34" charset="-120"/>
            </a:rPr>
            <a:t>優惠期</a:t>
          </a:r>
        </a:p>
      </dgm:t>
    </dgm:pt>
    <dgm:pt modelId="{AC645E84-29A9-40D8-B831-961836712E49}" type="parTrans" cxnId="{6DE67FF1-B935-4A00-AD8C-50BBA0B453CC}">
      <dgm:prSet custT="1"/>
      <dgm:spPr/>
      <dgm:t>
        <a:bodyPr/>
        <a:lstStyle/>
        <a:p>
          <a:endParaRPr lang="zh-TW" altLang="en-US" sz="2000"/>
        </a:p>
      </dgm:t>
    </dgm:pt>
    <dgm:pt modelId="{3D3B50E3-C4E9-4BAE-8736-F7A8D82B7330}" type="sibTrans" cxnId="{6DE67FF1-B935-4A00-AD8C-50BBA0B453CC}">
      <dgm:prSet/>
      <dgm:spPr/>
      <dgm:t>
        <a:bodyPr/>
        <a:lstStyle/>
        <a:p>
          <a:endParaRPr lang="zh-TW" altLang="en-US" sz="2000"/>
        </a:p>
      </dgm:t>
    </dgm:pt>
    <dgm:pt modelId="{880E42DA-936A-4BA3-9EBE-CC94A6771A67}" type="pres">
      <dgm:prSet presAssocID="{FA4765FE-02C0-46EB-8F1F-D7D2C3D049A7}" presName="diagram" presStyleCnt="0">
        <dgm:presLayoutVars>
          <dgm:chPref val="1"/>
          <dgm:dir/>
          <dgm:animOne val="branch"/>
          <dgm:animLvl val="lvl"/>
          <dgm:resizeHandles val="exact"/>
        </dgm:presLayoutVars>
      </dgm:prSet>
      <dgm:spPr/>
    </dgm:pt>
    <dgm:pt modelId="{955901EC-2273-48A2-93C4-7341B7392620}" type="pres">
      <dgm:prSet presAssocID="{5525ED47-D5F2-43AA-9F99-3C3B23C1BC8F}" presName="root1" presStyleCnt="0"/>
      <dgm:spPr/>
    </dgm:pt>
    <dgm:pt modelId="{A8A052A9-DD52-4FEB-8777-9B987C85443D}" type="pres">
      <dgm:prSet presAssocID="{5525ED47-D5F2-43AA-9F99-3C3B23C1BC8F}" presName="LevelOneTextNode" presStyleLbl="node0" presStyleIdx="0" presStyleCnt="1" custScaleX="175194">
        <dgm:presLayoutVars>
          <dgm:chPref val="3"/>
        </dgm:presLayoutVars>
      </dgm:prSet>
      <dgm:spPr/>
    </dgm:pt>
    <dgm:pt modelId="{91908287-920E-41AB-A597-B58BA99B7C30}" type="pres">
      <dgm:prSet presAssocID="{5525ED47-D5F2-43AA-9F99-3C3B23C1BC8F}" presName="level2hierChild" presStyleCnt="0"/>
      <dgm:spPr/>
    </dgm:pt>
    <dgm:pt modelId="{A36254E8-16DA-4847-88D8-94821D03FAD8}" type="pres">
      <dgm:prSet presAssocID="{E846DF6F-79B8-435E-AB6F-30032803E491}" presName="conn2-1" presStyleLbl="parChTrans1D2" presStyleIdx="0" presStyleCnt="6"/>
      <dgm:spPr/>
    </dgm:pt>
    <dgm:pt modelId="{A536E8B3-B65E-49A1-B0A2-B60C237BC63E}" type="pres">
      <dgm:prSet presAssocID="{E846DF6F-79B8-435E-AB6F-30032803E491}" presName="connTx" presStyleLbl="parChTrans1D2" presStyleIdx="0" presStyleCnt="6"/>
      <dgm:spPr/>
    </dgm:pt>
    <dgm:pt modelId="{902CFDD7-F170-4E64-A182-480EFB97100A}" type="pres">
      <dgm:prSet presAssocID="{245794E9-D00C-45B1-87ED-B349A89ABD2C}" presName="root2" presStyleCnt="0"/>
      <dgm:spPr/>
    </dgm:pt>
    <dgm:pt modelId="{8A2F83A3-7457-427B-951B-EA1D91EB6440}" type="pres">
      <dgm:prSet presAssocID="{245794E9-D00C-45B1-87ED-B349A89ABD2C}" presName="LevelTwoTextNode" presStyleLbl="node2" presStyleIdx="0" presStyleCnt="6" custScaleX="164193">
        <dgm:presLayoutVars>
          <dgm:chPref val="3"/>
        </dgm:presLayoutVars>
      </dgm:prSet>
      <dgm:spPr/>
    </dgm:pt>
    <dgm:pt modelId="{781BF501-0D1B-474D-8E11-CC4FFF956C1A}" type="pres">
      <dgm:prSet presAssocID="{245794E9-D00C-45B1-87ED-B349A89ABD2C}" presName="level3hierChild" presStyleCnt="0"/>
      <dgm:spPr/>
    </dgm:pt>
    <dgm:pt modelId="{DDE0A061-0F3D-4621-86EE-D706B960478C}" type="pres">
      <dgm:prSet presAssocID="{01810830-8F23-4EE6-AA61-B795B8806250}" presName="conn2-1" presStyleLbl="parChTrans1D2" presStyleIdx="1" presStyleCnt="6"/>
      <dgm:spPr/>
    </dgm:pt>
    <dgm:pt modelId="{73E88FB0-1B2A-48B8-908B-913E1D21EA20}" type="pres">
      <dgm:prSet presAssocID="{01810830-8F23-4EE6-AA61-B795B8806250}" presName="connTx" presStyleLbl="parChTrans1D2" presStyleIdx="1" presStyleCnt="6"/>
      <dgm:spPr/>
    </dgm:pt>
    <dgm:pt modelId="{AF0E2D9A-DA8E-456B-B326-9CE9B199A846}" type="pres">
      <dgm:prSet presAssocID="{C66801A4-5D8A-42CB-8173-D114550F58EE}" presName="root2" presStyleCnt="0"/>
      <dgm:spPr/>
    </dgm:pt>
    <dgm:pt modelId="{B10B39C6-191A-4FAF-9B79-A1377063B756}" type="pres">
      <dgm:prSet presAssocID="{C66801A4-5D8A-42CB-8173-D114550F58EE}" presName="LevelTwoTextNode" presStyleLbl="node2" presStyleIdx="1" presStyleCnt="6" custScaleX="164193">
        <dgm:presLayoutVars>
          <dgm:chPref val="3"/>
        </dgm:presLayoutVars>
      </dgm:prSet>
      <dgm:spPr/>
    </dgm:pt>
    <dgm:pt modelId="{23FAB5AC-E6A1-433D-AE46-00C8E39B13DA}" type="pres">
      <dgm:prSet presAssocID="{C66801A4-5D8A-42CB-8173-D114550F58EE}" presName="level3hierChild" presStyleCnt="0"/>
      <dgm:spPr/>
    </dgm:pt>
    <dgm:pt modelId="{D2E4AB15-4083-4541-BF8A-F8EC05813326}" type="pres">
      <dgm:prSet presAssocID="{71A8B3C8-FA8C-4A8E-8351-F08A543C0759}" presName="conn2-1" presStyleLbl="parChTrans1D2" presStyleIdx="2" presStyleCnt="6"/>
      <dgm:spPr/>
    </dgm:pt>
    <dgm:pt modelId="{94E86EDE-0E1D-46B5-8783-801AA9FFABAD}" type="pres">
      <dgm:prSet presAssocID="{71A8B3C8-FA8C-4A8E-8351-F08A543C0759}" presName="connTx" presStyleLbl="parChTrans1D2" presStyleIdx="2" presStyleCnt="6"/>
      <dgm:spPr/>
    </dgm:pt>
    <dgm:pt modelId="{295B8AF6-9800-4920-8B37-0339F6C48E39}" type="pres">
      <dgm:prSet presAssocID="{D40EF907-DA7F-4BF2-BD4C-93FEF613BA73}" presName="root2" presStyleCnt="0"/>
      <dgm:spPr/>
    </dgm:pt>
    <dgm:pt modelId="{031CBB6E-4BE7-4EE5-80B3-BA953BB21249}" type="pres">
      <dgm:prSet presAssocID="{D40EF907-DA7F-4BF2-BD4C-93FEF613BA73}" presName="LevelTwoTextNode" presStyleLbl="node2" presStyleIdx="2" presStyleCnt="6" custScaleX="164193">
        <dgm:presLayoutVars>
          <dgm:chPref val="3"/>
        </dgm:presLayoutVars>
      </dgm:prSet>
      <dgm:spPr/>
    </dgm:pt>
    <dgm:pt modelId="{0BBC15E5-7218-41A4-8140-A0168B1B216C}" type="pres">
      <dgm:prSet presAssocID="{D40EF907-DA7F-4BF2-BD4C-93FEF613BA73}" presName="level3hierChild" presStyleCnt="0"/>
      <dgm:spPr/>
    </dgm:pt>
    <dgm:pt modelId="{3F717296-9D30-454F-B671-C31ECFB24A12}" type="pres">
      <dgm:prSet presAssocID="{4935AC1B-BFBD-462C-B79C-1F58528A56BB}" presName="conn2-1" presStyleLbl="parChTrans1D3" presStyleIdx="0" presStyleCnt="8"/>
      <dgm:spPr/>
    </dgm:pt>
    <dgm:pt modelId="{2051B8EF-2A1A-4094-9D49-41A841497C9B}" type="pres">
      <dgm:prSet presAssocID="{4935AC1B-BFBD-462C-B79C-1F58528A56BB}" presName="connTx" presStyleLbl="parChTrans1D3" presStyleIdx="0" presStyleCnt="8"/>
      <dgm:spPr/>
    </dgm:pt>
    <dgm:pt modelId="{5E0A5ECB-E5A1-4846-818E-94AB0CC70DD8}" type="pres">
      <dgm:prSet presAssocID="{3A64C300-48EC-41D7-9D2E-4E1F871B4ACB}" presName="root2" presStyleCnt="0"/>
      <dgm:spPr/>
    </dgm:pt>
    <dgm:pt modelId="{779824E3-8122-442C-AB0B-F3DE062F88F2}" type="pres">
      <dgm:prSet presAssocID="{3A64C300-48EC-41D7-9D2E-4E1F871B4ACB}" presName="LevelTwoTextNode" presStyleLbl="node3" presStyleIdx="0" presStyleCnt="8" custScaleX="164193">
        <dgm:presLayoutVars>
          <dgm:chPref val="3"/>
        </dgm:presLayoutVars>
      </dgm:prSet>
      <dgm:spPr/>
    </dgm:pt>
    <dgm:pt modelId="{E0D80D82-B3BC-4607-B65A-E9531D0A90C3}" type="pres">
      <dgm:prSet presAssocID="{3A64C300-48EC-41D7-9D2E-4E1F871B4ACB}" presName="level3hierChild" presStyleCnt="0"/>
      <dgm:spPr/>
    </dgm:pt>
    <dgm:pt modelId="{EF457FBD-C133-493B-A290-3A493B89F55A}" type="pres">
      <dgm:prSet presAssocID="{EF66D81F-4DA5-497D-8122-B982351053C6}" presName="conn2-1" presStyleLbl="parChTrans1D3" presStyleIdx="1" presStyleCnt="8"/>
      <dgm:spPr/>
    </dgm:pt>
    <dgm:pt modelId="{048D0EDD-B861-4E38-8A56-6B23BACB4F68}" type="pres">
      <dgm:prSet presAssocID="{EF66D81F-4DA5-497D-8122-B982351053C6}" presName="connTx" presStyleLbl="parChTrans1D3" presStyleIdx="1" presStyleCnt="8"/>
      <dgm:spPr/>
    </dgm:pt>
    <dgm:pt modelId="{95F97711-DA15-45E0-90C7-BBEF2A5CD3E9}" type="pres">
      <dgm:prSet presAssocID="{1D5ACD20-68A5-49DE-8444-85C0BEC6F7BF}" presName="root2" presStyleCnt="0"/>
      <dgm:spPr/>
    </dgm:pt>
    <dgm:pt modelId="{98E0482E-33B6-4FF6-9ABC-8ADC6C22D82C}" type="pres">
      <dgm:prSet presAssocID="{1D5ACD20-68A5-49DE-8444-85C0BEC6F7BF}" presName="LevelTwoTextNode" presStyleLbl="node3" presStyleIdx="1" presStyleCnt="8" custScaleX="164193">
        <dgm:presLayoutVars>
          <dgm:chPref val="3"/>
        </dgm:presLayoutVars>
      </dgm:prSet>
      <dgm:spPr/>
    </dgm:pt>
    <dgm:pt modelId="{7DC864A9-B70E-4A97-82B6-936CD4325E18}" type="pres">
      <dgm:prSet presAssocID="{1D5ACD20-68A5-49DE-8444-85C0BEC6F7BF}" presName="level3hierChild" presStyleCnt="0"/>
      <dgm:spPr/>
    </dgm:pt>
    <dgm:pt modelId="{654D18CB-DBBB-4FDF-BE12-C9B643396A34}" type="pres">
      <dgm:prSet presAssocID="{EC8882DD-5770-4B6F-9DEA-D6A61F23A57A}" presName="conn2-1" presStyleLbl="parChTrans1D3" presStyleIdx="2" presStyleCnt="8"/>
      <dgm:spPr/>
    </dgm:pt>
    <dgm:pt modelId="{9B99ECCB-F6BE-4252-9BF4-24069E013F2E}" type="pres">
      <dgm:prSet presAssocID="{EC8882DD-5770-4B6F-9DEA-D6A61F23A57A}" presName="connTx" presStyleLbl="parChTrans1D3" presStyleIdx="2" presStyleCnt="8"/>
      <dgm:spPr/>
    </dgm:pt>
    <dgm:pt modelId="{29482F78-82C1-41B4-8102-0C6834EE338D}" type="pres">
      <dgm:prSet presAssocID="{F7838F08-44A4-4FEA-803D-5AE4DC654349}" presName="root2" presStyleCnt="0"/>
      <dgm:spPr/>
    </dgm:pt>
    <dgm:pt modelId="{40DA0899-5FBE-4083-B8E9-F274B4C659E4}" type="pres">
      <dgm:prSet presAssocID="{F7838F08-44A4-4FEA-803D-5AE4DC654349}" presName="LevelTwoTextNode" presStyleLbl="node3" presStyleIdx="2" presStyleCnt="8" custScaleX="164193">
        <dgm:presLayoutVars>
          <dgm:chPref val="3"/>
        </dgm:presLayoutVars>
      </dgm:prSet>
      <dgm:spPr/>
    </dgm:pt>
    <dgm:pt modelId="{FD0C79AC-B103-4FBE-992C-0A7D3A278439}" type="pres">
      <dgm:prSet presAssocID="{F7838F08-44A4-4FEA-803D-5AE4DC654349}" presName="level3hierChild" presStyleCnt="0"/>
      <dgm:spPr/>
    </dgm:pt>
    <dgm:pt modelId="{D2F7B7E3-22C4-4404-A1BE-EB78A9A9C4FA}" type="pres">
      <dgm:prSet presAssocID="{D0A825A7-0D63-4904-8177-22E56D1318F0}" presName="conn2-1" presStyleLbl="parChTrans1D2" presStyleIdx="3" presStyleCnt="6"/>
      <dgm:spPr/>
    </dgm:pt>
    <dgm:pt modelId="{5644956B-24F7-4C52-AC97-D9639C7A996C}" type="pres">
      <dgm:prSet presAssocID="{D0A825A7-0D63-4904-8177-22E56D1318F0}" presName="connTx" presStyleLbl="parChTrans1D2" presStyleIdx="3" presStyleCnt="6"/>
      <dgm:spPr/>
    </dgm:pt>
    <dgm:pt modelId="{6AA8851D-4651-4EEB-B451-035478B3CBAF}" type="pres">
      <dgm:prSet presAssocID="{049C1FBA-C2B6-4558-8150-90F498FC54FF}" presName="root2" presStyleCnt="0"/>
      <dgm:spPr/>
    </dgm:pt>
    <dgm:pt modelId="{51F37B1A-36F9-4EE7-9E8C-6F3D28D7BEAF}" type="pres">
      <dgm:prSet presAssocID="{049C1FBA-C2B6-4558-8150-90F498FC54FF}" presName="LevelTwoTextNode" presStyleLbl="node2" presStyleIdx="3" presStyleCnt="6" custScaleX="164193">
        <dgm:presLayoutVars>
          <dgm:chPref val="3"/>
        </dgm:presLayoutVars>
      </dgm:prSet>
      <dgm:spPr/>
    </dgm:pt>
    <dgm:pt modelId="{218889F3-2CB0-409E-8EBC-0488037549F3}" type="pres">
      <dgm:prSet presAssocID="{049C1FBA-C2B6-4558-8150-90F498FC54FF}" presName="level3hierChild" presStyleCnt="0"/>
      <dgm:spPr/>
    </dgm:pt>
    <dgm:pt modelId="{36F1989D-B6F7-4E52-B584-93AEE689B660}" type="pres">
      <dgm:prSet presAssocID="{E979BDEB-DBD6-4525-A96B-07BFC09DF22A}" presName="conn2-1" presStyleLbl="parChTrans1D2" presStyleIdx="4" presStyleCnt="6"/>
      <dgm:spPr/>
    </dgm:pt>
    <dgm:pt modelId="{5BE7C137-B2B4-4CCA-AFAE-97FB549D4454}" type="pres">
      <dgm:prSet presAssocID="{E979BDEB-DBD6-4525-A96B-07BFC09DF22A}" presName="connTx" presStyleLbl="parChTrans1D2" presStyleIdx="4" presStyleCnt="6"/>
      <dgm:spPr/>
    </dgm:pt>
    <dgm:pt modelId="{530D5582-4F47-4067-9558-3A4C6F40AF89}" type="pres">
      <dgm:prSet presAssocID="{6DE21F6A-8F83-4E6E-9D56-0B94BEC50425}" presName="root2" presStyleCnt="0"/>
      <dgm:spPr/>
    </dgm:pt>
    <dgm:pt modelId="{A0DCB365-26FB-4B3B-8D45-98FFABAFE51C}" type="pres">
      <dgm:prSet presAssocID="{6DE21F6A-8F83-4E6E-9D56-0B94BEC50425}" presName="LevelTwoTextNode" presStyleLbl="node2" presStyleIdx="4" presStyleCnt="6" custScaleX="164193">
        <dgm:presLayoutVars>
          <dgm:chPref val="3"/>
        </dgm:presLayoutVars>
      </dgm:prSet>
      <dgm:spPr/>
    </dgm:pt>
    <dgm:pt modelId="{5C1D6246-384E-4C20-9D30-10D9FC1909F7}" type="pres">
      <dgm:prSet presAssocID="{6DE21F6A-8F83-4E6E-9D56-0B94BEC50425}" presName="level3hierChild" presStyleCnt="0"/>
      <dgm:spPr/>
    </dgm:pt>
    <dgm:pt modelId="{BF59646D-33E4-4B31-B27F-6FD7200C41F4}" type="pres">
      <dgm:prSet presAssocID="{84A01D1C-9705-4D47-8C5E-E878774041B2}" presName="conn2-1" presStyleLbl="parChTrans1D3" presStyleIdx="3" presStyleCnt="8"/>
      <dgm:spPr/>
    </dgm:pt>
    <dgm:pt modelId="{C243BEDC-179C-4835-87F0-643916E10BBE}" type="pres">
      <dgm:prSet presAssocID="{84A01D1C-9705-4D47-8C5E-E878774041B2}" presName="connTx" presStyleLbl="parChTrans1D3" presStyleIdx="3" presStyleCnt="8"/>
      <dgm:spPr/>
    </dgm:pt>
    <dgm:pt modelId="{F3CE05BC-FA71-4FAB-A054-2EC89620721C}" type="pres">
      <dgm:prSet presAssocID="{07A5BF36-36E2-41A5-BCFA-BFA92F311532}" presName="root2" presStyleCnt="0"/>
      <dgm:spPr/>
    </dgm:pt>
    <dgm:pt modelId="{89922931-A6F7-433F-AB07-EFC0704E3C59}" type="pres">
      <dgm:prSet presAssocID="{07A5BF36-36E2-41A5-BCFA-BFA92F311532}" presName="LevelTwoTextNode" presStyleLbl="node3" presStyleIdx="3" presStyleCnt="8" custScaleX="164193">
        <dgm:presLayoutVars>
          <dgm:chPref val="3"/>
        </dgm:presLayoutVars>
      </dgm:prSet>
      <dgm:spPr/>
    </dgm:pt>
    <dgm:pt modelId="{BDE043B1-1F67-415B-A1B8-3E45CC0D2BEC}" type="pres">
      <dgm:prSet presAssocID="{07A5BF36-36E2-41A5-BCFA-BFA92F311532}" presName="level3hierChild" presStyleCnt="0"/>
      <dgm:spPr/>
    </dgm:pt>
    <dgm:pt modelId="{8E1C318A-F008-4045-83D6-2E23790B07CA}" type="pres">
      <dgm:prSet presAssocID="{A5B1F255-0D7D-4D56-8F17-72D6AF47E303}" presName="conn2-1" presStyleLbl="parChTrans1D3" presStyleIdx="4" presStyleCnt="8"/>
      <dgm:spPr/>
    </dgm:pt>
    <dgm:pt modelId="{7B33B675-16A5-4DFF-9BB2-A0B03F744745}" type="pres">
      <dgm:prSet presAssocID="{A5B1F255-0D7D-4D56-8F17-72D6AF47E303}" presName="connTx" presStyleLbl="parChTrans1D3" presStyleIdx="4" presStyleCnt="8"/>
      <dgm:spPr/>
    </dgm:pt>
    <dgm:pt modelId="{9B232D65-D795-4712-A799-CB664CE77240}" type="pres">
      <dgm:prSet presAssocID="{D1452A15-935B-4877-962C-191C804E2D20}" presName="root2" presStyleCnt="0"/>
      <dgm:spPr/>
    </dgm:pt>
    <dgm:pt modelId="{CB1F2270-C8F2-4D70-A55F-ED1EFBD16C4C}" type="pres">
      <dgm:prSet presAssocID="{D1452A15-935B-4877-962C-191C804E2D20}" presName="LevelTwoTextNode" presStyleLbl="node3" presStyleIdx="4" presStyleCnt="8" custScaleX="164193">
        <dgm:presLayoutVars>
          <dgm:chPref val="3"/>
        </dgm:presLayoutVars>
      </dgm:prSet>
      <dgm:spPr/>
    </dgm:pt>
    <dgm:pt modelId="{4DB700C0-B2D9-4B3A-B8B2-B2EE417EF83F}" type="pres">
      <dgm:prSet presAssocID="{D1452A15-935B-4877-962C-191C804E2D20}" presName="level3hierChild" presStyleCnt="0"/>
      <dgm:spPr/>
    </dgm:pt>
    <dgm:pt modelId="{2A04C819-523E-4338-AC14-1579F128A22E}" type="pres">
      <dgm:prSet presAssocID="{167A99CC-E1A4-4989-AED1-65D9852EE195}" presName="conn2-1" presStyleLbl="parChTrans1D3" presStyleIdx="5" presStyleCnt="8"/>
      <dgm:spPr/>
    </dgm:pt>
    <dgm:pt modelId="{FF53A4B3-4C97-4BA0-84E3-15E1BB7B4219}" type="pres">
      <dgm:prSet presAssocID="{167A99CC-E1A4-4989-AED1-65D9852EE195}" presName="connTx" presStyleLbl="parChTrans1D3" presStyleIdx="5" presStyleCnt="8"/>
      <dgm:spPr/>
    </dgm:pt>
    <dgm:pt modelId="{789E6010-ED98-49A3-B62E-3989147D8786}" type="pres">
      <dgm:prSet presAssocID="{A47B8175-5636-45B3-9C09-A236FFD10A74}" presName="root2" presStyleCnt="0"/>
      <dgm:spPr/>
    </dgm:pt>
    <dgm:pt modelId="{179AC7A7-9F8F-4E46-AE0D-7D0A0DA2C0EB}" type="pres">
      <dgm:prSet presAssocID="{A47B8175-5636-45B3-9C09-A236FFD10A74}" presName="LevelTwoTextNode" presStyleLbl="node3" presStyleIdx="5" presStyleCnt="8" custScaleX="164193">
        <dgm:presLayoutVars>
          <dgm:chPref val="3"/>
        </dgm:presLayoutVars>
      </dgm:prSet>
      <dgm:spPr/>
    </dgm:pt>
    <dgm:pt modelId="{9625ECE3-82F7-46A9-90CB-68D49E591A87}" type="pres">
      <dgm:prSet presAssocID="{A47B8175-5636-45B3-9C09-A236FFD10A74}" presName="level3hierChild" presStyleCnt="0"/>
      <dgm:spPr/>
    </dgm:pt>
    <dgm:pt modelId="{D3C05BD0-C46D-40BF-AA50-10035A6740B9}" type="pres">
      <dgm:prSet presAssocID="{D89AA43E-4561-46F1-AC10-9698E8902F89}" presName="conn2-1" presStyleLbl="parChTrans1D3" presStyleIdx="6" presStyleCnt="8"/>
      <dgm:spPr/>
    </dgm:pt>
    <dgm:pt modelId="{F143B594-6231-4F2E-A6F2-05BFFCDACD48}" type="pres">
      <dgm:prSet presAssocID="{D89AA43E-4561-46F1-AC10-9698E8902F89}" presName="connTx" presStyleLbl="parChTrans1D3" presStyleIdx="6" presStyleCnt="8"/>
      <dgm:spPr/>
    </dgm:pt>
    <dgm:pt modelId="{B276695C-CBC7-42F4-B06A-B845F1EC7B46}" type="pres">
      <dgm:prSet presAssocID="{7E48C1C6-8936-4436-8252-DAB15897B031}" presName="root2" presStyleCnt="0"/>
      <dgm:spPr/>
    </dgm:pt>
    <dgm:pt modelId="{CAA3F27F-D61E-4DC1-B09E-6BBF237DE047}" type="pres">
      <dgm:prSet presAssocID="{7E48C1C6-8936-4436-8252-DAB15897B031}" presName="LevelTwoTextNode" presStyleLbl="node3" presStyleIdx="6" presStyleCnt="8" custScaleX="164193">
        <dgm:presLayoutVars>
          <dgm:chPref val="3"/>
        </dgm:presLayoutVars>
      </dgm:prSet>
      <dgm:spPr/>
    </dgm:pt>
    <dgm:pt modelId="{9AFBF06A-A186-4BFD-BAAA-1C5CBA8DF808}" type="pres">
      <dgm:prSet presAssocID="{7E48C1C6-8936-4436-8252-DAB15897B031}" presName="level3hierChild" presStyleCnt="0"/>
      <dgm:spPr/>
    </dgm:pt>
    <dgm:pt modelId="{9CD235EE-927D-4E3E-B04C-923E8C453554}" type="pres">
      <dgm:prSet presAssocID="{AC645E84-29A9-40D8-B831-961836712E49}" presName="conn2-1" presStyleLbl="parChTrans1D3" presStyleIdx="7" presStyleCnt="8"/>
      <dgm:spPr/>
    </dgm:pt>
    <dgm:pt modelId="{822384B3-5B23-4B82-A631-D2263F79C56A}" type="pres">
      <dgm:prSet presAssocID="{AC645E84-29A9-40D8-B831-961836712E49}" presName="connTx" presStyleLbl="parChTrans1D3" presStyleIdx="7" presStyleCnt="8"/>
      <dgm:spPr/>
    </dgm:pt>
    <dgm:pt modelId="{810F242F-3E1E-43E4-A92B-D4AB6B234F59}" type="pres">
      <dgm:prSet presAssocID="{780898F2-1E58-487D-BEC5-24C3AECB6642}" presName="root2" presStyleCnt="0"/>
      <dgm:spPr/>
    </dgm:pt>
    <dgm:pt modelId="{4EDC2CF2-5AB6-44EC-9C7B-5CD45AC97096}" type="pres">
      <dgm:prSet presAssocID="{780898F2-1E58-487D-BEC5-24C3AECB6642}" presName="LevelTwoTextNode" presStyleLbl="node3" presStyleIdx="7" presStyleCnt="8" custScaleX="164193">
        <dgm:presLayoutVars>
          <dgm:chPref val="3"/>
        </dgm:presLayoutVars>
      </dgm:prSet>
      <dgm:spPr/>
    </dgm:pt>
    <dgm:pt modelId="{4939757C-4B2B-4597-84BC-F1ECBBCA8C84}" type="pres">
      <dgm:prSet presAssocID="{780898F2-1E58-487D-BEC5-24C3AECB6642}" presName="level3hierChild" presStyleCnt="0"/>
      <dgm:spPr/>
    </dgm:pt>
    <dgm:pt modelId="{67922E1E-7ECC-4F9B-ACF4-F6642404FFB1}" type="pres">
      <dgm:prSet presAssocID="{6143220E-C69E-4F3D-8DC3-2F68D7DA916C}" presName="conn2-1" presStyleLbl="parChTrans1D2" presStyleIdx="5" presStyleCnt="6"/>
      <dgm:spPr/>
    </dgm:pt>
    <dgm:pt modelId="{276659A4-60D0-4504-AA29-F88171D95E75}" type="pres">
      <dgm:prSet presAssocID="{6143220E-C69E-4F3D-8DC3-2F68D7DA916C}" presName="connTx" presStyleLbl="parChTrans1D2" presStyleIdx="5" presStyleCnt="6"/>
      <dgm:spPr/>
    </dgm:pt>
    <dgm:pt modelId="{D719D7F3-A1E6-4F8B-B33A-31F2380AD03D}" type="pres">
      <dgm:prSet presAssocID="{357B0A89-C35F-4143-9DE3-A32B590D4A2E}" presName="root2" presStyleCnt="0"/>
      <dgm:spPr/>
    </dgm:pt>
    <dgm:pt modelId="{BD923BEA-5231-4ACD-90B1-AE0AA864B4D4}" type="pres">
      <dgm:prSet presAssocID="{357B0A89-C35F-4143-9DE3-A32B590D4A2E}" presName="LevelTwoTextNode" presStyleLbl="node2" presStyleIdx="5" presStyleCnt="6" custScaleX="164193">
        <dgm:presLayoutVars>
          <dgm:chPref val="3"/>
        </dgm:presLayoutVars>
      </dgm:prSet>
      <dgm:spPr/>
    </dgm:pt>
    <dgm:pt modelId="{028423AE-0B71-4788-A751-C41ADBF64EFA}" type="pres">
      <dgm:prSet presAssocID="{357B0A89-C35F-4143-9DE3-A32B590D4A2E}" presName="level3hierChild" presStyleCnt="0"/>
      <dgm:spPr/>
    </dgm:pt>
  </dgm:ptLst>
  <dgm:cxnLst>
    <dgm:cxn modelId="{C7C8BE00-AA1D-4EF5-A5B4-68925E2F077F}" type="presOf" srcId="{71A8B3C8-FA8C-4A8E-8351-F08A543C0759}" destId="{D2E4AB15-4083-4541-BF8A-F8EC05813326}" srcOrd="0" destOrd="0" presId="urn:microsoft.com/office/officeart/2005/8/layout/hierarchy2"/>
    <dgm:cxn modelId="{8B9C2A06-3ECD-41AF-A56F-9660364B0494}" type="presOf" srcId="{D89AA43E-4561-46F1-AC10-9698E8902F89}" destId="{F143B594-6231-4F2E-A6F2-05BFFCDACD48}" srcOrd="1" destOrd="0" presId="urn:microsoft.com/office/officeart/2005/8/layout/hierarchy2"/>
    <dgm:cxn modelId="{9BA6A60C-9FDC-45D0-AA43-9006CF67A135}" type="presOf" srcId="{D1452A15-935B-4877-962C-191C804E2D20}" destId="{CB1F2270-C8F2-4D70-A55F-ED1EFBD16C4C}" srcOrd="0" destOrd="0" presId="urn:microsoft.com/office/officeart/2005/8/layout/hierarchy2"/>
    <dgm:cxn modelId="{B63CA914-A78B-4A91-A91E-3DEE6E366991}" type="presOf" srcId="{167A99CC-E1A4-4989-AED1-65D9852EE195}" destId="{2A04C819-523E-4338-AC14-1579F128A22E}" srcOrd="0" destOrd="0" presId="urn:microsoft.com/office/officeart/2005/8/layout/hierarchy2"/>
    <dgm:cxn modelId="{BA547117-0CE8-417D-961C-ADEA9E4D2F33}" type="presOf" srcId="{EC8882DD-5770-4B6F-9DEA-D6A61F23A57A}" destId="{9B99ECCB-F6BE-4252-9BF4-24069E013F2E}" srcOrd="1" destOrd="0" presId="urn:microsoft.com/office/officeart/2005/8/layout/hierarchy2"/>
    <dgm:cxn modelId="{077B9C1E-D762-48AE-808E-961F4599C4F2}" srcId="{FA4765FE-02C0-46EB-8F1F-D7D2C3D049A7}" destId="{5525ED47-D5F2-43AA-9F99-3C3B23C1BC8F}" srcOrd="0" destOrd="0" parTransId="{D3DD4857-AC47-4834-B03E-D4C43B730831}" sibTransId="{192A99E3-337D-4562-BFB8-BE00CFABEAAC}"/>
    <dgm:cxn modelId="{46312520-0F64-48F2-980C-98E5908E4DED}" type="presOf" srcId="{D0A825A7-0D63-4904-8177-22E56D1318F0}" destId="{5644956B-24F7-4C52-AC97-D9639C7A996C}" srcOrd="1" destOrd="0" presId="urn:microsoft.com/office/officeart/2005/8/layout/hierarchy2"/>
    <dgm:cxn modelId="{A064FA20-6460-49B0-842F-8D2C926EEEB8}" type="presOf" srcId="{E979BDEB-DBD6-4525-A96B-07BFC09DF22A}" destId="{36F1989D-B6F7-4E52-B584-93AEE689B660}" srcOrd="0" destOrd="0" presId="urn:microsoft.com/office/officeart/2005/8/layout/hierarchy2"/>
    <dgm:cxn modelId="{C9814C2A-34AA-4B76-B1D6-8C9E30AD20B6}" srcId="{D40EF907-DA7F-4BF2-BD4C-93FEF613BA73}" destId="{F7838F08-44A4-4FEA-803D-5AE4DC654349}" srcOrd="2" destOrd="0" parTransId="{EC8882DD-5770-4B6F-9DEA-D6A61F23A57A}" sibTransId="{5143566C-BDFC-4988-BE0C-9385D0812093}"/>
    <dgm:cxn modelId="{808F9A31-F50F-4AB9-B982-57D02EF86A4B}" type="presOf" srcId="{D89AA43E-4561-46F1-AC10-9698E8902F89}" destId="{D3C05BD0-C46D-40BF-AA50-10035A6740B9}" srcOrd="0" destOrd="0" presId="urn:microsoft.com/office/officeart/2005/8/layout/hierarchy2"/>
    <dgm:cxn modelId="{AE3F933C-4A2D-41F4-A02D-E167B07E2675}" type="presOf" srcId="{71A8B3C8-FA8C-4A8E-8351-F08A543C0759}" destId="{94E86EDE-0E1D-46B5-8783-801AA9FFABAD}" srcOrd="1" destOrd="0" presId="urn:microsoft.com/office/officeart/2005/8/layout/hierarchy2"/>
    <dgm:cxn modelId="{83A2573D-7E65-456D-BC1F-90B6BCEB551E}" type="presOf" srcId="{E979BDEB-DBD6-4525-A96B-07BFC09DF22A}" destId="{5BE7C137-B2B4-4CCA-AFAE-97FB549D4454}" srcOrd="1" destOrd="0" presId="urn:microsoft.com/office/officeart/2005/8/layout/hierarchy2"/>
    <dgm:cxn modelId="{D720A83D-BEA0-40C2-8157-8050A4FDB67E}" type="presOf" srcId="{84A01D1C-9705-4D47-8C5E-E878774041B2}" destId="{C243BEDC-179C-4835-87F0-643916E10BBE}" srcOrd="1" destOrd="0" presId="urn:microsoft.com/office/officeart/2005/8/layout/hierarchy2"/>
    <dgm:cxn modelId="{EAD97243-E4CC-4E60-B330-D22073C8CF00}" type="presOf" srcId="{FA4765FE-02C0-46EB-8F1F-D7D2C3D049A7}" destId="{880E42DA-936A-4BA3-9EBE-CC94A6771A67}" srcOrd="0" destOrd="0" presId="urn:microsoft.com/office/officeart/2005/8/layout/hierarchy2"/>
    <dgm:cxn modelId="{B6125E6C-9452-4538-B378-DE9760F123CE}" type="presOf" srcId="{6143220E-C69E-4F3D-8DC3-2F68D7DA916C}" destId="{276659A4-60D0-4504-AA29-F88171D95E75}" srcOrd="1" destOrd="0" presId="urn:microsoft.com/office/officeart/2005/8/layout/hierarchy2"/>
    <dgm:cxn modelId="{C3842673-B9B8-4D32-82C0-D5CB44FEDE99}" type="presOf" srcId="{84A01D1C-9705-4D47-8C5E-E878774041B2}" destId="{BF59646D-33E4-4B31-B27F-6FD7200C41F4}" srcOrd="0" destOrd="0" presId="urn:microsoft.com/office/officeart/2005/8/layout/hierarchy2"/>
    <dgm:cxn modelId="{92EC4154-6CC2-4057-A143-410A58C230FC}" type="presOf" srcId="{049C1FBA-C2B6-4558-8150-90F498FC54FF}" destId="{51F37B1A-36F9-4EE7-9E8C-6F3D28D7BEAF}" srcOrd="0" destOrd="0" presId="urn:microsoft.com/office/officeart/2005/8/layout/hierarchy2"/>
    <dgm:cxn modelId="{F9ACCD74-1DD4-4C73-8BAD-5E210A815177}" type="presOf" srcId="{E846DF6F-79B8-435E-AB6F-30032803E491}" destId="{A36254E8-16DA-4847-88D8-94821D03FAD8}" srcOrd="0" destOrd="0" presId="urn:microsoft.com/office/officeart/2005/8/layout/hierarchy2"/>
    <dgm:cxn modelId="{C5004A55-1C3B-478F-96F9-FDFCDEC8FA09}" type="presOf" srcId="{245794E9-D00C-45B1-87ED-B349A89ABD2C}" destId="{8A2F83A3-7457-427B-951B-EA1D91EB6440}" srcOrd="0" destOrd="0" presId="urn:microsoft.com/office/officeart/2005/8/layout/hierarchy2"/>
    <dgm:cxn modelId="{A97D757C-DC66-4A85-9E85-DBE39A91AA13}" type="presOf" srcId="{EF66D81F-4DA5-497D-8122-B982351053C6}" destId="{EF457FBD-C133-493B-A290-3A493B89F55A}" srcOrd="0" destOrd="0" presId="urn:microsoft.com/office/officeart/2005/8/layout/hierarchy2"/>
    <dgm:cxn modelId="{89FFE17E-3CF7-4CA3-B80F-AA2C550179D4}" type="presOf" srcId="{4935AC1B-BFBD-462C-B79C-1F58528A56BB}" destId="{2051B8EF-2A1A-4094-9D49-41A841497C9B}" srcOrd="1" destOrd="0" presId="urn:microsoft.com/office/officeart/2005/8/layout/hierarchy2"/>
    <dgm:cxn modelId="{36FC5E81-80B5-450B-8699-5B4F593FCB6E}" srcId="{D40EF907-DA7F-4BF2-BD4C-93FEF613BA73}" destId="{3A64C300-48EC-41D7-9D2E-4E1F871B4ACB}" srcOrd="0" destOrd="0" parTransId="{4935AC1B-BFBD-462C-B79C-1F58528A56BB}" sibTransId="{97A1F146-C9E0-4E31-AEFF-829FDDA4BC3E}"/>
    <dgm:cxn modelId="{16D00083-FDC2-4F08-B51B-3CFFFA48CE3C}" type="presOf" srcId="{07A5BF36-36E2-41A5-BCFA-BFA92F311532}" destId="{89922931-A6F7-433F-AB07-EFC0704E3C59}" srcOrd="0" destOrd="0" presId="urn:microsoft.com/office/officeart/2005/8/layout/hierarchy2"/>
    <dgm:cxn modelId="{05E46784-491D-4969-A29A-C76D358233C2}" type="presOf" srcId="{6143220E-C69E-4F3D-8DC3-2F68D7DA916C}" destId="{67922E1E-7ECC-4F9B-ACF4-F6642404FFB1}" srcOrd="0" destOrd="0" presId="urn:microsoft.com/office/officeart/2005/8/layout/hierarchy2"/>
    <dgm:cxn modelId="{68586887-EAB4-4FBA-9B86-74675696F62A}" type="presOf" srcId="{EC8882DD-5770-4B6F-9DEA-D6A61F23A57A}" destId="{654D18CB-DBBB-4FDF-BE12-C9B643396A34}" srcOrd="0" destOrd="0" presId="urn:microsoft.com/office/officeart/2005/8/layout/hierarchy2"/>
    <dgm:cxn modelId="{37CFF68B-7ACC-4F8C-A793-97EC573DFBFD}" type="presOf" srcId="{C66801A4-5D8A-42CB-8173-D114550F58EE}" destId="{B10B39C6-191A-4FAF-9B79-A1377063B756}" srcOrd="0" destOrd="0" presId="urn:microsoft.com/office/officeart/2005/8/layout/hierarchy2"/>
    <dgm:cxn modelId="{38474190-2989-4224-B26B-7D1937A38D80}" type="presOf" srcId="{D40EF907-DA7F-4BF2-BD4C-93FEF613BA73}" destId="{031CBB6E-4BE7-4EE5-80B3-BA953BB21249}" srcOrd="0" destOrd="0" presId="urn:microsoft.com/office/officeart/2005/8/layout/hierarchy2"/>
    <dgm:cxn modelId="{59CD5091-EDEF-4C07-B93A-3C9759191DC6}" srcId="{5525ED47-D5F2-43AA-9F99-3C3B23C1BC8F}" destId="{357B0A89-C35F-4143-9DE3-A32B590D4A2E}" srcOrd="5" destOrd="0" parTransId="{6143220E-C69E-4F3D-8DC3-2F68D7DA916C}" sibTransId="{7A750B4E-B8B6-4F6C-B3AD-3840DFFF29CC}"/>
    <dgm:cxn modelId="{AAB53D94-8067-4BE3-84FA-D876167DD7D4}" srcId="{5525ED47-D5F2-43AA-9F99-3C3B23C1BC8F}" destId="{049C1FBA-C2B6-4558-8150-90F498FC54FF}" srcOrd="3" destOrd="0" parTransId="{D0A825A7-0D63-4904-8177-22E56D1318F0}" sibTransId="{91FF712C-45B3-4661-ADAC-28DD0F1B3F65}"/>
    <dgm:cxn modelId="{27B22398-466A-4723-B2B3-B457DD8372E6}" srcId="{5525ED47-D5F2-43AA-9F99-3C3B23C1BC8F}" destId="{C66801A4-5D8A-42CB-8173-D114550F58EE}" srcOrd="1" destOrd="0" parTransId="{01810830-8F23-4EE6-AA61-B795B8806250}" sibTransId="{CCE0240B-A86B-4C30-A42A-1CA3AB27B5EE}"/>
    <dgm:cxn modelId="{99559F98-4119-4C26-B285-4D7BC457DA2E}" srcId="{6DE21F6A-8F83-4E6E-9D56-0B94BEC50425}" destId="{07A5BF36-36E2-41A5-BCFA-BFA92F311532}" srcOrd="0" destOrd="0" parTransId="{84A01D1C-9705-4D47-8C5E-E878774041B2}" sibTransId="{ACE24E24-8C45-4DAC-A9AC-DA59A2130BFF}"/>
    <dgm:cxn modelId="{563888A5-2007-421F-8C77-158AE998E480}" type="presOf" srcId="{357B0A89-C35F-4143-9DE3-A32B590D4A2E}" destId="{BD923BEA-5231-4ACD-90B1-AE0AA864B4D4}" srcOrd="0" destOrd="0" presId="urn:microsoft.com/office/officeart/2005/8/layout/hierarchy2"/>
    <dgm:cxn modelId="{0AF4A2A5-CC61-4912-86CC-F5B3355F81B6}" type="presOf" srcId="{AC645E84-29A9-40D8-B831-961836712E49}" destId="{822384B3-5B23-4B82-A631-D2263F79C56A}" srcOrd="1" destOrd="0" presId="urn:microsoft.com/office/officeart/2005/8/layout/hierarchy2"/>
    <dgm:cxn modelId="{22C09BA7-90D0-40A2-9E42-2EB1642F1467}" type="presOf" srcId="{6DE21F6A-8F83-4E6E-9D56-0B94BEC50425}" destId="{A0DCB365-26FB-4B3B-8D45-98FFABAFE51C}" srcOrd="0" destOrd="0" presId="urn:microsoft.com/office/officeart/2005/8/layout/hierarchy2"/>
    <dgm:cxn modelId="{C5B9CEA9-71B5-467D-8B08-AA05C19DFAFB}" type="presOf" srcId="{4935AC1B-BFBD-462C-B79C-1F58528A56BB}" destId="{3F717296-9D30-454F-B671-C31ECFB24A12}" srcOrd="0" destOrd="0" presId="urn:microsoft.com/office/officeart/2005/8/layout/hierarchy2"/>
    <dgm:cxn modelId="{FD0527B8-9CB8-475E-A65D-EBD0FD6023CB}" srcId="{5525ED47-D5F2-43AA-9F99-3C3B23C1BC8F}" destId="{D40EF907-DA7F-4BF2-BD4C-93FEF613BA73}" srcOrd="2" destOrd="0" parTransId="{71A8B3C8-FA8C-4A8E-8351-F08A543C0759}" sibTransId="{529DB118-BF34-421C-BBAE-A269610112C1}"/>
    <dgm:cxn modelId="{884B4DB8-A27B-4A7F-AE70-47F9B96F377B}" type="presOf" srcId="{7E48C1C6-8936-4436-8252-DAB15897B031}" destId="{CAA3F27F-D61E-4DC1-B09E-6BBF237DE047}" srcOrd="0" destOrd="0" presId="urn:microsoft.com/office/officeart/2005/8/layout/hierarchy2"/>
    <dgm:cxn modelId="{4DE00CBD-8CAA-4612-9E05-CAD3BB2D6CE4}" type="presOf" srcId="{A5B1F255-0D7D-4D56-8F17-72D6AF47E303}" destId="{8E1C318A-F008-4045-83D6-2E23790B07CA}" srcOrd="0" destOrd="0" presId="urn:microsoft.com/office/officeart/2005/8/layout/hierarchy2"/>
    <dgm:cxn modelId="{173FB9BF-9833-4B1E-B133-CFE8886757CD}" type="presOf" srcId="{01810830-8F23-4EE6-AA61-B795B8806250}" destId="{DDE0A061-0F3D-4621-86EE-D706B960478C}" srcOrd="0" destOrd="0" presId="urn:microsoft.com/office/officeart/2005/8/layout/hierarchy2"/>
    <dgm:cxn modelId="{DAA927C4-B35C-4F19-84FE-F8B2B607EFA4}" type="presOf" srcId="{D0A825A7-0D63-4904-8177-22E56D1318F0}" destId="{D2F7B7E3-22C4-4404-A1BE-EB78A9A9C4FA}" srcOrd="0" destOrd="0" presId="urn:microsoft.com/office/officeart/2005/8/layout/hierarchy2"/>
    <dgm:cxn modelId="{581B51C5-9925-4852-8E15-664B374DE1C4}" type="presOf" srcId="{F7838F08-44A4-4FEA-803D-5AE4DC654349}" destId="{40DA0899-5FBE-4083-B8E9-F274B4C659E4}" srcOrd="0" destOrd="0" presId="urn:microsoft.com/office/officeart/2005/8/layout/hierarchy2"/>
    <dgm:cxn modelId="{C04708C6-97FA-40C5-9AAB-E802AF044D2F}" type="presOf" srcId="{01810830-8F23-4EE6-AA61-B795B8806250}" destId="{73E88FB0-1B2A-48B8-908B-913E1D21EA20}" srcOrd="1" destOrd="0" presId="urn:microsoft.com/office/officeart/2005/8/layout/hierarchy2"/>
    <dgm:cxn modelId="{4222D1CA-5606-4DB3-948E-161180EB0EBF}" type="presOf" srcId="{3A64C300-48EC-41D7-9D2E-4E1F871B4ACB}" destId="{779824E3-8122-442C-AB0B-F3DE062F88F2}" srcOrd="0" destOrd="0" presId="urn:microsoft.com/office/officeart/2005/8/layout/hierarchy2"/>
    <dgm:cxn modelId="{0BB795CD-C0CE-4AAD-B02E-460D55A59E49}" srcId="{6DE21F6A-8F83-4E6E-9D56-0B94BEC50425}" destId="{A47B8175-5636-45B3-9C09-A236FFD10A74}" srcOrd="2" destOrd="0" parTransId="{167A99CC-E1A4-4989-AED1-65D9852EE195}" sibTransId="{68686B60-EC5E-493D-BB2D-C9CF2D4ADFCF}"/>
    <dgm:cxn modelId="{4D592AD3-CC7A-41C4-81CA-B7370821B909}" type="presOf" srcId="{167A99CC-E1A4-4989-AED1-65D9852EE195}" destId="{FF53A4B3-4C97-4BA0-84E3-15E1BB7B4219}" srcOrd="1" destOrd="0" presId="urn:microsoft.com/office/officeart/2005/8/layout/hierarchy2"/>
    <dgm:cxn modelId="{4E6A14D6-644D-47BA-A76D-716045AEF991}" type="presOf" srcId="{1D5ACD20-68A5-49DE-8444-85C0BEC6F7BF}" destId="{98E0482E-33B6-4FF6-9ABC-8ADC6C22D82C}" srcOrd="0" destOrd="0" presId="urn:microsoft.com/office/officeart/2005/8/layout/hierarchy2"/>
    <dgm:cxn modelId="{A4FAD1D7-7B7E-44FE-A73E-21B8B56DDE0C}" srcId="{D40EF907-DA7F-4BF2-BD4C-93FEF613BA73}" destId="{1D5ACD20-68A5-49DE-8444-85C0BEC6F7BF}" srcOrd="1" destOrd="0" parTransId="{EF66D81F-4DA5-497D-8122-B982351053C6}" sibTransId="{05BCA274-5875-458F-92ED-9BBE2E206EC0}"/>
    <dgm:cxn modelId="{DE3A41D9-09A3-420F-A915-42F46A981B74}" srcId="{5525ED47-D5F2-43AA-9F99-3C3B23C1BC8F}" destId="{6DE21F6A-8F83-4E6E-9D56-0B94BEC50425}" srcOrd="4" destOrd="0" parTransId="{E979BDEB-DBD6-4525-A96B-07BFC09DF22A}" sibTransId="{8F7EC5E5-01E8-44B0-BC1E-83F832DD78A0}"/>
    <dgm:cxn modelId="{DEEF5FE1-B556-4A52-9D7E-0845FA3B7D2E}" type="presOf" srcId="{5525ED47-D5F2-43AA-9F99-3C3B23C1BC8F}" destId="{A8A052A9-DD52-4FEB-8777-9B987C85443D}" srcOrd="0" destOrd="0" presId="urn:microsoft.com/office/officeart/2005/8/layout/hierarchy2"/>
    <dgm:cxn modelId="{B5B44CE2-1326-4CEB-BAF3-8C37FD29377B}" srcId="{5525ED47-D5F2-43AA-9F99-3C3B23C1BC8F}" destId="{245794E9-D00C-45B1-87ED-B349A89ABD2C}" srcOrd="0" destOrd="0" parTransId="{E846DF6F-79B8-435E-AB6F-30032803E491}" sibTransId="{9AF5D03C-EA9E-4E96-9903-A530B41DAEA1}"/>
    <dgm:cxn modelId="{5CE67AE2-D496-4B87-81CE-5E1D98D634FE}" type="presOf" srcId="{EF66D81F-4DA5-497D-8122-B982351053C6}" destId="{048D0EDD-B861-4E38-8A56-6B23BACB4F68}" srcOrd="1" destOrd="0" presId="urn:microsoft.com/office/officeart/2005/8/layout/hierarchy2"/>
    <dgm:cxn modelId="{C380CCE5-6351-47BE-9CAF-1BA3B5430A91}" type="presOf" srcId="{780898F2-1E58-487D-BEC5-24C3AECB6642}" destId="{4EDC2CF2-5AB6-44EC-9C7B-5CD45AC97096}" srcOrd="0" destOrd="0" presId="urn:microsoft.com/office/officeart/2005/8/layout/hierarchy2"/>
    <dgm:cxn modelId="{721A9EEA-6A98-4F58-BAB9-5A40522C6CDA}" type="presOf" srcId="{A47B8175-5636-45B3-9C09-A236FFD10A74}" destId="{179AC7A7-9F8F-4E46-AE0D-7D0A0DA2C0EB}" srcOrd="0" destOrd="0" presId="urn:microsoft.com/office/officeart/2005/8/layout/hierarchy2"/>
    <dgm:cxn modelId="{6DE67FF1-B935-4A00-AD8C-50BBA0B453CC}" srcId="{6DE21F6A-8F83-4E6E-9D56-0B94BEC50425}" destId="{780898F2-1E58-487D-BEC5-24C3AECB6642}" srcOrd="4" destOrd="0" parTransId="{AC645E84-29A9-40D8-B831-961836712E49}" sibTransId="{3D3B50E3-C4E9-4BAE-8736-F7A8D82B7330}"/>
    <dgm:cxn modelId="{EA98A9FA-3E33-4A29-BCF7-C1C82D474ED0}" srcId="{6DE21F6A-8F83-4E6E-9D56-0B94BEC50425}" destId="{D1452A15-935B-4877-962C-191C804E2D20}" srcOrd="1" destOrd="0" parTransId="{A5B1F255-0D7D-4D56-8F17-72D6AF47E303}" sibTransId="{A133957B-E427-4378-965E-4D8539AFC261}"/>
    <dgm:cxn modelId="{8C8AA2FB-9AAF-4DE4-ADAC-EA58148E0D62}" type="presOf" srcId="{AC645E84-29A9-40D8-B831-961836712E49}" destId="{9CD235EE-927D-4E3E-B04C-923E8C453554}" srcOrd="0" destOrd="0" presId="urn:microsoft.com/office/officeart/2005/8/layout/hierarchy2"/>
    <dgm:cxn modelId="{200085FC-D8CE-42D6-A142-7E99049CA2EC}" type="presOf" srcId="{A5B1F255-0D7D-4D56-8F17-72D6AF47E303}" destId="{7B33B675-16A5-4DFF-9BB2-A0B03F744745}" srcOrd="1" destOrd="0" presId="urn:microsoft.com/office/officeart/2005/8/layout/hierarchy2"/>
    <dgm:cxn modelId="{2705E3FC-2201-466D-A4A6-5991C869CD12}" srcId="{6DE21F6A-8F83-4E6E-9D56-0B94BEC50425}" destId="{7E48C1C6-8936-4436-8252-DAB15897B031}" srcOrd="3" destOrd="0" parTransId="{D89AA43E-4561-46F1-AC10-9698E8902F89}" sibTransId="{834F7060-7DF4-4E3A-9D77-9AD5A1F4952C}"/>
    <dgm:cxn modelId="{DBBACAFE-DE21-42CF-90C8-3FBC5A486891}" type="presOf" srcId="{E846DF6F-79B8-435E-AB6F-30032803E491}" destId="{A536E8B3-B65E-49A1-B0A2-B60C237BC63E}" srcOrd="1" destOrd="0" presId="urn:microsoft.com/office/officeart/2005/8/layout/hierarchy2"/>
    <dgm:cxn modelId="{A0114927-C080-4217-91C8-3A0A3F8D8334}" type="presParOf" srcId="{880E42DA-936A-4BA3-9EBE-CC94A6771A67}" destId="{955901EC-2273-48A2-93C4-7341B7392620}" srcOrd="0" destOrd="0" presId="urn:microsoft.com/office/officeart/2005/8/layout/hierarchy2"/>
    <dgm:cxn modelId="{4FCC05FF-B0C5-4DC8-807B-D714184BEF7C}" type="presParOf" srcId="{955901EC-2273-48A2-93C4-7341B7392620}" destId="{A8A052A9-DD52-4FEB-8777-9B987C85443D}" srcOrd="0" destOrd="0" presId="urn:microsoft.com/office/officeart/2005/8/layout/hierarchy2"/>
    <dgm:cxn modelId="{E23323BD-BE86-4266-BE3D-B1DACA117E6D}" type="presParOf" srcId="{955901EC-2273-48A2-93C4-7341B7392620}" destId="{91908287-920E-41AB-A597-B58BA99B7C30}" srcOrd="1" destOrd="0" presId="urn:microsoft.com/office/officeart/2005/8/layout/hierarchy2"/>
    <dgm:cxn modelId="{99E9E82D-5C2E-4143-AE5E-86C64D87930B}" type="presParOf" srcId="{91908287-920E-41AB-A597-B58BA99B7C30}" destId="{A36254E8-16DA-4847-88D8-94821D03FAD8}" srcOrd="0" destOrd="0" presId="urn:microsoft.com/office/officeart/2005/8/layout/hierarchy2"/>
    <dgm:cxn modelId="{28E3F2E8-F82D-493E-8FC6-3AEB8F3162A7}" type="presParOf" srcId="{A36254E8-16DA-4847-88D8-94821D03FAD8}" destId="{A536E8B3-B65E-49A1-B0A2-B60C237BC63E}" srcOrd="0" destOrd="0" presId="urn:microsoft.com/office/officeart/2005/8/layout/hierarchy2"/>
    <dgm:cxn modelId="{CAB893EE-D402-48FA-9119-F5C1F0D601C9}" type="presParOf" srcId="{91908287-920E-41AB-A597-B58BA99B7C30}" destId="{902CFDD7-F170-4E64-A182-480EFB97100A}" srcOrd="1" destOrd="0" presId="urn:microsoft.com/office/officeart/2005/8/layout/hierarchy2"/>
    <dgm:cxn modelId="{9B8C205F-D896-41C3-89C2-8DAFE54C3CA1}" type="presParOf" srcId="{902CFDD7-F170-4E64-A182-480EFB97100A}" destId="{8A2F83A3-7457-427B-951B-EA1D91EB6440}" srcOrd="0" destOrd="0" presId="urn:microsoft.com/office/officeart/2005/8/layout/hierarchy2"/>
    <dgm:cxn modelId="{E4EC3623-9370-4544-AFB0-94C229C387E5}" type="presParOf" srcId="{902CFDD7-F170-4E64-A182-480EFB97100A}" destId="{781BF501-0D1B-474D-8E11-CC4FFF956C1A}" srcOrd="1" destOrd="0" presId="urn:microsoft.com/office/officeart/2005/8/layout/hierarchy2"/>
    <dgm:cxn modelId="{8D895530-30D6-482E-96D8-CB114F498D37}" type="presParOf" srcId="{91908287-920E-41AB-A597-B58BA99B7C30}" destId="{DDE0A061-0F3D-4621-86EE-D706B960478C}" srcOrd="2" destOrd="0" presId="urn:microsoft.com/office/officeart/2005/8/layout/hierarchy2"/>
    <dgm:cxn modelId="{4B99534E-52CA-43E5-859D-0DDA80124734}" type="presParOf" srcId="{DDE0A061-0F3D-4621-86EE-D706B960478C}" destId="{73E88FB0-1B2A-48B8-908B-913E1D21EA20}" srcOrd="0" destOrd="0" presId="urn:microsoft.com/office/officeart/2005/8/layout/hierarchy2"/>
    <dgm:cxn modelId="{05D592E4-784A-48A6-93C4-EF3DAE8227A8}" type="presParOf" srcId="{91908287-920E-41AB-A597-B58BA99B7C30}" destId="{AF0E2D9A-DA8E-456B-B326-9CE9B199A846}" srcOrd="3" destOrd="0" presId="urn:microsoft.com/office/officeart/2005/8/layout/hierarchy2"/>
    <dgm:cxn modelId="{ADA78085-1050-440B-B69B-27E535255D11}" type="presParOf" srcId="{AF0E2D9A-DA8E-456B-B326-9CE9B199A846}" destId="{B10B39C6-191A-4FAF-9B79-A1377063B756}" srcOrd="0" destOrd="0" presId="urn:microsoft.com/office/officeart/2005/8/layout/hierarchy2"/>
    <dgm:cxn modelId="{BD431784-0A46-4CF0-A7A6-C715C017355C}" type="presParOf" srcId="{AF0E2D9A-DA8E-456B-B326-9CE9B199A846}" destId="{23FAB5AC-E6A1-433D-AE46-00C8E39B13DA}" srcOrd="1" destOrd="0" presId="urn:microsoft.com/office/officeart/2005/8/layout/hierarchy2"/>
    <dgm:cxn modelId="{5B75EB5C-3624-4CF8-AF2C-9116AAD792B8}" type="presParOf" srcId="{91908287-920E-41AB-A597-B58BA99B7C30}" destId="{D2E4AB15-4083-4541-BF8A-F8EC05813326}" srcOrd="4" destOrd="0" presId="urn:microsoft.com/office/officeart/2005/8/layout/hierarchy2"/>
    <dgm:cxn modelId="{10F4BE94-1DAD-4B1F-B5CC-5F19463805FC}" type="presParOf" srcId="{D2E4AB15-4083-4541-BF8A-F8EC05813326}" destId="{94E86EDE-0E1D-46B5-8783-801AA9FFABAD}" srcOrd="0" destOrd="0" presId="urn:microsoft.com/office/officeart/2005/8/layout/hierarchy2"/>
    <dgm:cxn modelId="{5A351310-2ABD-4A16-8902-4B9B3A40D575}" type="presParOf" srcId="{91908287-920E-41AB-A597-B58BA99B7C30}" destId="{295B8AF6-9800-4920-8B37-0339F6C48E39}" srcOrd="5" destOrd="0" presId="urn:microsoft.com/office/officeart/2005/8/layout/hierarchy2"/>
    <dgm:cxn modelId="{A2CC7BA7-2BE8-4C18-A111-052D41752816}" type="presParOf" srcId="{295B8AF6-9800-4920-8B37-0339F6C48E39}" destId="{031CBB6E-4BE7-4EE5-80B3-BA953BB21249}" srcOrd="0" destOrd="0" presId="urn:microsoft.com/office/officeart/2005/8/layout/hierarchy2"/>
    <dgm:cxn modelId="{D5A1E6AF-4A43-4A4E-A8C0-16DC6EE97DA0}" type="presParOf" srcId="{295B8AF6-9800-4920-8B37-0339F6C48E39}" destId="{0BBC15E5-7218-41A4-8140-A0168B1B216C}" srcOrd="1" destOrd="0" presId="urn:microsoft.com/office/officeart/2005/8/layout/hierarchy2"/>
    <dgm:cxn modelId="{5B9AA156-0951-4DFB-A9D5-7DD751F6841E}" type="presParOf" srcId="{0BBC15E5-7218-41A4-8140-A0168B1B216C}" destId="{3F717296-9D30-454F-B671-C31ECFB24A12}" srcOrd="0" destOrd="0" presId="urn:microsoft.com/office/officeart/2005/8/layout/hierarchy2"/>
    <dgm:cxn modelId="{7CD11DAF-01E1-40B8-A027-4BF38B3C8C63}" type="presParOf" srcId="{3F717296-9D30-454F-B671-C31ECFB24A12}" destId="{2051B8EF-2A1A-4094-9D49-41A841497C9B}" srcOrd="0" destOrd="0" presId="urn:microsoft.com/office/officeart/2005/8/layout/hierarchy2"/>
    <dgm:cxn modelId="{8052EABA-89C6-45AF-8875-3572820ED20A}" type="presParOf" srcId="{0BBC15E5-7218-41A4-8140-A0168B1B216C}" destId="{5E0A5ECB-E5A1-4846-818E-94AB0CC70DD8}" srcOrd="1" destOrd="0" presId="urn:microsoft.com/office/officeart/2005/8/layout/hierarchy2"/>
    <dgm:cxn modelId="{4CB58F2C-CBD7-4597-AD0D-46311CBD8971}" type="presParOf" srcId="{5E0A5ECB-E5A1-4846-818E-94AB0CC70DD8}" destId="{779824E3-8122-442C-AB0B-F3DE062F88F2}" srcOrd="0" destOrd="0" presId="urn:microsoft.com/office/officeart/2005/8/layout/hierarchy2"/>
    <dgm:cxn modelId="{ED11A0BE-3E86-40FE-BC7E-AE4FC650772D}" type="presParOf" srcId="{5E0A5ECB-E5A1-4846-818E-94AB0CC70DD8}" destId="{E0D80D82-B3BC-4607-B65A-E9531D0A90C3}" srcOrd="1" destOrd="0" presId="urn:microsoft.com/office/officeart/2005/8/layout/hierarchy2"/>
    <dgm:cxn modelId="{5AAEBEFD-9ED5-41DE-9742-A8848EDBFD7B}" type="presParOf" srcId="{0BBC15E5-7218-41A4-8140-A0168B1B216C}" destId="{EF457FBD-C133-493B-A290-3A493B89F55A}" srcOrd="2" destOrd="0" presId="urn:microsoft.com/office/officeart/2005/8/layout/hierarchy2"/>
    <dgm:cxn modelId="{E2D271C3-07D1-4A83-A309-8E29F0467A11}" type="presParOf" srcId="{EF457FBD-C133-493B-A290-3A493B89F55A}" destId="{048D0EDD-B861-4E38-8A56-6B23BACB4F68}" srcOrd="0" destOrd="0" presId="urn:microsoft.com/office/officeart/2005/8/layout/hierarchy2"/>
    <dgm:cxn modelId="{54D2B78E-8222-4CFD-9A0A-C47D0D2FBA48}" type="presParOf" srcId="{0BBC15E5-7218-41A4-8140-A0168B1B216C}" destId="{95F97711-DA15-45E0-90C7-BBEF2A5CD3E9}" srcOrd="3" destOrd="0" presId="urn:microsoft.com/office/officeart/2005/8/layout/hierarchy2"/>
    <dgm:cxn modelId="{DFCE1291-A047-4CED-B740-D812673E8328}" type="presParOf" srcId="{95F97711-DA15-45E0-90C7-BBEF2A5CD3E9}" destId="{98E0482E-33B6-4FF6-9ABC-8ADC6C22D82C}" srcOrd="0" destOrd="0" presId="urn:microsoft.com/office/officeart/2005/8/layout/hierarchy2"/>
    <dgm:cxn modelId="{8B747625-2EF8-44A5-B19F-723FE8CBE111}" type="presParOf" srcId="{95F97711-DA15-45E0-90C7-BBEF2A5CD3E9}" destId="{7DC864A9-B70E-4A97-82B6-936CD4325E18}" srcOrd="1" destOrd="0" presId="urn:microsoft.com/office/officeart/2005/8/layout/hierarchy2"/>
    <dgm:cxn modelId="{FB62B7BD-360B-4F0B-A40F-4200F01E4FF9}" type="presParOf" srcId="{0BBC15E5-7218-41A4-8140-A0168B1B216C}" destId="{654D18CB-DBBB-4FDF-BE12-C9B643396A34}" srcOrd="4" destOrd="0" presId="urn:microsoft.com/office/officeart/2005/8/layout/hierarchy2"/>
    <dgm:cxn modelId="{E12E3894-CF54-4A87-81A7-252AE0A2F3BE}" type="presParOf" srcId="{654D18CB-DBBB-4FDF-BE12-C9B643396A34}" destId="{9B99ECCB-F6BE-4252-9BF4-24069E013F2E}" srcOrd="0" destOrd="0" presId="urn:microsoft.com/office/officeart/2005/8/layout/hierarchy2"/>
    <dgm:cxn modelId="{325EFAAF-C90B-4CA0-ABD4-6F90F3F04A19}" type="presParOf" srcId="{0BBC15E5-7218-41A4-8140-A0168B1B216C}" destId="{29482F78-82C1-41B4-8102-0C6834EE338D}" srcOrd="5" destOrd="0" presId="urn:microsoft.com/office/officeart/2005/8/layout/hierarchy2"/>
    <dgm:cxn modelId="{E29936C6-D163-4C5F-B3AF-563C64E2BB13}" type="presParOf" srcId="{29482F78-82C1-41B4-8102-0C6834EE338D}" destId="{40DA0899-5FBE-4083-B8E9-F274B4C659E4}" srcOrd="0" destOrd="0" presId="urn:microsoft.com/office/officeart/2005/8/layout/hierarchy2"/>
    <dgm:cxn modelId="{7B110731-1864-47E6-B992-91E521BC3DDC}" type="presParOf" srcId="{29482F78-82C1-41B4-8102-0C6834EE338D}" destId="{FD0C79AC-B103-4FBE-992C-0A7D3A278439}" srcOrd="1" destOrd="0" presId="urn:microsoft.com/office/officeart/2005/8/layout/hierarchy2"/>
    <dgm:cxn modelId="{EEA85204-2391-4B80-922F-ECCBE4A95386}" type="presParOf" srcId="{91908287-920E-41AB-A597-B58BA99B7C30}" destId="{D2F7B7E3-22C4-4404-A1BE-EB78A9A9C4FA}" srcOrd="6" destOrd="0" presId="urn:microsoft.com/office/officeart/2005/8/layout/hierarchy2"/>
    <dgm:cxn modelId="{168963D1-5F62-4E20-9A5A-63DD56F2E77B}" type="presParOf" srcId="{D2F7B7E3-22C4-4404-A1BE-EB78A9A9C4FA}" destId="{5644956B-24F7-4C52-AC97-D9639C7A996C}" srcOrd="0" destOrd="0" presId="urn:microsoft.com/office/officeart/2005/8/layout/hierarchy2"/>
    <dgm:cxn modelId="{48C7FF4C-D44A-430D-881F-4039C54C5046}" type="presParOf" srcId="{91908287-920E-41AB-A597-B58BA99B7C30}" destId="{6AA8851D-4651-4EEB-B451-035478B3CBAF}" srcOrd="7" destOrd="0" presId="urn:microsoft.com/office/officeart/2005/8/layout/hierarchy2"/>
    <dgm:cxn modelId="{EA10BEA3-718A-476C-B2CD-AE7EA016276B}" type="presParOf" srcId="{6AA8851D-4651-4EEB-B451-035478B3CBAF}" destId="{51F37B1A-36F9-4EE7-9E8C-6F3D28D7BEAF}" srcOrd="0" destOrd="0" presId="urn:microsoft.com/office/officeart/2005/8/layout/hierarchy2"/>
    <dgm:cxn modelId="{775FD6BA-39AE-43C5-8F57-760D43268502}" type="presParOf" srcId="{6AA8851D-4651-4EEB-B451-035478B3CBAF}" destId="{218889F3-2CB0-409E-8EBC-0488037549F3}" srcOrd="1" destOrd="0" presId="urn:microsoft.com/office/officeart/2005/8/layout/hierarchy2"/>
    <dgm:cxn modelId="{E1D4B339-7526-4A5B-86B1-74A5F10D7903}" type="presParOf" srcId="{91908287-920E-41AB-A597-B58BA99B7C30}" destId="{36F1989D-B6F7-4E52-B584-93AEE689B660}" srcOrd="8" destOrd="0" presId="urn:microsoft.com/office/officeart/2005/8/layout/hierarchy2"/>
    <dgm:cxn modelId="{C574908C-A11D-4AB8-BB4D-41C9C7DC1EBA}" type="presParOf" srcId="{36F1989D-B6F7-4E52-B584-93AEE689B660}" destId="{5BE7C137-B2B4-4CCA-AFAE-97FB549D4454}" srcOrd="0" destOrd="0" presId="urn:microsoft.com/office/officeart/2005/8/layout/hierarchy2"/>
    <dgm:cxn modelId="{87082CB5-DAE7-48C6-A75E-DA23303E2E59}" type="presParOf" srcId="{91908287-920E-41AB-A597-B58BA99B7C30}" destId="{530D5582-4F47-4067-9558-3A4C6F40AF89}" srcOrd="9" destOrd="0" presId="urn:microsoft.com/office/officeart/2005/8/layout/hierarchy2"/>
    <dgm:cxn modelId="{9287313A-F66B-4CB1-80B1-E49B773F2B45}" type="presParOf" srcId="{530D5582-4F47-4067-9558-3A4C6F40AF89}" destId="{A0DCB365-26FB-4B3B-8D45-98FFABAFE51C}" srcOrd="0" destOrd="0" presId="urn:microsoft.com/office/officeart/2005/8/layout/hierarchy2"/>
    <dgm:cxn modelId="{84B01B1C-06EB-4410-9EB0-A10B1CEE8512}" type="presParOf" srcId="{530D5582-4F47-4067-9558-3A4C6F40AF89}" destId="{5C1D6246-384E-4C20-9D30-10D9FC1909F7}" srcOrd="1" destOrd="0" presId="urn:microsoft.com/office/officeart/2005/8/layout/hierarchy2"/>
    <dgm:cxn modelId="{62F83E2F-6A0A-4647-BF7F-F1DFBBB9B6D8}" type="presParOf" srcId="{5C1D6246-384E-4C20-9D30-10D9FC1909F7}" destId="{BF59646D-33E4-4B31-B27F-6FD7200C41F4}" srcOrd="0" destOrd="0" presId="urn:microsoft.com/office/officeart/2005/8/layout/hierarchy2"/>
    <dgm:cxn modelId="{50BCD672-EF9D-4725-86ED-6125D7F05391}" type="presParOf" srcId="{BF59646D-33E4-4B31-B27F-6FD7200C41F4}" destId="{C243BEDC-179C-4835-87F0-643916E10BBE}" srcOrd="0" destOrd="0" presId="urn:microsoft.com/office/officeart/2005/8/layout/hierarchy2"/>
    <dgm:cxn modelId="{A077E5B7-6C66-487B-99E3-F53052FF85BD}" type="presParOf" srcId="{5C1D6246-384E-4C20-9D30-10D9FC1909F7}" destId="{F3CE05BC-FA71-4FAB-A054-2EC89620721C}" srcOrd="1" destOrd="0" presId="urn:microsoft.com/office/officeart/2005/8/layout/hierarchy2"/>
    <dgm:cxn modelId="{F17E696D-5DE1-4165-AC18-F64AFC2A0967}" type="presParOf" srcId="{F3CE05BC-FA71-4FAB-A054-2EC89620721C}" destId="{89922931-A6F7-433F-AB07-EFC0704E3C59}" srcOrd="0" destOrd="0" presId="urn:microsoft.com/office/officeart/2005/8/layout/hierarchy2"/>
    <dgm:cxn modelId="{3F938B8E-D228-4836-8BEA-8DB37EA9D997}" type="presParOf" srcId="{F3CE05BC-FA71-4FAB-A054-2EC89620721C}" destId="{BDE043B1-1F67-415B-A1B8-3E45CC0D2BEC}" srcOrd="1" destOrd="0" presId="urn:microsoft.com/office/officeart/2005/8/layout/hierarchy2"/>
    <dgm:cxn modelId="{EE7AEB54-128A-4D7F-A973-8E5CFCC2B518}" type="presParOf" srcId="{5C1D6246-384E-4C20-9D30-10D9FC1909F7}" destId="{8E1C318A-F008-4045-83D6-2E23790B07CA}" srcOrd="2" destOrd="0" presId="urn:microsoft.com/office/officeart/2005/8/layout/hierarchy2"/>
    <dgm:cxn modelId="{EB5A656F-7410-4802-9910-6D6F2B9CA566}" type="presParOf" srcId="{8E1C318A-F008-4045-83D6-2E23790B07CA}" destId="{7B33B675-16A5-4DFF-9BB2-A0B03F744745}" srcOrd="0" destOrd="0" presId="urn:microsoft.com/office/officeart/2005/8/layout/hierarchy2"/>
    <dgm:cxn modelId="{78AE7879-FC29-4D9B-ACC0-FC4DAB741950}" type="presParOf" srcId="{5C1D6246-384E-4C20-9D30-10D9FC1909F7}" destId="{9B232D65-D795-4712-A799-CB664CE77240}" srcOrd="3" destOrd="0" presId="urn:microsoft.com/office/officeart/2005/8/layout/hierarchy2"/>
    <dgm:cxn modelId="{149A7549-8861-4425-A448-B830E6ABB64B}" type="presParOf" srcId="{9B232D65-D795-4712-A799-CB664CE77240}" destId="{CB1F2270-C8F2-4D70-A55F-ED1EFBD16C4C}" srcOrd="0" destOrd="0" presId="urn:microsoft.com/office/officeart/2005/8/layout/hierarchy2"/>
    <dgm:cxn modelId="{CDF8ECD4-CBA0-44C6-831C-C9EA4348A7F2}" type="presParOf" srcId="{9B232D65-D795-4712-A799-CB664CE77240}" destId="{4DB700C0-B2D9-4B3A-B8B2-B2EE417EF83F}" srcOrd="1" destOrd="0" presId="urn:microsoft.com/office/officeart/2005/8/layout/hierarchy2"/>
    <dgm:cxn modelId="{C2E4C7E6-4DC4-4D10-A8B1-19C589F62309}" type="presParOf" srcId="{5C1D6246-384E-4C20-9D30-10D9FC1909F7}" destId="{2A04C819-523E-4338-AC14-1579F128A22E}" srcOrd="4" destOrd="0" presId="urn:microsoft.com/office/officeart/2005/8/layout/hierarchy2"/>
    <dgm:cxn modelId="{39C058E4-CC68-4630-B9D7-05F57D99855C}" type="presParOf" srcId="{2A04C819-523E-4338-AC14-1579F128A22E}" destId="{FF53A4B3-4C97-4BA0-84E3-15E1BB7B4219}" srcOrd="0" destOrd="0" presId="urn:microsoft.com/office/officeart/2005/8/layout/hierarchy2"/>
    <dgm:cxn modelId="{05196F60-2074-43F7-A3C8-AA07D7C0E79B}" type="presParOf" srcId="{5C1D6246-384E-4C20-9D30-10D9FC1909F7}" destId="{789E6010-ED98-49A3-B62E-3989147D8786}" srcOrd="5" destOrd="0" presId="urn:microsoft.com/office/officeart/2005/8/layout/hierarchy2"/>
    <dgm:cxn modelId="{8845A41B-2312-48AD-B81D-DAB28E7691CC}" type="presParOf" srcId="{789E6010-ED98-49A3-B62E-3989147D8786}" destId="{179AC7A7-9F8F-4E46-AE0D-7D0A0DA2C0EB}" srcOrd="0" destOrd="0" presId="urn:microsoft.com/office/officeart/2005/8/layout/hierarchy2"/>
    <dgm:cxn modelId="{39CF4686-D9DA-4E49-8E74-8732EEE8BFFE}" type="presParOf" srcId="{789E6010-ED98-49A3-B62E-3989147D8786}" destId="{9625ECE3-82F7-46A9-90CB-68D49E591A87}" srcOrd="1" destOrd="0" presId="urn:microsoft.com/office/officeart/2005/8/layout/hierarchy2"/>
    <dgm:cxn modelId="{9462EB94-F2FD-4293-A979-2BC49A148CA0}" type="presParOf" srcId="{5C1D6246-384E-4C20-9D30-10D9FC1909F7}" destId="{D3C05BD0-C46D-40BF-AA50-10035A6740B9}" srcOrd="6" destOrd="0" presId="urn:microsoft.com/office/officeart/2005/8/layout/hierarchy2"/>
    <dgm:cxn modelId="{2826FF80-D585-4D47-9D74-31B649590ADB}" type="presParOf" srcId="{D3C05BD0-C46D-40BF-AA50-10035A6740B9}" destId="{F143B594-6231-4F2E-A6F2-05BFFCDACD48}" srcOrd="0" destOrd="0" presId="urn:microsoft.com/office/officeart/2005/8/layout/hierarchy2"/>
    <dgm:cxn modelId="{F6064DE4-88FA-4D43-AC2F-D9CD05514B06}" type="presParOf" srcId="{5C1D6246-384E-4C20-9D30-10D9FC1909F7}" destId="{B276695C-CBC7-42F4-B06A-B845F1EC7B46}" srcOrd="7" destOrd="0" presId="urn:microsoft.com/office/officeart/2005/8/layout/hierarchy2"/>
    <dgm:cxn modelId="{F4661119-9738-44AE-81B3-6195277B0325}" type="presParOf" srcId="{B276695C-CBC7-42F4-B06A-B845F1EC7B46}" destId="{CAA3F27F-D61E-4DC1-B09E-6BBF237DE047}" srcOrd="0" destOrd="0" presId="urn:microsoft.com/office/officeart/2005/8/layout/hierarchy2"/>
    <dgm:cxn modelId="{85B282A7-591E-44E7-8E25-15FC818FB7AD}" type="presParOf" srcId="{B276695C-CBC7-42F4-B06A-B845F1EC7B46}" destId="{9AFBF06A-A186-4BFD-BAAA-1C5CBA8DF808}" srcOrd="1" destOrd="0" presId="urn:microsoft.com/office/officeart/2005/8/layout/hierarchy2"/>
    <dgm:cxn modelId="{FC860350-5E14-49C4-A6BC-A733F8633962}" type="presParOf" srcId="{5C1D6246-384E-4C20-9D30-10D9FC1909F7}" destId="{9CD235EE-927D-4E3E-B04C-923E8C453554}" srcOrd="8" destOrd="0" presId="urn:microsoft.com/office/officeart/2005/8/layout/hierarchy2"/>
    <dgm:cxn modelId="{8CC30C3B-5E00-4C68-86F7-F48042EF974F}" type="presParOf" srcId="{9CD235EE-927D-4E3E-B04C-923E8C453554}" destId="{822384B3-5B23-4B82-A631-D2263F79C56A}" srcOrd="0" destOrd="0" presId="urn:microsoft.com/office/officeart/2005/8/layout/hierarchy2"/>
    <dgm:cxn modelId="{F78AD3D7-0624-4DC4-8AE0-F60A9F8DB838}" type="presParOf" srcId="{5C1D6246-384E-4C20-9D30-10D9FC1909F7}" destId="{810F242F-3E1E-43E4-A92B-D4AB6B234F59}" srcOrd="9" destOrd="0" presId="urn:microsoft.com/office/officeart/2005/8/layout/hierarchy2"/>
    <dgm:cxn modelId="{6522B6A0-6979-465F-A294-98B1BC6A5A25}" type="presParOf" srcId="{810F242F-3E1E-43E4-A92B-D4AB6B234F59}" destId="{4EDC2CF2-5AB6-44EC-9C7B-5CD45AC97096}" srcOrd="0" destOrd="0" presId="urn:microsoft.com/office/officeart/2005/8/layout/hierarchy2"/>
    <dgm:cxn modelId="{40EC1427-44E5-43DD-BC0A-C454CE02FE60}" type="presParOf" srcId="{810F242F-3E1E-43E4-A92B-D4AB6B234F59}" destId="{4939757C-4B2B-4597-84BC-F1ECBBCA8C84}" srcOrd="1" destOrd="0" presId="urn:microsoft.com/office/officeart/2005/8/layout/hierarchy2"/>
    <dgm:cxn modelId="{467DA358-0215-4E92-B799-D8C4D5BD9ACB}" type="presParOf" srcId="{91908287-920E-41AB-A597-B58BA99B7C30}" destId="{67922E1E-7ECC-4F9B-ACF4-F6642404FFB1}" srcOrd="10" destOrd="0" presId="urn:microsoft.com/office/officeart/2005/8/layout/hierarchy2"/>
    <dgm:cxn modelId="{50DB1AA2-E341-427E-9BE0-127253A2ECFB}" type="presParOf" srcId="{67922E1E-7ECC-4F9B-ACF4-F6642404FFB1}" destId="{276659A4-60D0-4504-AA29-F88171D95E75}" srcOrd="0" destOrd="0" presId="urn:microsoft.com/office/officeart/2005/8/layout/hierarchy2"/>
    <dgm:cxn modelId="{5E52D9D6-7477-430A-9AE6-2CF619DEB437}" type="presParOf" srcId="{91908287-920E-41AB-A597-B58BA99B7C30}" destId="{D719D7F3-A1E6-4F8B-B33A-31F2380AD03D}" srcOrd="11" destOrd="0" presId="urn:microsoft.com/office/officeart/2005/8/layout/hierarchy2"/>
    <dgm:cxn modelId="{D2E91FC0-9C68-47BB-8E84-9F1B1DBB611D}" type="presParOf" srcId="{D719D7F3-A1E6-4F8B-B33A-31F2380AD03D}" destId="{BD923BEA-5231-4ACD-90B1-AE0AA864B4D4}" srcOrd="0" destOrd="0" presId="urn:microsoft.com/office/officeart/2005/8/layout/hierarchy2"/>
    <dgm:cxn modelId="{87E0D314-14C7-4380-81D2-ABA21603D4E8}" type="presParOf" srcId="{D719D7F3-A1E6-4F8B-B33A-31F2380AD03D}" destId="{028423AE-0B71-4788-A751-C41ADBF64EF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37178C0-181B-4CE6-8CDA-C19E799D824C}"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zh-TW" altLang="en-US"/>
        </a:p>
      </dgm:t>
    </dgm:pt>
    <dgm:pt modelId="{E7D5B68C-9486-4CFF-9006-6BF393BDDF91}">
      <dgm:prSet phldrT="[文字]"/>
      <dgm:spPr/>
      <dgm:t>
        <a:bodyPr/>
        <a:lstStyle/>
        <a:p>
          <a:r>
            <a:rPr lang="zh-TW" altLang="en-US" dirty="0">
              <a:latin typeface="標楷體" panose="03000509000000000000" pitchFamily="65" charset="-120"/>
              <a:ea typeface="標楷體" panose="03000509000000000000" pitchFamily="65" charset="-120"/>
            </a:rPr>
            <a:t>發明</a:t>
          </a:r>
        </a:p>
      </dgm:t>
    </dgm:pt>
    <dgm:pt modelId="{3681C437-B915-4BE2-ADC2-BEC87B71EA04}" type="parTrans" cxnId="{7B228B24-86BC-4484-9767-F3666CB744DE}">
      <dgm:prSet/>
      <dgm:spPr/>
      <dgm:t>
        <a:bodyPr/>
        <a:lstStyle/>
        <a:p>
          <a:endParaRPr lang="zh-TW" altLang="en-US">
            <a:latin typeface="標楷體" panose="03000509000000000000" pitchFamily="65" charset="-120"/>
            <a:ea typeface="標楷體" panose="03000509000000000000" pitchFamily="65" charset="-120"/>
          </a:endParaRPr>
        </a:p>
      </dgm:t>
    </dgm:pt>
    <dgm:pt modelId="{CFC765D4-771E-45A5-83A8-D97B30C5C198}" type="sibTrans" cxnId="{7B228B24-86BC-4484-9767-F3666CB744DE}">
      <dgm:prSet/>
      <dgm:spPr/>
      <dgm:t>
        <a:bodyPr/>
        <a:lstStyle/>
        <a:p>
          <a:endParaRPr lang="zh-TW" altLang="en-US">
            <a:latin typeface="標楷體" panose="03000509000000000000" pitchFamily="65" charset="-120"/>
            <a:ea typeface="標楷體" panose="03000509000000000000" pitchFamily="65" charset="-120"/>
          </a:endParaRPr>
        </a:p>
      </dgm:t>
    </dgm:pt>
    <dgm:pt modelId="{0D5433E4-916E-413B-BBB4-26C75400AB33}">
      <dgm:prSet phldrT="[文字]"/>
      <dgm:spPr/>
      <dgm:t>
        <a:bodyPr/>
        <a:lstStyle/>
        <a:p>
          <a:r>
            <a:rPr lang="zh-TW" altLang="en-US" dirty="0">
              <a:latin typeface="標楷體" panose="03000509000000000000" pitchFamily="65" charset="-120"/>
              <a:ea typeface="標楷體" panose="03000509000000000000" pitchFamily="65" charset="-120"/>
            </a:rPr>
            <a:t>廣度</a:t>
          </a:r>
        </a:p>
      </dgm:t>
    </dgm:pt>
    <dgm:pt modelId="{D73B1D0A-5A42-44B5-820C-367F8A9A4796}" type="parTrans" cxnId="{BB33199F-9DB1-4841-8C2C-BD360F894835}">
      <dgm:prSet/>
      <dgm:spPr/>
      <dgm:t>
        <a:bodyPr/>
        <a:lstStyle/>
        <a:p>
          <a:endParaRPr lang="zh-TW" altLang="en-US">
            <a:latin typeface="標楷體" panose="03000509000000000000" pitchFamily="65" charset="-120"/>
            <a:ea typeface="標楷體" panose="03000509000000000000" pitchFamily="65" charset="-120"/>
          </a:endParaRPr>
        </a:p>
      </dgm:t>
    </dgm:pt>
    <dgm:pt modelId="{5A9B60B2-BDB6-473A-8507-5CF9B6363F8C}" type="sibTrans" cxnId="{BB33199F-9DB1-4841-8C2C-BD360F894835}">
      <dgm:prSet/>
      <dgm:spPr/>
      <dgm:t>
        <a:bodyPr/>
        <a:lstStyle/>
        <a:p>
          <a:endParaRPr lang="zh-TW" altLang="en-US">
            <a:latin typeface="標楷體" panose="03000509000000000000" pitchFamily="65" charset="-120"/>
            <a:ea typeface="標楷體" panose="03000509000000000000" pitchFamily="65" charset="-120"/>
          </a:endParaRPr>
        </a:p>
      </dgm:t>
    </dgm:pt>
    <dgm:pt modelId="{B9807602-A41D-4042-9AF3-6D66B8A75130}">
      <dgm:prSet phldrT="[文字]"/>
      <dgm:spPr/>
      <dgm:t>
        <a:bodyPr/>
        <a:lstStyle/>
        <a:p>
          <a:r>
            <a:rPr lang="zh-TW" altLang="en-US" dirty="0">
              <a:latin typeface="標楷體" panose="03000509000000000000" pitchFamily="65" charset="-120"/>
              <a:ea typeface="標楷體" panose="03000509000000000000" pitchFamily="65" charset="-120"/>
            </a:rPr>
            <a:t>本質</a:t>
          </a:r>
        </a:p>
      </dgm:t>
    </dgm:pt>
    <dgm:pt modelId="{F8507607-4F28-4C0B-BF47-0E48EAF87371}" type="parTrans" cxnId="{0A74B666-5FDD-43F8-8D7A-5D84C57B8B3D}">
      <dgm:prSet/>
      <dgm:spPr/>
      <dgm:t>
        <a:bodyPr/>
        <a:lstStyle/>
        <a:p>
          <a:endParaRPr lang="zh-TW" altLang="en-US">
            <a:latin typeface="標楷體" panose="03000509000000000000" pitchFamily="65" charset="-120"/>
            <a:ea typeface="標楷體" panose="03000509000000000000" pitchFamily="65" charset="-120"/>
          </a:endParaRPr>
        </a:p>
      </dgm:t>
    </dgm:pt>
    <dgm:pt modelId="{5F414CC2-B13D-4D76-892F-6CBBFC1E1CD6}" type="sibTrans" cxnId="{0A74B666-5FDD-43F8-8D7A-5D84C57B8B3D}">
      <dgm:prSet/>
      <dgm:spPr/>
      <dgm:t>
        <a:bodyPr/>
        <a:lstStyle/>
        <a:p>
          <a:endParaRPr lang="zh-TW" altLang="en-US">
            <a:latin typeface="標楷體" panose="03000509000000000000" pitchFamily="65" charset="-120"/>
            <a:ea typeface="標楷體" panose="03000509000000000000" pitchFamily="65" charset="-120"/>
          </a:endParaRPr>
        </a:p>
      </dgm:t>
    </dgm:pt>
    <dgm:pt modelId="{E66449D3-08E5-437D-A2D8-CC2A9A74A232}">
      <dgm:prSet phldrT="[文字]"/>
      <dgm:spPr/>
      <dgm:t>
        <a:bodyPr/>
        <a:lstStyle/>
        <a:p>
          <a:r>
            <a:rPr lang="zh-TW" altLang="en-US" dirty="0">
              <a:latin typeface="標楷體" panose="03000509000000000000" pitchFamily="65" charset="-120"/>
              <a:ea typeface="標楷體" panose="03000509000000000000" pitchFamily="65" charset="-120"/>
            </a:rPr>
            <a:t>通常知識</a:t>
          </a:r>
        </a:p>
      </dgm:t>
    </dgm:pt>
    <dgm:pt modelId="{DF910470-9C83-44D4-8992-230D547B7B55}" type="parTrans" cxnId="{A11E0201-87EF-4D41-9970-3A6CAE01AC69}">
      <dgm:prSet/>
      <dgm:spPr/>
      <dgm:t>
        <a:bodyPr/>
        <a:lstStyle/>
        <a:p>
          <a:endParaRPr lang="zh-TW" altLang="en-US">
            <a:latin typeface="標楷體" panose="03000509000000000000" pitchFamily="65" charset="-120"/>
            <a:ea typeface="標楷體" panose="03000509000000000000" pitchFamily="65" charset="-120"/>
          </a:endParaRPr>
        </a:p>
      </dgm:t>
    </dgm:pt>
    <dgm:pt modelId="{E301B15B-D1AD-40C6-9807-A3E3751A9AC0}" type="sibTrans" cxnId="{A11E0201-87EF-4D41-9970-3A6CAE01AC69}">
      <dgm:prSet/>
      <dgm:spPr/>
      <dgm:t>
        <a:bodyPr/>
        <a:lstStyle/>
        <a:p>
          <a:endParaRPr lang="zh-TW" altLang="en-US">
            <a:latin typeface="標楷體" panose="03000509000000000000" pitchFamily="65" charset="-120"/>
            <a:ea typeface="標楷體" panose="03000509000000000000" pitchFamily="65" charset="-120"/>
          </a:endParaRPr>
        </a:p>
      </dgm:t>
    </dgm:pt>
    <dgm:pt modelId="{AE7DCCDC-9B9E-4228-B152-8660BDD07541}">
      <dgm:prSet phldrT="[文字]"/>
      <dgm:spPr/>
      <dgm:t>
        <a:bodyPr/>
        <a:lstStyle/>
        <a:p>
          <a:r>
            <a:rPr lang="zh-TW" altLang="en-US" dirty="0">
              <a:latin typeface="標楷體" panose="03000509000000000000" pitchFamily="65" charset="-120"/>
              <a:ea typeface="標楷體" panose="03000509000000000000" pitchFamily="65" charset="-120"/>
            </a:rPr>
            <a:t>一般知識、普通技能</a:t>
          </a:r>
        </a:p>
      </dgm:t>
    </dgm:pt>
    <dgm:pt modelId="{8602969D-B3CA-46B2-9AAB-FBFF92C9C8A0}" type="parTrans" cxnId="{2676B9A9-20FA-4983-BFF3-757C70B7C0CD}">
      <dgm:prSet/>
      <dgm:spPr/>
      <dgm:t>
        <a:bodyPr/>
        <a:lstStyle/>
        <a:p>
          <a:endParaRPr lang="zh-TW" altLang="en-US">
            <a:latin typeface="標楷體" panose="03000509000000000000" pitchFamily="65" charset="-120"/>
            <a:ea typeface="標楷體" panose="03000509000000000000" pitchFamily="65" charset="-120"/>
          </a:endParaRPr>
        </a:p>
      </dgm:t>
    </dgm:pt>
    <dgm:pt modelId="{395BA736-6142-433E-B359-42061B2C6084}" type="sibTrans" cxnId="{2676B9A9-20FA-4983-BFF3-757C70B7C0CD}">
      <dgm:prSet/>
      <dgm:spPr/>
      <dgm:t>
        <a:bodyPr/>
        <a:lstStyle/>
        <a:p>
          <a:endParaRPr lang="zh-TW" altLang="en-US">
            <a:latin typeface="標楷體" panose="03000509000000000000" pitchFamily="65" charset="-120"/>
            <a:ea typeface="標楷體" panose="03000509000000000000" pitchFamily="65" charset="-120"/>
          </a:endParaRPr>
        </a:p>
      </dgm:t>
    </dgm:pt>
    <dgm:pt modelId="{28E45911-F8BC-4E82-935F-C8088A198526}">
      <dgm:prSet phldrT="[文字]"/>
      <dgm:spPr/>
      <dgm:t>
        <a:bodyPr/>
        <a:lstStyle/>
        <a:p>
          <a:r>
            <a:rPr lang="zh-TW" altLang="en-US" dirty="0">
              <a:latin typeface="標楷體" panose="03000509000000000000" pitchFamily="65" charset="-120"/>
              <a:ea typeface="標楷體" panose="03000509000000000000" pitchFamily="65" charset="-120"/>
            </a:rPr>
            <a:t>可預測成度</a:t>
          </a:r>
        </a:p>
      </dgm:t>
    </dgm:pt>
    <dgm:pt modelId="{D626F501-05C8-4BCA-ACB1-3E518FF18232}" type="parTrans" cxnId="{4B72F14D-9B1D-4003-B304-EF487BF910B8}">
      <dgm:prSet/>
      <dgm:spPr/>
      <dgm:t>
        <a:bodyPr/>
        <a:lstStyle/>
        <a:p>
          <a:endParaRPr lang="zh-TW" altLang="en-US">
            <a:latin typeface="標楷體" panose="03000509000000000000" pitchFamily="65" charset="-120"/>
            <a:ea typeface="標楷體" panose="03000509000000000000" pitchFamily="65" charset="-120"/>
          </a:endParaRPr>
        </a:p>
      </dgm:t>
    </dgm:pt>
    <dgm:pt modelId="{62306EE1-CA33-4B50-8CEA-1823EB44F3B8}" type="sibTrans" cxnId="{4B72F14D-9B1D-4003-B304-EF487BF910B8}">
      <dgm:prSet/>
      <dgm:spPr/>
      <dgm:t>
        <a:bodyPr/>
        <a:lstStyle/>
        <a:p>
          <a:endParaRPr lang="zh-TW" altLang="en-US">
            <a:latin typeface="標楷體" panose="03000509000000000000" pitchFamily="65" charset="-120"/>
            <a:ea typeface="標楷體" panose="03000509000000000000" pitchFamily="65" charset="-120"/>
          </a:endParaRPr>
        </a:p>
      </dgm:t>
    </dgm:pt>
    <dgm:pt modelId="{DB113897-7864-4B24-BD6E-7EF0FA593A9D}">
      <dgm:prSet phldrT="[文字]"/>
      <dgm:spPr/>
      <dgm:t>
        <a:bodyPr/>
        <a:lstStyle/>
        <a:p>
          <a:r>
            <a:rPr lang="zh-TW" altLang="en-US" dirty="0">
              <a:latin typeface="標楷體" panose="03000509000000000000" pitchFamily="65" charset="-120"/>
              <a:ea typeface="標楷體" panose="03000509000000000000" pitchFamily="65" charset="-120"/>
            </a:rPr>
            <a:t>說明書</a:t>
          </a:r>
        </a:p>
      </dgm:t>
    </dgm:pt>
    <dgm:pt modelId="{10FC6E1C-FD45-4169-A0EE-5CC251B96D1F}" type="parTrans" cxnId="{18128289-7BA6-4C0E-BAF1-58C0D538C54E}">
      <dgm:prSet/>
      <dgm:spPr/>
      <dgm:t>
        <a:bodyPr/>
        <a:lstStyle/>
        <a:p>
          <a:endParaRPr lang="zh-TW" altLang="en-US">
            <a:latin typeface="標楷體" panose="03000509000000000000" pitchFamily="65" charset="-120"/>
            <a:ea typeface="標楷體" panose="03000509000000000000" pitchFamily="65" charset="-120"/>
          </a:endParaRPr>
        </a:p>
      </dgm:t>
    </dgm:pt>
    <dgm:pt modelId="{0DF30229-2F28-42B8-BC87-FCBEEADAEE01}" type="sibTrans" cxnId="{18128289-7BA6-4C0E-BAF1-58C0D538C54E}">
      <dgm:prSet/>
      <dgm:spPr/>
      <dgm:t>
        <a:bodyPr/>
        <a:lstStyle/>
        <a:p>
          <a:endParaRPr lang="zh-TW" altLang="en-US">
            <a:latin typeface="標楷體" panose="03000509000000000000" pitchFamily="65" charset="-120"/>
            <a:ea typeface="標楷體" panose="03000509000000000000" pitchFamily="65" charset="-120"/>
          </a:endParaRPr>
        </a:p>
      </dgm:t>
    </dgm:pt>
    <dgm:pt modelId="{D5CC15D8-2A24-444D-8F9B-149BA81B4103}">
      <dgm:prSet phldrT="[文字]"/>
      <dgm:spPr/>
      <dgm:t>
        <a:bodyPr/>
        <a:lstStyle/>
        <a:p>
          <a:r>
            <a:rPr lang="zh-TW" altLang="en-US" dirty="0">
              <a:latin typeface="標楷體" panose="03000509000000000000" pitchFamily="65" charset="-120"/>
              <a:ea typeface="標楷體" panose="03000509000000000000" pitchFamily="65" charset="-120"/>
            </a:rPr>
            <a:t>指引的數量</a:t>
          </a:r>
        </a:p>
      </dgm:t>
    </dgm:pt>
    <dgm:pt modelId="{2B2ED10D-C06C-45E6-B4F6-A2F006958EBC}" type="parTrans" cxnId="{75A0B329-4E0F-4392-AEAF-6621DF6A0D5D}">
      <dgm:prSet/>
      <dgm:spPr/>
      <dgm:t>
        <a:bodyPr/>
        <a:lstStyle/>
        <a:p>
          <a:endParaRPr lang="zh-TW" altLang="en-US">
            <a:latin typeface="標楷體" panose="03000509000000000000" pitchFamily="65" charset="-120"/>
            <a:ea typeface="標楷體" panose="03000509000000000000" pitchFamily="65" charset="-120"/>
          </a:endParaRPr>
        </a:p>
      </dgm:t>
    </dgm:pt>
    <dgm:pt modelId="{A2F0DA9E-B2CE-4067-85E0-8F6F3855C1B2}" type="sibTrans" cxnId="{75A0B329-4E0F-4392-AEAF-6621DF6A0D5D}">
      <dgm:prSet/>
      <dgm:spPr/>
      <dgm:t>
        <a:bodyPr/>
        <a:lstStyle/>
        <a:p>
          <a:endParaRPr lang="zh-TW" altLang="en-US">
            <a:latin typeface="標楷體" panose="03000509000000000000" pitchFamily="65" charset="-120"/>
            <a:ea typeface="標楷體" panose="03000509000000000000" pitchFamily="65" charset="-120"/>
          </a:endParaRPr>
        </a:p>
      </dgm:t>
    </dgm:pt>
    <dgm:pt modelId="{9BAE179D-C860-4F52-887B-73654CF0CBA5}">
      <dgm:prSet phldrT="[文字]"/>
      <dgm:spPr/>
      <dgm:t>
        <a:bodyPr/>
        <a:lstStyle/>
        <a:p>
          <a:r>
            <a:rPr lang="zh-TW" altLang="en-US" dirty="0">
              <a:latin typeface="標楷體" panose="03000509000000000000" pitchFamily="65" charset="-120"/>
              <a:ea typeface="標楷體" panose="03000509000000000000" pitchFamily="65" charset="-120"/>
            </a:rPr>
            <a:t>實驗的數量</a:t>
          </a:r>
        </a:p>
      </dgm:t>
    </dgm:pt>
    <dgm:pt modelId="{6FAFA704-BEF0-4532-933A-1AC87108AC33}" type="parTrans" cxnId="{08335189-8B10-4936-9ACB-9AA24116E341}">
      <dgm:prSet/>
      <dgm:spPr/>
      <dgm:t>
        <a:bodyPr/>
        <a:lstStyle/>
        <a:p>
          <a:endParaRPr lang="zh-TW" altLang="en-US">
            <a:latin typeface="標楷體" panose="03000509000000000000" pitchFamily="65" charset="-120"/>
            <a:ea typeface="標楷體" panose="03000509000000000000" pitchFamily="65" charset="-120"/>
          </a:endParaRPr>
        </a:p>
      </dgm:t>
    </dgm:pt>
    <dgm:pt modelId="{5930DC40-5121-4D48-96E5-1954A387D31D}" type="sibTrans" cxnId="{08335189-8B10-4936-9ACB-9AA24116E341}">
      <dgm:prSet/>
      <dgm:spPr/>
      <dgm:t>
        <a:bodyPr/>
        <a:lstStyle/>
        <a:p>
          <a:endParaRPr lang="zh-TW" altLang="en-US">
            <a:latin typeface="標楷體" panose="03000509000000000000" pitchFamily="65" charset="-120"/>
            <a:ea typeface="標楷體" panose="03000509000000000000" pitchFamily="65" charset="-120"/>
          </a:endParaRPr>
        </a:p>
      </dgm:t>
    </dgm:pt>
    <dgm:pt modelId="{C3E3D92E-53D3-4337-9FF8-FF0CD6CBD60D}" type="pres">
      <dgm:prSet presAssocID="{637178C0-181B-4CE6-8CDA-C19E799D824C}" presName="diagram" presStyleCnt="0">
        <dgm:presLayoutVars>
          <dgm:chPref val="1"/>
          <dgm:dir/>
          <dgm:animOne val="branch"/>
          <dgm:animLvl val="lvl"/>
          <dgm:resizeHandles/>
        </dgm:presLayoutVars>
      </dgm:prSet>
      <dgm:spPr/>
    </dgm:pt>
    <dgm:pt modelId="{675C3A7E-A1EC-404D-B454-45093BD8C296}" type="pres">
      <dgm:prSet presAssocID="{E7D5B68C-9486-4CFF-9006-6BF393BDDF91}" presName="root" presStyleCnt="0"/>
      <dgm:spPr/>
    </dgm:pt>
    <dgm:pt modelId="{44469171-18D5-465D-9D5F-90D3657B8A98}" type="pres">
      <dgm:prSet presAssocID="{E7D5B68C-9486-4CFF-9006-6BF393BDDF91}" presName="rootComposite" presStyleCnt="0"/>
      <dgm:spPr/>
    </dgm:pt>
    <dgm:pt modelId="{89BFD544-154A-4FF8-9B07-13167BCCBD41}" type="pres">
      <dgm:prSet presAssocID="{E7D5B68C-9486-4CFF-9006-6BF393BDDF91}" presName="rootText" presStyleLbl="node1" presStyleIdx="0" presStyleCnt="3"/>
      <dgm:spPr/>
    </dgm:pt>
    <dgm:pt modelId="{C2A18673-CE98-4844-81BA-BD42D9BAD12E}" type="pres">
      <dgm:prSet presAssocID="{E7D5B68C-9486-4CFF-9006-6BF393BDDF91}" presName="rootConnector" presStyleLbl="node1" presStyleIdx="0" presStyleCnt="3"/>
      <dgm:spPr/>
    </dgm:pt>
    <dgm:pt modelId="{BEE1FA02-8206-44E6-ADCE-54C96881E7A7}" type="pres">
      <dgm:prSet presAssocID="{E7D5B68C-9486-4CFF-9006-6BF393BDDF91}" presName="childShape" presStyleCnt="0"/>
      <dgm:spPr/>
    </dgm:pt>
    <dgm:pt modelId="{5F7F02E4-D8D4-43F4-81D3-13C364F8D0C4}" type="pres">
      <dgm:prSet presAssocID="{D73B1D0A-5A42-44B5-820C-367F8A9A4796}" presName="Name13" presStyleLbl="parChTrans1D2" presStyleIdx="0" presStyleCnt="6"/>
      <dgm:spPr/>
    </dgm:pt>
    <dgm:pt modelId="{4021B692-BF31-4CBB-830B-CE90C441593A}" type="pres">
      <dgm:prSet presAssocID="{0D5433E4-916E-413B-BBB4-26C75400AB33}" presName="childText" presStyleLbl="bgAcc1" presStyleIdx="0" presStyleCnt="6">
        <dgm:presLayoutVars>
          <dgm:bulletEnabled val="1"/>
        </dgm:presLayoutVars>
      </dgm:prSet>
      <dgm:spPr/>
    </dgm:pt>
    <dgm:pt modelId="{5259E5DB-8DC8-4830-B026-67086DA4AD33}" type="pres">
      <dgm:prSet presAssocID="{F8507607-4F28-4C0B-BF47-0E48EAF87371}" presName="Name13" presStyleLbl="parChTrans1D2" presStyleIdx="1" presStyleCnt="6"/>
      <dgm:spPr/>
    </dgm:pt>
    <dgm:pt modelId="{33F1B87A-9868-46E0-8CE8-7E5A73D5F9EA}" type="pres">
      <dgm:prSet presAssocID="{B9807602-A41D-4042-9AF3-6D66B8A75130}" presName="childText" presStyleLbl="bgAcc1" presStyleIdx="1" presStyleCnt="6">
        <dgm:presLayoutVars>
          <dgm:bulletEnabled val="1"/>
        </dgm:presLayoutVars>
      </dgm:prSet>
      <dgm:spPr/>
    </dgm:pt>
    <dgm:pt modelId="{458057F6-F47D-4D05-9898-A5D70E516A4E}" type="pres">
      <dgm:prSet presAssocID="{E66449D3-08E5-437D-A2D8-CC2A9A74A232}" presName="root" presStyleCnt="0"/>
      <dgm:spPr/>
    </dgm:pt>
    <dgm:pt modelId="{26B908A9-5FB9-4081-B6E5-2FD9434E937E}" type="pres">
      <dgm:prSet presAssocID="{E66449D3-08E5-437D-A2D8-CC2A9A74A232}" presName="rootComposite" presStyleCnt="0"/>
      <dgm:spPr/>
    </dgm:pt>
    <dgm:pt modelId="{8F25A656-2B4D-4C33-94B2-51EC3E33BC6A}" type="pres">
      <dgm:prSet presAssocID="{E66449D3-08E5-437D-A2D8-CC2A9A74A232}" presName="rootText" presStyleLbl="node1" presStyleIdx="1" presStyleCnt="3"/>
      <dgm:spPr/>
    </dgm:pt>
    <dgm:pt modelId="{4597E604-375C-4F07-A4C1-9C2A0F6C2223}" type="pres">
      <dgm:prSet presAssocID="{E66449D3-08E5-437D-A2D8-CC2A9A74A232}" presName="rootConnector" presStyleLbl="node1" presStyleIdx="1" presStyleCnt="3"/>
      <dgm:spPr/>
    </dgm:pt>
    <dgm:pt modelId="{C7D372FA-657C-4363-BB92-99308BEE80BB}" type="pres">
      <dgm:prSet presAssocID="{E66449D3-08E5-437D-A2D8-CC2A9A74A232}" presName="childShape" presStyleCnt="0"/>
      <dgm:spPr/>
    </dgm:pt>
    <dgm:pt modelId="{F0143231-A00D-4A90-A6BD-33DAA4D1F9F6}" type="pres">
      <dgm:prSet presAssocID="{8602969D-B3CA-46B2-9AAB-FBFF92C9C8A0}" presName="Name13" presStyleLbl="parChTrans1D2" presStyleIdx="2" presStyleCnt="6"/>
      <dgm:spPr/>
    </dgm:pt>
    <dgm:pt modelId="{148B4AD9-2A92-48A2-BB68-74748304544B}" type="pres">
      <dgm:prSet presAssocID="{AE7DCCDC-9B9E-4228-B152-8660BDD07541}" presName="childText" presStyleLbl="bgAcc1" presStyleIdx="2" presStyleCnt="6">
        <dgm:presLayoutVars>
          <dgm:bulletEnabled val="1"/>
        </dgm:presLayoutVars>
      </dgm:prSet>
      <dgm:spPr/>
    </dgm:pt>
    <dgm:pt modelId="{7C6C210E-7CA3-4FC2-A83D-710DB91AC19F}" type="pres">
      <dgm:prSet presAssocID="{D626F501-05C8-4BCA-ACB1-3E518FF18232}" presName="Name13" presStyleLbl="parChTrans1D2" presStyleIdx="3" presStyleCnt="6"/>
      <dgm:spPr/>
    </dgm:pt>
    <dgm:pt modelId="{DA755AF1-6207-43B4-A11A-A456C86B49C9}" type="pres">
      <dgm:prSet presAssocID="{28E45911-F8BC-4E82-935F-C8088A198526}" presName="childText" presStyleLbl="bgAcc1" presStyleIdx="3" presStyleCnt="6">
        <dgm:presLayoutVars>
          <dgm:bulletEnabled val="1"/>
        </dgm:presLayoutVars>
      </dgm:prSet>
      <dgm:spPr/>
    </dgm:pt>
    <dgm:pt modelId="{5204EC52-501D-4D93-9506-E475A3F63EC0}" type="pres">
      <dgm:prSet presAssocID="{DB113897-7864-4B24-BD6E-7EF0FA593A9D}" presName="root" presStyleCnt="0"/>
      <dgm:spPr/>
    </dgm:pt>
    <dgm:pt modelId="{5D0EA482-6055-4347-91AB-D5DB53807BE5}" type="pres">
      <dgm:prSet presAssocID="{DB113897-7864-4B24-BD6E-7EF0FA593A9D}" presName="rootComposite" presStyleCnt="0"/>
      <dgm:spPr/>
    </dgm:pt>
    <dgm:pt modelId="{EA2E8701-2F52-4A4C-8965-632F0F99B961}" type="pres">
      <dgm:prSet presAssocID="{DB113897-7864-4B24-BD6E-7EF0FA593A9D}" presName="rootText" presStyleLbl="node1" presStyleIdx="2" presStyleCnt="3"/>
      <dgm:spPr/>
    </dgm:pt>
    <dgm:pt modelId="{D91E6513-5EBC-4C2B-9CDB-D69C448B3202}" type="pres">
      <dgm:prSet presAssocID="{DB113897-7864-4B24-BD6E-7EF0FA593A9D}" presName="rootConnector" presStyleLbl="node1" presStyleIdx="2" presStyleCnt="3"/>
      <dgm:spPr/>
    </dgm:pt>
    <dgm:pt modelId="{0DB5561D-337D-40C1-8FB8-BC01A1E1D671}" type="pres">
      <dgm:prSet presAssocID="{DB113897-7864-4B24-BD6E-7EF0FA593A9D}" presName="childShape" presStyleCnt="0"/>
      <dgm:spPr/>
    </dgm:pt>
    <dgm:pt modelId="{2EB657C3-086D-41F4-B66C-C6AD3C3E10B0}" type="pres">
      <dgm:prSet presAssocID="{2B2ED10D-C06C-45E6-B4F6-A2F006958EBC}" presName="Name13" presStyleLbl="parChTrans1D2" presStyleIdx="4" presStyleCnt="6"/>
      <dgm:spPr/>
    </dgm:pt>
    <dgm:pt modelId="{6B18B497-7FF7-4F42-9338-94387CBDF3EE}" type="pres">
      <dgm:prSet presAssocID="{D5CC15D8-2A24-444D-8F9B-149BA81B4103}" presName="childText" presStyleLbl="bgAcc1" presStyleIdx="4" presStyleCnt="6">
        <dgm:presLayoutVars>
          <dgm:bulletEnabled val="1"/>
        </dgm:presLayoutVars>
      </dgm:prSet>
      <dgm:spPr/>
    </dgm:pt>
    <dgm:pt modelId="{174880F7-1D3B-41FC-B008-17D15F87EFEB}" type="pres">
      <dgm:prSet presAssocID="{6FAFA704-BEF0-4532-933A-1AC87108AC33}" presName="Name13" presStyleLbl="parChTrans1D2" presStyleIdx="5" presStyleCnt="6"/>
      <dgm:spPr/>
    </dgm:pt>
    <dgm:pt modelId="{CDDE07C5-7FFF-442B-A1B0-8E5A0DDCB1A1}" type="pres">
      <dgm:prSet presAssocID="{9BAE179D-C860-4F52-887B-73654CF0CBA5}" presName="childText" presStyleLbl="bgAcc1" presStyleIdx="5" presStyleCnt="6">
        <dgm:presLayoutVars>
          <dgm:bulletEnabled val="1"/>
        </dgm:presLayoutVars>
      </dgm:prSet>
      <dgm:spPr/>
    </dgm:pt>
  </dgm:ptLst>
  <dgm:cxnLst>
    <dgm:cxn modelId="{A11E0201-87EF-4D41-9970-3A6CAE01AC69}" srcId="{637178C0-181B-4CE6-8CDA-C19E799D824C}" destId="{E66449D3-08E5-437D-A2D8-CC2A9A74A232}" srcOrd="1" destOrd="0" parTransId="{DF910470-9C83-44D4-8992-230D547B7B55}" sibTransId="{E301B15B-D1AD-40C6-9807-A3E3751A9AC0}"/>
    <dgm:cxn modelId="{8E013107-62B3-450D-95CD-D330A6A24F46}" type="presOf" srcId="{E7D5B68C-9486-4CFF-9006-6BF393BDDF91}" destId="{C2A18673-CE98-4844-81BA-BD42D9BAD12E}" srcOrd="1" destOrd="0" presId="urn:microsoft.com/office/officeart/2005/8/layout/hierarchy3"/>
    <dgm:cxn modelId="{83708A19-9731-4A10-B161-0850B3273F93}" type="presOf" srcId="{D73B1D0A-5A42-44B5-820C-367F8A9A4796}" destId="{5F7F02E4-D8D4-43F4-81D3-13C364F8D0C4}" srcOrd="0" destOrd="0" presId="urn:microsoft.com/office/officeart/2005/8/layout/hierarchy3"/>
    <dgm:cxn modelId="{63A3F41C-A0D9-4961-9908-4BD017EFEC4A}" type="presOf" srcId="{F8507607-4F28-4C0B-BF47-0E48EAF87371}" destId="{5259E5DB-8DC8-4830-B026-67086DA4AD33}" srcOrd="0" destOrd="0" presId="urn:microsoft.com/office/officeart/2005/8/layout/hierarchy3"/>
    <dgm:cxn modelId="{7B228B24-86BC-4484-9767-F3666CB744DE}" srcId="{637178C0-181B-4CE6-8CDA-C19E799D824C}" destId="{E7D5B68C-9486-4CFF-9006-6BF393BDDF91}" srcOrd="0" destOrd="0" parTransId="{3681C437-B915-4BE2-ADC2-BEC87B71EA04}" sibTransId="{CFC765D4-771E-45A5-83A8-D97B30C5C198}"/>
    <dgm:cxn modelId="{75A0B329-4E0F-4392-AEAF-6621DF6A0D5D}" srcId="{DB113897-7864-4B24-BD6E-7EF0FA593A9D}" destId="{D5CC15D8-2A24-444D-8F9B-149BA81B4103}" srcOrd="0" destOrd="0" parTransId="{2B2ED10D-C06C-45E6-B4F6-A2F006958EBC}" sibTransId="{A2F0DA9E-B2CE-4067-85E0-8F6F3855C1B2}"/>
    <dgm:cxn modelId="{BAD4C644-20BD-42D8-9FEE-86E8902A9BD9}" type="presOf" srcId="{28E45911-F8BC-4E82-935F-C8088A198526}" destId="{DA755AF1-6207-43B4-A11A-A456C86B49C9}" srcOrd="0" destOrd="0" presId="urn:microsoft.com/office/officeart/2005/8/layout/hierarchy3"/>
    <dgm:cxn modelId="{0A74B666-5FDD-43F8-8D7A-5D84C57B8B3D}" srcId="{E7D5B68C-9486-4CFF-9006-6BF393BDDF91}" destId="{B9807602-A41D-4042-9AF3-6D66B8A75130}" srcOrd="1" destOrd="0" parTransId="{F8507607-4F28-4C0B-BF47-0E48EAF87371}" sibTransId="{5F414CC2-B13D-4D76-892F-6CBBFC1E1CD6}"/>
    <dgm:cxn modelId="{5DFF6448-6948-49E1-B39C-FBF350E586E7}" type="presOf" srcId="{E66449D3-08E5-437D-A2D8-CC2A9A74A232}" destId="{4597E604-375C-4F07-A4C1-9C2A0F6C2223}" srcOrd="1" destOrd="0" presId="urn:microsoft.com/office/officeart/2005/8/layout/hierarchy3"/>
    <dgm:cxn modelId="{2AF95F4B-FCAF-428A-BE0C-170D4B863224}" type="presOf" srcId="{B9807602-A41D-4042-9AF3-6D66B8A75130}" destId="{33F1B87A-9868-46E0-8CE8-7E5A73D5F9EA}" srcOrd="0" destOrd="0" presId="urn:microsoft.com/office/officeart/2005/8/layout/hierarchy3"/>
    <dgm:cxn modelId="{C5D6014C-3F37-4281-BB6E-B2317C6E6228}" type="presOf" srcId="{637178C0-181B-4CE6-8CDA-C19E799D824C}" destId="{C3E3D92E-53D3-4337-9FF8-FF0CD6CBD60D}" srcOrd="0" destOrd="0" presId="urn:microsoft.com/office/officeart/2005/8/layout/hierarchy3"/>
    <dgm:cxn modelId="{4B72F14D-9B1D-4003-B304-EF487BF910B8}" srcId="{E66449D3-08E5-437D-A2D8-CC2A9A74A232}" destId="{28E45911-F8BC-4E82-935F-C8088A198526}" srcOrd="1" destOrd="0" parTransId="{D626F501-05C8-4BCA-ACB1-3E518FF18232}" sibTransId="{62306EE1-CA33-4B50-8CEA-1823EB44F3B8}"/>
    <dgm:cxn modelId="{520F6480-DE30-41ED-83E8-2DD73822382B}" type="presOf" srcId="{DB113897-7864-4B24-BD6E-7EF0FA593A9D}" destId="{EA2E8701-2F52-4A4C-8965-632F0F99B961}" srcOrd="0" destOrd="0" presId="urn:microsoft.com/office/officeart/2005/8/layout/hierarchy3"/>
    <dgm:cxn modelId="{6B0D9082-7886-43CB-9B81-CBAEBAC4792F}" type="presOf" srcId="{2B2ED10D-C06C-45E6-B4F6-A2F006958EBC}" destId="{2EB657C3-086D-41F4-B66C-C6AD3C3E10B0}" srcOrd="0" destOrd="0" presId="urn:microsoft.com/office/officeart/2005/8/layout/hierarchy3"/>
    <dgm:cxn modelId="{08335189-8B10-4936-9ACB-9AA24116E341}" srcId="{DB113897-7864-4B24-BD6E-7EF0FA593A9D}" destId="{9BAE179D-C860-4F52-887B-73654CF0CBA5}" srcOrd="1" destOrd="0" parTransId="{6FAFA704-BEF0-4532-933A-1AC87108AC33}" sibTransId="{5930DC40-5121-4D48-96E5-1954A387D31D}"/>
    <dgm:cxn modelId="{18128289-7BA6-4C0E-BAF1-58C0D538C54E}" srcId="{637178C0-181B-4CE6-8CDA-C19E799D824C}" destId="{DB113897-7864-4B24-BD6E-7EF0FA593A9D}" srcOrd="2" destOrd="0" parTransId="{10FC6E1C-FD45-4169-A0EE-5CC251B96D1F}" sibTransId="{0DF30229-2F28-42B8-BC87-FCBEEADAEE01}"/>
    <dgm:cxn modelId="{8A966C8C-33F7-4703-B070-19E877FF19F0}" type="presOf" srcId="{E66449D3-08E5-437D-A2D8-CC2A9A74A232}" destId="{8F25A656-2B4D-4C33-94B2-51EC3E33BC6A}" srcOrd="0" destOrd="0" presId="urn:microsoft.com/office/officeart/2005/8/layout/hierarchy3"/>
    <dgm:cxn modelId="{997F0099-5A83-4D38-A405-8D533C1E3D9D}" type="presOf" srcId="{D626F501-05C8-4BCA-ACB1-3E518FF18232}" destId="{7C6C210E-7CA3-4FC2-A83D-710DB91AC19F}" srcOrd="0" destOrd="0" presId="urn:microsoft.com/office/officeart/2005/8/layout/hierarchy3"/>
    <dgm:cxn modelId="{BB33199F-9DB1-4841-8C2C-BD360F894835}" srcId="{E7D5B68C-9486-4CFF-9006-6BF393BDDF91}" destId="{0D5433E4-916E-413B-BBB4-26C75400AB33}" srcOrd="0" destOrd="0" parTransId="{D73B1D0A-5A42-44B5-820C-367F8A9A4796}" sibTransId="{5A9B60B2-BDB6-473A-8507-5CF9B6363F8C}"/>
    <dgm:cxn modelId="{942628A4-9C7A-43B7-AB3C-635378711759}" type="presOf" srcId="{DB113897-7864-4B24-BD6E-7EF0FA593A9D}" destId="{D91E6513-5EBC-4C2B-9CDB-D69C448B3202}" srcOrd="1" destOrd="0" presId="urn:microsoft.com/office/officeart/2005/8/layout/hierarchy3"/>
    <dgm:cxn modelId="{8CFF4DA7-9816-4F81-9672-370D4F8E0939}" type="presOf" srcId="{AE7DCCDC-9B9E-4228-B152-8660BDD07541}" destId="{148B4AD9-2A92-48A2-BB68-74748304544B}" srcOrd="0" destOrd="0" presId="urn:microsoft.com/office/officeart/2005/8/layout/hierarchy3"/>
    <dgm:cxn modelId="{2676B9A9-20FA-4983-BFF3-757C70B7C0CD}" srcId="{E66449D3-08E5-437D-A2D8-CC2A9A74A232}" destId="{AE7DCCDC-9B9E-4228-B152-8660BDD07541}" srcOrd="0" destOrd="0" parTransId="{8602969D-B3CA-46B2-9AAB-FBFF92C9C8A0}" sibTransId="{395BA736-6142-433E-B359-42061B2C6084}"/>
    <dgm:cxn modelId="{C50A22AE-CF42-4772-A53B-28B1537E00AC}" type="presOf" srcId="{D5CC15D8-2A24-444D-8F9B-149BA81B4103}" destId="{6B18B497-7FF7-4F42-9338-94387CBDF3EE}" srcOrd="0" destOrd="0" presId="urn:microsoft.com/office/officeart/2005/8/layout/hierarchy3"/>
    <dgm:cxn modelId="{CEC810BC-BD49-4399-A56B-65B004BB5FDB}" type="presOf" srcId="{9BAE179D-C860-4F52-887B-73654CF0CBA5}" destId="{CDDE07C5-7FFF-442B-A1B0-8E5A0DDCB1A1}" srcOrd="0" destOrd="0" presId="urn:microsoft.com/office/officeart/2005/8/layout/hierarchy3"/>
    <dgm:cxn modelId="{EB5D7DC6-A9CE-4EE2-B8ED-4208826DC8F0}" type="presOf" srcId="{0D5433E4-916E-413B-BBB4-26C75400AB33}" destId="{4021B692-BF31-4CBB-830B-CE90C441593A}" srcOrd="0" destOrd="0" presId="urn:microsoft.com/office/officeart/2005/8/layout/hierarchy3"/>
    <dgm:cxn modelId="{129491CE-73C7-41C8-A30E-C7E548919EC7}" type="presOf" srcId="{E7D5B68C-9486-4CFF-9006-6BF393BDDF91}" destId="{89BFD544-154A-4FF8-9B07-13167BCCBD41}" srcOrd="0" destOrd="0" presId="urn:microsoft.com/office/officeart/2005/8/layout/hierarchy3"/>
    <dgm:cxn modelId="{E72D1DD5-D9ED-466F-8BE8-C2F0D71F29B1}" type="presOf" srcId="{6FAFA704-BEF0-4532-933A-1AC87108AC33}" destId="{174880F7-1D3B-41FC-B008-17D15F87EFEB}" srcOrd="0" destOrd="0" presId="urn:microsoft.com/office/officeart/2005/8/layout/hierarchy3"/>
    <dgm:cxn modelId="{129F1DEB-3FA7-46D7-9F2C-06D1001240C2}" type="presOf" srcId="{8602969D-B3CA-46B2-9AAB-FBFF92C9C8A0}" destId="{F0143231-A00D-4A90-A6BD-33DAA4D1F9F6}" srcOrd="0" destOrd="0" presId="urn:microsoft.com/office/officeart/2005/8/layout/hierarchy3"/>
    <dgm:cxn modelId="{86DE8614-FE31-4410-B306-A65293ABBE02}" type="presParOf" srcId="{C3E3D92E-53D3-4337-9FF8-FF0CD6CBD60D}" destId="{675C3A7E-A1EC-404D-B454-45093BD8C296}" srcOrd="0" destOrd="0" presId="urn:microsoft.com/office/officeart/2005/8/layout/hierarchy3"/>
    <dgm:cxn modelId="{4C005407-1BE0-420F-ADB2-AE133D88BCD9}" type="presParOf" srcId="{675C3A7E-A1EC-404D-B454-45093BD8C296}" destId="{44469171-18D5-465D-9D5F-90D3657B8A98}" srcOrd="0" destOrd="0" presId="urn:microsoft.com/office/officeart/2005/8/layout/hierarchy3"/>
    <dgm:cxn modelId="{6939F358-2904-4994-B753-A0CF7CAE2166}" type="presParOf" srcId="{44469171-18D5-465D-9D5F-90D3657B8A98}" destId="{89BFD544-154A-4FF8-9B07-13167BCCBD41}" srcOrd="0" destOrd="0" presId="urn:microsoft.com/office/officeart/2005/8/layout/hierarchy3"/>
    <dgm:cxn modelId="{6713FFCC-C88C-458D-B4D3-F3CE0EB28EA7}" type="presParOf" srcId="{44469171-18D5-465D-9D5F-90D3657B8A98}" destId="{C2A18673-CE98-4844-81BA-BD42D9BAD12E}" srcOrd="1" destOrd="0" presId="urn:microsoft.com/office/officeart/2005/8/layout/hierarchy3"/>
    <dgm:cxn modelId="{AC74A424-DA80-4167-98EF-7CA359F2A11B}" type="presParOf" srcId="{675C3A7E-A1EC-404D-B454-45093BD8C296}" destId="{BEE1FA02-8206-44E6-ADCE-54C96881E7A7}" srcOrd="1" destOrd="0" presId="urn:microsoft.com/office/officeart/2005/8/layout/hierarchy3"/>
    <dgm:cxn modelId="{3420A6AC-872F-4999-8AAB-6D11C80F7449}" type="presParOf" srcId="{BEE1FA02-8206-44E6-ADCE-54C96881E7A7}" destId="{5F7F02E4-D8D4-43F4-81D3-13C364F8D0C4}" srcOrd="0" destOrd="0" presId="urn:microsoft.com/office/officeart/2005/8/layout/hierarchy3"/>
    <dgm:cxn modelId="{C0E3A5AF-6240-4BB1-96BE-5D5980B553C9}" type="presParOf" srcId="{BEE1FA02-8206-44E6-ADCE-54C96881E7A7}" destId="{4021B692-BF31-4CBB-830B-CE90C441593A}" srcOrd="1" destOrd="0" presId="urn:microsoft.com/office/officeart/2005/8/layout/hierarchy3"/>
    <dgm:cxn modelId="{032E9657-D256-4562-B2CF-EC557D448807}" type="presParOf" srcId="{BEE1FA02-8206-44E6-ADCE-54C96881E7A7}" destId="{5259E5DB-8DC8-4830-B026-67086DA4AD33}" srcOrd="2" destOrd="0" presId="urn:microsoft.com/office/officeart/2005/8/layout/hierarchy3"/>
    <dgm:cxn modelId="{079E5C9A-0C60-468C-8214-60089543AC3F}" type="presParOf" srcId="{BEE1FA02-8206-44E6-ADCE-54C96881E7A7}" destId="{33F1B87A-9868-46E0-8CE8-7E5A73D5F9EA}" srcOrd="3" destOrd="0" presId="urn:microsoft.com/office/officeart/2005/8/layout/hierarchy3"/>
    <dgm:cxn modelId="{43AD3B5D-3EC0-49C1-9D24-BE6DD8B9F073}" type="presParOf" srcId="{C3E3D92E-53D3-4337-9FF8-FF0CD6CBD60D}" destId="{458057F6-F47D-4D05-9898-A5D70E516A4E}" srcOrd="1" destOrd="0" presId="urn:microsoft.com/office/officeart/2005/8/layout/hierarchy3"/>
    <dgm:cxn modelId="{574426B9-A4A8-4F45-BA3A-561B86F34885}" type="presParOf" srcId="{458057F6-F47D-4D05-9898-A5D70E516A4E}" destId="{26B908A9-5FB9-4081-B6E5-2FD9434E937E}" srcOrd="0" destOrd="0" presId="urn:microsoft.com/office/officeart/2005/8/layout/hierarchy3"/>
    <dgm:cxn modelId="{370997BE-BD92-4000-B009-8BFAB30FA636}" type="presParOf" srcId="{26B908A9-5FB9-4081-B6E5-2FD9434E937E}" destId="{8F25A656-2B4D-4C33-94B2-51EC3E33BC6A}" srcOrd="0" destOrd="0" presId="urn:microsoft.com/office/officeart/2005/8/layout/hierarchy3"/>
    <dgm:cxn modelId="{EC2F842A-6E44-429F-993A-2B3BC5C58528}" type="presParOf" srcId="{26B908A9-5FB9-4081-B6E5-2FD9434E937E}" destId="{4597E604-375C-4F07-A4C1-9C2A0F6C2223}" srcOrd="1" destOrd="0" presId="urn:microsoft.com/office/officeart/2005/8/layout/hierarchy3"/>
    <dgm:cxn modelId="{471578A1-9BC2-4887-AB9C-84055BAC3655}" type="presParOf" srcId="{458057F6-F47D-4D05-9898-A5D70E516A4E}" destId="{C7D372FA-657C-4363-BB92-99308BEE80BB}" srcOrd="1" destOrd="0" presId="urn:microsoft.com/office/officeart/2005/8/layout/hierarchy3"/>
    <dgm:cxn modelId="{C754C99B-F14A-4A9A-A39C-FB585E1C6F14}" type="presParOf" srcId="{C7D372FA-657C-4363-BB92-99308BEE80BB}" destId="{F0143231-A00D-4A90-A6BD-33DAA4D1F9F6}" srcOrd="0" destOrd="0" presId="urn:microsoft.com/office/officeart/2005/8/layout/hierarchy3"/>
    <dgm:cxn modelId="{B14D3975-1146-48FB-A6AF-4BD49C9DD074}" type="presParOf" srcId="{C7D372FA-657C-4363-BB92-99308BEE80BB}" destId="{148B4AD9-2A92-48A2-BB68-74748304544B}" srcOrd="1" destOrd="0" presId="urn:microsoft.com/office/officeart/2005/8/layout/hierarchy3"/>
    <dgm:cxn modelId="{962097A1-04B5-4691-8DDC-4B3213DD4A73}" type="presParOf" srcId="{C7D372FA-657C-4363-BB92-99308BEE80BB}" destId="{7C6C210E-7CA3-4FC2-A83D-710DB91AC19F}" srcOrd="2" destOrd="0" presId="urn:microsoft.com/office/officeart/2005/8/layout/hierarchy3"/>
    <dgm:cxn modelId="{16E10E8F-C308-49FB-9B9A-06D32247978D}" type="presParOf" srcId="{C7D372FA-657C-4363-BB92-99308BEE80BB}" destId="{DA755AF1-6207-43B4-A11A-A456C86B49C9}" srcOrd="3" destOrd="0" presId="urn:microsoft.com/office/officeart/2005/8/layout/hierarchy3"/>
    <dgm:cxn modelId="{18902C3C-F870-4AB0-9B81-300142F8EDA5}" type="presParOf" srcId="{C3E3D92E-53D3-4337-9FF8-FF0CD6CBD60D}" destId="{5204EC52-501D-4D93-9506-E475A3F63EC0}" srcOrd="2" destOrd="0" presId="urn:microsoft.com/office/officeart/2005/8/layout/hierarchy3"/>
    <dgm:cxn modelId="{4BDD4DEE-A997-4E9B-8037-C277D68AD1E8}" type="presParOf" srcId="{5204EC52-501D-4D93-9506-E475A3F63EC0}" destId="{5D0EA482-6055-4347-91AB-D5DB53807BE5}" srcOrd="0" destOrd="0" presId="urn:microsoft.com/office/officeart/2005/8/layout/hierarchy3"/>
    <dgm:cxn modelId="{BF88B938-1C8F-480B-975D-7FA5A060833F}" type="presParOf" srcId="{5D0EA482-6055-4347-91AB-D5DB53807BE5}" destId="{EA2E8701-2F52-4A4C-8965-632F0F99B961}" srcOrd="0" destOrd="0" presId="urn:microsoft.com/office/officeart/2005/8/layout/hierarchy3"/>
    <dgm:cxn modelId="{A1637F2B-B96B-4699-B5BC-4A5CD643C465}" type="presParOf" srcId="{5D0EA482-6055-4347-91AB-D5DB53807BE5}" destId="{D91E6513-5EBC-4C2B-9CDB-D69C448B3202}" srcOrd="1" destOrd="0" presId="urn:microsoft.com/office/officeart/2005/8/layout/hierarchy3"/>
    <dgm:cxn modelId="{A3B758F5-D953-4753-95A7-6CDA84C263DE}" type="presParOf" srcId="{5204EC52-501D-4D93-9506-E475A3F63EC0}" destId="{0DB5561D-337D-40C1-8FB8-BC01A1E1D671}" srcOrd="1" destOrd="0" presId="urn:microsoft.com/office/officeart/2005/8/layout/hierarchy3"/>
    <dgm:cxn modelId="{309ED413-BC20-40A5-9B6F-36A991737BD6}" type="presParOf" srcId="{0DB5561D-337D-40C1-8FB8-BC01A1E1D671}" destId="{2EB657C3-086D-41F4-B66C-C6AD3C3E10B0}" srcOrd="0" destOrd="0" presId="urn:microsoft.com/office/officeart/2005/8/layout/hierarchy3"/>
    <dgm:cxn modelId="{A1FF062B-9436-49DF-BDCD-B92B3D319733}" type="presParOf" srcId="{0DB5561D-337D-40C1-8FB8-BC01A1E1D671}" destId="{6B18B497-7FF7-4F42-9338-94387CBDF3EE}" srcOrd="1" destOrd="0" presId="urn:microsoft.com/office/officeart/2005/8/layout/hierarchy3"/>
    <dgm:cxn modelId="{224C2719-01DF-49A3-8F3E-E9F2563E3942}" type="presParOf" srcId="{0DB5561D-337D-40C1-8FB8-BC01A1E1D671}" destId="{174880F7-1D3B-41FC-B008-17D15F87EFEB}" srcOrd="2" destOrd="0" presId="urn:microsoft.com/office/officeart/2005/8/layout/hierarchy3"/>
    <dgm:cxn modelId="{CDAA9A9C-87BC-4DDD-9DD7-D8622D7C80E7}" type="presParOf" srcId="{0DB5561D-337D-40C1-8FB8-BC01A1E1D671}" destId="{CDDE07C5-7FFF-442B-A1B0-8E5A0DDCB1A1}"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6C5939-DC65-47F5-8FEB-D3F272846D93}" type="doc">
      <dgm:prSet loTypeId="urn:microsoft.com/office/officeart/2005/8/layout/funnel1" loCatId="process" qsTypeId="urn:microsoft.com/office/officeart/2005/8/quickstyle/3d1" qsCatId="3D" csTypeId="urn:microsoft.com/office/officeart/2005/8/colors/colorful1#1" csCatId="colorful" phldr="1"/>
      <dgm:spPr/>
      <dgm:t>
        <a:bodyPr/>
        <a:lstStyle/>
        <a:p>
          <a:endParaRPr lang="zh-TW" altLang="en-US"/>
        </a:p>
      </dgm:t>
    </dgm:pt>
    <dgm:pt modelId="{F72AFC2B-C492-4A01-A2D1-754F944A7AC2}">
      <dgm:prSet phldrT="[文字]"/>
      <dgm:spPr/>
      <dgm:t>
        <a:bodyPr/>
        <a:lstStyle/>
        <a:p>
          <a:r>
            <a:rPr lang="zh-TW" altLang="en-US" dirty="0">
              <a:latin typeface="微軟正黑體" panose="020B0604030504040204" pitchFamily="34" charset="-120"/>
              <a:ea typeface="微軟正黑體" panose="020B0604030504040204" pitchFamily="34" charset="-120"/>
            </a:rPr>
            <a:t>不動產資料庫</a:t>
          </a:r>
        </a:p>
      </dgm:t>
    </dgm:pt>
    <dgm:pt modelId="{9D0083FC-5FD8-4182-A156-51F138C39717}" type="parTrans" cxnId="{634EF0B9-BC00-4DB9-A276-4F6C5D7B2DA1}">
      <dgm:prSet/>
      <dgm:spPr/>
      <dgm:t>
        <a:bodyPr/>
        <a:lstStyle/>
        <a:p>
          <a:endParaRPr lang="zh-TW" altLang="en-US">
            <a:latin typeface="微軟正黑體" pitchFamily="34" charset="-120"/>
            <a:ea typeface="微軟正黑體" pitchFamily="34" charset="-120"/>
          </a:endParaRPr>
        </a:p>
      </dgm:t>
    </dgm:pt>
    <dgm:pt modelId="{73A13ADE-834F-4BF3-9138-8ECBBC6EEA45}" type="sibTrans" cxnId="{634EF0B9-BC00-4DB9-A276-4F6C5D7B2DA1}">
      <dgm:prSet/>
      <dgm:spPr/>
      <dgm:t>
        <a:bodyPr/>
        <a:lstStyle/>
        <a:p>
          <a:endParaRPr lang="zh-TW" altLang="en-US">
            <a:latin typeface="微軟正黑體" pitchFamily="34" charset="-120"/>
            <a:ea typeface="微軟正黑體" pitchFamily="34" charset="-120"/>
          </a:endParaRPr>
        </a:p>
      </dgm:t>
    </dgm:pt>
    <dgm:pt modelId="{1B90CBDB-014A-4D29-8941-27C6F67FFAE8}">
      <dgm:prSet phldrT="[文字]"/>
      <dgm:spPr/>
      <dgm:t>
        <a:bodyPr/>
        <a:lstStyle/>
        <a:p>
          <a:r>
            <a:rPr lang="zh-TW" altLang="en-US" dirty="0">
              <a:latin typeface="微軟正黑體" panose="020B0604030504040204" pitchFamily="34" charset="-120"/>
              <a:ea typeface="微軟正黑體" panose="020B0604030504040204" pitchFamily="34" charset="-120"/>
            </a:rPr>
            <a:t>定位裝置</a:t>
          </a:r>
        </a:p>
      </dgm:t>
    </dgm:pt>
    <dgm:pt modelId="{0C3F89F1-3163-43CE-A771-A8FA3E636167}" type="parTrans" cxnId="{D4C7E22D-5B02-4B33-85EB-6064E7063206}">
      <dgm:prSet/>
      <dgm:spPr/>
      <dgm:t>
        <a:bodyPr/>
        <a:lstStyle/>
        <a:p>
          <a:endParaRPr lang="zh-TW" altLang="en-US">
            <a:latin typeface="微軟正黑體" pitchFamily="34" charset="-120"/>
            <a:ea typeface="微軟正黑體" pitchFamily="34" charset="-120"/>
          </a:endParaRPr>
        </a:p>
      </dgm:t>
    </dgm:pt>
    <dgm:pt modelId="{4C39FABE-9222-40B1-9C4C-49B6E4AE4A69}" type="sibTrans" cxnId="{D4C7E22D-5B02-4B33-85EB-6064E7063206}">
      <dgm:prSet/>
      <dgm:spPr/>
      <dgm:t>
        <a:bodyPr/>
        <a:lstStyle/>
        <a:p>
          <a:endParaRPr lang="zh-TW" altLang="en-US">
            <a:latin typeface="微軟正黑體" pitchFamily="34" charset="-120"/>
            <a:ea typeface="微軟正黑體" pitchFamily="34" charset="-120"/>
          </a:endParaRPr>
        </a:p>
      </dgm:t>
    </dgm:pt>
    <dgm:pt modelId="{F4500210-E3E5-46D2-B113-FBF79691B994}">
      <dgm:prSet phldrT="[文字]"/>
      <dgm:spPr/>
      <dgm:t>
        <a:bodyPr/>
        <a:lstStyle/>
        <a:p>
          <a:r>
            <a:rPr lang="zh-TW" altLang="en-US" dirty="0">
              <a:latin typeface="微軟正黑體" pitchFamily="34" charset="-120"/>
              <a:ea typeface="微軟正黑體" pitchFamily="34" charset="-120"/>
            </a:rPr>
            <a:t>電子裝置</a:t>
          </a:r>
        </a:p>
      </dgm:t>
    </dgm:pt>
    <dgm:pt modelId="{410DD14E-F6FC-4E92-844E-7ABFB557E2B4}" type="parTrans" cxnId="{AF229E30-7F8F-484D-86CB-AF549A8DF43E}">
      <dgm:prSet/>
      <dgm:spPr/>
      <dgm:t>
        <a:bodyPr/>
        <a:lstStyle/>
        <a:p>
          <a:endParaRPr lang="zh-TW" altLang="en-US">
            <a:latin typeface="微軟正黑體" pitchFamily="34" charset="-120"/>
            <a:ea typeface="微軟正黑體" pitchFamily="34" charset="-120"/>
          </a:endParaRPr>
        </a:p>
      </dgm:t>
    </dgm:pt>
    <dgm:pt modelId="{2F6E9106-EA1E-453B-BE1E-BB5CCB0D865F}" type="sibTrans" cxnId="{AF229E30-7F8F-484D-86CB-AF549A8DF43E}">
      <dgm:prSet/>
      <dgm:spPr/>
      <dgm:t>
        <a:bodyPr/>
        <a:lstStyle/>
        <a:p>
          <a:endParaRPr lang="zh-TW" altLang="en-US">
            <a:latin typeface="微軟正黑體" pitchFamily="34" charset="-120"/>
            <a:ea typeface="微軟正黑體" pitchFamily="34" charset="-120"/>
          </a:endParaRPr>
        </a:p>
      </dgm:t>
    </dgm:pt>
    <dgm:pt modelId="{F1132F80-839D-41BE-9CD4-F3C2B858B3BF}">
      <dgm:prSet phldrT="[文字]" custT="1"/>
      <dgm:spPr/>
      <dgm:t>
        <a:bodyPr/>
        <a:lstStyle/>
        <a:p>
          <a:r>
            <a:rPr lang="zh-TW" altLang="en-US" sz="3200" b="1" dirty="0">
              <a:solidFill>
                <a:srgbClr val="C00000"/>
              </a:solidFill>
              <a:latin typeface="微軟正黑體" pitchFamily="34" charset="-120"/>
              <a:ea typeface="微軟正黑體" pitchFamily="34" charset="-120"/>
            </a:rPr>
            <a:t>必要技術特徵</a:t>
          </a:r>
        </a:p>
      </dgm:t>
    </dgm:pt>
    <dgm:pt modelId="{77CB43CE-DDEC-4590-A222-BCE0798FB15A}" type="parTrans" cxnId="{C81F453C-E885-482F-8E2C-B2276B953354}">
      <dgm:prSet/>
      <dgm:spPr/>
      <dgm:t>
        <a:bodyPr/>
        <a:lstStyle/>
        <a:p>
          <a:endParaRPr lang="zh-TW" altLang="en-US">
            <a:latin typeface="微軟正黑體" pitchFamily="34" charset="-120"/>
            <a:ea typeface="微軟正黑體" pitchFamily="34" charset="-120"/>
          </a:endParaRPr>
        </a:p>
      </dgm:t>
    </dgm:pt>
    <dgm:pt modelId="{28FC368F-A24C-4479-A143-F170C1DD7C09}" type="sibTrans" cxnId="{C81F453C-E885-482F-8E2C-B2276B953354}">
      <dgm:prSet/>
      <dgm:spPr/>
      <dgm:t>
        <a:bodyPr/>
        <a:lstStyle/>
        <a:p>
          <a:endParaRPr lang="zh-TW" altLang="en-US">
            <a:latin typeface="微軟正黑體" pitchFamily="34" charset="-120"/>
            <a:ea typeface="微軟正黑體" pitchFamily="34" charset="-120"/>
          </a:endParaRPr>
        </a:p>
      </dgm:t>
    </dgm:pt>
    <dgm:pt modelId="{C284D37E-5BD6-4186-930A-04124D152A78}" type="pres">
      <dgm:prSet presAssocID="{5D6C5939-DC65-47F5-8FEB-D3F272846D93}" presName="Name0" presStyleCnt="0">
        <dgm:presLayoutVars>
          <dgm:chMax val="4"/>
          <dgm:resizeHandles val="exact"/>
        </dgm:presLayoutVars>
      </dgm:prSet>
      <dgm:spPr/>
    </dgm:pt>
    <dgm:pt modelId="{DCF6F1DE-CA69-4A77-8FE3-D75EE153141B}" type="pres">
      <dgm:prSet presAssocID="{5D6C5939-DC65-47F5-8FEB-D3F272846D93}" presName="ellipse" presStyleLbl="trBgShp" presStyleIdx="0" presStyleCnt="1"/>
      <dgm:spPr/>
    </dgm:pt>
    <dgm:pt modelId="{E733ECA4-86DD-4CB1-A496-088A22ADAC98}" type="pres">
      <dgm:prSet presAssocID="{5D6C5939-DC65-47F5-8FEB-D3F272846D93}" presName="arrow1" presStyleLbl="fgShp" presStyleIdx="0" presStyleCnt="1"/>
      <dgm:spPr>
        <a:solidFill>
          <a:schemeClr val="accent2">
            <a:lumMod val="60000"/>
            <a:lumOff val="40000"/>
          </a:schemeClr>
        </a:solidFill>
      </dgm:spPr>
    </dgm:pt>
    <dgm:pt modelId="{2F167BC3-60E5-4756-A4F8-1BDF8E1CA5B5}" type="pres">
      <dgm:prSet presAssocID="{5D6C5939-DC65-47F5-8FEB-D3F272846D93}" presName="rectangle" presStyleLbl="revTx" presStyleIdx="0" presStyleCnt="1" custLinFactNeighborY="-10526">
        <dgm:presLayoutVars>
          <dgm:bulletEnabled val="1"/>
        </dgm:presLayoutVars>
      </dgm:prSet>
      <dgm:spPr/>
    </dgm:pt>
    <dgm:pt modelId="{151AC660-07BF-46F5-B21A-85098025E191}" type="pres">
      <dgm:prSet presAssocID="{1B90CBDB-014A-4D29-8941-27C6F67FFAE8}" presName="item1" presStyleLbl="node1" presStyleIdx="0" presStyleCnt="3">
        <dgm:presLayoutVars>
          <dgm:bulletEnabled val="1"/>
        </dgm:presLayoutVars>
      </dgm:prSet>
      <dgm:spPr/>
    </dgm:pt>
    <dgm:pt modelId="{89F197D2-F755-4E42-86E7-855DCCC90491}" type="pres">
      <dgm:prSet presAssocID="{F4500210-E3E5-46D2-B113-FBF79691B994}" presName="item2" presStyleLbl="node1" presStyleIdx="1" presStyleCnt="3" custLinFactNeighborX="-2695" custLinFactNeighborY="1150">
        <dgm:presLayoutVars>
          <dgm:bulletEnabled val="1"/>
        </dgm:presLayoutVars>
      </dgm:prSet>
      <dgm:spPr/>
    </dgm:pt>
    <dgm:pt modelId="{5B32E503-BBC6-444D-9A0A-7BEFD0EE8DD2}" type="pres">
      <dgm:prSet presAssocID="{F1132F80-839D-41BE-9CD4-F3C2B858B3BF}" presName="item3" presStyleLbl="node1" presStyleIdx="2" presStyleCnt="3">
        <dgm:presLayoutVars>
          <dgm:bulletEnabled val="1"/>
        </dgm:presLayoutVars>
      </dgm:prSet>
      <dgm:spPr/>
    </dgm:pt>
    <dgm:pt modelId="{A38BB2A8-60AD-4901-8AB2-2B12D98A2D03}" type="pres">
      <dgm:prSet presAssocID="{5D6C5939-DC65-47F5-8FEB-D3F272846D93}" presName="funnel" presStyleLbl="trAlignAcc1" presStyleIdx="0" presStyleCnt="1" custLinFactNeighborX="-2512" custLinFactNeighborY="3966"/>
      <dgm:spPr/>
    </dgm:pt>
  </dgm:ptLst>
  <dgm:cxnLst>
    <dgm:cxn modelId="{6F299511-A48F-4FF6-8A56-892A31420D13}" type="presOf" srcId="{F72AFC2B-C492-4A01-A2D1-754F944A7AC2}" destId="{5B32E503-BBC6-444D-9A0A-7BEFD0EE8DD2}" srcOrd="0" destOrd="0" presId="urn:microsoft.com/office/officeart/2005/8/layout/funnel1"/>
    <dgm:cxn modelId="{D4C7E22D-5B02-4B33-85EB-6064E7063206}" srcId="{5D6C5939-DC65-47F5-8FEB-D3F272846D93}" destId="{1B90CBDB-014A-4D29-8941-27C6F67FFAE8}" srcOrd="1" destOrd="0" parTransId="{0C3F89F1-3163-43CE-A771-A8FA3E636167}" sibTransId="{4C39FABE-9222-40B1-9C4C-49B6E4AE4A69}"/>
    <dgm:cxn modelId="{AF229E30-7F8F-484D-86CB-AF549A8DF43E}" srcId="{5D6C5939-DC65-47F5-8FEB-D3F272846D93}" destId="{F4500210-E3E5-46D2-B113-FBF79691B994}" srcOrd="2" destOrd="0" parTransId="{410DD14E-F6FC-4E92-844E-7ABFB557E2B4}" sibTransId="{2F6E9106-EA1E-453B-BE1E-BB5CCB0D865F}"/>
    <dgm:cxn modelId="{8CFE3F32-FD50-4218-978B-45235C651ABF}" type="presOf" srcId="{5D6C5939-DC65-47F5-8FEB-D3F272846D93}" destId="{C284D37E-5BD6-4186-930A-04124D152A78}" srcOrd="0" destOrd="0" presId="urn:microsoft.com/office/officeart/2005/8/layout/funnel1"/>
    <dgm:cxn modelId="{C81F453C-E885-482F-8E2C-B2276B953354}" srcId="{5D6C5939-DC65-47F5-8FEB-D3F272846D93}" destId="{F1132F80-839D-41BE-9CD4-F3C2B858B3BF}" srcOrd="3" destOrd="0" parTransId="{77CB43CE-DDEC-4590-A222-BCE0798FB15A}" sibTransId="{28FC368F-A24C-4479-A143-F170C1DD7C09}"/>
    <dgm:cxn modelId="{F7984065-610A-438B-9ABA-D6D8815A3BF0}" type="presOf" srcId="{1B90CBDB-014A-4D29-8941-27C6F67FFAE8}" destId="{89F197D2-F755-4E42-86E7-855DCCC90491}" srcOrd="0" destOrd="0" presId="urn:microsoft.com/office/officeart/2005/8/layout/funnel1"/>
    <dgm:cxn modelId="{E21A1389-0D3A-4604-9C34-11E1F43ECAF2}" type="presOf" srcId="{F4500210-E3E5-46D2-B113-FBF79691B994}" destId="{151AC660-07BF-46F5-B21A-85098025E191}" srcOrd="0" destOrd="0" presId="urn:microsoft.com/office/officeart/2005/8/layout/funnel1"/>
    <dgm:cxn modelId="{B75C5997-0B63-4823-8BC9-0A52DBA278F6}" type="presOf" srcId="{F1132F80-839D-41BE-9CD4-F3C2B858B3BF}" destId="{2F167BC3-60E5-4756-A4F8-1BDF8E1CA5B5}" srcOrd="0" destOrd="0" presId="urn:microsoft.com/office/officeart/2005/8/layout/funnel1"/>
    <dgm:cxn modelId="{634EF0B9-BC00-4DB9-A276-4F6C5D7B2DA1}" srcId="{5D6C5939-DC65-47F5-8FEB-D3F272846D93}" destId="{F72AFC2B-C492-4A01-A2D1-754F944A7AC2}" srcOrd="0" destOrd="0" parTransId="{9D0083FC-5FD8-4182-A156-51F138C39717}" sibTransId="{73A13ADE-834F-4BF3-9138-8ECBBC6EEA45}"/>
    <dgm:cxn modelId="{49E29E3E-E444-412F-81A6-ECDCC7836A42}" type="presParOf" srcId="{C284D37E-5BD6-4186-930A-04124D152A78}" destId="{DCF6F1DE-CA69-4A77-8FE3-D75EE153141B}" srcOrd="0" destOrd="0" presId="urn:microsoft.com/office/officeart/2005/8/layout/funnel1"/>
    <dgm:cxn modelId="{4165EBD5-2570-4224-B3ED-A83D4B4A5E1C}" type="presParOf" srcId="{C284D37E-5BD6-4186-930A-04124D152A78}" destId="{E733ECA4-86DD-4CB1-A496-088A22ADAC98}" srcOrd="1" destOrd="0" presId="urn:microsoft.com/office/officeart/2005/8/layout/funnel1"/>
    <dgm:cxn modelId="{3927C795-FD03-44AF-A4F4-CBD041679F68}" type="presParOf" srcId="{C284D37E-5BD6-4186-930A-04124D152A78}" destId="{2F167BC3-60E5-4756-A4F8-1BDF8E1CA5B5}" srcOrd="2" destOrd="0" presId="urn:microsoft.com/office/officeart/2005/8/layout/funnel1"/>
    <dgm:cxn modelId="{F372294D-90B5-46DF-9A30-906D461BB9EB}" type="presParOf" srcId="{C284D37E-5BD6-4186-930A-04124D152A78}" destId="{151AC660-07BF-46F5-B21A-85098025E191}" srcOrd="3" destOrd="0" presId="urn:microsoft.com/office/officeart/2005/8/layout/funnel1"/>
    <dgm:cxn modelId="{06BCF87F-5910-41A7-B50B-9F645CED7B47}" type="presParOf" srcId="{C284D37E-5BD6-4186-930A-04124D152A78}" destId="{89F197D2-F755-4E42-86E7-855DCCC90491}" srcOrd="4" destOrd="0" presId="urn:microsoft.com/office/officeart/2005/8/layout/funnel1"/>
    <dgm:cxn modelId="{970D77DB-69D5-4AB3-AB1E-9496F470AE49}" type="presParOf" srcId="{C284D37E-5BD6-4186-930A-04124D152A78}" destId="{5B32E503-BBC6-444D-9A0A-7BEFD0EE8DD2}" srcOrd="5" destOrd="0" presId="urn:microsoft.com/office/officeart/2005/8/layout/funnel1"/>
    <dgm:cxn modelId="{C61B3D41-B313-4D59-BC4B-477EAC99EC6B}" type="presParOf" srcId="{C284D37E-5BD6-4186-930A-04124D152A78}" destId="{A38BB2A8-60AD-4901-8AB2-2B12D98A2D03}"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F4920E9-B627-4434-80F0-2907DBAE7CD8}" type="doc">
      <dgm:prSet loTypeId="urn:microsoft.com/office/officeart/2005/8/layout/hProcess11" loCatId="process" qsTypeId="urn:microsoft.com/office/officeart/2005/8/quickstyle/3d1" qsCatId="3D" csTypeId="urn:microsoft.com/office/officeart/2005/8/colors/colorful1#3" csCatId="colorful" phldr="1"/>
      <dgm:spPr/>
    </dgm:pt>
    <dgm:pt modelId="{5725B8BF-3FD9-459B-A884-4FADB1AD95C2}">
      <dgm:prSet phldrT="[文本]" custT="1"/>
      <dgm:spPr/>
      <dgm:t>
        <a:bodyPr/>
        <a:lstStyle/>
        <a:p>
          <a:r>
            <a:rPr lang="zh-TW" altLang="en-US" sz="2400" dirty="0">
              <a:latin typeface="微軟正黑體" panose="020B0604030504040204" pitchFamily="34" charset="-120"/>
              <a:ea typeface="微軟正黑體" panose="020B0604030504040204" pitchFamily="34" charset="-120"/>
            </a:rPr>
            <a:t>核駁審定</a:t>
          </a:r>
          <a:endParaRPr lang="zh-CN" altLang="en-US" sz="2400" dirty="0">
            <a:latin typeface="微軟正黑體" panose="020B0604030504040204" pitchFamily="34" charset="-120"/>
            <a:ea typeface="微軟正黑體" panose="020B0604030504040204" pitchFamily="34" charset="-120"/>
          </a:endParaRPr>
        </a:p>
      </dgm:t>
    </dgm:pt>
    <dgm:pt modelId="{24466BC7-BC84-44C4-9017-2A98DB70A6FC}" type="parTrans" cxnId="{26CECC8A-8FA8-435C-A80C-51A226C710EB}">
      <dgm:prSet/>
      <dgm:spPr/>
      <dgm:t>
        <a:bodyPr/>
        <a:lstStyle/>
        <a:p>
          <a:endParaRPr lang="zh-CN" altLang="en-US"/>
        </a:p>
      </dgm:t>
    </dgm:pt>
    <dgm:pt modelId="{B9C086EB-24F4-4CEF-9A01-D3801B5E2D5F}" type="sibTrans" cxnId="{26CECC8A-8FA8-435C-A80C-51A226C710EB}">
      <dgm:prSet/>
      <dgm:spPr/>
      <dgm:t>
        <a:bodyPr/>
        <a:lstStyle/>
        <a:p>
          <a:endParaRPr lang="zh-CN" altLang="en-US"/>
        </a:p>
      </dgm:t>
    </dgm:pt>
    <dgm:pt modelId="{FBB6FF1F-928B-4B62-AAE5-7E4CD13CBE32}">
      <dgm:prSet phldrT="[文本]" custT="1"/>
      <dgm:spPr/>
      <dgm:t>
        <a:bodyPr/>
        <a:lstStyle/>
        <a:p>
          <a:r>
            <a:rPr lang="zh-TW" altLang="en-US" sz="2400" dirty="0">
              <a:latin typeface="微軟正黑體" panose="020B0604030504040204" pitchFamily="34" charset="-120"/>
              <a:ea typeface="微軟正黑體" panose="020B0604030504040204" pitchFamily="34" charset="-120"/>
            </a:rPr>
            <a:t>再審查</a:t>
          </a:r>
          <a:endParaRPr lang="zh-CN" altLang="en-US" sz="2400" dirty="0">
            <a:latin typeface="微軟正黑體" panose="020B0604030504040204" pitchFamily="34" charset="-120"/>
            <a:ea typeface="微軟正黑體" panose="020B0604030504040204" pitchFamily="34" charset="-120"/>
          </a:endParaRPr>
        </a:p>
      </dgm:t>
    </dgm:pt>
    <dgm:pt modelId="{4FA0D06D-1FA1-4815-981E-18E97ADA2D46}" type="parTrans" cxnId="{531C5F94-142C-4A4A-8613-5436E42DC44D}">
      <dgm:prSet/>
      <dgm:spPr/>
      <dgm:t>
        <a:bodyPr/>
        <a:lstStyle/>
        <a:p>
          <a:endParaRPr lang="zh-CN" altLang="en-US"/>
        </a:p>
      </dgm:t>
    </dgm:pt>
    <dgm:pt modelId="{46810F03-AAF8-41A8-AA99-2C5ADA63EB34}" type="sibTrans" cxnId="{531C5F94-142C-4A4A-8613-5436E42DC44D}">
      <dgm:prSet/>
      <dgm:spPr/>
      <dgm:t>
        <a:bodyPr/>
        <a:lstStyle/>
        <a:p>
          <a:endParaRPr lang="zh-CN" altLang="en-US"/>
        </a:p>
      </dgm:t>
    </dgm:pt>
    <dgm:pt modelId="{E7B5B2D3-EB38-45DC-A7A8-426413D1BEE2}">
      <dgm:prSet phldrT="[文本]" custT="1"/>
      <dgm:spPr/>
      <dgm:t>
        <a:bodyPr/>
        <a:lstStyle/>
        <a:p>
          <a:r>
            <a:rPr lang="zh-TW" altLang="en-US" sz="2400" dirty="0">
              <a:latin typeface="微軟正黑體" panose="020B0604030504040204" pitchFamily="34" charset="-120"/>
              <a:ea typeface="微軟正黑體" panose="020B0604030504040204" pitchFamily="34" charset="-120"/>
            </a:rPr>
            <a:t>訴願</a:t>
          </a:r>
          <a:endParaRPr lang="zh-CN" altLang="en-US" sz="2400" dirty="0">
            <a:latin typeface="微軟正黑體" panose="020B0604030504040204" pitchFamily="34" charset="-120"/>
            <a:ea typeface="微軟正黑體" panose="020B0604030504040204" pitchFamily="34" charset="-120"/>
          </a:endParaRPr>
        </a:p>
      </dgm:t>
    </dgm:pt>
    <dgm:pt modelId="{39AEBC3C-C8D9-443C-879D-20A1D534B4D7}" type="parTrans" cxnId="{8F30BF6F-ED1C-4850-989A-CF2D3A61AC2B}">
      <dgm:prSet/>
      <dgm:spPr/>
      <dgm:t>
        <a:bodyPr/>
        <a:lstStyle/>
        <a:p>
          <a:endParaRPr lang="zh-CN" altLang="en-US"/>
        </a:p>
      </dgm:t>
    </dgm:pt>
    <dgm:pt modelId="{FBA85234-314D-4FEA-947F-0D5D5FF20AC4}" type="sibTrans" cxnId="{8F30BF6F-ED1C-4850-989A-CF2D3A61AC2B}">
      <dgm:prSet/>
      <dgm:spPr/>
      <dgm:t>
        <a:bodyPr/>
        <a:lstStyle/>
        <a:p>
          <a:endParaRPr lang="zh-CN" altLang="en-US"/>
        </a:p>
      </dgm:t>
    </dgm:pt>
    <dgm:pt modelId="{4167D92C-C9C2-4AC2-83F3-18E5CD65FB3B}">
      <dgm:prSet phldrT="[文本]" custT="1"/>
      <dgm:spPr/>
      <dgm:t>
        <a:bodyPr/>
        <a:lstStyle/>
        <a:p>
          <a:r>
            <a:rPr lang="zh-TW" altLang="en-US" sz="2400" dirty="0">
              <a:latin typeface="微軟正黑體" panose="020B0604030504040204" pitchFamily="34" charset="-120"/>
              <a:ea typeface="微軟正黑體" panose="020B0604030504040204" pitchFamily="34" charset="-120"/>
            </a:rPr>
            <a:t>行政訴訟</a:t>
          </a:r>
          <a:endParaRPr lang="zh-CN" altLang="en-US" sz="2400" dirty="0">
            <a:latin typeface="微軟正黑體" panose="020B0604030504040204" pitchFamily="34" charset="-120"/>
            <a:ea typeface="微軟正黑體" panose="020B0604030504040204" pitchFamily="34" charset="-120"/>
          </a:endParaRPr>
        </a:p>
      </dgm:t>
    </dgm:pt>
    <dgm:pt modelId="{2E8B34F2-5C85-4C4E-A4E3-785BFF8DD307}" type="parTrans" cxnId="{70CA6154-A9D4-454F-80F2-D1B203A7D8DC}">
      <dgm:prSet/>
      <dgm:spPr/>
      <dgm:t>
        <a:bodyPr/>
        <a:lstStyle/>
        <a:p>
          <a:endParaRPr lang="zh-TW" altLang="en-US"/>
        </a:p>
      </dgm:t>
    </dgm:pt>
    <dgm:pt modelId="{39E633BC-DB9B-47E9-AF04-F360DA97A5BC}" type="sibTrans" cxnId="{70CA6154-A9D4-454F-80F2-D1B203A7D8DC}">
      <dgm:prSet/>
      <dgm:spPr/>
      <dgm:t>
        <a:bodyPr/>
        <a:lstStyle/>
        <a:p>
          <a:endParaRPr lang="zh-TW" altLang="en-US"/>
        </a:p>
      </dgm:t>
    </dgm:pt>
    <dgm:pt modelId="{2822644E-A1E0-47B9-AB8E-280C6726CA46}" type="pres">
      <dgm:prSet presAssocID="{6F4920E9-B627-4434-80F0-2907DBAE7CD8}" presName="Name0" presStyleCnt="0">
        <dgm:presLayoutVars>
          <dgm:dir/>
          <dgm:resizeHandles val="exact"/>
        </dgm:presLayoutVars>
      </dgm:prSet>
      <dgm:spPr/>
    </dgm:pt>
    <dgm:pt modelId="{0E651D23-C406-4610-A099-5ED1E5D746BA}" type="pres">
      <dgm:prSet presAssocID="{6F4920E9-B627-4434-80F0-2907DBAE7CD8}" presName="arrow" presStyleLbl="bgShp" presStyleIdx="0" presStyleCnt="1"/>
      <dgm:spPr/>
    </dgm:pt>
    <dgm:pt modelId="{65F8B0BD-81E2-4B64-95BF-32CB09AF9C66}" type="pres">
      <dgm:prSet presAssocID="{6F4920E9-B627-4434-80F0-2907DBAE7CD8}" presName="points" presStyleCnt="0"/>
      <dgm:spPr/>
    </dgm:pt>
    <dgm:pt modelId="{906D7632-6309-4199-B82E-7CA61515403D}" type="pres">
      <dgm:prSet presAssocID="{5725B8BF-3FD9-459B-A884-4FADB1AD95C2}" presName="compositeA" presStyleCnt="0"/>
      <dgm:spPr/>
    </dgm:pt>
    <dgm:pt modelId="{ED918D7C-3B55-4D76-8D4B-C117E8738D44}" type="pres">
      <dgm:prSet presAssocID="{5725B8BF-3FD9-459B-A884-4FADB1AD95C2}" presName="textA" presStyleLbl="revTx" presStyleIdx="0" presStyleCnt="4">
        <dgm:presLayoutVars>
          <dgm:bulletEnabled val="1"/>
        </dgm:presLayoutVars>
      </dgm:prSet>
      <dgm:spPr/>
    </dgm:pt>
    <dgm:pt modelId="{4E0B5ABD-4D85-4B39-98F2-DE08CDE1B9EC}" type="pres">
      <dgm:prSet presAssocID="{5725B8BF-3FD9-459B-A884-4FADB1AD95C2}" presName="circleA" presStyleLbl="node1" presStyleIdx="0" presStyleCnt="4"/>
      <dgm:spPr/>
    </dgm:pt>
    <dgm:pt modelId="{DA5BD86F-BDE0-45D2-9DCB-E824B7BAFF34}" type="pres">
      <dgm:prSet presAssocID="{5725B8BF-3FD9-459B-A884-4FADB1AD95C2}" presName="spaceA" presStyleCnt="0"/>
      <dgm:spPr/>
    </dgm:pt>
    <dgm:pt modelId="{F6683C45-65D4-46D4-9221-93AC23FF993F}" type="pres">
      <dgm:prSet presAssocID="{B9C086EB-24F4-4CEF-9A01-D3801B5E2D5F}" presName="space" presStyleCnt="0"/>
      <dgm:spPr/>
    </dgm:pt>
    <dgm:pt modelId="{963EE542-B4AC-41A0-A437-C143220E7AD2}" type="pres">
      <dgm:prSet presAssocID="{FBB6FF1F-928B-4B62-AAE5-7E4CD13CBE32}" presName="compositeB" presStyleCnt="0"/>
      <dgm:spPr/>
    </dgm:pt>
    <dgm:pt modelId="{0BC1C417-75E1-4E61-A74D-D87B4982B54A}" type="pres">
      <dgm:prSet presAssocID="{FBB6FF1F-928B-4B62-AAE5-7E4CD13CBE32}" presName="textB" presStyleLbl="revTx" presStyleIdx="1" presStyleCnt="4" custLinFactNeighborX="18144" custLinFactNeighborY="-2041">
        <dgm:presLayoutVars>
          <dgm:bulletEnabled val="1"/>
        </dgm:presLayoutVars>
      </dgm:prSet>
      <dgm:spPr/>
    </dgm:pt>
    <dgm:pt modelId="{01D444B0-E068-48E6-B237-09940E9DD73F}" type="pres">
      <dgm:prSet presAssocID="{FBB6FF1F-928B-4B62-AAE5-7E4CD13CBE32}" presName="circleB" presStyleLbl="node1" presStyleIdx="1" presStyleCnt="4" custLinFactNeighborX="90694" custLinFactNeighborY="-1020"/>
      <dgm:spPr/>
    </dgm:pt>
    <dgm:pt modelId="{48376884-7DA0-4243-89A7-6C6135978DB7}" type="pres">
      <dgm:prSet presAssocID="{FBB6FF1F-928B-4B62-AAE5-7E4CD13CBE32}" presName="spaceB" presStyleCnt="0"/>
      <dgm:spPr/>
    </dgm:pt>
    <dgm:pt modelId="{8C3EBD59-04E8-472D-8E64-ACDFE0FB7B3C}" type="pres">
      <dgm:prSet presAssocID="{46810F03-AAF8-41A8-AA99-2C5ADA63EB34}" presName="space" presStyleCnt="0"/>
      <dgm:spPr/>
    </dgm:pt>
    <dgm:pt modelId="{1DF5007A-677A-491B-A648-069C434CB48D}" type="pres">
      <dgm:prSet presAssocID="{E7B5B2D3-EB38-45DC-A7A8-426413D1BEE2}" presName="compositeA" presStyleCnt="0"/>
      <dgm:spPr/>
    </dgm:pt>
    <dgm:pt modelId="{9203DA2D-6675-4089-A6C7-53356BCF9552}" type="pres">
      <dgm:prSet presAssocID="{E7B5B2D3-EB38-45DC-A7A8-426413D1BEE2}" presName="textA" presStyleLbl="revTx" presStyleIdx="2" presStyleCnt="4" custLinFactNeighborX="-11254">
        <dgm:presLayoutVars>
          <dgm:bulletEnabled val="1"/>
        </dgm:presLayoutVars>
      </dgm:prSet>
      <dgm:spPr/>
    </dgm:pt>
    <dgm:pt modelId="{3C0DC766-CDB8-41C2-8942-292E87E7B7AA}" type="pres">
      <dgm:prSet presAssocID="{E7B5B2D3-EB38-45DC-A7A8-426413D1BEE2}" presName="circleA" presStyleLbl="node1" presStyleIdx="2" presStyleCnt="4" custLinFactNeighborX="-60082" custLinFactNeighborY="-1020"/>
      <dgm:spPr/>
    </dgm:pt>
    <dgm:pt modelId="{FA494B9F-DE15-4FF4-82DF-3A0578F55E2F}" type="pres">
      <dgm:prSet presAssocID="{E7B5B2D3-EB38-45DC-A7A8-426413D1BEE2}" presName="spaceA" presStyleCnt="0"/>
      <dgm:spPr/>
    </dgm:pt>
    <dgm:pt modelId="{0CB1975B-37F0-42BB-B6BE-BE35CD0BB18A}" type="pres">
      <dgm:prSet presAssocID="{FBA85234-314D-4FEA-947F-0D5D5FF20AC4}" presName="space" presStyleCnt="0"/>
      <dgm:spPr/>
    </dgm:pt>
    <dgm:pt modelId="{18769DE5-0C68-414B-81D2-25AE174AD7E2}" type="pres">
      <dgm:prSet presAssocID="{4167D92C-C9C2-4AC2-83F3-18E5CD65FB3B}" presName="compositeB" presStyleCnt="0"/>
      <dgm:spPr/>
    </dgm:pt>
    <dgm:pt modelId="{9DB0485C-52A6-4D32-9ED1-61AF16C2A07D}" type="pres">
      <dgm:prSet presAssocID="{4167D92C-C9C2-4AC2-83F3-18E5CD65FB3B}" presName="textB" presStyleLbl="revTx" presStyleIdx="3" presStyleCnt="4">
        <dgm:presLayoutVars>
          <dgm:bulletEnabled val="1"/>
        </dgm:presLayoutVars>
      </dgm:prSet>
      <dgm:spPr/>
    </dgm:pt>
    <dgm:pt modelId="{896DFF9D-3572-4A9F-964A-FA6AECE917B9}" type="pres">
      <dgm:prSet presAssocID="{4167D92C-C9C2-4AC2-83F3-18E5CD65FB3B}" presName="circleB" presStyleLbl="node1" presStyleIdx="3" presStyleCnt="4"/>
      <dgm:spPr/>
    </dgm:pt>
    <dgm:pt modelId="{08E9BA64-A4CF-489C-96E7-75FE88741841}" type="pres">
      <dgm:prSet presAssocID="{4167D92C-C9C2-4AC2-83F3-18E5CD65FB3B}" presName="spaceB" presStyleCnt="0"/>
      <dgm:spPr/>
    </dgm:pt>
  </dgm:ptLst>
  <dgm:cxnLst>
    <dgm:cxn modelId="{CC47FE1B-3C81-4EA0-B8DB-E49A4B8F480A}" type="presOf" srcId="{4167D92C-C9C2-4AC2-83F3-18E5CD65FB3B}" destId="{9DB0485C-52A6-4D32-9ED1-61AF16C2A07D}" srcOrd="0" destOrd="0" presId="urn:microsoft.com/office/officeart/2005/8/layout/hProcess11"/>
    <dgm:cxn modelId="{7B85922D-1468-44E2-BA98-6182F90FF621}" type="presOf" srcId="{E7B5B2D3-EB38-45DC-A7A8-426413D1BEE2}" destId="{9203DA2D-6675-4089-A6C7-53356BCF9552}" srcOrd="0" destOrd="0" presId="urn:microsoft.com/office/officeart/2005/8/layout/hProcess11"/>
    <dgm:cxn modelId="{6659493B-2FAB-48C7-90A1-926E826F7C72}" type="presOf" srcId="{5725B8BF-3FD9-459B-A884-4FADB1AD95C2}" destId="{ED918D7C-3B55-4D76-8D4B-C117E8738D44}" srcOrd="0" destOrd="0" presId="urn:microsoft.com/office/officeart/2005/8/layout/hProcess11"/>
    <dgm:cxn modelId="{8D32E168-0E02-48FD-AA2E-8A3C1DF3ADEB}" type="presOf" srcId="{FBB6FF1F-928B-4B62-AAE5-7E4CD13CBE32}" destId="{0BC1C417-75E1-4E61-A74D-D87B4982B54A}" srcOrd="0" destOrd="0" presId="urn:microsoft.com/office/officeart/2005/8/layout/hProcess11"/>
    <dgm:cxn modelId="{8F30BF6F-ED1C-4850-989A-CF2D3A61AC2B}" srcId="{6F4920E9-B627-4434-80F0-2907DBAE7CD8}" destId="{E7B5B2D3-EB38-45DC-A7A8-426413D1BEE2}" srcOrd="2" destOrd="0" parTransId="{39AEBC3C-C8D9-443C-879D-20A1D534B4D7}" sibTransId="{FBA85234-314D-4FEA-947F-0D5D5FF20AC4}"/>
    <dgm:cxn modelId="{70CA6154-A9D4-454F-80F2-D1B203A7D8DC}" srcId="{6F4920E9-B627-4434-80F0-2907DBAE7CD8}" destId="{4167D92C-C9C2-4AC2-83F3-18E5CD65FB3B}" srcOrd="3" destOrd="0" parTransId="{2E8B34F2-5C85-4C4E-A4E3-785BFF8DD307}" sibTransId="{39E633BC-DB9B-47E9-AF04-F360DA97A5BC}"/>
    <dgm:cxn modelId="{26CECC8A-8FA8-435C-A80C-51A226C710EB}" srcId="{6F4920E9-B627-4434-80F0-2907DBAE7CD8}" destId="{5725B8BF-3FD9-459B-A884-4FADB1AD95C2}" srcOrd="0" destOrd="0" parTransId="{24466BC7-BC84-44C4-9017-2A98DB70A6FC}" sibTransId="{B9C086EB-24F4-4CEF-9A01-D3801B5E2D5F}"/>
    <dgm:cxn modelId="{C80A118B-501A-44E8-B6C1-0B45F0E61108}" type="presOf" srcId="{6F4920E9-B627-4434-80F0-2907DBAE7CD8}" destId="{2822644E-A1E0-47B9-AB8E-280C6726CA46}" srcOrd="0" destOrd="0" presId="urn:microsoft.com/office/officeart/2005/8/layout/hProcess11"/>
    <dgm:cxn modelId="{531C5F94-142C-4A4A-8613-5436E42DC44D}" srcId="{6F4920E9-B627-4434-80F0-2907DBAE7CD8}" destId="{FBB6FF1F-928B-4B62-AAE5-7E4CD13CBE32}" srcOrd="1" destOrd="0" parTransId="{4FA0D06D-1FA1-4815-981E-18E97ADA2D46}" sibTransId="{46810F03-AAF8-41A8-AA99-2C5ADA63EB34}"/>
    <dgm:cxn modelId="{67D06BD6-4663-4C69-A82C-722590282399}" type="presParOf" srcId="{2822644E-A1E0-47B9-AB8E-280C6726CA46}" destId="{0E651D23-C406-4610-A099-5ED1E5D746BA}" srcOrd="0" destOrd="0" presId="urn:microsoft.com/office/officeart/2005/8/layout/hProcess11"/>
    <dgm:cxn modelId="{BB004F8D-5C1F-4235-956C-4759F5BDE836}" type="presParOf" srcId="{2822644E-A1E0-47B9-AB8E-280C6726CA46}" destId="{65F8B0BD-81E2-4B64-95BF-32CB09AF9C66}" srcOrd="1" destOrd="0" presId="urn:microsoft.com/office/officeart/2005/8/layout/hProcess11"/>
    <dgm:cxn modelId="{CB613370-7E51-4495-B4A3-90EF19F87B5C}" type="presParOf" srcId="{65F8B0BD-81E2-4B64-95BF-32CB09AF9C66}" destId="{906D7632-6309-4199-B82E-7CA61515403D}" srcOrd="0" destOrd="0" presId="urn:microsoft.com/office/officeart/2005/8/layout/hProcess11"/>
    <dgm:cxn modelId="{49B2403E-A067-4352-ABCB-D5E1873FB91B}" type="presParOf" srcId="{906D7632-6309-4199-B82E-7CA61515403D}" destId="{ED918D7C-3B55-4D76-8D4B-C117E8738D44}" srcOrd="0" destOrd="0" presId="urn:microsoft.com/office/officeart/2005/8/layout/hProcess11"/>
    <dgm:cxn modelId="{E82E1FDA-49AD-44B2-811F-A3438F8E8A7F}" type="presParOf" srcId="{906D7632-6309-4199-B82E-7CA61515403D}" destId="{4E0B5ABD-4D85-4B39-98F2-DE08CDE1B9EC}" srcOrd="1" destOrd="0" presId="urn:microsoft.com/office/officeart/2005/8/layout/hProcess11"/>
    <dgm:cxn modelId="{B3A6F27D-35AA-4426-9B6C-B7A2620AABF5}" type="presParOf" srcId="{906D7632-6309-4199-B82E-7CA61515403D}" destId="{DA5BD86F-BDE0-45D2-9DCB-E824B7BAFF34}" srcOrd="2" destOrd="0" presId="urn:microsoft.com/office/officeart/2005/8/layout/hProcess11"/>
    <dgm:cxn modelId="{AEEB05CC-0DAB-419A-8E56-34B706BB0FBB}" type="presParOf" srcId="{65F8B0BD-81E2-4B64-95BF-32CB09AF9C66}" destId="{F6683C45-65D4-46D4-9221-93AC23FF993F}" srcOrd="1" destOrd="0" presId="urn:microsoft.com/office/officeart/2005/8/layout/hProcess11"/>
    <dgm:cxn modelId="{D9A0784D-63C6-4017-8015-F4BA5BA208B0}" type="presParOf" srcId="{65F8B0BD-81E2-4B64-95BF-32CB09AF9C66}" destId="{963EE542-B4AC-41A0-A437-C143220E7AD2}" srcOrd="2" destOrd="0" presId="urn:microsoft.com/office/officeart/2005/8/layout/hProcess11"/>
    <dgm:cxn modelId="{0B237E36-4D0D-4AB0-9F2B-82EF18D72BAD}" type="presParOf" srcId="{963EE542-B4AC-41A0-A437-C143220E7AD2}" destId="{0BC1C417-75E1-4E61-A74D-D87B4982B54A}" srcOrd="0" destOrd="0" presId="urn:microsoft.com/office/officeart/2005/8/layout/hProcess11"/>
    <dgm:cxn modelId="{03D2C051-FF05-4BED-A406-A52FC058CB66}" type="presParOf" srcId="{963EE542-B4AC-41A0-A437-C143220E7AD2}" destId="{01D444B0-E068-48E6-B237-09940E9DD73F}" srcOrd="1" destOrd="0" presId="urn:microsoft.com/office/officeart/2005/8/layout/hProcess11"/>
    <dgm:cxn modelId="{598B0EF1-0BD0-44F4-9791-E6CA450D9457}" type="presParOf" srcId="{963EE542-B4AC-41A0-A437-C143220E7AD2}" destId="{48376884-7DA0-4243-89A7-6C6135978DB7}" srcOrd="2" destOrd="0" presId="urn:microsoft.com/office/officeart/2005/8/layout/hProcess11"/>
    <dgm:cxn modelId="{08402157-B2AA-4C5F-A9D2-CF3AACCDFD6B}" type="presParOf" srcId="{65F8B0BD-81E2-4B64-95BF-32CB09AF9C66}" destId="{8C3EBD59-04E8-472D-8E64-ACDFE0FB7B3C}" srcOrd="3" destOrd="0" presId="urn:microsoft.com/office/officeart/2005/8/layout/hProcess11"/>
    <dgm:cxn modelId="{43A6F39D-114E-428A-A09B-1D2109AB9E9B}" type="presParOf" srcId="{65F8B0BD-81E2-4B64-95BF-32CB09AF9C66}" destId="{1DF5007A-677A-491B-A648-069C434CB48D}" srcOrd="4" destOrd="0" presId="urn:microsoft.com/office/officeart/2005/8/layout/hProcess11"/>
    <dgm:cxn modelId="{A3A565FF-9047-41C6-A7ED-71D3BFCD726C}" type="presParOf" srcId="{1DF5007A-677A-491B-A648-069C434CB48D}" destId="{9203DA2D-6675-4089-A6C7-53356BCF9552}" srcOrd="0" destOrd="0" presId="urn:microsoft.com/office/officeart/2005/8/layout/hProcess11"/>
    <dgm:cxn modelId="{FAEC9DB6-BB3F-4078-B893-FB93CB0C548C}" type="presParOf" srcId="{1DF5007A-677A-491B-A648-069C434CB48D}" destId="{3C0DC766-CDB8-41C2-8942-292E87E7B7AA}" srcOrd="1" destOrd="0" presId="urn:microsoft.com/office/officeart/2005/8/layout/hProcess11"/>
    <dgm:cxn modelId="{BA7627A9-61BD-49D6-9424-5B90CD8470D1}" type="presParOf" srcId="{1DF5007A-677A-491B-A648-069C434CB48D}" destId="{FA494B9F-DE15-4FF4-82DF-3A0578F55E2F}" srcOrd="2" destOrd="0" presId="urn:microsoft.com/office/officeart/2005/8/layout/hProcess11"/>
    <dgm:cxn modelId="{84D17B46-CE26-41BE-A46C-2E14A1607110}" type="presParOf" srcId="{65F8B0BD-81E2-4B64-95BF-32CB09AF9C66}" destId="{0CB1975B-37F0-42BB-B6BE-BE35CD0BB18A}" srcOrd="5" destOrd="0" presId="urn:microsoft.com/office/officeart/2005/8/layout/hProcess11"/>
    <dgm:cxn modelId="{2895E68F-93C4-4BBB-9342-7A3BD83E5071}" type="presParOf" srcId="{65F8B0BD-81E2-4B64-95BF-32CB09AF9C66}" destId="{18769DE5-0C68-414B-81D2-25AE174AD7E2}" srcOrd="6" destOrd="0" presId="urn:microsoft.com/office/officeart/2005/8/layout/hProcess11"/>
    <dgm:cxn modelId="{6C254ACF-7495-4083-B396-1C5BF16BC3FF}" type="presParOf" srcId="{18769DE5-0C68-414B-81D2-25AE174AD7E2}" destId="{9DB0485C-52A6-4D32-9ED1-61AF16C2A07D}" srcOrd="0" destOrd="0" presId="urn:microsoft.com/office/officeart/2005/8/layout/hProcess11"/>
    <dgm:cxn modelId="{35A3BF75-CFE6-46F9-BC2F-040B4D3CEA7E}" type="presParOf" srcId="{18769DE5-0C68-414B-81D2-25AE174AD7E2}" destId="{896DFF9D-3572-4A9F-964A-FA6AECE917B9}" srcOrd="1" destOrd="0" presId="urn:microsoft.com/office/officeart/2005/8/layout/hProcess11"/>
    <dgm:cxn modelId="{D032FB10-21E8-4D0A-8462-DD0FF593EBC0}" type="presParOf" srcId="{18769DE5-0C68-414B-81D2-25AE174AD7E2}" destId="{08E9BA64-A4CF-489C-96E7-75FE88741841}"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F4920E9-B627-4434-80F0-2907DBAE7CD8}" type="doc">
      <dgm:prSet loTypeId="urn:microsoft.com/office/officeart/2005/8/layout/hProcess11" loCatId="process" qsTypeId="urn:microsoft.com/office/officeart/2005/8/quickstyle/3d1" qsCatId="3D" csTypeId="urn:microsoft.com/office/officeart/2005/8/colors/accent3_4" csCatId="accent3" phldr="1"/>
      <dgm:spPr/>
      <dgm:t>
        <a:bodyPr/>
        <a:lstStyle/>
        <a:p>
          <a:endParaRPr lang="zh-TW" altLang="en-US"/>
        </a:p>
      </dgm:t>
    </dgm:pt>
    <dgm:pt modelId="{5725B8BF-3FD9-459B-A884-4FADB1AD95C2}">
      <dgm:prSet phldrT="[文本]" custT="1"/>
      <dgm:spPr/>
      <dgm:t>
        <a:bodyPr/>
        <a:lstStyle/>
        <a:p>
          <a:r>
            <a:rPr lang="zh-TW" altLang="en-US" sz="2400" dirty="0">
              <a:latin typeface="微軟正黑體" panose="020B0604030504040204" pitchFamily="34" charset="-120"/>
              <a:ea typeface="微軟正黑體" panose="020B0604030504040204" pitchFamily="34" charset="-120"/>
            </a:rPr>
            <a:t>申請日</a:t>
          </a:r>
          <a:endParaRPr lang="zh-CN" altLang="en-US" sz="2400" dirty="0">
            <a:latin typeface="微軟正黑體" panose="020B0604030504040204" pitchFamily="34" charset="-120"/>
            <a:ea typeface="微軟正黑體" panose="020B0604030504040204" pitchFamily="34" charset="-120"/>
          </a:endParaRPr>
        </a:p>
      </dgm:t>
    </dgm:pt>
    <dgm:pt modelId="{24466BC7-BC84-44C4-9017-2A98DB70A6FC}" type="parTrans" cxnId="{26CECC8A-8FA8-435C-A80C-51A226C710EB}">
      <dgm:prSet/>
      <dgm:spPr/>
      <dgm:t>
        <a:bodyPr/>
        <a:lstStyle/>
        <a:p>
          <a:endParaRPr lang="zh-CN" altLang="en-US"/>
        </a:p>
      </dgm:t>
    </dgm:pt>
    <dgm:pt modelId="{B9C086EB-24F4-4CEF-9A01-D3801B5E2D5F}" type="sibTrans" cxnId="{26CECC8A-8FA8-435C-A80C-51A226C710EB}">
      <dgm:prSet/>
      <dgm:spPr/>
      <dgm:t>
        <a:bodyPr/>
        <a:lstStyle/>
        <a:p>
          <a:endParaRPr lang="zh-CN" altLang="en-US"/>
        </a:p>
      </dgm:t>
    </dgm:pt>
    <dgm:pt modelId="{FBB6FF1F-928B-4B62-AAE5-7E4CD13CBE32}">
      <dgm:prSet phldrT="[文本]" custT="1"/>
      <dgm:spPr/>
      <dgm:t>
        <a:bodyPr/>
        <a:lstStyle/>
        <a:p>
          <a:r>
            <a:rPr lang="zh-TW" altLang="en-US" sz="2400" dirty="0">
              <a:latin typeface="微軟正黑體" panose="020B0604030504040204" pitchFamily="34" charset="-120"/>
              <a:ea typeface="微軟正黑體" panose="020B0604030504040204" pitchFamily="34" charset="-120"/>
            </a:rPr>
            <a:t>核准審定</a:t>
          </a:r>
          <a:endParaRPr lang="zh-CN" altLang="en-US" sz="2400" dirty="0">
            <a:latin typeface="微軟正黑體" panose="020B0604030504040204" pitchFamily="34" charset="-120"/>
            <a:ea typeface="微軟正黑體" panose="020B0604030504040204" pitchFamily="34" charset="-120"/>
          </a:endParaRPr>
        </a:p>
      </dgm:t>
    </dgm:pt>
    <dgm:pt modelId="{4FA0D06D-1FA1-4815-981E-18E97ADA2D46}" type="parTrans" cxnId="{531C5F94-142C-4A4A-8613-5436E42DC44D}">
      <dgm:prSet/>
      <dgm:spPr/>
      <dgm:t>
        <a:bodyPr/>
        <a:lstStyle/>
        <a:p>
          <a:endParaRPr lang="zh-CN" altLang="en-US"/>
        </a:p>
      </dgm:t>
    </dgm:pt>
    <dgm:pt modelId="{46810F03-AAF8-41A8-AA99-2C5ADA63EB34}" type="sibTrans" cxnId="{531C5F94-142C-4A4A-8613-5436E42DC44D}">
      <dgm:prSet/>
      <dgm:spPr/>
      <dgm:t>
        <a:bodyPr/>
        <a:lstStyle/>
        <a:p>
          <a:endParaRPr lang="zh-CN" altLang="en-US"/>
        </a:p>
      </dgm:t>
    </dgm:pt>
    <dgm:pt modelId="{E7B5B2D3-EB38-45DC-A7A8-426413D1BEE2}">
      <dgm:prSet phldrT="[文本]" custT="1"/>
      <dgm:spPr/>
      <dgm:t>
        <a:bodyPr/>
        <a:lstStyle/>
        <a:p>
          <a:r>
            <a:rPr lang="zh-TW" altLang="en-US" sz="2400" dirty="0">
              <a:latin typeface="微軟正黑體" panose="020B0604030504040204" pitchFamily="34" charset="-120"/>
              <a:ea typeface="微軟正黑體" panose="020B0604030504040204" pitchFamily="34" charset="-120"/>
            </a:rPr>
            <a:t>繳費領證</a:t>
          </a:r>
          <a:endParaRPr lang="zh-CN" altLang="en-US" sz="2400" dirty="0">
            <a:latin typeface="微軟正黑體" panose="020B0604030504040204" pitchFamily="34" charset="-120"/>
            <a:ea typeface="微軟正黑體" panose="020B0604030504040204" pitchFamily="34" charset="-120"/>
          </a:endParaRPr>
        </a:p>
      </dgm:t>
    </dgm:pt>
    <dgm:pt modelId="{39AEBC3C-C8D9-443C-879D-20A1D534B4D7}" type="parTrans" cxnId="{8F30BF6F-ED1C-4850-989A-CF2D3A61AC2B}">
      <dgm:prSet/>
      <dgm:spPr/>
      <dgm:t>
        <a:bodyPr/>
        <a:lstStyle/>
        <a:p>
          <a:endParaRPr lang="zh-CN" altLang="en-US"/>
        </a:p>
      </dgm:t>
    </dgm:pt>
    <dgm:pt modelId="{FBA85234-314D-4FEA-947F-0D5D5FF20AC4}" type="sibTrans" cxnId="{8F30BF6F-ED1C-4850-989A-CF2D3A61AC2B}">
      <dgm:prSet/>
      <dgm:spPr/>
      <dgm:t>
        <a:bodyPr/>
        <a:lstStyle/>
        <a:p>
          <a:endParaRPr lang="zh-CN" altLang="en-US"/>
        </a:p>
      </dgm:t>
    </dgm:pt>
    <dgm:pt modelId="{4167D92C-C9C2-4AC2-83F3-18E5CD65FB3B}">
      <dgm:prSet phldrT="[文本]" custT="1"/>
      <dgm:spPr/>
      <dgm:t>
        <a:bodyPr/>
        <a:lstStyle/>
        <a:p>
          <a:r>
            <a:rPr lang="zh-TW" altLang="en-US" sz="2400" dirty="0">
              <a:latin typeface="微軟正黑體" panose="020B0604030504040204" pitchFamily="34" charset="-120"/>
              <a:ea typeface="微軟正黑體" panose="020B0604030504040204" pitchFamily="34" charset="-120"/>
            </a:rPr>
            <a:t>公告</a:t>
          </a:r>
          <a:endParaRPr lang="zh-CN" altLang="en-US" sz="2400" dirty="0">
            <a:latin typeface="微軟正黑體" panose="020B0604030504040204" pitchFamily="34" charset="-120"/>
            <a:ea typeface="微軟正黑體" panose="020B0604030504040204" pitchFamily="34" charset="-120"/>
          </a:endParaRPr>
        </a:p>
      </dgm:t>
    </dgm:pt>
    <dgm:pt modelId="{2E8B34F2-5C85-4C4E-A4E3-785BFF8DD307}" type="parTrans" cxnId="{70CA6154-A9D4-454F-80F2-D1B203A7D8DC}">
      <dgm:prSet/>
      <dgm:spPr/>
      <dgm:t>
        <a:bodyPr/>
        <a:lstStyle/>
        <a:p>
          <a:endParaRPr lang="zh-TW" altLang="en-US"/>
        </a:p>
      </dgm:t>
    </dgm:pt>
    <dgm:pt modelId="{39E633BC-DB9B-47E9-AF04-F360DA97A5BC}" type="sibTrans" cxnId="{70CA6154-A9D4-454F-80F2-D1B203A7D8DC}">
      <dgm:prSet/>
      <dgm:spPr/>
      <dgm:t>
        <a:bodyPr/>
        <a:lstStyle/>
        <a:p>
          <a:endParaRPr lang="zh-TW" altLang="en-US"/>
        </a:p>
      </dgm:t>
    </dgm:pt>
    <dgm:pt modelId="{2822644E-A1E0-47B9-AB8E-280C6726CA46}" type="pres">
      <dgm:prSet presAssocID="{6F4920E9-B627-4434-80F0-2907DBAE7CD8}" presName="Name0" presStyleCnt="0">
        <dgm:presLayoutVars>
          <dgm:dir/>
          <dgm:resizeHandles val="exact"/>
        </dgm:presLayoutVars>
      </dgm:prSet>
      <dgm:spPr/>
    </dgm:pt>
    <dgm:pt modelId="{0E651D23-C406-4610-A099-5ED1E5D746BA}" type="pres">
      <dgm:prSet presAssocID="{6F4920E9-B627-4434-80F0-2907DBAE7CD8}" presName="arrow" presStyleLbl="bgShp" presStyleIdx="0" presStyleCnt="1"/>
      <dgm:spPr/>
    </dgm:pt>
    <dgm:pt modelId="{65F8B0BD-81E2-4B64-95BF-32CB09AF9C66}" type="pres">
      <dgm:prSet presAssocID="{6F4920E9-B627-4434-80F0-2907DBAE7CD8}" presName="points" presStyleCnt="0"/>
      <dgm:spPr/>
    </dgm:pt>
    <dgm:pt modelId="{906D7632-6309-4199-B82E-7CA61515403D}" type="pres">
      <dgm:prSet presAssocID="{5725B8BF-3FD9-459B-A884-4FADB1AD95C2}" presName="compositeA" presStyleCnt="0"/>
      <dgm:spPr/>
    </dgm:pt>
    <dgm:pt modelId="{ED918D7C-3B55-4D76-8D4B-C117E8738D44}" type="pres">
      <dgm:prSet presAssocID="{5725B8BF-3FD9-459B-A884-4FADB1AD95C2}" presName="textA" presStyleLbl="revTx" presStyleIdx="0" presStyleCnt="4">
        <dgm:presLayoutVars>
          <dgm:bulletEnabled val="1"/>
        </dgm:presLayoutVars>
      </dgm:prSet>
      <dgm:spPr/>
    </dgm:pt>
    <dgm:pt modelId="{4E0B5ABD-4D85-4B39-98F2-DE08CDE1B9EC}" type="pres">
      <dgm:prSet presAssocID="{5725B8BF-3FD9-459B-A884-4FADB1AD95C2}" presName="circleA" presStyleLbl="node1" presStyleIdx="0" presStyleCnt="4"/>
      <dgm:spPr/>
    </dgm:pt>
    <dgm:pt modelId="{DA5BD86F-BDE0-45D2-9DCB-E824B7BAFF34}" type="pres">
      <dgm:prSet presAssocID="{5725B8BF-3FD9-459B-A884-4FADB1AD95C2}" presName="spaceA" presStyleCnt="0"/>
      <dgm:spPr/>
    </dgm:pt>
    <dgm:pt modelId="{F6683C45-65D4-46D4-9221-93AC23FF993F}" type="pres">
      <dgm:prSet presAssocID="{B9C086EB-24F4-4CEF-9A01-D3801B5E2D5F}" presName="space" presStyleCnt="0"/>
      <dgm:spPr/>
    </dgm:pt>
    <dgm:pt modelId="{963EE542-B4AC-41A0-A437-C143220E7AD2}" type="pres">
      <dgm:prSet presAssocID="{FBB6FF1F-928B-4B62-AAE5-7E4CD13CBE32}" presName="compositeB" presStyleCnt="0"/>
      <dgm:spPr/>
    </dgm:pt>
    <dgm:pt modelId="{0BC1C417-75E1-4E61-A74D-D87B4982B54A}" type="pres">
      <dgm:prSet presAssocID="{FBB6FF1F-928B-4B62-AAE5-7E4CD13CBE32}" presName="textB" presStyleLbl="revTx" presStyleIdx="1" presStyleCnt="4" custLinFactNeighborX="73851" custLinFactNeighborY="-2041">
        <dgm:presLayoutVars>
          <dgm:bulletEnabled val="1"/>
        </dgm:presLayoutVars>
      </dgm:prSet>
      <dgm:spPr/>
    </dgm:pt>
    <dgm:pt modelId="{01D444B0-E068-48E6-B237-09940E9DD73F}" type="pres">
      <dgm:prSet presAssocID="{FBB6FF1F-928B-4B62-AAE5-7E4CD13CBE32}" presName="circleB" presStyleLbl="node1" presStyleIdx="1" presStyleCnt="4" custLinFactX="176409" custLinFactNeighborX="200000" custLinFactNeighborY="-1020"/>
      <dgm:spPr/>
    </dgm:pt>
    <dgm:pt modelId="{48376884-7DA0-4243-89A7-6C6135978DB7}" type="pres">
      <dgm:prSet presAssocID="{FBB6FF1F-928B-4B62-AAE5-7E4CD13CBE32}" presName="spaceB" presStyleCnt="0"/>
      <dgm:spPr/>
    </dgm:pt>
    <dgm:pt modelId="{8C3EBD59-04E8-472D-8E64-ACDFE0FB7B3C}" type="pres">
      <dgm:prSet presAssocID="{46810F03-AAF8-41A8-AA99-2C5ADA63EB34}" presName="space" presStyleCnt="0"/>
      <dgm:spPr/>
    </dgm:pt>
    <dgm:pt modelId="{1DF5007A-677A-491B-A648-069C434CB48D}" type="pres">
      <dgm:prSet presAssocID="{E7B5B2D3-EB38-45DC-A7A8-426413D1BEE2}" presName="compositeA" presStyleCnt="0"/>
      <dgm:spPr/>
    </dgm:pt>
    <dgm:pt modelId="{9203DA2D-6675-4089-A6C7-53356BCF9552}" type="pres">
      <dgm:prSet presAssocID="{E7B5B2D3-EB38-45DC-A7A8-426413D1BEE2}" presName="textA" presStyleLbl="revTx" presStyleIdx="2" presStyleCnt="4" custLinFactNeighborX="36495" custLinFactNeighborY="5102">
        <dgm:presLayoutVars>
          <dgm:bulletEnabled val="1"/>
        </dgm:presLayoutVars>
      </dgm:prSet>
      <dgm:spPr/>
    </dgm:pt>
    <dgm:pt modelId="{3C0DC766-CDB8-41C2-8942-292E87E7B7AA}" type="pres">
      <dgm:prSet presAssocID="{E7B5B2D3-EB38-45DC-A7A8-426413D1BEE2}" presName="circleA" presStyleLbl="node1" presStyleIdx="2" presStyleCnt="4" custLinFactX="100000" custLinFactNeighborX="105224" custLinFactNeighborY="-1020"/>
      <dgm:spPr/>
    </dgm:pt>
    <dgm:pt modelId="{FA494B9F-DE15-4FF4-82DF-3A0578F55E2F}" type="pres">
      <dgm:prSet presAssocID="{E7B5B2D3-EB38-45DC-A7A8-426413D1BEE2}" presName="spaceA" presStyleCnt="0"/>
      <dgm:spPr/>
    </dgm:pt>
    <dgm:pt modelId="{0CB1975B-37F0-42BB-B6BE-BE35CD0BB18A}" type="pres">
      <dgm:prSet presAssocID="{FBA85234-314D-4FEA-947F-0D5D5FF20AC4}" presName="space" presStyleCnt="0"/>
      <dgm:spPr/>
    </dgm:pt>
    <dgm:pt modelId="{18769DE5-0C68-414B-81D2-25AE174AD7E2}" type="pres">
      <dgm:prSet presAssocID="{4167D92C-C9C2-4AC2-83F3-18E5CD65FB3B}" presName="compositeB" presStyleCnt="0"/>
      <dgm:spPr/>
    </dgm:pt>
    <dgm:pt modelId="{9DB0485C-52A6-4D32-9ED1-61AF16C2A07D}" type="pres">
      <dgm:prSet presAssocID="{4167D92C-C9C2-4AC2-83F3-18E5CD65FB3B}" presName="textB" presStyleLbl="revTx" presStyleIdx="3" presStyleCnt="4">
        <dgm:presLayoutVars>
          <dgm:bulletEnabled val="1"/>
        </dgm:presLayoutVars>
      </dgm:prSet>
      <dgm:spPr/>
    </dgm:pt>
    <dgm:pt modelId="{896DFF9D-3572-4A9F-964A-FA6AECE917B9}" type="pres">
      <dgm:prSet presAssocID="{4167D92C-C9C2-4AC2-83F3-18E5CD65FB3B}" presName="circleB" presStyleLbl="node1" presStyleIdx="3" presStyleCnt="4"/>
      <dgm:spPr/>
    </dgm:pt>
    <dgm:pt modelId="{08E9BA64-A4CF-489C-96E7-75FE88741841}" type="pres">
      <dgm:prSet presAssocID="{4167D92C-C9C2-4AC2-83F3-18E5CD65FB3B}" presName="spaceB" presStyleCnt="0"/>
      <dgm:spPr/>
    </dgm:pt>
  </dgm:ptLst>
  <dgm:cxnLst>
    <dgm:cxn modelId="{3DD15D40-2435-465D-B41F-B3DAF7BF0D09}" type="presOf" srcId="{E7B5B2D3-EB38-45DC-A7A8-426413D1BEE2}" destId="{9203DA2D-6675-4089-A6C7-53356BCF9552}" srcOrd="0" destOrd="0" presId="urn:microsoft.com/office/officeart/2005/8/layout/hProcess11"/>
    <dgm:cxn modelId="{547A315E-64BF-48D9-B870-B0DAFB2F3085}" type="presOf" srcId="{6F4920E9-B627-4434-80F0-2907DBAE7CD8}" destId="{2822644E-A1E0-47B9-AB8E-280C6726CA46}" srcOrd="0" destOrd="0" presId="urn:microsoft.com/office/officeart/2005/8/layout/hProcess11"/>
    <dgm:cxn modelId="{8F30BF6F-ED1C-4850-989A-CF2D3A61AC2B}" srcId="{6F4920E9-B627-4434-80F0-2907DBAE7CD8}" destId="{E7B5B2D3-EB38-45DC-A7A8-426413D1BEE2}" srcOrd="2" destOrd="0" parTransId="{39AEBC3C-C8D9-443C-879D-20A1D534B4D7}" sibTransId="{FBA85234-314D-4FEA-947F-0D5D5FF20AC4}"/>
    <dgm:cxn modelId="{70CA6154-A9D4-454F-80F2-D1B203A7D8DC}" srcId="{6F4920E9-B627-4434-80F0-2907DBAE7CD8}" destId="{4167D92C-C9C2-4AC2-83F3-18E5CD65FB3B}" srcOrd="3" destOrd="0" parTransId="{2E8B34F2-5C85-4C4E-A4E3-785BFF8DD307}" sibTransId="{39E633BC-DB9B-47E9-AF04-F360DA97A5BC}"/>
    <dgm:cxn modelId="{26CECC8A-8FA8-435C-A80C-51A226C710EB}" srcId="{6F4920E9-B627-4434-80F0-2907DBAE7CD8}" destId="{5725B8BF-3FD9-459B-A884-4FADB1AD95C2}" srcOrd="0" destOrd="0" parTransId="{24466BC7-BC84-44C4-9017-2A98DB70A6FC}" sibTransId="{B9C086EB-24F4-4CEF-9A01-D3801B5E2D5F}"/>
    <dgm:cxn modelId="{EEC67393-7994-4E38-9AE5-264BF3E08E03}" type="presOf" srcId="{5725B8BF-3FD9-459B-A884-4FADB1AD95C2}" destId="{ED918D7C-3B55-4D76-8D4B-C117E8738D44}" srcOrd="0" destOrd="0" presId="urn:microsoft.com/office/officeart/2005/8/layout/hProcess11"/>
    <dgm:cxn modelId="{531C5F94-142C-4A4A-8613-5436E42DC44D}" srcId="{6F4920E9-B627-4434-80F0-2907DBAE7CD8}" destId="{FBB6FF1F-928B-4B62-AAE5-7E4CD13CBE32}" srcOrd="1" destOrd="0" parTransId="{4FA0D06D-1FA1-4815-981E-18E97ADA2D46}" sibTransId="{46810F03-AAF8-41A8-AA99-2C5ADA63EB34}"/>
    <dgm:cxn modelId="{BC6B5AA2-D7A9-43A6-B353-1856836E4151}" type="presOf" srcId="{FBB6FF1F-928B-4B62-AAE5-7E4CD13CBE32}" destId="{0BC1C417-75E1-4E61-A74D-D87B4982B54A}" srcOrd="0" destOrd="0" presId="urn:microsoft.com/office/officeart/2005/8/layout/hProcess11"/>
    <dgm:cxn modelId="{4D08DCFD-B710-4A26-8997-BFDD4323AF5E}" type="presOf" srcId="{4167D92C-C9C2-4AC2-83F3-18E5CD65FB3B}" destId="{9DB0485C-52A6-4D32-9ED1-61AF16C2A07D}" srcOrd="0" destOrd="0" presId="urn:microsoft.com/office/officeart/2005/8/layout/hProcess11"/>
    <dgm:cxn modelId="{1886328A-36DC-4F35-838F-C00D2D3AE714}" type="presParOf" srcId="{2822644E-A1E0-47B9-AB8E-280C6726CA46}" destId="{0E651D23-C406-4610-A099-5ED1E5D746BA}" srcOrd="0" destOrd="0" presId="urn:microsoft.com/office/officeart/2005/8/layout/hProcess11"/>
    <dgm:cxn modelId="{7B0434CC-40E8-4EE3-944F-1B20EFC81C98}" type="presParOf" srcId="{2822644E-A1E0-47B9-AB8E-280C6726CA46}" destId="{65F8B0BD-81E2-4B64-95BF-32CB09AF9C66}" srcOrd="1" destOrd="0" presId="urn:microsoft.com/office/officeart/2005/8/layout/hProcess11"/>
    <dgm:cxn modelId="{A3198907-039D-4FCC-9799-7DE3879C1A9A}" type="presParOf" srcId="{65F8B0BD-81E2-4B64-95BF-32CB09AF9C66}" destId="{906D7632-6309-4199-B82E-7CA61515403D}" srcOrd="0" destOrd="0" presId="urn:microsoft.com/office/officeart/2005/8/layout/hProcess11"/>
    <dgm:cxn modelId="{4D194D4C-D69C-46A4-813B-070639C9D24D}" type="presParOf" srcId="{906D7632-6309-4199-B82E-7CA61515403D}" destId="{ED918D7C-3B55-4D76-8D4B-C117E8738D44}" srcOrd="0" destOrd="0" presId="urn:microsoft.com/office/officeart/2005/8/layout/hProcess11"/>
    <dgm:cxn modelId="{2BBC2469-0885-41C4-99ED-15FD065D8809}" type="presParOf" srcId="{906D7632-6309-4199-B82E-7CA61515403D}" destId="{4E0B5ABD-4D85-4B39-98F2-DE08CDE1B9EC}" srcOrd="1" destOrd="0" presId="urn:microsoft.com/office/officeart/2005/8/layout/hProcess11"/>
    <dgm:cxn modelId="{003CB8B2-4E05-483A-B05A-3458535BFB40}" type="presParOf" srcId="{906D7632-6309-4199-B82E-7CA61515403D}" destId="{DA5BD86F-BDE0-45D2-9DCB-E824B7BAFF34}" srcOrd="2" destOrd="0" presId="urn:microsoft.com/office/officeart/2005/8/layout/hProcess11"/>
    <dgm:cxn modelId="{24A0B1EF-F7F4-46FC-9B69-0FCAA160514A}" type="presParOf" srcId="{65F8B0BD-81E2-4B64-95BF-32CB09AF9C66}" destId="{F6683C45-65D4-46D4-9221-93AC23FF993F}" srcOrd="1" destOrd="0" presId="urn:microsoft.com/office/officeart/2005/8/layout/hProcess11"/>
    <dgm:cxn modelId="{993892BF-8826-4311-A407-9F2E90112CF5}" type="presParOf" srcId="{65F8B0BD-81E2-4B64-95BF-32CB09AF9C66}" destId="{963EE542-B4AC-41A0-A437-C143220E7AD2}" srcOrd="2" destOrd="0" presId="urn:microsoft.com/office/officeart/2005/8/layout/hProcess11"/>
    <dgm:cxn modelId="{E2F855A4-7E62-4156-9367-A78B7D8D3F30}" type="presParOf" srcId="{963EE542-B4AC-41A0-A437-C143220E7AD2}" destId="{0BC1C417-75E1-4E61-A74D-D87B4982B54A}" srcOrd="0" destOrd="0" presId="urn:microsoft.com/office/officeart/2005/8/layout/hProcess11"/>
    <dgm:cxn modelId="{2B1AB893-1472-48F0-AF5A-DDAEEAB9E77B}" type="presParOf" srcId="{963EE542-B4AC-41A0-A437-C143220E7AD2}" destId="{01D444B0-E068-48E6-B237-09940E9DD73F}" srcOrd="1" destOrd="0" presId="urn:microsoft.com/office/officeart/2005/8/layout/hProcess11"/>
    <dgm:cxn modelId="{B5141775-4C4D-4DFF-886D-BA97BB2FCB66}" type="presParOf" srcId="{963EE542-B4AC-41A0-A437-C143220E7AD2}" destId="{48376884-7DA0-4243-89A7-6C6135978DB7}" srcOrd="2" destOrd="0" presId="urn:microsoft.com/office/officeart/2005/8/layout/hProcess11"/>
    <dgm:cxn modelId="{577886A9-029F-49BA-8214-E1A2A342ED42}" type="presParOf" srcId="{65F8B0BD-81E2-4B64-95BF-32CB09AF9C66}" destId="{8C3EBD59-04E8-472D-8E64-ACDFE0FB7B3C}" srcOrd="3" destOrd="0" presId="urn:microsoft.com/office/officeart/2005/8/layout/hProcess11"/>
    <dgm:cxn modelId="{C13E7BAA-3BEE-4D04-A824-04EBACD4964F}" type="presParOf" srcId="{65F8B0BD-81E2-4B64-95BF-32CB09AF9C66}" destId="{1DF5007A-677A-491B-A648-069C434CB48D}" srcOrd="4" destOrd="0" presId="urn:microsoft.com/office/officeart/2005/8/layout/hProcess11"/>
    <dgm:cxn modelId="{64205C8A-DCCB-4025-9FA8-C563D82F8136}" type="presParOf" srcId="{1DF5007A-677A-491B-A648-069C434CB48D}" destId="{9203DA2D-6675-4089-A6C7-53356BCF9552}" srcOrd="0" destOrd="0" presId="urn:microsoft.com/office/officeart/2005/8/layout/hProcess11"/>
    <dgm:cxn modelId="{3FFE64C9-4E8D-49F7-A179-780DFF60053B}" type="presParOf" srcId="{1DF5007A-677A-491B-A648-069C434CB48D}" destId="{3C0DC766-CDB8-41C2-8942-292E87E7B7AA}" srcOrd="1" destOrd="0" presId="urn:microsoft.com/office/officeart/2005/8/layout/hProcess11"/>
    <dgm:cxn modelId="{F187EBB4-E187-42B2-B47C-D6A5E0D8A844}" type="presParOf" srcId="{1DF5007A-677A-491B-A648-069C434CB48D}" destId="{FA494B9F-DE15-4FF4-82DF-3A0578F55E2F}" srcOrd="2" destOrd="0" presId="urn:microsoft.com/office/officeart/2005/8/layout/hProcess11"/>
    <dgm:cxn modelId="{71DDA49C-2A9A-452B-8733-3AA0CA325F23}" type="presParOf" srcId="{65F8B0BD-81E2-4B64-95BF-32CB09AF9C66}" destId="{0CB1975B-37F0-42BB-B6BE-BE35CD0BB18A}" srcOrd="5" destOrd="0" presId="urn:microsoft.com/office/officeart/2005/8/layout/hProcess11"/>
    <dgm:cxn modelId="{AF105094-5491-40FD-82CE-07210159BB1E}" type="presParOf" srcId="{65F8B0BD-81E2-4B64-95BF-32CB09AF9C66}" destId="{18769DE5-0C68-414B-81D2-25AE174AD7E2}" srcOrd="6" destOrd="0" presId="urn:microsoft.com/office/officeart/2005/8/layout/hProcess11"/>
    <dgm:cxn modelId="{55C633E7-BE19-4D53-8319-119243469571}" type="presParOf" srcId="{18769DE5-0C68-414B-81D2-25AE174AD7E2}" destId="{9DB0485C-52A6-4D32-9ED1-61AF16C2A07D}" srcOrd="0" destOrd="0" presId="urn:microsoft.com/office/officeart/2005/8/layout/hProcess11"/>
    <dgm:cxn modelId="{5A4AF48C-41F1-4D90-B006-E563F473D507}" type="presParOf" srcId="{18769DE5-0C68-414B-81D2-25AE174AD7E2}" destId="{896DFF9D-3572-4A9F-964A-FA6AECE917B9}" srcOrd="1" destOrd="0" presId="urn:microsoft.com/office/officeart/2005/8/layout/hProcess11"/>
    <dgm:cxn modelId="{FFA177A4-390A-4356-AFF7-C89A846AB93F}" type="presParOf" srcId="{18769DE5-0C68-414B-81D2-25AE174AD7E2}" destId="{08E9BA64-A4CF-489C-96E7-75FE88741841}"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83C027D-3B2A-490E-AC9D-65EAF484918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TW" altLang="en-US"/>
        </a:p>
      </dgm:t>
    </dgm:pt>
    <dgm:pt modelId="{990138A1-5A4D-4510-BBC5-2E2897748EB6}">
      <dgm:prSet phldrT="[文字]" custT="1"/>
      <dgm:spPr>
        <a:solidFill>
          <a:schemeClr val="accent1">
            <a:hueOff val="0"/>
            <a:satOff val="0"/>
            <a:lumOff val="0"/>
            <a:alpha val="77000"/>
          </a:schemeClr>
        </a:solidFill>
      </dgm:spPr>
      <dgm:t>
        <a:bodyPr/>
        <a:lstStyle/>
        <a:p>
          <a:r>
            <a:rPr lang="zh-TW" altLang="en-US" sz="1800" b="1" dirty="0">
              <a:solidFill>
                <a:schemeClr val="tx1"/>
              </a:solidFill>
              <a:latin typeface="微軟正黑體" panose="020B0604030504040204" pitchFamily="34" charset="-120"/>
              <a:ea typeface="微軟正黑體" panose="020B0604030504040204" pitchFamily="34" charset="-120"/>
            </a:rPr>
            <a:t>一般事項</a:t>
          </a:r>
          <a:r>
            <a:rPr lang="zh-TW" altLang="en-US" sz="1800" dirty="0">
              <a:solidFill>
                <a:schemeClr val="tx1"/>
              </a:solidFill>
              <a:latin typeface="微軟正黑體" panose="020B0604030504040204" pitchFamily="34" charset="-120"/>
              <a:ea typeface="微軟正黑體" panose="020B0604030504040204" pitchFamily="34" charset="-120"/>
            </a:rPr>
            <a:t>：依核准審定時之規定</a:t>
          </a:r>
        </a:p>
      </dgm:t>
    </dgm:pt>
    <dgm:pt modelId="{671E62D7-983A-482F-98BC-853A547F8095}" type="parTrans" cxnId="{6F94CE1F-DB7C-4646-A3DF-C1E72E48C93E}">
      <dgm:prSet/>
      <dgm:spPr/>
      <dgm:t>
        <a:bodyPr/>
        <a:lstStyle/>
        <a:p>
          <a:endParaRPr lang="zh-TW" altLang="en-US"/>
        </a:p>
      </dgm:t>
    </dgm:pt>
    <dgm:pt modelId="{F1F445A4-14EF-4351-9BC8-FFE2CA3EFA1B}" type="sibTrans" cxnId="{6F94CE1F-DB7C-4646-A3DF-C1E72E48C93E}">
      <dgm:prSet/>
      <dgm:spPr/>
      <dgm:t>
        <a:bodyPr/>
        <a:lstStyle/>
        <a:p>
          <a:endParaRPr lang="zh-TW" altLang="en-US"/>
        </a:p>
      </dgm:t>
    </dgm:pt>
    <dgm:pt modelId="{65136493-FCA8-429E-8C83-8CF5CDCAADB2}">
      <dgm:prSet phldrT="[文字]"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違反發明定義</a:t>
          </a:r>
          <a:r>
            <a:rPr lang="en-US" altLang="en-US" sz="1600" dirty="0">
              <a:solidFill>
                <a:schemeClr val="tx1"/>
              </a:solidFill>
              <a:latin typeface="微軟正黑體" panose="020B0604030504040204" pitchFamily="34" charset="-120"/>
              <a:ea typeface="微軟正黑體" panose="020B0604030504040204" pitchFamily="34" charset="-120"/>
            </a:rPr>
            <a:t>(§21)</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579F4462-FFD1-4553-AF7E-8FD0CAB22E0D}" type="parTrans" cxnId="{4857D0DA-55D0-4456-BFB4-D6CF5D3D5574}">
      <dgm:prSet/>
      <dgm:spPr/>
      <dgm:t>
        <a:bodyPr/>
        <a:lstStyle/>
        <a:p>
          <a:endParaRPr lang="zh-TW" altLang="en-US"/>
        </a:p>
      </dgm:t>
    </dgm:pt>
    <dgm:pt modelId="{7E467DFF-8A58-4032-91BF-2F87CFB0DCEA}" type="sibTrans" cxnId="{4857D0DA-55D0-4456-BFB4-D6CF5D3D5574}">
      <dgm:prSet/>
      <dgm:spPr/>
      <dgm:t>
        <a:bodyPr/>
        <a:lstStyle/>
        <a:p>
          <a:endParaRPr lang="zh-TW" altLang="en-US"/>
        </a:p>
      </dgm:t>
    </dgm:pt>
    <dgm:pt modelId="{23C67895-344E-4255-851D-44BC5E15E917}">
      <dgm:prSet phldrT="[文字]" custT="1">
        <dgm:style>
          <a:lnRef idx="1">
            <a:schemeClr val="accent3"/>
          </a:lnRef>
          <a:fillRef idx="2">
            <a:schemeClr val="accent3"/>
          </a:fillRef>
          <a:effectRef idx="1">
            <a:schemeClr val="accent3"/>
          </a:effectRef>
          <a:fontRef idx="minor">
            <a:schemeClr val="dk1"/>
          </a:fontRef>
        </dgm:style>
      </dgm:prSet>
      <dgm:spPr>
        <a:solidFill>
          <a:srgbClr val="92D050">
            <a:alpha val="48000"/>
          </a:srgbClr>
        </a:solidFill>
      </dgm:spPr>
      <dgm:t>
        <a:bodyPr/>
        <a:lstStyle/>
        <a:p>
          <a:r>
            <a:rPr lang="zh-TW" altLang="en-US" sz="1800" b="1" dirty="0">
              <a:solidFill>
                <a:schemeClr val="tx1"/>
              </a:solidFill>
              <a:latin typeface="微軟正黑體" panose="020B0604030504040204" pitchFamily="34" charset="-120"/>
              <a:ea typeface="微軟正黑體" panose="020B0604030504040204" pitchFamily="34" charset="-120"/>
            </a:rPr>
            <a:t>本質事項</a:t>
          </a:r>
          <a:r>
            <a:rPr lang="zh-TW" altLang="en-US" sz="1800" dirty="0">
              <a:solidFill>
                <a:schemeClr val="tx1"/>
              </a:solidFill>
              <a:latin typeface="微軟正黑體" panose="020B0604030504040204" pitchFamily="34" charset="-120"/>
              <a:ea typeface="微軟正黑體" panose="020B0604030504040204" pitchFamily="34" charset="-120"/>
            </a:rPr>
            <a:t>：依舉發時之規定</a:t>
          </a:r>
        </a:p>
      </dgm:t>
    </dgm:pt>
    <dgm:pt modelId="{CC32174B-A9FD-427F-945A-DB905D5054E1}" type="parTrans" cxnId="{FF5A176C-935F-4AB5-8FAF-4A3EB1999647}">
      <dgm:prSet/>
      <dgm:spPr/>
      <dgm:t>
        <a:bodyPr/>
        <a:lstStyle/>
        <a:p>
          <a:endParaRPr lang="zh-TW" altLang="en-US"/>
        </a:p>
      </dgm:t>
    </dgm:pt>
    <dgm:pt modelId="{6131E7F8-FC14-4602-AFA8-79C7A00166C3}" type="sibTrans" cxnId="{FF5A176C-935F-4AB5-8FAF-4A3EB1999647}">
      <dgm:prSet/>
      <dgm:spPr/>
      <dgm:t>
        <a:bodyPr/>
        <a:lstStyle/>
        <a:p>
          <a:endParaRPr lang="zh-TW" altLang="en-US"/>
        </a:p>
      </dgm:t>
    </dgm:pt>
    <dgm:pt modelId="{A6C9E148-F321-4F49-8DF6-8C40F4C3CCA3}">
      <dgm:prSet phldrT="[文字]" custT="1">
        <dgm:style>
          <a:lnRef idx="1">
            <a:schemeClr val="accent3"/>
          </a:lnRef>
          <a:fillRef idx="2">
            <a:schemeClr val="accent3"/>
          </a:fillRef>
          <a:effectRef idx="1">
            <a:schemeClr val="accent3"/>
          </a:effectRef>
          <a:fontRef idx="minor">
            <a:schemeClr val="dk1"/>
          </a:fontRef>
        </dgm:style>
      </dgm:prSet>
      <dgm:spPr/>
      <dgm:t>
        <a:bodyPr/>
        <a:lstStyle/>
        <a:p>
          <a:pPr>
            <a:lnSpc>
              <a:spcPts val="220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分割超出原申請案申請時揭露範圍</a:t>
          </a:r>
          <a:r>
            <a:rPr lang="en-US" altLang="en-US" sz="1600" dirty="0">
              <a:solidFill>
                <a:schemeClr val="tx1"/>
              </a:solidFill>
              <a:latin typeface="微軟正黑體" panose="020B0604030504040204" pitchFamily="34" charset="-120"/>
              <a:ea typeface="微軟正黑體" panose="020B0604030504040204" pitchFamily="34" charset="-120"/>
            </a:rPr>
            <a:t>(§34Ⅳ)</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72C0DDEF-435C-4116-9216-B306B6B54853}" type="parTrans" cxnId="{DA8723D9-2E9C-4190-BC0B-2CF47E58B8B8}">
      <dgm:prSet/>
      <dgm:spPr/>
      <dgm:t>
        <a:bodyPr/>
        <a:lstStyle/>
        <a:p>
          <a:endParaRPr lang="zh-TW" altLang="en-US"/>
        </a:p>
      </dgm:t>
    </dgm:pt>
    <dgm:pt modelId="{8DA9D66B-A37A-4D06-B388-E6F10C4F7D4F}" type="sibTrans" cxnId="{DA8723D9-2E9C-4190-BC0B-2CF47E58B8B8}">
      <dgm:prSet/>
      <dgm:spPr/>
      <dgm:t>
        <a:bodyPr/>
        <a:lstStyle/>
        <a:p>
          <a:endParaRPr lang="zh-TW" altLang="en-US"/>
        </a:p>
      </dgm:t>
    </dgm:pt>
    <dgm:pt modelId="{2922965D-41FF-4D6A-B315-D2E2B0688216}">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不具產業利用性、新穎性、進步性 </a:t>
          </a:r>
          <a:r>
            <a:rPr lang="en-US" altLang="en-US" sz="1600" dirty="0">
              <a:solidFill>
                <a:schemeClr val="tx1"/>
              </a:solidFill>
              <a:latin typeface="微軟正黑體" panose="020B0604030504040204" pitchFamily="34" charset="-120"/>
              <a:ea typeface="微軟正黑體" panose="020B0604030504040204" pitchFamily="34" charset="-120"/>
            </a:rPr>
            <a:t>(§22)</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748C89D3-5848-48AB-B43B-06B45AD5247C}" type="parTrans" cxnId="{A985D665-80E4-4BA2-A840-A2E8FE8549D7}">
      <dgm:prSet/>
      <dgm:spPr/>
      <dgm:t>
        <a:bodyPr/>
        <a:lstStyle/>
        <a:p>
          <a:endParaRPr lang="zh-TW" altLang="en-US"/>
        </a:p>
      </dgm:t>
    </dgm:pt>
    <dgm:pt modelId="{66DDDF57-86F4-4E8D-8206-0DB80B9B8C73}" type="sibTrans" cxnId="{A985D665-80E4-4BA2-A840-A2E8FE8549D7}">
      <dgm:prSet/>
      <dgm:spPr/>
      <dgm:t>
        <a:bodyPr/>
        <a:lstStyle/>
        <a:p>
          <a:endParaRPr lang="zh-TW" altLang="en-US"/>
        </a:p>
      </dgm:t>
    </dgm:pt>
    <dgm:pt modelId="{5C747F09-919B-4A8C-A814-7C2D6EA595D7}">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違反擬制喪失新穎性規定</a:t>
          </a:r>
          <a:r>
            <a:rPr lang="en-US" altLang="en-US" sz="1600" dirty="0">
              <a:solidFill>
                <a:schemeClr val="tx1"/>
              </a:solidFill>
              <a:latin typeface="微軟正黑體" panose="020B0604030504040204" pitchFamily="34" charset="-120"/>
              <a:ea typeface="微軟正黑體" panose="020B0604030504040204" pitchFamily="34" charset="-120"/>
            </a:rPr>
            <a:t>(§23)</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465CF55D-26C0-493F-99F1-28E93F72288C}" type="parTrans" cxnId="{EFF44207-E009-4F7A-8491-FCCB7D0ADC33}">
      <dgm:prSet/>
      <dgm:spPr/>
      <dgm:t>
        <a:bodyPr/>
        <a:lstStyle/>
        <a:p>
          <a:endParaRPr lang="zh-TW" altLang="en-US"/>
        </a:p>
      </dgm:t>
    </dgm:pt>
    <dgm:pt modelId="{F806F022-EE33-465F-B462-9B7DB362E54A}" type="sibTrans" cxnId="{EFF44207-E009-4F7A-8491-FCCB7D0ADC33}">
      <dgm:prSet/>
      <dgm:spPr/>
      <dgm:t>
        <a:bodyPr/>
        <a:lstStyle/>
        <a:p>
          <a:endParaRPr lang="zh-TW" altLang="en-US"/>
        </a:p>
      </dgm:t>
    </dgm:pt>
    <dgm:pt modelId="{926768D2-0416-4057-BE72-75D524BDD311}">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法定不予專利標的 </a:t>
          </a:r>
          <a:r>
            <a:rPr lang="en-US" altLang="en-US" sz="1600" dirty="0">
              <a:solidFill>
                <a:schemeClr val="tx1"/>
              </a:solidFill>
              <a:latin typeface="微軟正黑體" panose="020B0604030504040204" pitchFamily="34" charset="-120"/>
              <a:ea typeface="微軟正黑體" panose="020B0604030504040204" pitchFamily="34" charset="-120"/>
            </a:rPr>
            <a:t>(§24)</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7000F24D-3284-4BE3-9B79-CBE0A93235CB}" type="parTrans" cxnId="{87030F91-30D6-42D8-821D-974E6A280188}">
      <dgm:prSet/>
      <dgm:spPr/>
      <dgm:t>
        <a:bodyPr/>
        <a:lstStyle/>
        <a:p>
          <a:endParaRPr lang="zh-TW" altLang="en-US"/>
        </a:p>
      </dgm:t>
    </dgm:pt>
    <dgm:pt modelId="{8C9ADD5F-87E2-428E-8116-1431D8CD2229}" type="sibTrans" cxnId="{87030F91-30D6-42D8-821D-974E6A280188}">
      <dgm:prSet/>
      <dgm:spPr/>
      <dgm:t>
        <a:bodyPr/>
        <a:lstStyle/>
        <a:p>
          <a:endParaRPr lang="zh-TW" altLang="en-US"/>
        </a:p>
      </dgm:t>
    </dgm:pt>
    <dgm:pt modelId="{1EBCF8D5-11A1-4581-9941-CD9B28D91E97}">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違反充分揭露原則</a:t>
          </a:r>
          <a:r>
            <a:rPr lang="en-US" altLang="en-US" sz="1600" dirty="0">
              <a:solidFill>
                <a:schemeClr val="tx1"/>
              </a:solidFill>
              <a:latin typeface="微軟正黑體" panose="020B0604030504040204" pitchFamily="34" charset="-120"/>
              <a:ea typeface="微軟正黑體" panose="020B0604030504040204" pitchFamily="34" charset="-120"/>
            </a:rPr>
            <a:t>(§26)</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28D6712C-02F0-46D0-ACCB-49C4AA17C40C}" type="parTrans" cxnId="{7EC54965-39BC-4DE9-834B-F5BAAB1EACBE}">
      <dgm:prSet/>
      <dgm:spPr/>
      <dgm:t>
        <a:bodyPr/>
        <a:lstStyle/>
        <a:p>
          <a:endParaRPr lang="zh-TW" altLang="en-US"/>
        </a:p>
      </dgm:t>
    </dgm:pt>
    <dgm:pt modelId="{1C4198E2-AC33-4111-BFE4-260B6EB1CB0D}" type="sibTrans" cxnId="{7EC54965-39BC-4DE9-834B-F5BAAB1EACBE}">
      <dgm:prSet/>
      <dgm:spPr/>
      <dgm:t>
        <a:bodyPr/>
        <a:lstStyle/>
        <a:p>
          <a:endParaRPr lang="zh-TW" altLang="en-US"/>
        </a:p>
      </dgm:t>
    </dgm:pt>
    <dgm:pt modelId="{01BD98EE-8AD4-48C7-A6A6-7B18C46CFDD5}">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違反先申請原則</a:t>
          </a:r>
          <a:r>
            <a:rPr lang="en-US" altLang="en-US" sz="1600" dirty="0">
              <a:solidFill>
                <a:schemeClr val="tx1"/>
              </a:solidFill>
              <a:latin typeface="微軟正黑體" panose="020B0604030504040204" pitchFamily="34" charset="-120"/>
              <a:ea typeface="微軟正黑體" panose="020B0604030504040204" pitchFamily="34" charset="-120"/>
            </a:rPr>
            <a:t>(§31)</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FF7ABA26-2AE2-4AA8-8CF0-B405DCC938B4}" type="parTrans" cxnId="{158584BF-8275-46A6-AE43-6A76E36C85C0}">
      <dgm:prSet/>
      <dgm:spPr/>
      <dgm:t>
        <a:bodyPr/>
        <a:lstStyle/>
        <a:p>
          <a:endParaRPr lang="zh-TW" altLang="en-US"/>
        </a:p>
      </dgm:t>
    </dgm:pt>
    <dgm:pt modelId="{53D63FD1-4A63-4CD7-91BF-577AE4FDFA4B}" type="sibTrans" cxnId="{158584BF-8275-46A6-AE43-6A76E36C85C0}">
      <dgm:prSet/>
      <dgm:spPr/>
      <dgm:t>
        <a:bodyPr/>
        <a:lstStyle/>
        <a:p>
          <a:endParaRPr lang="zh-TW" altLang="en-US"/>
        </a:p>
      </dgm:t>
    </dgm:pt>
    <dgm:pt modelId="{5F06CEAE-F8C5-4E15-8E77-589EC5448041}">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違反一案兩請規定</a:t>
          </a:r>
          <a:r>
            <a:rPr lang="en-US" altLang="en-US" sz="1600" dirty="0">
              <a:solidFill>
                <a:schemeClr val="tx1"/>
              </a:solidFill>
              <a:latin typeface="微軟正黑體" panose="020B0604030504040204" pitchFamily="34" charset="-120"/>
              <a:ea typeface="微軟正黑體" panose="020B0604030504040204" pitchFamily="34" charset="-120"/>
            </a:rPr>
            <a:t>(§32I</a:t>
          </a:r>
          <a:r>
            <a:rPr lang="zh-TW" altLang="en-US" sz="1600" dirty="0">
              <a:solidFill>
                <a:schemeClr val="tx1"/>
              </a:solidFill>
              <a:latin typeface="微軟正黑體" panose="020B0604030504040204" pitchFamily="34" charset="-120"/>
              <a:ea typeface="微軟正黑體" panose="020B0604030504040204" pitchFamily="34" charset="-120"/>
            </a:rPr>
            <a:t>、</a:t>
          </a:r>
          <a:r>
            <a:rPr lang="en-US" altLang="en-US" sz="1600" dirty="0">
              <a:solidFill>
                <a:schemeClr val="tx1"/>
              </a:solidFill>
              <a:latin typeface="微軟正黑體" panose="020B0604030504040204" pitchFamily="34" charset="-120"/>
              <a:ea typeface="微軟正黑體" panose="020B0604030504040204" pitchFamily="34" charset="-120"/>
            </a:rPr>
            <a:t>III)</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13192743-05CB-4C20-8203-3B0610695602}" type="parTrans" cxnId="{7A3ED482-876E-41B5-8000-B142AB034E9D}">
      <dgm:prSet/>
      <dgm:spPr/>
      <dgm:t>
        <a:bodyPr/>
        <a:lstStyle/>
        <a:p>
          <a:endParaRPr lang="zh-TW" altLang="en-US"/>
        </a:p>
      </dgm:t>
    </dgm:pt>
    <dgm:pt modelId="{8855F72C-4D94-4274-AFD3-742EBB343E99}" type="sibTrans" cxnId="{7A3ED482-876E-41B5-8000-B142AB034E9D}">
      <dgm:prSet/>
      <dgm:spPr/>
      <dgm:t>
        <a:bodyPr/>
        <a:lstStyle/>
        <a:p>
          <a:endParaRPr lang="zh-TW" altLang="en-US"/>
        </a:p>
      </dgm:t>
    </dgm:pt>
    <dgm:pt modelId="{87E07BA0-758E-4296-9482-11965E6EF42A}">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中文本超出外文本揭露之範圍</a:t>
          </a:r>
          <a:r>
            <a:rPr lang="en-US" altLang="en-US" sz="1600" dirty="0">
              <a:solidFill>
                <a:schemeClr val="tx1"/>
              </a:solidFill>
              <a:latin typeface="微軟正黑體" panose="020B0604030504040204" pitchFamily="34" charset="-120"/>
              <a:ea typeface="微軟正黑體" panose="020B0604030504040204" pitchFamily="34" charset="-120"/>
            </a:rPr>
            <a:t>(§44II)</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6FDB56E6-8365-45ED-81A7-83A130841DB1}" type="parTrans" cxnId="{D50AE6AF-3DF9-4A57-946B-1AD3E9FC23A6}">
      <dgm:prSet/>
      <dgm:spPr/>
      <dgm:t>
        <a:bodyPr/>
        <a:lstStyle/>
        <a:p>
          <a:endParaRPr lang="zh-TW" altLang="en-US"/>
        </a:p>
      </dgm:t>
    </dgm:pt>
    <dgm:pt modelId="{4AE3083A-712F-48B2-972C-3EA386E72119}" type="sibTrans" cxnId="{D50AE6AF-3DF9-4A57-946B-1AD3E9FC23A6}">
      <dgm:prSet/>
      <dgm:spPr/>
      <dgm:t>
        <a:bodyPr/>
        <a:lstStyle/>
        <a:p>
          <a:endParaRPr lang="zh-TW" altLang="en-US"/>
        </a:p>
      </dgm:t>
    </dgm:pt>
    <dgm:pt modelId="{D149F5D4-B1F0-4165-8FFF-EFBED9AADA29}">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中文本之誤譯訂正超出外文本揭露之範圍</a:t>
          </a:r>
          <a:r>
            <a:rPr lang="en-US" altLang="en-US" sz="1600" dirty="0">
              <a:solidFill>
                <a:schemeClr val="tx1"/>
              </a:solidFill>
              <a:latin typeface="微軟正黑體" panose="020B0604030504040204" pitchFamily="34" charset="-120"/>
              <a:ea typeface="微軟正黑體" panose="020B0604030504040204" pitchFamily="34" charset="-120"/>
            </a:rPr>
            <a:t>(</a:t>
          </a:r>
          <a:r>
            <a:rPr lang="zh-TW" altLang="en-US" sz="1600" dirty="0">
              <a:solidFill>
                <a:schemeClr val="tx1"/>
              </a:solidFill>
              <a:latin typeface="微軟正黑體" panose="020B0604030504040204" pitchFamily="34" charset="-120"/>
              <a:ea typeface="微軟正黑體" panose="020B0604030504040204" pitchFamily="34" charset="-120"/>
            </a:rPr>
            <a:t>原審定：</a:t>
          </a:r>
          <a:r>
            <a:rPr lang="en-US" altLang="en-US" sz="1600" dirty="0">
              <a:solidFill>
                <a:schemeClr val="tx1"/>
              </a:solidFill>
              <a:latin typeface="微軟正黑體" panose="020B0604030504040204" pitchFamily="34" charset="-120"/>
              <a:ea typeface="微軟正黑體" panose="020B0604030504040204" pitchFamily="34" charset="-120"/>
            </a:rPr>
            <a:t>§44III</a:t>
          </a:r>
          <a:r>
            <a:rPr lang="zh-TW" altLang="en-US" sz="1600" dirty="0">
              <a:solidFill>
                <a:schemeClr val="tx1"/>
              </a:solidFill>
              <a:latin typeface="微軟正黑體" panose="020B0604030504040204" pitchFamily="34" charset="-120"/>
              <a:ea typeface="微軟正黑體" panose="020B0604030504040204" pitchFamily="34" charset="-120"/>
            </a:rPr>
            <a:t>；更正階段：</a:t>
          </a:r>
          <a:r>
            <a:rPr lang="en-US" altLang="en-US" sz="1600" dirty="0">
              <a:solidFill>
                <a:schemeClr val="tx1"/>
              </a:solidFill>
              <a:latin typeface="微軟正黑體" panose="020B0604030504040204" pitchFamily="34" charset="-120"/>
              <a:ea typeface="微軟正黑體" panose="020B0604030504040204" pitchFamily="34" charset="-120"/>
            </a:rPr>
            <a:t>§67III)</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6C1377A5-7CE9-4703-AF84-00D112DA17B6}" type="parTrans" cxnId="{554404E1-C533-4581-9FD8-46F3086C806A}">
      <dgm:prSet/>
      <dgm:spPr/>
      <dgm:t>
        <a:bodyPr/>
        <a:lstStyle/>
        <a:p>
          <a:endParaRPr lang="zh-TW" altLang="en-US"/>
        </a:p>
      </dgm:t>
    </dgm:pt>
    <dgm:pt modelId="{9597FD1A-4BCB-4DBB-908F-6AA2B10B77D0}" type="sibTrans" cxnId="{554404E1-C533-4581-9FD8-46F3086C806A}">
      <dgm:prSet/>
      <dgm:spPr/>
      <dgm:t>
        <a:bodyPr/>
        <a:lstStyle/>
        <a:p>
          <a:endParaRPr lang="zh-TW" altLang="en-US"/>
        </a:p>
      </dgm:t>
    </dgm:pt>
    <dgm:pt modelId="{080EB717-E597-43A2-B4F4-CF4483686F01}">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專利權人所屬國家對我國國民申請專利不予受理者</a:t>
          </a:r>
        </a:p>
      </dgm:t>
    </dgm:pt>
    <dgm:pt modelId="{8E5D3FC8-CC13-4374-AECA-6666C00D4D6F}" type="parTrans" cxnId="{C913DC9B-E721-4BE4-A3DF-C55EE59F6FA6}">
      <dgm:prSet/>
      <dgm:spPr/>
      <dgm:t>
        <a:bodyPr/>
        <a:lstStyle/>
        <a:p>
          <a:endParaRPr lang="zh-TW" altLang="en-US"/>
        </a:p>
      </dgm:t>
    </dgm:pt>
    <dgm:pt modelId="{4A225173-9C95-4BDA-9B73-F040E589877E}" type="sibTrans" cxnId="{C913DC9B-E721-4BE4-A3DF-C55EE59F6FA6}">
      <dgm:prSet/>
      <dgm:spPr/>
      <dgm:t>
        <a:bodyPr/>
        <a:lstStyle/>
        <a:p>
          <a:endParaRPr lang="zh-TW" altLang="en-US"/>
        </a:p>
      </dgm:t>
    </dgm:pt>
    <dgm:pt modelId="{B42DC5CD-66FF-4CDF-83C1-9BBEF5A6F04B}">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非由全體共有人提出申請</a:t>
          </a:r>
          <a:r>
            <a:rPr lang="en-US" altLang="en-US" sz="1600" dirty="0">
              <a:solidFill>
                <a:schemeClr val="tx1"/>
              </a:solidFill>
              <a:latin typeface="微軟正黑體" panose="020B0604030504040204" pitchFamily="34" charset="-120"/>
              <a:ea typeface="微軟正黑體" panose="020B0604030504040204" pitchFamily="34" charset="-120"/>
            </a:rPr>
            <a:t>(§12)</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34357BD7-4638-4EE7-B6C1-9CE56B339C1A}" type="parTrans" cxnId="{44AFE50D-9383-41D8-916B-DE2BE3A5632E}">
      <dgm:prSet/>
      <dgm:spPr/>
      <dgm:t>
        <a:bodyPr/>
        <a:lstStyle/>
        <a:p>
          <a:endParaRPr lang="zh-TW" altLang="en-US"/>
        </a:p>
      </dgm:t>
    </dgm:pt>
    <dgm:pt modelId="{BFAEA2ED-2FD7-4761-B75F-F65AEB2AC8C3}" type="sibTrans" cxnId="{44AFE50D-9383-41D8-916B-DE2BE3A5632E}">
      <dgm:prSet/>
      <dgm:spPr/>
      <dgm:t>
        <a:bodyPr/>
        <a:lstStyle/>
        <a:p>
          <a:endParaRPr lang="zh-TW" altLang="en-US"/>
        </a:p>
      </dgm:t>
    </dgm:pt>
    <dgm:pt modelId="{3CAD8461-519F-415D-91D0-EF80FF8DC827}">
      <dgm:prSet custT="1"/>
      <dgm:spPr/>
      <dgm:t>
        <a:bodyPr/>
        <a:lstStyle/>
        <a:p>
          <a:pPr>
            <a:lnSpc>
              <a:spcPts val="216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專利權人為非專利真正申請權人</a:t>
          </a:r>
        </a:p>
      </dgm:t>
    </dgm:pt>
    <dgm:pt modelId="{83E059CD-4748-4E40-84E2-8763FB826BE7}" type="parTrans" cxnId="{84D184E7-5F90-472A-A417-28F9ECB9F30A}">
      <dgm:prSet/>
      <dgm:spPr/>
      <dgm:t>
        <a:bodyPr/>
        <a:lstStyle/>
        <a:p>
          <a:endParaRPr lang="zh-TW" altLang="en-US"/>
        </a:p>
      </dgm:t>
    </dgm:pt>
    <dgm:pt modelId="{E786CEAD-0B81-442F-BC25-2CA4843E8C29}" type="sibTrans" cxnId="{84D184E7-5F90-472A-A417-28F9ECB9F30A}">
      <dgm:prSet/>
      <dgm:spPr/>
      <dgm:t>
        <a:bodyPr/>
        <a:lstStyle/>
        <a:p>
          <a:endParaRPr lang="zh-TW" altLang="en-US"/>
        </a:p>
      </dgm:t>
    </dgm:pt>
    <dgm:pt modelId="{5496FC00-BB1F-4789-8231-557AE8BEBC91}">
      <dgm:prSet custT="1">
        <dgm:style>
          <a:lnRef idx="1">
            <a:schemeClr val="accent3"/>
          </a:lnRef>
          <a:fillRef idx="2">
            <a:schemeClr val="accent3"/>
          </a:fillRef>
          <a:effectRef idx="1">
            <a:schemeClr val="accent3"/>
          </a:effectRef>
          <a:fontRef idx="minor">
            <a:schemeClr val="dk1"/>
          </a:fontRef>
        </dgm:style>
      </dgm:prSet>
      <dgm:spPr/>
      <dgm:t>
        <a:bodyPr/>
        <a:lstStyle/>
        <a:p>
          <a:pPr>
            <a:lnSpc>
              <a:spcPts val="220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違反應與原申請案核准審定之請求項非屬相同發明</a:t>
          </a:r>
          <a:r>
            <a:rPr lang="en-US" altLang="en-US" sz="1600" dirty="0">
              <a:solidFill>
                <a:schemeClr val="tx1"/>
              </a:solidFill>
              <a:latin typeface="微軟正黑體" panose="020B0604030504040204" pitchFamily="34" charset="-120"/>
              <a:ea typeface="微軟正黑體" panose="020B0604030504040204" pitchFamily="34" charset="-120"/>
            </a:rPr>
            <a:t>(§34VI</a:t>
          </a:r>
          <a:r>
            <a:rPr lang="zh-TW" altLang="en-US" sz="1600" dirty="0">
              <a:solidFill>
                <a:schemeClr val="tx1"/>
              </a:solidFill>
              <a:latin typeface="微軟正黑體" panose="020B0604030504040204" pitchFamily="34" charset="-120"/>
              <a:ea typeface="微軟正黑體" panose="020B0604030504040204" pitchFamily="34" charset="-120"/>
            </a:rPr>
            <a:t>前段</a:t>
          </a:r>
          <a:r>
            <a:rPr lang="en-US" altLang="en-US" sz="1600" dirty="0">
              <a:solidFill>
                <a:schemeClr val="tx1"/>
              </a:solidFill>
              <a:latin typeface="微軟正黑體" panose="020B0604030504040204" pitchFamily="34" charset="-120"/>
              <a:ea typeface="微軟正黑體" panose="020B0604030504040204" pitchFamily="34" charset="-120"/>
            </a:rPr>
            <a:t>)</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077B2E34-0F8C-4229-A280-A1769EC77973}" type="parTrans" cxnId="{DBDF8709-1548-418E-A3CF-2D25700F4DBF}">
      <dgm:prSet/>
      <dgm:spPr/>
      <dgm:t>
        <a:bodyPr/>
        <a:lstStyle/>
        <a:p>
          <a:endParaRPr lang="zh-TW" altLang="en-US"/>
        </a:p>
      </dgm:t>
    </dgm:pt>
    <dgm:pt modelId="{5BB68883-83AB-45E7-8393-C8562A6ACC43}" type="sibTrans" cxnId="{DBDF8709-1548-418E-A3CF-2D25700F4DBF}">
      <dgm:prSet/>
      <dgm:spPr/>
      <dgm:t>
        <a:bodyPr/>
        <a:lstStyle/>
        <a:p>
          <a:endParaRPr lang="zh-TW" altLang="en-US"/>
        </a:p>
      </dgm:t>
    </dgm:pt>
    <dgm:pt modelId="{0177B24C-2775-4B54-B399-8D0FC0CAD95C}">
      <dgm:prSet custT="1">
        <dgm:style>
          <a:lnRef idx="1">
            <a:schemeClr val="accent3"/>
          </a:lnRef>
          <a:fillRef idx="2">
            <a:schemeClr val="accent3"/>
          </a:fillRef>
          <a:effectRef idx="1">
            <a:schemeClr val="accent3"/>
          </a:effectRef>
          <a:fontRef idx="minor">
            <a:schemeClr val="dk1"/>
          </a:fontRef>
        </dgm:style>
      </dgm:prSet>
      <dgm:spPr/>
      <dgm:t>
        <a:bodyPr/>
        <a:lstStyle/>
        <a:p>
          <a:pPr>
            <a:lnSpc>
              <a:spcPts val="220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修正超出申請時揭露範圍 </a:t>
          </a:r>
          <a:r>
            <a:rPr lang="en-US" altLang="en-US" sz="1600" dirty="0">
              <a:solidFill>
                <a:schemeClr val="tx1"/>
              </a:solidFill>
              <a:latin typeface="微軟正黑體" panose="020B0604030504040204" pitchFamily="34" charset="-120"/>
              <a:ea typeface="微軟正黑體" panose="020B0604030504040204" pitchFamily="34" charset="-120"/>
            </a:rPr>
            <a:t>(§43II)</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378910C4-AF59-4AAD-84A9-234DD23738F9}" type="parTrans" cxnId="{C4162E39-1194-48D6-A7A5-61C7F1C8B212}">
      <dgm:prSet/>
      <dgm:spPr/>
      <dgm:t>
        <a:bodyPr/>
        <a:lstStyle/>
        <a:p>
          <a:endParaRPr lang="zh-TW" altLang="en-US"/>
        </a:p>
      </dgm:t>
    </dgm:pt>
    <dgm:pt modelId="{03C89651-DE92-4677-B1D1-379B2B45A017}" type="sibTrans" cxnId="{C4162E39-1194-48D6-A7A5-61C7F1C8B212}">
      <dgm:prSet/>
      <dgm:spPr/>
      <dgm:t>
        <a:bodyPr/>
        <a:lstStyle/>
        <a:p>
          <a:endParaRPr lang="zh-TW" altLang="en-US"/>
        </a:p>
      </dgm:t>
    </dgm:pt>
    <dgm:pt modelId="{48B6EDA1-F2A1-4416-BB29-4BC0AA4FF860}">
      <dgm:prSet custT="1">
        <dgm:style>
          <a:lnRef idx="1">
            <a:schemeClr val="accent3"/>
          </a:lnRef>
          <a:fillRef idx="2">
            <a:schemeClr val="accent3"/>
          </a:fillRef>
          <a:effectRef idx="1">
            <a:schemeClr val="accent3"/>
          </a:effectRef>
          <a:fontRef idx="minor">
            <a:schemeClr val="dk1"/>
          </a:fontRef>
        </dgm:style>
      </dgm:prSet>
      <dgm:spPr/>
      <dgm:t>
        <a:bodyPr/>
        <a:lstStyle/>
        <a:p>
          <a:pPr>
            <a:lnSpc>
              <a:spcPts val="220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更正超出申請時揭露之範圍</a:t>
          </a:r>
          <a:r>
            <a:rPr lang="en-US" altLang="en-US" sz="1600" dirty="0">
              <a:solidFill>
                <a:schemeClr val="tx1"/>
              </a:solidFill>
              <a:latin typeface="微軟正黑體" panose="020B0604030504040204" pitchFamily="34" charset="-120"/>
              <a:ea typeface="微軟正黑體" panose="020B0604030504040204" pitchFamily="34" charset="-120"/>
            </a:rPr>
            <a:t>(§67II)</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3BCB999B-9CFB-498B-A880-4EE92E6D3017}" type="parTrans" cxnId="{6DF5BAF3-16A9-4FDA-87E1-662D45FC86A2}">
      <dgm:prSet/>
      <dgm:spPr/>
      <dgm:t>
        <a:bodyPr/>
        <a:lstStyle/>
        <a:p>
          <a:endParaRPr lang="zh-TW" altLang="en-US"/>
        </a:p>
      </dgm:t>
    </dgm:pt>
    <dgm:pt modelId="{E560B92C-58B8-4C36-AE70-461EA9716034}" type="sibTrans" cxnId="{6DF5BAF3-16A9-4FDA-87E1-662D45FC86A2}">
      <dgm:prSet/>
      <dgm:spPr/>
      <dgm:t>
        <a:bodyPr/>
        <a:lstStyle/>
        <a:p>
          <a:endParaRPr lang="zh-TW" altLang="en-US"/>
        </a:p>
      </dgm:t>
    </dgm:pt>
    <dgm:pt modelId="{83FD1D99-B233-4B98-BC94-51C9294674CE}">
      <dgm:prSet custT="1">
        <dgm:style>
          <a:lnRef idx="1">
            <a:schemeClr val="accent3"/>
          </a:lnRef>
          <a:fillRef idx="2">
            <a:schemeClr val="accent3"/>
          </a:fillRef>
          <a:effectRef idx="1">
            <a:schemeClr val="accent3"/>
          </a:effectRef>
          <a:fontRef idx="minor">
            <a:schemeClr val="dk1"/>
          </a:fontRef>
        </dgm:style>
      </dgm:prSet>
      <dgm:spPr/>
      <dgm:t>
        <a:bodyPr/>
        <a:lstStyle/>
        <a:p>
          <a:pPr>
            <a:lnSpc>
              <a:spcPts val="220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更正實質擴大或變更公告時之申請專利範圍</a:t>
          </a:r>
          <a:r>
            <a:rPr lang="en-US" altLang="en-US" sz="1600" dirty="0">
              <a:solidFill>
                <a:schemeClr val="tx1"/>
              </a:solidFill>
              <a:latin typeface="微軟正黑體" panose="020B0604030504040204" pitchFamily="34" charset="-120"/>
              <a:ea typeface="微軟正黑體" panose="020B0604030504040204" pitchFamily="34" charset="-120"/>
            </a:rPr>
            <a:t>(§67IV)</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32506B6E-0F8B-4686-8341-987EACDE08E2}" type="parTrans" cxnId="{A43E886C-383F-487E-B5D3-7AC52E086B1B}">
      <dgm:prSet/>
      <dgm:spPr/>
      <dgm:t>
        <a:bodyPr/>
        <a:lstStyle/>
        <a:p>
          <a:endParaRPr lang="zh-TW" altLang="en-US"/>
        </a:p>
      </dgm:t>
    </dgm:pt>
    <dgm:pt modelId="{BE40E74E-A6EF-485A-9A42-149FCC652965}" type="sibTrans" cxnId="{A43E886C-383F-487E-B5D3-7AC52E086B1B}">
      <dgm:prSet/>
      <dgm:spPr/>
      <dgm:t>
        <a:bodyPr/>
        <a:lstStyle/>
        <a:p>
          <a:endParaRPr lang="zh-TW" altLang="en-US"/>
        </a:p>
      </dgm:t>
    </dgm:pt>
    <dgm:pt modelId="{F3414B85-0425-4336-AA7A-DF923989B346}">
      <dgm:prSet custT="1">
        <dgm:style>
          <a:lnRef idx="1">
            <a:schemeClr val="accent3"/>
          </a:lnRef>
          <a:fillRef idx="2">
            <a:schemeClr val="accent3"/>
          </a:fillRef>
          <a:effectRef idx="1">
            <a:schemeClr val="accent3"/>
          </a:effectRef>
          <a:fontRef idx="minor">
            <a:schemeClr val="dk1"/>
          </a:fontRef>
        </dgm:style>
      </dgm:prSet>
      <dgm:spPr/>
      <dgm:t>
        <a:bodyPr/>
        <a:lstStyle/>
        <a:p>
          <a:pPr>
            <a:lnSpc>
              <a:spcPts val="2200"/>
            </a:lnSpc>
            <a:spcAft>
              <a:spcPts val="0"/>
            </a:spcAft>
          </a:pPr>
          <a:r>
            <a:rPr lang="zh-TW" altLang="en-US" sz="1600" dirty="0">
              <a:solidFill>
                <a:schemeClr val="tx1"/>
              </a:solidFill>
              <a:latin typeface="微軟正黑體" panose="020B0604030504040204" pitchFamily="34" charset="-120"/>
              <a:ea typeface="微軟正黑體" panose="020B0604030504040204" pitchFamily="34" charset="-120"/>
            </a:rPr>
            <a:t>改請超出原申請案申請時揭露範圍</a:t>
          </a:r>
          <a:r>
            <a:rPr lang="en-US" altLang="en-US" sz="1600" dirty="0">
              <a:solidFill>
                <a:schemeClr val="tx1"/>
              </a:solidFill>
              <a:latin typeface="微軟正黑體" panose="020B0604030504040204" pitchFamily="34" charset="-120"/>
              <a:ea typeface="微軟正黑體" panose="020B0604030504040204" pitchFamily="34" charset="-120"/>
            </a:rPr>
            <a:t>(108Ⅲ)</a:t>
          </a:r>
          <a:endParaRPr lang="zh-TW" altLang="en-US" sz="1600" dirty="0">
            <a:solidFill>
              <a:schemeClr val="tx1"/>
            </a:solidFill>
            <a:latin typeface="微軟正黑體" panose="020B0604030504040204" pitchFamily="34" charset="-120"/>
            <a:ea typeface="微軟正黑體" panose="020B0604030504040204" pitchFamily="34" charset="-120"/>
          </a:endParaRPr>
        </a:p>
      </dgm:t>
    </dgm:pt>
    <dgm:pt modelId="{D885C00E-D55E-4C34-AA13-BA5148A19D9C}" type="parTrans" cxnId="{3DC4275C-17EF-403F-A575-7318A5F1A726}">
      <dgm:prSet/>
      <dgm:spPr/>
      <dgm:t>
        <a:bodyPr/>
        <a:lstStyle/>
        <a:p>
          <a:endParaRPr lang="zh-TW" altLang="en-US"/>
        </a:p>
      </dgm:t>
    </dgm:pt>
    <dgm:pt modelId="{E0AA4186-5F7C-481C-9308-B48D47194F36}" type="sibTrans" cxnId="{3DC4275C-17EF-403F-A575-7318A5F1A726}">
      <dgm:prSet/>
      <dgm:spPr/>
      <dgm:t>
        <a:bodyPr/>
        <a:lstStyle/>
        <a:p>
          <a:endParaRPr lang="zh-TW" altLang="en-US"/>
        </a:p>
      </dgm:t>
    </dgm:pt>
    <dgm:pt modelId="{352545AC-DC97-4523-A48C-42B53AEA6CF3}" type="pres">
      <dgm:prSet presAssocID="{783C027D-3B2A-490E-AC9D-65EAF484918B}" presName="Name0" presStyleCnt="0">
        <dgm:presLayoutVars>
          <dgm:dir/>
          <dgm:animLvl val="lvl"/>
          <dgm:resizeHandles val="exact"/>
        </dgm:presLayoutVars>
      </dgm:prSet>
      <dgm:spPr/>
    </dgm:pt>
    <dgm:pt modelId="{1ABC249A-426E-4292-AA23-86C2413E68AD}" type="pres">
      <dgm:prSet presAssocID="{990138A1-5A4D-4510-BBC5-2E2897748EB6}" presName="linNode" presStyleCnt="0"/>
      <dgm:spPr/>
    </dgm:pt>
    <dgm:pt modelId="{89CA6D0C-A37D-4007-B667-AC8FC9C88616}" type="pres">
      <dgm:prSet presAssocID="{990138A1-5A4D-4510-BBC5-2E2897748EB6}" presName="parentText" presStyleLbl="node1" presStyleIdx="0" presStyleCnt="2" custScaleX="58725" custScaleY="36543" custLinFactNeighborX="-519" custLinFactNeighborY="-30051">
        <dgm:presLayoutVars>
          <dgm:chMax val="1"/>
          <dgm:bulletEnabled val="1"/>
        </dgm:presLayoutVars>
      </dgm:prSet>
      <dgm:spPr/>
    </dgm:pt>
    <dgm:pt modelId="{DE5257D3-27E2-436D-9FA5-D5D3D8662406}" type="pres">
      <dgm:prSet presAssocID="{990138A1-5A4D-4510-BBC5-2E2897748EB6}" presName="descendantText" presStyleLbl="alignAccFollowNode1" presStyleIdx="0" presStyleCnt="2" custScaleX="120685" custScaleY="120717" custLinFactNeighborX="1090" custLinFactNeighborY="-45">
        <dgm:presLayoutVars>
          <dgm:bulletEnabled val="1"/>
        </dgm:presLayoutVars>
      </dgm:prSet>
      <dgm:spPr/>
    </dgm:pt>
    <dgm:pt modelId="{7D229C1B-A1E8-48F6-9815-088A91336C31}" type="pres">
      <dgm:prSet presAssocID="{F1F445A4-14EF-4351-9BC8-FFE2CA3EFA1B}" presName="sp" presStyleCnt="0"/>
      <dgm:spPr/>
    </dgm:pt>
    <dgm:pt modelId="{1FC97844-7063-4744-A680-61DBFE08EA64}" type="pres">
      <dgm:prSet presAssocID="{23C67895-344E-4255-851D-44BC5E15E917}" presName="linNode" presStyleCnt="0"/>
      <dgm:spPr/>
    </dgm:pt>
    <dgm:pt modelId="{BEBC9861-1B72-40FF-8A4D-35BFA5A1102E}" type="pres">
      <dgm:prSet presAssocID="{23C67895-344E-4255-851D-44BC5E15E917}" presName="parentText" presStyleLbl="node1" presStyleIdx="1" presStyleCnt="2" custScaleX="58248" custScaleY="32594" custLinFactNeighborX="-1922" custLinFactNeighborY="-9206">
        <dgm:presLayoutVars>
          <dgm:chMax val="1"/>
          <dgm:bulletEnabled val="1"/>
        </dgm:presLayoutVars>
      </dgm:prSet>
      <dgm:spPr/>
    </dgm:pt>
    <dgm:pt modelId="{EE1AD2BC-48BE-4E67-B9BD-5D3F02BA6749}" type="pres">
      <dgm:prSet presAssocID="{23C67895-344E-4255-851D-44BC5E15E917}" presName="descendantText" presStyleLbl="alignAccFollowNode1" presStyleIdx="1" presStyleCnt="2" custScaleX="122180" custScaleY="62573" custLinFactNeighborX="3125" custLinFactNeighborY="-592">
        <dgm:presLayoutVars>
          <dgm:bulletEnabled val="1"/>
        </dgm:presLayoutVars>
      </dgm:prSet>
      <dgm:spPr/>
    </dgm:pt>
  </dgm:ptLst>
  <dgm:cxnLst>
    <dgm:cxn modelId="{EFF44207-E009-4F7A-8491-FCCB7D0ADC33}" srcId="{990138A1-5A4D-4510-BBC5-2E2897748EB6}" destId="{5C747F09-919B-4A8C-A814-7C2D6EA595D7}" srcOrd="2" destOrd="0" parTransId="{465CF55D-26C0-493F-99F1-28E93F72288C}" sibTransId="{F806F022-EE33-465F-B462-9B7DB362E54A}"/>
    <dgm:cxn modelId="{DBDF8709-1548-418E-A3CF-2D25700F4DBF}" srcId="{23C67895-344E-4255-851D-44BC5E15E917}" destId="{5496FC00-BB1F-4789-8231-557AE8BEBC91}" srcOrd="1" destOrd="0" parTransId="{077B2E34-0F8C-4229-A280-A1769EC77973}" sibTransId="{5BB68883-83AB-45E7-8393-C8562A6ACC43}"/>
    <dgm:cxn modelId="{D187D60A-F220-4BB9-9B77-D495E06DE1D9}" type="presOf" srcId="{783C027D-3B2A-490E-AC9D-65EAF484918B}" destId="{352545AC-DC97-4523-A48C-42B53AEA6CF3}" srcOrd="0" destOrd="0" presId="urn:microsoft.com/office/officeart/2005/8/layout/vList5"/>
    <dgm:cxn modelId="{44AFE50D-9383-41D8-916B-DE2BE3A5632E}" srcId="{990138A1-5A4D-4510-BBC5-2E2897748EB6}" destId="{B42DC5CD-66FF-4CDF-83C1-9BBEF5A6F04B}" srcOrd="10" destOrd="0" parTransId="{34357BD7-4638-4EE7-B6C1-9CE56B339C1A}" sibTransId="{BFAEA2ED-2FD7-4761-B75F-F65AEB2AC8C3}"/>
    <dgm:cxn modelId="{CF0F140F-1C6F-4BCF-B3CD-64CD138ACB40}" type="presOf" srcId="{D149F5D4-B1F0-4165-8FFF-EFBED9AADA29}" destId="{DE5257D3-27E2-436D-9FA5-D5D3D8662406}" srcOrd="0" destOrd="8" presId="urn:microsoft.com/office/officeart/2005/8/layout/vList5"/>
    <dgm:cxn modelId="{6F94CE1F-DB7C-4646-A3DF-C1E72E48C93E}" srcId="{783C027D-3B2A-490E-AC9D-65EAF484918B}" destId="{990138A1-5A4D-4510-BBC5-2E2897748EB6}" srcOrd="0" destOrd="0" parTransId="{671E62D7-983A-482F-98BC-853A547F8095}" sibTransId="{F1F445A4-14EF-4351-9BC8-FFE2CA3EFA1B}"/>
    <dgm:cxn modelId="{4BBED82D-B74D-4A44-AD3C-A76811F031AA}" type="presOf" srcId="{990138A1-5A4D-4510-BBC5-2E2897748EB6}" destId="{89CA6D0C-A37D-4007-B667-AC8FC9C88616}" srcOrd="0" destOrd="0" presId="urn:microsoft.com/office/officeart/2005/8/layout/vList5"/>
    <dgm:cxn modelId="{C4162E39-1194-48D6-A7A5-61C7F1C8B212}" srcId="{23C67895-344E-4255-851D-44BC5E15E917}" destId="{0177B24C-2775-4B54-B399-8D0FC0CAD95C}" srcOrd="2" destOrd="0" parTransId="{378910C4-AF59-4AAD-84A9-234DD23738F9}" sibTransId="{03C89651-DE92-4677-B1D1-379B2B45A017}"/>
    <dgm:cxn modelId="{3DC4275C-17EF-403F-A575-7318A5F1A726}" srcId="{23C67895-344E-4255-851D-44BC5E15E917}" destId="{F3414B85-0425-4336-AA7A-DF923989B346}" srcOrd="5" destOrd="0" parTransId="{D885C00E-D55E-4C34-AA13-BA5148A19D9C}" sibTransId="{E0AA4186-5F7C-481C-9308-B48D47194F36}"/>
    <dgm:cxn modelId="{CA66CD5C-A35E-4FEB-A739-3A0921DD7E39}" type="presOf" srcId="{23C67895-344E-4255-851D-44BC5E15E917}" destId="{BEBC9861-1B72-40FF-8A4D-35BFA5A1102E}" srcOrd="0" destOrd="0" presId="urn:microsoft.com/office/officeart/2005/8/layout/vList5"/>
    <dgm:cxn modelId="{B6259F62-0537-4874-8641-65B0A0057EF7}" type="presOf" srcId="{0177B24C-2775-4B54-B399-8D0FC0CAD95C}" destId="{EE1AD2BC-48BE-4E67-B9BD-5D3F02BA6749}" srcOrd="0" destOrd="2" presId="urn:microsoft.com/office/officeart/2005/8/layout/vList5"/>
    <dgm:cxn modelId="{143A3843-9815-452F-9E92-F1FDC9FA7271}" type="presOf" srcId="{F3414B85-0425-4336-AA7A-DF923989B346}" destId="{EE1AD2BC-48BE-4E67-B9BD-5D3F02BA6749}" srcOrd="0" destOrd="5" presId="urn:microsoft.com/office/officeart/2005/8/layout/vList5"/>
    <dgm:cxn modelId="{7EC54965-39BC-4DE9-834B-F5BAAB1EACBE}" srcId="{990138A1-5A4D-4510-BBC5-2E2897748EB6}" destId="{1EBCF8D5-11A1-4581-9941-CD9B28D91E97}" srcOrd="4" destOrd="0" parTransId="{28D6712C-02F0-46D0-ACCB-49C4AA17C40C}" sibTransId="{1C4198E2-AC33-4111-BFE4-260B6EB1CB0D}"/>
    <dgm:cxn modelId="{A985D665-80E4-4BA2-A840-A2E8FE8549D7}" srcId="{990138A1-5A4D-4510-BBC5-2E2897748EB6}" destId="{2922965D-41FF-4D6A-B315-D2E2B0688216}" srcOrd="1" destOrd="0" parTransId="{748C89D3-5848-48AB-B43B-06B45AD5247C}" sibTransId="{66DDDF57-86F4-4E8D-8206-0DB80B9B8C73}"/>
    <dgm:cxn modelId="{FF5A176C-935F-4AB5-8FAF-4A3EB1999647}" srcId="{783C027D-3B2A-490E-AC9D-65EAF484918B}" destId="{23C67895-344E-4255-851D-44BC5E15E917}" srcOrd="1" destOrd="0" parTransId="{CC32174B-A9FD-427F-945A-DB905D5054E1}" sibTransId="{6131E7F8-FC14-4602-AFA8-79C7A00166C3}"/>
    <dgm:cxn modelId="{A43E886C-383F-487E-B5D3-7AC52E086B1B}" srcId="{23C67895-344E-4255-851D-44BC5E15E917}" destId="{83FD1D99-B233-4B98-BC94-51C9294674CE}" srcOrd="4" destOrd="0" parTransId="{32506B6E-0F8B-4686-8341-987EACDE08E2}" sibTransId="{BE40E74E-A6EF-485A-9A42-149FCC652965}"/>
    <dgm:cxn modelId="{FA4AE173-AA1B-4BCE-B6DD-8CD80248DC66}" type="presOf" srcId="{65136493-FCA8-429E-8C83-8CF5CDCAADB2}" destId="{DE5257D3-27E2-436D-9FA5-D5D3D8662406}" srcOrd="0" destOrd="0" presId="urn:microsoft.com/office/officeart/2005/8/layout/vList5"/>
    <dgm:cxn modelId="{6A0BEE73-3718-4BA7-88B5-0B03153459AA}" type="presOf" srcId="{2922965D-41FF-4D6A-B315-D2E2B0688216}" destId="{DE5257D3-27E2-436D-9FA5-D5D3D8662406}" srcOrd="0" destOrd="1" presId="urn:microsoft.com/office/officeart/2005/8/layout/vList5"/>
    <dgm:cxn modelId="{3BA42B76-9FC7-4D73-B901-A6BA7998FB8F}" type="presOf" srcId="{01BD98EE-8AD4-48C7-A6A6-7B18C46CFDD5}" destId="{DE5257D3-27E2-436D-9FA5-D5D3D8662406}" srcOrd="0" destOrd="5" presId="urn:microsoft.com/office/officeart/2005/8/layout/vList5"/>
    <dgm:cxn modelId="{B67EE557-6BC8-4B81-9881-FB520E083889}" type="presOf" srcId="{5F06CEAE-F8C5-4E15-8E77-589EC5448041}" destId="{DE5257D3-27E2-436D-9FA5-D5D3D8662406}" srcOrd="0" destOrd="6" presId="urn:microsoft.com/office/officeart/2005/8/layout/vList5"/>
    <dgm:cxn modelId="{7A3ED482-876E-41B5-8000-B142AB034E9D}" srcId="{990138A1-5A4D-4510-BBC5-2E2897748EB6}" destId="{5F06CEAE-F8C5-4E15-8E77-589EC5448041}" srcOrd="6" destOrd="0" parTransId="{13192743-05CB-4C20-8203-3B0610695602}" sibTransId="{8855F72C-4D94-4274-AFD3-742EBB343E99}"/>
    <dgm:cxn modelId="{22BA5B85-8590-4685-AF25-E80459E69156}" type="presOf" srcId="{1EBCF8D5-11A1-4581-9941-CD9B28D91E97}" destId="{DE5257D3-27E2-436D-9FA5-D5D3D8662406}" srcOrd="0" destOrd="4" presId="urn:microsoft.com/office/officeart/2005/8/layout/vList5"/>
    <dgm:cxn modelId="{87030F91-30D6-42D8-821D-974E6A280188}" srcId="{990138A1-5A4D-4510-BBC5-2E2897748EB6}" destId="{926768D2-0416-4057-BE72-75D524BDD311}" srcOrd="3" destOrd="0" parTransId="{7000F24D-3284-4BE3-9B79-CBE0A93235CB}" sibTransId="{8C9ADD5F-87E2-428E-8116-1431D8CD2229}"/>
    <dgm:cxn modelId="{7DC7E191-8A47-46E5-96D0-ED083FD078FB}" type="presOf" srcId="{A6C9E148-F321-4F49-8DF6-8C40F4C3CCA3}" destId="{EE1AD2BC-48BE-4E67-B9BD-5D3F02BA6749}" srcOrd="0" destOrd="0" presId="urn:microsoft.com/office/officeart/2005/8/layout/vList5"/>
    <dgm:cxn modelId="{6C747696-A2DD-4951-9785-C78EA5E16018}" type="presOf" srcId="{B42DC5CD-66FF-4CDF-83C1-9BBEF5A6F04B}" destId="{DE5257D3-27E2-436D-9FA5-D5D3D8662406}" srcOrd="0" destOrd="10" presId="urn:microsoft.com/office/officeart/2005/8/layout/vList5"/>
    <dgm:cxn modelId="{9AEFAC98-A821-4643-A7DB-92F721B6CE57}" type="presOf" srcId="{5C747F09-919B-4A8C-A814-7C2D6EA595D7}" destId="{DE5257D3-27E2-436D-9FA5-D5D3D8662406}" srcOrd="0" destOrd="2" presId="urn:microsoft.com/office/officeart/2005/8/layout/vList5"/>
    <dgm:cxn modelId="{C913DC9B-E721-4BE4-A3DF-C55EE59F6FA6}" srcId="{990138A1-5A4D-4510-BBC5-2E2897748EB6}" destId="{080EB717-E597-43A2-B4F4-CF4483686F01}" srcOrd="9" destOrd="0" parTransId="{8E5D3FC8-CC13-4374-AECA-6666C00D4D6F}" sibTransId="{4A225173-9C95-4BDA-9B73-F040E589877E}"/>
    <dgm:cxn modelId="{D50AE6AF-3DF9-4A57-946B-1AD3E9FC23A6}" srcId="{990138A1-5A4D-4510-BBC5-2E2897748EB6}" destId="{87E07BA0-758E-4296-9482-11965E6EF42A}" srcOrd="7" destOrd="0" parTransId="{6FDB56E6-8365-45ED-81A7-83A130841DB1}" sibTransId="{4AE3083A-712F-48B2-972C-3EA386E72119}"/>
    <dgm:cxn modelId="{0F564BBB-23BA-4C6D-B533-614DA2196EBF}" type="presOf" srcId="{926768D2-0416-4057-BE72-75D524BDD311}" destId="{DE5257D3-27E2-436D-9FA5-D5D3D8662406}" srcOrd="0" destOrd="3" presId="urn:microsoft.com/office/officeart/2005/8/layout/vList5"/>
    <dgm:cxn modelId="{E99C7ABE-47CE-4133-8ACF-8DA0ADD5275B}" type="presOf" srcId="{5496FC00-BB1F-4789-8231-557AE8BEBC91}" destId="{EE1AD2BC-48BE-4E67-B9BD-5D3F02BA6749}" srcOrd="0" destOrd="1" presId="urn:microsoft.com/office/officeart/2005/8/layout/vList5"/>
    <dgm:cxn modelId="{158584BF-8275-46A6-AE43-6A76E36C85C0}" srcId="{990138A1-5A4D-4510-BBC5-2E2897748EB6}" destId="{01BD98EE-8AD4-48C7-A6A6-7B18C46CFDD5}" srcOrd="5" destOrd="0" parTransId="{FF7ABA26-2AE2-4AA8-8CF0-B405DCC938B4}" sibTransId="{53D63FD1-4A63-4CD7-91BF-577AE4FDFA4B}"/>
    <dgm:cxn modelId="{A9EAFED2-AEC8-4B65-8A94-34739C2FFF82}" type="presOf" srcId="{3CAD8461-519F-415D-91D0-EF80FF8DC827}" destId="{DE5257D3-27E2-436D-9FA5-D5D3D8662406}" srcOrd="0" destOrd="11" presId="urn:microsoft.com/office/officeart/2005/8/layout/vList5"/>
    <dgm:cxn modelId="{C59177D3-BB56-4C0C-B7D4-0B37E4008822}" type="presOf" srcId="{080EB717-E597-43A2-B4F4-CF4483686F01}" destId="{DE5257D3-27E2-436D-9FA5-D5D3D8662406}" srcOrd="0" destOrd="9" presId="urn:microsoft.com/office/officeart/2005/8/layout/vList5"/>
    <dgm:cxn modelId="{DA8723D9-2E9C-4190-BC0B-2CF47E58B8B8}" srcId="{23C67895-344E-4255-851D-44BC5E15E917}" destId="{A6C9E148-F321-4F49-8DF6-8C40F4C3CCA3}" srcOrd="0" destOrd="0" parTransId="{72C0DDEF-435C-4116-9216-B306B6B54853}" sibTransId="{8DA9D66B-A37A-4D06-B388-E6F10C4F7D4F}"/>
    <dgm:cxn modelId="{4857D0DA-55D0-4456-BFB4-D6CF5D3D5574}" srcId="{990138A1-5A4D-4510-BBC5-2E2897748EB6}" destId="{65136493-FCA8-429E-8C83-8CF5CDCAADB2}" srcOrd="0" destOrd="0" parTransId="{579F4462-FFD1-4553-AF7E-8FD0CAB22E0D}" sibTransId="{7E467DFF-8A58-4032-91BF-2F87CFB0DCEA}"/>
    <dgm:cxn modelId="{6DAB78DF-4AEF-4F24-B311-F923F47EDD8F}" type="presOf" srcId="{48B6EDA1-F2A1-4416-BB29-4BC0AA4FF860}" destId="{EE1AD2BC-48BE-4E67-B9BD-5D3F02BA6749}" srcOrd="0" destOrd="3" presId="urn:microsoft.com/office/officeart/2005/8/layout/vList5"/>
    <dgm:cxn modelId="{554404E1-C533-4581-9FD8-46F3086C806A}" srcId="{990138A1-5A4D-4510-BBC5-2E2897748EB6}" destId="{D149F5D4-B1F0-4165-8FFF-EFBED9AADA29}" srcOrd="8" destOrd="0" parTransId="{6C1377A5-7CE9-4703-AF84-00D112DA17B6}" sibTransId="{9597FD1A-4BCB-4DBB-908F-6AA2B10B77D0}"/>
    <dgm:cxn modelId="{84D184E7-5F90-472A-A417-28F9ECB9F30A}" srcId="{990138A1-5A4D-4510-BBC5-2E2897748EB6}" destId="{3CAD8461-519F-415D-91D0-EF80FF8DC827}" srcOrd="11" destOrd="0" parTransId="{83E059CD-4748-4E40-84E2-8763FB826BE7}" sibTransId="{E786CEAD-0B81-442F-BC25-2CA4843E8C29}"/>
    <dgm:cxn modelId="{DF174AEB-EDC7-43D7-A29F-3CF866CA6527}" type="presOf" srcId="{83FD1D99-B233-4B98-BC94-51C9294674CE}" destId="{EE1AD2BC-48BE-4E67-B9BD-5D3F02BA6749}" srcOrd="0" destOrd="4" presId="urn:microsoft.com/office/officeart/2005/8/layout/vList5"/>
    <dgm:cxn modelId="{7ECE61F0-6E7F-417F-BB7B-3D700C3FCC8E}" type="presOf" srcId="{87E07BA0-758E-4296-9482-11965E6EF42A}" destId="{DE5257D3-27E2-436D-9FA5-D5D3D8662406}" srcOrd="0" destOrd="7" presId="urn:microsoft.com/office/officeart/2005/8/layout/vList5"/>
    <dgm:cxn modelId="{6DF5BAF3-16A9-4FDA-87E1-662D45FC86A2}" srcId="{23C67895-344E-4255-851D-44BC5E15E917}" destId="{48B6EDA1-F2A1-4416-BB29-4BC0AA4FF860}" srcOrd="3" destOrd="0" parTransId="{3BCB999B-9CFB-498B-A880-4EE92E6D3017}" sibTransId="{E560B92C-58B8-4C36-AE70-461EA9716034}"/>
    <dgm:cxn modelId="{3F95632E-BF45-4758-91C4-13DD628AB3D9}" type="presParOf" srcId="{352545AC-DC97-4523-A48C-42B53AEA6CF3}" destId="{1ABC249A-426E-4292-AA23-86C2413E68AD}" srcOrd="0" destOrd="0" presId="urn:microsoft.com/office/officeart/2005/8/layout/vList5"/>
    <dgm:cxn modelId="{B75864A4-FD7C-4537-848C-72F4B30D4741}" type="presParOf" srcId="{1ABC249A-426E-4292-AA23-86C2413E68AD}" destId="{89CA6D0C-A37D-4007-B667-AC8FC9C88616}" srcOrd="0" destOrd="0" presId="urn:microsoft.com/office/officeart/2005/8/layout/vList5"/>
    <dgm:cxn modelId="{12D99B09-6831-4720-BA38-35A2A3A9E040}" type="presParOf" srcId="{1ABC249A-426E-4292-AA23-86C2413E68AD}" destId="{DE5257D3-27E2-436D-9FA5-D5D3D8662406}" srcOrd="1" destOrd="0" presId="urn:microsoft.com/office/officeart/2005/8/layout/vList5"/>
    <dgm:cxn modelId="{5BCA789F-7680-40B8-82D7-ED3D7ED1F8B3}" type="presParOf" srcId="{352545AC-DC97-4523-A48C-42B53AEA6CF3}" destId="{7D229C1B-A1E8-48F6-9815-088A91336C31}" srcOrd="1" destOrd="0" presId="urn:microsoft.com/office/officeart/2005/8/layout/vList5"/>
    <dgm:cxn modelId="{E66BD36F-AC71-478F-BEF3-4D34DE220A5C}" type="presParOf" srcId="{352545AC-DC97-4523-A48C-42B53AEA6CF3}" destId="{1FC97844-7063-4744-A680-61DBFE08EA64}" srcOrd="2" destOrd="0" presId="urn:microsoft.com/office/officeart/2005/8/layout/vList5"/>
    <dgm:cxn modelId="{D15AB271-2446-48A6-A646-901BA3899FA3}" type="presParOf" srcId="{1FC97844-7063-4744-A680-61DBFE08EA64}" destId="{BEBC9861-1B72-40FF-8A4D-35BFA5A1102E}" srcOrd="0" destOrd="0" presId="urn:microsoft.com/office/officeart/2005/8/layout/vList5"/>
    <dgm:cxn modelId="{BF4AF97F-EAA6-44F1-B92D-6A2FB6FCB22F}" type="presParOf" srcId="{1FC97844-7063-4744-A680-61DBFE08EA64}" destId="{EE1AD2BC-48BE-4E67-B9BD-5D3F02BA674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2190D-1142-4608-8A71-9ED3309A4360}">
      <dsp:nvSpPr>
        <dsp:cNvPr id="0" name=""/>
        <dsp:cNvSpPr/>
      </dsp:nvSpPr>
      <dsp:spPr>
        <a:xfrm rot="5400000">
          <a:off x="5008501" y="-1873101"/>
          <a:ext cx="1821060" cy="5570853"/>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屬於雇用人，但雇用人應支付適當報酬</a:t>
          </a:r>
        </a:p>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但契約有約定時，從其約定</a:t>
          </a:r>
        </a:p>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發明人享有姓名表示權</a:t>
          </a:r>
        </a:p>
      </dsp:txBody>
      <dsp:txXfrm rot="-5400000">
        <a:off x="3133605" y="90692"/>
        <a:ext cx="5481956" cy="1643266"/>
      </dsp:txXfrm>
    </dsp:sp>
    <dsp:sp modelId="{ACF0B067-7DEF-4AEA-A60B-F1DF281614A5}">
      <dsp:nvSpPr>
        <dsp:cNvPr id="0" name=""/>
        <dsp:cNvSpPr/>
      </dsp:nvSpPr>
      <dsp:spPr>
        <a:xfrm>
          <a:off x="0" y="36249"/>
          <a:ext cx="3133605" cy="1752152"/>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zh-TW" altLang="en-US" sz="3600" kern="1200" dirty="0">
              <a:latin typeface="微軟正黑體" panose="020B0604030504040204" pitchFamily="34" charset="-120"/>
              <a:ea typeface="微軟正黑體" panose="020B0604030504040204" pitchFamily="34" charset="-120"/>
            </a:rPr>
            <a:t>職務上發明</a:t>
          </a:r>
        </a:p>
      </dsp:txBody>
      <dsp:txXfrm>
        <a:off x="85533" y="121782"/>
        <a:ext cx="2962539" cy="1581086"/>
      </dsp:txXfrm>
    </dsp:sp>
    <dsp:sp modelId="{0616A34E-6080-4778-A3F7-86893A157D69}">
      <dsp:nvSpPr>
        <dsp:cNvPr id="0" name=""/>
        <dsp:cNvSpPr/>
      </dsp:nvSpPr>
      <dsp:spPr>
        <a:xfrm rot="5400000">
          <a:off x="5086749" y="-1609"/>
          <a:ext cx="1676136" cy="5576299"/>
        </a:xfrm>
        <a:prstGeom prst="round2SameRect">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屬於受雇人</a:t>
          </a:r>
        </a:p>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但利用雇用人資源或經驗者，雇用人支付合理報酬後，得在該事業實施</a:t>
          </a:r>
        </a:p>
      </dsp:txBody>
      <dsp:txXfrm rot="-5400000">
        <a:off x="3136668" y="2030294"/>
        <a:ext cx="5494477" cy="1512492"/>
      </dsp:txXfrm>
    </dsp:sp>
    <dsp:sp modelId="{BB412B10-B9D6-49E8-B8F2-DAC5EF89516A}">
      <dsp:nvSpPr>
        <dsp:cNvPr id="0" name=""/>
        <dsp:cNvSpPr/>
      </dsp:nvSpPr>
      <dsp:spPr>
        <a:xfrm>
          <a:off x="0" y="1910463"/>
          <a:ext cx="3136668" cy="1752152"/>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zh-TW" altLang="en-US" sz="3600" kern="1200" dirty="0">
              <a:latin typeface="微軟正黑體" panose="020B0604030504040204" pitchFamily="34" charset="-120"/>
              <a:ea typeface="微軟正黑體" panose="020B0604030504040204" pitchFamily="34" charset="-120"/>
            </a:rPr>
            <a:t>非職務上發明</a:t>
          </a:r>
        </a:p>
      </dsp:txBody>
      <dsp:txXfrm>
        <a:off x="85533" y="1995996"/>
        <a:ext cx="2965602" cy="1581086"/>
      </dsp:txXfrm>
    </dsp:sp>
    <dsp:sp modelId="{D73C8019-D6FE-4E0E-8D4D-8F5CBE6995BC}">
      <dsp:nvSpPr>
        <dsp:cNvPr id="0" name=""/>
        <dsp:cNvSpPr/>
      </dsp:nvSpPr>
      <dsp:spPr>
        <a:xfrm rot="5400000">
          <a:off x="5038968" y="1844860"/>
          <a:ext cx="1760127" cy="5570853"/>
        </a:xfrm>
        <a:prstGeom prst="round2Same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依雙方契約約定</a:t>
          </a:r>
        </a:p>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未約定者，屬於發明人或創作人</a:t>
          </a:r>
          <a:r>
            <a:rPr lang="en-US" altLang="en-US" sz="1800" kern="1200" dirty="0">
              <a:latin typeface="微軟正黑體" panose="020B0604030504040204" pitchFamily="34" charset="-120"/>
              <a:ea typeface="微軟正黑體" panose="020B0604030504040204" pitchFamily="34" charset="-120"/>
            </a:rPr>
            <a:t>(</a:t>
          </a:r>
          <a:r>
            <a:rPr lang="zh-TW" altLang="en-US" sz="1800" kern="1200" dirty="0">
              <a:latin typeface="微軟正黑體" panose="020B0604030504040204" pitchFamily="34" charset="-120"/>
              <a:ea typeface="微軟正黑體" panose="020B0604030504040204" pitchFamily="34" charset="-120"/>
            </a:rPr>
            <a:t>受聘人</a:t>
          </a:r>
          <a:r>
            <a:rPr lang="en-US" altLang="en-US" sz="1800" kern="1200" dirty="0">
              <a:latin typeface="微軟正黑體" panose="020B0604030504040204" pitchFamily="34" charset="-120"/>
              <a:ea typeface="微軟正黑體" panose="020B0604030504040204" pitchFamily="34" charset="-120"/>
            </a:rPr>
            <a:t>)</a:t>
          </a:r>
          <a:r>
            <a:rPr lang="zh-TW" altLang="en-US" sz="1800" kern="1200" dirty="0">
              <a:latin typeface="微軟正黑體" panose="020B0604030504040204" pitchFamily="34" charset="-120"/>
              <a:ea typeface="微軟正黑體" panose="020B0604030504040204" pitchFamily="34" charset="-120"/>
            </a:rPr>
            <a:t>，但出資人得實施</a:t>
          </a:r>
        </a:p>
        <a:p>
          <a:pPr marL="171450" lvl="1" indent="-171450" algn="l" defTabSz="800100">
            <a:lnSpc>
              <a:spcPct val="90000"/>
            </a:lnSpc>
            <a:spcBef>
              <a:spcPct val="0"/>
            </a:spcBef>
            <a:spcAft>
              <a:spcPct val="15000"/>
            </a:spcAft>
            <a:buChar char="•"/>
          </a:pPr>
          <a:r>
            <a:rPr lang="zh-TW" altLang="en-US" sz="1800" kern="1200" dirty="0">
              <a:latin typeface="微軟正黑體" panose="020B0604030504040204" pitchFamily="34" charset="-120"/>
              <a:ea typeface="微軟正黑體" panose="020B0604030504040204" pitchFamily="34" charset="-120"/>
            </a:rPr>
            <a:t>發明人享有姓名表示權</a:t>
          </a:r>
        </a:p>
      </dsp:txBody>
      <dsp:txXfrm rot="-5400000">
        <a:off x="3133605" y="3836145"/>
        <a:ext cx="5484931" cy="1588283"/>
      </dsp:txXfrm>
    </dsp:sp>
    <dsp:sp modelId="{B42A040D-DF7F-49EE-A319-BD17A30C49F8}">
      <dsp:nvSpPr>
        <dsp:cNvPr id="0" name=""/>
        <dsp:cNvSpPr/>
      </dsp:nvSpPr>
      <dsp:spPr>
        <a:xfrm>
          <a:off x="0" y="3754211"/>
          <a:ext cx="3133605" cy="1752152"/>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zh-TW" altLang="en-US" sz="3600" kern="1200" dirty="0">
              <a:latin typeface="微軟正黑體" panose="020B0604030504040204" pitchFamily="34" charset="-120"/>
              <a:ea typeface="微軟正黑體" panose="020B0604030504040204" pitchFamily="34" charset="-120"/>
            </a:rPr>
            <a:t>出資聘請研發</a:t>
          </a:r>
        </a:p>
      </dsp:txBody>
      <dsp:txXfrm>
        <a:off x="85533" y="3839744"/>
        <a:ext cx="2962539" cy="15810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9BFED3-CF2A-484F-B9EE-5FE67FC930C5}">
      <dsp:nvSpPr>
        <dsp:cNvPr id="0" name=""/>
        <dsp:cNvSpPr/>
      </dsp:nvSpPr>
      <dsp:spPr>
        <a:xfrm>
          <a:off x="3128" y="1689901"/>
          <a:ext cx="2266669" cy="906667"/>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020" tIns="52007" rIns="52007" bIns="52007" numCol="1" spcCol="1270" anchor="ctr" anchorCtr="0">
          <a:noAutofit/>
        </a:bodyPr>
        <a:lstStyle/>
        <a:p>
          <a:pPr marL="0" lvl="0" indent="0" algn="ctr" defTabSz="1733550">
            <a:lnSpc>
              <a:spcPct val="90000"/>
            </a:lnSpc>
            <a:spcBef>
              <a:spcPct val="0"/>
            </a:spcBef>
            <a:spcAft>
              <a:spcPct val="35000"/>
            </a:spcAft>
            <a:buNone/>
          </a:pPr>
          <a:r>
            <a:rPr lang="zh-TW" altLang="en-US" sz="3900" kern="1200" dirty="0">
              <a:latin typeface="微軟正黑體" panose="020B0604030504040204" pitchFamily="34" charset="-120"/>
              <a:ea typeface="微軟正黑體" panose="020B0604030504040204" pitchFamily="34" charset="-120"/>
            </a:rPr>
            <a:t>申請</a:t>
          </a:r>
        </a:p>
      </dsp:txBody>
      <dsp:txXfrm>
        <a:off x="456462" y="1689901"/>
        <a:ext cx="1360002" cy="906667"/>
      </dsp:txXfrm>
    </dsp:sp>
    <dsp:sp modelId="{3B03A943-E044-498A-9B75-C75BB07E2275}">
      <dsp:nvSpPr>
        <dsp:cNvPr id="0" name=""/>
        <dsp:cNvSpPr/>
      </dsp:nvSpPr>
      <dsp:spPr>
        <a:xfrm>
          <a:off x="3128" y="2709902"/>
          <a:ext cx="1813335" cy="1288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889000">
            <a:lnSpc>
              <a:spcPct val="90000"/>
            </a:lnSpc>
            <a:spcBef>
              <a:spcPct val="0"/>
            </a:spcBef>
            <a:spcAft>
              <a:spcPct val="15000"/>
            </a:spcAft>
            <a:buChar char="•"/>
          </a:pPr>
          <a:r>
            <a:rPr lang="zh-TW" altLang="en-US" sz="2000" kern="1200" dirty="0">
              <a:latin typeface="微軟正黑體" panose="020B0604030504040204" pitchFamily="34" charset="-120"/>
              <a:ea typeface="微軟正黑體" panose="020B0604030504040204" pitchFamily="34" charset="-120"/>
            </a:rPr>
            <a:t>送件</a:t>
          </a:r>
          <a:r>
            <a:rPr lang="en-US" altLang="zh-TW" sz="2000" kern="1200" dirty="0">
              <a:latin typeface="微軟正黑體" panose="020B0604030504040204" pitchFamily="34" charset="-120"/>
              <a:ea typeface="微軟正黑體" panose="020B0604030504040204" pitchFamily="34" charset="-120"/>
            </a:rPr>
            <a:t>or</a:t>
          </a:r>
          <a:r>
            <a:rPr lang="zh-TW" altLang="en-US" sz="2000" kern="1200" dirty="0">
              <a:latin typeface="微軟正黑體" panose="020B0604030504040204" pitchFamily="34" charset="-120"/>
              <a:ea typeface="微軟正黑體" panose="020B0604030504040204" pitchFamily="34" charset="-120"/>
            </a:rPr>
            <a:t>補件</a:t>
          </a:r>
        </a:p>
        <a:p>
          <a:pPr marL="228600" lvl="1" indent="-228600" algn="l" defTabSz="889000">
            <a:lnSpc>
              <a:spcPct val="90000"/>
            </a:lnSpc>
            <a:spcBef>
              <a:spcPct val="0"/>
            </a:spcBef>
            <a:spcAft>
              <a:spcPct val="15000"/>
            </a:spcAft>
            <a:buChar char="•"/>
          </a:pPr>
          <a:r>
            <a:rPr lang="zh-TW" altLang="en-US" sz="2000" kern="1200" dirty="0">
              <a:latin typeface="微軟正黑體" panose="020B0604030504040204" pitchFamily="34" charset="-120"/>
              <a:ea typeface="微軟正黑體" panose="020B0604030504040204" pitchFamily="34" charset="-120"/>
            </a:rPr>
            <a:t>通知申請日</a:t>
          </a:r>
        </a:p>
      </dsp:txBody>
      <dsp:txXfrm>
        <a:off x="3128" y="2709902"/>
        <a:ext cx="1813335" cy="1288828"/>
      </dsp:txXfrm>
    </dsp:sp>
    <dsp:sp modelId="{854708A8-9E60-46A3-A34F-CCA743EF61DF}">
      <dsp:nvSpPr>
        <dsp:cNvPr id="0" name=""/>
        <dsp:cNvSpPr/>
      </dsp:nvSpPr>
      <dsp:spPr>
        <a:xfrm>
          <a:off x="2053798" y="1689901"/>
          <a:ext cx="2266669" cy="906667"/>
        </a:xfrm>
        <a:prstGeom prst="chevron">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020" tIns="52007" rIns="52007" bIns="52007" numCol="1" spcCol="1270" anchor="ctr" anchorCtr="0">
          <a:noAutofit/>
        </a:bodyPr>
        <a:lstStyle/>
        <a:p>
          <a:pPr marL="0" lvl="0" indent="0" algn="ctr" defTabSz="1733550">
            <a:lnSpc>
              <a:spcPct val="90000"/>
            </a:lnSpc>
            <a:spcBef>
              <a:spcPct val="0"/>
            </a:spcBef>
            <a:spcAft>
              <a:spcPct val="35000"/>
            </a:spcAft>
            <a:buNone/>
          </a:pPr>
          <a:r>
            <a:rPr lang="zh-TW" altLang="en-US" sz="3900" kern="1200" dirty="0">
              <a:latin typeface="微軟正黑體" panose="020B0604030504040204" pitchFamily="34" charset="-120"/>
              <a:ea typeface="微軟正黑體" panose="020B0604030504040204" pitchFamily="34" charset="-120"/>
            </a:rPr>
            <a:t>審查</a:t>
          </a:r>
        </a:p>
      </dsp:txBody>
      <dsp:txXfrm>
        <a:off x="2507132" y="1689901"/>
        <a:ext cx="1360002" cy="906667"/>
      </dsp:txXfrm>
    </dsp:sp>
    <dsp:sp modelId="{6FD46870-D6E6-44A1-8D55-EE8D8AD38250}">
      <dsp:nvSpPr>
        <dsp:cNvPr id="0" name=""/>
        <dsp:cNvSpPr/>
      </dsp:nvSpPr>
      <dsp:spPr>
        <a:xfrm>
          <a:off x="2053798" y="2709902"/>
          <a:ext cx="1813335" cy="1288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889000">
            <a:lnSpc>
              <a:spcPct val="90000"/>
            </a:lnSpc>
            <a:spcBef>
              <a:spcPct val="0"/>
            </a:spcBef>
            <a:spcAft>
              <a:spcPct val="15000"/>
            </a:spcAft>
            <a:buChar char="•"/>
          </a:pPr>
          <a:r>
            <a:rPr lang="zh-TW" altLang="en-US" sz="2000" kern="1200" dirty="0">
              <a:latin typeface="微軟正黑體" panose="020B0604030504040204" pitchFamily="34" charset="-120"/>
              <a:ea typeface="微軟正黑體" panose="020B0604030504040204" pitchFamily="34" charset="-120"/>
            </a:rPr>
            <a:t>申請實審</a:t>
          </a:r>
        </a:p>
        <a:p>
          <a:pPr marL="228600" lvl="1" indent="-228600" algn="l" defTabSz="889000">
            <a:lnSpc>
              <a:spcPct val="90000"/>
            </a:lnSpc>
            <a:spcBef>
              <a:spcPct val="0"/>
            </a:spcBef>
            <a:spcAft>
              <a:spcPct val="15000"/>
            </a:spcAft>
            <a:buChar char="•"/>
          </a:pPr>
          <a:r>
            <a:rPr lang="zh-TW" altLang="en-US" sz="2000" kern="1200" dirty="0">
              <a:latin typeface="微軟正黑體" panose="020B0604030504040204" pitchFamily="34" charset="-120"/>
              <a:ea typeface="微軟正黑體" panose="020B0604030504040204" pitchFamily="34" charset="-120"/>
            </a:rPr>
            <a:t>審查意見及修正</a:t>
          </a:r>
        </a:p>
      </dsp:txBody>
      <dsp:txXfrm>
        <a:off x="2053798" y="2709902"/>
        <a:ext cx="1813335" cy="1288828"/>
      </dsp:txXfrm>
    </dsp:sp>
    <dsp:sp modelId="{268A4989-CB95-4CDF-931F-DE899C214924}">
      <dsp:nvSpPr>
        <dsp:cNvPr id="0" name=""/>
        <dsp:cNvSpPr/>
      </dsp:nvSpPr>
      <dsp:spPr>
        <a:xfrm>
          <a:off x="4104468" y="1689901"/>
          <a:ext cx="2266669" cy="906667"/>
        </a:xfrm>
        <a:prstGeom prst="chevron">
          <a:avLst/>
        </a:prstGeom>
        <a:gradFill rotWithShape="0">
          <a:gsLst>
            <a:gs pos="0">
              <a:schemeClr val="accent3">
                <a:hueOff val="7500176"/>
                <a:satOff val="-11253"/>
                <a:lumOff val="-1830"/>
                <a:alphaOff val="0"/>
                <a:shade val="51000"/>
                <a:satMod val="130000"/>
              </a:schemeClr>
            </a:gs>
            <a:gs pos="80000">
              <a:schemeClr val="accent3">
                <a:hueOff val="7500176"/>
                <a:satOff val="-11253"/>
                <a:lumOff val="-1830"/>
                <a:alphaOff val="0"/>
                <a:shade val="93000"/>
                <a:satMod val="130000"/>
              </a:schemeClr>
            </a:gs>
            <a:gs pos="100000">
              <a:schemeClr val="accent3">
                <a:hueOff val="7500176"/>
                <a:satOff val="-11253"/>
                <a:lumOff val="-183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020" tIns="52007" rIns="52007" bIns="52007" numCol="1" spcCol="1270" anchor="ctr" anchorCtr="0">
          <a:noAutofit/>
        </a:bodyPr>
        <a:lstStyle/>
        <a:p>
          <a:pPr marL="0" lvl="0" indent="0" algn="ctr" defTabSz="1733550">
            <a:lnSpc>
              <a:spcPct val="90000"/>
            </a:lnSpc>
            <a:spcBef>
              <a:spcPct val="0"/>
            </a:spcBef>
            <a:spcAft>
              <a:spcPct val="35000"/>
            </a:spcAft>
            <a:buNone/>
          </a:pPr>
          <a:r>
            <a:rPr lang="zh-TW" altLang="en-US" sz="3900" kern="1200" dirty="0">
              <a:latin typeface="微軟正黑體" panose="020B0604030504040204" pitchFamily="34" charset="-120"/>
              <a:ea typeface="微軟正黑體" panose="020B0604030504040204" pitchFamily="34" charset="-120"/>
            </a:rPr>
            <a:t>審定</a:t>
          </a:r>
        </a:p>
      </dsp:txBody>
      <dsp:txXfrm>
        <a:off x="4557802" y="1689901"/>
        <a:ext cx="1360002" cy="906667"/>
      </dsp:txXfrm>
    </dsp:sp>
    <dsp:sp modelId="{4594A846-C5F1-4F9D-A308-1FD4F99210EE}">
      <dsp:nvSpPr>
        <dsp:cNvPr id="0" name=""/>
        <dsp:cNvSpPr/>
      </dsp:nvSpPr>
      <dsp:spPr>
        <a:xfrm>
          <a:off x="4104468" y="2709902"/>
          <a:ext cx="1813335" cy="1288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889000">
            <a:lnSpc>
              <a:spcPct val="90000"/>
            </a:lnSpc>
            <a:spcBef>
              <a:spcPct val="0"/>
            </a:spcBef>
            <a:spcAft>
              <a:spcPct val="15000"/>
            </a:spcAft>
            <a:buChar char="•"/>
          </a:pPr>
          <a:r>
            <a:rPr lang="zh-TW" altLang="en-US" sz="2000" kern="1200" dirty="0">
              <a:latin typeface="微軟正黑體" panose="020B0604030504040204" pitchFamily="34" charset="-120"/>
              <a:ea typeface="微軟正黑體" panose="020B0604030504040204" pitchFamily="34" charset="-120"/>
            </a:rPr>
            <a:t>核准或核駁</a:t>
          </a:r>
        </a:p>
        <a:p>
          <a:pPr marL="228600" lvl="1" indent="-228600" algn="l" defTabSz="889000">
            <a:lnSpc>
              <a:spcPct val="90000"/>
            </a:lnSpc>
            <a:spcBef>
              <a:spcPct val="0"/>
            </a:spcBef>
            <a:spcAft>
              <a:spcPct val="15000"/>
            </a:spcAft>
            <a:buChar char="•"/>
          </a:pPr>
          <a:r>
            <a:rPr lang="zh-TW" altLang="en-US" sz="2000" kern="1200" dirty="0">
              <a:latin typeface="微軟正黑體" panose="020B0604030504040204" pitchFamily="34" charset="-120"/>
              <a:ea typeface="微軟正黑體" panose="020B0604030504040204" pitchFamily="34" charset="-120"/>
            </a:rPr>
            <a:t>申請再審查</a:t>
          </a:r>
        </a:p>
      </dsp:txBody>
      <dsp:txXfrm>
        <a:off x="4104468" y="2709902"/>
        <a:ext cx="1813335" cy="1288828"/>
      </dsp:txXfrm>
    </dsp:sp>
    <dsp:sp modelId="{881D73F5-E64F-4021-BE89-76A8B497E4A7}">
      <dsp:nvSpPr>
        <dsp:cNvPr id="0" name=""/>
        <dsp:cNvSpPr/>
      </dsp:nvSpPr>
      <dsp:spPr>
        <a:xfrm>
          <a:off x="6155137" y="1689901"/>
          <a:ext cx="2266669" cy="906667"/>
        </a:xfrm>
        <a:prstGeom prst="chevron">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020" tIns="52007" rIns="52007" bIns="52007" numCol="1" spcCol="1270" anchor="ctr" anchorCtr="0">
          <a:noAutofit/>
        </a:bodyPr>
        <a:lstStyle/>
        <a:p>
          <a:pPr marL="0" lvl="0" indent="0" algn="ctr" defTabSz="1733550">
            <a:lnSpc>
              <a:spcPct val="90000"/>
            </a:lnSpc>
            <a:spcBef>
              <a:spcPct val="0"/>
            </a:spcBef>
            <a:spcAft>
              <a:spcPct val="35000"/>
            </a:spcAft>
            <a:buNone/>
          </a:pPr>
          <a:r>
            <a:rPr lang="zh-TW" altLang="en-US" sz="3900" kern="1200" dirty="0">
              <a:latin typeface="微軟正黑體" panose="020B0604030504040204" pitchFamily="34" charset="-120"/>
              <a:ea typeface="微軟正黑體" panose="020B0604030504040204" pitchFamily="34" charset="-120"/>
            </a:rPr>
            <a:t>公告</a:t>
          </a:r>
        </a:p>
      </dsp:txBody>
      <dsp:txXfrm>
        <a:off x="6608471" y="1689901"/>
        <a:ext cx="1360002" cy="906667"/>
      </dsp:txXfrm>
    </dsp:sp>
    <dsp:sp modelId="{65EA929A-AA66-42FE-A087-DF7D30974C5A}">
      <dsp:nvSpPr>
        <dsp:cNvPr id="0" name=""/>
        <dsp:cNvSpPr/>
      </dsp:nvSpPr>
      <dsp:spPr>
        <a:xfrm>
          <a:off x="6155137" y="2709902"/>
          <a:ext cx="1813335" cy="1288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889000">
            <a:lnSpc>
              <a:spcPct val="90000"/>
            </a:lnSpc>
            <a:spcBef>
              <a:spcPct val="0"/>
            </a:spcBef>
            <a:spcAft>
              <a:spcPct val="15000"/>
            </a:spcAft>
            <a:buChar char="•"/>
          </a:pPr>
          <a:r>
            <a:rPr lang="zh-TW" altLang="en-US" sz="2000" kern="1200" dirty="0">
              <a:latin typeface="微軟正黑體" panose="020B0604030504040204" pitchFamily="34" charset="-120"/>
              <a:ea typeface="微軟正黑體" panose="020B0604030504040204" pitchFamily="34" charset="-120"/>
            </a:rPr>
            <a:t>繳費領證</a:t>
          </a:r>
        </a:p>
        <a:p>
          <a:pPr marL="228600" lvl="1" indent="-228600" algn="l" defTabSz="889000">
            <a:lnSpc>
              <a:spcPct val="90000"/>
            </a:lnSpc>
            <a:spcBef>
              <a:spcPct val="0"/>
            </a:spcBef>
            <a:spcAft>
              <a:spcPct val="15000"/>
            </a:spcAft>
            <a:buChar char="•"/>
          </a:pPr>
          <a:r>
            <a:rPr lang="zh-TW" altLang="en-US" sz="2000" kern="1200" dirty="0">
              <a:latin typeface="微軟正黑體" panose="020B0604030504040204" pitchFamily="34" charset="-120"/>
              <a:ea typeface="微軟正黑體" panose="020B0604030504040204" pitchFamily="34" charset="-120"/>
            </a:rPr>
            <a:t>公告</a:t>
          </a:r>
        </a:p>
      </dsp:txBody>
      <dsp:txXfrm>
        <a:off x="6155137" y="2709902"/>
        <a:ext cx="1813335" cy="12888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052A9-DD52-4FEB-8777-9B987C85443D}">
      <dsp:nvSpPr>
        <dsp:cNvPr id="0" name=""/>
        <dsp:cNvSpPr/>
      </dsp:nvSpPr>
      <dsp:spPr>
        <a:xfrm>
          <a:off x="1159499" y="2319928"/>
          <a:ext cx="2016630"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審查項目</a:t>
          </a:r>
        </a:p>
      </dsp:txBody>
      <dsp:txXfrm>
        <a:off x="1176356" y="2336785"/>
        <a:ext cx="1982916" cy="541828"/>
      </dsp:txXfrm>
    </dsp:sp>
    <dsp:sp modelId="{A36254E8-16DA-4847-88D8-94821D03FAD8}">
      <dsp:nvSpPr>
        <dsp:cNvPr id="0" name=""/>
        <dsp:cNvSpPr/>
      </dsp:nvSpPr>
      <dsp:spPr>
        <a:xfrm rot="16874489">
          <a:off x="2225411" y="1440607"/>
          <a:ext cx="2361870" cy="17626"/>
        </a:xfrm>
        <a:custGeom>
          <a:avLst/>
          <a:gdLst/>
          <a:ahLst/>
          <a:cxnLst/>
          <a:rect l="0" t="0" r="0" b="0"/>
          <a:pathLst>
            <a:path>
              <a:moveTo>
                <a:pt x="0" y="8813"/>
              </a:moveTo>
              <a:lnTo>
                <a:pt x="2361870" y="881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latin typeface="微軟正黑體" panose="020B0604030504040204" pitchFamily="34" charset="-120"/>
            <a:ea typeface="微軟正黑體" panose="020B0604030504040204" pitchFamily="34" charset="-120"/>
          </a:endParaRPr>
        </a:p>
      </dsp:txBody>
      <dsp:txXfrm>
        <a:off x="3347300" y="1390374"/>
        <a:ext cx="118093" cy="118093"/>
      </dsp:txXfrm>
    </dsp:sp>
    <dsp:sp modelId="{8A2F83A3-7457-427B-951B-EA1D91EB6440}">
      <dsp:nvSpPr>
        <dsp:cNvPr id="0" name=""/>
        <dsp:cNvSpPr/>
      </dsp:nvSpPr>
      <dsp:spPr>
        <a:xfrm>
          <a:off x="3636563" y="3371"/>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不符定義</a:t>
          </a:r>
        </a:p>
      </dsp:txBody>
      <dsp:txXfrm>
        <a:off x="3653420" y="20228"/>
        <a:ext cx="1856285" cy="541828"/>
      </dsp:txXfrm>
    </dsp:sp>
    <dsp:sp modelId="{DDE0A061-0F3D-4621-86EE-D706B960478C}">
      <dsp:nvSpPr>
        <dsp:cNvPr id="0" name=""/>
        <dsp:cNvSpPr/>
      </dsp:nvSpPr>
      <dsp:spPr>
        <a:xfrm rot="17132988">
          <a:off x="2547572" y="1771544"/>
          <a:ext cx="1717549" cy="17626"/>
        </a:xfrm>
        <a:custGeom>
          <a:avLst/>
          <a:gdLst/>
          <a:ahLst/>
          <a:cxnLst/>
          <a:rect l="0" t="0" r="0" b="0"/>
          <a:pathLst>
            <a:path>
              <a:moveTo>
                <a:pt x="0" y="8813"/>
              </a:moveTo>
              <a:lnTo>
                <a:pt x="1717549" y="881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latin typeface="微軟正黑體" panose="020B0604030504040204" pitchFamily="34" charset="-120"/>
            <a:ea typeface="微軟正黑體" panose="020B0604030504040204" pitchFamily="34" charset="-120"/>
          </a:endParaRPr>
        </a:p>
      </dsp:txBody>
      <dsp:txXfrm>
        <a:off x="3363408" y="1737418"/>
        <a:ext cx="85877" cy="85877"/>
      </dsp:txXfrm>
    </dsp:sp>
    <dsp:sp modelId="{B10B39C6-191A-4FAF-9B79-A1377063B756}">
      <dsp:nvSpPr>
        <dsp:cNvPr id="0" name=""/>
        <dsp:cNvSpPr/>
      </dsp:nvSpPr>
      <dsp:spPr>
        <a:xfrm>
          <a:off x="3636563" y="665244"/>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法定事由</a:t>
          </a:r>
        </a:p>
      </dsp:txBody>
      <dsp:txXfrm>
        <a:off x="3653420" y="682101"/>
        <a:ext cx="1856285" cy="541828"/>
      </dsp:txXfrm>
    </dsp:sp>
    <dsp:sp modelId="{D2E4AB15-4083-4541-BF8A-F8EC05813326}">
      <dsp:nvSpPr>
        <dsp:cNvPr id="0" name=""/>
        <dsp:cNvSpPr/>
      </dsp:nvSpPr>
      <dsp:spPr>
        <a:xfrm rot="17692822">
          <a:off x="2859156" y="2102480"/>
          <a:ext cx="1094381" cy="17626"/>
        </a:xfrm>
        <a:custGeom>
          <a:avLst/>
          <a:gdLst/>
          <a:ahLst/>
          <a:cxnLst/>
          <a:rect l="0" t="0" r="0" b="0"/>
          <a:pathLst>
            <a:path>
              <a:moveTo>
                <a:pt x="0" y="8813"/>
              </a:moveTo>
              <a:lnTo>
                <a:pt x="1094381" y="881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latin typeface="微軟正黑體" panose="020B0604030504040204" pitchFamily="34" charset="-120"/>
            <a:ea typeface="微軟正黑體" panose="020B0604030504040204" pitchFamily="34" charset="-120"/>
          </a:endParaRPr>
        </a:p>
      </dsp:txBody>
      <dsp:txXfrm>
        <a:off x="3378987" y="2083934"/>
        <a:ext cx="54719" cy="54719"/>
      </dsp:txXfrm>
    </dsp:sp>
    <dsp:sp modelId="{031CBB6E-4BE7-4EE5-80B3-BA953BB21249}">
      <dsp:nvSpPr>
        <dsp:cNvPr id="0" name=""/>
        <dsp:cNvSpPr/>
      </dsp:nvSpPr>
      <dsp:spPr>
        <a:xfrm>
          <a:off x="3636563" y="1327118"/>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形式及揭露要件</a:t>
          </a:r>
        </a:p>
      </dsp:txBody>
      <dsp:txXfrm>
        <a:off x="3653420" y="1343975"/>
        <a:ext cx="1856285" cy="541828"/>
      </dsp:txXfrm>
    </dsp:sp>
    <dsp:sp modelId="{3F717296-9D30-454F-B671-C31ECFB24A12}">
      <dsp:nvSpPr>
        <dsp:cNvPr id="0" name=""/>
        <dsp:cNvSpPr/>
      </dsp:nvSpPr>
      <dsp:spPr>
        <a:xfrm rot="18289469">
          <a:off x="5353643" y="1275139"/>
          <a:ext cx="806272" cy="17626"/>
        </a:xfrm>
        <a:custGeom>
          <a:avLst/>
          <a:gdLst/>
          <a:ahLst/>
          <a:cxnLst/>
          <a:rect l="0" t="0" r="0" b="0"/>
          <a:pathLst>
            <a:path>
              <a:moveTo>
                <a:pt x="0" y="8813"/>
              </a:moveTo>
              <a:lnTo>
                <a:pt x="806272" y="881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5736623" y="1263795"/>
        <a:ext cx="40313" cy="40313"/>
      </dsp:txXfrm>
    </dsp:sp>
    <dsp:sp modelId="{779824E3-8122-442C-AB0B-F3DE062F88F2}">
      <dsp:nvSpPr>
        <dsp:cNvPr id="0" name=""/>
        <dsp:cNvSpPr/>
      </dsp:nvSpPr>
      <dsp:spPr>
        <a:xfrm>
          <a:off x="5986996" y="665244"/>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說明書</a:t>
          </a:r>
        </a:p>
      </dsp:txBody>
      <dsp:txXfrm>
        <a:off x="6003853" y="682101"/>
        <a:ext cx="1856285" cy="541828"/>
      </dsp:txXfrm>
    </dsp:sp>
    <dsp:sp modelId="{EF457FBD-C133-493B-A290-3A493B89F55A}">
      <dsp:nvSpPr>
        <dsp:cNvPr id="0" name=""/>
        <dsp:cNvSpPr/>
      </dsp:nvSpPr>
      <dsp:spPr>
        <a:xfrm>
          <a:off x="5526563" y="1606075"/>
          <a:ext cx="460433" cy="17626"/>
        </a:xfrm>
        <a:custGeom>
          <a:avLst/>
          <a:gdLst/>
          <a:ahLst/>
          <a:cxnLst/>
          <a:rect l="0" t="0" r="0" b="0"/>
          <a:pathLst>
            <a:path>
              <a:moveTo>
                <a:pt x="0" y="8813"/>
              </a:moveTo>
              <a:lnTo>
                <a:pt x="460433" y="881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5745269" y="1603378"/>
        <a:ext cx="23021" cy="23021"/>
      </dsp:txXfrm>
    </dsp:sp>
    <dsp:sp modelId="{98E0482E-33B6-4FF6-9ABC-8ADC6C22D82C}">
      <dsp:nvSpPr>
        <dsp:cNvPr id="0" name=""/>
        <dsp:cNvSpPr/>
      </dsp:nvSpPr>
      <dsp:spPr>
        <a:xfrm>
          <a:off x="5986996" y="1327118"/>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申請專利範圍</a:t>
          </a:r>
        </a:p>
      </dsp:txBody>
      <dsp:txXfrm>
        <a:off x="6003853" y="1343975"/>
        <a:ext cx="1856285" cy="541828"/>
      </dsp:txXfrm>
    </dsp:sp>
    <dsp:sp modelId="{654D18CB-DBBB-4FDF-BE12-C9B643396A34}">
      <dsp:nvSpPr>
        <dsp:cNvPr id="0" name=""/>
        <dsp:cNvSpPr/>
      </dsp:nvSpPr>
      <dsp:spPr>
        <a:xfrm rot="3310531">
          <a:off x="5353643" y="1937012"/>
          <a:ext cx="806272" cy="17626"/>
        </a:xfrm>
        <a:custGeom>
          <a:avLst/>
          <a:gdLst/>
          <a:ahLst/>
          <a:cxnLst/>
          <a:rect l="0" t="0" r="0" b="0"/>
          <a:pathLst>
            <a:path>
              <a:moveTo>
                <a:pt x="0" y="8813"/>
              </a:moveTo>
              <a:lnTo>
                <a:pt x="806272" y="881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5736623" y="1925669"/>
        <a:ext cx="40313" cy="40313"/>
      </dsp:txXfrm>
    </dsp:sp>
    <dsp:sp modelId="{40DA0899-5FBE-4083-B8E9-F274B4C659E4}">
      <dsp:nvSpPr>
        <dsp:cNvPr id="0" name=""/>
        <dsp:cNvSpPr/>
      </dsp:nvSpPr>
      <dsp:spPr>
        <a:xfrm>
          <a:off x="5986996" y="1988991"/>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圖式</a:t>
          </a:r>
        </a:p>
      </dsp:txBody>
      <dsp:txXfrm>
        <a:off x="6003853" y="2005848"/>
        <a:ext cx="1856285" cy="541828"/>
      </dsp:txXfrm>
    </dsp:sp>
    <dsp:sp modelId="{D2F7B7E3-22C4-4404-A1BE-EB78A9A9C4FA}">
      <dsp:nvSpPr>
        <dsp:cNvPr id="0" name=""/>
        <dsp:cNvSpPr/>
      </dsp:nvSpPr>
      <dsp:spPr>
        <a:xfrm rot="19457599">
          <a:off x="3122833" y="2433417"/>
          <a:ext cx="567025" cy="17626"/>
        </a:xfrm>
        <a:custGeom>
          <a:avLst/>
          <a:gdLst/>
          <a:ahLst/>
          <a:cxnLst/>
          <a:rect l="0" t="0" r="0" b="0"/>
          <a:pathLst>
            <a:path>
              <a:moveTo>
                <a:pt x="0" y="8813"/>
              </a:moveTo>
              <a:lnTo>
                <a:pt x="567025" y="881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3392171" y="2428055"/>
        <a:ext cx="28351" cy="28351"/>
      </dsp:txXfrm>
    </dsp:sp>
    <dsp:sp modelId="{51F37B1A-36F9-4EE7-9E8C-6F3D28D7BEAF}">
      <dsp:nvSpPr>
        <dsp:cNvPr id="0" name=""/>
        <dsp:cNvSpPr/>
      </dsp:nvSpPr>
      <dsp:spPr>
        <a:xfrm>
          <a:off x="3636563" y="1988991"/>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一案兩請</a:t>
          </a:r>
        </a:p>
      </dsp:txBody>
      <dsp:txXfrm>
        <a:off x="3653420" y="2005848"/>
        <a:ext cx="1856285" cy="541828"/>
      </dsp:txXfrm>
    </dsp:sp>
    <dsp:sp modelId="{36F1989D-B6F7-4E52-B584-93AEE689B660}">
      <dsp:nvSpPr>
        <dsp:cNvPr id="0" name=""/>
        <dsp:cNvSpPr/>
      </dsp:nvSpPr>
      <dsp:spPr>
        <a:xfrm rot="4467012">
          <a:off x="2547572" y="3426227"/>
          <a:ext cx="1717549" cy="17626"/>
        </a:xfrm>
        <a:custGeom>
          <a:avLst/>
          <a:gdLst/>
          <a:ahLst/>
          <a:cxnLst/>
          <a:rect l="0" t="0" r="0" b="0"/>
          <a:pathLst>
            <a:path>
              <a:moveTo>
                <a:pt x="0" y="8813"/>
              </a:moveTo>
              <a:lnTo>
                <a:pt x="1717549" y="881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3363408" y="3392102"/>
        <a:ext cx="85877" cy="85877"/>
      </dsp:txXfrm>
    </dsp:sp>
    <dsp:sp modelId="{A0DCB365-26FB-4B3B-8D45-98FFABAFE51C}">
      <dsp:nvSpPr>
        <dsp:cNvPr id="0" name=""/>
        <dsp:cNvSpPr/>
      </dsp:nvSpPr>
      <dsp:spPr>
        <a:xfrm>
          <a:off x="3636563" y="3974611"/>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專利要件</a:t>
          </a:r>
        </a:p>
      </dsp:txBody>
      <dsp:txXfrm>
        <a:off x="3653420" y="3991468"/>
        <a:ext cx="1856285" cy="541828"/>
      </dsp:txXfrm>
    </dsp:sp>
    <dsp:sp modelId="{BF59646D-33E4-4B31-B27F-6FD7200C41F4}">
      <dsp:nvSpPr>
        <dsp:cNvPr id="0" name=""/>
        <dsp:cNvSpPr/>
      </dsp:nvSpPr>
      <dsp:spPr>
        <a:xfrm rot="17350740">
          <a:off x="5056011" y="3591695"/>
          <a:ext cx="1401536" cy="17626"/>
        </a:xfrm>
        <a:custGeom>
          <a:avLst/>
          <a:gdLst/>
          <a:ahLst/>
          <a:cxnLst/>
          <a:rect l="0" t="0" r="0" b="0"/>
          <a:pathLst>
            <a:path>
              <a:moveTo>
                <a:pt x="0" y="8813"/>
              </a:moveTo>
              <a:lnTo>
                <a:pt x="1401536" y="881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5721741" y="3565470"/>
        <a:ext cx="70076" cy="70076"/>
      </dsp:txXfrm>
    </dsp:sp>
    <dsp:sp modelId="{89922931-A6F7-433F-AB07-EFC0704E3C59}">
      <dsp:nvSpPr>
        <dsp:cNvPr id="0" name=""/>
        <dsp:cNvSpPr/>
      </dsp:nvSpPr>
      <dsp:spPr>
        <a:xfrm>
          <a:off x="5986996" y="2650864"/>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產業利用性</a:t>
          </a:r>
        </a:p>
      </dsp:txBody>
      <dsp:txXfrm>
        <a:off x="6003853" y="2667721"/>
        <a:ext cx="1856285" cy="541828"/>
      </dsp:txXfrm>
    </dsp:sp>
    <dsp:sp modelId="{8E1C318A-F008-4045-83D6-2E23790B07CA}">
      <dsp:nvSpPr>
        <dsp:cNvPr id="0" name=""/>
        <dsp:cNvSpPr/>
      </dsp:nvSpPr>
      <dsp:spPr>
        <a:xfrm rot="18289469">
          <a:off x="5353643" y="3922632"/>
          <a:ext cx="806272" cy="17626"/>
        </a:xfrm>
        <a:custGeom>
          <a:avLst/>
          <a:gdLst/>
          <a:ahLst/>
          <a:cxnLst/>
          <a:rect l="0" t="0" r="0" b="0"/>
          <a:pathLst>
            <a:path>
              <a:moveTo>
                <a:pt x="0" y="8813"/>
              </a:moveTo>
              <a:lnTo>
                <a:pt x="806272" y="881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5736623" y="3911289"/>
        <a:ext cx="40313" cy="40313"/>
      </dsp:txXfrm>
    </dsp:sp>
    <dsp:sp modelId="{CB1F2270-C8F2-4D70-A55F-ED1EFBD16C4C}">
      <dsp:nvSpPr>
        <dsp:cNvPr id="0" name=""/>
        <dsp:cNvSpPr/>
      </dsp:nvSpPr>
      <dsp:spPr>
        <a:xfrm>
          <a:off x="5986996" y="3312738"/>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新穎性</a:t>
          </a:r>
        </a:p>
      </dsp:txBody>
      <dsp:txXfrm>
        <a:off x="6003853" y="3329595"/>
        <a:ext cx="1856285" cy="541828"/>
      </dsp:txXfrm>
    </dsp:sp>
    <dsp:sp modelId="{2A04C819-523E-4338-AC14-1579F128A22E}">
      <dsp:nvSpPr>
        <dsp:cNvPr id="0" name=""/>
        <dsp:cNvSpPr/>
      </dsp:nvSpPr>
      <dsp:spPr>
        <a:xfrm>
          <a:off x="5526563" y="4253569"/>
          <a:ext cx="460433" cy="17626"/>
        </a:xfrm>
        <a:custGeom>
          <a:avLst/>
          <a:gdLst/>
          <a:ahLst/>
          <a:cxnLst/>
          <a:rect l="0" t="0" r="0" b="0"/>
          <a:pathLst>
            <a:path>
              <a:moveTo>
                <a:pt x="0" y="8813"/>
              </a:moveTo>
              <a:lnTo>
                <a:pt x="460433" y="881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5745269" y="4250871"/>
        <a:ext cx="23021" cy="23021"/>
      </dsp:txXfrm>
    </dsp:sp>
    <dsp:sp modelId="{179AC7A7-9F8F-4E46-AE0D-7D0A0DA2C0EB}">
      <dsp:nvSpPr>
        <dsp:cNvPr id="0" name=""/>
        <dsp:cNvSpPr/>
      </dsp:nvSpPr>
      <dsp:spPr>
        <a:xfrm>
          <a:off x="5986996" y="3974611"/>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進步性</a:t>
          </a:r>
        </a:p>
      </dsp:txBody>
      <dsp:txXfrm>
        <a:off x="6003853" y="3991468"/>
        <a:ext cx="1856285" cy="541828"/>
      </dsp:txXfrm>
    </dsp:sp>
    <dsp:sp modelId="{D3C05BD0-C46D-40BF-AA50-10035A6740B9}">
      <dsp:nvSpPr>
        <dsp:cNvPr id="0" name=""/>
        <dsp:cNvSpPr/>
      </dsp:nvSpPr>
      <dsp:spPr>
        <a:xfrm rot="3310531">
          <a:off x="5353643" y="4584506"/>
          <a:ext cx="806272" cy="17626"/>
        </a:xfrm>
        <a:custGeom>
          <a:avLst/>
          <a:gdLst/>
          <a:ahLst/>
          <a:cxnLst/>
          <a:rect l="0" t="0" r="0" b="0"/>
          <a:pathLst>
            <a:path>
              <a:moveTo>
                <a:pt x="0" y="8813"/>
              </a:moveTo>
              <a:lnTo>
                <a:pt x="806272" y="881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5736623" y="4573162"/>
        <a:ext cx="40313" cy="40313"/>
      </dsp:txXfrm>
    </dsp:sp>
    <dsp:sp modelId="{CAA3F27F-D61E-4DC1-B09E-6BBF237DE047}">
      <dsp:nvSpPr>
        <dsp:cNvPr id="0" name=""/>
        <dsp:cNvSpPr/>
      </dsp:nvSpPr>
      <dsp:spPr>
        <a:xfrm>
          <a:off x="5986996" y="4636485"/>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擬制喪失新穎性</a:t>
          </a:r>
        </a:p>
      </dsp:txBody>
      <dsp:txXfrm>
        <a:off x="6003853" y="4653342"/>
        <a:ext cx="1856285" cy="541828"/>
      </dsp:txXfrm>
    </dsp:sp>
    <dsp:sp modelId="{9CD235EE-927D-4E3E-B04C-923E8C453554}">
      <dsp:nvSpPr>
        <dsp:cNvPr id="0" name=""/>
        <dsp:cNvSpPr/>
      </dsp:nvSpPr>
      <dsp:spPr>
        <a:xfrm rot="4249260">
          <a:off x="5056011" y="4915442"/>
          <a:ext cx="1401536" cy="17626"/>
        </a:xfrm>
        <a:custGeom>
          <a:avLst/>
          <a:gdLst/>
          <a:ahLst/>
          <a:cxnLst/>
          <a:rect l="0" t="0" r="0" b="0"/>
          <a:pathLst>
            <a:path>
              <a:moveTo>
                <a:pt x="0" y="8813"/>
              </a:moveTo>
              <a:lnTo>
                <a:pt x="1401536" y="881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5721741" y="4889217"/>
        <a:ext cx="70076" cy="70076"/>
      </dsp:txXfrm>
    </dsp:sp>
    <dsp:sp modelId="{4EDC2CF2-5AB6-44EC-9C7B-5CD45AC97096}">
      <dsp:nvSpPr>
        <dsp:cNvPr id="0" name=""/>
        <dsp:cNvSpPr/>
      </dsp:nvSpPr>
      <dsp:spPr>
        <a:xfrm>
          <a:off x="5986996" y="5298358"/>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優惠期</a:t>
          </a:r>
        </a:p>
      </dsp:txBody>
      <dsp:txXfrm>
        <a:off x="6003853" y="5315215"/>
        <a:ext cx="1856285" cy="541828"/>
      </dsp:txXfrm>
    </dsp:sp>
    <dsp:sp modelId="{67922E1E-7ECC-4F9B-ACF4-F6642404FFB1}">
      <dsp:nvSpPr>
        <dsp:cNvPr id="0" name=""/>
        <dsp:cNvSpPr/>
      </dsp:nvSpPr>
      <dsp:spPr>
        <a:xfrm rot="4725511">
          <a:off x="2225411" y="3757164"/>
          <a:ext cx="2361870" cy="17626"/>
        </a:xfrm>
        <a:custGeom>
          <a:avLst/>
          <a:gdLst/>
          <a:ahLst/>
          <a:cxnLst/>
          <a:rect l="0" t="0" r="0" b="0"/>
          <a:pathLst>
            <a:path>
              <a:moveTo>
                <a:pt x="0" y="8813"/>
              </a:moveTo>
              <a:lnTo>
                <a:pt x="2361870" y="881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zh-TW" altLang="en-US" sz="2000" kern="1200"/>
        </a:p>
      </dsp:txBody>
      <dsp:txXfrm>
        <a:off x="3347300" y="3706930"/>
        <a:ext cx="118093" cy="118093"/>
      </dsp:txXfrm>
    </dsp:sp>
    <dsp:sp modelId="{BD923BEA-5231-4ACD-90B1-AE0AA864B4D4}">
      <dsp:nvSpPr>
        <dsp:cNvPr id="0" name=""/>
        <dsp:cNvSpPr/>
      </dsp:nvSpPr>
      <dsp:spPr>
        <a:xfrm>
          <a:off x="3636563" y="4636485"/>
          <a:ext cx="1889999" cy="5755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微軟正黑體" panose="020B0604030504040204" pitchFamily="34" charset="-120"/>
              <a:ea typeface="微軟正黑體" panose="020B0604030504040204" pitchFamily="34" charset="-120"/>
            </a:rPr>
            <a:t>先申請原則</a:t>
          </a:r>
        </a:p>
      </dsp:txBody>
      <dsp:txXfrm>
        <a:off x="3653420" y="4653342"/>
        <a:ext cx="1856285" cy="5418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BFD544-154A-4FF8-9B07-13167BCCBD41}">
      <dsp:nvSpPr>
        <dsp:cNvPr id="0" name=""/>
        <dsp:cNvSpPr/>
      </dsp:nvSpPr>
      <dsp:spPr>
        <a:xfrm>
          <a:off x="483" y="302539"/>
          <a:ext cx="1131278" cy="5656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標楷體" panose="03000509000000000000" pitchFamily="65" charset="-120"/>
              <a:ea typeface="標楷體" panose="03000509000000000000" pitchFamily="65" charset="-120"/>
            </a:rPr>
            <a:t>發明</a:t>
          </a:r>
        </a:p>
      </dsp:txBody>
      <dsp:txXfrm>
        <a:off x="17050" y="319106"/>
        <a:ext cx="1098144" cy="532505"/>
      </dsp:txXfrm>
    </dsp:sp>
    <dsp:sp modelId="{5F7F02E4-D8D4-43F4-81D3-13C364F8D0C4}">
      <dsp:nvSpPr>
        <dsp:cNvPr id="0" name=""/>
        <dsp:cNvSpPr/>
      </dsp:nvSpPr>
      <dsp:spPr>
        <a:xfrm>
          <a:off x="113611" y="868178"/>
          <a:ext cx="113127" cy="424229"/>
        </a:xfrm>
        <a:custGeom>
          <a:avLst/>
          <a:gdLst/>
          <a:ahLst/>
          <a:cxnLst/>
          <a:rect l="0" t="0" r="0" b="0"/>
          <a:pathLst>
            <a:path>
              <a:moveTo>
                <a:pt x="0" y="0"/>
              </a:moveTo>
              <a:lnTo>
                <a:pt x="0" y="424229"/>
              </a:lnTo>
              <a:lnTo>
                <a:pt x="113127" y="42422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21B692-BF31-4CBB-830B-CE90C441593A}">
      <dsp:nvSpPr>
        <dsp:cNvPr id="0" name=""/>
        <dsp:cNvSpPr/>
      </dsp:nvSpPr>
      <dsp:spPr>
        <a:xfrm>
          <a:off x="226739" y="1009588"/>
          <a:ext cx="905022" cy="5656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zh-TW" altLang="en-US" sz="1500" kern="1200" dirty="0">
              <a:latin typeface="標楷體" panose="03000509000000000000" pitchFamily="65" charset="-120"/>
              <a:ea typeface="標楷體" panose="03000509000000000000" pitchFamily="65" charset="-120"/>
            </a:rPr>
            <a:t>廣度</a:t>
          </a:r>
        </a:p>
      </dsp:txBody>
      <dsp:txXfrm>
        <a:off x="243306" y="1026155"/>
        <a:ext cx="871888" cy="532505"/>
      </dsp:txXfrm>
    </dsp:sp>
    <dsp:sp modelId="{5259E5DB-8DC8-4830-B026-67086DA4AD33}">
      <dsp:nvSpPr>
        <dsp:cNvPr id="0" name=""/>
        <dsp:cNvSpPr/>
      </dsp:nvSpPr>
      <dsp:spPr>
        <a:xfrm>
          <a:off x="113611" y="868178"/>
          <a:ext cx="113127" cy="1131278"/>
        </a:xfrm>
        <a:custGeom>
          <a:avLst/>
          <a:gdLst/>
          <a:ahLst/>
          <a:cxnLst/>
          <a:rect l="0" t="0" r="0" b="0"/>
          <a:pathLst>
            <a:path>
              <a:moveTo>
                <a:pt x="0" y="0"/>
              </a:moveTo>
              <a:lnTo>
                <a:pt x="0" y="1131278"/>
              </a:lnTo>
              <a:lnTo>
                <a:pt x="113127" y="113127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F1B87A-9868-46E0-8CE8-7E5A73D5F9EA}">
      <dsp:nvSpPr>
        <dsp:cNvPr id="0" name=""/>
        <dsp:cNvSpPr/>
      </dsp:nvSpPr>
      <dsp:spPr>
        <a:xfrm>
          <a:off x="226739" y="1716637"/>
          <a:ext cx="905022" cy="5656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zh-TW" altLang="en-US" sz="1500" kern="1200" dirty="0">
              <a:latin typeface="標楷體" panose="03000509000000000000" pitchFamily="65" charset="-120"/>
              <a:ea typeface="標楷體" panose="03000509000000000000" pitchFamily="65" charset="-120"/>
            </a:rPr>
            <a:t>本質</a:t>
          </a:r>
        </a:p>
      </dsp:txBody>
      <dsp:txXfrm>
        <a:off x="243306" y="1733204"/>
        <a:ext cx="871888" cy="532505"/>
      </dsp:txXfrm>
    </dsp:sp>
    <dsp:sp modelId="{8F25A656-2B4D-4C33-94B2-51EC3E33BC6A}">
      <dsp:nvSpPr>
        <dsp:cNvPr id="0" name=""/>
        <dsp:cNvSpPr/>
      </dsp:nvSpPr>
      <dsp:spPr>
        <a:xfrm>
          <a:off x="1414580" y="302539"/>
          <a:ext cx="1131278" cy="5656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標楷體" panose="03000509000000000000" pitchFamily="65" charset="-120"/>
              <a:ea typeface="標楷體" panose="03000509000000000000" pitchFamily="65" charset="-120"/>
            </a:rPr>
            <a:t>通常知識</a:t>
          </a:r>
        </a:p>
      </dsp:txBody>
      <dsp:txXfrm>
        <a:off x="1431147" y="319106"/>
        <a:ext cx="1098144" cy="532505"/>
      </dsp:txXfrm>
    </dsp:sp>
    <dsp:sp modelId="{F0143231-A00D-4A90-A6BD-33DAA4D1F9F6}">
      <dsp:nvSpPr>
        <dsp:cNvPr id="0" name=""/>
        <dsp:cNvSpPr/>
      </dsp:nvSpPr>
      <dsp:spPr>
        <a:xfrm>
          <a:off x="1527708" y="868178"/>
          <a:ext cx="113127" cy="424229"/>
        </a:xfrm>
        <a:custGeom>
          <a:avLst/>
          <a:gdLst/>
          <a:ahLst/>
          <a:cxnLst/>
          <a:rect l="0" t="0" r="0" b="0"/>
          <a:pathLst>
            <a:path>
              <a:moveTo>
                <a:pt x="0" y="0"/>
              </a:moveTo>
              <a:lnTo>
                <a:pt x="0" y="424229"/>
              </a:lnTo>
              <a:lnTo>
                <a:pt x="113127" y="42422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8B4AD9-2A92-48A2-BB68-74748304544B}">
      <dsp:nvSpPr>
        <dsp:cNvPr id="0" name=""/>
        <dsp:cNvSpPr/>
      </dsp:nvSpPr>
      <dsp:spPr>
        <a:xfrm>
          <a:off x="1640836" y="1009588"/>
          <a:ext cx="905022" cy="5656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zh-TW" altLang="en-US" sz="1500" kern="1200" dirty="0">
              <a:latin typeface="標楷體" panose="03000509000000000000" pitchFamily="65" charset="-120"/>
              <a:ea typeface="標楷體" panose="03000509000000000000" pitchFamily="65" charset="-120"/>
            </a:rPr>
            <a:t>一般知識、普通技能</a:t>
          </a:r>
        </a:p>
      </dsp:txBody>
      <dsp:txXfrm>
        <a:off x="1657403" y="1026155"/>
        <a:ext cx="871888" cy="532505"/>
      </dsp:txXfrm>
    </dsp:sp>
    <dsp:sp modelId="{7C6C210E-7CA3-4FC2-A83D-710DB91AC19F}">
      <dsp:nvSpPr>
        <dsp:cNvPr id="0" name=""/>
        <dsp:cNvSpPr/>
      </dsp:nvSpPr>
      <dsp:spPr>
        <a:xfrm>
          <a:off x="1527708" y="868178"/>
          <a:ext cx="113127" cy="1131278"/>
        </a:xfrm>
        <a:custGeom>
          <a:avLst/>
          <a:gdLst/>
          <a:ahLst/>
          <a:cxnLst/>
          <a:rect l="0" t="0" r="0" b="0"/>
          <a:pathLst>
            <a:path>
              <a:moveTo>
                <a:pt x="0" y="0"/>
              </a:moveTo>
              <a:lnTo>
                <a:pt x="0" y="1131278"/>
              </a:lnTo>
              <a:lnTo>
                <a:pt x="113127" y="113127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755AF1-6207-43B4-A11A-A456C86B49C9}">
      <dsp:nvSpPr>
        <dsp:cNvPr id="0" name=""/>
        <dsp:cNvSpPr/>
      </dsp:nvSpPr>
      <dsp:spPr>
        <a:xfrm>
          <a:off x="1640836" y="1716637"/>
          <a:ext cx="905022" cy="5656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zh-TW" altLang="en-US" sz="1500" kern="1200" dirty="0">
              <a:latin typeface="標楷體" panose="03000509000000000000" pitchFamily="65" charset="-120"/>
              <a:ea typeface="標楷體" panose="03000509000000000000" pitchFamily="65" charset="-120"/>
            </a:rPr>
            <a:t>可預測成度</a:t>
          </a:r>
        </a:p>
      </dsp:txBody>
      <dsp:txXfrm>
        <a:off x="1657403" y="1733204"/>
        <a:ext cx="871888" cy="532505"/>
      </dsp:txXfrm>
    </dsp:sp>
    <dsp:sp modelId="{EA2E8701-2F52-4A4C-8965-632F0F99B961}">
      <dsp:nvSpPr>
        <dsp:cNvPr id="0" name=""/>
        <dsp:cNvSpPr/>
      </dsp:nvSpPr>
      <dsp:spPr>
        <a:xfrm>
          <a:off x="2828678" y="302539"/>
          <a:ext cx="1131278" cy="5656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標楷體" panose="03000509000000000000" pitchFamily="65" charset="-120"/>
              <a:ea typeface="標楷體" panose="03000509000000000000" pitchFamily="65" charset="-120"/>
            </a:rPr>
            <a:t>說明書</a:t>
          </a:r>
        </a:p>
      </dsp:txBody>
      <dsp:txXfrm>
        <a:off x="2845245" y="319106"/>
        <a:ext cx="1098144" cy="532505"/>
      </dsp:txXfrm>
    </dsp:sp>
    <dsp:sp modelId="{2EB657C3-086D-41F4-B66C-C6AD3C3E10B0}">
      <dsp:nvSpPr>
        <dsp:cNvPr id="0" name=""/>
        <dsp:cNvSpPr/>
      </dsp:nvSpPr>
      <dsp:spPr>
        <a:xfrm>
          <a:off x="2941806" y="868178"/>
          <a:ext cx="113127" cy="424229"/>
        </a:xfrm>
        <a:custGeom>
          <a:avLst/>
          <a:gdLst/>
          <a:ahLst/>
          <a:cxnLst/>
          <a:rect l="0" t="0" r="0" b="0"/>
          <a:pathLst>
            <a:path>
              <a:moveTo>
                <a:pt x="0" y="0"/>
              </a:moveTo>
              <a:lnTo>
                <a:pt x="0" y="424229"/>
              </a:lnTo>
              <a:lnTo>
                <a:pt x="113127" y="42422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B18B497-7FF7-4F42-9338-94387CBDF3EE}">
      <dsp:nvSpPr>
        <dsp:cNvPr id="0" name=""/>
        <dsp:cNvSpPr/>
      </dsp:nvSpPr>
      <dsp:spPr>
        <a:xfrm>
          <a:off x="3054934" y="1009588"/>
          <a:ext cx="905022" cy="5656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zh-TW" altLang="en-US" sz="1500" kern="1200" dirty="0">
              <a:latin typeface="標楷體" panose="03000509000000000000" pitchFamily="65" charset="-120"/>
              <a:ea typeface="標楷體" panose="03000509000000000000" pitchFamily="65" charset="-120"/>
            </a:rPr>
            <a:t>指引的數量</a:t>
          </a:r>
        </a:p>
      </dsp:txBody>
      <dsp:txXfrm>
        <a:off x="3071501" y="1026155"/>
        <a:ext cx="871888" cy="532505"/>
      </dsp:txXfrm>
    </dsp:sp>
    <dsp:sp modelId="{174880F7-1D3B-41FC-B008-17D15F87EFEB}">
      <dsp:nvSpPr>
        <dsp:cNvPr id="0" name=""/>
        <dsp:cNvSpPr/>
      </dsp:nvSpPr>
      <dsp:spPr>
        <a:xfrm>
          <a:off x="2941806" y="868178"/>
          <a:ext cx="113127" cy="1131278"/>
        </a:xfrm>
        <a:custGeom>
          <a:avLst/>
          <a:gdLst/>
          <a:ahLst/>
          <a:cxnLst/>
          <a:rect l="0" t="0" r="0" b="0"/>
          <a:pathLst>
            <a:path>
              <a:moveTo>
                <a:pt x="0" y="0"/>
              </a:moveTo>
              <a:lnTo>
                <a:pt x="0" y="1131278"/>
              </a:lnTo>
              <a:lnTo>
                <a:pt x="113127" y="113127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DE07C5-7FFF-442B-A1B0-8E5A0DDCB1A1}">
      <dsp:nvSpPr>
        <dsp:cNvPr id="0" name=""/>
        <dsp:cNvSpPr/>
      </dsp:nvSpPr>
      <dsp:spPr>
        <a:xfrm>
          <a:off x="3054934" y="1716637"/>
          <a:ext cx="905022" cy="5656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zh-TW" altLang="en-US" sz="1500" kern="1200" dirty="0">
              <a:latin typeface="標楷體" panose="03000509000000000000" pitchFamily="65" charset="-120"/>
              <a:ea typeface="標楷體" panose="03000509000000000000" pitchFamily="65" charset="-120"/>
            </a:rPr>
            <a:t>實驗的數量</a:t>
          </a:r>
        </a:p>
      </dsp:txBody>
      <dsp:txXfrm>
        <a:off x="3071501" y="1733204"/>
        <a:ext cx="871888" cy="5325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F6F1DE-CA69-4A77-8FE3-D75EE153141B}">
      <dsp:nvSpPr>
        <dsp:cNvPr id="0" name=""/>
        <dsp:cNvSpPr/>
      </dsp:nvSpPr>
      <dsp:spPr>
        <a:xfrm>
          <a:off x="2396823" y="172594"/>
          <a:ext cx="3425331" cy="1189572"/>
        </a:xfrm>
        <a:prstGeom prst="ellipse">
          <a:avLst/>
        </a:prstGeom>
        <a:solidFill>
          <a:schemeClr val="accent1">
            <a:tint val="50000"/>
            <a:alpha val="40000"/>
            <a:hueOff val="0"/>
            <a:satOff val="0"/>
            <a:lumOff val="0"/>
            <a:alphaOff val="0"/>
          </a:schemeClr>
        </a:solidFill>
        <a:ln>
          <a:noFill/>
        </a:ln>
        <a:effectLst/>
        <a:scene3d>
          <a:camera prst="orthographicFront"/>
          <a:lightRig rig="flat" dir="t"/>
        </a:scene3d>
        <a:sp3d z="-190500" extrusionH="12700" prstMaterial="matte"/>
      </dsp:spPr>
      <dsp:style>
        <a:lnRef idx="0">
          <a:scrgbClr r="0" g="0" b="0"/>
        </a:lnRef>
        <a:fillRef idx="1">
          <a:scrgbClr r="0" g="0" b="0"/>
        </a:fillRef>
        <a:effectRef idx="0">
          <a:scrgbClr r="0" g="0" b="0"/>
        </a:effectRef>
        <a:fontRef idx="minor"/>
      </dsp:style>
    </dsp:sp>
    <dsp:sp modelId="{E733ECA4-86DD-4CB1-A496-088A22ADAC98}">
      <dsp:nvSpPr>
        <dsp:cNvPr id="0" name=""/>
        <dsp:cNvSpPr/>
      </dsp:nvSpPr>
      <dsp:spPr>
        <a:xfrm>
          <a:off x="3782888" y="3085453"/>
          <a:ext cx="663823" cy="424847"/>
        </a:xfrm>
        <a:prstGeom prst="downArrow">
          <a:avLst/>
        </a:prstGeom>
        <a:solidFill>
          <a:schemeClr val="accent2">
            <a:lumMod val="60000"/>
            <a:lumOff val="40000"/>
          </a:schemeClr>
        </a:solidFill>
        <a:ln>
          <a:noFill/>
        </a:ln>
        <a:effectLst>
          <a:outerShdw blurRad="40000" dist="23000" dir="5400000" rotWithShape="0">
            <a:srgbClr val="000000">
              <a:alpha val="35000"/>
            </a:srgbClr>
          </a:outerShdw>
        </a:effectLst>
        <a:scene3d>
          <a:camera prst="orthographicFront"/>
          <a:lightRig rig="flat" dir="t"/>
        </a:scene3d>
        <a:sp3d z="190500" prstMaterial="plastic">
          <a:bevelT w="120900" h="88900"/>
          <a:bevelB w="88900" h="31750" prst="angle"/>
        </a:sp3d>
      </dsp:spPr>
      <dsp:style>
        <a:lnRef idx="0">
          <a:scrgbClr r="0" g="0" b="0"/>
        </a:lnRef>
        <a:fillRef idx="1">
          <a:scrgbClr r="0" g="0" b="0"/>
        </a:fillRef>
        <a:effectRef idx="3">
          <a:scrgbClr r="0" g="0" b="0"/>
        </a:effectRef>
        <a:fontRef idx="minor">
          <a:schemeClr val="lt1"/>
        </a:fontRef>
      </dsp:style>
    </dsp:sp>
    <dsp:sp modelId="{2F167BC3-60E5-4756-A4F8-1BDF8E1CA5B5}">
      <dsp:nvSpPr>
        <dsp:cNvPr id="0" name=""/>
        <dsp:cNvSpPr/>
      </dsp:nvSpPr>
      <dsp:spPr>
        <a:xfrm>
          <a:off x="2521622" y="3341482"/>
          <a:ext cx="3186354" cy="796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zh-TW" altLang="en-US" sz="3200" b="1" kern="1200" dirty="0">
              <a:solidFill>
                <a:srgbClr val="C00000"/>
              </a:solidFill>
              <a:latin typeface="微軟正黑體" pitchFamily="34" charset="-120"/>
              <a:ea typeface="微軟正黑體" pitchFamily="34" charset="-120"/>
            </a:rPr>
            <a:t>必要技術特徵</a:t>
          </a:r>
        </a:p>
      </dsp:txBody>
      <dsp:txXfrm>
        <a:off x="2521622" y="3341482"/>
        <a:ext cx="3186354" cy="796588"/>
      </dsp:txXfrm>
    </dsp:sp>
    <dsp:sp modelId="{151AC660-07BF-46F5-B21A-85098025E191}">
      <dsp:nvSpPr>
        <dsp:cNvPr id="0" name=""/>
        <dsp:cNvSpPr/>
      </dsp:nvSpPr>
      <dsp:spPr>
        <a:xfrm>
          <a:off x="3642157" y="1454039"/>
          <a:ext cx="1194883" cy="119488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zh-TW" altLang="en-US" sz="1900" kern="1200" dirty="0">
              <a:latin typeface="微軟正黑體" pitchFamily="34" charset="-120"/>
              <a:ea typeface="微軟正黑體" pitchFamily="34" charset="-120"/>
            </a:rPr>
            <a:t>電子裝置</a:t>
          </a:r>
        </a:p>
      </dsp:txBody>
      <dsp:txXfrm>
        <a:off x="3817144" y="1629026"/>
        <a:ext cx="844909" cy="844909"/>
      </dsp:txXfrm>
    </dsp:sp>
    <dsp:sp modelId="{89F197D2-F755-4E42-86E7-855DCCC90491}">
      <dsp:nvSpPr>
        <dsp:cNvPr id="0" name=""/>
        <dsp:cNvSpPr/>
      </dsp:nvSpPr>
      <dsp:spPr>
        <a:xfrm>
          <a:off x="2754950" y="571353"/>
          <a:ext cx="1194883" cy="1194883"/>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zh-TW" altLang="en-US" sz="1900" kern="1200" dirty="0">
              <a:latin typeface="微軟正黑體" panose="020B0604030504040204" pitchFamily="34" charset="-120"/>
              <a:ea typeface="微軟正黑體" panose="020B0604030504040204" pitchFamily="34" charset="-120"/>
            </a:rPr>
            <a:t>定位裝置</a:t>
          </a:r>
        </a:p>
      </dsp:txBody>
      <dsp:txXfrm>
        <a:off x="2929937" y="746340"/>
        <a:ext cx="844909" cy="844909"/>
      </dsp:txXfrm>
    </dsp:sp>
    <dsp:sp modelId="{5B32E503-BBC6-444D-9A0A-7BEFD0EE8DD2}">
      <dsp:nvSpPr>
        <dsp:cNvPr id="0" name=""/>
        <dsp:cNvSpPr/>
      </dsp:nvSpPr>
      <dsp:spPr>
        <a:xfrm>
          <a:off x="4008588" y="268715"/>
          <a:ext cx="1194883" cy="1194883"/>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zh-TW" altLang="en-US" sz="1900" kern="1200" dirty="0">
              <a:latin typeface="微軟正黑體" panose="020B0604030504040204" pitchFamily="34" charset="-120"/>
              <a:ea typeface="微軟正黑體" panose="020B0604030504040204" pitchFamily="34" charset="-120"/>
            </a:rPr>
            <a:t>不動產資料庫</a:t>
          </a:r>
        </a:p>
      </dsp:txBody>
      <dsp:txXfrm>
        <a:off x="4183575" y="443702"/>
        <a:ext cx="844909" cy="844909"/>
      </dsp:txXfrm>
    </dsp:sp>
    <dsp:sp modelId="{A38BB2A8-60AD-4901-8AB2-2B12D98A2D03}">
      <dsp:nvSpPr>
        <dsp:cNvPr id="0" name=""/>
        <dsp:cNvSpPr/>
      </dsp:nvSpPr>
      <dsp:spPr>
        <a:xfrm>
          <a:off x="2162711" y="144499"/>
          <a:ext cx="3717413" cy="2973931"/>
        </a:xfrm>
        <a:prstGeom prst="funnel">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51D23-C406-4610-A099-5ED1E5D746BA}">
      <dsp:nvSpPr>
        <dsp:cNvPr id="0" name=""/>
        <dsp:cNvSpPr/>
      </dsp:nvSpPr>
      <dsp:spPr>
        <a:xfrm>
          <a:off x="0" y="1058517"/>
          <a:ext cx="8352928" cy="1411356"/>
        </a:xfrm>
        <a:prstGeom prst="notchedRightArrow">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ED918D7C-3B55-4D76-8D4B-C117E8738D44}">
      <dsp:nvSpPr>
        <dsp:cNvPr id="0" name=""/>
        <dsp:cNvSpPr/>
      </dsp:nvSpPr>
      <dsp:spPr>
        <a:xfrm>
          <a:off x="3762" y="0"/>
          <a:ext cx="1809665" cy="141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lang="zh-TW" altLang="en-US" sz="2400" kern="1200" dirty="0">
              <a:latin typeface="微軟正黑體" panose="020B0604030504040204" pitchFamily="34" charset="-120"/>
              <a:ea typeface="微軟正黑體" panose="020B0604030504040204" pitchFamily="34" charset="-120"/>
            </a:rPr>
            <a:t>核駁審定</a:t>
          </a:r>
          <a:endParaRPr lang="zh-CN" altLang="en-US" sz="2400" kern="1200" dirty="0">
            <a:latin typeface="微軟正黑體" panose="020B0604030504040204" pitchFamily="34" charset="-120"/>
            <a:ea typeface="微軟正黑體" panose="020B0604030504040204" pitchFamily="34" charset="-120"/>
          </a:endParaRPr>
        </a:p>
      </dsp:txBody>
      <dsp:txXfrm>
        <a:off x="3762" y="0"/>
        <a:ext cx="1809665" cy="1411356"/>
      </dsp:txXfrm>
    </dsp:sp>
    <dsp:sp modelId="{4E0B5ABD-4D85-4B39-98F2-DE08CDE1B9EC}">
      <dsp:nvSpPr>
        <dsp:cNvPr id="0" name=""/>
        <dsp:cNvSpPr/>
      </dsp:nvSpPr>
      <dsp:spPr>
        <a:xfrm>
          <a:off x="732175" y="1587776"/>
          <a:ext cx="352839" cy="352839"/>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BC1C417-75E1-4E61-A74D-D87B4982B54A}">
      <dsp:nvSpPr>
        <dsp:cNvPr id="0" name=""/>
        <dsp:cNvSpPr/>
      </dsp:nvSpPr>
      <dsp:spPr>
        <a:xfrm>
          <a:off x="2232256" y="2088229"/>
          <a:ext cx="1809665" cy="141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zh-TW" altLang="en-US" sz="2400" kern="1200" dirty="0">
              <a:latin typeface="微軟正黑體" panose="020B0604030504040204" pitchFamily="34" charset="-120"/>
              <a:ea typeface="微軟正黑體" panose="020B0604030504040204" pitchFamily="34" charset="-120"/>
            </a:rPr>
            <a:t>再審查</a:t>
          </a:r>
          <a:endParaRPr lang="zh-CN" altLang="en-US" sz="2400" kern="1200" dirty="0">
            <a:latin typeface="微軟正黑體" panose="020B0604030504040204" pitchFamily="34" charset="-120"/>
            <a:ea typeface="微軟正黑體" panose="020B0604030504040204" pitchFamily="34" charset="-120"/>
          </a:endParaRPr>
        </a:p>
      </dsp:txBody>
      <dsp:txXfrm>
        <a:off x="2232256" y="2088229"/>
        <a:ext cx="1809665" cy="1411356"/>
      </dsp:txXfrm>
    </dsp:sp>
    <dsp:sp modelId="{01D444B0-E068-48E6-B237-09940E9DD73F}">
      <dsp:nvSpPr>
        <dsp:cNvPr id="0" name=""/>
        <dsp:cNvSpPr/>
      </dsp:nvSpPr>
      <dsp:spPr>
        <a:xfrm>
          <a:off x="2952327" y="1584177"/>
          <a:ext cx="352839" cy="352839"/>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203DA2D-6675-4089-A6C7-53356BCF9552}">
      <dsp:nvSpPr>
        <dsp:cNvPr id="0" name=""/>
        <dsp:cNvSpPr/>
      </dsp:nvSpPr>
      <dsp:spPr>
        <a:xfrm>
          <a:off x="3600399" y="0"/>
          <a:ext cx="1809665" cy="141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lang="zh-TW" altLang="en-US" sz="2400" kern="1200" dirty="0">
              <a:latin typeface="微軟正黑體" panose="020B0604030504040204" pitchFamily="34" charset="-120"/>
              <a:ea typeface="微軟正黑體" panose="020B0604030504040204" pitchFamily="34" charset="-120"/>
            </a:rPr>
            <a:t>訴願</a:t>
          </a:r>
          <a:endParaRPr lang="zh-CN" altLang="en-US" sz="2400" kern="1200" dirty="0">
            <a:latin typeface="微軟正黑體" panose="020B0604030504040204" pitchFamily="34" charset="-120"/>
            <a:ea typeface="微軟正黑體" panose="020B0604030504040204" pitchFamily="34" charset="-120"/>
          </a:endParaRPr>
        </a:p>
      </dsp:txBody>
      <dsp:txXfrm>
        <a:off x="3600399" y="0"/>
        <a:ext cx="1809665" cy="1411356"/>
      </dsp:txXfrm>
    </dsp:sp>
    <dsp:sp modelId="{3C0DC766-CDB8-41C2-8942-292E87E7B7AA}">
      <dsp:nvSpPr>
        <dsp:cNvPr id="0" name=""/>
        <dsp:cNvSpPr/>
      </dsp:nvSpPr>
      <dsp:spPr>
        <a:xfrm>
          <a:off x="4320479" y="1584177"/>
          <a:ext cx="352839" cy="352839"/>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DB0485C-52A6-4D32-9ED1-61AF16C2A07D}">
      <dsp:nvSpPr>
        <dsp:cNvPr id="0" name=""/>
        <dsp:cNvSpPr/>
      </dsp:nvSpPr>
      <dsp:spPr>
        <a:xfrm>
          <a:off x="5704207" y="2117035"/>
          <a:ext cx="1809665" cy="141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zh-TW" altLang="en-US" sz="2400" kern="1200" dirty="0">
              <a:latin typeface="微軟正黑體" panose="020B0604030504040204" pitchFamily="34" charset="-120"/>
              <a:ea typeface="微軟正黑體" panose="020B0604030504040204" pitchFamily="34" charset="-120"/>
            </a:rPr>
            <a:t>行政訴訟</a:t>
          </a:r>
          <a:endParaRPr lang="zh-CN" altLang="en-US" sz="2400" kern="1200" dirty="0">
            <a:latin typeface="微軟正黑體" panose="020B0604030504040204" pitchFamily="34" charset="-120"/>
            <a:ea typeface="微軟正黑體" panose="020B0604030504040204" pitchFamily="34" charset="-120"/>
          </a:endParaRPr>
        </a:p>
      </dsp:txBody>
      <dsp:txXfrm>
        <a:off x="5704207" y="2117035"/>
        <a:ext cx="1809665" cy="1411356"/>
      </dsp:txXfrm>
    </dsp:sp>
    <dsp:sp modelId="{896DFF9D-3572-4A9F-964A-FA6AECE917B9}">
      <dsp:nvSpPr>
        <dsp:cNvPr id="0" name=""/>
        <dsp:cNvSpPr/>
      </dsp:nvSpPr>
      <dsp:spPr>
        <a:xfrm>
          <a:off x="6432620" y="1587776"/>
          <a:ext cx="352839" cy="352839"/>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51D23-C406-4610-A099-5ED1E5D746BA}">
      <dsp:nvSpPr>
        <dsp:cNvPr id="0" name=""/>
        <dsp:cNvSpPr/>
      </dsp:nvSpPr>
      <dsp:spPr>
        <a:xfrm>
          <a:off x="0" y="1058517"/>
          <a:ext cx="8352928" cy="1411356"/>
        </a:xfrm>
        <a:prstGeom prst="notchedRightArrow">
          <a:avLst/>
        </a:prstGeom>
        <a:gradFill rotWithShape="0">
          <a:gsLst>
            <a:gs pos="0">
              <a:schemeClr val="accent3">
                <a:tint val="55000"/>
                <a:hueOff val="0"/>
                <a:satOff val="0"/>
                <a:lumOff val="0"/>
                <a:alphaOff val="0"/>
                <a:shade val="51000"/>
                <a:satMod val="130000"/>
              </a:schemeClr>
            </a:gs>
            <a:gs pos="80000">
              <a:schemeClr val="accent3">
                <a:tint val="55000"/>
                <a:hueOff val="0"/>
                <a:satOff val="0"/>
                <a:lumOff val="0"/>
                <a:alphaOff val="0"/>
                <a:shade val="93000"/>
                <a:satMod val="130000"/>
              </a:schemeClr>
            </a:gs>
            <a:gs pos="100000">
              <a:schemeClr val="accent3">
                <a:tint val="55000"/>
                <a:hueOff val="0"/>
                <a:satOff val="0"/>
                <a:lumOff val="0"/>
                <a:alphaOff val="0"/>
                <a:shade val="94000"/>
                <a:satMod val="13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ED918D7C-3B55-4D76-8D4B-C117E8738D44}">
      <dsp:nvSpPr>
        <dsp:cNvPr id="0" name=""/>
        <dsp:cNvSpPr/>
      </dsp:nvSpPr>
      <dsp:spPr>
        <a:xfrm>
          <a:off x="3762" y="0"/>
          <a:ext cx="1809665" cy="141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lang="zh-TW" altLang="en-US" sz="2400" kern="1200" dirty="0">
              <a:latin typeface="微軟正黑體" panose="020B0604030504040204" pitchFamily="34" charset="-120"/>
              <a:ea typeface="微軟正黑體" panose="020B0604030504040204" pitchFamily="34" charset="-120"/>
            </a:rPr>
            <a:t>申請日</a:t>
          </a:r>
          <a:endParaRPr lang="zh-CN" altLang="en-US" sz="2400" kern="1200" dirty="0">
            <a:latin typeface="微軟正黑體" panose="020B0604030504040204" pitchFamily="34" charset="-120"/>
            <a:ea typeface="微軟正黑體" panose="020B0604030504040204" pitchFamily="34" charset="-120"/>
          </a:endParaRPr>
        </a:p>
      </dsp:txBody>
      <dsp:txXfrm>
        <a:off x="3762" y="0"/>
        <a:ext cx="1809665" cy="1411356"/>
      </dsp:txXfrm>
    </dsp:sp>
    <dsp:sp modelId="{4E0B5ABD-4D85-4B39-98F2-DE08CDE1B9EC}">
      <dsp:nvSpPr>
        <dsp:cNvPr id="0" name=""/>
        <dsp:cNvSpPr/>
      </dsp:nvSpPr>
      <dsp:spPr>
        <a:xfrm>
          <a:off x="732175" y="1587776"/>
          <a:ext cx="352839" cy="352839"/>
        </a:xfrm>
        <a:prstGeom prst="ellipse">
          <a:avLst/>
        </a:prstGeom>
        <a:gradFill rotWithShape="0">
          <a:gsLst>
            <a:gs pos="0">
              <a:schemeClr val="accent3">
                <a:shade val="50000"/>
                <a:hueOff val="0"/>
                <a:satOff val="0"/>
                <a:lumOff val="0"/>
                <a:alphaOff val="0"/>
                <a:shade val="51000"/>
                <a:satMod val="130000"/>
              </a:schemeClr>
            </a:gs>
            <a:gs pos="80000">
              <a:schemeClr val="accent3">
                <a:shade val="50000"/>
                <a:hueOff val="0"/>
                <a:satOff val="0"/>
                <a:lumOff val="0"/>
                <a:alphaOff val="0"/>
                <a:shade val="93000"/>
                <a:satMod val="130000"/>
              </a:schemeClr>
            </a:gs>
            <a:gs pos="100000">
              <a:schemeClr val="accent3">
                <a:shade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BC1C417-75E1-4E61-A74D-D87B4982B54A}">
      <dsp:nvSpPr>
        <dsp:cNvPr id="0" name=""/>
        <dsp:cNvSpPr/>
      </dsp:nvSpPr>
      <dsp:spPr>
        <a:xfrm>
          <a:off x="3240366" y="2088229"/>
          <a:ext cx="1809665" cy="141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zh-TW" altLang="en-US" sz="2400" kern="1200" dirty="0">
              <a:latin typeface="微軟正黑體" panose="020B0604030504040204" pitchFamily="34" charset="-120"/>
              <a:ea typeface="微軟正黑體" panose="020B0604030504040204" pitchFamily="34" charset="-120"/>
            </a:rPr>
            <a:t>核准審定</a:t>
          </a:r>
          <a:endParaRPr lang="zh-CN" altLang="en-US" sz="2400" kern="1200" dirty="0">
            <a:latin typeface="微軟正黑體" panose="020B0604030504040204" pitchFamily="34" charset="-120"/>
            <a:ea typeface="微軟正黑體" panose="020B0604030504040204" pitchFamily="34" charset="-120"/>
          </a:endParaRPr>
        </a:p>
      </dsp:txBody>
      <dsp:txXfrm>
        <a:off x="3240366" y="2088229"/>
        <a:ext cx="1809665" cy="1411356"/>
      </dsp:txXfrm>
    </dsp:sp>
    <dsp:sp modelId="{01D444B0-E068-48E6-B237-09940E9DD73F}">
      <dsp:nvSpPr>
        <dsp:cNvPr id="0" name=""/>
        <dsp:cNvSpPr/>
      </dsp:nvSpPr>
      <dsp:spPr>
        <a:xfrm>
          <a:off x="3960442" y="1584177"/>
          <a:ext cx="352839" cy="352839"/>
        </a:xfrm>
        <a:prstGeom prst="ellipse">
          <a:avLst/>
        </a:prstGeom>
        <a:gradFill rotWithShape="0">
          <a:gsLst>
            <a:gs pos="0">
              <a:schemeClr val="accent3">
                <a:shade val="50000"/>
                <a:hueOff val="133778"/>
                <a:satOff val="-2135"/>
                <a:lumOff val="20553"/>
                <a:alphaOff val="0"/>
                <a:shade val="51000"/>
                <a:satMod val="130000"/>
              </a:schemeClr>
            </a:gs>
            <a:gs pos="80000">
              <a:schemeClr val="accent3">
                <a:shade val="50000"/>
                <a:hueOff val="133778"/>
                <a:satOff val="-2135"/>
                <a:lumOff val="20553"/>
                <a:alphaOff val="0"/>
                <a:shade val="93000"/>
                <a:satMod val="130000"/>
              </a:schemeClr>
            </a:gs>
            <a:gs pos="100000">
              <a:schemeClr val="accent3">
                <a:shade val="50000"/>
                <a:hueOff val="133778"/>
                <a:satOff val="-2135"/>
                <a:lumOff val="2055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203DA2D-6675-4089-A6C7-53356BCF9552}">
      <dsp:nvSpPr>
        <dsp:cNvPr id="0" name=""/>
        <dsp:cNvSpPr/>
      </dsp:nvSpPr>
      <dsp:spPr>
        <a:xfrm>
          <a:off x="4464496" y="72007"/>
          <a:ext cx="1809665" cy="141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lang="zh-TW" altLang="en-US" sz="2400" kern="1200" dirty="0">
              <a:latin typeface="微軟正黑體" panose="020B0604030504040204" pitchFamily="34" charset="-120"/>
              <a:ea typeface="微軟正黑體" panose="020B0604030504040204" pitchFamily="34" charset="-120"/>
            </a:rPr>
            <a:t>繳費領證</a:t>
          </a:r>
          <a:endParaRPr lang="zh-CN" altLang="en-US" sz="2400" kern="1200" dirty="0">
            <a:latin typeface="微軟正黑體" panose="020B0604030504040204" pitchFamily="34" charset="-120"/>
            <a:ea typeface="微軟正黑體" panose="020B0604030504040204" pitchFamily="34" charset="-120"/>
          </a:endParaRPr>
        </a:p>
      </dsp:txBody>
      <dsp:txXfrm>
        <a:off x="4464496" y="72007"/>
        <a:ext cx="1809665" cy="1411356"/>
      </dsp:txXfrm>
    </dsp:sp>
    <dsp:sp modelId="{3C0DC766-CDB8-41C2-8942-292E87E7B7AA}">
      <dsp:nvSpPr>
        <dsp:cNvPr id="0" name=""/>
        <dsp:cNvSpPr/>
      </dsp:nvSpPr>
      <dsp:spPr>
        <a:xfrm>
          <a:off x="5256582" y="1584177"/>
          <a:ext cx="352839" cy="352839"/>
        </a:xfrm>
        <a:prstGeom prst="ellipse">
          <a:avLst/>
        </a:prstGeom>
        <a:gradFill rotWithShape="0">
          <a:gsLst>
            <a:gs pos="0">
              <a:schemeClr val="accent3">
                <a:shade val="50000"/>
                <a:hueOff val="267556"/>
                <a:satOff val="-4269"/>
                <a:lumOff val="41107"/>
                <a:alphaOff val="0"/>
                <a:shade val="51000"/>
                <a:satMod val="130000"/>
              </a:schemeClr>
            </a:gs>
            <a:gs pos="80000">
              <a:schemeClr val="accent3">
                <a:shade val="50000"/>
                <a:hueOff val="267556"/>
                <a:satOff val="-4269"/>
                <a:lumOff val="41107"/>
                <a:alphaOff val="0"/>
                <a:shade val="93000"/>
                <a:satMod val="130000"/>
              </a:schemeClr>
            </a:gs>
            <a:gs pos="100000">
              <a:schemeClr val="accent3">
                <a:shade val="50000"/>
                <a:hueOff val="267556"/>
                <a:satOff val="-4269"/>
                <a:lumOff val="4110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DB0485C-52A6-4D32-9ED1-61AF16C2A07D}">
      <dsp:nvSpPr>
        <dsp:cNvPr id="0" name=""/>
        <dsp:cNvSpPr/>
      </dsp:nvSpPr>
      <dsp:spPr>
        <a:xfrm>
          <a:off x="5704207" y="2117035"/>
          <a:ext cx="1809665" cy="1411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zh-TW" altLang="en-US" sz="2400" kern="1200" dirty="0">
              <a:latin typeface="微軟正黑體" panose="020B0604030504040204" pitchFamily="34" charset="-120"/>
              <a:ea typeface="微軟正黑體" panose="020B0604030504040204" pitchFamily="34" charset="-120"/>
            </a:rPr>
            <a:t>公告</a:t>
          </a:r>
          <a:endParaRPr lang="zh-CN" altLang="en-US" sz="2400" kern="1200" dirty="0">
            <a:latin typeface="微軟正黑體" panose="020B0604030504040204" pitchFamily="34" charset="-120"/>
            <a:ea typeface="微軟正黑體" panose="020B0604030504040204" pitchFamily="34" charset="-120"/>
          </a:endParaRPr>
        </a:p>
      </dsp:txBody>
      <dsp:txXfrm>
        <a:off x="5704207" y="2117035"/>
        <a:ext cx="1809665" cy="1411356"/>
      </dsp:txXfrm>
    </dsp:sp>
    <dsp:sp modelId="{896DFF9D-3572-4A9F-964A-FA6AECE917B9}">
      <dsp:nvSpPr>
        <dsp:cNvPr id="0" name=""/>
        <dsp:cNvSpPr/>
      </dsp:nvSpPr>
      <dsp:spPr>
        <a:xfrm>
          <a:off x="6432620" y="1587776"/>
          <a:ext cx="352839" cy="352839"/>
        </a:xfrm>
        <a:prstGeom prst="ellipse">
          <a:avLst/>
        </a:prstGeom>
        <a:gradFill rotWithShape="0">
          <a:gsLst>
            <a:gs pos="0">
              <a:schemeClr val="accent3">
                <a:shade val="50000"/>
                <a:hueOff val="133778"/>
                <a:satOff val="-2135"/>
                <a:lumOff val="20553"/>
                <a:alphaOff val="0"/>
                <a:shade val="51000"/>
                <a:satMod val="130000"/>
              </a:schemeClr>
            </a:gs>
            <a:gs pos="80000">
              <a:schemeClr val="accent3">
                <a:shade val="50000"/>
                <a:hueOff val="133778"/>
                <a:satOff val="-2135"/>
                <a:lumOff val="20553"/>
                <a:alphaOff val="0"/>
                <a:shade val="93000"/>
                <a:satMod val="130000"/>
              </a:schemeClr>
            </a:gs>
            <a:gs pos="100000">
              <a:schemeClr val="accent3">
                <a:shade val="50000"/>
                <a:hueOff val="133778"/>
                <a:satOff val="-2135"/>
                <a:lumOff val="2055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5257D3-27E2-436D-9FA5-D5D3D8662406}">
      <dsp:nvSpPr>
        <dsp:cNvPr id="0" name=""/>
        <dsp:cNvSpPr/>
      </dsp:nvSpPr>
      <dsp:spPr>
        <a:xfrm rot="5400000">
          <a:off x="3508194" y="-1563983"/>
          <a:ext cx="3713026" cy="68409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違反發明定義</a:t>
          </a:r>
          <a:r>
            <a:rPr lang="en-US" altLang="en-US" sz="1600" kern="1200" dirty="0">
              <a:solidFill>
                <a:schemeClr val="tx1"/>
              </a:solidFill>
              <a:latin typeface="微軟正黑體" panose="020B0604030504040204" pitchFamily="34" charset="-120"/>
              <a:ea typeface="微軟正黑體" panose="020B0604030504040204" pitchFamily="34" charset="-120"/>
            </a:rPr>
            <a:t>(§21)</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不具產業利用性、新穎性、進步性 </a:t>
          </a:r>
          <a:r>
            <a:rPr lang="en-US" altLang="en-US" sz="1600" kern="1200" dirty="0">
              <a:solidFill>
                <a:schemeClr val="tx1"/>
              </a:solidFill>
              <a:latin typeface="微軟正黑體" panose="020B0604030504040204" pitchFamily="34" charset="-120"/>
              <a:ea typeface="微軟正黑體" panose="020B0604030504040204" pitchFamily="34" charset="-120"/>
            </a:rPr>
            <a:t>(§22)</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違反擬制喪失新穎性規定</a:t>
          </a:r>
          <a:r>
            <a:rPr lang="en-US" altLang="en-US" sz="1600" kern="1200" dirty="0">
              <a:solidFill>
                <a:schemeClr val="tx1"/>
              </a:solidFill>
              <a:latin typeface="微軟正黑體" panose="020B0604030504040204" pitchFamily="34" charset="-120"/>
              <a:ea typeface="微軟正黑體" panose="020B0604030504040204" pitchFamily="34" charset="-120"/>
            </a:rPr>
            <a:t>(§23)</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法定不予專利標的 </a:t>
          </a:r>
          <a:r>
            <a:rPr lang="en-US" altLang="en-US" sz="1600" kern="1200" dirty="0">
              <a:solidFill>
                <a:schemeClr val="tx1"/>
              </a:solidFill>
              <a:latin typeface="微軟正黑體" panose="020B0604030504040204" pitchFamily="34" charset="-120"/>
              <a:ea typeface="微軟正黑體" panose="020B0604030504040204" pitchFamily="34" charset="-120"/>
            </a:rPr>
            <a:t>(§24)</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違反充分揭露原則</a:t>
          </a:r>
          <a:r>
            <a:rPr lang="en-US" altLang="en-US" sz="1600" kern="1200" dirty="0">
              <a:solidFill>
                <a:schemeClr val="tx1"/>
              </a:solidFill>
              <a:latin typeface="微軟正黑體" panose="020B0604030504040204" pitchFamily="34" charset="-120"/>
              <a:ea typeface="微軟正黑體" panose="020B0604030504040204" pitchFamily="34" charset="-120"/>
            </a:rPr>
            <a:t>(§26)</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違反先申請原則</a:t>
          </a:r>
          <a:r>
            <a:rPr lang="en-US" altLang="en-US" sz="1600" kern="1200" dirty="0">
              <a:solidFill>
                <a:schemeClr val="tx1"/>
              </a:solidFill>
              <a:latin typeface="微軟正黑體" panose="020B0604030504040204" pitchFamily="34" charset="-120"/>
              <a:ea typeface="微軟正黑體" panose="020B0604030504040204" pitchFamily="34" charset="-120"/>
            </a:rPr>
            <a:t>(§31)</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違反一案兩請規定</a:t>
          </a:r>
          <a:r>
            <a:rPr lang="en-US" altLang="en-US" sz="1600" kern="1200" dirty="0">
              <a:solidFill>
                <a:schemeClr val="tx1"/>
              </a:solidFill>
              <a:latin typeface="微軟正黑體" panose="020B0604030504040204" pitchFamily="34" charset="-120"/>
              <a:ea typeface="微軟正黑體" panose="020B0604030504040204" pitchFamily="34" charset="-120"/>
            </a:rPr>
            <a:t>(§32I</a:t>
          </a:r>
          <a:r>
            <a:rPr lang="zh-TW" altLang="en-US" sz="1600" kern="1200" dirty="0">
              <a:solidFill>
                <a:schemeClr val="tx1"/>
              </a:solidFill>
              <a:latin typeface="微軟正黑體" panose="020B0604030504040204" pitchFamily="34" charset="-120"/>
              <a:ea typeface="微軟正黑體" panose="020B0604030504040204" pitchFamily="34" charset="-120"/>
            </a:rPr>
            <a:t>、</a:t>
          </a:r>
          <a:r>
            <a:rPr lang="en-US" altLang="en-US" sz="1600" kern="1200" dirty="0">
              <a:solidFill>
                <a:schemeClr val="tx1"/>
              </a:solidFill>
              <a:latin typeface="微軟正黑體" panose="020B0604030504040204" pitchFamily="34" charset="-120"/>
              <a:ea typeface="微軟正黑體" panose="020B0604030504040204" pitchFamily="34" charset="-120"/>
            </a:rPr>
            <a:t>III)</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中文本超出外文本揭露之範圍</a:t>
          </a:r>
          <a:r>
            <a:rPr lang="en-US" altLang="en-US" sz="1600" kern="1200" dirty="0">
              <a:solidFill>
                <a:schemeClr val="tx1"/>
              </a:solidFill>
              <a:latin typeface="微軟正黑體" panose="020B0604030504040204" pitchFamily="34" charset="-120"/>
              <a:ea typeface="微軟正黑體" panose="020B0604030504040204" pitchFamily="34" charset="-120"/>
            </a:rPr>
            <a:t>(§44II)</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中文本之誤譯訂正超出外文本揭露之範圍</a:t>
          </a:r>
          <a:r>
            <a:rPr lang="en-US" altLang="en-US" sz="1600" kern="1200" dirty="0">
              <a:solidFill>
                <a:schemeClr val="tx1"/>
              </a:solidFill>
              <a:latin typeface="微軟正黑體" panose="020B0604030504040204" pitchFamily="34" charset="-120"/>
              <a:ea typeface="微軟正黑體" panose="020B0604030504040204" pitchFamily="34" charset="-120"/>
            </a:rPr>
            <a:t>(</a:t>
          </a:r>
          <a:r>
            <a:rPr lang="zh-TW" altLang="en-US" sz="1600" kern="1200" dirty="0">
              <a:solidFill>
                <a:schemeClr val="tx1"/>
              </a:solidFill>
              <a:latin typeface="微軟正黑體" panose="020B0604030504040204" pitchFamily="34" charset="-120"/>
              <a:ea typeface="微軟正黑體" panose="020B0604030504040204" pitchFamily="34" charset="-120"/>
            </a:rPr>
            <a:t>原審定：</a:t>
          </a:r>
          <a:r>
            <a:rPr lang="en-US" altLang="en-US" sz="1600" kern="1200" dirty="0">
              <a:solidFill>
                <a:schemeClr val="tx1"/>
              </a:solidFill>
              <a:latin typeface="微軟正黑體" panose="020B0604030504040204" pitchFamily="34" charset="-120"/>
              <a:ea typeface="微軟正黑體" panose="020B0604030504040204" pitchFamily="34" charset="-120"/>
            </a:rPr>
            <a:t>§44III</a:t>
          </a:r>
          <a:r>
            <a:rPr lang="zh-TW" altLang="en-US" sz="1600" kern="1200" dirty="0">
              <a:solidFill>
                <a:schemeClr val="tx1"/>
              </a:solidFill>
              <a:latin typeface="微軟正黑體" panose="020B0604030504040204" pitchFamily="34" charset="-120"/>
              <a:ea typeface="微軟正黑體" panose="020B0604030504040204" pitchFamily="34" charset="-120"/>
            </a:rPr>
            <a:t>；更正階段：</a:t>
          </a:r>
          <a:r>
            <a:rPr lang="en-US" altLang="en-US" sz="1600" kern="1200" dirty="0">
              <a:solidFill>
                <a:schemeClr val="tx1"/>
              </a:solidFill>
              <a:latin typeface="微軟正黑體" panose="020B0604030504040204" pitchFamily="34" charset="-120"/>
              <a:ea typeface="微軟正黑體" panose="020B0604030504040204" pitchFamily="34" charset="-120"/>
            </a:rPr>
            <a:t>§67III)</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專利權人所屬國家對我國國民申請專利不予受理者</a:t>
          </a: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非由全體共有人提出申請</a:t>
          </a:r>
          <a:r>
            <a:rPr lang="en-US" altLang="en-US" sz="1600" kern="1200" dirty="0">
              <a:solidFill>
                <a:schemeClr val="tx1"/>
              </a:solidFill>
              <a:latin typeface="微軟正黑體" panose="020B0604030504040204" pitchFamily="34" charset="-120"/>
              <a:ea typeface="微軟正黑體" panose="020B0604030504040204" pitchFamily="34" charset="-120"/>
            </a:rPr>
            <a:t>(§12)</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16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專利權人為非專利真正申請權人</a:t>
          </a:r>
        </a:p>
      </dsp:txBody>
      <dsp:txXfrm rot="-5400000">
        <a:off x="1944212" y="181254"/>
        <a:ext cx="6659737" cy="3350516"/>
      </dsp:txXfrm>
    </dsp:sp>
    <dsp:sp modelId="{89CA6D0C-A37D-4007-B667-AC8FC9C88616}">
      <dsp:nvSpPr>
        <dsp:cNvPr id="0" name=""/>
        <dsp:cNvSpPr/>
      </dsp:nvSpPr>
      <dsp:spPr>
        <a:xfrm>
          <a:off x="7581" y="5"/>
          <a:ext cx="1872454" cy="1404991"/>
        </a:xfrm>
        <a:prstGeom prst="roundRect">
          <a:avLst/>
        </a:prstGeom>
        <a:solidFill>
          <a:schemeClr val="accent1">
            <a:hueOff val="0"/>
            <a:satOff val="0"/>
            <a:lumOff val="0"/>
            <a:alpha val="77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solidFill>
              <a:latin typeface="微軟正黑體" panose="020B0604030504040204" pitchFamily="34" charset="-120"/>
              <a:ea typeface="微軟正黑體" panose="020B0604030504040204" pitchFamily="34" charset="-120"/>
            </a:rPr>
            <a:t>一般事項</a:t>
          </a:r>
          <a:r>
            <a:rPr lang="zh-TW" altLang="en-US" sz="1800" kern="1200" dirty="0">
              <a:solidFill>
                <a:schemeClr val="tx1"/>
              </a:solidFill>
              <a:latin typeface="微軟正黑體" panose="020B0604030504040204" pitchFamily="34" charset="-120"/>
              <a:ea typeface="微軟正黑體" panose="020B0604030504040204" pitchFamily="34" charset="-120"/>
            </a:rPr>
            <a:t>：依核准審定時之規定</a:t>
          </a:r>
        </a:p>
      </dsp:txBody>
      <dsp:txXfrm>
        <a:off x="76167" y="68591"/>
        <a:ext cx="1735282" cy="1267819"/>
      </dsp:txXfrm>
    </dsp:sp>
    <dsp:sp modelId="{EE1AD2BC-48BE-4E67-B9BD-5D3F02BA6749}">
      <dsp:nvSpPr>
        <dsp:cNvPr id="0" name=""/>
        <dsp:cNvSpPr/>
      </dsp:nvSpPr>
      <dsp:spPr>
        <a:xfrm rot="5400000">
          <a:off x="4431802" y="1387879"/>
          <a:ext cx="1924626" cy="6925736"/>
        </a:xfrm>
        <a:prstGeom prst="round2Same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247650" tIns="123825" rIns="247650" bIns="123825" numCol="1" spcCol="1270" anchor="ctr" anchorCtr="0">
          <a:noAutofit/>
        </a:bodyPr>
        <a:lstStyle/>
        <a:p>
          <a:pPr marL="171450" lvl="1" indent="-171450" algn="l" defTabSz="711200">
            <a:lnSpc>
              <a:spcPts val="220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分割超出原申請案申請時揭露範圍</a:t>
          </a:r>
          <a:r>
            <a:rPr lang="en-US" altLang="en-US" sz="1600" kern="1200" dirty="0">
              <a:solidFill>
                <a:schemeClr val="tx1"/>
              </a:solidFill>
              <a:latin typeface="微軟正黑體" panose="020B0604030504040204" pitchFamily="34" charset="-120"/>
              <a:ea typeface="微軟正黑體" panose="020B0604030504040204" pitchFamily="34" charset="-120"/>
            </a:rPr>
            <a:t>(§34Ⅳ)</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20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違反應與原申請案核准審定之請求項非屬相同發明</a:t>
          </a:r>
          <a:r>
            <a:rPr lang="en-US" altLang="en-US" sz="1600" kern="1200" dirty="0">
              <a:solidFill>
                <a:schemeClr val="tx1"/>
              </a:solidFill>
              <a:latin typeface="微軟正黑體" panose="020B0604030504040204" pitchFamily="34" charset="-120"/>
              <a:ea typeface="微軟正黑體" panose="020B0604030504040204" pitchFamily="34" charset="-120"/>
            </a:rPr>
            <a:t>(§34VI</a:t>
          </a:r>
          <a:r>
            <a:rPr lang="zh-TW" altLang="en-US" sz="1600" kern="1200" dirty="0">
              <a:solidFill>
                <a:schemeClr val="tx1"/>
              </a:solidFill>
              <a:latin typeface="微軟正黑體" panose="020B0604030504040204" pitchFamily="34" charset="-120"/>
              <a:ea typeface="微軟正黑體" panose="020B0604030504040204" pitchFamily="34" charset="-120"/>
            </a:rPr>
            <a:t>前段</a:t>
          </a:r>
          <a:r>
            <a:rPr lang="en-US" altLang="en-US" sz="1600" kern="1200" dirty="0">
              <a:solidFill>
                <a:schemeClr val="tx1"/>
              </a:solidFill>
              <a:latin typeface="微軟正黑體" panose="020B0604030504040204" pitchFamily="34" charset="-120"/>
              <a:ea typeface="微軟正黑體" panose="020B0604030504040204" pitchFamily="34" charset="-120"/>
            </a:rPr>
            <a:t>)</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20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修正超出申請時揭露範圍 </a:t>
          </a:r>
          <a:r>
            <a:rPr lang="en-US" altLang="en-US" sz="1600" kern="1200" dirty="0">
              <a:solidFill>
                <a:schemeClr val="tx1"/>
              </a:solidFill>
              <a:latin typeface="微軟正黑體" panose="020B0604030504040204" pitchFamily="34" charset="-120"/>
              <a:ea typeface="微軟正黑體" panose="020B0604030504040204" pitchFamily="34" charset="-120"/>
            </a:rPr>
            <a:t>(§43II)</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20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更正超出申請時揭露之範圍</a:t>
          </a:r>
          <a:r>
            <a:rPr lang="en-US" altLang="en-US" sz="1600" kern="1200" dirty="0">
              <a:solidFill>
                <a:schemeClr val="tx1"/>
              </a:solidFill>
              <a:latin typeface="微軟正黑體" panose="020B0604030504040204" pitchFamily="34" charset="-120"/>
              <a:ea typeface="微軟正黑體" panose="020B0604030504040204" pitchFamily="34" charset="-120"/>
            </a:rPr>
            <a:t>(§67II)</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20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更正實質擴大或變更公告時之申請專利範圍</a:t>
          </a:r>
          <a:r>
            <a:rPr lang="en-US" altLang="en-US" sz="1600" kern="1200" dirty="0">
              <a:solidFill>
                <a:schemeClr val="tx1"/>
              </a:solidFill>
              <a:latin typeface="微軟正黑體" panose="020B0604030504040204" pitchFamily="34" charset="-120"/>
              <a:ea typeface="微軟正黑體" panose="020B0604030504040204" pitchFamily="34" charset="-120"/>
            </a:rPr>
            <a:t>(§67IV)</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a:p>
          <a:pPr marL="171450" lvl="1" indent="-171450" algn="l" defTabSz="711200">
            <a:lnSpc>
              <a:spcPts val="2200"/>
            </a:lnSpc>
            <a:spcBef>
              <a:spcPct val="0"/>
            </a:spcBef>
            <a:spcAft>
              <a:spcPts val="0"/>
            </a:spcAft>
            <a:buChar char="•"/>
          </a:pPr>
          <a:r>
            <a:rPr lang="zh-TW" altLang="en-US" sz="1600" kern="1200" dirty="0">
              <a:solidFill>
                <a:schemeClr val="tx1"/>
              </a:solidFill>
              <a:latin typeface="微軟正黑體" panose="020B0604030504040204" pitchFamily="34" charset="-120"/>
              <a:ea typeface="微軟正黑體" panose="020B0604030504040204" pitchFamily="34" charset="-120"/>
            </a:rPr>
            <a:t>改請超出原申請案申請時揭露範圍</a:t>
          </a:r>
          <a:r>
            <a:rPr lang="en-US" altLang="en-US" sz="1600" kern="1200" dirty="0">
              <a:solidFill>
                <a:schemeClr val="tx1"/>
              </a:solidFill>
              <a:latin typeface="微軟正黑體" panose="020B0604030504040204" pitchFamily="34" charset="-120"/>
              <a:ea typeface="微軟正黑體" panose="020B0604030504040204" pitchFamily="34" charset="-120"/>
            </a:rPr>
            <a:t>(108Ⅲ)</a:t>
          </a:r>
          <a:endParaRPr lang="zh-TW" altLang="en-US" sz="1600" kern="1200" dirty="0">
            <a:solidFill>
              <a:schemeClr val="tx1"/>
            </a:solidFill>
            <a:latin typeface="微軟正黑體" panose="020B0604030504040204" pitchFamily="34" charset="-120"/>
            <a:ea typeface="微軟正黑體" panose="020B0604030504040204" pitchFamily="34" charset="-120"/>
          </a:endParaRPr>
        </a:p>
      </dsp:txBody>
      <dsp:txXfrm rot="-5400000">
        <a:off x="1931247" y="3982386"/>
        <a:ext cx="6831784" cy="1736722"/>
      </dsp:txXfrm>
    </dsp:sp>
    <dsp:sp modelId="{BEBC9861-1B72-40FF-8A4D-35BFA5A1102E}">
      <dsp:nvSpPr>
        <dsp:cNvPr id="0" name=""/>
        <dsp:cNvSpPr/>
      </dsp:nvSpPr>
      <dsp:spPr>
        <a:xfrm>
          <a:off x="0" y="3888426"/>
          <a:ext cx="1857245" cy="1253162"/>
        </a:xfrm>
        <a:prstGeom prst="roundRect">
          <a:avLst/>
        </a:prstGeom>
        <a:solidFill>
          <a:srgbClr val="92D050">
            <a:alpha val="48000"/>
          </a:srgbClr>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solidFill>
              <a:latin typeface="微軟正黑體" panose="020B0604030504040204" pitchFamily="34" charset="-120"/>
              <a:ea typeface="微軟正黑體" panose="020B0604030504040204" pitchFamily="34" charset="-120"/>
            </a:rPr>
            <a:t>本質事項</a:t>
          </a:r>
          <a:r>
            <a:rPr lang="zh-TW" altLang="en-US" sz="1800" kern="1200" dirty="0">
              <a:solidFill>
                <a:schemeClr val="tx1"/>
              </a:solidFill>
              <a:latin typeface="微軟正黑體" panose="020B0604030504040204" pitchFamily="34" charset="-120"/>
              <a:ea typeface="微軟正黑體" panose="020B0604030504040204" pitchFamily="34" charset="-120"/>
            </a:rPr>
            <a:t>：依舉發時之規定</a:t>
          </a:r>
        </a:p>
      </dsp:txBody>
      <dsp:txXfrm>
        <a:off x="61174" y="3949600"/>
        <a:ext cx="1734897" cy="113081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6.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56038" y="0"/>
            <a:ext cx="2949575" cy="496888"/>
          </a:xfrm>
          <a:prstGeom prst="rect">
            <a:avLst/>
          </a:prstGeom>
        </p:spPr>
        <p:txBody>
          <a:bodyPr vert="horz" lIns="91440" tIns="45720" rIns="91440" bIns="45720" rtlCol="0"/>
          <a:lstStyle>
            <a:lvl1pPr algn="r">
              <a:defRPr sz="1200"/>
            </a:lvl1pPr>
          </a:lstStyle>
          <a:p>
            <a:fld id="{C55A9855-3F96-4576-AAE2-F318826004DF}" type="datetimeFigureOut">
              <a:rPr lang="zh-TW" altLang="en-US" smtClean="0"/>
              <a:t>2026/8/23</a:t>
            </a:fld>
            <a:endParaRPr lang="zh-TW" altLang="en-US"/>
          </a:p>
        </p:txBody>
      </p:sp>
      <p:sp>
        <p:nvSpPr>
          <p:cNvPr id="4" name="頁尾版面配置區 3"/>
          <p:cNvSpPr>
            <a:spLocks noGrp="1"/>
          </p:cNvSpPr>
          <p:nvPr>
            <p:ph type="ftr" sz="quarter" idx="2"/>
          </p:nvPr>
        </p:nvSpPr>
        <p:spPr>
          <a:xfrm>
            <a:off x="0" y="9440863"/>
            <a:ext cx="2949575" cy="4968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6038" y="9440863"/>
            <a:ext cx="2949575" cy="496887"/>
          </a:xfrm>
          <a:prstGeom prst="rect">
            <a:avLst/>
          </a:prstGeom>
        </p:spPr>
        <p:txBody>
          <a:bodyPr vert="horz" lIns="91440" tIns="45720" rIns="91440" bIns="45720" rtlCol="0" anchor="b"/>
          <a:lstStyle>
            <a:lvl1pPr algn="r">
              <a:defRPr sz="1200"/>
            </a:lvl1pPr>
          </a:lstStyle>
          <a:p>
            <a:fld id="{DF22D098-3D61-4D79-B034-817F8A064088}" type="slidenum">
              <a:rPr lang="zh-TW" altLang="en-US" smtClean="0"/>
              <a:t>‹#›</a:t>
            </a:fld>
            <a:endParaRPr lang="zh-TW" altLang="en-US"/>
          </a:p>
        </p:txBody>
      </p:sp>
    </p:spTree>
    <p:extLst>
      <p:ext uri="{BB962C8B-B14F-4D97-AF65-F5344CB8AC3E}">
        <p14:creationId xmlns:p14="http://schemas.microsoft.com/office/powerpoint/2010/main" val="6306138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3" y="2"/>
            <a:ext cx="2949786" cy="496967"/>
          </a:xfrm>
          <a:prstGeom prst="rect">
            <a:avLst/>
          </a:prstGeom>
        </p:spPr>
        <p:txBody>
          <a:bodyPr vert="horz" lIns="91532" tIns="45765" rIns="91532" bIns="45765"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532" tIns="45765" rIns="91532" bIns="45765" rtlCol="0"/>
          <a:lstStyle>
            <a:lvl1pPr algn="r">
              <a:defRPr sz="1200"/>
            </a:lvl1pPr>
          </a:lstStyle>
          <a:p>
            <a:fld id="{B38FD96E-D0D4-4DF9-AEB8-F08767C1DA62}" type="datetimeFigureOut">
              <a:rPr lang="zh-TW" altLang="en-US" smtClean="0"/>
              <a:pPr/>
              <a:t>2026/8/23</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532" tIns="45765" rIns="91532" bIns="45765"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532" tIns="45765" rIns="91532" bIns="45765"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3" y="9440649"/>
            <a:ext cx="2949786" cy="496967"/>
          </a:xfrm>
          <a:prstGeom prst="rect">
            <a:avLst/>
          </a:prstGeom>
        </p:spPr>
        <p:txBody>
          <a:bodyPr vert="horz" lIns="91532" tIns="45765" rIns="91532" bIns="45765"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49"/>
            <a:ext cx="2949786" cy="496967"/>
          </a:xfrm>
          <a:prstGeom prst="rect">
            <a:avLst/>
          </a:prstGeom>
        </p:spPr>
        <p:txBody>
          <a:bodyPr vert="horz" lIns="91532" tIns="45765" rIns="91532" bIns="45765" rtlCol="0" anchor="b"/>
          <a:lstStyle>
            <a:lvl1pPr algn="r">
              <a:defRPr sz="1200"/>
            </a:lvl1pPr>
          </a:lstStyle>
          <a:p>
            <a:fld id="{E6E6162F-E6B6-4E89-9406-F1B14BCAC847}" type="slidenum">
              <a:rPr lang="zh-TW" altLang="en-US" smtClean="0"/>
              <a:pPr/>
              <a:t>‹#›</a:t>
            </a:fld>
            <a:endParaRPr lang="zh-TW" altLang="en-US"/>
          </a:p>
        </p:txBody>
      </p:sp>
    </p:spTree>
    <p:extLst>
      <p:ext uri="{BB962C8B-B14F-4D97-AF65-F5344CB8AC3E}">
        <p14:creationId xmlns:p14="http://schemas.microsoft.com/office/powerpoint/2010/main" val="241314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6E6162F-E6B6-4E89-9406-F1B14BCAC847}" type="slidenum">
              <a:rPr lang="zh-TW" altLang="en-US" smtClean="0">
                <a:solidFill>
                  <a:prstClr val="black"/>
                </a:solidFill>
              </a:rPr>
              <a:pPr/>
              <a:t>0</a:t>
            </a:fld>
            <a:endParaRPr lang="zh-TW" altLang="en-US">
              <a:solidFill>
                <a:prstClr val="black"/>
              </a:solidFill>
            </a:endParaRPr>
          </a:p>
        </p:txBody>
      </p:sp>
    </p:spTree>
    <p:extLst>
      <p:ext uri="{BB962C8B-B14F-4D97-AF65-F5344CB8AC3E}">
        <p14:creationId xmlns:p14="http://schemas.microsoft.com/office/powerpoint/2010/main" val="251209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1</a:t>
            </a:fld>
            <a:endParaRPr lang="zh-TW" altLang="en-US">
              <a:solidFill>
                <a:prstClr val="black"/>
              </a:solidFill>
            </a:endParaRPr>
          </a:p>
        </p:txBody>
      </p:sp>
    </p:spTree>
    <p:extLst>
      <p:ext uri="{BB962C8B-B14F-4D97-AF65-F5344CB8AC3E}">
        <p14:creationId xmlns:p14="http://schemas.microsoft.com/office/powerpoint/2010/main" val="2686899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4</a:t>
            </a:fld>
            <a:endParaRPr lang="zh-TW" altLang="en-US">
              <a:solidFill>
                <a:prstClr val="black"/>
              </a:solidFill>
            </a:endParaRPr>
          </a:p>
        </p:txBody>
      </p:sp>
    </p:spTree>
    <p:extLst>
      <p:ext uri="{BB962C8B-B14F-4D97-AF65-F5344CB8AC3E}">
        <p14:creationId xmlns:p14="http://schemas.microsoft.com/office/powerpoint/2010/main" val="1638203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6</a:t>
            </a:fld>
            <a:endParaRPr lang="zh-TW" altLang="en-US">
              <a:solidFill>
                <a:prstClr val="black"/>
              </a:solidFill>
            </a:endParaRPr>
          </a:p>
        </p:txBody>
      </p:sp>
    </p:spTree>
    <p:extLst>
      <p:ext uri="{BB962C8B-B14F-4D97-AF65-F5344CB8AC3E}">
        <p14:creationId xmlns:p14="http://schemas.microsoft.com/office/powerpoint/2010/main" val="3935033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9</a:t>
            </a:fld>
            <a:endParaRPr lang="zh-TW" altLang="en-US">
              <a:solidFill>
                <a:prstClr val="black"/>
              </a:solidFill>
            </a:endParaRPr>
          </a:p>
        </p:txBody>
      </p:sp>
    </p:spTree>
    <p:extLst>
      <p:ext uri="{BB962C8B-B14F-4D97-AF65-F5344CB8AC3E}">
        <p14:creationId xmlns:p14="http://schemas.microsoft.com/office/powerpoint/2010/main" val="3610551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14</a:t>
            </a:fld>
            <a:endParaRPr lang="zh-TW" altLang="en-US">
              <a:solidFill>
                <a:prstClr val="black"/>
              </a:solidFill>
            </a:endParaRPr>
          </a:p>
        </p:txBody>
      </p:sp>
    </p:spTree>
    <p:extLst>
      <p:ext uri="{BB962C8B-B14F-4D97-AF65-F5344CB8AC3E}">
        <p14:creationId xmlns:p14="http://schemas.microsoft.com/office/powerpoint/2010/main" val="1638203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18</a:t>
            </a:fld>
            <a:endParaRPr lang="zh-TW" altLang="en-US">
              <a:solidFill>
                <a:prstClr val="black"/>
              </a:solidFill>
            </a:endParaRPr>
          </a:p>
        </p:txBody>
      </p:sp>
    </p:spTree>
    <p:extLst>
      <p:ext uri="{BB962C8B-B14F-4D97-AF65-F5344CB8AC3E}">
        <p14:creationId xmlns:p14="http://schemas.microsoft.com/office/powerpoint/2010/main" val="3791598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31</a:t>
            </a:fld>
            <a:endParaRPr lang="zh-TW" altLang="en-US">
              <a:solidFill>
                <a:prstClr val="black"/>
              </a:solidFill>
            </a:endParaRPr>
          </a:p>
        </p:txBody>
      </p:sp>
    </p:spTree>
    <p:extLst>
      <p:ext uri="{BB962C8B-B14F-4D97-AF65-F5344CB8AC3E}">
        <p14:creationId xmlns:p14="http://schemas.microsoft.com/office/powerpoint/2010/main" val="1638203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6E6162F-E6B6-4E89-9406-F1B14BCAC847}" type="slidenum">
              <a:rPr lang="zh-TW" altLang="en-US" smtClean="0"/>
              <a:pPr/>
              <a:t>34</a:t>
            </a:fld>
            <a:endParaRPr lang="zh-TW" altLang="en-US"/>
          </a:p>
        </p:txBody>
      </p:sp>
    </p:spTree>
    <p:extLst>
      <p:ext uri="{BB962C8B-B14F-4D97-AF65-F5344CB8AC3E}">
        <p14:creationId xmlns:p14="http://schemas.microsoft.com/office/powerpoint/2010/main" val="1151387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36</a:t>
            </a:fld>
            <a:endParaRPr lang="zh-TW" altLang="en-US">
              <a:solidFill>
                <a:prstClr val="black"/>
              </a:solidFill>
            </a:endParaRPr>
          </a:p>
        </p:txBody>
      </p:sp>
    </p:spTree>
    <p:extLst>
      <p:ext uri="{BB962C8B-B14F-4D97-AF65-F5344CB8AC3E}">
        <p14:creationId xmlns:p14="http://schemas.microsoft.com/office/powerpoint/2010/main" val="1638203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6E6162F-E6B6-4E89-9406-F1B14BCAC847}" type="slidenum">
              <a:rPr lang="zh-TW" altLang="en-US" smtClean="0"/>
              <a:pPr/>
              <a:t>39</a:t>
            </a:fld>
            <a:endParaRPr lang="zh-TW" altLang="en-US"/>
          </a:p>
        </p:txBody>
      </p:sp>
    </p:spTree>
    <p:extLst>
      <p:ext uri="{BB962C8B-B14F-4D97-AF65-F5344CB8AC3E}">
        <p14:creationId xmlns:p14="http://schemas.microsoft.com/office/powerpoint/2010/main" val="1248676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6E6162F-E6B6-4E89-9406-F1B14BCAC847}" type="slidenum">
              <a:rPr lang="zh-TW" altLang="en-US" smtClean="0"/>
              <a:pPr/>
              <a:t>44</a:t>
            </a:fld>
            <a:endParaRPr lang="zh-TW" altLang="en-US"/>
          </a:p>
        </p:txBody>
      </p:sp>
    </p:spTree>
    <p:extLst>
      <p:ext uri="{BB962C8B-B14F-4D97-AF65-F5344CB8AC3E}">
        <p14:creationId xmlns:p14="http://schemas.microsoft.com/office/powerpoint/2010/main" val="3647206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52</a:t>
            </a:fld>
            <a:endParaRPr lang="zh-TW" altLang="en-US"/>
          </a:p>
        </p:txBody>
      </p:sp>
    </p:spTree>
    <p:extLst>
      <p:ext uri="{BB962C8B-B14F-4D97-AF65-F5344CB8AC3E}">
        <p14:creationId xmlns:p14="http://schemas.microsoft.com/office/powerpoint/2010/main" val="2352709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54</a:t>
            </a:fld>
            <a:endParaRPr lang="zh-TW" altLang="en-US"/>
          </a:p>
        </p:txBody>
      </p:sp>
    </p:spTree>
    <p:extLst>
      <p:ext uri="{BB962C8B-B14F-4D97-AF65-F5344CB8AC3E}">
        <p14:creationId xmlns:p14="http://schemas.microsoft.com/office/powerpoint/2010/main" val="6559919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55</a:t>
            </a:fld>
            <a:endParaRPr lang="zh-TW" altLang="en-US"/>
          </a:p>
        </p:txBody>
      </p:sp>
    </p:spTree>
    <p:extLst>
      <p:ext uri="{BB962C8B-B14F-4D97-AF65-F5344CB8AC3E}">
        <p14:creationId xmlns:p14="http://schemas.microsoft.com/office/powerpoint/2010/main" val="160730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56</a:t>
            </a:fld>
            <a:endParaRPr lang="zh-TW" altLang="en-US"/>
          </a:p>
        </p:txBody>
      </p:sp>
    </p:spTree>
    <p:extLst>
      <p:ext uri="{BB962C8B-B14F-4D97-AF65-F5344CB8AC3E}">
        <p14:creationId xmlns:p14="http://schemas.microsoft.com/office/powerpoint/2010/main" val="35953363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57</a:t>
            </a:fld>
            <a:endParaRPr lang="zh-TW" altLang="en-US"/>
          </a:p>
        </p:txBody>
      </p:sp>
    </p:spTree>
    <p:extLst>
      <p:ext uri="{BB962C8B-B14F-4D97-AF65-F5344CB8AC3E}">
        <p14:creationId xmlns:p14="http://schemas.microsoft.com/office/powerpoint/2010/main" val="21318601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58</a:t>
            </a:fld>
            <a:endParaRPr lang="zh-TW" altLang="en-US"/>
          </a:p>
        </p:txBody>
      </p:sp>
    </p:spTree>
    <p:extLst>
      <p:ext uri="{BB962C8B-B14F-4D97-AF65-F5344CB8AC3E}">
        <p14:creationId xmlns:p14="http://schemas.microsoft.com/office/powerpoint/2010/main" val="29935734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59</a:t>
            </a:fld>
            <a:endParaRPr lang="zh-TW" altLang="en-US"/>
          </a:p>
        </p:txBody>
      </p:sp>
    </p:spTree>
    <p:extLst>
      <p:ext uri="{BB962C8B-B14F-4D97-AF65-F5344CB8AC3E}">
        <p14:creationId xmlns:p14="http://schemas.microsoft.com/office/powerpoint/2010/main" val="127482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60</a:t>
            </a:fld>
            <a:endParaRPr lang="zh-TW" altLang="en-US"/>
          </a:p>
        </p:txBody>
      </p:sp>
    </p:spTree>
    <p:extLst>
      <p:ext uri="{BB962C8B-B14F-4D97-AF65-F5344CB8AC3E}">
        <p14:creationId xmlns:p14="http://schemas.microsoft.com/office/powerpoint/2010/main" val="5378915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61</a:t>
            </a:fld>
            <a:endParaRPr lang="zh-TW" altLang="en-US"/>
          </a:p>
        </p:txBody>
      </p:sp>
    </p:spTree>
    <p:extLst>
      <p:ext uri="{BB962C8B-B14F-4D97-AF65-F5344CB8AC3E}">
        <p14:creationId xmlns:p14="http://schemas.microsoft.com/office/powerpoint/2010/main" val="1764791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68</a:t>
            </a:fld>
            <a:endParaRPr lang="zh-TW" altLang="en-US"/>
          </a:p>
        </p:txBody>
      </p:sp>
    </p:spTree>
    <p:extLst>
      <p:ext uri="{BB962C8B-B14F-4D97-AF65-F5344CB8AC3E}">
        <p14:creationId xmlns:p14="http://schemas.microsoft.com/office/powerpoint/2010/main" val="23434622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70</a:t>
            </a:fld>
            <a:endParaRPr lang="zh-TW" altLang="en-US"/>
          </a:p>
        </p:txBody>
      </p:sp>
    </p:spTree>
    <p:extLst>
      <p:ext uri="{BB962C8B-B14F-4D97-AF65-F5344CB8AC3E}">
        <p14:creationId xmlns:p14="http://schemas.microsoft.com/office/powerpoint/2010/main" val="30847909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74</a:t>
            </a:fld>
            <a:endParaRPr lang="zh-TW" altLang="en-US"/>
          </a:p>
        </p:txBody>
      </p:sp>
    </p:spTree>
    <p:extLst>
      <p:ext uri="{BB962C8B-B14F-4D97-AF65-F5344CB8AC3E}">
        <p14:creationId xmlns:p14="http://schemas.microsoft.com/office/powerpoint/2010/main" val="3413822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76</a:t>
            </a:fld>
            <a:endParaRPr lang="zh-TW" altLang="en-US">
              <a:solidFill>
                <a:prstClr val="black"/>
              </a:solidFill>
            </a:endParaRPr>
          </a:p>
        </p:txBody>
      </p:sp>
    </p:spTree>
    <p:extLst>
      <p:ext uri="{BB962C8B-B14F-4D97-AF65-F5344CB8AC3E}">
        <p14:creationId xmlns:p14="http://schemas.microsoft.com/office/powerpoint/2010/main" val="40943300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t>85</a:t>
            </a:fld>
            <a:endParaRPr lang="zh-TW" altLang="en-US"/>
          </a:p>
        </p:txBody>
      </p:sp>
    </p:spTree>
    <p:extLst>
      <p:ext uri="{BB962C8B-B14F-4D97-AF65-F5344CB8AC3E}">
        <p14:creationId xmlns:p14="http://schemas.microsoft.com/office/powerpoint/2010/main" val="13419880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94</a:t>
            </a:fld>
            <a:endParaRPr lang="zh-TW" altLang="en-US">
              <a:solidFill>
                <a:prstClr val="black"/>
              </a:solidFill>
            </a:endParaRPr>
          </a:p>
        </p:txBody>
      </p:sp>
    </p:spTree>
    <p:extLst>
      <p:ext uri="{BB962C8B-B14F-4D97-AF65-F5344CB8AC3E}">
        <p14:creationId xmlns:p14="http://schemas.microsoft.com/office/powerpoint/2010/main" val="4094330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E81E1F03-3838-4E69-B509-EAFFFDD074E7}" type="slidenum">
              <a:rPr lang="zh-TW" altLang="en-US" smtClean="0">
                <a:solidFill>
                  <a:prstClr val="black"/>
                </a:solidFill>
              </a:rPr>
              <a:pPr/>
              <a:t>98</a:t>
            </a:fld>
            <a:endParaRPr lang="zh-TW" altLang="en-US">
              <a:solidFill>
                <a:prstClr val="black"/>
              </a:solidFill>
            </a:endParaRPr>
          </a:p>
        </p:txBody>
      </p:sp>
    </p:spTree>
    <p:extLst>
      <p:ext uri="{BB962C8B-B14F-4D97-AF65-F5344CB8AC3E}">
        <p14:creationId xmlns:p14="http://schemas.microsoft.com/office/powerpoint/2010/main" val="40850682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專利法第</a:t>
            </a:r>
            <a:r>
              <a:rPr lang="en-US" altLang="zh-TW" dirty="0"/>
              <a:t>41</a:t>
            </a:r>
            <a:r>
              <a:rPr lang="zh-TW" altLang="en-US" dirty="0"/>
              <a:t>條</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專利法第</a:t>
            </a:r>
            <a:r>
              <a:rPr lang="en-US" altLang="zh-TW" dirty="0"/>
              <a:t>59</a:t>
            </a:r>
            <a:r>
              <a:rPr lang="zh-TW" altLang="en-US" dirty="0"/>
              <a:t>條</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6E6162F-E6B6-4E89-9406-F1B14BCAC847}" type="slidenum">
              <a:rPr lang="zh-TW" altLang="en-US" smtClean="0"/>
              <a:pPr/>
              <a:t>104</a:t>
            </a:fld>
            <a:endParaRPr lang="zh-TW" altLang="en-US"/>
          </a:p>
        </p:txBody>
      </p:sp>
    </p:spTree>
    <p:extLst>
      <p:ext uri="{BB962C8B-B14F-4D97-AF65-F5344CB8AC3E}">
        <p14:creationId xmlns:p14="http://schemas.microsoft.com/office/powerpoint/2010/main" val="16844658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24FD4C76-6549-4A04-AF33-74F6F7A9492D}" type="slidenum">
              <a:rPr lang="zh-TW" altLang="en-US" smtClean="0">
                <a:solidFill>
                  <a:prstClr val="black"/>
                </a:solidFill>
              </a:rPr>
              <a:pPr/>
              <a:t>105</a:t>
            </a:fld>
            <a:endParaRPr lang="zh-TW" altLang="en-US">
              <a:solidFill>
                <a:prstClr val="black"/>
              </a:solidFill>
            </a:endParaRPr>
          </a:p>
        </p:txBody>
      </p:sp>
    </p:spTree>
    <p:extLst>
      <p:ext uri="{BB962C8B-B14F-4D97-AF65-F5344CB8AC3E}">
        <p14:creationId xmlns:p14="http://schemas.microsoft.com/office/powerpoint/2010/main" val="602903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1">
        <a:schemeClr val="bg1"/>
      </p:bgRef>
    </p:bg>
    <p:spTree>
      <p:nvGrpSpPr>
        <p:cNvPr id="1" name=""/>
        <p:cNvGrpSpPr/>
        <p:nvPr/>
      </p:nvGrpSpPr>
      <p:grpSpPr>
        <a:xfrm>
          <a:off x="0" y="0"/>
          <a:ext cx="0" cy="0"/>
          <a:chOff x="0" y="0"/>
          <a:chExt cx="0" cy="0"/>
        </a:xfrm>
      </p:grpSpPr>
      <p:pic>
        <p:nvPicPr>
          <p:cNvPr id="11" name="圖片 10" descr="一張含有 燈泡 的圖片&#10;&#10;AI 產生的內容可能不正確。">
            <a:extLst>
              <a:ext uri="{FF2B5EF4-FFF2-40B4-BE49-F238E27FC236}">
                <a16:creationId xmlns:a16="http://schemas.microsoft.com/office/drawing/2014/main" id="{5E7D4647-2F66-9F57-7A50-A71E86CD3AB8}"/>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323528" y="1052736"/>
            <a:ext cx="3617337" cy="3712723"/>
          </a:xfrm>
          <a:prstGeom prst="rect">
            <a:avLst/>
          </a:prstGeom>
        </p:spPr>
      </p:pic>
      <p:sp>
        <p:nvSpPr>
          <p:cNvPr id="2" name="標題 1"/>
          <p:cNvSpPr>
            <a:spLocks noGrp="1"/>
          </p:cNvSpPr>
          <p:nvPr>
            <p:ph type="ctrTitle"/>
          </p:nvPr>
        </p:nvSpPr>
        <p:spPr>
          <a:xfrm>
            <a:off x="823156" y="1715541"/>
            <a:ext cx="7772400" cy="1761027"/>
          </a:xfrm>
          <a:prstGeom prst="rect">
            <a:avLst/>
          </a:prstGeom>
        </p:spPr>
        <p:txBody>
          <a:bodyPr/>
          <a:lstStyle>
            <a:lvl1pPr>
              <a:defRPr>
                <a:solidFill>
                  <a:srgbClr val="6699FF"/>
                </a:solidFill>
                <a:latin typeface="Adobe 繁黑體 Std B"/>
                <a:ea typeface="Adobe 繁黑體 Std B"/>
                <a:cs typeface="Adobe 繁黑體 Std B"/>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403648" y="3717032"/>
            <a:ext cx="6400800" cy="1176536"/>
          </a:xfrm>
        </p:spPr>
        <p:txBody>
          <a:bodyPr/>
          <a:lstStyle>
            <a:lvl1pPr marL="0" indent="0" algn="ctr">
              <a:buNone/>
              <a:defRPr>
                <a:solidFill>
                  <a:srgbClr val="6699FF"/>
                </a:solidFill>
                <a:latin typeface="Adobe 繁黑體 Std B"/>
                <a:ea typeface="Adobe 繁黑體 Std B"/>
                <a:cs typeface="Adobe 繁黑體 Std B"/>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zh-TW" altLang="en-US" dirty="0"/>
          </a:p>
        </p:txBody>
      </p:sp>
      <p:pic>
        <p:nvPicPr>
          <p:cNvPr id="7" name="圖片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31640" y="4462180"/>
            <a:ext cx="6836421" cy="60853"/>
          </a:xfrm>
          <a:prstGeom prst="rect">
            <a:avLst/>
          </a:prstGeom>
        </p:spPr>
      </p:pic>
      <p:pic>
        <p:nvPicPr>
          <p:cNvPr id="8" name="圖片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0800000">
            <a:off x="1835697" y="4614580"/>
            <a:ext cx="6836421" cy="60853"/>
          </a:xfrm>
          <a:prstGeom prst="rect">
            <a:avLst/>
          </a:prstGeom>
        </p:spPr>
      </p:pic>
    </p:spTree>
    <p:extLst>
      <p:ext uri="{BB962C8B-B14F-4D97-AF65-F5344CB8AC3E}">
        <p14:creationId xmlns:p14="http://schemas.microsoft.com/office/powerpoint/2010/main" val="403748506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2C442D8-9C80-47F7-991A-AE2212DADCA5}" type="datetime1">
              <a:rPr lang="zh-TW" altLang="en-US" smtClean="0"/>
              <a:t>2026/8/23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1709508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D974B04D-3439-4155-A703-E234727B63F5}" type="datetime1">
              <a:rPr lang="zh-TW" altLang="en-US" smtClean="0"/>
              <a:t>2026/8/23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077530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16E6385-44E4-4C40-81A0-E5CA0A057240}" type="datetime1">
              <a:rPr lang="zh-TW" altLang="en-US" smtClean="0"/>
              <a:t>2026/8/23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99844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539552" y="2954"/>
            <a:ext cx="8229600" cy="761750"/>
          </a:xfrm>
          <a:prstGeom prst="rect">
            <a:avLst/>
          </a:prstGeom>
        </p:spPr>
        <p:txBody>
          <a:bodyPr/>
          <a:lstStyle>
            <a:lvl1pPr>
              <a:defRPr sz="3600">
                <a:latin typeface="微軟正黑體" panose="020B0604030504040204" pitchFamily="34" charset="-120"/>
                <a:ea typeface="微軟正黑體" panose="020B0604030504040204" pitchFamily="34" charset="-120"/>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57200" y="980728"/>
            <a:ext cx="8229600" cy="5328592"/>
          </a:xfrm>
        </p:spPr>
        <p:txBody>
          <a:bodyPr/>
          <a:lstStyle>
            <a:lvl1pPr>
              <a:defRPr>
                <a:solidFill>
                  <a:schemeClr val="tx1"/>
                </a:solidFill>
                <a:latin typeface="微軟正黑體" panose="020B0604030504040204" pitchFamily="34" charset="-120"/>
                <a:ea typeface="微軟正黑體" panose="020B0604030504040204" pitchFamily="34" charset="-120"/>
              </a:defRPr>
            </a:lvl1pPr>
            <a:lvl2pPr>
              <a:defRPr>
                <a:solidFill>
                  <a:schemeClr val="tx1"/>
                </a:solidFill>
                <a:latin typeface="微軟正黑體" panose="020B0604030504040204" pitchFamily="34" charset="-120"/>
                <a:ea typeface="微軟正黑體" panose="020B0604030504040204" pitchFamily="34" charset="-120"/>
              </a:defRPr>
            </a:lvl2pPr>
            <a:lvl3pPr>
              <a:defRPr>
                <a:solidFill>
                  <a:schemeClr val="tx1"/>
                </a:solidFill>
                <a:latin typeface="微軟正黑體" panose="020B0604030504040204" pitchFamily="34" charset="-120"/>
                <a:ea typeface="微軟正黑體" panose="020B0604030504040204" pitchFamily="34" charset="-120"/>
              </a:defRPr>
            </a:lvl3pPr>
            <a:lvl4pPr>
              <a:defRPr>
                <a:solidFill>
                  <a:schemeClr val="tx1"/>
                </a:solidFill>
                <a:latin typeface="微軟正黑體" panose="020B0604030504040204" pitchFamily="34" charset="-120"/>
                <a:ea typeface="微軟正黑體" panose="020B0604030504040204" pitchFamily="34" charset="-120"/>
              </a:defRPr>
            </a:lvl4pPr>
            <a:lvl5pPr>
              <a:defRPr>
                <a:solidFill>
                  <a:schemeClr val="tx1"/>
                </a:solidFill>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16E6385-44E4-4C40-81A0-E5CA0A057240}" type="datetime1">
              <a:rPr lang="zh-TW" altLang="en-US" smtClean="0"/>
              <a:t>2026/8/23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837333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F7B9A50-0BC0-438D-A316-B9E866D145E2}" type="datetime1">
              <a:rPr lang="zh-TW" altLang="en-US" smtClean="0"/>
              <a:t>2026/8/23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586428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3BA2EFE-9673-4B8D-8AAB-FFE12DB95A02}" type="datetime1">
              <a:rPr lang="zh-TW" altLang="en-US" smtClean="0"/>
              <a:t>2026/8/23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47336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F6207C1D-2BAD-47FF-8692-8390F4A32171}" type="datetime1">
              <a:rPr lang="zh-TW" altLang="en-US" smtClean="0"/>
              <a:t>2026/8/23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3846966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7FF130CC-13BF-4556-B1CC-E41F47AA4FDE}" type="datetime1">
              <a:rPr lang="zh-TW" altLang="en-US" smtClean="0"/>
              <a:t>2026/8/23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581816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DC52D3-C2E9-4EF2-BBD8-579438826593}" type="datetime1">
              <a:rPr lang="zh-TW" altLang="en-US" smtClean="0"/>
              <a:t>2026/8/23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473091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EA0436D3-B797-47F4-8EC2-0E56D2529CFD}" type="datetime1">
              <a:rPr lang="zh-TW" altLang="en-US" smtClean="0"/>
              <a:t>2026/8/23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13119246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268FDBD-9D1D-4D8B-9FE7-57ED3383D391}" type="datetime1">
              <a:rPr lang="zh-TW" altLang="en-US" smtClean="0"/>
              <a:t>2026/8/23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2939528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611560" y="0"/>
            <a:ext cx="8229600" cy="1143000"/>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93103C8-556C-4CF7-B50B-277ADBFCA120}" type="datetime1">
              <a:rPr lang="zh-TW" altLang="en-US" smtClean="0"/>
              <a:t>2026/8/23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6877668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42DC106-07EF-4E7F-90CC-4204CDD1BCD8}" type="datetime1">
              <a:rPr lang="zh-TW" altLang="en-US" smtClean="0"/>
              <a:t>2026/8/23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54D4C32-7A1A-45A5-84ED-81747F1ABFAE}" type="slidenum">
              <a:rPr lang="zh-TW" altLang="en-US" smtClean="0"/>
              <a:t>‹#›</a:t>
            </a:fld>
            <a:endParaRPr lang="zh-TW" altLang="en-US"/>
          </a:p>
        </p:txBody>
      </p:sp>
    </p:spTree>
    <p:extLst>
      <p:ext uri="{BB962C8B-B14F-4D97-AF65-F5344CB8AC3E}">
        <p14:creationId xmlns:p14="http://schemas.microsoft.com/office/powerpoint/2010/main" val="15513525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D6831F2-BDED-4AEB-AE33-006F9ECCA2C8}" type="datetime1">
              <a:rPr lang="zh-TW" altLang="en-US" smtClean="0"/>
              <a:t>2026/8/23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1D2D507-09EA-4C6F-96ED-053C801F8797}" type="slidenum">
              <a:rPr lang="zh-TW" altLang="en-US" smtClean="0"/>
              <a:pPr/>
              <a:t>‹#›</a:t>
            </a:fld>
            <a:endParaRPr lang="zh-TW" altLang="en-US"/>
          </a:p>
        </p:txBody>
      </p:sp>
    </p:spTree>
    <p:extLst>
      <p:ext uri="{BB962C8B-B14F-4D97-AF65-F5344CB8AC3E}">
        <p14:creationId xmlns:p14="http://schemas.microsoft.com/office/powerpoint/2010/main" val="1600100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圖片 7"/>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3323" y="1"/>
            <a:ext cx="9140677" cy="764703"/>
          </a:xfrm>
          <a:prstGeom prst="rect">
            <a:avLst/>
          </a:prstGeom>
        </p:spPr>
      </p:pic>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rgbClr val="6699FF"/>
                </a:solidFill>
                <a:latin typeface="Adobe 繁黑體 Std B"/>
                <a:ea typeface="Adobe 繁黑體 Std B"/>
                <a:cs typeface="Adobe 繁黑體 Std B"/>
              </a:defRPr>
            </a:lvl1pPr>
          </a:lstStyle>
          <a:p>
            <a:fld id="{10354FD9-B00D-48FF-85D9-3561B9EC258A}" type="datetime1">
              <a:rPr lang="zh-TW" altLang="en-US" smtClean="0"/>
              <a:t>2026/8/23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rgbClr val="6699FF"/>
                </a:solidFill>
                <a:latin typeface="Adobe 繁黑體 Std B"/>
                <a:ea typeface="Adobe 繁黑體 Std B"/>
                <a:cs typeface="Adobe 繁黑體 Std B"/>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6699FF"/>
                </a:solidFill>
                <a:latin typeface="Adobe 繁黑體 Std B"/>
                <a:ea typeface="Adobe 繁黑體 Std B"/>
                <a:cs typeface="Adobe 繁黑體 Std B"/>
              </a:defRPr>
            </a:lvl1pPr>
          </a:lstStyle>
          <a:p>
            <a:fld id="{51D2D507-09EA-4C6F-96ED-053C801F8797}" type="slidenum">
              <a:rPr lang="zh-TW" altLang="en-US" smtClean="0"/>
              <a:pPr/>
              <a:t>‹#›</a:t>
            </a:fld>
            <a:endParaRPr lang="zh-TW" altLang="en-US"/>
          </a:p>
        </p:txBody>
      </p:sp>
      <p:pic>
        <p:nvPicPr>
          <p:cNvPr id="10" name="圖片 9" descr="一張含有 燈泡 的圖片&#10;&#10;AI 產生的內容可能不正確。">
            <a:extLst>
              <a:ext uri="{FF2B5EF4-FFF2-40B4-BE49-F238E27FC236}">
                <a16:creationId xmlns:a16="http://schemas.microsoft.com/office/drawing/2014/main" id="{BCF0FE7F-8C44-7632-0D32-DC2A2133BE11}"/>
              </a:ext>
            </a:extLst>
          </p:cNvPr>
          <p:cNvPicPr>
            <a:picLocks noChangeAspect="1"/>
          </p:cNvPicPr>
          <p:nvPr userDrawn="1"/>
        </p:nvPicPr>
        <p:blipFill>
          <a:blip r:embed="rId18" cstate="email">
            <a:extLst>
              <a:ext uri="{28A0092B-C50C-407E-A947-70E740481C1C}">
                <a14:useLocalDpi xmlns:a14="http://schemas.microsoft.com/office/drawing/2010/main" val="0"/>
              </a:ext>
            </a:extLst>
          </a:blip>
          <a:stretch>
            <a:fillRect/>
          </a:stretch>
        </p:blipFill>
        <p:spPr>
          <a:xfrm>
            <a:off x="179512" y="419"/>
            <a:ext cx="744649" cy="764285"/>
          </a:xfrm>
          <a:prstGeom prst="rect">
            <a:avLst/>
          </a:prstGeom>
        </p:spPr>
      </p:pic>
    </p:spTree>
    <p:extLst>
      <p:ext uri="{BB962C8B-B14F-4D97-AF65-F5344CB8AC3E}">
        <p14:creationId xmlns:p14="http://schemas.microsoft.com/office/powerpoint/2010/main" val="848690897"/>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822"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821"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6699FF"/>
          </a:solidFill>
          <a:latin typeface="Adobe 繁黑體 Std B"/>
          <a:ea typeface="Adobe 繁黑體 Std B"/>
          <a:cs typeface="Adobe 繁黑體 Std B"/>
        </a:defRPr>
      </a:lvl1pPr>
      <a:lvl2pPr marL="742950" indent="-285750" algn="l" defTabSz="914400" rtl="0" eaLnBrk="1" latinLnBrk="0" hangingPunct="1">
        <a:spcBef>
          <a:spcPct val="20000"/>
        </a:spcBef>
        <a:buFont typeface="Arial" pitchFamily="34" charset="0"/>
        <a:buChar char="–"/>
        <a:defRPr sz="2800" kern="1200">
          <a:solidFill>
            <a:srgbClr val="6699FF"/>
          </a:solidFill>
          <a:latin typeface="Adobe 繁黑體 Std B"/>
          <a:ea typeface="Adobe 繁黑體 Std B"/>
          <a:cs typeface="Adobe 繁黑體 Std B"/>
        </a:defRPr>
      </a:lvl2pPr>
      <a:lvl3pPr marL="1143000" indent="-228600" algn="l" defTabSz="914400" rtl="0" eaLnBrk="1" latinLnBrk="0" hangingPunct="1">
        <a:spcBef>
          <a:spcPct val="20000"/>
        </a:spcBef>
        <a:buFont typeface="Arial" pitchFamily="34" charset="0"/>
        <a:buChar char="•"/>
        <a:defRPr sz="2400" kern="1200">
          <a:solidFill>
            <a:srgbClr val="6699FF"/>
          </a:solidFill>
          <a:latin typeface="Adobe 繁黑體 Std B"/>
          <a:ea typeface="Adobe 繁黑體 Std B"/>
          <a:cs typeface="Adobe 繁黑體 Std B"/>
        </a:defRPr>
      </a:lvl3pPr>
      <a:lvl4pPr marL="16002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4pPr>
      <a:lvl5pPr marL="2057400" indent="-228600" algn="l" defTabSz="914400" rtl="0" eaLnBrk="1" latinLnBrk="0" hangingPunct="1">
        <a:spcBef>
          <a:spcPct val="20000"/>
        </a:spcBef>
        <a:buFont typeface="Arial" pitchFamily="34" charset="0"/>
        <a:buChar char="»"/>
        <a:defRPr sz="2000" kern="1200">
          <a:solidFill>
            <a:srgbClr val="6699FF"/>
          </a:solidFill>
          <a:latin typeface="Adobe 繁黑體 Std B"/>
          <a:ea typeface="Adobe 繁黑體 Std B"/>
          <a:cs typeface="Adobe 繁黑體 Std B"/>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cloud.tipo.gov.tw/S400/article/6" TargetMode="External"/><Relationship Id="rId7" Type="http://schemas.openxmlformats.org/officeDocument/2006/relationships/image" Target="../media/image7.png"/><Relationship Id="rId2" Type="http://schemas.openxmlformats.org/officeDocument/2006/relationships/hyperlink" Target="https://www.tipo.gov.tw/tw/patents/547-4506.html" TargetMode="Externa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cloud.tipo.gov.tw/S400/article/8"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tiponet.tipo.gov.tw/" TargetMode="External"/><Relationship Id="rId7" Type="http://schemas.openxmlformats.org/officeDocument/2006/relationships/image" Target="../media/image10.png"/><Relationship Id="rId2" Type="http://schemas.openxmlformats.org/officeDocument/2006/relationships/hyperlink" Target="https://www.tipo.gov.tw/" TargetMode="Externa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tiponet.tipo.gov.tw/gpss/"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wmf"/><Relationship Id="rId1" Type="http://schemas.openxmlformats.org/officeDocument/2006/relationships/slideLayout" Target="../slideLayouts/slideLayout4.xml"/><Relationship Id="rId4" Type="http://schemas.openxmlformats.org/officeDocument/2006/relationships/image" Target="../media/image48.wmf"/></Relationships>
</file>

<file path=ppt/slides/_rels/slide2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71.png"/><Relationship Id="rId4" Type="http://schemas.openxmlformats.org/officeDocument/2006/relationships/notesSlide" Target="../notesSlides/notesSlide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hyperlink" Target="https://rd.nkuht.edu.tw/p/406-1009-13271,r335.php?Lang=zh-tw" TargetMode="Externa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hyperlink" Target="https://law.moea.gov.tw/LawContent.aspx?id=FL011253" TargetMode="External"/><Relationship Id="rId4" Type="http://schemas.openxmlformats.org/officeDocument/2006/relationships/image" Target="../media/image75.jpeg"/></Relationships>
</file>

<file path=ppt/slides/_rels/slide4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 Id="rId4" Type="http://schemas.openxmlformats.org/officeDocument/2006/relationships/hyperlink" Target="https://www.tipo.gov.tw/tw/patents/482.html" TargetMode="Externa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8.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78.png"/><Relationship Id="rId1" Type="http://schemas.openxmlformats.org/officeDocument/2006/relationships/slideLayout" Target="../slideLayouts/slideLayout4.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4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hyperlink" Target="https://www.tipo.gov.tw/tw/patents/469.html" TargetMode="Externa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jpeg"/><Relationship Id="rId1" Type="http://schemas.openxmlformats.org/officeDocument/2006/relationships/slideLayout" Target="../slideLayouts/slideLayout4.xml"/><Relationship Id="rId6" Type="http://schemas.openxmlformats.org/officeDocument/2006/relationships/image" Target="../media/image89.jpeg"/><Relationship Id="rId5" Type="http://schemas.openxmlformats.org/officeDocument/2006/relationships/image" Target="../media/image88.jpeg"/><Relationship Id="rId4" Type="http://schemas.openxmlformats.org/officeDocument/2006/relationships/image" Target="../media/image87.jpeg"/></Relationships>
</file>

<file path=ppt/slides/_rels/slide52.xml.rels><?xml version="1.0" encoding="UTF-8" standalone="yes"?>
<Relationships xmlns="http://schemas.openxmlformats.org/package/2006/relationships"><Relationship Id="rId3" Type="http://schemas.openxmlformats.org/officeDocument/2006/relationships/image" Target="../media/image91.jpeg"/><Relationship Id="rId7" Type="http://schemas.openxmlformats.org/officeDocument/2006/relationships/image" Target="../media/image92.png"/><Relationship Id="rId2" Type="http://schemas.openxmlformats.org/officeDocument/2006/relationships/image" Target="../media/image83.png"/><Relationship Id="rId1" Type="http://schemas.openxmlformats.org/officeDocument/2006/relationships/slideLayout" Target="../slideLayouts/slideLayout4.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5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96.png"/><Relationship Id="rId4" Type="http://schemas.openxmlformats.org/officeDocument/2006/relationships/image" Target="../media/image95.png"/></Relationships>
</file>

<file path=ppt/slides/_rels/slide5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jpeg"/><Relationship Id="rId7" Type="http://schemas.openxmlformats.org/officeDocument/2006/relationships/image" Target="../media/image105.jpe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104.jpeg"/><Relationship Id="rId11" Type="http://schemas.openxmlformats.org/officeDocument/2006/relationships/image" Target="../media/image109.png"/><Relationship Id="rId5" Type="http://schemas.openxmlformats.org/officeDocument/2006/relationships/image" Target="../media/image103.jpeg"/><Relationship Id="rId10" Type="http://schemas.openxmlformats.org/officeDocument/2006/relationships/image" Target="../media/image108.jpeg"/><Relationship Id="rId4" Type="http://schemas.openxmlformats.org/officeDocument/2006/relationships/image" Target="../media/image102.jpeg"/><Relationship Id="rId9" Type="http://schemas.openxmlformats.org/officeDocument/2006/relationships/image" Target="../media/image107.jpeg"/></Relationships>
</file>

<file path=ppt/slides/_rels/slide7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13.png"/></Relationships>
</file>

<file path=ppt/slides/_rels/slide7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8" Type="http://schemas.openxmlformats.org/officeDocument/2006/relationships/image" Target="../media/image122.jpeg"/><Relationship Id="rId3" Type="http://schemas.openxmlformats.org/officeDocument/2006/relationships/image" Target="../media/image117.jpeg"/><Relationship Id="rId7" Type="http://schemas.openxmlformats.org/officeDocument/2006/relationships/image" Target="../media/image121.jpeg"/><Relationship Id="rId2" Type="http://schemas.openxmlformats.org/officeDocument/2006/relationships/image" Target="../media/image116.jpeg"/><Relationship Id="rId1" Type="http://schemas.openxmlformats.org/officeDocument/2006/relationships/slideLayout" Target="../slideLayouts/slideLayout4.xml"/><Relationship Id="rId6" Type="http://schemas.openxmlformats.org/officeDocument/2006/relationships/image" Target="../media/image120.jpeg"/><Relationship Id="rId5" Type="http://schemas.openxmlformats.org/officeDocument/2006/relationships/image" Target="../media/image119.jpeg"/><Relationship Id="rId4" Type="http://schemas.openxmlformats.org/officeDocument/2006/relationships/image" Target="../media/image118.png"/><Relationship Id="rId9" Type="http://schemas.openxmlformats.org/officeDocument/2006/relationships/image" Target="../media/image123.png"/></Relationships>
</file>

<file path=ppt/slides/_rels/slide8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4.xml"/><Relationship Id="rId4" Type="http://schemas.openxmlformats.org/officeDocument/2006/relationships/image" Target="../media/image126.png"/></Relationships>
</file>

<file path=ppt/slides/_rels/slide84.xml.rels><?xml version="1.0" encoding="UTF-8" standalone="yes"?>
<Relationships xmlns="http://schemas.openxmlformats.org/package/2006/relationships"><Relationship Id="rId3" Type="http://schemas.openxmlformats.org/officeDocument/2006/relationships/image" Target="../media/image128.wmf"/><Relationship Id="rId7" Type="http://schemas.openxmlformats.org/officeDocument/2006/relationships/image" Target="../media/image132.png"/><Relationship Id="rId2" Type="http://schemas.openxmlformats.org/officeDocument/2006/relationships/image" Target="../media/image127.wmf"/><Relationship Id="rId1" Type="http://schemas.openxmlformats.org/officeDocument/2006/relationships/slideLayout" Target="../slideLayouts/slideLayout4.xml"/><Relationship Id="rId6" Type="http://schemas.openxmlformats.org/officeDocument/2006/relationships/image" Target="../media/image131.png"/><Relationship Id="rId5" Type="http://schemas.openxmlformats.org/officeDocument/2006/relationships/image" Target="../media/image130.jpeg"/><Relationship Id="rId4" Type="http://schemas.openxmlformats.org/officeDocument/2006/relationships/image" Target="../media/image129.wmf"/></Relationships>
</file>

<file path=ppt/slides/_rels/slide85.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4.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8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4.xml"/><Relationship Id="rId6" Type="http://schemas.openxmlformats.org/officeDocument/2006/relationships/image" Target="../media/image151.png"/><Relationship Id="rId5" Type="http://schemas.openxmlformats.org/officeDocument/2006/relationships/image" Target="../media/image60.png"/><Relationship Id="rId4" Type="http://schemas.openxmlformats.org/officeDocument/2006/relationships/image" Target="../media/image150.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59.png"/><Relationship Id="rId4" Type="http://schemas.openxmlformats.org/officeDocument/2006/relationships/notesSlide" Target="../notesSlides/notesSlide29.xml"/></Relationships>
</file>

<file path=ppt/slides/_rels/slide106.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hyperlink" Target="mailto:ycjen20453@judicial.gov.t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3419872" y="2905200"/>
            <a:ext cx="5328592" cy="830997"/>
          </a:xfrm>
          <a:prstGeom prst="rect">
            <a:avLst/>
          </a:prstGeom>
        </p:spPr>
        <p:txBody>
          <a:bodyPr wrap="square">
            <a:spAutoFit/>
          </a:bodyPr>
          <a:lstStyle/>
          <a:p>
            <a:pPr algn="ctr"/>
            <a:r>
              <a:rPr lang="zh-TW" altLang="en-US" sz="4800" b="1" dirty="0">
                <a:solidFill>
                  <a:srgbClr val="1F497D">
                    <a:lumMod val="75000"/>
                  </a:srgbClr>
                </a:solidFill>
                <a:latin typeface="微軟正黑體" pitchFamily="34" charset="-120"/>
                <a:ea typeface="微軟正黑體" pitchFamily="34" charset="-120"/>
              </a:rPr>
              <a:t>專利概論</a:t>
            </a:r>
            <a:endParaRPr lang="en-US" altLang="zh-TW" sz="4800" b="1" dirty="0">
              <a:solidFill>
                <a:srgbClr val="1F497D">
                  <a:lumMod val="75000"/>
                </a:srgbClr>
              </a:solidFill>
              <a:latin typeface="微軟正黑體" pitchFamily="34" charset="-120"/>
              <a:ea typeface="微軟正黑體" pitchFamily="34" charset="-120"/>
            </a:endParaRPr>
          </a:p>
        </p:txBody>
      </p:sp>
      <p:sp>
        <p:nvSpPr>
          <p:cNvPr id="7" name="副標題 3"/>
          <p:cNvSpPr>
            <a:spLocks noGrp="1"/>
          </p:cNvSpPr>
          <p:nvPr>
            <p:ph type="subTitle" idx="1"/>
          </p:nvPr>
        </p:nvSpPr>
        <p:spPr>
          <a:xfrm>
            <a:off x="4575446" y="6308361"/>
            <a:ext cx="2310333" cy="404664"/>
          </a:xfrm>
        </p:spPr>
        <p:txBody>
          <a:bodyPr>
            <a:noAutofit/>
          </a:bodyPr>
          <a:lstStyle/>
          <a:p>
            <a:pPr>
              <a:lnSpc>
                <a:spcPts val="2200"/>
              </a:lnSpc>
            </a:pPr>
            <a:r>
              <a:rPr lang="en-US" altLang="zh-TW" sz="1800" b="1" dirty="0">
                <a:solidFill>
                  <a:srgbClr val="0070C0"/>
                </a:solidFill>
                <a:latin typeface="微軟正黑體" panose="020B0604030504040204" pitchFamily="34" charset="-120"/>
                <a:ea typeface="微軟正黑體" panose="020B0604030504040204" pitchFamily="34" charset="-120"/>
              </a:rPr>
              <a:t>115</a:t>
            </a:r>
            <a:r>
              <a:rPr lang="zh-TW" altLang="en-US" sz="1800" b="1" dirty="0">
                <a:solidFill>
                  <a:srgbClr val="0070C0"/>
                </a:solidFill>
                <a:latin typeface="微軟正黑體" panose="020B0604030504040204" pitchFamily="34" charset="-120"/>
                <a:ea typeface="微軟正黑體" panose="020B0604030504040204" pitchFamily="34" charset="-120"/>
              </a:rPr>
              <a:t>年</a:t>
            </a:r>
            <a:r>
              <a:rPr lang="en-US" altLang="zh-TW" sz="1800" b="1" dirty="0">
                <a:solidFill>
                  <a:srgbClr val="0070C0"/>
                </a:solidFill>
                <a:latin typeface="微軟正黑體" panose="020B0604030504040204" pitchFamily="34" charset="-120"/>
                <a:ea typeface="微軟正黑體" panose="020B0604030504040204" pitchFamily="34" charset="-120"/>
              </a:rPr>
              <a:t>9</a:t>
            </a:r>
            <a:r>
              <a:rPr lang="zh-TW" altLang="en-US" sz="1800" b="1" dirty="0">
                <a:solidFill>
                  <a:srgbClr val="0070C0"/>
                </a:solidFill>
                <a:latin typeface="微軟正黑體" panose="020B0604030504040204" pitchFamily="34" charset="-120"/>
                <a:ea typeface="微軟正黑體" panose="020B0604030504040204" pitchFamily="34" charset="-120"/>
              </a:rPr>
              <a:t>月</a:t>
            </a:r>
            <a:r>
              <a:rPr lang="en-US" altLang="zh-TW" sz="1800" b="1" dirty="0">
                <a:solidFill>
                  <a:srgbClr val="0070C0"/>
                </a:solidFill>
                <a:latin typeface="微軟正黑體" panose="020B0604030504040204" pitchFamily="34" charset="-120"/>
                <a:ea typeface="微軟正黑體" panose="020B0604030504040204" pitchFamily="34" charset="-120"/>
              </a:rPr>
              <a:t>12</a:t>
            </a:r>
            <a:r>
              <a:rPr lang="zh-TW" altLang="en-US" sz="1800" b="1" dirty="0">
                <a:solidFill>
                  <a:srgbClr val="0070C0"/>
                </a:solidFill>
                <a:latin typeface="微軟正黑體" panose="020B0604030504040204" pitchFamily="34" charset="-120"/>
                <a:ea typeface="微軟正黑體" panose="020B0604030504040204" pitchFamily="34" charset="-120"/>
              </a:rPr>
              <a:t>日</a:t>
            </a:r>
          </a:p>
        </p:txBody>
      </p:sp>
      <p:sp>
        <p:nvSpPr>
          <p:cNvPr id="10" name="副標題 2"/>
          <p:cNvSpPr txBox="1">
            <a:spLocks/>
          </p:cNvSpPr>
          <p:nvPr/>
        </p:nvSpPr>
        <p:spPr>
          <a:xfrm>
            <a:off x="4067944" y="4727401"/>
            <a:ext cx="3325339" cy="792088"/>
          </a:xfrm>
          <a:prstGeom prst="rect">
            <a:avLst/>
          </a:prstGeom>
          <a:ln>
            <a:miter lim="800000"/>
            <a:headEnd/>
            <a:tailEnd/>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rgbClr val="6699FF"/>
                </a:solidFill>
                <a:latin typeface="Adobe 繁黑體 Std B"/>
                <a:ea typeface="Adobe 繁黑體 Std B"/>
                <a:cs typeface="Adobe 繁黑體 Std B"/>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Adobe 繁黑體 Std B"/>
                <a:ea typeface="Adobe 繁黑體 Std B"/>
                <a:cs typeface="Adobe 繁黑體 Std B"/>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Adobe 繁黑體 Std B"/>
                <a:ea typeface="Adobe 繁黑體 Std B"/>
                <a:cs typeface="Adobe 繁黑體 Std B"/>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Adobe 繁黑體 Std B"/>
                <a:ea typeface="Adobe 繁黑體 Std B"/>
                <a:cs typeface="Adobe 繁黑體 Std B"/>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Adobe 繁黑體 Std B"/>
                <a:ea typeface="Adobe 繁黑體 Std B"/>
                <a:cs typeface="Adobe 繁黑體 Std B"/>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nSpc>
                <a:spcPts val="2500"/>
              </a:lnSpc>
              <a:defRPr/>
            </a:pPr>
            <a:r>
              <a:rPr lang="zh-TW" altLang="en-US" sz="2200" dirty="0">
                <a:ln w="10541" cmpd="sng">
                  <a:solidFill>
                    <a:schemeClr val="accent1">
                      <a:shade val="88000"/>
                      <a:satMod val="110000"/>
                    </a:schemeClr>
                  </a:solidFill>
                  <a:prstDash val="solid"/>
                </a:ln>
                <a:solidFill>
                  <a:srgbClr val="000099"/>
                </a:solidFill>
                <a:latin typeface="微軟正黑體" panose="020B0604030504040204" pitchFamily="34" charset="-120"/>
                <a:ea typeface="微軟正黑體" panose="020B0604030504040204" pitchFamily="34" charset="-120"/>
              </a:rPr>
              <a:t>智慧財產及商業法院</a:t>
            </a:r>
          </a:p>
          <a:p>
            <a:pPr>
              <a:defRPr/>
            </a:pPr>
            <a:r>
              <a:rPr lang="zh-TW" altLang="en-US" sz="2200" dirty="0">
                <a:solidFill>
                  <a:srgbClr val="000099"/>
                </a:solidFill>
                <a:latin typeface="微軟正黑體" pitchFamily="34" charset="-120"/>
                <a:ea typeface="微軟正黑體" pitchFamily="34" charset="-120"/>
              </a:rPr>
              <a:t>顏俊仁</a:t>
            </a:r>
          </a:p>
        </p:txBody>
      </p:sp>
    </p:spTree>
    <p:extLst>
      <p:ext uri="{BB962C8B-B14F-4D97-AF65-F5344CB8AC3E}">
        <p14:creationId xmlns:p14="http://schemas.microsoft.com/office/powerpoint/2010/main" val="1455944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大綱 </a:t>
            </a:r>
          </a:p>
        </p:txBody>
      </p:sp>
      <p:sp>
        <p:nvSpPr>
          <p:cNvPr id="3" name="內容版面配置區 2"/>
          <p:cNvSpPr>
            <a:spLocks noGrp="1"/>
          </p:cNvSpPr>
          <p:nvPr>
            <p:ph idx="1"/>
          </p:nvPr>
        </p:nvSpPr>
        <p:spPr/>
        <p:txBody>
          <a:bodyPr>
            <a:normAutofit/>
          </a:bodyPr>
          <a:lstStyle/>
          <a:p>
            <a:r>
              <a:rPr lang="zh-TW" altLang="en-US" sz="3600" dirty="0">
                <a:ln w="9000" cmpd="sng">
                  <a:noFill/>
                  <a:prstDash val="solid"/>
                </a:ln>
              </a:rPr>
              <a:t>前言</a:t>
            </a:r>
            <a:endParaRPr lang="en-US" altLang="zh-TW" sz="3600" dirty="0">
              <a:ln w="9000" cmpd="sng">
                <a:noFill/>
                <a:prstDash val="solid"/>
              </a:ln>
            </a:endParaRPr>
          </a:p>
          <a:p>
            <a:r>
              <a:rPr lang="zh-TW" altLang="en-US" sz="3600" dirty="0">
                <a:ln w="9000" cmpd="sng">
                  <a:noFill/>
                  <a:prstDash val="solid"/>
                </a:ln>
              </a:rPr>
              <a:t>專利簡介</a:t>
            </a:r>
            <a:endParaRPr lang="en-US" altLang="zh-TW" sz="3600" dirty="0">
              <a:ln w="9000" cmpd="sng">
                <a:noFill/>
                <a:prstDash val="solid"/>
              </a:ln>
            </a:endParaRPr>
          </a:p>
          <a:p>
            <a:r>
              <a:rPr lang="zh-TW" altLang="en-US" sz="3600" dirty="0">
                <a:ln w="9000" cmpd="sng">
                  <a:noFill/>
                  <a:prstDash val="solid"/>
                </a:ln>
              </a:rPr>
              <a:t>專利的重要原則</a:t>
            </a:r>
            <a:endParaRPr lang="en-US" altLang="zh-TW" sz="3600" dirty="0">
              <a:ln w="9000" cmpd="sng">
                <a:noFill/>
                <a:prstDash val="solid"/>
              </a:ln>
            </a:endParaRPr>
          </a:p>
          <a:p>
            <a:r>
              <a:rPr lang="zh-TW" altLang="en-US" sz="3600" dirty="0">
                <a:ln w="9000" cmpd="sng">
                  <a:noFill/>
                  <a:prstDash val="solid"/>
                </a:ln>
              </a:rPr>
              <a:t>專利申請及專利文件</a:t>
            </a:r>
            <a:endParaRPr lang="en-US" altLang="zh-TW" sz="3600" dirty="0">
              <a:ln w="9000" cmpd="sng">
                <a:noFill/>
                <a:prstDash val="solid"/>
              </a:ln>
            </a:endParaRPr>
          </a:p>
          <a:p>
            <a:r>
              <a:rPr lang="zh-TW" altLang="en-US" sz="3600" dirty="0">
                <a:ln w="9000" cmpd="sng">
                  <a:noFill/>
                  <a:prstDash val="solid"/>
                </a:ln>
              </a:rPr>
              <a:t>專利要件</a:t>
            </a:r>
            <a:endParaRPr lang="en-US" altLang="zh-TW" sz="3600" dirty="0">
              <a:ln w="9000" cmpd="sng">
                <a:noFill/>
                <a:prstDash val="solid"/>
              </a:ln>
            </a:endParaRPr>
          </a:p>
          <a:p>
            <a:r>
              <a:rPr lang="zh-TW" altLang="en-US" sz="3600" dirty="0">
                <a:ln w="9000" cmpd="sng">
                  <a:noFill/>
                  <a:prstDash val="solid"/>
                </a:ln>
              </a:rPr>
              <a:t>核駁及再審查</a:t>
            </a:r>
            <a:endParaRPr lang="en-US" altLang="zh-TW" sz="3600" dirty="0">
              <a:ln w="9000" cmpd="sng">
                <a:noFill/>
                <a:prstDash val="solid"/>
              </a:ln>
            </a:endParaRPr>
          </a:p>
          <a:p>
            <a:r>
              <a:rPr lang="zh-TW" altLang="en-US" sz="3600" dirty="0">
                <a:ln w="9000" cmpd="sng">
                  <a:noFill/>
                  <a:prstDash val="solid"/>
                </a:ln>
              </a:rPr>
              <a:t>專利權</a:t>
            </a:r>
            <a:endParaRPr lang="en-US" altLang="zh-TW" sz="3600" dirty="0">
              <a:ln w="9000" cmpd="sng">
                <a:noFill/>
                <a:prstDash val="solid"/>
              </a:ln>
            </a:endParaRP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1</a:t>
            </a:fld>
            <a:endParaRPr lang="zh-TW" altLang="en-US" dirty="0">
              <a:solidFill>
                <a:prstClr val="black">
                  <a:tint val="75000"/>
                </a:prstClr>
              </a:solidFill>
            </a:endParaRPr>
          </a:p>
        </p:txBody>
      </p:sp>
    </p:spTree>
    <p:extLst>
      <p:ext uri="{BB962C8B-B14F-4D97-AF65-F5344CB8AC3E}">
        <p14:creationId xmlns:p14="http://schemas.microsoft.com/office/powerpoint/2010/main" val="368909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1D5294-DB06-29E1-82F7-2FD6F6B8107F}"/>
              </a:ext>
            </a:extLst>
          </p:cNvPr>
          <p:cNvSpPr>
            <a:spLocks noGrp="1"/>
          </p:cNvSpPr>
          <p:nvPr>
            <p:ph type="title"/>
          </p:nvPr>
        </p:nvSpPr>
        <p:spPr/>
        <p:txBody>
          <a:bodyPr/>
          <a:lstStyle/>
          <a:p>
            <a:r>
              <a:rPr lang="zh-TW" altLang="en-US" dirty="0"/>
              <a:t>自行閱讀資料</a:t>
            </a:r>
          </a:p>
        </p:txBody>
      </p:sp>
      <p:sp>
        <p:nvSpPr>
          <p:cNvPr id="4" name="投影片編號版面配置區 3">
            <a:extLst>
              <a:ext uri="{FF2B5EF4-FFF2-40B4-BE49-F238E27FC236}">
                <a16:creationId xmlns:a16="http://schemas.microsoft.com/office/drawing/2014/main" id="{059EA146-7257-54CA-B267-C820E8F0C19C}"/>
              </a:ext>
            </a:extLst>
          </p:cNvPr>
          <p:cNvSpPr>
            <a:spLocks noGrp="1"/>
          </p:cNvSpPr>
          <p:nvPr>
            <p:ph type="sldNum" sz="quarter" idx="12"/>
          </p:nvPr>
        </p:nvSpPr>
        <p:spPr/>
        <p:txBody>
          <a:bodyPr/>
          <a:lstStyle/>
          <a:p>
            <a:fld id="{254D4C32-7A1A-45A5-84ED-81747F1ABFAE}" type="slidenum">
              <a:rPr lang="zh-TW" altLang="en-US" smtClean="0"/>
              <a:t>2</a:t>
            </a:fld>
            <a:endParaRPr lang="zh-TW" altLang="en-US"/>
          </a:p>
        </p:txBody>
      </p:sp>
      <p:sp>
        <p:nvSpPr>
          <p:cNvPr id="7" name="矩形 6">
            <a:extLst>
              <a:ext uri="{FF2B5EF4-FFF2-40B4-BE49-F238E27FC236}">
                <a16:creationId xmlns:a16="http://schemas.microsoft.com/office/drawing/2014/main" id="{9E831BF1-31F8-B84E-C126-062FD7B03D04}"/>
              </a:ext>
            </a:extLst>
          </p:cNvPr>
          <p:cNvSpPr/>
          <p:nvPr/>
        </p:nvSpPr>
        <p:spPr>
          <a:xfrm>
            <a:off x="395536" y="998318"/>
            <a:ext cx="5688632" cy="1015663"/>
          </a:xfrm>
          <a:prstGeom prst="rect">
            <a:avLst/>
          </a:prstGeom>
        </p:spPr>
        <p:txBody>
          <a:bodyPr wrap="square">
            <a:spAutoFit/>
          </a:bodyPr>
          <a:lstStyle/>
          <a:p>
            <a:r>
              <a:rPr lang="zh-TW" altLang="en-US" sz="2000" b="1" dirty="0">
                <a:ln w="9000" cmpd="sng">
                  <a:noFill/>
                  <a:prstDash val="solid"/>
                </a:ln>
                <a:latin typeface="微軟正黑體" panose="020B0604030504040204" pitchFamily="34" charset="-120"/>
                <a:ea typeface="微軟正黑體" panose="020B0604030504040204" pitchFamily="34" charset="-120"/>
              </a:rPr>
              <a:t>認識專利 </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en-US" altLang="zh-TW" sz="2000" dirty="0">
                <a:ln w="9000" cmpd="sng">
                  <a:noFill/>
                  <a:prstDash val="solid"/>
                </a:ln>
                <a:latin typeface="微軟正黑體" panose="020B0604030504040204" pitchFamily="34" charset="-120"/>
                <a:ea typeface="微軟正黑體" panose="020B0604030504040204" pitchFamily="34" charset="-120"/>
                <a:hlinkClick r:id="rId2"/>
              </a:rPr>
              <a:t>https://www.tipo.gov.tw/tw/patents/547-4506.html</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p:txBody>
      </p:sp>
      <p:sp>
        <p:nvSpPr>
          <p:cNvPr id="9" name="矩形 8">
            <a:extLst>
              <a:ext uri="{FF2B5EF4-FFF2-40B4-BE49-F238E27FC236}">
                <a16:creationId xmlns:a16="http://schemas.microsoft.com/office/drawing/2014/main" id="{6E43752F-5F8C-D7CA-E7D0-B3B05F2C7F28}"/>
              </a:ext>
            </a:extLst>
          </p:cNvPr>
          <p:cNvSpPr/>
          <p:nvPr/>
        </p:nvSpPr>
        <p:spPr>
          <a:xfrm>
            <a:off x="3239852" y="3128361"/>
            <a:ext cx="5688632" cy="707886"/>
          </a:xfrm>
          <a:prstGeom prst="rect">
            <a:avLst/>
          </a:prstGeom>
        </p:spPr>
        <p:txBody>
          <a:bodyPr wrap="square">
            <a:spAutoFit/>
          </a:bodyPr>
          <a:lstStyle/>
          <a:p>
            <a:r>
              <a:rPr lang="zh-TW" altLang="en-US" sz="2000" b="1" dirty="0">
                <a:ln w="9000" cmpd="sng">
                  <a:noFill/>
                  <a:prstDash val="solid"/>
                </a:ln>
                <a:latin typeface="微軟正黑體" panose="020B0604030504040204" pitchFamily="34" charset="-120"/>
                <a:ea typeface="微軟正黑體" panose="020B0604030504040204" pitchFamily="34" charset="-120"/>
              </a:rPr>
              <a:t>一人部門的</a:t>
            </a:r>
            <a:r>
              <a:rPr lang="en-US" altLang="zh-TW" sz="2000" b="1" dirty="0">
                <a:ln w="9000" cmpd="sng">
                  <a:noFill/>
                  <a:prstDash val="solid"/>
                </a:ln>
                <a:latin typeface="微軟正黑體" panose="020B0604030504040204" pitchFamily="34" charset="-120"/>
                <a:ea typeface="微軟正黑體" panose="020B0604030504040204" pitchFamily="34" charset="-120"/>
              </a:rPr>
              <a:t>IP</a:t>
            </a:r>
            <a:r>
              <a:rPr lang="zh-TW" altLang="en-US" sz="2000" b="1" dirty="0">
                <a:ln w="9000" cmpd="sng">
                  <a:noFill/>
                  <a:prstDash val="solid"/>
                </a:ln>
                <a:latin typeface="微軟正黑體" panose="020B0604030504040204" pitchFamily="34" charset="-120"/>
                <a:ea typeface="微軟正黑體" panose="020B0604030504040204" pitchFamily="34" charset="-120"/>
              </a:rPr>
              <a:t>日常手札</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en-US" altLang="zh-TW" sz="2000" dirty="0">
                <a:ln w="9000" cmpd="sng">
                  <a:noFill/>
                  <a:prstDash val="solid"/>
                </a:ln>
                <a:latin typeface="微軟正黑體" panose="020B0604030504040204" pitchFamily="34" charset="-120"/>
                <a:ea typeface="微軟正黑體" panose="020B0604030504040204" pitchFamily="34" charset="-120"/>
                <a:hlinkClick r:id="rId3"/>
              </a:rPr>
              <a:t>https://cloud.tipo.gov.tw/S400/article/6</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p:txBody>
      </p:sp>
      <p:sp>
        <p:nvSpPr>
          <p:cNvPr id="8" name="矩形 7">
            <a:extLst>
              <a:ext uri="{FF2B5EF4-FFF2-40B4-BE49-F238E27FC236}">
                <a16:creationId xmlns:a16="http://schemas.microsoft.com/office/drawing/2014/main" id="{6E43752F-5F8C-D7CA-E7D0-B3B05F2C7F28}"/>
              </a:ext>
            </a:extLst>
          </p:cNvPr>
          <p:cNvSpPr/>
          <p:nvPr/>
        </p:nvSpPr>
        <p:spPr>
          <a:xfrm>
            <a:off x="421839" y="4784545"/>
            <a:ext cx="5688632" cy="707886"/>
          </a:xfrm>
          <a:prstGeom prst="rect">
            <a:avLst/>
          </a:prstGeom>
        </p:spPr>
        <p:txBody>
          <a:bodyPr wrap="square">
            <a:spAutoFit/>
          </a:bodyPr>
          <a:lstStyle/>
          <a:p>
            <a:r>
              <a:rPr lang="en-US" altLang="zh-TW" sz="2000" b="1" dirty="0">
                <a:ln w="9000" cmpd="sng">
                  <a:noFill/>
                  <a:prstDash val="solid"/>
                </a:ln>
                <a:latin typeface="微軟正黑體" panose="020B0604030504040204" pitchFamily="34" charset="-120"/>
                <a:ea typeface="微軟正黑體" panose="020B0604030504040204" pitchFamily="34" charset="-120"/>
              </a:rPr>
              <a:t>IP</a:t>
            </a:r>
            <a:r>
              <a:rPr lang="zh-TW" altLang="en-US" sz="2000" b="1" dirty="0">
                <a:ln w="9000" cmpd="sng">
                  <a:noFill/>
                  <a:prstDash val="solid"/>
                </a:ln>
                <a:latin typeface="微軟正黑體" panose="020B0604030504040204" pitchFamily="34" charset="-120"/>
                <a:ea typeface="微軟正黑體" panose="020B0604030504040204" pitchFamily="34" charset="-120"/>
              </a:rPr>
              <a:t>手札 </a:t>
            </a:r>
            <a:r>
              <a:rPr lang="en-US" altLang="zh-TW" sz="2000" b="1" dirty="0">
                <a:ln w="9000" cmpd="sng">
                  <a:noFill/>
                  <a:prstDash val="solid"/>
                </a:ln>
                <a:latin typeface="微軟正黑體" panose="020B0604030504040204" pitchFamily="34" charset="-120"/>
                <a:ea typeface="微軟正黑體" panose="020B0604030504040204" pitchFamily="34" charset="-120"/>
              </a:rPr>
              <a:t>mini !</a:t>
            </a:r>
          </a:p>
          <a:p>
            <a:r>
              <a:rPr lang="en-US" altLang="zh-TW" sz="2000" b="1" dirty="0">
                <a:ln w="9000" cmpd="sng">
                  <a:noFill/>
                  <a:prstDash val="solid"/>
                </a:ln>
                <a:latin typeface="微軟正黑體" panose="020B0604030504040204" pitchFamily="34" charset="-120"/>
                <a:ea typeface="微軟正黑體" panose="020B0604030504040204" pitchFamily="34" charset="-120"/>
                <a:hlinkClick r:id="rId4"/>
              </a:rPr>
              <a:t>https://cloud.tipo.gov.tw/S400/article/8</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p:txBody>
      </p:sp>
      <p:pic>
        <p:nvPicPr>
          <p:cNvPr id="5" name="圖片 4">
            <a:extLst>
              <a:ext uri="{FF2B5EF4-FFF2-40B4-BE49-F238E27FC236}">
                <a16:creationId xmlns:a16="http://schemas.microsoft.com/office/drawing/2014/main" id="{FA70F2F6-A0F6-731B-F2A4-F84DEC1257E2}"/>
              </a:ext>
            </a:extLst>
          </p:cNvPr>
          <p:cNvPicPr>
            <a:picLocks noChangeAspect="1"/>
          </p:cNvPicPr>
          <p:nvPr/>
        </p:nvPicPr>
        <p:blipFill>
          <a:blip r:embed="rId5"/>
          <a:stretch>
            <a:fillRect/>
          </a:stretch>
        </p:blipFill>
        <p:spPr>
          <a:xfrm>
            <a:off x="6848180" y="779945"/>
            <a:ext cx="1870484" cy="1791226"/>
          </a:xfrm>
          <a:prstGeom prst="rect">
            <a:avLst/>
          </a:prstGeom>
        </p:spPr>
      </p:pic>
      <p:pic>
        <p:nvPicPr>
          <p:cNvPr id="10" name="圖片 9">
            <a:extLst>
              <a:ext uri="{FF2B5EF4-FFF2-40B4-BE49-F238E27FC236}">
                <a16:creationId xmlns:a16="http://schemas.microsoft.com/office/drawing/2014/main" id="{CAABBF57-8713-B5A0-30D0-D62B74774818}"/>
              </a:ext>
            </a:extLst>
          </p:cNvPr>
          <p:cNvPicPr>
            <a:picLocks noChangeAspect="1"/>
          </p:cNvPicPr>
          <p:nvPr/>
        </p:nvPicPr>
        <p:blipFill>
          <a:blip r:embed="rId6"/>
          <a:stretch>
            <a:fillRect/>
          </a:stretch>
        </p:blipFill>
        <p:spPr>
          <a:xfrm>
            <a:off x="6917411" y="4341700"/>
            <a:ext cx="1851741" cy="1843811"/>
          </a:xfrm>
          <a:prstGeom prst="rect">
            <a:avLst/>
          </a:prstGeom>
        </p:spPr>
      </p:pic>
      <p:pic>
        <p:nvPicPr>
          <p:cNvPr id="14" name="圖片 13">
            <a:extLst>
              <a:ext uri="{FF2B5EF4-FFF2-40B4-BE49-F238E27FC236}">
                <a16:creationId xmlns:a16="http://schemas.microsoft.com/office/drawing/2014/main" id="{6CB8C111-E702-4524-278B-7DE57D948D60}"/>
              </a:ext>
            </a:extLst>
          </p:cNvPr>
          <p:cNvPicPr>
            <a:picLocks noChangeAspect="1"/>
          </p:cNvPicPr>
          <p:nvPr/>
        </p:nvPicPr>
        <p:blipFill>
          <a:blip r:embed="rId7"/>
          <a:stretch>
            <a:fillRect/>
          </a:stretch>
        </p:blipFill>
        <p:spPr>
          <a:xfrm>
            <a:off x="421839" y="2456196"/>
            <a:ext cx="2052215" cy="2052215"/>
          </a:xfrm>
          <a:prstGeom prst="rect">
            <a:avLst/>
          </a:prstGeom>
        </p:spPr>
      </p:pic>
    </p:spTree>
    <p:extLst>
      <p:ext uri="{BB962C8B-B14F-4D97-AF65-F5344CB8AC3E}">
        <p14:creationId xmlns:p14="http://schemas.microsoft.com/office/powerpoint/2010/main" val="377824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1D5294-DB06-29E1-82F7-2FD6F6B8107F}"/>
              </a:ext>
            </a:extLst>
          </p:cNvPr>
          <p:cNvSpPr>
            <a:spLocks noGrp="1"/>
          </p:cNvSpPr>
          <p:nvPr>
            <p:ph type="title"/>
          </p:nvPr>
        </p:nvSpPr>
        <p:spPr/>
        <p:txBody>
          <a:bodyPr/>
          <a:lstStyle/>
          <a:p>
            <a:r>
              <a:rPr lang="zh-TW" altLang="en-US" dirty="0"/>
              <a:t>必去網站</a:t>
            </a:r>
          </a:p>
        </p:txBody>
      </p:sp>
      <p:sp>
        <p:nvSpPr>
          <p:cNvPr id="4" name="投影片編號版面配置區 3">
            <a:extLst>
              <a:ext uri="{FF2B5EF4-FFF2-40B4-BE49-F238E27FC236}">
                <a16:creationId xmlns:a16="http://schemas.microsoft.com/office/drawing/2014/main" id="{059EA146-7257-54CA-B267-C820E8F0C19C}"/>
              </a:ext>
            </a:extLst>
          </p:cNvPr>
          <p:cNvSpPr>
            <a:spLocks noGrp="1"/>
          </p:cNvSpPr>
          <p:nvPr>
            <p:ph type="sldNum" sz="quarter" idx="12"/>
          </p:nvPr>
        </p:nvSpPr>
        <p:spPr/>
        <p:txBody>
          <a:bodyPr/>
          <a:lstStyle/>
          <a:p>
            <a:fld id="{254D4C32-7A1A-45A5-84ED-81747F1ABFAE}" type="slidenum">
              <a:rPr lang="zh-TW" altLang="en-US" smtClean="0"/>
              <a:t>3</a:t>
            </a:fld>
            <a:endParaRPr lang="zh-TW" altLang="en-US"/>
          </a:p>
        </p:txBody>
      </p:sp>
      <p:sp>
        <p:nvSpPr>
          <p:cNvPr id="7" name="矩形 6">
            <a:extLst>
              <a:ext uri="{FF2B5EF4-FFF2-40B4-BE49-F238E27FC236}">
                <a16:creationId xmlns:a16="http://schemas.microsoft.com/office/drawing/2014/main" id="{9E831BF1-31F8-B84E-C126-062FD7B03D04}"/>
              </a:ext>
            </a:extLst>
          </p:cNvPr>
          <p:cNvSpPr/>
          <p:nvPr/>
        </p:nvSpPr>
        <p:spPr>
          <a:xfrm>
            <a:off x="389162" y="1352261"/>
            <a:ext cx="5688632" cy="707886"/>
          </a:xfrm>
          <a:prstGeom prst="rect">
            <a:avLst/>
          </a:prstGeom>
        </p:spPr>
        <p:txBody>
          <a:bodyPr wrap="square">
            <a:spAutoFit/>
          </a:bodyPr>
          <a:lstStyle/>
          <a:p>
            <a:r>
              <a:rPr lang="zh-TW" altLang="en-US" sz="2000" b="1" dirty="0">
                <a:ln w="9000" cmpd="sng">
                  <a:noFill/>
                  <a:prstDash val="solid"/>
                </a:ln>
                <a:latin typeface="微軟正黑體" panose="020B0604030504040204" pitchFamily="34" charset="-120"/>
                <a:ea typeface="微軟正黑體" panose="020B0604030504040204" pitchFamily="34" charset="-120"/>
              </a:rPr>
              <a:t>智慧財產局 </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en-US" altLang="zh-TW" sz="2000" dirty="0">
                <a:ln w="9000" cmpd="sng">
                  <a:noFill/>
                  <a:prstDash val="solid"/>
                </a:ln>
                <a:latin typeface="微軟正黑體" panose="020B0604030504040204" pitchFamily="34" charset="-120"/>
                <a:ea typeface="微軟正黑體" panose="020B0604030504040204" pitchFamily="34" charset="-120"/>
                <a:hlinkClick r:id="rId2"/>
              </a:rPr>
              <a:t>https://www.tipo.gov.tw</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p:txBody>
      </p:sp>
      <p:sp>
        <p:nvSpPr>
          <p:cNvPr id="9" name="矩形 8">
            <a:extLst>
              <a:ext uri="{FF2B5EF4-FFF2-40B4-BE49-F238E27FC236}">
                <a16:creationId xmlns:a16="http://schemas.microsoft.com/office/drawing/2014/main" id="{6E43752F-5F8C-D7CA-E7D0-B3B05F2C7F28}"/>
              </a:ext>
            </a:extLst>
          </p:cNvPr>
          <p:cNvSpPr/>
          <p:nvPr/>
        </p:nvSpPr>
        <p:spPr>
          <a:xfrm>
            <a:off x="3239852" y="3128361"/>
            <a:ext cx="5688632" cy="707886"/>
          </a:xfrm>
          <a:prstGeom prst="rect">
            <a:avLst/>
          </a:prstGeom>
        </p:spPr>
        <p:txBody>
          <a:bodyPr wrap="square">
            <a:spAutoFit/>
          </a:bodyPr>
          <a:lstStyle/>
          <a:p>
            <a:r>
              <a:rPr lang="zh-TW" altLang="en-US" sz="2000" b="1" dirty="0">
                <a:ln w="9000" cmpd="sng">
                  <a:noFill/>
                  <a:prstDash val="solid"/>
                </a:ln>
                <a:latin typeface="微軟正黑體" panose="020B0604030504040204" pitchFamily="34" charset="-120"/>
                <a:ea typeface="微軟正黑體" panose="020B0604030504040204" pitchFamily="34" charset="-120"/>
              </a:rPr>
              <a:t>智慧財產權</a:t>
            </a:r>
            <a:r>
              <a:rPr lang="en-US" altLang="zh-TW" sz="2000" b="1" dirty="0">
                <a:ln w="9000" cmpd="sng">
                  <a:noFill/>
                  <a:prstDash val="solid"/>
                </a:ln>
                <a:latin typeface="微軟正黑體" panose="020B0604030504040204" pitchFamily="34" charset="-120"/>
                <a:ea typeface="微軟正黑體" panose="020B0604030504040204" pitchFamily="34" charset="-120"/>
              </a:rPr>
              <a:t>e</a:t>
            </a:r>
            <a:r>
              <a:rPr lang="zh-TW" altLang="en-US" sz="2000" b="1" dirty="0">
                <a:ln w="9000" cmpd="sng">
                  <a:noFill/>
                  <a:prstDash val="solid"/>
                </a:ln>
                <a:latin typeface="微軟正黑體" panose="020B0604030504040204" pitchFamily="34" charset="-120"/>
                <a:ea typeface="微軟正黑體" panose="020B0604030504040204" pitchFamily="34" charset="-120"/>
              </a:rPr>
              <a:t>網通</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en-US" altLang="zh-TW" sz="2000" dirty="0">
                <a:ln w="9000" cmpd="sng">
                  <a:noFill/>
                  <a:prstDash val="solid"/>
                </a:ln>
                <a:latin typeface="微軟正黑體" panose="020B0604030504040204" pitchFamily="34" charset="-120"/>
                <a:ea typeface="微軟正黑體" panose="020B0604030504040204" pitchFamily="34" charset="-120"/>
                <a:hlinkClick r:id="rId3"/>
              </a:rPr>
              <a:t>https://tiponet.tipo.gov.tw</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p:txBody>
      </p:sp>
      <p:sp>
        <p:nvSpPr>
          <p:cNvPr id="8" name="矩形 7">
            <a:extLst>
              <a:ext uri="{FF2B5EF4-FFF2-40B4-BE49-F238E27FC236}">
                <a16:creationId xmlns:a16="http://schemas.microsoft.com/office/drawing/2014/main" id="{6E43752F-5F8C-D7CA-E7D0-B3B05F2C7F28}"/>
              </a:ext>
            </a:extLst>
          </p:cNvPr>
          <p:cNvSpPr/>
          <p:nvPr/>
        </p:nvSpPr>
        <p:spPr>
          <a:xfrm>
            <a:off x="421839" y="5013176"/>
            <a:ext cx="5688632" cy="707886"/>
          </a:xfrm>
          <a:prstGeom prst="rect">
            <a:avLst/>
          </a:prstGeom>
        </p:spPr>
        <p:txBody>
          <a:bodyPr wrap="square">
            <a:spAutoFit/>
          </a:bodyPr>
          <a:lstStyle/>
          <a:p>
            <a:r>
              <a:rPr lang="zh-TW" altLang="en-US" sz="2000" b="1" dirty="0">
                <a:ln w="9000" cmpd="sng">
                  <a:noFill/>
                  <a:prstDash val="solid"/>
                </a:ln>
                <a:latin typeface="微軟正黑體" panose="020B0604030504040204" pitchFamily="34" charset="-120"/>
                <a:ea typeface="微軟正黑體" panose="020B0604030504040204" pitchFamily="34" charset="-120"/>
              </a:rPr>
              <a:t>全球專利檢索系統</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a:p>
            <a:r>
              <a:rPr lang="en-US" altLang="zh-TW" sz="2000" b="1" dirty="0">
                <a:ln w="9000" cmpd="sng">
                  <a:noFill/>
                  <a:prstDash val="solid"/>
                </a:ln>
                <a:latin typeface="微軟正黑體" panose="020B0604030504040204" pitchFamily="34" charset="-120"/>
                <a:ea typeface="微軟正黑體" panose="020B0604030504040204" pitchFamily="34" charset="-120"/>
                <a:hlinkClick r:id="rId4"/>
              </a:rPr>
              <a:t>https://tiponet.tipo.gov.tw/gpss/</a:t>
            </a:r>
            <a:endParaRPr lang="en-US" altLang="zh-TW" sz="2000" b="1" dirty="0">
              <a:ln w="9000" cmpd="sng">
                <a:noFill/>
                <a:prstDash val="solid"/>
              </a:ln>
              <a:latin typeface="微軟正黑體" panose="020B0604030504040204" pitchFamily="34" charset="-120"/>
              <a:ea typeface="微軟正黑體" panose="020B0604030504040204" pitchFamily="34" charset="-120"/>
            </a:endParaRPr>
          </a:p>
        </p:txBody>
      </p:sp>
      <p:pic>
        <p:nvPicPr>
          <p:cNvPr id="1029" name="Picture 5"/>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508083" y="885854"/>
            <a:ext cx="2257697" cy="2234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611560" y="2366180"/>
            <a:ext cx="2232248"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圖片 4">
            <a:extLst>
              <a:ext uri="{FF2B5EF4-FFF2-40B4-BE49-F238E27FC236}">
                <a16:creationId xmlns:a16="http://schemas.microsoft.com/office/drawing/2014/main" id="{94FBEE49-5241-8581-E56E-04706E785370}"/>
              </a:ext>
            </a:extLst>
          </p:cNvPr>
          <p:cNvPicPr>
            <a:picLocks noChangeAspect="1"/>
          </p:cNvPicPr>
          <p:nvPr/>
        </p:nvPicPr>
        <p:blipFill>
          <a:blip r:embed="rId7"/>
          <a:stretch>
            <a:fillRect/>
          </a:stretch>
        </p:blipFill>
        <p:spPr>
          <a:xfrm>
            <a:off x="6486770" y="4152498"/>
            <a:ext cx="2279010" cy="2293938"/>
          </a:xfrm>
          <a:prstGeom prst="rect">
            <a:avLst/>
          </a:prstGeom>
        </p:spPr>
      </p:pic>
    </p:spTree>
    <p:extLst>
      <p:ext uri="{BB962C8B-B14F-4D97-AF65-F5344CB8AC3E}">
        <p14:creationId xmlns:p14="http://schemas.microsoft.com/office/powerpoint/2010/main" val="3158671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4</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前言</a:t>
            </a:r>
          </a:p>
        </p:txBody>
      </p:sp>
      <p:sp>
        <p:nvSpPr>
          <p:cNvPr id="3" name="文字方塊 2">
            <a:extLst>
              <a:ext uri="{FF2B5EF4-FFF2-40B4-BE49-F238E27FC236}">
                <a16:creationId xmlns:a16="http://schemas.microsoft.com/office/drawing/2014/main" id="{29D98853-D292-2B25-CAC8-82651DDA0BCE}"/>
              </a:ext>
            </a:extLst>
          </p:cNvPr>
          <p:cNvSpPr txBox="1"/>
          <p:nvPr/>
        </p:nvSpPr>
        <p:spPr>
          <a:xfrm>
            <a:off x="4114800" y="980728"/>
            <a:ext cx="4572000" cy="1200329"/>
          </a:xfrm>
          <a:prstGeom prst="rect">
            <a:avLst/>
          </a:prstGeom>
          <a:noFill/>
        </p:spPr>
        <p:txBody>
          <a:bodyPr wrap="square">
            <a:spAutoFit/>
          </a:bodyPr>
          <a:lstStyle/>
          <a:p>
            <a:pPr algn="r"/>
            <a:r>
              <a:rPr lang="zh-TW" altLang="en-US" sz="2400" dirty="0">
                <a:latin typeface="微軟正黑體" panose="020B0604030504040204" pitchFamily="34" charset="-120"/>
                <a:ea typeface="微軟正黑體" panose="020B0604030504040204" pitchFamily="34" charset="-120"/>
              </a:rPr>
              <a:t>什麼是專利</a:t>
            </a:r>
            <a:r>
              <a:rPr lang="en-US" altLang="zh-TW" sz="2400" dirty="0">
                <a:latin typeface="微軟正黑體" panose="020B0604030504040204" pitchFamily="34" charset="-120"/>
                <a:ea typeface="微軟正黑體" panose="020B0604030504040204" pitchFamily="34" charset="-120"/>
              </a:rPr>
              <a:t>?</a:t>
            </a:r>
          </a:p>
          <a:p>
            <a:pPr algn="r"/>
            <a:r>
              <a:rPr lang="zh-TW" altLang="en-US" sz="2400" dirty="0">
                <a:latin typeface="微軟正黑體" panose="020B0604030504040204" pitchFamily="34" charset="-120"/>
                <a:ea typeface="微軟正黑體" panose="020B0604030504040204" pitchFamily="34" charset="-120"/>
              </a:rPr>
              <a:t>為什麼要申請專利</a:t>
            </a:r>
            <a:r>
              <a:rPr lang="en-US" altLang="zh-TW" sz="2400" dirty="0">
                <a:latin typeface="微軟正黑體" panose="020B0604030504040204" pitchFamily="34" charset="-120"/>
                <a:ea typeface="微軟正黑體" panose="020B0604030504040204" pitchFamily="34" charset="-120"/>
              </a:rPr>
              <a:t>?</a:t>
            </a:r>
          </a:p>
          <a:p>
            <a:pPr algn="r"/>
            <a:r>
              <a:rPr lang="zh-TW" altLang="en-US" sz="2400" dirty="0">
                <a:latin typeface="微軟正黑體" panose="020B0604030504040204" pitchFamily="34" charset="-120"/>
                <a:ea typeface="微軟正黑體" panose="020B0604030504040204" pitchFamily="34" charset="-120"/>
              </a:rPr>
              <a:t>如何申請專利</a:t>
            </a:r>
            <a:r>
              <a:rPr lang="en-US" altLang="zh-TW" sz="2400"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2101204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圓角矩形 28"/>
          <p:cNvSpPr/>
          <p:nvPr/>
        </p:nvSpPr>
        <p:spPr>
          <a:xfrm>
            <a:off x="5770145" y="1556792"/>
            <a:ext cx="2335805"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2200" dirty="0">
                <a:latin typeface="微軟正黑體" panose="020B0604030504040204" pitchFamily="34" charset="-120"/>
                <a:ea typeface="微軟正黑體" panose="020B0604030504040204" pitchFamily="34" charset="-120"/>
              </a:rPr>
              <a:t>銷售市場</a:t>
            </a:r>
            <a:r>
              <a:rPr lang="zh-TW" altLang="en-US" sz="2200" b="1" dirty="0">
                <a:latin typeface="微軟正黑體" panose="020B0604030504040204" pitchFamily="34" charset="-120"/>
                <a:ea typeface="微軟正黑體" panose="020B0604030504040204" pitchFamily="34" charset="-120"/>
              </a:rPr>
              <a:t>獨佔</a:t>
            </a:r>
          </a:p>
        </p:txBody>
      </p:sp>
      <p:sp>
        <p:nvSpPr>
          <p:cNvPr id="2" name="標題 1">
            <a:extLst>
              <a:ext uri="{FF2B5EF4-FFF2-40B4-BE49-F238E27FC236}">
                <a16:creationId xmlns:a16="http://schemas.microsoft.com/office/drawing/2014/main" id="{0D7D4324-1DC4-3B23-F328-D091F8D339D2}"/>
              </a:ext>
            </a:extLst>
          </p:cNvPr>
          <p:cNvSpPr>
            <a:spLocks noGrp="1"/>
          </p:cNvSpPr>
          <p:nvPr>
            <p:ph type="title"/>
          </p:nvPr>
        </p:nvSpPr>
        <p:spPr/>
        <p:txBody>
          <a:bodyPr/>
          <a:lstStyle/>
          <a:p>
            <a:r>
              <a:rPr lang="zh-TW" altLang="en-US" dirty="0"/>
              <a:t>專利價值</a:t>
            </a:r>
          </a:p>
        </p:txBody>
      </p:sp>
      <p:sp>
        <p:nvSpPr>
          <p:cNvPr id="4" name="投影片編號版面配置區 3">
            <a:extLst>
              <a:ext uri="{FF2B5EF4-FFF2-40B4-BE49-F238E27FC236}">
                <a16:creationId xmlns:a16="http://schemas.microsoft.com/office/drawing/2014/main" id="{6EC2C715-0898-9389-375A-C685119AFDCE}"/>
              </a:ext>
            </a:extLst>
          </p:cNvPr>
          <p:cNvSpPr>
            <a:spLocks noGrp="1"/>
          </p:cNvSpPr>
          <p:nvPr>
            <p:ph type="sldNum" sz="quarter" idx="12"/>
          </p:nvPr>
        </p:nvSpPr>
        <p:spPr/>
        <p:txBody>
          <a:bodyPr/>
          <a:lstStyle/>
          <a:p>
            <a:fld id="{254D4C32-7A1A-45A5-84ED-81747F1ABFAE}" type="slidenum">
              <a:rPr lang="zh-TW" altLang="en-US" smtClean="0"/>
              <a:t>5</a:t>
            </a:fld>
            <a:endParaRPr lang="zh-TW" altLang="en-US"/>
          </a:p>
        </p:txBody>
      </p:sp>
      <p:grpSp>
        <p:nvGrpSpPr>
          <p:cNvPr id="26" name="群組 25"/>
          <p:cNvGrpSpPr/>
          <p:nvPr/>
        </p:nvGrpSpPr>
        <p:grpSpPr>
          <a:xfrm>
            <a:off x="3040811" y="2278877"/>
            <a:ext cx="3152711" cy="3233071"/>
            <a:chOff x="2637061" y="2278877"/>
            <a:chExt cx="3152711" cy="3233071"/>
          </a:xfrm>
        </p:grpSpPr>
        <p:grpSp>
          <p:nvGrpSpPr>
            <p:cNvPr id="15" name="群組 14"/>
            <p:cNvGrpSpPr/>
            <p:nvPr/>
          </p:nvGrpSpPr>
          <p:grpSpPr>
            <a:xfrm>
              <a:off x="2771800" y="2348880"/>
              <a:ext cx="2952328" cy="2880320"/>
              <a:chOff x="2771800" y="2348880"/>
              <a:chExt cx="2952328" cy="2880320"/>
            </a:xfrm>
          </p:grpSpPr>
          <p:sp>
            <p:nvSpPr>
              <p:cNvPr id="8" name="橢圓 7"/>
              <p:cNvSpPr/>
              <p:nvPr/>
            </p:nvSpPr>
            <p:spPr>
              <a:xfrm>
                <a:off x="3430989" y="2973959"/>
                <a:ext cx="1656184" cy="1619801"/>
              </a:xfrm>
              <a:prstGeom prst="ellipse">
                <a:avLst/>
              </a:prstGeom>
              <a:effectLst>
                <a:innerShdw blurRad="114300">
                  <a:prstClr val="black"/>
                </a:innerShdw>
              </a:effectLst>
              <a:scene3d>
                <a:camera prst="obliqueBottomRight"/>
                <a:lightRig rig="threePt" dir="t"/>
              </a:scene3d>
            </p:spPr>
            <p:style>
              <a:lnRef idx="1">
                <a:schemeClr val="accent4"/>
              </a:lnRef>
              <a:fillRef idx="2">
                <a:schemeClr val="accent4"/>
              </a:fillRef>
              <a:effectRef idx="1">
                <a:schemeClr val="accent4"/>
              </a:effectRef>
              <a:fontRef idx="minor">
                <a:schemeClr val="dk1"/>
              </a:fontRef>
            </p:style>
            <p:txBody>
              <a:bodyPr rtlCol="0" anchor="ctr"/>
              <a:lstStyle/>
              <a:p>
                <a:pPr algn="ctr"/>
                <a:r>
                  <a:rPr lang="zh-TW" altLang="en-US" sz="2400" b="1" dirty="0">
                    <a:latin typeface="微軟正黑體" panose="020B0604030504040204" pitchFamily="34" charset="-120"/>
                    <a:ea typeface="微軟正黑體" panose="020B0604030504040204" pitchFamily="34" charset="-120"/>
                  </a:rPr>
                  <a:t>專利</a:t>
                </a:r>
                <a:endParaRPr lang="en-US" altLang="zh-TW" sz="2400" b="1" dirty="0">
                  <a:latin typeface="微軟正黑體" panose="020B0604030504040204" pitchFamily="34" charset="-120"/>
                  <a:ea typeface="微軟正黑體" panose="020B0604030504040204" pitchFamily="34" charset="-120"/>
                </a:endParaRPr>
              </a:p>
              <a:p>
                <a:pPr algn="ctr"/>
                <a:r>
                  <a:rPr lang="zh-TW" altLang="en-US" sz="2400" b="1" dirty="0">
                    <a:latin typeface="微軟正黑體" panose="020B0604030504040204" pitchFamily="34" charset="-120"/>
                    <a:ea typeface="微軟正黑體" panose="020B0604030504040204" pitchFamily="34" charset="-120"/>
                  </a:rPr>
                  <a:t>價值</a:t>
                </a:r>
              </a:p>
            </p:txBody>
          </p:sp>
          <p:grpSp>
            <p:nvGrpSpPr>
              <p:cNvPr id="3" name="群組 2"/>
              <p:cNvGrpSpPr/>
              <p:nvPr/>
            </p:nvGrpSpPr>
            <p:grpSpPr>
              <a:xfrm>
                <a:off x="2771800" y="2348880"/>
                <a:ext cx="2952328" cy="2880320"/>
                <a:chOff x="2590800" y="1447800"/>
                <a:chExt cx="3962400" cy="3962400"/>
              </a:xfrm>
            </p:grpSpPr>
            <p:sp>
              <p:nvSpPr>
                <p:cNvPr id="5" name="环形箭头 12"/>
                <p:cNvSpPr>
                  <a:spLocks noChangeAspect="1"/>
                </p:cNvSpPr>
                <p:nvPr/>
              </p:nvSpPr>
              <p:spPr bwMode="auto">
                <a:xfrm>
                  <a:off x="2590800" y="1447800"/>
                  <a:ext cx="3962400" cy="3962400"/>
                </a:xfrm>
                <a:prstGeom prst="circularArrow">
                  <a:avLst>
                    <a:gd name="adj1" fmla="val 10674"/>
                    <a:gd name="adj2" fmla="val 1142319"/>
                    <a:gd name="adj3" fmla="val 16861065"/>
                    <a:gd name="adj4" fmla="val 10800000"/>
                    <a:gd name="adj5" fmla="val 12500"/>
                  </a:avLst>
                </a:prstGeom>
                <a:gradFill>
                  <a:gsLst>
                    <a:gs pos="0">
                      <a:srgbClr val="FFC000"/>
                    </a:gs>
                    <a:gs pos="100000">
                      <a:srgbClr val="A27B00"/>
                    </a:gs>
                  </a:gsLst>
                  <a:lin ang="5400000" scaled="1"/>
                </a:gradFill>
                <a:ln w="9525" cap="flat" cmpd="sng" algn="ctr">
                  <a:noFill/>
                  <a:prstDash val="solid"/>
                  <a:round/>
                  <a:headEnd type="none" w="med" len="med"/>
                  <a:tailEnd type="none" w="med" len="med"/>
                </a:ln>
                <a:effectLst>
                  <a:outerShdw blurRad="184150" dist="241300" dir="11520000" sx="110000" sy="110000" algn="ctr">
                    <a:srgbClr val="000000">
                      <a:alpha val="18000"/>
                    </a:srgbClr>
                  </a:outerShdw>
                </a:effectLst>
                <a:scene3d>
                  <a:camera prst="perspectiveFront" fov="5100000">
                    <a:rot lat="0" lon="0" rev="0"/>
                  </a:camera>
                  <a:lightRig rig="flood" dir="t">
                    <a:rot lat="0" lon="0" rev="13800000"/>
                  </a:lightRig>
                </a:scene3d>
                <a:sp3d extrusionH="107950" prstMaterial="plastic">
                  <a:bevelT w="82550" h="63500" prst="divot"/>
                  <a:bevelB/>
                </a:sp3d>
              </p:spPr>
              <p:txBody>
                <a:bodyPr/>
                <a:lstStyle/>
                <a:p>
                  <a:pPr eaLnBrk="0" hangingPunct="0">
                    <a:defRPr/>
                  </a:pPr>
                  <a:endParaRPr lang="zh-CN" altLang="en-US" dirty="0">
                    <a:latin typeface="Arial" charset="0"/>
                    <a:ea typeface="宋体" charset="-122"/>
                  </a:endParaRPr>
                </a:p>
              </p:txBody>
            </p:sp>
            <p:sp>
              <p:nvSpPr>
                <p:cNvPr id="6" name="环形箭头 21"/>
                <p:cNvSpPr>
                  <a:spLocks noChangeAspect="1"/>
                </p:cNvSpPr>
                <p:nvPr/>
              </p:nvSpPr>
              <p:spPr bwMode="auto">
                <a:xfrm rot="7191559">
                  <a:off x="2590800" y="1447800"/>
                  <a:ext cx="3962400" cy="3962400"/>
                </a:xfrm>
                <a:prstGeom prst="circularArrow">
                  <a:avLst>
                    <a:gd name="adj1" fmla="val 10674"/>
                    <a:gd name="adj2" fmla="val 1142319"/>
                    <a:gd name="adj3" fmla="val 16861065"/>
                    <a:gd name="adj4" fmla="val 10800000"/>
                    <a:gd name="adj5" fmla="val 12500"/>
                  </a:avLst>
                </a:prstGeom>
                <a:gradFill>
                  <a:gsLst>
                    <a:gs pos="0">
                      <a:srgbClr val="92D050"/>
                    </a:gs>
                    <a:gs pos="100000">
                      <a:srgbClr val="548123"/>
                    </a:gs>
                  </a:gsLst>
                  <a:lin ang="5400000" scaled="1"/>
                </a:gradFill>
                <a:ln w="9525" cap="flat" cmpd="sng" algn="ctr">
                  <a:noFill/>
                  <a:prstDash val="solid"/>
                  <a:round/>
                  <a:headEnd type="none" w="med" len="med"/>
                  <a:tailEnd type="none" w="med" len="med"/>
                </a:ln>
                <a:effectLst>
                  <a:outerShdw blurRad="184150" dist="241300" dir="11520000" sx="110000" sy="110000" algn="ctr">
                    <a:srgbClr val="000000">
                      <a:alpha val="18000"/>
                    </a:srgbClr>
                  </a:outerShdw>
                </a:effectLst>
                <a:scene3d>
                  <a:camera prst="perspectiveFront" fov="5100000">
                    <a:rot lat="0" lon="0" rev="0"/>
                  </a:camera>
                  <a:lightRig rig="flood" dir="t">
                    <a:rot lat="0" lon="0" rev="13800000"/>
                  </a:lightRig>
                </a:scene3d>
                <a:sp3d extrusionH="107950" prstMaterial="plastic">
                  <a:bevelT w="82550" h="63500" prst="divot"/>
                  <a:bevelB/>
                </a:sp3d>
              </p:spPr>
              <p:txBody>
                <a:bodyPr/>
                <a:lstStyle/>
                <a:p>
                  <a:pPr eaLnBrk="0" hangingPunct="0">
                    <a:defRPr/>
                  </a:pPr>
                  <a:endParaRPr lang="zh-CN" altLang="en-US">
                    <a:latin typeface="Arial" charset="0"/>
                    <a:ea typeface="宋体" charset="-122"/>
                  </a:endParaRPr>
                </a:p>
              </p:txBody>
            </p:sp>
            <p:sp>
              <p:nvSpPr>
                <p:cNvPr id="7" name="环形箭头 22"/>
                <p:cNvSpPr>
                  <a:spLocks noChangeAspect="1"/>
                </p:cNvSpPr>
                <p:nvPr/>
              </p:nvSpPr>
              <p:spPr bwMode="auto">
                <a:xfrm rot="14370234">
                  <a:off x="2590800" y="1447800"/>
                  <a:ext cx="3962400" cy="3962400"/>
                </a:xfrm>
                <a:prstGeom prst="circularArrow">
                  <a:avLst>
                    <a:gd name="adj1" fmla="val 10674"/>
                    <a:gd name="adj2" fmla="val 1142319"/>
                    <a:gd name="adj3" fmla="val 16861065"/>
                    <a:gd name="adj4" fmla="val 10800000"/>
                    <a:gd name="adj5" fmla="val 12500"/>
                  </a:avLst>
                </a:prstGeom>
                <a:gradFill>
                  <a:gsLst>
                    <a:gs pos="0">
                      <a:srgbClr val="FF0000"/>
                    </a:gs>
                    <a:gs pos="100000">
                      <a:srgbClr val="C00000"/>
                    </a:gs>
                  </a:gsLst>
                  <a:lin ang="5400000" scaled="1"/>
                </a:gradFill>
                <a:ln w="9525" cap="flat" cmpd="sng" algn="ctr">
                  <a:noFill/>
                  <a:prstDash val="solid"/>
                  <a:round/>
                  <a:headEnd type="none" w="med" len="med"/>
                  <a:tailEnd type="none" w="med" len="med"/>
                </a:ln>
                <a:effectLst>
                  <a:outerShdw blurRad="184150" dist="241300" dir="11520000" sx="110000" sy="110000" algn="ctr">
                    <a:srgbClr val="000000">
                      <a:alpha val="18000"/>
                    </a:srgbClr>
                  </a:outerShdw>
                </a:effectLst>
                <a:scene3d>
                  <a:camera prst="perspectiveFront" fov="5100000">
                    <a:rot lat="0" lon="0" rev="0"/>
                  </a:camera>
                  <a:lightRig rig="flood" dir="t">
                    <a:rot lat="0" lon="0" rev="13800000"/>
                  </a:lightRig>
                </a:scene3d>
                <a:sp3d extrusionH="107950" prstMaterial="plastic">
                  <a:bevelT w="82550" h="63500" prst="divot"/>
                  <a:bevelB/>
                </a:sp3d>
              </p:spPr>
              <p:txBody>
                <a:bodyPr/>
                <a:lstStyle/>
                <a:p>
                  <a:pPr eaLnBrk="0" hangingPunct="0">
                    <a:defRPr/>
                  </a:pPr>
                  <a:endParaRPr lang="zh-CN" altLang="en-US">
                    <a:latin typeface="Arial" charset="0"/>
                    <a:ea typeface="宋体" charset="-122"/>
                  </a:endParaRPr>
                </a:p>
              </p:txBody>
            </p:sp>
          </p:grpSp>
          <p:sp>
            <p:nvSpPr>
              <p:cNvPr id="9" name="文字方塊 8"/>
              <p:cNvSpPr txBox="1"/>
              <p:nvPr/>
            </p:nvSpPr>
            <p:spPr>
              <a:xfrm>
                <a:off x="3275856" y="2815795"/>
                <a:ext cx="415498" cy="369332"/>
              </a:xfrm>
              <a:prstGeom prst="rect">
                <a:avLst/>
              </a:prstGeom>
              <a:noFill/>
            </p:spPr>
            <p:txBody>
              <a:bodyPr wrap="none" rtlCol="0">
                <a:spAutoFit/>
              </a:bodyPr>
              <a:lstStyle/>
              <a:p>
                <a:r>
                  <a:rPr lang="zh-TW" altLang="en-US" b="1" dirty="0">
                    <a:solidFill>
                      <a:schemeClr val="bg1"/>
                    </a:solidFill>
                    <a:latin typeface="微軟正黑體" panose="020B0604030504040204" pitchFamily="34" charset="-120"/>
                    <a:ea typeface="微軟正黑體" panose="020B0604030504040204" pitchFamily="34" charset="-120"/>
                  </a:rPr>
                  <a:t>技</a:t>
                </a:r>
              </a:p>
            </p:txBody>
          </p:sp>
          <p:sp>
            <p:nvSpPr>
              <p:cNvPr id="10" name="文字方塊 9"/>
              <p:cNvSpPr txBox="1"/>
              <p:nvPr/>
            </p:nvSpPr>
            <p:spPr>
              <a:xfrm>
                <a:off x="3503507" y="2666118"/>
                <a:ext cx="415498" cy="369332"/>
              </a:xfrm>
              <a:prstGeom prst="rect">
                <a:avLst/>
              </a:prstGeom>
              <a:noFill/>
            </p:spPr>
            <p:txBody>
              <a:bodyPr wrap="none" rtlCol="0">
                <a:spAutoFit/>
              </a:bodyPr>
              <a:lstStyle/>
              <a:p>
                <a:r>
                  <a:rPr lang="zh-TW" altLang="en-US" b="1" dirty="0">
                    <a:solidFill>
                      <a:schemeClr val="bg1"/>
                    </a:solidFill>
                    <a:latin typeface="微軟正黑體" panose="020B0604030504040204" pitchFamily="34" charset="-120"/>
                    <a:ea typeface="微軟正黑體" panose="020B0604030504040204" pitchFamily="34" charset="-120"/>
                  </a:rPr>
                  <a:t>術</a:t>
                </a:r>
              </a:p>
            </p:txBody>
          </p:sp>
          <p:sp>
            <p:nvSpPr>
              <p:cNvPr id="11" name="文字方塊 10"/>
              <p:cNvSpPr txBox="1"/>
              <p:nvPr/>
            </p:nvSpPr>
            <p:spPr>
              <a:xfrm>
                <a:off x="5077131" y="3252236"/>
                <a:ext cx="415498" cy="369332"/>
              </a:xfrm>
              <a:prstGeom prst="rect">
                <a:avLst/>
              </a:prstGeom>
              <a:noFill/>
            </p:spPr>
            <p:txBody>
              <a:bodyPr wrap="none" rtlCol="0">
                <a:spAutoFit/>
              </a:bodyPr>
              <a:lstStyle/>
              <a:p>
                <a:r>
                  <a:rPr lang="zh-TW" altLang="en-US" b="1" dirty="0">
                    <a:solidFill>
                      <a:schemeClr val="bg1"/>
                    </a:solidFill>
                    <a:latin typeface="微軟正黑體" panose="020B0604030504040204" pitchFamily="34" charset="-120"/>
                    <a:ea typeface="微軟正黑體" panose="020B0604030504040204" pitchFamily="34" charset="-120"/>
                  </a:rPr>
                  <a:t>法</a:t>
                </a:r>
              </a:p>
            </p:txBody>
          </p:sp>
          <p:sp>
            <p:nvSpPr>
              <p:cNvPr id="12" name="文字方塊 11"/>
              <p:cNvSpPr txBox="1"/>
              <p:nvPr/>
            </p:nvSpPr>
            <p:spPr>
              <a:xfrm>
                <a:off x="5158646" y="3604374"/>
                <a:ext cx="415498" cy="369332"/>
              </a:xfrm>
              <a:prstGeom prst="rect">
                <a:avLst/>
              </a:prstGeom>
              <a:noFill/>
            </p:spPr>
            <p:txBody>
              <a:bodyPr wrap="none" rtlCol="0">
                <a:spAutoFit/>
              </a:bodyPr>
              <a:lstStyle/>
              <a:p>
                <a:r>
                  <a:rPr lang="zh-TW" altLang="en-US" b="1" dirty="0">
                    <a:solidFill>
                      <a:schemeClr val="bg1"/>
                    </a:solidFill>
                    <a:latin typeface="微軟正黑體" panose="020B0604030504040204" pitchFamily="34" charset="-120"/>
                    <a:ea typeface="微軟正黑體" panose="020B0604030504040204" pitchFamily="34" charset="-120"/>
                  </a:rPr>
                  <a:t>律</a:t>
                </a:r>
              </a:p>
            </p:txBody>
          </p:sp>
          <p:sp>
            <p:nvSpPr>
              <p:cNvPr id="13" name="文字方塊 12"/>
              <p:cNvSpPr txBox="1"/>
              <p:nvPr/>
            </p:nvSpPr>
            <p:spPr>
              <a:xfrm>
                <a:off x="3432541" y="4553560"/>
                <a:ext cx="415498" cy="369332"/>
              </a:xfrm>
              <a:prstGeom prst="rect">
                <a:avLst/>
              </a:prstGeom>
              <a:noFill/>
            </p:spPr>
            <p:txBody>
              <a:bodyPr wrap="none" rtlCol="0">
                <a:spAutoFit/>
              </a:bodyPr>
              <a:lstStyle/>
              <a:p>
                <a:r>
                  <a:rPr lang="zh-TW" altLang="en-US" b="1" dirty="0">
                    <a:solidFill>
                      <a:schemeClr val="bg1"/>
                    </a:solidFill>
                    <a:latin typeface="微軟正黑體" panose="020B0604030504040204" pitchFamily="34" charset="-120"/>
                    <a:ea typeface="微軟正黑體" panose="020B0604030504040204" pitchFamily="34" charset="-120"/>
                  </a:rPr>
                  <a:t>管</a:t>
                </a:r>
              </a:p>
            </p:txBody>
          </p:sp>
          <p:sp>
            <p:nvSpPr>
              <p:cNvPr id="14" name="文字方塊 13"/>
              <p:cNvSpPr txBox="1"/>
              <p:nvPr/>
            </p:nvSpPr>
            <p:spPr>
              <a:xfrm>
                <a:off x="3761216" y="4674303"/>
                <a:ext cx="415498" cy="369332"/>
              </a:xfrm>
              <a:prstGeom prst="rect">
                <a:avLst/>
              </a:prstGeom>
              <a:noFill/>
            </p:spPr>
            <p:txBody>
              <a:bodyPr wrap="none" rtlCol="0">
                <a:spAutoFit/>
              </a:bodyPr>
              <a:lstStyle/>
              <a:p>
                <a:r>
                  <a:rPr lang="zh-TW" altLang="en-US" b="1" dirty="0">
                    <a:solidFill>
                      <a:schemeClr val="bg1"/>
                    </a:solidFill>
                    <a:latin typeface="微軟正黑體" panose="020B0604030504040204" pitchFamily="34" charset="-120"/>
                    <a:ea typeface="微軟正黑體" panose="020B0604030504040204" pitchFamily="34" charset="-120"/>
                  </a:rPr>
                  <a:t>理</a:t>
                </a:r>
              </a:p>
            </p:txBody>
          </p:sp>
        </p:grpSp>
        <p:grpSp>
          <p:nvGrpSpPr>
            <p:cNvPr id="19" name="群組 18"/>
            <p:cNvGrpSpPr/>
            <p:nvPr/>
          </p:nvGrpSpPr>
          <p:grpSpPr>
            <a:xfrm>
              <a:off x="2966159" y="2278877"/>
              <a:ext cx="2607983" cy="3204119"/>
              <a:chOff x="3070978" y="2373547"/>
              <a:chExt cx="2431435" cy="3035651"/>
            </a:xfrm>
          </p:grpSpPr>
          <p:sp>
            <p:nvSpPr>
              <p:cNvPr id="16" name="向右箭號 15"/>
              <p:cNvSpPr/>
              <p:nvPr/>
            </p:nvSpPr>
            <p:spPr>
              <a:xfrm rot="8201206">
                <a:off x="3070978" y="4649858"/>
                <a:ext cx="489204" cy="759340"/>
              </a:xfrm>
              <a:prstGeom prst="stripedRightArrow">
                <a:avLst/>
              </a:prstGeom>
              <a:gradFill>
                <a:gsLst>
                  <a:gs pos="0">
                    <a:schemeClr val="bg1"/>
                  </a:gs>
                  <a:gs pos="35000">
                    <a:schemeClr val="dk1">
                      <a:tint val="37000"/>
                      <a:satMod val="300000"/>
                    </a:schemeClr>
                  </a:gs>
                  <a:gs pos="100000">
                    <a:schemeClr val="dk1">
                      <a:tint val="15000"/>
                      <a:satMod val="350000"/>
                    </a:schemeClr>
                  </a:gs>
                </a:gsLs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sp>
            <p:nvSpPr>
              <p:cNvPr id="17" name="向右箭號 16"/>
              <p:cNvSpPr/>
              <p:nvPr/>
            </p:nvSpPr>
            <p:spPr>
              <a:xfrm rot="8201206" flipH="1">
                <a:off x="5067344" y="2373547"/>
                <a:ext cx="435069" cy="759340"/>
              </a:xfrm>
              <a:prstGeom prst="stripedRightArrow">
                <a:avLst/>
              </a:prstGeom>
              <a:gradFill>
                <a:gsLst>
                  <a:gs pos="0">
                    <a:schemeClr val="bg1"/>
                  </a:gs>
                  <a:gs pos="32000">
                    <a:schemeClr val="dk1">
                      <a:tint val="37000"/>
                      <a:satMod val="300000"/>
                    </a:schemeClr>
                  </a:gs>
                  <a:gs pos="100000">
                    <a:schemeClr val="dk1">
                      <a:tint val="15000"/>
                      <a:satMod val="350000"/>
                    </a:schemeClr>
                  </a:gs>
                </a:gsLs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grpSp>
        <p:grpSp>
          <p:nvGrpSpPr>
            <p:cNvPr id="20" name="群組 19"/>
            <p:cNvGrpSpPr/>
            <p:nvPr/>
          </p:nvGrpSpPr>
          <p:grpSpPr>
            <a:xfrm flipH="1">
              <a:off x="2902369" y="2282877"/>
              <a:ext cx="2800767" cy="3229071"/>
              <a:chOff x="2996047" y="2379977"/>
              <a:chExt cx="2506368" cy="2985651"/>
            </a:xfrm>
          </p:grpSpPr>
          <p:sp>
            <p:nvSpPr>
              <p:cNvPr id="21" name="向右箭號 20"/>
              <p:cNvSpPr/>
              <p:nvPr/>
            </p:nvSpPr>
            <p:spPr>
              <a:xfrm rot="8201206">
                <a:off x="2996047" y="4606288"/>
                <a:ext cx="489204" cy="759340"/>
              </a:xfrm>
              <a:prstGeom prst="stripedRightArrow">
                <a:avLst/>
              </a:prstGeom>
              <a:gradFill>
                <a:gsLst>
                  <a:gs pos="0">
                    <a:schemeClr val="bg1"/>
                  </a:gs>
                  <a:gs pos="35000">
                    <a:schemeClr val="dk1">
                      <a:tint val="37000"/>
                      <a:satMod val="300000"/>
                    </a:schemeClr>
                  </a:gs>
                  <a:gs pos="100000">
                    <a:schemeClr val="dk1">
                      <a:tint val="15000"/>
                      <a:satMod val="350000"/>
                    </a:schemeClr>
                  </a:gs>
                </a:gsLs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sp>
            <p:nvSpPr>
              <p:cNvPr id="22" name="向右箭號 21"/>
              <p:cNvSpPr/>
              <p:nvPr/>
            </p:nvSpPr>
            <p:spPr>
              <a:xfrm rot="8201206" flipH="1">
                <a:off x="5067346" y="2379977"/>
                <a:ext cx="435069" cy="759340"/>
              </a:xfrm>
              <a:prstGeom prst="stripedRightArrow">
                <a:avLst/>
              </a:prstGeom>
              <a:gradFill>
                <a:gsLst>
                  <a:gs pos="0">
                    <a:schemeClr val="bg1"/>
                  </a:gs>
                  <a:gs pos="35000">
                    <a:schemeClr val="dk1">
                      <a:tint val="37000"/>
                      <a:satMod val="300000"/>
                    </a:schemeClr>
                  </a:gs>
                  <a:gs pos="100000">
                    <a:schemeClr val="dk1">
                      <a:tint val="15000"/>
                      <a:satMod val="350000"/>
                    </a:schemeClr>
                  </a:gs>
                </a:gsLs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grpSp>
        <p:grpSp>
          <p:nvGrpSpPr>
            <p:cNvPr id="23" name="群組 22"/>
            <p:cNvGrpSpPr/>
            <p:nvPr/>
          </p:nvGrpSpPr>
          <p:grpSpPr>
            <a:xfrm rot="2707567">
              <a:off x="2804335" y="2236624"/>
              <a:ext cx="2818163" cy="3152711"/>
              <a:chOff x="2889777" y="2353159"/>
              <a:chExt cx="2525640" cy="2854403"/>
            </a:xfrm>
          </p:grpSpPr>
          <p:sp>
            <p:nvSpPr>
              <p:cNvPr id="24" name="向右箭號 23"/>
              <p:cNvSpPr/>
              <p:nvPr/>
            </p:nvSpPr>
            <p:spPr>
              <a:xfrm rot="8201206">
                <a:off x="2889777" y="4448222"/>
                <a:ext cx="489204" cy="759340"/>
              </a:xfrm>
              <a:prstGeom prst="stripedRightArrow">
                <a:avLst/>
              </a:prstGeom>
              <a:gradFill>
                <a:gsLst>
                  <a:gs pos="0">
                    <a:schemeClr val="bg1"/>
                  </a:gs>
                  <a:gs pos="35000">
                    <a:schemeClr val="dk1">
                      <a:tint val="37000"/>
                      <a:satMod val="300000"/>
                    </a:schemeClr>
                  </a:gs>
                  <a:gs pos="100000">
                    <a:schemeClr val="dk1">
                      <a:tint val="15000"/>
                      <a:satMod val="350000"/>
                    </a:schemeClr>
                  </a:gs>
                </a:gsLs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sp>
            <p:nvSpPr>
              <p:cNvPr id="25" name="向右箭號 24"/>
              <p:cNvSpPr/>
              <p:nvPr/>
            </p:nvSpPr>
            <p:spPr>
              <a:xfrm rot="8201206" flipH="1">
                <a:off x="4980348" y="2353159"/>
                <a:ext cx="435069" cy="759340"/>
              </a:xfrm>
              <a:prstGeom prst="stripedRightArrow">
                <a:avLst/>
              </a:prstGeom>
              <a:gradFill>
                <a:gsLst>
                  <a:gs pos="0">
                    <a:schemeClr val="bg1"/>
                  </a:gs>
                  <a:gs pos="35000">
                    <a:schemeClr val="dk1">
                      <a:tint val="37000"/>
                      <a:satMod val="300000"/>
                    </a:schemeClr>
                  </a:gs>
                  <a:gs pos="100000">
                    <a:schemeClr val="dk1">
                      <a:tint val="15000"/>
                      <a:satMod val="350000"/>
                    </a:schemeClr>
                  </a:gs>
                </a:gsLs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grpSp>
      </p:grpSp>
      <p:sp>
        <p:nvSpPr>
          <p:cNvPr id="27" name="圓角矩形 26"/>
          <p:cNvSpPr/>
          <p:nvPr/>
        </p:nvSpPr>
        <p:spPr>
          <a:xfrm>
            <a:off x="6515884" y="3395530"/>
            <a:ext cx="2335805"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2200" dirty="0">
                <a:latin typeface="微軟正黑體" panose="020B0604030504040204" pitchFamily="34" charset="-120"/>
                <a:ea typeface="微軟正黑體" panose="020B0604030504040204" pitchFamily="34" charset="-120"/>
              </a:rPr>
              <a:t>研發成果</a:t>
            </a:r>
            <a:r>
              <a:rPr lang="zh-TW" altLang="en-US" sz="2200" b="1" dirty="0">
                <a:latin typeface="微軟正黑體" panose="020B0604030504040204" pitchFamily="34" charset="-120"/>
                <a:ea typeface="微軟正黑體" panose="020B0604030504040204" pitchFamily="34" charset="-120"/>
              </a:rPr>
              <a:t>保護</a:t>
            </a:r>
            <a:endParaRPr lang="zh-TW" altLang="en-US" sz="2200" dirty="0">
              <a:latin typeface="微軟正黑體" panose="020B0604030504040204" pitchFamily="34" charset="-120"/>
              <a:ea typeface="微軟正黑體" panose="020B0604030504040204" pitchFamily="34" charset="-120"/>
            </a:endParaRPr>
          </a:p>
        </p:txBody>
      </p:sp>
      <p:sp>
        <p:nvSpPr>
          <p:cNvPr id="28" name="圓角矩形 27"/>
          <p:cNvSpPr/>
          <p:nvPr/>
        </p:nvSpPr>
        <p:spPr>
          <a:xfrm>
            <a:off x="1214479" y="1556792"/>
            <a:ext cx="2335805"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2200" dirty="0">
                <a:latin typeface="微軟正黑體" panose="020B0604030504040204" pitchFamily="34" charset="-120"/>
                <a:ea typeface="微軟正黑體" panose="020B0604030504040204" pitchFamily="34" charset="-120"/>
              </a:rPr>
              <a:t>企業商品</a:t>
            </a:r>
            <a:r>
              <a:rPr lang="zh-TW" altLang="en-US" sz="2200" b="1" dirty="0">
                <a:latin typeface="微軟正黑體" panose="020B0604030504040204" pitchFamily="34" charset="-120"/>
                <a:ea typeface="微軟正黑體" panose="020B0604030504040204" pitchFamily="34" charset="-120"/>
              </a:rPr>
              <a:t>表彰</a:t>
            </a:r>
            <a:endParaRPr lang="zh-TW" altLang="en-US" sz="2200" dirty="0">
              <a:latin typeface="微軟正黑體" panose="020B0604030504040204" pitchFamily="34" charset="-120"/>
              <a:ea typeface="微軟正黑體" panose="020B0604030504040204" pitchFamily="34" charset="-120"/>
            </a:endParaRPr>
          </a:p>
        </p:txBody>
      </p:sp>
      <p:sp>
        <p:nvSpPr>
          <p:cNvPr id="30" name="圓角矩形 29"/>
          <p:cNvSpPr/>
          <p:nvPr/>
        </p:nvSpPr>
        <p:spPr>
          <a:xfrm>
            <a:off x="373764" y="3395530"/>
            <a:ext cx="2335805"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2200" dirty="0">
                <a:latin typeface="微軟正黑體" panose="020B0604030504040204" pitchFamily="34" charset="-120"/>
                <a:ea typeface="微軟正黑體" panose="020B0604030504040204" pitchFamily="34" charset="-120"/>
              </a:rPr>
              <a:t>侵權訴訟</a:t>
            </a:r>
            <a:r>
              <a:rPr lang="zh-TW" altLang="en-US" sz="2200" b="1" dirty="0">
                <a:latin typeface="微軟正黑體" panose="020B0604030504040204" pitchFamily="34" charset="-120"/>
                <a:ea typeface="微軟正黑體" panose="020B0604030504040204" pitchFamily="34" charset="-120"/>
              </a:rPr>
              <a:t>防禦</a:t>
            </a:r>
          </a:p>
        </p:txBody>
      </p:sp>
      <p:sp>
        <p:nvSpPr>
          <p:cNvPr id="31" name="圓角矩形 30"/>
          <p:cNvSpPr/>
          <p:nvPr/>
        </p:nvSpPr>
        <p:spPr>
          <a:xfrm>
            <a:off x="5770145" y="5360561"/>
            <a:ext cx="2335805"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2200" dirty="0">
                <a:latin typeface="微軟正黑體" panose="020B0604030504040204" pitchFamily="34" charset="-120"/>
                <a:ea typeface="微軟正黑體" panose="020B0604030504040204" pitchFamily="34" charset="-120"/>
              </a:rPr>
              <a:t>促進技術</a:t>
            </a:r>
            <a:r>
              <a:rPr lang="zh-TW" altLang="en-US" sz="2200" b="1" dirty="0">
                <a:latin typeface="微軟正黑體" panose="020B0604030504040204" pitchFamily="34" charset="-120"/>
                <a:ea typeface="微軟正黑體" panose="020B0604030504040204" pitchFamily="34" charset="-120"/>
              </a:rPr>
              <a:t>合作</a:t>
            </a:r>
          </a:p>
        </p:txBody>
      </p:sp>
      <p:sp>
        <p:nvSpPr>
          <p:cNvPr id="32" name="圓角矩形 31"/>
          <p:cNvSpPr/>
          <p:nvPr/>
        </p:nvSpPr>
        <p:spPr>
          <a:xfrm>
            <a:off x="1214479" y="5360561"/>
            <a:ext cx="2335805"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2200" dirty="0">
                <a:latin typeface="微軟正黑體" panose="020B0604030504040204" pitchFamily="34" charset="-120"/>
                <a:ea typeface="微軟正黑體" panose="020B0604030504040204" pitchFamily="34" charset="-120"/>
              </a:rPr>
              <a:t>技術</a:t>
            </a:r>
            <a:r>
              <a:rPr lang="zh-TW" altLang="en-US" sz="2200" b="1" dirty="0">
                <a:latin typeface="微軟正黑體" panose="020B0604030504040204" pitchFamily="34" charset="-120"/>
                <a:ea typeface="微軟正黑體" panose="020B0604030504040204" pitchFamily="34" charset="-120"/>
              </a:rPr>
              <a:t>授權轉移</a:t>
            </a:r>
          </a:p>
        </p:txBody>
      </p:sp>
    </p:spTree>
    <p:extLst>
      <p:ext uri="{BB962C8B-B14F-4D97-AF65-F5344CB8AC3E}">
        <p14:creationId xmlns:p14="http://schemas.microsoft.com/office/powerpoint/2010/main" val="3125375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6</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專利小故事</a:t>
            </a:r>
          </a:p>
        </p:txBody>
      </p:sp>
    </p:spTree>
    <p:extLst>
      <p:ext uri="{BB962C8B-B14F-4D97-AF65-F5344CB8AC3E}">
        <p14:creationId xmlns:p14="http://schemas.microsoft.com/office/powerpoint/2010/main" val="1363822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免削鉛筆</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7</a:t>
            </a:fld>
            <a:endParaRPr lang="zh-TW" altLang="en-US" dirty="0">
              <a:solidFill>
                <a:prstClr val="black">
                  <a:tint val="75000"/>
                </a:prstClr>
              </a:solidFill>
            </a:endParaRPr>
          </a:p>
        </p:txBody>
      </p:sp>
      <p:pic>
        <p:nvPicPr>
          <p:cNvPr id="10" name="圖片 9">
            <a:extLst>
              <a:ext uri="{FF2B5EF4-FFF2-40B4-BE49-F238E27FC236}">
                <a16:creationId xmlns:a16="http://schemas.microsoft.com/office/drawing/2014/main" id="{2F07F7C1-A802-EF39-9EFE-3411A388470E}"/>
              </a:ext>
            </a:extLst>
          </p:cNvPr>
          <p:cNvPicPr>
            <a:picLocks noChangeAspect="1"/>
          </p:cNvPicPr>
          <p:nvPr/>
        </p:nvPicPr>
        <p:blipFill>
          <a:blip r:embed="rId2"/>
          <a:stretch>
            <a:fillRect/>
          </a:stretch>
        </p:blipFill>
        <p:spPr>
          <a:xfrm>
            <a:off x="53992" y="840825"/>
            <a:ext cx="4390491" cy="3030223"/>
          </a:xfrm>
          <a:prstGeom prst="rect">
            <a:avLst/>
          </a:prstGeom>
        </p:spPr>
      </p:pic>
      <p:pic>
        <p:nvPicPr>
          <p:cNvPr id="11" name="Picture 2" descr="未提供相片說明。">
            <a:extLst>
              <a:ext uri="{FF2B5EF4-FFF2-40B4-BE49-F238E27FC236}">
                <a16:creationId xmlns:a16="http://schemas.microsoft.com/office/drawing/2014/main" id="{4306A71E-859E-C2DD-0A61-30805FE79332}"/>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858914" y="840994"/>
            <a:ext cx="1512168" cy="2291324"/>
          </a:xfrm>
          <a:prstGeom prst="rect">
            <a:avLst/>
          </a:prstGeom>
          <a:noFill/>
          <a:extLst>
            <a:ext uri="{909E8E84-426E-40DD-AFC4-6F175D3DCCD1}">
              <a14:hiddenFill xmlns:a14="http://schemas.microsoft.com/office/drawing/2010/main">
                <a:solidFill>
                  <a:srgbClr val="FFFFFF"/>
                </a:solidFill>
              </a14:hiddenFill>
            </a:ext>
          </a:extLst>
        </p:spPr>
      </p:pic>
      <p:sp>
        <p:nvSpPr>
          <p:cNvPr id="13" name="文字方塊 12">
            <a:extLst>
              <a:ext uri="{FF2B5EF4-FFF2-40B4-BE49-F238E27FC236}">
                <a16:creationId xmlns:a16="http://schemas.microsoft.com/office/drawing/2014/main" id="{4F0F23C6-84D0-DA03-C7E7-23552ECA1342}"/>
              </a:ext>
            </a:extLst>
          </p:cNvPr>
          <p:cNvSpPr txBox="1"/>
          <p:nvPr/>
        </p:nvSpPr>
        <p:spPr>
          <a:xfrm>
            <a:off x="4524397" y="3132318"/>
            <a:ext cx="2133600" cy="507831"/>
          </a:xfrm>
          <a:prstGeom prst="rect">
            <a:avLst/>
          </a:prstGeom>
          <a:noFill/>
        </p:spPr>
        <p:txBody>
          <a:bodyPr wrap="square">
            <a:spAutoFit/>
          </a:bodyPr>
          <a:lstStyle/>
          <a:p>
            <a:r>
              <a:rPr lang="zh-TW" altLang="en-US" sz="900" dirty="0"/>
              <a:t>https://www.facebook.com/profile/100064591273893/search/?q=%E5%85%8D%E5%89%8A%E9%89%9B%E7%AD%86</a:t>
            </a:r>
          </a:p>
        </p:txBody>
      </p:sp>
      <p:sp>
        <p:nvSpPr>
          <p:cNvPr id="15" name="文字方塊 14">
            <a:extLst>
              <a:ext uri="{FF2B5EF4-FFF2-40B4-BE49-F238E27FC236}">
                <a16:creationId xmlns:a16="http://schemas.microsoft.com/office/drawing/2014/main" id="{E0DC1CF9-1953-958E-FF08-038799048C57}"/>
              </a:ext>
            </a:extLst>
          </p:cNvPr>
          <p:cNvSpPr txBox="1"/>
          <p:nvPr/>
        </p:nvSpPr>
        <p:spPr>
          <a:xfrm>
            <a:off x="179513" y="3871048"/>
            <a:ext cx="8903122" cy="2997511"/>
          </a:xfrm>
          <a:prstGeom prst="rect">
            <a:avLst/>
          </a:prstGeom>
          <a:noFill/>
        </p:spPr>
        <p:txBody>
          <a:bodyPr wrap="square">
            <a:noAutofit/>
          </a:bodyPr>
          <a:lstStyle/>
          <a:p>
            <a:pPr indent="447675" algn="just"/>
            <a:r>
              <a:rPr lang="zh-TW" altLang="en-US" sz="1600" b="0" i="0" dirty="0">
                <a:solidFill>
                  <a:srgbClr val="000000"/>
                </a:solidFill>
                <a:effectLst/>
                <a:latin typeface="微軟正黑體" panose="020B0604030504040204" pitchFamily="34" charset="-120"/>
                <a:ea typeface="微軟正黑體" panose="020B0604030504040204" pitchFamily="34" charset="-120"/>
              </a:rPr>
              <a:t>「免削鉛筆」的發明是</a:t>
            </a:r>
            <a:r>
              <a:rPr lang="zh-TW" altLang="en-US" sz="1600" b="0" i="0" u="sng" dirty="0">
                <a:solidFill>
                  <a:srgbClr val="000000"/>
                </a:solidFill>
                <a:effectLst/>
                <a:latin typeface="微軟正黑體" panose="020B0604030504040204" pitchFamily="34" charset="-120"/>
                <a:ea typeface="微軟正黑體" panose="020B0604030504040204" pitchFamily="34" charset="-120"/>
              </a:rPr>
              <a:t>為女兒削鉛筆時感到太麻煩</a:t>
            </a:r>
            <a:r>
              <a:rPr lang="zh-TW" altLang="en-US" sz="1600" b="0" i="0" dirty="0">
                <a:solidFill>
                  <a:srgbClr val="000000"/>
                </a:solidFill>
                <a:effectLst/>
                <a:latin typeface="微軟正黑體" panose="020B0604030504040204" pitchFamily="34" charset="-120"/>
                <a:ea typeface="微軟正黑體" panose="020B0604030504040204" pitchFamily="34" charset="-120"/>
              </a:rPr>
              <a:t>，才得以發明出來的，免削鉛筆的創意發明是在</a:t>
            </a:r>
            <a:r>
              <a:rPr lang="en-US" altLang="zh-TW" sz="1600" b="0" i="0" dirty="0">
                <a:solidFill>
                  <a:srgbClr val="000000"/>
                </a:solidFill>
                <a:effectLst/>
                <a:latin typeface="微軟正黑體" panose="020B0604030504040204" pitchFamily="34" charset="-120"/>
                <a:ea typeface="微軟正黑體" panose="020B0604030504040204" pitchFamily="34" charset="-120"/>
              </a:rPr>
              <a:t>1960</a:t>
            </a:r>
            <a:r>
              <a:rPr lang="zh-TW" altLang="en-US" sz="1600" b="0" i="0" dirty="0">
                <a:solidFill>
                  <a:srgbClr val="000000"/>
                </a:solidFill>
                <a:effectLst/>
                <a:latin typeface="微軟正黑體" panose="020B0604030504040204" pitchFamily="34" charset="-120"/>
                <a:ea typeface="微軟正黑體" panose="020B0604030504040204" pitchFamily="34" charset="-120"/>
              </a:rPr>
              <a:t>年代的台灣。據聞，當時</a:t>
            </a:r>
            <a:r>
              <a:rPr lang="zh-TW" altLang="en-US" sz="1600" b="0" i="0" u="sng" dirty="0">
                <a:solidFill>
                  <a:srgbClr val="000000"/>
                </a:solidFill>
                <a:effectLst/>
                <a:latin typeface="微軟正黑體" panose="020B0604030504040204" pitchFamily="34" charset="-120"/>
                <a:ea typeface="微軟正黑體" panose="020B0604030504040204" pitchFamily="34" charset="-120"/>
              </a:rPr>
              <a:t>發明人洪蠣先生是位造船工人</a:t>
            </a:r>
            <a:r>
              <a:rPr lang="zh-TW" altLang="en-US" sz="1600" b="0" i="0" dirty="0">
                <a:solidFill>
                  <a:srgbClr val="000000"/>
                </a:solidFill>
                <a:effectLst/>
                <a:latin typeface="微軟正黑體" panose="020B0604030504040204" pitchFamily="34" charset="-120"/>
                <a:ea typeface="微軟正黑體" panose="020B0604030504040204" pitchFamily="34" charset="-120"/>
              </a:rPr>
              <a:t>，因每天下班之後，總要為就讀小學的女兒削鉛筆。有一天，他下班回家時，將戴在頭上的斗笠放到桌邊成疊的斗笠堆上時，想到待會兒又要為女兒削鉛筆，真煩人呀！於是靈機一動有了免削鉛筆的創意發明靈感，</a:t>
            </a:r>
            <a:r>
              <a:rPr lang="zh-TW" altLang="en-US" sz="1600" b="0" i="0" u="sng" dirty="0">
                <a:solidFill>
                  <a:srgbClr val="000000"/>
                </a:solidFill>
                <a:effectLst/>
                <a:latin typeface="微軟正黑體" panose="020B0604030504040204" pitchFamily="34" charset="-120"/>
                <a:ea typeface="微軟正黑體" panose="020B0604030504040204" pitchFamily="34" charset="-120"/>
              </a:rPr>
              <a:t>若能像剛剛放斗笠時一樣，將鉛筆頭一支又一支重複疊起來，用鈍了就抽換另一支，這樣就不必再天天削鉛筆了呀</a:t>
            </a:r>
            <a:r>
              <a:rPr lang="zh-TW" altLang="en-US" sz="1600" b="0" i="0" dirty="0">
                <a:solidFill>
                  <a:srgbClr val="000000"/>
                </a:solidFill>
                <a:effectLst/>
                <a:latin typeface="微軟正黑體" panose="020B0604030504040204" pitchFamily="34" charset="-120"/>
                <a:ea typeface="微軟正黑體" panose="020B0604030504040204" pitchFamily="34" charset="-120"/>
              </a:rPr>
              <a:t>！經實驗後洪蠣很滿意這樣的發明，並在</a:t>
            </a:r>
            <a:r>
              <a:rPr lang="en-US" altLang="zh-TW" sz="1600" b="0" i="0" dirty="0">
                <a:solidFill>
                  <a:srgbClr val="000000"/>
                </a:solidFill>
                <a:effectLst/>
                <a:latin typeface="微軟正黑體" panose="020B0604030504040204" pitchFamily="34" charset="-120"/>
                <a:ea typeface="微軟正黑體" panose="020B0604030504040204" pitchFamily="34" charset="-120"/>
              </a:rPr>
              <a:t>1964</a:t>
            </a:r>
            <a:r>
              <a:rPr lang="zh-TW" altLang="en-US" sz="1600" b="0" i="0" dirty="0">
                <a:solidFill>
                  <a:srgbClr val="000000"/>
                </a:solidFill>
                <a:effectLst/>
                <a:latin typeface="微軟正黑體" panose="020B0604030504040204" pitchFamily="34" charset="-120"/>
                <a:ea typeface="微軟正黑體" panose="020B0604030504040204" pitchFamily="34" charset="-120"/>
              </a:rPr>
              <a:t>年向當時的中央標準局申請了發明專利，這也引起了當時的紡織廠商</a:t>
            </a:r>
            <a:r>
              <a:rPr lang="zh-TW" altLang="en-US" sz="1600" dirty="0">
                <a:solidFill>
                  <a:srgbClr val="000000"/>
                </a:solidFill>
                <a:latin typeface="微軟正黑體" panose="020B0604030504040204" pitchFamily="34" charset="-120"/>
                <a:ea typeface="微軟正黑體" panose="020B0604030504040204" pitchFamily="34" charset="-120"/>
              </a:rPr>
              <a:t>大</a:t>
            </a:r>
            <a:r>
              <a:rPr lang="zh-TW" altLang="en-US" sz="1600" b="0" i="0" dirty="0">
                <a:solidFill>
                  <a:srgbClr val="000000"/>
                </a:solidFill>
                <a:effectLst/>
                <a:latin typeface="微軟正黑體" panose="020B0604030504040204" pitchFamily="34" charset="-120"/>
                <a:ea typeface="微軟正黑體" panose="020B0604030504040204" pitchFamily="34" charset="-120"/>
              </a:rPr>
              <a:t>亨莊金池先生的興趣和關注，後來莊金池先生以八百萬元的天價買下了專利權，以當時的物價，這筆錢可在都市裡買下十棟房子。這項專利，並於</a:t>
            </a:r>
            <a:r>
              <a:rPr lang="en-US" altLang="zh-TW" sz="1600" b="0" i="0" dirty="0">
                <a:solidFill>
                  <a:srgbClr val="000000"/>
                </a:solidFill>
                <a:effectLst/>
                <a:latin typeface="微軟正黑體" panose="020B0604030504040204" pitchFamily="34" charset="-120"/>
                <a:ea typeface="微軟正黑體" panose="020B0604030504040204" pitchFamily="34" charset="-120"/>
              </a:rPr>
              <a:t>1967</a:t>
            </a:r>
            <a:r>
              <a:rPr lang="zh-TW" altLang="en-US" sz="1600" b="0" i="0" dirty="0">
                <a:solidFill>
                  <a:srgbClr val="000000"/>
                </a:solidFill>
                <a:effectLst/>
                <a:latin typeface="微軟正黑體" panose="020B0604030504040204" pitchFamily="34" charset="-120"/>
                <a:ea typeface="微軟正黑體" panose="020B0604030504040204" pitchFamily="34" charset="-120"/>
              </a:rPr>
              <a:t>年成立百能文具公司</a:t>
            </a:r>
            <a:r>
              <a:rPr lang="en-US" altLang="zh-TW" sz="1600" b="0" i="0" dirty="0">
                <a:solidFill>
                  <a:srgbClr val="000000"/>
                </a:solidFill>
                <a:effectLst/>
                <a:latin typeface="微軟正黑體" panose="020B0604030504040204" pitchFamily="34" charset="-120"/>
                <a:ea typeface="微軟正黑體" panose="020B0604030504040204" pitchFamily="34" charset="-120"/>
              </a:rPr>
              <a:t>(</a:t>
            </a:r>
            <a:r>
              <a:rPr lang="en-US" altLang="zh-TW" sz="1600" b="0" i="0" dirty="0" err="1">
                <a:solidFill>
                  <a:srgbClr val="000000"/>
                </a:solidFill>
                <a:effectLst/>
                <a:latin typeface="微軟正黑體" panose="020B0604030504040204" pitchFamily="34" charset="-120"/>
                <a:ea typeface="微軟正黑體" panose="020B0604030504040204" pitchFamily="34" charset="-120"/>
              </a:rPr>
              <a:t>Bensia</a:t>
            </a:r>
            <a:r>
              <a:rPr lang="zh-TW" altLang="en-US" sz="1600" b="0" i="0" dirty="0">
                <a:solidFill>
                  <a:srgbClr val="000000"/>
                </a:solidFill>
                <a:effectLst/>
                <a:latin typeface="微軟正黑體" panose="020B0604030504040204" pitchFamily="34" charset="-120"/>
                <a:ea typeface="微軟正黑體" panose="020B0604030504040204" pitchFamily="34" charset="-120"/>
              </a:rPr>
              <a:t>，就是台語「免削」的拼音</a:t>
            </a:r>
            <a:r>
              <a:rPr lang="en-US" altLang="zh-TW" sz="1600" b="0" i="0" dirty="0">
                <a:solidFill>
                  <a:srgbClr val="000000"/>
                </a:solidFill>
                <a:effectLst/>
                <a:latin typeface="微軟正黑體" panose="020B0604030504040204" pitchFamily="34" charset="-120"/>
                <a:ea typeface="微軟正黑體" panose="020B0604030504040204" pitchFamily="34" charset="-120"/>
              </a:rPr>
              <a:t>) </a:t>
            </a:r>
            <a:r>
              <a:rPr lang="zh-TW" altLang="en-US" sz="1600" b="0" i="0" dirty="0">
                <a:solidFill>
                  <a:srgbClr val="000000"/>
                </a:solidFill>
                <a:effectLst/>
                <a:latin typeface="微軟正黑體" panose="020B0604030504040204" pitchFamily="34" charset="-120"/>
                <a:ea typeface="微軟正黑體" panose="020B0604030504040204" pitchFamily="34" charset="-120"/>
              </a:rPr>
              <a:t>，「</a:t>
            </a:r>
            <a:r>
              <a:rPr lang="en-US" altLang="zh-TW" sz="1600" b="1" i="0" u="sng" dirty="0" err="1">
                <a:solidFill>
                  <a:srgbClr val="000000"/>
                </a:solidFill>
                <a:effectLst/>
                <a:latin typeface="微軟正黑體" panose="020B0604030504040204" pitchFamily="34" charset="-120"/>
                <a:ea typeface="微軟正黑體" panose="020B0604030504040204" pitchFamily="34" charset="-120"/>
              </a:rPr>
              <a:t>Bensia</a:t>
            </a:r>
            <a:r>
              <a:rPr lang="zh-TW" altLang="en-US" sz="1600" b="1" i="0" u="sng" dirty="0">
                <a:solidFill>
                  <a:srgbClr val="000000"/>
                </a:solidFill>
                <a:effectLst/>
                <a:latin typeface="微軟正黑體" panose="020B0604030504040204" pitchFamily="34" charset="-120"/>
                <a:ea typeface="微軟正黑體" panose="020B0604030504040204" pitchFamily="34" charset="-120"/>
              </a:rPr>
              <a:t>免削鉛筆</a:t>
            </a:r>
            <a:r>
              <a:rPr lang="zh-TW" altLang="en-US" sz="1600" b="0" i="0" dirty="0">
                <a:solidFill>
                  <a:srgbClr val="000000"/>
                </a:solidFill>
                <a:effectLst/>
                <a:latin typeface="微軟正黑體" panose="020B0604030504040204" pitchFamily="34" charset="-120"/>
                <a:ea typeface="微軟正黑體" panose="020B0604030504040204" pitchFamily="34" charset="-120"/>
              </a:rPr>
              <a:t>」還登上大英百科全書，是第一個聞名全球的台灣創意發明產品。其創意故事是爸爸為女兒削鉛筆所浮現的靈感，之後免削鉛筆產品行銷世界九十幾個國家，為台灣賺進很多外匯，是令世界驚嘆的好創意妙發明，也是真正的台灣之光，時至今日，仍是熱銷的文具商品之一。</a:t>
            </a:r>
            <a:endParaRPr lang="zh-TW" altLang="en-US" sz="1600" dirty="0">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464EF719-892B-2A8F-FDF8-87D9C078AC4E}"/>
              </a:ext>
            </a:extLst>
          </p:cNvPr>
          <p:cNvSpPr txBox="1"/>
          <p:nvPr/>
        </p:nvSpPr>
        <p:spPr>
          <a:xfrm>
            <a:off x="4524397" y="3624943"/>
            <a:ext cx="4778397" cy="307777"/>
          </a:xfrm>
          <a:prstGeom prst="rect">
            <a:avLst/>
          </a:prstGeom>
          <a:noFill/>
        </p:spPr>
        <p:txBody>
          <a:bodyPr wrap="square">
            <a:spAutoFit/>
          </a:bodyPr>
          <a:lstStyle/>
          <a:p>
            <a:r>
              <a:rPr lang="zh-TW" altLang="en-US" sz="1400" dirty="0"/>
              <a:t>https://www.innosociety.org/files/404-1649-55203.php</a:t>
            </a:r>
          </a:p>
        </p:txBody>
      </p:sp>
      <p:pic>
        <p:nvPicPr>
          <p:cNvPr id="21" name="圖片 20">
            <a:extLst>
              <a:ext uri="{FF2B5EF4-FFF2-40B4-BE49-F238E27FC236}">
                <a16:creationId xmlns:a16="http://schemas.microsoft.com/office/drawing/2014/main" id="{F53A9C87-6FD9-22F4-102C-9409AF2AB00B}"/>
              </a:ext>
            </a:extLst>
          </p:cNvPr>
          <p:cNvPicPr>
            <a:picLocks noChangeAspect="1"/>
          </p:cNvPicPr>
          <p:nvPr/>
        </p:nvPicPr>
        <p:blipFill>
          <a:blip r:embed="rId4"/>
          <a:stretch>
            <a:fillRect/>
          </a:stretch>
        </p:blipFill>
        <p:spPr>
          <a:xfrm>
            <a:off x="7326176" y="854489"/>
            <a:ext cx="1676545" cy="1874682"/>
          </a:xfrm>
          <a:prstGeom prst="rect">
            <a:avLst/>
          </a:prstGeom>
        </p:spPr>
      </p:pic>
      <p:sp>
        <p:nvSpPr>
          <p:cNvPr id="23" name="文字方塊 22">
            <a:extLst>
              <a:ext uri="{FF2B5EF4-FFF2-40B4-BE49-F238E27FC236}">
                <a16:creationId xmlns:a16="http://schemas.microsoft.com/office/drawing/2014/main" id="{BC3BB953-41F5-5838-B67F-EEBC1793F7B9}"/>
              </a:ext>
            </a:extLst>
          </p:cNvPr>
          <p:cNvSpPr txBox="1"/>
          <p:nvPr/>
        </p:nvSpPr>
        <p:spPr>
          <a:xfrm>
            <a:off x="7326176" y="2734171"/>
            <a:ext cx="1756459" cy="507831"/>
          </a:xfrm>
          <a:prstGeom prst="rect">
            <a:avLst/>
          </a:prstGeom>
          <a:noFill/>
        </p:spPr>
        <p:txBody>
          <a:bodyPr wrap="square">
            <a:spAutoFit/>
          </a:bodyPr>
          <a:lstStyle/>
          <a:p>
            <a:r>
              <a:rPr lang="en-US" altLang="zh-TW" sz="900" dirty="0"/>
              <a:t>https://shopee.tw/search?keyword=%E6%96%97%E7%AC%A0&amp;page=1</a:t>
            </a:r>
            <a:endParaRPr lang="zh-TW" altLang="en-US" sz="900" dirty="0"/>
          </a:p>
        </p:txBody>
      </p:sp>
      <p:pic>
        <p:nvPicPr>
          <p:cNvPr id="12" name="圖片 11">
            <a:extLst>
              <a:ext uri="{FF2B5EF4-FFF2-40B4-BE49-F238E27FC236}">
                <a16:creationId xmlns:a16="http://schemas.microsoft.com/office/drawing/2014/main" id="{2F07F7C1-A802-EF39-9EFE-3411A388470E}"/>
              </a:ext>
            </a:extLst>
          </p:cNvPr>
          <p:cNvPicPr>
            <a:picLocks noChangeAspect="1"/>
          </p:cNvPicPr>
          <p:nvPr/>
        </p:nvPicPr>
        <p:blipFill>
          <a:blip r:embed="rId2"/>
          <a:stretch>
            <a:fillRect/>
          </a:stretch>
        </p:blipFill>
        <p:spPr>
          <a:xfrm>
            <a:off x="53991" y="840825"/>
            <a:ext cx="9028644" cy="6000739"/>
          </a:xfrm>
          <a:prstGeom prst="rect">
            <a:avLst/>
          </a:prstGeom>
        </p:spPr>
      </p:pic>
    </p:spTree>
    <p:extLst>
      <p:ext uri="{BB962C8B-B14F-4D97-AF65-F5344CB8AC3E}">
        <p14:creationId xmlns:p14="http://schemas.microsoft.com/office/powerpoint/2010/main" val="161964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nodeType="clickEffect">
                                  <p:stCondLst>
                                    <p:cond delay="0"/>
                                  </p:stCondLst>
                                  <p:childTnLst>
                                    <p:animEffect transition="out" filter="circle(out)">
                                      <p:cBhvr>
                                        <p:cTn id="6" dur="2000"/>
                                        <p:tgtEl>
                                          <p:spTgt spid="12"/>
                                        </p:tgtEl>
                                      </p:cBhvr>
                                    </p:animEffect>
                                    <p:set>
                                      <p:cBhvr>
                                        <p:cTn id="7" dur="1" fill="hold">
                                          <p:stCondLst>
                                            <p:cond delay="19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625FF1-88E2-1F11-9513-5FB6129F28CA}"/>
              </a:ext>
            </a:extLst>
          </p:cNvPr>
          <p:cNvSpPr>
            <a:spLocks noGrp="1"/>
          </p:cNvSpPr>
          <p:nvPr>
            <p:ph type="title"/>
          </p:nvPr>
        </p:nvSpPr>
        <p:spPr/>
        <p:txBody>
          <a:bodyPr/>
          <a:lstStyle/>
          <a:p>
            <a:r>
              <a:rPr lang="zh-TW" altLang="en-US" dirty="0"/>
              <a:t>小綠人</a:t>
            </a:r>
            <a:r>
              <a:rPr lang="en-US" altLang="zh-TW" dirty="0"/>
              <a:t>-</a:t>
            </a:r>
            <a:r>
              <a:rPr lang="zh-TW" altLang="en-US" dirty="0"/>
              <a:t>行人通行號誌</a:t>
            </a:r>
          </a:p>
        </p:txBody>
      </p:sp>
      <p:pic>
        <p:nvPicPr>
          <p:cNvPr id="5" name="圖片 4">
            <a:extLst>
              <a:ext uri="{FF2B5EF4-FFF2-40B4-BE49-F238E27FC236}">
                <a16:creationId xmlns:a16="http://schemas.microsoft.com/office/drawing/2014/main" id="{A6F474E4-68D4-710A-EC7A-2E2184795371}"/>
              </a:ext>
            </a:extLst>
          </p:cNvPr>
          <p:cNvPicPr>
            <a:picLocks noChangeAspect="1"/>
          </p:cNvPicPr>
          <p:nvPr/>
        </p:nvPicPr>
        <p:blipFill>
          <a:blip r:embed="rId2"/>
          <a:stretch>
            <a:fillRect/>
          </a:stretch>
        </p:blipFill>
        <p:spPr>
          <a:xfrm>
            <a:off x="251520" y="774224"/>
            <a:ext cx="4339055" cy="5280691"/>
          </a:xfrm>
          <a:prstGeom prst="rect">
            <a:avLst/>
          </a:prstGeom>
        </p:spPr>
      </p:pic>
      <p:pic>
        <p:nvPicPr>
          <p:cNvPr id="7" name="圖片 6">
            <a:extLst>
              <a:ext uri="{FF2B5EF4-FFF2-40B4-BE49-F238E27FC236}">
                <a16:creationId xmlns:a16="http://schemas.microsoft.com/office/drawing/2014/main" id="{A2BA9298-9A89-2EC1-5B6C-D688B2FD56B4}"/>
              </a:ext>
            </a:extLst>
          </p:cNvPr>
          <p:cNvPicPr>
            <a:picLocks noChangeAspect="1"/>
          </p:cNvPicPr>
          <p:nvPr/>
        </p:nvPicPr>
        <p:blipFill>
          <a:blip r:embed="rId3"/>
          <a:stretch>
            <a:fillRect/>
          </a:stretch>
        </p:blipFill>
        <p:spPr>
          <a:xfrm>
            <a:off x="4788024" y="774224"/>
            <a:ext cx="4206605" cy="2568163"/>
          </a:xfrm>
          <a:prstGeom prst="rect">
            <a:avLst/>
          </a:prstGeom>
        </p:spPr>
      </p:pic>
      <p:pic>
        <p:nvPicPr>
          <p:cNvPr id="9" name="圖片 8">
            <a:extLst>
              <a:ext uri="{FF2B5EF4-FFF2-40B4-BE49-F238E27FC236}">
                <a16:creationId xmlns:a16="http://schemas.microsoft.com/office/drawing/2014/main" id="{EA1F405C-3577-A89D-5D22-45AF8340744B}"/>
              </a:ext>
            </a:extLst>
          </p:cNvPr>
          <p:cNvPicPr>
            <a:picLocks noChangeAspect="1"/>
          </p:cNvPicPr>
          <p:nvPr/>
        </p:nvPicPr>
        <p:blipFill>
          <a:blip r:embed="rId4"/>
          <a:stretch>
            <a:fillRect/>
          </a:stretch>
        </p:blipFill>
        <p:spPr>
          <a:xfrm>
            <a:off x="5147575" y="3318867"/>
            <a:ext cx="3621577" cy="2848642"/>
          </a:xfrm>
          <a:prstGeom prst="rect">
            <a:avLst/>
          </a:prstGeom>
        </p:spPr>
      </p:pic>
      <p:sp>
        <p:nvSpPr>
          <p:cNvPr id="11" name="文字方塊 10">
            <a:extLst>
              <a:ext uri="{FF2B5EF4-FFF2-40B4-BE49-F238E27FC236}">
                <a16:creationId xmlns:a16="http://schemas.microsoft.com/office/drawing/2014/main" id="{BF72BF6F-C574-77AA-69FC-8C468E901BF7}"/>
              </a:ext>
            </a:extLst>
          </p:cNvPr>
          <p:cNvSpPr txBox="1"/>
          <p:nvPr/>
        </p:nvSpPr>
        <p:spPr>
          <a:xfrm>
            <a:off x="82577" y="6453296"/>
            <a:ext cx="8978845" cy="276999"/>
          </a:xfrm>
          <a:prstGeom prst="rect">
            <a:avLst/>
          </a:prstGeom>
          <a:noFill/>
        </p:spPr>
        <p:txBody>
          <a:bodyPr wrap="square">
            <a:spAutoFit/>
          </a:bodyPr>
          <a:lstStyle/>
          <a:p>
            <a:r>
              <a:rPr lang="zh-TW" altLang="en-US" sz="1200" dirty="0"/>
              <a:t>劉全瑛、莊于璇，「小綠人的爸」張銘順，https://wp.cjhs.kh.edu.tw/art/wp-content/uploads/sites/5/2008/04/233.pdf，</a:t>
            </a:r>
            <a:r>
              <a:rPr lang="en-US" altLang="zh-TW" sz="1200" dirty="0"/>
              <a:t>2008/4</a:t>
            </a:r>
            <a:endParaRPr lang="zh-TW" altLang="en-US" sz="1200" dirty="0"/>
          </a:p>
        </p:txBody>
      </p:sp>
      <p:sp>
        <p:nvSpPr>
          <p:cNvPr id="4" name="投影片編號版面配置區 3">
            <a:extLst>
              <a:ext uri="{FF2B5EF4-FFF2-40B4-BE49-F238E27FC236}">
                <a16:creationId xmlns:a16="http://schemas.microsoft.com/office/drawing/2014/main" id="{1C7F562A-4BC9-1D8D-BDF4-292D89424ADE}"/>
              </a:ext>
            </a:extLst>
          </p:cNvPr>
          <p:cNvSpPr>
            <a:spLocks noGrp="1"/>
          </p:cNvSpPr>
          <p:nvPr>
            <p:ph type="sldNum" sz="quarter" idx="12"/>
          </p:nvPr>
        </p:nvSpPr>
        <p:spPr>
          <a:xfrm>
            <a:off x="6804248" y="6365170"/>
            <a:ext cx="2133600" cy="365125"/>
          </a:xfrm>
        </p:spPr>
        <p:txBody>
          <a:bodyPr/>
          <a:lstStyle/>
          <a:p>
            <a:fld id="{254D4C32-7A1A-45A5-84ED-81747F1ABFAE}" type="slidenum">
              <a:rPr lang="zh-TW" altLang="en-US" smtClean="0">
                <a:solidFill>
                  <a:schemeClr val="tx1"/>
                </a:solidFill>
              </a:rPr>
              <a:t>8</a:t>
            </a:fld>
            <a:endParaRPr lang="zh-TW" altLang="en-US" dirty="0">
              <a:solidFill>
                <a:schemeClr val="tx1"/>
              </a:solidFill>
            </a:endParaRPr>
          </a:p>
        </p:txBody>
      </p:sp>
    </p:spTree>
    <p:extLst>
      <p:ext uri="{BB962C8B-B14F-4D97-AF65-F5344CB8AC3E}">
        <p14:creationId xmlns:p14="http://schemas.microsoft.com/office/powerpoint/2010/main" val="290399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9</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專利權是什麼</a:t>
            </a:r>
          </a:p>
        </p:txBody>
      </p:sp>
    </p:spTree>
    <p:extLst>
      <p:ext uri="{BB962C8B-B14F-4D97-AF65-F5344CB8AC3E}">
        <p14:creationId xmlns:p14="http://schemas.microsoft.com/office/powerpoint/2010/main" val="215419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56B95B-AE26-46BF-9A91-29673C6410FA}"/>
              </a:ext>
            </a:extLst>
          </p:cNvPr>
          <p:cNvSpPr>
            <a:spLocks noGrp="1"/>
          </p:cNvSpPr>
          <p:nvPr>
            <p:ph type="title"/>
          </p:nvPr>
        </p:nvSpPr>
        <p:spPr/>
        <p:txBody>
          <a:bodyPr/>
          <a:lstStyle/>
          <a:p>
            <a:r>
              <a:rPr lang="zh-TW" altLang="en-US" dirty="0"/>
              <a:t>智慧財產權</a:t>
            </a:r>
          </a:p>
        </p:txBody>
      </p:sp>
      <p:sp>
        <p:nvSpPr>
          <p:cNvPr id="4" name="投影片編號版面配置區 3">
            <a:extLst>
              <a:ext uri="{FF2B5EF4-FFF2-40B4-BE49-F238E27FC236}">
                <a16:creationId xmlns:a16="http://schemas.microsoft.com/office/drawing/2014/main" id="{32D90BB4-0EB7-4982-80E6-2B22D5255280}"/>
              </a:ext>
            </a:extLst>
          </p:cNvPr>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10</a:t>
            </a:fld>
            <a:endParaRPr lang="zh-TW" altLang="en-US" dirty="0">
              <a:solidFill>
                <a:prstClr val="black">
                  <a:tint val="75000"/>
                </a:prstClr>
              </a:solidFill>
            </a:endParaRPr>
          </a:p>
        </p:txBody>
      </p:sp>
      <p:grpSp>
        <p:nvGrpSpPr>
          <p:cNvPr id="10" name="群組 9">
            <a:extLst>
              <a:ext uri="{FF2B5EF4-FFF2-40B4-BE49-F238E27FC236}">
                <a16:creationId xmlns:a16="http://schemas.microsoft.com/office/drawing/2014/main" id="{FF6ACA5F-EE50-4C23-AB00-ED09FCCDF7DE}"/>
              </a:ext>
            </a:extLst>
          </p:cNvPr>
          <p:cNvGrpSpPr/>
          <p:nvPr/>
        </p:nvGrpSpPr>
        <p:grpSpPr>
          <a:xfrm>
            <a:off x="1619672" y="980728"/>
            <a:ext cx="5485583" cy="1152128"/>
            <a:chOff x="899592" y="980728"/>
            <a:chExt cx="5485583" cy="1152128"/>
          </a:xfrm>
        </p:grpSpPr>
        <p:sp>
          <p:nvSpPr>
            <p:cNvPr id="5" name="橢圓 4">
              <a:extLst>
                <a:ext uri="{FF2B5EF4-FFF2-40B4-BE49-F238E27FC236}">
                  <a16:creationId xmlns:a16="http://schemas.microsoft.com/office/drawing/2014/main" id="{8662F070-FC96-4AA8-BBAE-37B34E0D0B4A}"/>
                </a:ext>
              </a:extLst>
            </p:cNvPr>
            <p:cNvSpPr/>
            <p:nvPr/>
          </p:nvSpPr>
          <p:spPr>
            <a:xfrm>
              <a:off x="899592" y="980728"/>
              <a:ext cx="1152128" cy="115212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normAutofit/>
            </a:bodyPr>
            <a:lstStyle/>
            <a:p>
              <a:pPr algn="ctr"/>
              <a:r>
                <a:rPr lang="zh-TW" altLang="en-US" sz="2000">
                  <a:latin typeface="微軟正黑體" panose="020B0604030504040204" pitchFamily="34" charset="-120"/>
                  <a:ea typeface="微軟正黑體" panose="020B0604030504040204" pitchFamily="34" charset="-120"/>
                </a:rPr>
                <a:t>人類</a:t>
              </a:r>
              <a:endParaRPr lang="en-US" altLang="zh-TW" sz="2000">
                <a:latin typeface="微軟正黑體" panose="020B0604030504040204" pitchFamily="34" charset="-120"/>
                <a:ea typeface="微軟正黑體" panose="020B0604030504040204" pitchFamily="34" charset="-120"/>
              </a:endParaRPr>
            </a:p>
            <a:p>
              <a:pPr algn="ctr"/>
              <a:r>
                <a:rPr lang="zh-TW" altLang="en-US" sz="2000">
                  <a:latin typeface="微軟正黑體" panose="020B0604030504040204" pitchFamily="34" charset="-120"/>
                  <a:ea typeface="微軟正黑體" panose="020B0604030504040204" pitchFamily="34" charset="-120"/>
                </a:rPr>
                <a:t>心智</a:t>
              </a:r>
              <a:endParaRPr lang="zh-TW" altLang="en-US" sz="2000" dirty="0">
                <a:latin typeface="微軟正黑體" panose="020B0604030504040204" pitchFamily="34" charset="-120"/>
                <a:ea typeface="微軟正黑體" panose="020B0604030504040204" pitchFamily="34" charset="-120"/>
              </a:endParaRPr>
            </a:p>
          </p:txBody>
        </p:sp>
        <p:sp>
          <p:nvSpPr>
            <p:cNvPr id="6" name="橢圓 5">
              <a:extLst>
                <a:ext uri="{FF2B5EF4-FFF2-40B4-BE49-F238E27FC236}">
                  <a16:creationId xmlns:a16="http://schemas.microsoft.com/office/drawing/2014/main" id="{8CC46172-DC29-4717-973E-65493A6DB33F}"/>
                </a:ext>
              </a:extLst>
            </p:cNvPr>
            <p:cNvSpPr/>
            <p:nvPr/>
          </p:nvSpPr>
          <p:spPr>
            <a:xfrm>
              <a:off x="3059832" y="980728"/>
              <a:ext cx="1152128" cy="11521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normAutofit/>
            </a:bodyPr>
            <a:lstStyle/>
            <a:p>
              <a:pPr algn="ctr"/>
              <a:r>
                <a:rPr lang="zh-TW" altLang="en-US" sz="2000" dirty="0">
                  <a:latin typeface="微軟正黑體" panose="020B0604030504040204" pitchFamily="34" charset="-120"/>
                  <a:ea typeface="微軟正黑體" panose="020B0604030504040204" pitchFamily="34" charset="-120"/>
                </a:rPr>
                <a:t>創作產出</a:t>
              </a:r>
            </a:p>
          </p:txBody>
        </p:sp>
        <p:sp>
          <p:nvSpPr>
            <p:cNvPr id="7" name="橢圓 6">
              <a:extLst>
                <a:ext uri="{FF2B5EF4-FFF2-40B4-BE49-F238E27FC236}">
                  <a16:creationId xmlns:a16="http://schemas.microsoft.com/office/drawing/2014/main" id="{B2E0DA99-AF63-4361-8FEF-D90D0F641E8E}"/>
                </a:ext>
              </a:extLst>
            </p:cNvPr>
            <p:cNvSpPr/>
            <p:nvPr/>
          </p:nvSpPr>
          <p:spPr>
            <a:xfrm>
              <a:off x="5233047" y="980728"/>
              <a:ext cx="1152128" cy="11521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normAutofit/>
            </a:bodyPr>
            <a:lstStyle/>
            <a:p>
              <a:pPr algn="ctr"/>
              <a:r>
                <a:rPr lang="zh-TW" altLang="en-US" sz="2000" dirty="0">
                  <a:latin typeface="微軟正黑體" panose="020B0604030504040204" pitchFamily="34" charset="-120"/>
                  <a:ea typeface="微軟正黑體" panose="020B0604030504040204" pitchFamily="34" charset="-120"/>
                </a:rPr>
                <a:t>智慧財產</a:t>
              </a:r>
            </a:p>
          </p:txBody>
        </p:sp>
        <p:sp>
          <p:nvSpPr>
            <p:cNvPr id="8" name="加號 7">
              <a:extLst>
                <a:ext uri="{FF2B5EF4-FFF2-40B4-BE49-F238E27FC236}">
                  <a16:creationId xmlns:a16="http://schemas.microsoft.com/office/drawing/2014/main" id="{20AC7906-A8CE-4019-B638-13CB1B21F552}"/>
                </a:ext>
              </a:extLst>
            </p:cNvPr>
            <p:cNvSpPr/>
            <p:nvPr/>
          </p:nvSpPr>
          <p:spPr>
            <a:xfrm>
              <a:off x="2158407" y="1099592"/>
              <a:ext cx="914400" cy="9144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等於 8">
              <a:extLst>
                <a:ext uri="{FF2B5EF4-FFF2-40B4-BE49-F238E27FC236}">
                  <a16:creationId xmlns:a16="http://schemas.microsoft.com/office/drawing/2014/main" id="{9B996D2D-BAE7-48F1-94E0-A99565FF4484}"/>
                </a:ext>
              </a:extLst>
            </p:cNvPr>
            <p:cNvSpPr/>
            <p:nvPr/>
          </p:nvSpPr>
          <p:spPr>
            <a:xfrm>
              <a:off x="4330377" y="1068760"/>
              <a:ext cx="914400" cy="914400"/>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22" name="群組 21">
            <a:extLst>
              <a:ext uri="{FF2B5EF4-FFF2-40B4-BE49-F238E27FC236}">
                <a16:creationId xmlns:a16="http://schemas.microsoft.com/office/drawing/2014/main" id="{80E95EF2-5710-48AE-86E8-E54BF05FB6AB}"/>
              </a:ext>
            </a:extLst>
          </p:cNvPr>
          <p:cNvGrpSpPr/>
          <p:nvPr/>
        </p:nvGrpSpPr>
        <p:grpSpPr>
          <a:xfrm>
            <a:off x="969153" y="2498591"/>
            <a:ext cx="6960583" cy="3838981"/>
            <a:chOff x="969153" y="2381083"/>
            <a:chExt cx="6960583" cy="3956492"/>
          </a:xfrm>
        </p:grpSpPr>
        <p:sp>
          <p:nvSpPr>
            <p:cNvPr id="12" name="橢圓 11">
              <a:extLst>
                <a:ext uri="{FF2B5EF4-FFF2-40B4-BE49-F238E27FC236}">
                  <a16:creationId xmlns:a16="http://schemas.microsoft.com/office/drawing/2014/main" id="{2F50F906-E179-4E48-8077-B821DA223DA1}"/>
                </a:ext>
              </a:extLst>
            </p:cNvPr>
            <p:cNvSpPr/>
            <p:nvPr/>
          </p:nvSpPr>
          <p:spPr>
            <a:xfrm>
              <a:off x="3527884" y="3429000"/>
              <a:ext cx="1800200" cy="1728192"/>
            </a:xfrm>
            <a:prstGeom prst="ellipse">
              <a:avLst/>
            </a:prstGeom>
          </p:spPr>
          <p:style>
            <a:lnRef idx="1">
              <a:schemeClr val="accent4"/>
            </a:lnRef>
            <a:fillRef idx="2">
              <a:schemeClr val="accent4"/>
            </a:fillRef>
            <a:effectRef idx="1">
              <a:schemeClr val="accent4"/>
            </a:effectRef>
            <a:fontRef idx="minor">
              <a:schemeClr val="dk1"/>
            </a:fontRef>
          </p:style>
          <p:txBody>
            <a:bodyPr lIns="72000" rIns="72000" rtlCol="0" anchor="ctr">
              <a:normAutofit/>
            </a:bodyPr>
            <a:lstStyle/>
            <a:p>
              <a:pPr algn="ctr"/>
              <a:r>
                <a:rPr lang="zh-TW" altLang="en-US" sz="2000" dirty="0">
                  <a:latin typeface="微軟正黑體" panose="020B0604030504040204" pitchFamily="34" charset="-120"/>
                  <a:ea typeface="微軟正黑體" panose="020B0604030504040204" pitchFamily="34" charset="-120"/>
                </a:rPr>
                <a:t>創作產出</a:t>
              </a:r>
              <a:endParaRPr lang="en-US" altLang="zh-TW" sz="2000" dirty="0">
                <a:latin typeface="微軟正黑體" panose="020B0604030504040204" pitchFamily="34" charset="-120"/>
                <a:ea typeface="微軟正黑體" panose="020B0604030504040204" pitchFamily="34" charset="-120"/>
              </a:endParaRPr>
            </a:p>
            <a:p>
              <a:pPr algn="ct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研發成果</a:t>
              </a:r>
            </a:p>
          </p:txBody>
        </p:sp>
        <p:sp>
          <p:nvSpPr>
            <p:cNvPr id="14" name="箭號: 有線條的向右箭號 13">
              <a:extLst>
                <a:ext uri="{FF2B5EF4-FFF2-40B4-BE49-F238E27FC236}">
                  <a16:creationId xmlns:a16="http://schemas.microsoft.com/office/drawing/2014/main" id="{799D9096-086F-4B40-8B7A-B8650A287349}"/>
                </a:ext>
              </a:extLst>
            </p:cNvPr>
            <p:cNvSpPr/>
            <p:nvPr/>
          </p:nvSpPr>
          <p:spPr>
            <a:xfrm rot="19808167">
              <a:off x="5271479" y="3152485"/>
              <a:ext cx="544226" cy="914400"/>
            </a:xfrm>
            <a:prstGeom prst="striped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sp>
          <p:nvSpPr>
            <p:cNvPr id="15" name="箭號: 有線條的向右箭號 14">
              <a:extLst>
                <a:ext uri="{FF2B5EF4-FFF2-40B4-BE49-F238E27FC236}">
                  <a16:creationId xmlns:a16="http://schemas.microsoft.com/office/drawing/2014/main" id="{CB23C5E0-6BC6-4548-94B4-F8D0FD18FC97}"/>
                </a:ext>
              </a:extLst>
            </p:cNvPr>
            <p:cNvSpPr/>
            <p:nvPr/>
          </p:nvSpPr>
          <p:spPr>
            <a:xfrm rot="19808167" flipH="1">
              <a:off x="3120116" y="4627822"/>
              <a:ext cx="574785" cy="914400"/>
            </a:xfrm>
            <a:prstGeom prst="striped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sp>
          <p:nvSpPr>
            <p:cNvPr id="16" name="箭號: 有線條的向右箭號 15">
              <a:extLst>
                <a:ext uri="{FF2B5EF4-FFF2-40B4-BE49-F238E27FC236}">
                  <a16:creationId xmlns:a16="http://schemas.microsoft.com/office/drawing/2014/main" id="{DFB0D1C4-D653-4181-927A-46FD4887A838}"/>
                </a:ext>
              </a:extLst>
            </p:cNvPr>
            <p:cNvSpPr/>
            <p:nvPr/>
          </p:nvSpPr>
          <p:spPr>
            <a:xfrm rot="2448496">
              <a:off x="5164684" y="4653531"/>
              <a:ext cx="544226" cy="914400"/>
            </a:xfrm>
            <a:prstGeom prst="striped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sp>
          <p:nvSpPr>
            <p:cNvPr id="17" name="箭號: 有線條的向右箭號 16">
              <a:extLst>
                <a:ext uri="{FF2B5EF4-FFF2-40B4-BE49-F238E27FC236}">
                  <a16:creationId xmlns:a16="http://schemas.microsoft.com/office/drawing/2014/main" id="{E6791493-F4CA-455A-8251-A5E1527F3A9D}"/>
                </a:ext>
              </a:extLst>
            </p:cNvPr>
            <p:cNvSpPr/>
            <p:nvPr/>
          </p:nvSpPr>
          <p:spPr>
            <a:xfrm rot="2523648" flipH="1">
              <a:off x="3077348" y="3155083"/>
              <a:ext cx="574785" cy="914400"/>
            </a:xfrm>
            <a:prstGeom prst="striped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sp>
          <p:nvSpPr>
            <p:cNvPr id="18" name="矩形: 圓角 17">
              <a:extLst>
                <a:ext uri="{FF2B5EF4-FFF2-40B4-BE49-F238E27FC236}">
                  <a16:creationId xmlns:a16="http://schemas.microsoft.com/office/drawing/2014/main" id="{8EA8168E-0F3C-4484-BA36-8072663AE727}"/>
                </a:ext>
              </a:extLst>
            </p:cNvPr>
            <p:cNvSpPr/>
            <p:nvPr/>
          </p:nvSpPr>
          <p:spPr>
            <a:xfrm>
              <a:off x="5796136" y="2423518"/>
              <a:ext cx="2133600" cy="112341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2400" dirty="0">
                  <a:solidFill>
                    <a:schemeClr val="tx1"/>
                  </a:solidFill>
                  <a:latin typeface="微軟正黑體" panose="020B0604030504040204" pitchFamily="34" charset="-120"/>
                  <a:ea typeface="微軟正黑體" panose="020B0604030504040204" pitchFamily="34" charset="-120"/>
                </a:rPr>
                <a:t>著作權</a:t>
              </a:r>
            </a:p>
          </p:txBody>
        </p:sp>
        <p:sp>
          <p:nvSpPr>
            <p:cNvPr id="19" name="矩形: 圓角 18">
              <a:extLst>
                <a:ext uri="{FF2B5EF4-FFF2-40B4-BE49-F238E27FC236}">
                  <a16:creationId xmlns:a16="http://schemas.microsoft.com/office/drawing/2014/main" id="{7B311670-D11F-4176-819D-52D404404ED5}"/>
                </a:ext>
              </a:extLst>
            </p:cNvPr>
            <p:cNvSpPr/>
            <p:nvPr/>
          </p:nvSpPr>
          <p:spPr>
            <a:xfrm>
              <a:off x="5796136" y="5214165"/>
              <a:ext cx="2133600" cy="112341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2400" dirty="0">
                  <a:solidFill>
                    <a:schemeClr val="tx1"/>
                  </a:solidFill>
                  <a:latin typeface="微軟正黑體" panose="020B0604030504040204" pitchFamily="34" charset="-120"/>
                  <a:ea typeface="微軟正黑體" panose="020B0604030504040204" pitchFamily="34" charset="-120"/>
                </a:rPr>
                <a:t>商標權</a:t>
              </a:r>
            </a:p>
          </p:txBody>
        </p:sp>
        <p:sp>
          <p:nvSpPr>
            <p:cNvPr id="20" name="矩形: 圓角 19">
              <a:extLst>
                <a:ext uri="{FF2B5EF4-FFF2-40B4-BE49-F238E27FC236}">
                  <a16:creationId xmlns:a16="http://schemas.microsoft.com/office/drawing/2014/main" id="{E6527F15-75B8-4B8C-B6BF-D2CB05F58332}"/>
                </a:ext>
              </a:extLst>
            </p:cNvPr>
            <p:cNvSpPr/>
            <p:nvPr/>
          </p:nvSpPr>
          <p:spPr>
            <a:xfrm>
              <a:off x="993080" y="2381083"/>
              <a:ext cx="2133600" cy="112341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2400" dirty="0">
                  <a:solidFill>
                    <a:schemeClr val="tx1"/>
                  </a:solidFill>
                  <a:latin typeface="微軟正黑體" panose="020B0604030504040204" pitchFamily="34" charset="-120"/>
                  <a:ea typeface="微軟正黑體" panose="020B0604030504040204" pitchFamily="34" charset="-120"/>
                </a:rPr>
                <a:t>營業秘密</a:t>
              </a:r>
            </a:p>
          </p:txBody>
        </p:sp>
        <p:sp>
          <p:nvSpPr>
            <p:cNvPr id="21" name="矩形: 圓角 20">
              <a:extLst>
                <a:ext uri="{FF2B5EF4-FFF2-40B4-BE49-F238E27FC236}">
                  <a16:creationId xmlns:a16="http://schemas.microsoft.com/office/drawing/2014/main" id="{D394760A-C283-4E7C-9795-A6665C289196}"/>
                </a:ext>
              </a:extLst>
            </p:cNvPr>
            <p:cNvSpPr/>
            <p:nvPr/>
          </p:nvSpPr>
          <p:spPr>
            <a:xfrm>
              <a:off x="969153" y="5214165"/>
              <a:ext cx="2133600" cy="112341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TW" altLang="en-US" sz="2400" b="1" dirty="0">
                  <a:solidFill>
                    <a:schemeClr val="bg1"/>
                  </a:solidFill>
                  <a:latin typeface="微軟正黑體" panose="020B0604030504040204" pitchFamily="34" charset="-120"/>
                  <a:ea typeface="微軟正黑體" panose="020B0604030504040204" pitchFamily="34" charset="-120"/>
                </a:rPr>
                <a:t>專利權</a:t>
              </a:r>
            </a:p>
          </p:txBody>
        </p:sp>
      </p:grpSp>
      <p:sp>
        <p:nvSpPr>
          <p:cNvPr id="23" name="文字方塊 22">
            <a:extLst>
              <a:ext uri="{FF2B5EF4-FFF2-40B4-BE49-F238E27FC236}">
                <a16:creationId xmlns:a16="http://schemas.microsoft.com/office/drawing/2014/main" id="{2C5E9E08-0BD7-4071-AD33-6C6F3C967091}"/>
              </a:ext>
            </a:extLst>
          </p:cNvPr>
          <p:cNvSpPr txBox="1"/>
          <p:nvPr/>
        </p:nvSpPr>
        <p:spPr>
          <a:xfrm flipH="1">
            <a:off x="5796136" y="4866226"/>
            <a:ext cx="2850374" cy="369332"/>
          </a:xfrm>
          <a:prstGeom prst="rect">
            <a:avLst/>
          </a:prstGeom>
          <a:noFill/>
        </p:spPr>
        <p:txBody>
          <a:bodyPr wrap="squar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商品或服務品牌</a:t>
            </a:r>
          </a:p>
        </p:txBody>
      </p:sp>
      <p:sp>
        <p:nvSpPr>
          <p:cNvPr id="24" name="文字方塊 23">
            <a:extLst>
              <a:ext uri="{FF2B5EF4-FFF2-40B4-BE49-F238E27FC236}">
                <a16:creationId xmlns:a16="http://schemas.microsoft.com/office/drawing/2014/main" id="{8A8B2238-EB18-4F75-815F-A406A6446421}"/>
              </a:ext>
            </a:extLst>
          </p:cNvPr>
          <p:cNvSpPr txBox="1"/>
          <p:nvPr/>
        </p:nvSpPr>
        <p:spPr>
          <a:xfrm flipH="1">
            <a:off x="5800377" y="3690705"/>
            <a:ext cx="2850374" cy="369332"/>
          </a:xfrm>
          <a:prstGeom prst="rect">
            <a:avLst/>
          </a:prstGeom>
          <a:noFill/>
        </p:spPr>
        <p:txBody>
          <a:bodyPr wrap="squar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文件、軟體</a:t>
            </a:r>
            <a:r>
              <a:rPr lang="en-US" altLang="zh-TW" dirty="0">
                <a:solidFill>
                  <a:srgbClr val="FF0000"/>
                </a:solidFill>
                <a:latin typeface="微軟正黑體" panose="020B0604030504040204" pitchFamily="34" charset="-120"/>
                <a:ea typeface="微軟正黑體" panose="020B0604030504040204" pitchFamily="34" charset="-120"/>
              </a:rPr>
              <a:t>…</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
        <p:nvSpPr>
          <p:cNvPr id="25" name="文字方塊 24">
            <a:extLst>
              <a:ext uri="{FF2B5EF4-FFF2-40B4-BE49-F238E27FC236}">
                <a16:creationId xmlns:a16="http://schemas.microsoft.com/office/drawing/2014/main" id="{1ABF4590-1390-4AC8-AFB6-EDE7D98EE1F4}"/>
              </a:ext>
            </a:extLst>
          </p:cNvPr>
          <p:cNvSpPr txBox="1"/>
          <p:nvPr/>
        </p:nvSpPr>
        <p:spPr>
          <a:xfrm flipH="1">
            <a:off x="980555" y="4880820"/>
            <a:ext cx="2850374" cy="369332"/>
          </a:xfrm>
          <a:prstGeom prst="rect">
            <a:avLst/>
          </a:prstGeom>
          <a:noFill/>
        </p:spPr>
        <p:txBody>
          <a:bodyPr wrap="squar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產品、方法</a:t>
            </a:r>
          </a:p>
        </p:txBody>
      </p:sp>
      <p:sp>
        <p:nvSpPr>
          <p:cNvPr id="26" name="文字方塊 25">
            <a:extLst>
              <a:ext uri="{FF2B5EF4-FFF2-40B4-BE49-F238E27FC236}">
                <a16:creationId xmlns:a16="http://schemas.microsoft.com/office/drawing/2014/main" id="{24FEA8BA-C73E-433B-AF5B-2722FCEB2EB1}"/>
              </a:ext>
            </a:extLst>
          </p:cNvPr>
          <p:cNvSpPr txBox="1"/>
          <p:nvPr/>
        </p:nvSpPr>
        <p:spPr>
          <a:xfrm flipH="1">
            <a:off x="869464" y="3631531"/>
            <a:ext cx="2850374" cy="369332"/>
          </a:xfrm>
          <a:prstGeom prst="rect">
            <a:avLst/>
          </a:prstGeom>
          <a:noFill/>
        </p:spPr>
        <p:txBody>
          <a:bodyPr wrap="square" rtlCol="0">
            <a:spAutoFit/>
          </a:bodyPr>
          <a:lstStyle/>
          <a:p>
            <a:r>
              <a:rPr lang="zh-TW" altLang="en-US" dirty="0">
                <a:solidFill>
                  <a:srgbClr val="FF0000"/>
                </a:solidFill>
                <a:latin typeface="微軟正黑體" panose="020B0604030504040204" pitchFamily="34" charset="-120"/>
                <a:ea typeface="微軟正黑體" panose="020B0604030504040204" pitchFamily="34" charset="-120"/>
              </a:rPr>
              <a:t>未公開的內部技術</a:t>
            </a:r>
          </a:p>
        </p:txBody>
      </p:sp>
      <p:sp>
        <p:nvSpPr>
          <p:cNvPr id="27" name="文字方塊 26">
            <a:extLst>
              <a:ext uri="{FF2B5EF4-FFF2-40B4-BE49-F238E27FC236}">
                <a16:creationId xmlns:a16="http://schemas.microsoft.com/office/drawing/2014/main" id="{1ABF4590-1390-4AC8-AFB6-EDE7D98EE1F4}"/>
              </a:ext>
            </a:extLst>
          </p:cNvPr>
          <p:cNvSpPr txBox="1"/>
          <p:nvPr/>
        </p:nvSpPr>
        <p:spPr>
          <a:xfrm flipH="1">
            <a:off x="969152" y="6330842"/>
            <a:ext cx="2133600" cy="400110"/>
          </a:xfrm>
          <a:prstGeom prst="rect">
            <a:avLst/>
          </a:prstGeom>
          <a:noFill/>
        </p:spPr>
        <p:txBody>
          <a:bodyPr wrap="square" rtlCol="0">
            <a:spAutoFit/>
          </a:bodyPr>
          <a:lstStyle/>
          <a:p>
            <a:pPr algn="ctr"/>
            <a:r>
              <a:rPr lang="zh-TW" altLang="en-US" sz="2000" b="1" dirty="0">
                <a:solidFill>
                  <a:srgbClr val="FF0000"/>
                </a:solidFill>
                <a:latin typeface="微軟正黑體" panose="020B0604030504040204" pitchFamily="34" charset="-120"/>
                <a:ea typeface="微軟正黑體" panose="020B0604030504040204" pitchFamily="34" charset="-120"/>
              </a:rPr>
              <a:t>專有排他權</a:t>
            </a:r>
          </a:p>
        </p:txBody>
      </p:sp>
    </p:spTree>
    <p:extLst>
      <p:ext uri="{BB962C8B-B14F-4D97-AF65-F5344CB8AC3E}">
        <p14:creationId xmlns:p14="http://schemas.microsoft.com/office/powerpoint/2010/main" val="3621454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0460CF-62F8-4D78-AD6F-167D597C30CA}"/>
              </a:ext>
            </a:extLst>
          </p:cNvPr>
          <p:cNvSpPr>
            <a:spLocks noGrp="1"/>
          </p:cNvSpPr>
          <p:nvPr>
            <p:ph type="title"/>
          </p:nvPr>
        </p:nvSpPr>
        <p:spPr/>
        <p:txBody>
          <a:bodyPr/>
          <a:lstStyle/>
          <a:p>
            <a:r>
              <a:rPr lang="zh-TW" altLang="en-US" dirty="0"/>
              <a:t>專利與壟斷</a:t>
            </a:r>
          </a:p>
        </p:txBody>
      </p:sp>
      <p:sp>
        <p:nvSpPr>
          <p:cNvPr id="4" name="投影片編號版面配置區 3">
            <a:extLst>
              <a:ext uri="{FF2B5EF4-FFF2-40B4-BE49-F238E27FC236}">
                <a16:creationId xmlns:a16="http://schemas.microsoft.com/office/drawing/2014/main" id="{D604EB4E-43DE-4CAD-91ED-1737388DE02D}"/>
              </a:ext>
            </a:extLst>
          </p:cNvPr>
          <p:cNvSpPr>
            <a:spLocks noGrp="1"/>
          </p:cNvSpPr>
          <p:nvPr>
            <p:ph type="sldNum" sz="quarter" idx="12"/>
          </p:nvPr>
        </p:nvSpPr>
        <p:spPr>
          <a:xfrm>
            <a:off x="6549565" y="6464733"/>
            <a:ext cx="2133600" cy="365125"/>
          </a:xfrm>
        </p:spPr>
        <p:txBody>
          <a:bodyPr/>
          <a:lstStyle/>
          <a:p>
            <a:fld id="{25768BAF-173A-4148-B120-6C42E92911E4}" type="slidenum">
              <a:rPr lang="zh-TW" altLang="en-US" smtClean="0">
                <a:solidFill>
                  <a:prstClr val="black">
                    <a:tint val="75000"/>
                  </a:prstClr>
                </a:solidFill>
              </a:rPr>
              <a:pPr/>
              <a:t>11</a:t>
            </a:fld>
            <a:endParaRPr lang="zh-TW" altLang="en-US" dirty="0">
              <a:solidFill>
                <a:prstClr val="black">
                  <a:tint val="75000"/>
                </a:prstClr>
              </a:solidFill>
            </a:endParaRPr>
          </a:p>
        </p:txBody>
      </p:sp>
      <p:pic>
        <p:nvPicPr>
          <p:cNvPr id="1026" name="Picture 2" descr="殊死, 应力, 强调, 问题, 担心, 男子, 工作, 沮丧, 伤心, 用完, 累了, 表情, 抑郁, 绝望">
            <a:extLst>
              <a:ext uri="{FF2B5EF4-FFF2-40B4-BE49-F238E27FC236}">
                <a16:creationId xmlns:a16="http://schemas.microsoft.com/office/drawing/2014/main" id="{06CF55AC-6904-4318-8C07-5D59A81F1C86}"/>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95536" y="920411"/>
            <a:ext cx="1728192" cy="1800721"/>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1AE5E788-3E48-444C-8CB5-764D1DCF4179}"/>
              </a:ext>
            </a:extLst>
          </p:cNvPr>
          <p:cNvSpPr txBox="1"/>
          <p:nvPr/>
        </p:nvSpPr>
        <p:spPr>
          <a:xfrm>
            <a:off x="54850" y="6552326"/>
            <a:ext cx="4600322" cy="246221"/>
          </a:xfrm>
          <a:prstGeom prst="rect">
            <a:avLst/>
          </a:prstGeom>
          <a:noFill/>
        </p:spPr>
        <p:txBody>
          <a:bodyPr wrap="square">
            <a:spAutoFit/>
          </a:bodyPr>
          <a:lstStyle/>
          <a:p>
            <a:r>
              <a:rPr lang="zh-TW" altLang="en-US" sz="1000" dirty="0"/>
              <a:t>圖片來源：https://pixabay.com/</a:t>
            </a:r>
          </a:p>
        </p:txBody>
      </p:sp>
      <p:pic>
        <p:nvPicPr>
          <p:cNvPr id="5" name="Picture 2" descr="理念, 云, 认为, 概念, 符号, 设计, 业务, 技术, 图标, 发展, 介绍, 解决方案, 创意, 战略">
            <a:extLst>
              <a:ext uri="{FF2B5EF4-FFF2-40B4-BE49-F238E27FC236}">
                <a16:creationId xmlns:a16="http://schemas.microsoft.com/office/drawing/2014/main" id="{AE509163-FCE3-4AD3-A325-E0BE6E2C507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rot="2195122" flipH="1">
            <a:off x="1622793" y="918908"/>
            <a:ext cx="720080" cy="73177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长凳, 坐, 公园, 人, 女子, 快乐, 户外, 年轻, 女孩, 生活方式, 夏天, 女性, 成人, 高级">
            <a:extLst>
              <a:ext uri="{FF2B5EF4-FFF2-40B4-BE49-F238E27FC236}">
                <a16:creationId xmlns:a16="http://schemas.microsoft.com/office/drawing/2014/main" id="{1FB467CA-945E-48F8-B7D4-4CF2E202922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338427" y="1038237"/>
            <a:ext cx="1403648" cy="159164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长凳, 休息, 公园, 座位, 坐, 木, 放松">
            <a:extLst>
              <a:ext uri="{FF2B5EF4-FFF2-40B4-BE49-F238E27FC236}">
                <a16:creationId xmlns:a16="http://schemas.microsoft.com/office/drawing/2014/main" id="{32D13A95-B082-4F0F-BD15-79DE21E1B92F}"/>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2427443" y="3423954"/>
            <a:ext cx="1283462" cy="778099"/>
          </a:xfrm>
          <a:prstGeom prst="rect">
            <a:avLst/>
          </a:prstGeom>
          <a:noFill/>
          <a:extLst>
            <a:ext uri="{909E8E84-426E-40DD-AFC4-6F175D3DCCD1}">
              <a14:hiddenFill xmlns:a14="http://schemas.microsoft.com/office/drawing/2010/main">
                <a:solidFill>
                  <a:srgbClr val="FFFFFF"/>
                </a:solidFill>
              </a14:hiddenFill>
            </a:ext>
          </a:extLst>
        </p:spPr>
      </p:pic>
      <p:sp>
        <p:nvSpPr>
          <p:cNvPr id="7" name="想法泡泡: 雲朵 6">
            <a:extLst>
              <a:ext uri="{FF2B5EF4-FFF2-40B4-BE49-F238E27FC236}">
                <a16:creationId xmlns:a16="http://schemas.microsoft.com/office/drawing/2014/main" id="{F56084A2-CB3E-4406-8831-0288C647DF33}"/>
              </a:ext>
            </a:extLst>
          </p:cNvPr>
          <p:cNvSpPr/>
          <p:nvPr/>
        </p:nvSpPr>
        <p:spPr>
          <a:xfrm>
            <a:off x="4673339" y="920411"/>
            <a:ext cx="3128176" cy="612648"/>
          </a:xfrm>
          <a:prstGeom prst="cloudCallout">
            <a:avLst>
              <a:gd name="adj1" fmla="val -67140"/>
              <a:gd name="adj2" fmla="val -1044"/>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獨享放家裡</a:t>
            </a:r>
          </a:p>
        </p:txBody>
      </p:sp>
      <p:sp>
        <p:nvSpPr>
          <p:cNvPr id="13" name="想法泡泡: 雲朵 12">
            <a:extLst>
              <a:ext uri="{FF2B5EF4-FFF2-40B4-BE49-F238E27FC236}">
                <a16:creationId xmlns:a16="http://schemas.microsoft.com/office/drawing/2014/main" id="{D9FC85DB-6DD3-47B0-BFDF-8376117E2914}"/>
              </a:ext>
            </a:extLst>
          </p:cNvPr>
          <p:cNvSpPr/>
          <p:nvPr/>
        </p:nvSpPr>
        <p:spPr>
          <a:xfrm>
            <a:off x="4673339" y="1775558"/>
            <a:ext cx="3128176" cy="612648"/>
          </a:xfrm>
          <a:prstGeom prst="cloudCallout">
            <a:avLst>
              <a:gd name="adj1" fmla="val -67140"/>
              <a:gd name="adj2" fmla="val -104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分享讓大家都知道</a:t>
            </a:r>
          </a:p>
        </p:txBody>
      </p:sp>
      <p:sp>
        <p:nvSpPr>
          <p:cNvPr id="8" name="箭號: 五邊形 7">
            <a:extLst>
              <a:ext uri="{FF2B5EF4-FFF2-40B4-BE49-F238E27FC236}">
                <a16:creationId xmlns:a16="http://schemas.microsoft.com/office/drawing/2014/main" id="{9DE98CA0-DBC8-449C-9F51-E20F8171098F}"/>
              </a:ext>
            </a:extLst>
          </p:cNvPr>
          <p:cNvSpPr/>
          <p:nvPr/>
        </p:nvSpPr>
        <p:spPr>
          <a:xfrm>
            <a:off x="7989713" y="948427"/>
            <a:ext cx="978408" cy="484632"/>
          </a:xfrm>
          <a:prstGeom prst="homePlat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失傳</a:t>
            </a:r>
          </a:p>
        </p:txBody>
      </p:sp>
      <p:sp>
        <p:nvSpPr>
          <p:cNvPr id="15" name="箭號: 五邊形 14">
            <a:extLst>
              <a:ext uri="{FF2B5EF4-FFF2-40B4-BE49-F238E27FC236}">
                <a16:creationId xmlns:a16="http://schemas.microsoft.com/office/drawing/2014/main" id="{33DE285E-9D1C-404D-AB46-270BE48A4563}"/>
              </a:ext>
            </a:extLst>
          </p:cNvPr>
          <p:cNvSpPr/>
          <p:nvPr/>
        </p:nvSpPr>
        <p:spPr>
          <a:xfrm>
            <a:off x="7989713" y="1775558"/>
            <a:ext cx="978408" cy="484632"/>
          </a:xfrm>
          <a:prstGeom prst="homePlat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改良</a:t>
            </a:r>
          </a:p>
        </p:txBody>
      </p:sp>
      <p:pic>
        <p:nvPicPr>
          <p:cNvPr id="1036" name="Picture 12" descr="侧影, 商人, 公文包, 全长, 男子, 站在, 信心">
            <a:extLst>
              <a:ext uri="{FF2B5EF4-FFF2-40B4-BE49-F238E27FC236}">
                <a16:creationId xmlns:a16="http://schemas.microsoft.com/office/drawing/2014/main" id="{3191A443-7978-447B-AE55-4640316D9E91}"/>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flipH="1">
            <a:off x="811336" y="2704763"/>
            <a:ext cx="896592" cy="1793183"/>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群組 8">
            <a:extLst>
              <a:ext uri="{FF2B5EF4-FFF2-40B4-BE49-F238E27FC236}">
                <a16:creationId xmlns:a16="http://schemas.microsoft.com/office/drawing/2014/main" id="{45B7504E-D71C-45DD-B9F4-8156A26AAE3F}"/>
              </a:ext>
            </a:extLst>
          </p:cNvPr>
          <p:cNvGrpSpPr/>
          <p:nvPr/>
        </p:nvGrpSpPr>
        <p:grpSpPr>
          <a:xfrm>
            <a:off x="4880298" y="3043097"/>
            <a:ext cx="2006488" cy="1116514"/>
            <a:chOff x="4449185" y="2976226"/>
            <a:chExt cx="2006488" cy="1116514"/>
          </a:xfrm>
        </p:grpSpPr>
        <p:pic>
          <p:nvPicPr>
            <p:cNvPr id="17" name="Picture 10" descr="长凳, 休息, 公园, 座位, 坐, 木, 放松">
              <a:extLst>
                <a:ext uri="{FF2B5EF4-FFF2-40B4-BE49-F238E27FC236}">
                  <a16:creationId xmlns:a16="http://schemas.microsoft.com/office/drawing/2014/main" id="{3AD7F132-916B-4B3E-9313-5E1494058A72}"/>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4877960" y="3140968"/>
              <a:ext cx="759399" cy="46038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长凳, 休息, 公园, 座位, 坐, 木, 放松">
              <a:extLst>
                <a:ext uri="{FF2B5EF4-FFF2-40B4-BE49-F238E27FC236}">
                  <a16:creationId xmlns:a16="http://schemas.microsoft.com/office/drawing/2014/main" id="{0C4FE1E2-410C-4854-A508-897B9CF20B97}"/>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030360" y="3293368"/>
              <a:ext cx="759399" cy="46038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长凳, 休息, 公园, 座位, 坐, 木, 放松">
              <a:extLst>
                <a:ext uri="{FF2B5EF4-FFF2-40B4-BE49-F238E27FC236}">
                  <a16:creationId xmlns:a16="http://schemas.microsoft.com/office/drawing/2014/main" id="{FABAAE12-3CFF-4903-AC98-5642A68F841F}"/>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030360" y="3293368"/>
              <a:ext cx="759399" cy="46038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descr="长凳, 休息, 公园, 座位, 坐, 木, 放松">
              <a:extLst>
                <a:ext uri="{FF2B5EF4-FFF2-40B4-BE49-F238E27FC236}">
                  <a16:creationId xmlns:a16="http://schemas.microsoft.com/office/drawing/2014/main" id="{46213F2B-3F30-4CE8-B28A-CEBD3186BB36}"/>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004569" y="3613696"/>
              <a:ext cx="759399" cy="46038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0" descr="长凳, 休息, 公园, 座位, 坐, 木, 放松">
              <a:extLst>
                <a:ext uri="{FF2B5EF4-FFF2-40B4-BE49-F238E27FC236}">
                  <a16:creationId xmlns:a16="http://schemas.microsoft.com/office/drawing/2014/main" id="{9D736A88-E07B-41BE-A6BF-21C9B6850F40}"/>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316575" y="2976226"/>
              <a:ext cx="759399" cy="46038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0" descr="长凳, 休息, 公园, 座位, 坐, 木, 放松">
              <a:extLst>
                <a:ext uri="{FF2B5EF4-FFF2-40B4-BE49-F238E27FC236}">
                  <a16:creationId xmlns:a16="http://schemas.microsoft.com/office/drawing/2014/main" id="{CCE496BB-6677-46DE-8803-6E2AA7C89696}"/>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468975" y="3128626"/>
              <a:ext cx="759399" cy="46038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0" descr="长凳, 休息, 公园, 座位, 坐, 木, 放松">
              <a:extLst>
                <a:ext uri="{FF2B5EF4-FFF2-40B4-BE49-F238E27FC236}">
                  <a16:creationId xmlns:a16="http://schemas.microsoft.com/office/drawing/2014/main" id="{12AA1046-1DAF-4BAB-814F-A8C8288FEA9A}"/>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543874" y="3461296"/>
              <a:ext cx="759399" cy="46038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0" descr="长凳, 休息, 公园, 座位, 坐, 木, 放松">
              <a:extLst>
                <a:ext uri="{FF2B5EF4-FFF2-40B4-BE49-F238E27FC236}">
                  <a16:creationId xmlns:a16="http://schemas.microsoft.com/office/drawing/2014/main" id="{E678E4B7-D8EC-460C-A66E-3514E793FD0D}"/>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696274" y="3613696"/>
              <a:ext cx="759399" cy="4603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0" descr="长凳, 休息, 公园, 座位, 坐, 木, 放松">
              <a:extLst>
                <a:ext uri="{FF2B5EF4-FFF2-40B4-BE49-F238E27FC236}">
                  <a16:creationId xmlns:a16="http://schemas.microsoft.com/office/drawing/2014/main" id="{E0814192-608B-404B-9EE6-BD89F146A6CD}"/>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4449185" y="3479954"/>
              <a:ext cx="759399" cy="46038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长凳, 休息, 公园, 座位, 坐, 木, 放松">
              <a:extLst>
                <a:ext uri="{FF2B5EF4-FFF2-40B4-BE49-F238E27FC236}">
                  <a16:creationId xmlns:a16="http://schemas.microsoft.com/office/drawing/2014/main" id="{245B42ED-D687-499A-BFDA-04E38D0A94DD}"/>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4601585" y="3632354"/>
              <a:ext cx="759399" cy="460386"/>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箭號: ＞形 9">
            <a:extLst>
              <a:ext uri="{FF2B5EF4-FFF2-40B4-BE49-F238E27FC236}">
                <a16:creationId xmlns:a16="http://schemas.microsoft.com/office/drawing/2014/main" id="{DFC416F6-9BD7-4AFA-B993-FE0AC3ACF01D}"/>
              </a:ext>
            </a:extLst>
          </p:cNvPr>
          <p:cNvSpPr/>
          <p:nvPr/>
        </p:nvSpPr>
        <p:spPr>
          <a:xfrm>
            <a:off x="4340993" y="3503483"/>
            <a:ext cx="484632" cy="484632"/>
          </a:xfrm>
          <a:prstGeom prst="chevron">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dirty="0">
              <a:solidFill>
                <a:schemeClr val="tx1"/>
              </a:solidFill>
            </a:endParaRPr>
          </a:p>
        </p:txBody>
      </p:sp>
      <p:sp>
        <p:nvSpPr>
          <p:cNvPr id="11" name="文字方塊 10">
            <a:extLst>
              <a:ext uri="{FF2B5EF4-FFF2-40B4-BE49-F238E27FC236}">
                <a16:creationId xmlns:a16="http://schemas.microsoft.com/office/drawing/2014/main" id="{BA4E7544-05DE-47D1-9685-AA664E8343BC}"/>
              </a:ext>
            </a:extLst>
          </p:cNvPr>
          <p:cNvSpPr txBox="1"/>
          <p:nvPr/>
        </p:nvSpPr>
        <p:spPr>
          <a:xfrm>
            <a:off x="3797104" y="3430874"/>
            <a:ext cx="646331" cy="646331"/>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大量</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生產</a:t>
            </a:r>
          </a:p>
        </p:txBody>
      </p:sp>
      <p:sp>
        <p:nvSpPr>
          <p:cNvPr id="30" name="箭號: ＞形 29">
            <a:extLst>
              <a:ext uri="{FF2B5EF4-FFF2-40B4-BE49-F238E27FC236}">
                <a16:creationId xmlns:a16="http://schemas.microsoft.com/office/drawing/2014/main" id="{6567D6AE-827C-4378-A851-05AB2A647B99}"/>
              </a:ext>
            </a:extLst>
          </p:cNvPr>
          <p:cNvSpPr/>
          <p:nvPr/>
        </p:nvSpPr>
        <p:spPr>
          <a:xfrm>
            <a:off x="6979760" y="3467869"/>
            <a:ext cx="484632" cy="484632"/>
          </a:xfrm>
          <a:prstGeom prst="chevron">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dirty="0">
              <a:solidFill>
                <a:schemeClr val="tx1"/>
              </a:solidFill>
            </a:endParaRPr>
          </a:p>
        </p:txBody>
      </p:sp>
      <p:pic>
        <p:nvPicPr>
          <p:cNvPr id="1038" name="Picture 14" descr="钱, 袋, 利润, 黄金, 硬币, 财富, 投资, 收入, 美元, 财经, 现金, 富, 丰度">
            <a:extLst>
              <a:ext uri="{FF2B5EF4-FFF2-40B4-BE49-F238E27FC236}">
                <a16:creationId xmlns:a16="http://schemas.microsoft.com/office/drawing/2014/main" id="{D028DA39-7C0F-47F9-9F8F-90F430A8492D}"/>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7825486" y="3224581"/>
            <a:ext cx="1014356" cy="930365"/>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证书, 认证, 凭据, 文档, 高级文凭, 奖, 授权">
            <a:extLst>
              <a:ext uri="{FF2B5EF4-FFF2-40B4-BE49-F238E27FC236}">
                <a16:creationId xmlns:a16="http://schemas.microsoft.com/office/drawing/2014/main" id="{979450D7-86BE-47B2-9610-6EAC12A4F7DE}"/>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323471" y="4722565"/>
            <a:ext cx="1619672" cy="1800722"/>
          </a:xfrm>
          <a:prstGeom prst="rect">
            <a:avLst/>
          </a:prstGeom>
          <a:noFill/>
          <a:extLst>
            <a:ext uri="{909E8E84-426E-40DD-AFC4-6F175D3DCCD1}">
              <a14:hiddenFill xmlns:a14="http://schemas.microsoft.com/office/drawing/2010/main">
                <a:solidFill>
                  <a:srgbClr val="FFFFFF"/>
                </a:solidFill>
              </a14:hiddenFill>
            </a:ext>
          </a:extLst>
        </p:spPr>
      </p:pic>
      <p:sp>
        <p:nvSpPr>
          <p:cNvPr id="12" name="文字方塊 11">
            <a:extLst>
              <a:ext uri="{FF2B5EF4-FFF2-40B4-BE49-F238E27FC236}">
                <a16:creationId xmlns:a16="http://schemas.microsoft.com/office/drawing/2014/main" id="{D2CFF7BD-5CAA-4070-B391-06235A108098}"/>
              </a:ext>
            </a:extLst>
          </p:cNvPr>
          <p:cNvSpPr txBox="1"/>
          <p:nvPr/>
        </p:nvSpPr>
        <p:spPr>
          <a:xfrm>
            <a:off x="383743" y="5292516"/>
            <a:ext cx="1302280" cy="584775"/>
          </a:xfrm>
          <a:prstGeom prst="rect">
            <a:avLst/>
          </a:prstGeom>
          <a:noFill/>
        </p:spPr>
        <p:txBody>
          <a:bodyPr wrap="none" rtlCol="0">
            <a:spAutoFit/>
          </a:bodyPr>
          <a:lstStyle/>
          <a:p>
            <a:pPr marL="90488" indent="-90488">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板子</a:t>
            </a:r>
            <a:endParaRPr lang="en-US" altLang="zh-TW" sz="1600" dirty="0">
              <a:latin typeface="微軟正黑體" panose="020B0604030504040204" pitchFamily="34" charset="-120"/>
              <a:ea typeface="微軟正黑體" panose="020B0604030504040204" pitchFamily="34" charset="-120"/>
            </a:endParaRPr>
          </a:p>
          <a:p>
            <a:pPr marL="90488" indent="-90488">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複數個支撐</a:t>
            </a:r>
          </a:p>
        </p:txBody>
      </p:sp>
      <p:pic>
        <p:nvPicPr>
          <p:cNvPr id="34" name="Picture 16" descr="证书, 认证, 凭据, 文档, 高级文凭, 奖, 授权">
            <a:extLst>
              <a:ext uri="{FF2B5EF4-FFF2-40B4-BE49-F238E27FC236}">
                <a16:creationId xmlns:a16="http://schemas.microsoft.com/office/drawing/2014/main" id="{A62759EE-A12D-40ED-9ED7-BBAFB192896F}"/>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7348449" y="4722565"/>
            <a:ext cx="1619672" cy="1800722"/>
          </a:xfrm>
          <a:prstGeom prst="rect">
            <a:avLst/>
          </a:prstGeom>
          <a:noFill/>
          <a:extLst>
            <a:ext uri="{909E8E84-426E-40DD-AFC4-6F175D3DCCD1}">
              <a14:hiddenFill xmlns:a14="http://schemas.microsoft.com/office/drawing/2010/main">
                <a:solidFill>
                  <a:srgbClr val="FFFFFF"/>
                </a:solidFill>
              </a14:hiddenFill>
            </a:ext>
          </a:extLst>
        </p:spPr>
      </p:pic>
      <p:sp>
        <p:nvSpPr>
          <p:cNvPr id="35" name="文字方塊 34">
            <a:extLst>
              <a:ext uri="{FF2B5EF4-FFF2-40B4-BE49-F238E27FC236}">
                <a16:creationId xmlns:a16="http://schemas.microsoft.com/office/drawing/2014/main" id="{E8B7D776-E8DC-4ECC-AED8-7E52590256B0}"/>
              </a:ext>
            </a:extLst>
          </p:cNvPr>
          <p:cNvSpPr txBox="1"/>
          <p:nvPr/>
        </p:nvSpPr>
        <p:spPr>
          <a:xfrm>
            <a:off x="7420429" y="5276846"/>
            <a:ext cx="1302280" cy="830997"/>
          </a:xfrm>
          <a:prstGeom prst="rect">
            <a:avLst/>
          </a:prstGeom>
          <a:noFill/>
        </p:spPr>
        <p:txBody>
          <a:bodyPr wrap="none" rtlCol="0">
            <a:spAutoFit/>
          </a:bodyPr>
          <a:lstStyle/>
          <a:p>
            <a:pPr marL="90488" indent="-90488">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板子</a:t>
            </a:r>
            <a:endParaRPr lang="en-US" altLang="zh-TW" sz="1600" dirty="0">
              <a:latin typeface="微軟正黑體" panose="020B0604030504040204" pitchFamily="34" charset="-120"/>
              <a:ea typeface="微軟正黑體" panose="020B0604030504040204" pitchFamily="34" charset="-120"/>
            </a:endParaRPr>
          </a:p>
          <a:p>
            <a:pPr marL="90488" indent="-90488">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複數個支撐</a:t>
            </a:r>
            <a:endParaRPr lang="en-US" altLang="zh-TW" sz="1600" dirty="0">
              <a:latin typeface="微軟正黑體" panose="020B0604030504040204" pitchFamily="34" charset="-120"/>
              <a:ea typeface="微軟正黑體" panose="020B0604030504040204" pitchFamily="34" charset="-120"/>
            </a:endParaRPr>
          </a:p>
          <a:p>
            <a:pPr marL="90488" indent="-90488">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背板</a:t>
            </a:r>
          </a:p>
        </p:txBody>
      </p:sp>
      <p:pic>
        <p:nvPicPr>
          <p:cNvPr id="36" name="Picture 2" descr="殊死, 应力, 强调, 问题, 担心, 男子, 工作, 沮丧, 伤心, 用完, 累了, 表情, 抑郁, 绝望">
            <a:extLst>
              <a:ext uri="{FF2B5EF4-FFF2-40B4-BE49-F238E27FC236}">
                <a16:creationId xmlns:a16="http://schemas.microsoft.com/office/drawing/2014/main" id="{EAE354D8-1216-46F6-A4B5-9ECF1D602BF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943143" y="4660353"/>
            <a:ext cx="1728192" cy="180072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2" descr="侧影, 商人, 公文包, 全长, 男子, 站在, 信心">
            <a:extLst>
              <a:ext uri="{FF2B5EF4-FFF2-40B4-BE49-F238E27FC236}">
                <a16:creationId xmlns:a16="http://schemas.microsoft.com/office/drawing/2014/main" id="{41D16BF1-380D-411F-8275-3085CDA9568D}"/>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flipH="1">
            <a:off x="6220872" y="4722565"/>
            <a:ext cx="896592" cy="179318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descr="长凳, 坐, 公园, 人, 女子, 快乐, 户外, 年轻, 女孩, 生活方式, 夏天, 女性, 成人, 高级">
            <a:extLst>
              <a:ext uri="{FF2B5EF4-FFF2-40B4-BE49-F238E27FC236}">
                <a16:creationId xmlns:a16="http://schemas.microsoft.com/office/drawing/2014/main" id="{10B62473-14DE-45C7-81A9-A1945682EB39}"/>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3387263" y="4781868"/>
            <a:ext cx="738393" cy="837288"/>
          </a:xfrm>
          <a:prstGeom prst="rect">
            <a:avLst/>
          </a:prstGeom>
          <a:noFill/>
          <a:extLst>
            <a:ext uri="{909E8E84-426E-40DD-AFC4-6F175D3DCCD1}">
              <a14:hiddenFill xmlns:a14="http://schemas.microsoft.com/office/drawing/2010/main">
                <a:solidFill>
                  <a:srgbClr val="FFFFFF"/>
                </a:solidFill>
              </a14:hiddenFill>
            </a:ext>
          </a:extLst>
        </p:spPr>
      </p:pic>
      <p:sp>
        <p:nvSpPr>
          <p:cNvPr id="14" name="文字方塊 13">
            <a:extLst>
              <a:ext uri="{FF2B5EF4-FFF2-40B4-BE49-F238E27FC236}">
                <a16:creationId xmlns:a16="http://schemas.microsoft.com/office/drawing/2014/main" id="{282A9F90-70A1-41C8-B76A-165E790217EA}"/>
              </a:ext>
            </a:extLst>
          </p:cNvPr>
          <p:cNvSpPr txBox="1"/>
          <p:nvPr/>
        </p:nvSpPr>
        <p:spPr>
          <a:xfrm>
            <a:off x="3431690" y="5371339"/>
            <a:ext cx="649537" cy="369332"/>
          </a:xfrm>
          <a:prstGeom prst="rect">
            <a:avLst/>
          </a:prstGeom>
          <a:noFill/>
        </p:spPr>
        <p:txBody>
          <a:bodyPr wrap="none" rtlCol="0">
            <a:spAutoFit/>
          </a:bodyPr>
          <a:lstStyle/>
          <a:p>
            <a:r>
              <a:rPr lang="en-US" altLang="zh-TW" dirty="0"/>
              <a:t>10</a:t>
            </a:r>
            <a:r>
              <a:rPr lang="zh-TW" altLang="en-US" dirty="0"/>
              <a:t>元</a:t>
            </a:r>
          </a:p>
        </p:txBody>
      </p:sp>
      <p:pic>
        <p:nvPicPr>
          <p:cNvPr id="41" name="Picture 10" descr="长凳, 休息, 公园, 座位, 坐, 木, 放松">
            <a:extLst>
              <a:ext uri="{FF2B5EF4-FFF2-40B4-BE49-F238E27FC236}">
                <a16:creationId xmlns:a16="http://schemas.microsoft.com/office/drawing/2014/main" id="{1BCFDDAA-B080-4565-BB85-BC63B3678455}"/>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5639697" y="5063982"/>
            <a:ext cx="609207" cy="369332"/>
          </a:xfrm>
          <a:prstGeom prst="rect">
            <a:avLst/>
          </a:prstGeom>
          <a:noFill/>
          <a:extLst>
            <a:ext uri="{909E8E84-426E-40DD-AFC4-6F175D3DCCD1}">
              <a14:hiddenFill xmlns:a14="http://schemas.microsoft.com/office/drawing/2010/main">
                <a:solidFill>
                  <a:srgbClr val="FFFFFF"/>
                </a:solidFill>
              </a14:hiddenFill>
            </a:ext>
          </a:extLst>
        </p:spPr>
      </p:pic>
      <p:sp>
        <p:nvSpPr>
          <p:cNvPr id="43" name="文字方塊 42">
            <a:extLst>
              <a:ext uri="{FF2B5EF4-FFF2-40B4-BE49-F238E27FC236}">
                <a16:creationId xmlns:a16="http://schemas.microsoft.com/office/drawing/2014/main" id="{DBF4C715-08C7-4A5F-B68B-7B71C8778935}"/>
              </a:ext>
            </a:extLst>
          </p:cNvPr>
          <p:cNvSpPr txBox="1"/>
          <p:nvPr/>
        </p:nvSpPr>
        <p:spPr>
          <a:xfrm>
            <a:off x="5568213" y="5368693"/>
            <a:ext cx="766557" cy="369332"/>
          </a:xfrm>
          <a:prstGeom prst="rect">
            <a:avLst/>
          </a:prstGeom>
          <a:noFill/>
        </p:spPr>
        <p:txBody>
          <a:bodyPr wrap="none" rtlCol="0">
            <a:spAutoFit/>
          </a:bodyPr>
          <a:lstStyle/>
          <a:p>
            <a:r>
              <a:rPr lang="en-US" altLang="zh-TW" dirty="0"/>
              <a:t>200</a:t>
            </a:r>
            <a:r>
              <a:rPr lang="zh-TW" altLang="en-US" dirty="0"/>
              <a:t>元</a:t>
            </a:r>
          </a:p>
        </p:txBody>
      </p:sp>
      <p:sp>
        <p:nvSpPr>
          <p:cNvPr id="16" name="箭號: 燕尾形向右 15">
            <a:extLst>
              <a:ext uri="{FF2B5EF4-FFF2-40B4-BE49-F238E27FC236}">
                <a16:creationId xmlns:a16="http://schemas.microsoft.com/office/drawing/2014/main" id="{BB67DD2D-4B9B-454F-9ABC-557A018CA55C}"/>
              </a:ext>
            </a:extLst>
          </p:cNvPr>
          <p:cNvSpPr/>
          <p:nvPr/>
        </p:nvSpPr>
        <p:spPr>
          <a:xfrm flipH="1">
            <a:off x="4340993" y="5027904"/>
            <a:ext cx="1067718" cy="484632"/>
          </a:xfrm>
          <a:prstGeom prst="notched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1600" dirty="0">
                <a:solidFill>
                  <a:schemeClr val="tx1"/>
                </a:solidFill>
              </a:rPr>
              <a:t>侵權</a:t>
            </a:r>
          </a:p>
        </p:txBody>
      </p:sp>
      <p:sp>
        <p:nvSpPr>
          <p:cNvPr id="47" name="箭號: 燕尾形向右 46">
            <a:extLst>
              <a:ext uri="{FF2B5EF4-FFF2-40B4-BE49-F238E27FC236}">
                <a16:creationId xmlns:a16="http://schemas.microsoft.com/office/drawing/2014/main" id="{3E3923C9-E48D-47D5-951F-07DA94534EEC}"/>
              </a:ext>
            </a:extLst>
          </p:cNvPr>
          <p:cNvSpPr/>
          <p:nvPr/>
        </p:nvSpPr>
        <p:spPr>
          <a:xfrm rot="16200000" flipH="1">
            <a:off x="3428615" y="5858557"/>
            <a:ext cx="688999" cy="484632"/>
          </a:xfrm>
          <a:prstGeom prst="notched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600" dirty="0">
              <a:solidFill>
                <a:schemeClr val="tx1"/>
              </a:solidFill>
            </a:endParaRPr>
          </a:p>
        </p:txBody>
      </p:sp>
      <p:sp>
        <p:nvSpPr>
          <p:cNvPr id="27" name="文字方塊 26">
            <a:extLst>
              <a:ext uri="{FF2B5EF4-FFF2-40B4-BE49-F238E27FC236}">
                <a16:creationId xmlns:a16="http://schemas.microsoft.com/office/drawing/2014/main" id="{819E3EFD-40C0-4D45-BF0A-022CC3491D63}"/>
              </a:ext>
            </a:extLst>
          </p:cNvPr>
          <p:cNvSpPr txBox="1"/>
          <p:nvPr/>
        </p:nvSpPr>
        <p:spPr>
          <a:xfrm>
            <a:off x="3247715" y="6383361"/>
            <a:ext cx="1005403" cy="338554"/>
          </a:xfrm>
          <a:prstGeom prst="rect">
            <a:avLst/>
          </a:prstGeom>
          <a:noFill/>
        </p:spPr>
        <p:txBody>
          <a:bodyPr wrap="none" rtlCol="0">
            <a:spAutoFit/>
          </a:bodyPr>
          <a:lstStyle/>
          <a:p>
            <a:r>
              <a:rPr lang="zh-TW" altLang="en-US" sz="1600" dirty="0"/>
              <a:t>賣不出去</a:t>
            </a:r>
          </a:p>
        </p:txBody>
      </p:sp>
      <p:sp>
        <p:nvSpPr>
          <p:cNvPr id="28" name="箭號: 五邊形 27">
            <a:extLst>
              <a:ext uri="{FF2B5EF4-FFF2-40B4-BE49-F238E27FC236}">
                <a16:creationId xmlns:a16="http://schemas.microsoft.com/office/drawing/2014/main" id="{F675179F-71BE-48A1-8D9B-34463185C3AE}"/>
              </a:ext>
            </a:extLst>
          </p:cNvPr>
          <p:cNvSpPr/>
          <p:nvPr/>
        </p:nvSpPr>
        <p:spPr>
          <a:xfrm>
            <a:off x="3387262" y="4497946"/>
            <a:ext cx="1267909" cy="48463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t>授權</a:t>
            </a:r>
          </a:p>
        </p:txBody>
      </p:sp>
      <p:sp>
        <p:nvSpPr>
          <p:cNvPr id="29" name="箭號: 五邊形 28">
            <a:extLst>
              <a:ext uri="{FF2B5EF4-FFF2-40B4-BE49-F238E27FC236}">
                <a16:creationId xmlns:a16="http://schemas.microsoft.com/office/drawing/2014/main" id="{F5244A6E-6100-4043-B0FD-617CEB228E68}"/>
              </a:ext>
            </a:extLst>
          </p:cNvPr>
          <p:cNvSpPr/>
          <p:nvPr/>
        </p:nvSpPr>
        <p:spPr>
          <a:xfrm flipH="1">
            <a:off x="5065279" y="6131436"/>
            <a:ext cx="1149568" cy="48463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t>授權</a:t>
            </a:r>
          </a:p>
        </p:txBody>
      </p:sp>
    </p:spTree>
    <p:extLst>
      <p:ext uri="{BB962C8B-B14F-4D97-AF65-F5344CB8AC3E}">
        <p14:creationId xmlns:p14="http://schemas.microsoft.com/office/powerpoint/2010/main" val="3642622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專利無所不在</a:t>
            </a:r>
          </a:p>
        </p:txBody>
      </p:sp>
      <p:sp>
        <p:nvSpPr>
          <p:cNvPr id="3" name="內容版面配置區 2"/>
          <p:cNvSpPr>
            <a:spLocks noGrp="1"/>
          </p:cNvSpPr>
          <p:nvPr>
            <p:ph idx="1"/>
          </p:nvPr>
        </p:nvSpPr>
        <p:spPr>
          <a:xfrm>
            <a:off x="107504" y="908720"/>
            <a:ext cx="8928992" cy="576064"/>
          </a:xfrm>
        </p:spPr>
        <p:txBody>
          <a:bodyPr>
            <a:normAutofit lnSpcReduction="10000"/>
          </a:bodyPr>
          <a:lstStyle/>
          <a:p>
            <a:r>
              <a:rPr lang="zh-TW" altLang="en-US" dirty="0"/>
              <a:t>專利產品無所不在</a:t>
            </a:r>
            <a:endParaRPr lang="en-US" altLang="zh-TW" dirty="0"/>
          </a:p>
          <a:p>
            <a:endParaRPr lang="en-US" altLang="zh-TW"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12</a:t>
            </a:fld>
            <a:endParaRPr lang="zh-TW" altLang="en-US" dirty="0">
              <a:solidFill>
                <a:prstClr val="black">
                  <a:tint val="75000"/>
                </a:prstClr>
              </a:solidFill>
            </a:endParaRPr>
          </a:p>
        </p:txBody>
      </p:sp>
      <p:sp>
        <p:nvSpPr>
          <p:cNvPr id="6" name="內容版面配置區 2"/>
          <p:cNvSpPr txBox="1">
            <a:spLocks/>
          </p:cNvSpPr>
          <p:nvPr/>
        </p:nvSpPr>
        <p:spPr>
          <a:xfrm>
            <a:off x="47883" y="3933056"/>
            <a:ext cx="8928992" cy="576064"/>
          </a:xfrm>
          <a:prstGeom prst="rect">
            <a:avLst/>
          </a:prstGeom>
        </p:spPr>
        <p:txBody>
          <a:bodyPr vert="horz" lIns="91440" tIns="45720" rIns="91440" bIns="45720" rtlCol="0">
            <a:normAutofit/>
          </a:bodyPr>
          <a:lstStyle>
            <a:lvl1pPr marL="358775" indent="-358775" algn="l" defTabSz="914400" rtl="0" eaLnBrk="1" latinLnBrk="0" hangingPunct="1">
              <a:spcBef>
                <a:spcPct val="20000"/>
              </a:spcBef>
              <a:buFont typeface="Wingdings" pitchFamily="2" charset="2"/>
              <a:buChar char="u"/>
              <a:defRPr lang="zh-TW" altLang="en-US" sz="2600" b="1" kern="1200"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微軟正黑體" pitchFamily="34" charset="-120"/>
                <a:ea typeface="微軟正黑體" pitchFamily="34" charset="-120"/>
                <a:cs typeface="+mn-cs"/>
              </a:defRPr>
            </a:lvl1pPr>
            <a:lvl2pPr marL="442913" indent="-277813" algn="l" defTabSz="914400" rtl="0" eaLnBrk="1" latinLnBrk="0" hangingPunct="1">
              <a:lnSpc>
                <a:spcPct val="120000"/>
              </a:lnSpc>
              <a:spcBef>
                <a:spcPct val="20000"/>
              </a:spcBef>
              <a:buFont typeface="Wingdings" pitchFamily="2" charset="2"/>
              <a:buChar char="n"/>
              <a:defRPr sz="2000" kern="1200">
                <a:solidFill>
                  <a:schemeClr val="tx1"/>
                </a:solidFill>
                <a:latin typeface="微軟正黑體" pitchFamily="34" charset="-120"/>
                <a:ea typeface="微軟正黑體" pitchFamily="34" charset="-120"/>
                <a:cs typeface="+mn-cs"/>
              </a:defRPr>
            </a:lvl2pPr>
            <a:lvl3pPr marL="536575" indent="-225425" algn="l" defTabSz="914400" rtl="0" eaLnBrk="1" latinLnBrk="0" hangingPunct="1">
              <a:lnSpc>
                <a:spcPct val="120000"/>
              </a:lnSpc>
              <a:spcBef>
                <a:spcPct val="20000"/>
              </a:spcBef>
              <a:buFont typeface="Wingdings" pitchFamily="2" charset="2"/>
              <a:buChar char="p"/>
              <a:defRPr sz="1800" kern="1200">
                <a:solidFill>
                  <a:srgbClr val="0066FF"/>
                </a:solidFill>
                <a:latin typeface="微軟正黑體" pitchFamily="34" charset="-120"/>
                <a:ea typeface="微軟正黑體" pitchFamily="34" charset="-120"/>
                <a:cs typeface="+mn-cs"/>
              </a:defRPr>
            </a:lvl3pPr>
            <a:lvl4pPr marL="715963" indent="-230188" algn="l" defTabSz="914400" rtl="0" eaLnBrk="1" latinLnBrk="0" hangingPunct="1">
              <a:lnSpc>
                <a:spcPct val="120000"/>
              </a:lnSpc>
              <a:spcBef>
                <a:spcPct val="20000"/>
              </a:spcBef>
              <a:buFont typeface="Wingdings" pitchFamily="2" charset="2"/>
              <a:buChar char="l"/>
              <a:defRPr sz="1800" kern="1200">
                <a:solidFill>
                  <a:schemeClr val="accent2"/>
                </a:solidFill>
                <a:latin typeface="微軟正黑體" pitchFamily="34" charset="-120"/>
                <a:ea typeface="微軟正黑體" pitchFamily="34" charset="-120"/>
                <a:cs typeface="+mn-cs"/>
              </a:defRPr>
            </a:lvl4pPr>
            <a:lvl5pPr marL="895350" indent="-227013" algn="l" defTabSz="914400" rtl="0" eaLnBrk="1" latinLnBrk="0" hangingPunct="1">
              <a:lnSpc>
                <a:spcPct val="120000"/>
              </a:lnSpc>
              <a:spcBef>
                <a:spcPct val="20000"/>
              </a:spcBef>
              <a:buFont typeface="Wingdings" pitchFamily="2" charset="2"/>
              <a:buChar char="Ø"/>
              <a:defRPr sz="1800" kern="1200">
                <a:solidFill>
                  <a:schemeClr val="accent3">
                    <a:lumMod val="50000"/>
                  </a:schemeClr>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TW" altLang="en-US" dirty="0"/>
              <a:t>專利創意無所不在</a:t>
            </a:r>
          </a:p>
          <a:p>
            <a:endParaRPr lang="zh-TW" altLang="en-US" dirty="0"/>
          </a:p>
        </p:txBody>
      </p:sp>
      <p:pic>
        <p:nvPicPr>
          <p:cNvPr id="2050"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82651" y="1638300"/>
            <a:ext cx="1666478" cy="12866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文字方塊 6"/>
          <p:cNvSpPr txBox="1"/>
          <p:nvPr/>
        </p:nvSpPr>
        <p:spPr>
          <a:xfrm>
            <a:off x="323528" y="3106077"/>
            <a:ext cx="1083951" cy="369332"/>
          </a:xfrm>
          <a:prstGeom prst="rect">
            <a:avLst/>
          </a:prstGeom>
          <a:noFill/>
        </p:spPr>
        <p:txBody>
          <a:bodyPr wrap="none" rtlCol="0">
            <a:spAutoFit/>
          </a:bodyPr>
          <a:lstStyle/>
          <a:p>
            <a:r>
              <a:rPr lang="en-US" altLang="zh-TW" dirty="0"/>
              <a:t>M485615</a:t>
            </a:r>
            <a:endParaRPr lang="zh-TW" altLang="en-US" dirty="0"/>
          </a:p>
        </p:txBody>
      </p:sp>
      <p:pic>
        <p:nvPicPr>
          <p:cNvPr id="2051"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849129" y="1357312"/>
            <a:ext cx="1559818" cy="17487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文字方塊 9"/>
          <p:cNvSpPr txBox="1"/>
          <p:nvPr/>
        </p:nvSpPr>
        <p:spPr>
          <a:xfrm>
            <a:off x="2010118" y="3106077"/>
            <a:ext cx="1237839" cy="369332"/>
          </a:xfrm>
          <a:prstGeom prst="rect">
            <a:avLst/>
          </a:prstGeom>
          <a:noFill/>
        </p:spPr>
        <p:txBody>
          <a:bodyPr wrap="none" rtlCol="0">
            <a:spAutoFit/>
          </a:bodyPr>
          <a:lstStyle/>
          <a:p>
            <a:r>
              <a:rPr lang="en-US" altLang="zh-TW" dirty="0"/>
              <a:t>201605364</a:t>
            </a:r>
            <a:endParaRPr lang="zh-TW" altLang="en-US" dirty="0"/>
          </a:p>
        </p:txBody>
      </p:sp>
      <p:pic>
        <p:nvPicPr>
          <p:cNvPr id="2052" name="Picture 4"/>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309943" y="1553251"/>
            <a:ext cx="1971675" cy="128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文字方塊 11"/>
          <p:cNvSpPr txBox="1"/>
          <p:nvPr/>
        </p:nvSpPr>
        <p:spPr>
          <a:xfrm>
            <a:off x="3635896" y="3106077"/>
            <a:ext cx="1083951" cy="369332"/>
          </a:xfrm>
          <a:prstGeom prst="rect">
            <a:avLst/>
          </a:prstGeom>
          <a:noFill/>
        </p:spPr>
        <p:txBody>
          <a:bodyPr wrap="none" rtlCol="0">
            <a:spAutoFit/>
          </a:bodyPr>
          <a:lstStyle/>
          <a:p>
            <a:r>
              <a:rPr lang="en-US" altLang="zh-TW" dirty="0"/>
              <a:t>M517223</a:t>
            </a:r>
            <a:endParaRPr lang="zh-TW" altLang="en-US" dirty="0"/>
          </a:p>
        </p:txBody>
      </p:sp>
      <p:pic>
        <p:nvPicPr>
          <p:cNvPr id="2053" name="Picture 5"/>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272090" y="1582346"/>
            <a:ext cx="1952620" cy="1303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文字方塊 13"/>
          <p:cNvSpPr txBox="1"/>
          <p:nvPr/>
        </p:nvSpPr>
        <p:spPr>
          <a:xfrm>
            <a:off x="5669819" y="3106077"/>
            <a:ext cx="944489" cy="369332"/>
          </a:xfrm>
          <a:prstGeom prst="rect">
            <a:avLst/>
          </a:prstGeom>
          <a:noFill/>
        </p:spPr>
        <p:txBody>
          <a:bodyPr wrap="none" rtlCol="0">
            <a:spAutoFit/>
          </a:bodyPr>
          <a:lstStyle/>
          <a:p>
            <a:r>
              <a:rPr lang="en-US" altLang="zh-TW" dirty="0"/>
              <a:t>I308892</a:t>
            </a:r>
            <a:endParaRPr lang="zh-TW" altLang="en-US" dirty="0"/>
          </a:p>
        </p:txBody>
      </p:sp>
      <p:pic>
        <p:nvPicPr>
          <p:cNvPr id="2055" name="Picture 7"/>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7452320" y="1582346"/>
            <a:ext cx="1438300" cy="1118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文字方塊 16"/>
          <p:cNvSpPr txBox="1"/>
          <p:nvPr/>
        </p:nvSpPr>
        <p:spPr>
          <a:xfrm>
            <a:off x="7699225" y="3106077"/>
            <a:ext cx="1029449" cy="369332"/>
          </a:xfrm>
          <a:prstGeom prst="rect">
            <a:avLst/>
          </a:prstGeom>
          <a:noFill/>
        </p:spPr>
        <p:txBody>
          <a:bodyPr wrap="none" rtlCol="0">
            <a:spAutoFit/>
          </a:bodyPr>
          <a:lstStyle/>
          <a:p>
            <a:r>
              <a:rPr lang="en-US" altLang="zh-TW" dirty="0"/>
              <a:t>D113172</a:t>
            </a:r>
            <a:endParaRPr lang="zh-TW" altLang="en-US" dirty="0"/>
          </a:p>
        </p:txBody>
      </p:sp>
      <p:pic>
        <p:nvPicPr>
          <p:cNvPr id="2056" name="Picture 8"/>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flipH="1">
            <a:off x="4841727" y="3717032"/>
            <a:ext cx="1656184" cy="22995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文字方塊 18"/>
          <p:cNvSpPr txBox="1"/>
          <p:nvPr/>
        </p:nvSpPr>
        <p:spPr>
          <a:xfrm>
            <a:off x="5058112" y="6003898"/>
            <a:ext cx="1083951" cy="369332"/>
          </a:xfrm>
          <a:prstGeom prst="rect">
            <a:avLst/>
          </a:prstGeom>
          <a:noFill/>
        </p:spPr>
        <p:txBody>
          <a:bodyPr wrap="none" rtlCol="0">
            <a:spAutoFit/>
          </a:bodyPr>
          <a:lstStyle/>
          <a:p>
            <a:r>
              <a:rPr lang="en-US" altLang="zh-TW" dirty="0"/>
              <a:t>M414929</a:t>
            </a:r>
            <a:endParaRPr lang="zh-TW" altLang="en-US" dirty="0"/>
          </a:p>
        </p:txBody>
      </p:sp>
      <p:pic>
        <p:nvPicPr>
          <p:cNvPr id="2057" name="Picture 9"/>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6776461" y="3505095"/>
            <a:ext cx="2114159" cy="2142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文字方塊 20"/>
          <p:cNvSpPr txBox="1"/>
          <p:nvPr/>
        </p:nvSpPr>
        <p:spPr>
          <a:xfrm>
            <a:off x="7291564" y="5785532"/>
            <a:ext cx="1083951" cy="369332"/>
          </a:xfrm>
          <a:prstGeom prst="rect">
            <a:avLst/>
          </a:prstGeom>
          <a:noFill/>
        </p:spPr>
        <p:txBody>
          <a:bodyPr wrap="none" rtlCol="0">
            <a:spAutoFit/>
          </a:bodyPr>
          <a:lstStyle/>
          <a:p>
            <a:r>
              <a:rPr lang="en-US" altLang="zh-TW" dirty="0"/>
              <a:t>M338634</a:t>
            </a:r>
            <a:endParaRPr lang="zh-TW" altLang="en-US" dirty="0"/>
          </a:p>
        </p:txBody>
      </p:sp>
      <p:sp>
        <p:nvSpPr>
          <p:cNvPr id="5" name="矩形 4"/>
          <p:cNvSpPr/>
          <p:nvPr/>
        </p:nvSpPr>
        <p:spPr>
          <a:xfrm>
            <a:off x="279469" y="4721934"/>
            <a:ext cx="1569660" cy="923330"/>
          </a:xfrm>
          <a:prstGeom prst="rect">
            <a:avLst/>
          </a:prstGeom>
          <a:noFill/>
        </p:spPr>
        <p:txBody>
          <a:bodyPr wrap="none" lIns="91440" tIns="45720" rIns="91440" bIns="45720">
            <a:spAutoFit/>
            <a:scene3d>
              <a:camera prst="perspectiveContrastingRightFacing"/>
              <a:lightRig rig="threePt" dir="t"/>
            </a:scene3d>
          </a:bodyPr>
          <a:lstStyle/>
          <a:p>
            <a:pPr algn="ctr"/>
            <a:r>
              <a:rPr lang="zh-TW" alt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glow rad="63500">
                    <a:schemeClr val="accent1">
                      <a:satMod val="175000"/>
                      <a:alpha val="40000"/>
                    </a:schemeClr>
                  </a:glow>
                  <a:outerShdw blurRad="50800" dist="38100" algn="l" rotWithShape="0">
                    <a:prstClr val="black">
                      <a:alpha val="40000"/>
                    </a:prstClr>
                  </a:outerShdw>
                  <a:reflection blurRad="12700" stA="28000" endPos="45000" dist="1000" dir="5400000" sy="-100000" algn="bl" rotWithShape="0"/>
                </a:effectLst>
              </a:rPr>
              <a:t>創意</a:t>
            </a:r>
          </a:p>
        </p:txBody>
      </p:sp>
      <p:sp>
        <p:nvSpPr>
          <p:cNvPr id="9" name="矩形 8"/>
          <p:cNvSpPr/>
          <p:nvPr/>
        </p:nvSpPr>
        <p:spPr>
          <a:xfrm>
            <a:off x="1872974" y="5183599"/>
            <a:ext cx="1582484" cy="923330"/>
          </a:xfrm>
          <a:prstGeom prst="rect">
            <a:avLst/>
          </a:prstGeom>
          <a:noFill/>
        </p:spPr>
        <p:txBody>
          <a:bodyPr wrap="none" lIns="91440" tIns="45720" rIns="91440" bIns="45720">
            <a:spAutoFit/>
            <a:scene3d>
              <a:camera prst="perspectiveHeroicExtremeLeftFacing"/>
              <a:lightRig rig="soft" dir="tl">
                <a:rot lat="0" lon="0" rev="0"/>
              </a:lightRig>
            </a:scene3d>
            <a:sp3d contourW="25400" prstMaterial="matte">
              <a:bevelT w="25400" h="55880" prst="artDeco"/>
              <a:contourClr>
                <a:schemeClr val="accent2">
                  <a:tint val="20000"/>
                </a:schemeClr>
              </a:contourClr>
            </a:sp3d>
          </a:bodyPr>
          <a:lstStyle/>
          <a:p>
            <a:pPr algn="ctr"/>
            <a:r>
              <a:rPr lang="zh-TW"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技術</a:t>
            </a:r>
          </a:p>
        </p:txBody>
      </p:sp>
    </p:spTree>
    <p:extLst>
      <p:ext uri="{BB962C8B-B14F-4D97-AF65-F5344CB8AC3E}">
        <p14:creationId xmlns:p14="http://schemas.microsoft.com/office/powerpoint/2010/main" val="3616254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專利無所不在</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13</a:t>
            </a:fld>
            <a:endParaRPr lang="zh-TW" altLang="en-US" dirty="0">
              <a:solidFill>
                <a:prstClr val="black">
                  <a:tint val="75000"/>
                </a:prstClr>
              </a:solidFill>
            </a:endParaRPr>
          </a:p>
        </p:txBody>
      </p:sp>
      <p:sp>
        <p:nvSpPr>
          <p:cNvPr id="11" name="文字方塊 10"/>
          <p:cNvSpPr txBox="1"/>
          <p:nvPr/>
        </p:nvSpPr>
        <p:spPr>
          <a:xfrm>
            <a:off x="118592" y="796062"/>
            <a:ext cx="2236510" cy="492443"/>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統一超商公開公告專利</a:t>
            </a:r>
            <a:endParaRPr lang="en-US" altLang="zh-TW" sz="1600" dirty="0">
              <a:latin typeface="微軟正黑體" panose="020B0604030504040204" pitchFamily="34" charset="-120"/>
              <a:ea typeface="微軟正黑體" panose="020B0604030504040204" pitchFamily="34" charset="-120"/>
            </a:endParaRPr>
          </a:p>
          <a:p>
            <a:r>
              <a:rPr lang="en-US" altLang="zh-TW" sz="1000" dirty="0">
                <a:latin typeface="微軟正黑體" panose="020B0604030504040204" pitchFamily="34" charset="-120"/>
                <a:ea typeface="微軟正黑體" panose="020B0604030504040204" pitchFamily="34" charset="-120"/>
              </a:rPr>
              <a:t>113/6/21</a:t>
            </a:r>
            <a:r>
              <a:rPr lang="zh-TW" altLang="en-US" sz="1000" dirty="0">
                <a:latin typeface="微軟正黑體" panose="020B0604030504040204" pitchFamily="34" charset="-120"/>
                <a:ea typeface="微軟正黑體" panose="020B0604030504040204" pitchFamily="34" charset="-120"/>
              </a:rPr>
              <a:t>檢索</a:t>
            </a:r>
          </a:p>
        </p:txBody>
      </p:sp>
      <p:sp>
        <p:nvSpPr>
          <p:cNvPr id="25" name="文字方塊 24"/>
          <p:cNvSpPr txBox="1"/>
          <p:nvPr/>
        </p:nvSpPr>
        <p:spPr>
          <a:xfrm>
            <a:off x="2981186" y="821657"/>
            <a:ext cx="1839991" cy="338554"/>
          </a:xfrm>
          <a:prstGeom prst="rect">
            <a:avLst/>
          </a:prstGeom>
          <a:noFill/>
        </p:spPr>
        <p:txBody>
          <a:bodyPr wrap="none" rtlCol="0">
            <a:spAutoFit/>
          </a:bodyPr>
          <a:lstStyle/>
          <a:p>
            <a:r>
              <a:rPr lang="en-US" altLang="zh-TW" sz="1600" u="sng" dirty="0">
                <a:latin typeface="微軟正黑體" panose="020B0604030504040204" pitchFamily="34" charset="-120"/>
                <a:ea typeface="微軟正黑體" panose="020B0604030504040204" pitchFamily="34" charset="-120"/>
              </a:rPr>
              <a:t>TWD231470</a:t>
            </a:r>
            <a:r>
              <a:rPr lang="zh-TW" altLang="en-US" sz="1600" u="sng" dirty="0">
                <a:latin typeface="微軟正黑體" panose="020B0604030504040204" pitchFamily="34" charset="-120"/>
                <a:ea typeface="微軟正黑體" panose="020B0604030504040204" pitchFamily="34" charset="-120"/>
              </a:rPr>
              <a:t> 店鋪</a:t>
            </a:r>
          </a:p>
        </p:txBody>
      </p:sp>
      <p:pic>
        <p:nvPicPr>
          <p:cNvPr id="1027"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412566" y="1207176"/>
            <a:ext cx="2977232" cy="1438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72" y="1336381"/>
            <a:ext cx="2131971" cy="2936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文字方塊 27"/>
          <p:cNvSpPr txBox="1"/>
          <p:nvPr/>
        </p:nvSpPr>
        <p:spPr>
          <a:xfrm>
            <a:off x="6012160" y="796062"/>
            <a:ext cx="3018775" cy="492443"/>
          </a:xfrm>
          <a:prstGeom prst="rect">
            <a:avLst/>
          </a:prstGeom>
          <a:noFill/>
        </p:spPr>
        <p:txBody>
          <a:bodyPr wrap="none" rtlCol="0">
            <a:spAutoFit/>
          </a:bodyPr>
          <a:lstStyle/>
          <a:p>
            <a:r>
              <a:rPr lang="en-US" altLang="zh-TW" sz="1300" u="sng" dirty="0">
                <a:latin typeface="微軟正黑體" panose="020B0604030504040204" pitchFamily="34" charset="-120"/>
                <a:ea typeface="微軟正黑體" panose="020B0604030504040204" pitchFamily="34" charset="-120"/>
              </a:rPr>
              <a:t>TWM655984U</a:t>
            </a:r>
          </a:p>
          <a:p>
            <a:r>
              <a:rPr lang="zh-TW" altLang="en-US" sz="1300" u="sng" dirty="0">
                <a:latin typeface="微軟正黑體" panose="020B0604030504040204" pitchFamily="34" charset="-120"/>
                <a:ea typeface="微軟正黑體" panose="020B0604030504040204" pitchFamily="34" charset="-120"/>
              </a:rPr>
              <a:t>無紙化預購取貨之電子裝置與處理系統</a:t>
            </a:r>
          </a:p>
        </p:txBody>
      </p:sp>
      <p:pic>
        <p:nvPicPr>
          <p:cNvPr id="1029" name="Picture 5"/>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796136" y="1524384"/>
            <a:ext cx="1081738" cy="17830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321618" y="1293689"/>
            <a:ext cx="1709317" cy="22444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文字方塊 30"/>
          <p:cNvSpPr txBox="1"/>
          <p:nvPr/>
        </p:nvSpPr>
        <p:spPr>
          <a:xfrm>
            <a:off x="231651" y="4197328"/>
            <a:ext cx="1851789" cy="492443"/>
          </a:xfrm>
          <a:prstGeom prst="rect">
            <a:avLst/>
          </a:prstGeom>
          <a:noFill/>
        </p:spPr>
        <p:txBody>
          <a:bodyPr wrap="none" rtlCol="0">
            <a:spAutoFit/>
          </a:bodyPr>
          <a:lstStyle/>
          <a:p>
            <a:r>
              <a:rPr lang="en-US" altLang="zh-TW" sz="1300" u="sng" dirty="0">
                <a:latin typeface="微軟正黑體" panose="020B0604030504040204" pitchFamily="34" charset="-120"/>
                <a:ea typeface="微軟正黑體" panose="020B0604030504040204" pitchFamily="34" charset="-120"/>
              </a:rPr>
              <a:t>TWI1824816B </a:t>
            </a:r>
          </a:p>
          <a:p>
            <a:r>
              <a:rPr lang="zh-TW" altLang="en-US" sz="1300" u="sng" dirty="0">
                <a:latin typeface="微軟正黑體" panose="020B0604030504040204" pitchFamily="34" charset="-120"/>
                <a:ea typeface="微軟正黑體" panose="020B0604030504040204" pitchFamily="34" charset="-120"/>
              </a:rPr>
              <a:t>提袋及提袋的使用方法</a:t>
            </a:r>
            <a:endParaRPr lang="en-US" altLang="zh-TW" sz="1300" u="sng" dirty="0">
              <a:latin typeface="微軟正黑體" panose="020B0604030504040204" pitchFamily="34" charset="-120"/>
              <a:ea typeface="微軟正黑體" panose="020B0604030504040204" pitchFamily="34" charset="-120"/>
            </a:endParaRPr>
          </a:p>
        </p:txBody>
      </p:sp>
      <p:pic>
        <p:nvPicPr>
          <p:cNvPr id="1031" name="Picture 7"/>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456924" y="4691176"/>
            <a:ext cx="1401242" cy="19785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 name="文字方塊 32"/>
          <p:cNvSpPr txBox="1"/>
          <p:nvPr/>
        </p:nvSpPr>
        <p:spPr>
          <a:xfrm>
            <a:off x="2627784" y="2924944"/>
            <a:ext cx="3017364" cy="292388"/>
          </a:xfrm>
          <a:prstGeom prst="rect">
            <a:avLst/>
          </a:prstGeom>
          <a:noFill/>
        </p:spPr>
        <p:txBody>
          <a:bodyPr wrap="none" rtlCol="0">
            <a:spAutoFit/>
          </a:bodyPr>
          <a:lstStyle/>
          <a:p>
            <a:r>
              <a:rPr lang="en-US" altLang="zh-TW" sz="1300" u="sng" dirty="0">
                <a:latin typeface="微軟正黑體" panose="020B0604030504040204" pitchFamily="34" charset="-120"/>
                <a:ea typeface="微軟正黑體" panose="020B0604030504040204" pitchFamily="34" charset="-120"/>
              </a:rPr>
              <a:t>TWM635910U </a:t>
            </a:r>
            <a:r>
              <a:rPr lang="zh-TW" altLang="en-US" sz="1300" u="sng" dirty="0">
                <a:latin typeface="微軟正黑體" panose="020B0604030504040204" pitchFamily="34" charset="-120"/>
                <a:ea typeface="微軟正黑體" panose="020B0604030504040204" pitchFamily="34" charset="-120"/>
              </a:rPr>
              <a:t>可定量落冰之製冰裝置</a:t>
            </a:r>
            <a:endParaRPr lang="en-US" altLang="zh-TW" sz="1300" u="sng" dirty="0">
              <a:latin typeface="微軟正黑體" panose="020B0604030504040204" pitchFamily="34" charset="-120"/>
              <a:ea typeface="微軟正黑體" panose="020B0604030504040204" pitchFamily="34" charset="-120"/>
            </a:endParaRPr>
          </a:p>
        </p:txBody>
      </p:sp>
      <p:pic>
        <p:nvPicPr>
          <p:cNvPr id="1032" name="Picture 8"/>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3320168" y="3356992"/>
            <a:ext cx="1490591" cy="19405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ture 9"/>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2956789" y="5281904"/>
            <a:ext cx="2217347" cy="12309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文字方塊 35"/>
          <p:cNvSpPr txBox="1"/>
          <p:nvPr/>
        </p:nvSpPr>
        <p:spPr>
          <a:xfrm>
            <a:off x="5868144" y="3789040"/>
            <a:ext cx="2517228" cy="292388"/>
          </a:xfrm>
          <a:prstGeom prst="rect">
            <a:avLst/>
          </a:prstGeom>
          <a:noFill/>
        </p:spPr>
        <p:txBody>
          <a:bodyPr wrap="none" rtlCol="0">
            <a:spAutoFit/>
          </a:bodyPr>
          <a:lstStyle/>
          <a:p>
            <a:r>
              <a:rPr lang="en-US" altLang="zh-TW" sz="1300" u="sng" dirty="0">
                <a:latin typeface="微軟正黑體" panose="020B0604030504040204" pitchFamily="34" charset="-120"/>
                <a:ea typeface="微軟正黑體" panose="020B0604030504040204" pitchFamily="34" charset="-120"/>
              </a:rPr>
              <a:t>TWM593015U </a:t>
            </a:r>
            <a:r>
              <a:rPr lang="zh-TW" altLang="en-US" sz="1300" u="sng" dirty="0">
                <a:latin typeface="微軟正黑體" panose="020B0604030504040204" pitchFamily="34" charset="-120"/>
                <a:ea typeface="微軟正黑體" panose="020B0604030504040204" pitchFamily="34" charset="-120"/>
              </a:rPr>
              <a:t>智能銷售飲料機</a:t>
            </a:r>
            <a:endParaRPr lang="en-US" altLang="zh-TW" sz="1300" u="sng" dirty="0">
              <a:latin typeface="微軟正黑體" panose="020B0604030504040204" pitchFamily="34" charset="-120"/>
              <a:ea typeface="微軟正黑體" panose="020B0604030504040204" pitchFamily="34" charset="-120"/>
            </a:endParaRPr>
          </a:p>
        </p:txBody>
      </p:sp>
      <p:pic>
        <p:nvPicPr>
          <p:cNvPr id="1035" name="Picture 11"/>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6023774" y="4086860"/>
            <a:ext cx="2399666" cy="2330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7102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14</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專利制度</a:t>
            </a:r>
          </a:p>
        </p:txBody>
      </p:sp>
    </p:spTree>
    <p:extLst>
      <p:ext uri="{BB962C8B-B14F-4D97-AF65-F5344CB8AC3E}">
        <p14:creationId xmlns:p14="http://schemas.microsoft.com/office/powerpoint/2010/main" val="1043018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思想家的免费插图">
            <a:extLst>
              <a:ext uri="{FF2B5EF4-FFF2-40B4-BE49-F238E27FC236}">
                <a16:creationId xmlns:a16="http://schemas.microsoft.com/office/drawing/2014/main" id="{92FE7479-2454-7919-32C6-A5B732CCD1C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43000" y="4437112"/>
            <a:ext cx="2420888" cy="2420888"/>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66454F85-51EA-7117-7643-2B14D6E72D1C}"/>
              </a:ext>
            </a:extLst>
          </p:cNvPr>
          <p:cNvSpPr>
            <a:spLocks noGrp="1"/>
          </p:cNvSpPr>
          <p:nvPr>
            <p:ph type="title"/>
          </p:nvPr>
        </p:nvSpPr>
        <p:spPr/>
        <p:txBody>
          <a:bodyPr/>
          <a:lstStyle/>
          <a:p>
            <a:r>
              <a:rPr lang="zh-TW" altLang="en-US" dirty="0"/>
              <a:t>專利制度的多面向</a:t>
            </a:r>
          </a:p>
        </p:txBody>
      </p:sp>
      <p:sp>
        <p:nvSpPr>
          <p:cNvPr id="60" name="投影片編號版面配置區 59">
            <a:extLst>
              <a:ext uri="{FF2B5EF4-FFF2-40B4-BE49-F238E27FC236}">
                <a16:creationId xmlns:a16="http://schemas.microsoft.com/office/drawing/2014/main" id="{BDC4DC1A-2CB2-7418-DE19-50712662842B}"/>
              </a:ext>
            </a:extLst>
          </p:cNvPr>
          <p:cNvSpPr>
            <a:spLocks noGrp="1"/>
          </p:cNvSpPr>
          <p:nvPr>
            <p:ph type="sldNum" sz="quarter" idx="12"/>
          </p:nvPr>
        </p:nvSpPr>
        <p:spPr/>
        <p:txBody>
          <a:bodyPr/>
          <a:lstStyle/>
          <a:p>
            <a:fld id="{254D4C32-7A1A-45A5-84ED-81747F1ABFAE}" type="slidenum">
              <a:rPr lang="zh-TW" altLang="en-US" smtClean="0"/>
              <a:t>15</a:t>
            </a:fld>
            <a:endParaRPr lang="zh-TW" altLang="en-US"/>
          </a:p>
        </p:txBody>
      </p:sp>
      <p:grpSp>
        <p:nvGrpSpPr>
          <p:cNvPr id="3" name="群組 2">
            <a:extLst>
              <a:ext uri="{FF2B5EF4-FFF2-40B4-BE49-F238E27FC236}">
                <a16:creationId xmlns:a16="http://schemas.microsoft.com/office/drawing/2014/main" id="{F25F30C5-C1AA-6765-1044-558E9AEDE138}"/>
              </a:ext>
            </a:extLst>
          </p:cNvPr>
          <p:cNvGrpSpPr/>
          <p:nvPr/>
        </p:nvGrpSpPr>
        <p:grpSpPr>
          <a:xfrm>
            <a:off x="1522671" y="1556792"/>
            <a:ext cx="2902148" cy="3395290"/>
            <a:chOff x="253" y="580925"/>
            <a:chExt cx="2902148" cy="2902148"/>
          </a:xfrm>
          <a:scene3d>
            <a:camera prst="orthographicFront"/>
            <a:lightRig rig="flat" dir="t"/>
          </a:scene3d>
        </p:grpSpPr>
        <p:sp>
          <p:nvSpPr>
            <p:cNvPr id="8" name="箭號: 向上 7">
              <a:extLst>
                <a:ext uri="{FF2B5EF4-FFF2-40B4-BE49-F238E27FC236}">
                  <a16:creationId xmlns:a16="http://schemas.microsoft.com/office/drawing/2014/main" id="{4029E7A3-8C62-4C7D-36AC-779BF4C2BF9B}"/>
                </a:ext>
              </a:extLst>
            </p:cNvPr>
            <p:cNvSpPr/>
            <p:nvPr/>
          </p:nvSpPr>
          <p:spPr>
            <a:xfrm rot="16200000">
              <a:off x="253" y="580925"/>
              <a:ext cx="2902148" cy="2902148"/>
            </a:xfrm>
            <a:prstGeom prst="upArrow">
              <a:avLst>
                <a:gd name="adj1" fmla="val 50000"/>
                <a:gd name="adj2" fmla="val 35000"/>
              </a:avLst>
            </a:prstGeom>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9" name="箭號: 向上 4">
              <a:extLst>
                <a:ext uri="{FF2B5EF4-FFF2-40B4-BE49-F238E27FC236}">
                  <a16:creationId xmlns:a16="http://schemas.microsoft.com/office/drawing/2014/main" id="{22602EE6-27FF-0B43-E573-A1969E1685F3}"/>
                </a:ext>
              </a:extLst>
            </p:cNvPr>
            <p:cNvSpPr txBox="1"/>
            <p:nvPr/>
          </p:nvSpPr>
          <p:spPr>
            <a:xfrm>
              <a:off x="311696" y="1306462"/>
              <a:ext cx="2590705" cy="145107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348488" tIns="348488" rIns="108000" bIns="348488" numCol="1" spcCol="1270" anchor="ctr" anchorCtr="0">
              <a:noAutofit/>
            </a:bodyPr>
            <a:lstStyle/>
            <a:p>
              <a:pPr marL="342900" lvl="0" indent="-342900" defTabSz="2178050">
                <a:lnSpc>
                  <a:spcPct val="90000"/>
                </a:lnSpc>
                <a:spcBef>
                  <a:spcPct val="0"/>
                </a:spcBef>
                <a:spcAft>
                  <a:spcPct val="35000"/>
                </a:spcAft>
                <a:buFont typeface="Arial" panose="020B0604020202020204" pitchFamily="34" charset="0"/>
                <a:buChar char="•"/>
              </a:pPr>
              <a:r>
                <a:rPr lang="zh-TW" altLang="en-US" sz="2000" kern="1200" dirty="0">
                  <a:latin typeface="微軟正黑體" panose="020B0604030504040204" pitchFamily="34" charset="-120"/>
                  <a:ea typeface="微軟正黑體" panose="020B0604030504040204" pitchFamily="34" charset="-120"/>
                </a:rPr>
                <a:t>壟斷</a:t>
              </a:r>
              <a:endParaRPr lang="en-US" altLang="zh-TW" sz="2000" kern="1200" dirty="0">
                <a:latin typeface="微軟正黑體" panose="020B0604030504040204" pitchFamily="34" charset="-120"/>
                <a:ea typeface="微軟正黑體" panose="020B0604030504040204" pitchFamily="34" charset="-120"/>
              </a:endParaRPr>
            </a:p>
            <a:p>
              <a:pPr marL="342900" lvl="0" indent="-342900" defTabSz="2178050">
                <a:lnSpc>
                  <a:spcPct val="90000"/>
                </a:lnSpc>
                <a:spcBef>
                  <a:spcPct val="0"/>
                </a:spcBef>
                <a:spcAft>
                  <a:spcPct val="350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阻礙技術研發</a:t>
              </a:r>
              <a:endParaRPr lang="en-US" altLang="zh-TW" sz="2000" dirty="0">
                <a:latin typeface="微軟正黑體" panose="020B0604030504040204" pitchFamily="34" charset="-120"/>
                <a:ea typeface="微軟正黑體" panose="020B0604030504040204" pitchFamily="34" charset="-120"/>
              </a:endParaRPr>
            </a:p>
            <a:p>
              <a:pPr marL="342900" lvl="0" indent="-342900" defTabSz="2178050">
                <a:lnSpc>
                  <a:spcPct val="90000"/>
                </a:lnSpc>
                <a:spcBef>
                  <a:spcPct val="0"/>
                </a:spcBef>
                <a:spcAft>
                  <a:spcPct val="35000"/>
                </a:spcAft>
                <a:buFont typeface="Arial" panose="020B0604020202020204" pitchFamily="34" charset="0"/>
                <a:buChar char="•"/>
              </a:pPr>
              <a:r>
                <a:rPr lang="zh-TW" altLang="en-US" sz="2000" kern="1200" dirty="0">
                  <a:latin typeface="微軟正黑體" panose="020B0604030504040204" pitchFamily="34" charset="-120"/>
                  <a:ea typeface="微軟正黑體" panose="020B0604030504040204" pitchFamily="34" charset="-120"/>
                </a:rPr>
                <a:t>高成本</a:t>
              </a:r>
              <a:endParaRPr lang="en-US" altLang="zh-TW" sz="2000" kern="1200" dirty="0">
                <a:latin typeface="微軟正黑體" panose="020B0604030504040204" pitchFamily="34" charset="-120"/>
                <a:ea typeface="微軟正黑體" panose="020B0604030504040204" pitchFamily="34" charset="-120"/>
              </a:endParaRPr>
            </a:p>
            <a:p>
              <a:pPr marL="342900" lvl="0" indent="-342900" defTabSz="2178050">
                <a:lnSpc>
                  <a:spcPct val="90000"/>
                </a:lnSpc>
                <a:spcBef>
                  <a:spcPct val="0"/>
                </a:spcBef>
                <a:spcAft>
                  <a:spcPct val="350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保護有心濫用者</a:t>
              </a:r>
              <a:endParaRPr lang="zh-CN" altLang="en-US" sz="2000" kern="1200" dirty="0">
                <a:latin typeface="微軟正黑體" panose="020B0604030504040204" pitchFamily="34" charset="-120"/>
                <a:ea typeface="微軟正黑體" panose="020B0604030504040204" pitchFamily="34" charset="-120"/>
              </a:endParaRPr>
            </a:p>
          </p:txBody>
        </p:sp>
      </p:grpSp>
      <p:grpSp>
        <p:nvGrpSpPr>
          <p:cNvPr id="4" name="群組 3">
            <a:extLst>
              <a:ext uri="{FF2B5EF4-FFF2-40B4-BE49-F238E27FC236}">
                <a16:creationId xmlns:a16="http://schemas.microsoft.com/office/drawing/2014/main" id="{0702ED04-8A9E-41CA-714F-6E31858195B6}"/>
              </a:ext>
            </a:extLst>
          </p:cNvPr>
          <p:cNvGrpSpPr/>
          <p:nvPr/>
        </p:nvGrpSpPr>
        <p:grpSpPr>
          <a:xfrm>
            <a:off x="4716016" y="1556792"/>
            <a:ext cx="2902148" cy="3395290"/>
            <a:chOff x="3193598" y="580925"/>
            <a:chExt cx="2902148" cy="2902148"/>
          </a:xfrm>
          <a:scene3d>
            <a:camera prst="orthographicFront"/>
            <a:lightRig rig="flat" dir="t"/>
          </a:scene3d>
        </p:grpSpPr>
        <p:sp>
          <p:nvSpPr>
            <p:cNvPr id="6" name="箭號: 向上 5">
              <a:extLst>
                <a:ext uri="{FF2B5EF4-FFF2-40B4-BE49-F238E27FC236}">
                  <a16:creationId xmlns:a16="http://schemas.microsoft.com/office/drawing/2014/main" id="{C125E56C-AB49-1815-C551-7B251761C051}"/>
                </a:ext>
              </a:extLst>
            </p:cNvPr>
            <p:cNvSpPr/>
            <p:nvPr/>
          </p:nvSpPr>
          <p:spPr>
            <a:xfrm rot="5400000">
              <a:off x="3193598" y="580925"/>
              <a:ext cx="2902148" cy="2902148"/>
            </a:xfrm>
            <a:prstGeom prst="upArrow">
              <a:avLst>
                <a:gd name="adj1" fmla="val 50000"/>
                <a:gd name="adj2" fmla="val 35000"/>
              </a:avLst>
            </a:prstGeom>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7" name="箭號: 向上 6">
              <a:extLst>
                <a:ext uri="{FF2B5EF4-FFF2-40B4-BE49-F238E27FC236}">
                  <a16:creationId xmlns:a16="http://schemas.microsoft.com/office/drawing/2014/main" id="{368D9C07-9CA9-0C59-8EA6-5568C9C1DA46}"/>
                </a:ext>
              </a:extLst>
            </p:cNvPr>
            <p:cNvSpPr txBox="1"/>
            <p:nvPr/>
          </p:nvSpPr>
          <p:spPr>
            <a:xfrm>
              <a:off x="3193598" y="1306462"/>
              <a:ext cx="2734722" cy="145107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348488" tIns="348488" rIns="348488" bIns="348488" numCol="1" spcCol="1270" anchor="ctr" anchorCtr="0">
              <a:noAutofit/>
            </a:bodyPr>
            <a:lstStyle/>
            <a:p>
              <a:pPr marL="342900" lvl="0" indent="-342900" defTabSz="2178050">
                <a:lnSpc>
                  <a:spcPct val="90000"/>
                </a:lnSpc>
                <a:spcBef>
                  <a:spcPct val="0"/>
                </a:spcBef>
                <a:spcAft>
                  <a:spcPct val="35000"/>
                </a:spcAft>
                <a:buFont typeface="Arial" panose="020B0604020202020204" pitchFamily="34" charset="0"/>
                <a:buChar char="•"/>
              </a:pPr>
              <a:r>
                <a:rPr lang="zh-TW" altLang="en-US" sz="2000" b="1" kern="1200" dirty="0">
                  <a:solidFill>
                    <a:schemeClr val="tx1"/>
                  </a:solidFill>
                  <a:latin typeface="微軟正黑體" panose="020B0604030504040204" pitchFamily="34" charset="-120"/>
                  <a:ea typeface="微軟正黑體" panose="020B0604030504040204" pitchFamily="34" charset="-120"/>
                </a:rPr>
                <a:t>專有</a:t>
              </a:r>
              <a:endParaRPr lang="en-US" altLang="zh-TW" sz="2000" b="1" kern="1200" dirty="0">
                <a:solidFill>
                  <a:schemeClr val="tx1"/>
                </a:solidFill>
                <a:latin typeface="微軟正黑體" panose="020B0604030504040204" pitchFamily="34" charset="-120"/>
                <a:ea typeface="微軟正黑體" panose="020B0604030504040204" pitchFamily="34" charset="-120"/>
              </a:endParaRPr>
            </a:p>
            <a:p>
              <a:pPr marL="342900" lvl="0" indent="-342900" defTabSz="2178050">
                <a:lnSpc>
                  <a:spcPct val="90000"/>
                </a:lnSpc>
                <a:spcBef>
                  <a:spcPct val="0"/>
                </a:spcBef>
                <a:spcAft>
                  <a:spcPct val="35000"/>
                </a:spcAft>
                <a:buFont typeface="Arial" panose="020B0604020202020204" pitchFamily="34" charset="0"/>
                <a:buChar char="•"/>
              </a:pPr>
              <a:r>
                <a:rPr lang="zh-TW" altLang="en-US" sz="2000" b="1" kern="1200" dirty="0">
                  <a:solidFill>
                    <a:schemeClr val="tx1"/>
                  </a:solidFill>
                  <a:latin typeface="微軟正黑體" panose="020B0604030504040204" pitchFamily="34" charset="-120"/>
                  <a:ea typeface="微軟正黑體" panose="020B0604030504040204" pitchFamily="34" charset="-120"/>
                </a:rPr>
                <a:t>促進技術發展</a:t>
              </a:r>
              <a:endParaRPr lang="en-US" altLang="zh-TW" sz="2000" b="1" kern="1200" dirty="0">
                <a:solidFill>
                  <a:schemeClr val="tx1"/>
                </a:solidFill>
                <a:latin typeface="微軟正黑體" panose="020B0604030504040204" pitchFamily="34" charset="-120"/>
                <a:ea typeface="微軟正黑體" panose="020B0604030504040204" pitchFamily="34" charset="-120"/>
              </a:endParaRPr>
            </a:p>
            <a:p>
              <a:pPr marL="342900" lvl="0" indent="-342900" defTabSz="2178050">
                <a:lnSpc>
                  <a:spcPct val="90000"/>
                </a:lnSpc>
                <a:spcBef>
                  <a:spcPct val="0"/>
                </a:spcBef>
                <a:spcAft>
                  <a:spcPct val="35000"/>
                </a:spcAft>
                <a:buFont typeface="Arial" panose="020B0604020202020204" pitchFamily="34" charset="0"/>
                <a:buChar char="•"/>
              </a:pPr>
              <a:r>
                <a:rPr lang="zh-TW" altLang="en-US" sz="2000" b="1" dirty="0">
                  <a:solidFill>
                    <a:schemeClr val="tx1"/>
                  </a:solidFill>
                  <a:latin typeface="微軟正黑體" panose="020B0604030504040204" pitchFamily="34" charset="-120"/>
                  <a:ea typeface="微軟正黑體" panose="020B0604030504040204" pitchFamily="34" charset="-120"/>
                </a:rPr>
                <a:t>高利潤</a:t>
              </a:r>
              <a:endParaRPr lang="en-US" altLang="zh-TW" sz="2000" b="1" dirty="0">
                <a:solidFill>
                  <a:schemeClr val="tx1"/>
                </a:solidFill>
                <a:latin typeface="微軟正黑體" panose="020B0604030504040204" pitchFamily="34" charset="-120"/>
                <a:ea typeface="微軟正黑體" panose="020B0604030504040204" pitchFamily="34" charset="-120"/>
              </a:endParaRPr>
            </a:p>
            <a:p>
              <a:pPr marL="342900" lvl="0" indent="-342900" defTabSz="2178050">
                <a:lnSpc>
                  <a:spcPct val="90000"/>
                </a:lnSpc>
                <a:spcBef>
                  <a:spcPct val="0"/>
                </a:spcBef>
                <a:spcAft>
                  <a:spcPct val="35000"/>
                </a:spcAft>
                <a:buFont typeface="Arial" panose="020B0604020202020204" pitchFamily="34" charset="0"/>
                <a:buChar char="•"/>
              </a:pPr>
              <a:r>
                <a:rPr lang="zh-TW" altLang="en-US" sz="2000" b="1" kern="1200" dirty="0">
                  <a:solidFill>
                    <a:schemeClr val="tx1"/>
                  </a:solidFill>
                  <a:latin typeface="微軟正黑體" panose="020B0604030504040204" pitchFamily="34" charset="-120"/>
                  <a:ea typeface="微軟正黑體" panose="020B0604030504040204" pitchFamily="34" charset="-120"/>
                </a:rPr>
                <a:t>保護</a:t>
              </a:r>
              <a:r>
                <a:rPr lang="zh-TW" altLang="en-US" sz="2000" b="1" dirty="0">
                  <a:solidFill>
                    <a:schemeClr val="tx1"/>
                  </a:solidFill>
                  <a:latin typeface="微軟正黑體" panose="020B0604030504040204" pitchFamily="34" charset="-120"/>
                  <a:ea typeface="微軟正黑體" panose="020B0604030504040204" pitchFamily="34" charset="-120"/>
                </a:rPr>
                <a:t>研發</a:t>
              </a:r>
              <a:r>
                <a:rPr lang="zh-TW" altLang="en-US" sz="2000" b="1" kern="1200" dirty="0">
                  <a:solidFill>
                    <a:schemeClr val="tx1"/>
                  </a:solidFill>
                  <a:latin typeface="微軟正黑體" panose="020B0604030504040204" pitchFamily="34" charset="-120"/>
                  <a:ea typeface="微軟正黑體" panose="020B0604030504040204" pitchFamily="34" charset="-120"/>
                </a:rPr>
                <a:t>者</a:t>
              </a:r>
              <a:endParaRPr lang="zh-CN" altLang="en-US" sz="2000" b="1" kern="1200" dirty="0">
                <a:solidFill>
                  <a:schemeClr val="tx1"/>
                </a:solidFill>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645785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群組 26">
            <a:extLst>
              <a:ext uri="{FF2B5EF4-FFF2-40B4-BE49-F238E27FC236}">
                <a16:creationId xmlns:a16="http://schemas.microsoft.com/office/drawing/2014/main" id="{2D42477F-CC28-FBED-CC82-BDDEE4D64D96}"/>
              </a:ext>
            </a:extLst>
          </p:cNvPr>
          <p:cNvGrpSpPr/>
          <p:nvPr/>
        </p:nvGrpSpPr>
        <p:grpSpPr>
          <a:xfrm>
            <a:off x="4952729" y="1009432"/>
            <a:ext cx="3816423" cy="5616624"/>
            <a:chOff x="416227" y="1070392"/>
            <a:chExt cx="3816423" cy="5616624"/>
          </a:xfrm>
        </p:grpSpPr>
        <p:sp>
          <p:nvSpPr>
            <p:cNvPr id="21" name="矩形 20">
              <a:extLst>
                <a:ext uri="{FF2B5EF4-FFF2-40B4-BE49-F238E27FC236}">
                  <a16:creationId xmlns:a16="http://schemas.microsoft.com/office/drawing/2014/main" id="{A87AAF28-D8B3-B24A-D2AE-B3C1407670D2}"/>
                </a:ext>
              </a:extLst>
            </p:cNvPr>
            <p:cNvSpPr/>
            <p:nvPr/>
          </p:nvSpPr>
          <p:spPr>
            <a:xfrm>
              <a:off x="416227" y="1615088"/>
              <a:ext cx="3816423" cy="5071928"/>
            </a:xfrm>
            <a:prstGeom prst="rect">
              <a:avLst/>
            </a:prstGeom>
          </p:spPr>
          <p:style>
            <a:lnRef idx="1">
              <a:schemeClr val="accent3"/>
            </a:lnRef>
            <a:fillRef idx="2">
              <a:schemeClr val="accent3"/>
            </a:fillRef>
            <a:effectRef idx="1">
              <a:schemeClr val="accent3"/>
            </a:effectRef>
            <a:fontRef idx="minor">
              <a:schemeClr val="dk1"/>
            </a:fontRef>
          </p:style>
          <p:txBody>
            <a:bodyPr tIns="108000" rtlCol="0" anchor="t" anchorCtr="0"/>
            <a:lstStyle/>
            <a:p>
              <a:pPr marL="285750" indent="-285750">
                <a:lnSpc>
                  <a:spcPts val="2400"/>
                </a:lnSpc>
                <a:spcAft>
                  <a:spcPts val="12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鼓勵創新、保護智慧成果：賦予專有排他權利，保護創作人研發成果</a:t>
              </a:r>
              <a:endParaRPr lang="en-US" altLang="zh-TW" sz="2000" dirty="0">
                <a:latin typeface="微軟正黑體" panose="020B0604030504040204" pitchFamily="34" charset="-120"/>
                <a:ea typeface="微軟正黑體" panose="020B0604030504040204" pitchFamily="34" charset="-120"/>
              </a:endParaRPr>
            </a:p>
            <a:p>
              <a:pPr marL="285750" indent="-285750">
                <a:lnSpc>
                  <a:spcPts val="2400"/>
                </a:lnSpc>
                <a:spcAft>
                  <a:spcPts val="12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促進產業發展：透過專利制度，促進產業競爭，投入研究發展</a:t>
              </a:r>
              <a:endParaRPr lang="en-US" altLang="zh-TW" sz="2000" dirty="0">
                <a:latin typeface="微軟正黑體" panose="020B0604030504040204" pitchFamily="34" charset="-120"/>
                <a:ea typeface="微軟正黑體" panose="020B0604030504040204" pitchFamily="34" charset="-120"/>
              </a:endParaRPr>
            </a:p>
            <a:p>
              <a:pPr marL="285750" indent="-285750">
                <a:lnSpc>
                  <a:spcPts val="2400"/>
                </a:lnSpc>
                <a:spcAft>
                  <a:spcPts val="12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加速科技進步、知識共享：專利公開制度，讓創作延續發展，加速科技進步</a:t>
              </a:r>
              <a:endParaRPr lang="en-US" altLang="zh-TW" sz="2000" dirty="0">
                <a:latin typeface="微軟正黑體" panose="020B0604030504040204" pitchFamily="34" charset="-120"/>
                <a:ea typeface="微軟正黑體" panose="020B0604030504040204" pitchFamily="34" charset="-120"/>
              </a:endParaRPr>
            </a:p>
            <a:p>
              <a:pPr marL="285750" indent="-285750">
                <a:lnSpc>
                  <a:spcPts val="2400"/>
                </a:lnSpc>
                <a:spcAft>
                  <a:spcPts val="12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提高價值、增加利潤：專利轉為商業價值，讓企業或發明人獲利</a:t>
              </a:r>
              <a:endParaRPr lang="en-US" altLang="zh-TW" sz="2000" dirty="0">
                <a:latin typeface="微軟正黑體" panose="020B0604030504040204" pitchFamily="34" charset="-120"/>
                <a:ea typeface="微軟正黑體" panose="020B0604030504040204" pitchFamily="34" charset="-120"/>
              </a:endParaRPr>
            </a:p>
            <a:p>
              <a:pPr marL="285750" indent="-285750">
                <a:lnSpc>
                  <a:spcPts val="2400"/>
                </a:lnSpc>
                <a:spcAft>
                  <a:spcPts val="1200"/>
                </a:spcAft>
                <a:buFont typeface="Arial" panose="020B0604020202020204" pitchFamily="34" charset="0"/>
                <a:buChar char="•"/>
              </a:pPr>
              <a:endParaRPr lang="en-US" altLang="zh-TW" sz="2000" dirty="0">
                <a:latin typeface="微軟正黑體" panose="020B0604030504040204" pitchFamily="34" charset="-120"/>
                <a:ea typeface="微軟正黑體" panose="020B0604030504040204" pitchFamily="34" charset="-120"/>
              </a:endParaRPr>
            </a:p>
            <a:p>
              <a:pPr marL="285750" indent="-285750">
                <a:lnSpc>
                  <a:spcPts val="2400"/>
                </a:lnSpc>
                <a:spcAft>
                  <a:spcPts val="1200"/>
                </a:spcAft>
                <a:buFont typeface="Arial" panose="020B0604020202020204" pitchFamily="34" charset="0"/>
                <a:buChar char="•"/>
              </a:pPr>
              <a:endParaRPr lang="zh-TW" altLang="en-US" sz="2000" dirty="0">
                <a:latin typeface="微軟正黑體" panose="020B0604030504040204" pitchFamily="34" charset="-120"/>
                <a:ea typeface="微軟正黑體" panose="020B0604030504040204" pitchFamily="34" charset="-120"/>
              </a:endParaRPr>
            </a:p>
          </p:txBody>
        </p:sp>
        <p:sp>
          <p:nvSpPr>
            <p:cNvPr id="22" name="矩形: 圓角 21">
              <a:extLst>
                <a:ext uri="{FF2B5EF4-FFF2-40B4-BE49-F238E27FC236}">
                  <a16:creationId xmlns:a16="http://schemas.microsoft.com/office/drawing/2014/main" id="{57FF561D-5B33-80D6-7480-F0043477D31D}"/>
                </a:ext>
              </a:extLst>
            </p:cNvPr>
            <p:cNvSpPr/>
            <p:nvPr/>
          </p:nvSpPr>
          <p:spPr>
            <a:xfrm>
              <a:off x="416227" y="1070392"/>
              <a:ext cx="3816422" cy="504056"/>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TW" altLang="en-US" sz="2400" b="1" dirty="0">
                  <a:solidFill>
                    <a:schemeClr val="tx1"/>
                  </a:solidFill>
                  <a:latin typeface="微軟正黑體" panose="020B0604030504040204" pitchFamily="34" charset="-120"/>
                  <a:ea typeface="微軟正黑體" panose="020B0604030504040204" pitchFamily="34" charset="-120"/>
                </a:rPr>
                <a:t>專利制度優點</a:t>
              </a:r>
            </a:p>
          </p:txBody>
        </p:sp>
      </p:grpSp>
      <p:grpSp>
        <p:nvGrpSpPr>
          <p:cNvPr id="26" name="群組 25">
            <a:extLst>
              <a:ext uri="{FF2B5EF4-FFF2-40B4-BE49-F238E27FC236}">
                <a16:creationId xmlns:a16="http://schemas.microsoft.com/office/drawing/2014/main" id="{5C640F9C-6AFB-39D4-DD79-52C3EF3CA9B5}"/>
              </a:ext>
            </a:extLst>
          </p:cNvPr>
          <p:cNvGrpSpPr/>
          <p:nvPr/>
        </p:nvGrpSpPr>
        <p:grpSpPr>
          <a:xfrm>
            <a:off x="395537" y="1009432"/>
            <a:ext cx="3816423" cy="5651008"/>
            <a:chOff x="4952729" y="1036008"/>
            <a:chExt cx="3816423" cy="5651008"/>
          </a:xfrm>
        </p:grpSpPr>
        <p:sp>
          <p:nvSpPr>
            <p:cNvPr id="20" name="矩形 19">
              <a:extLst>
                <a:ext uri="{FF2B5EF4-FFF2-40B4-BE49-F238E27FC236}">
                  <a16:creationId xmlns:a16="http://schemas.microsoft.com/office/drawing/2014/main" id="{3899FE98-CE42-D356-85C3-1556EA90A7B5}"/>
                </a:ext>
              </a:extLst>
            </p:cNvPr>
            <p:cNvSpPr/>
            <p:nvPr/>
          </p:nvSpPr>
          <p:spPr>
            <a:xfrm>
              <a:off x="4952729" y="1574448"/>
              <a:ext cx="3816423" cy="5112568"/>
            </a:xfrm>
            <a:prstGeom prst="rect">
              <a:avLst/>
            </a:prstGeom>
          </p:spPr>
          <p:style>
            <a:lnRef idx="1">
              <a:schemeClr val="accent6"/>
            </a:lnRef>
            <a:fillRef idx="2">
              <a:schemeClr val="accent6"/>
            </a:fillRef>
            <a:effectRef idx="1">
              <a:schemeClr val="accent6"/>
            </a:effectRef>
            <a:fontRef idx="minor">
              <a:schemeClr val="dk1"/>
            </a:fontRef>
          </p:style>
          <p:txBody>
            <a:bodyPr tIns="108000" rtlCol="0" anchor="t" anchorCtr="0"/>
            <a:lstStyle/>
            <a:p>
              <a:pPr marL="285750" indent="-285750">
                <a:lnSpc>
                  <a:spcPts val="2400"/>
                </a:lnSpc>
                <a:spcAft>
                  <a:spcPts val="12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壟斷：大型公司資本雄厚，通過專利獲得市場優勢，製造進入門檻</a:t>
              </a:r>
              <a:endParaRPr lang="en-US" altLang="zh-TW" sz="2000" dirty="0">
                <a:latin typeface="微軟正黑體" panose="020B0604030504040204" pitchFamily="34" charset="-120"/>
                <a:ea typeface="微軟正黑體" panose="020B0604030504040204" pitchFamily="34" charset="-120"/>
              </a:endParaRPr>
            </a:p>
            <a:p>
              <a:pPr marL="285750" indent="-285750">
                <a:lnSpc>
                  <a:spcPts val="2400"/>
                </a:lnSpc>
                <a:spcAft>
                  <a:spcPts val="12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阻礙技術發展：因擔心研發他人已申請專利之技術，而降低投入研發的動力</a:t>
              </a:r>
              <a:endParaRPr lang="en-US" altLang="zh-TW" sz="2000" dirty="0">
                <a:latin typeface="微軟正黑體" panose="020B0604030504040204" pitchFamily="34" charset="-120"/>
                <a:ea typeface="微軟正黑體" panose="020B0604030504040204" pitchFamily="34" charset="-120"/>
              </a:endParaRPr>
            </a:p>
            <a:p>
              <a:pPr marL="285750" indent="-285750">
                <a:lnSpc>
                  <a:spcPts val="2400"/>
                </a:lnSpc>
                <a:spcAft>
                  <a:spcPts val="12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高昂成本：專利維護需要大量技術、法律專業知識支持，必須付出高昂的維護成本及訴訟成本</a:t>
              </a:r>
              <a:endParaRPr lang="en-US" altLang="zh-TW" sz="2000" dirty="0">
                <a:latin typeface="微軟正黑體" panose="020B0604030504040204" pitchFamily="34" charset="-120"/>
                <a:ea typeface="微軟正黑體" panose="020B0604030504040204" pitchFamily="34" charset="-120"/>
              </a:endParaRPr>
            </a:p>
            <a:p>
              <a:pPr marL="285750" indent="-285750">
                <a:lnSpc>
                  <a:spcPts val="2400"/>
                </a:lnSpc>
                <a:spcAft>
                  <a:spcPts val="12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專利濫用：透過專利申請、訴訟、授權獲利</a:t>
              </a:r>
              <a:endParaRPr lang="en-US" altLang="zh-TW" sz="2000" dirty="0">
                <a:latin typeface="微軟正黑體" panose="020B0604030504040204" pitchFamily="34" charset="-120"/>
                <a:ea typeface="微軟正黑體" panose="020B0604030504040204" pitchFamily="34" charset="-120"/>
              </a:endParaRPr>
            </a:p>
            <a:p>
              <a:pPr marL="285750" indent="-285750">
                <a:lnSpc>
                  <a:spcPts val="2400"/>
                </a:lnSpc>
                <a:spcAft>
                  <a:spcPts val="1200"/>
                </a:spcAft>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跨國障礙：跨國企業須面對不同的專利制度差異</a:t>
              </a:r>
            </a:p>
          </p:txBody>
        </p:sp>
        <p:sp>
          <p:nvSpPr>
            <p:cNvPr id="23" name="矩形: 圓角 22">
              <a:extLst>
                <a:ext uri="{FF2B5EF4-FFF2-40B4-BE49-F238E27FC236}">
                  <a16:creationId xmlns:a16="http://schemas.microsoft.com/office/drawing/2014/main" id="{D55CF25F-A3BC-C595-029A-3A5441244474}"/>
                </a:ext>
              </a:extLst>
            </p:cNvPr>
            <p:cNvSpPr/>
            <p:nvPr/>
          </p:nvSpPr>
          <p:spPr>
            <a:xfrm>
              <a:off x="4952730" y="1036008"/>
              <a:ext cx="3816422" cy="50405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TW" altLang="en-US" sz="2400" b="1" dirty="0">
                  <a:solidFill>
                    <a:schemeClr val="tx1"/>
                  </a:solidFill>
                  <a:latin typeface="微軟正黑體" panose="020B0604030504040204" pitchFamily="34" charset="-120"/>
                  <a:ea typeface="微軟正黑體" panose="020B0604030504040204" pitchFamily="34" charset="-120"/>
                </a:rPr>
                <a:t>專利制度缺點</a:t>
              </a:r>
            </a:p>
          </p:txBody>
        </p:sp>
      </p:grpSp>
      <p:sp>
        <p:nvSpPr>
          <p:cNvPr id="2" name="標題 1">
            <a:extLst>
              <a:ext uri="{FF2B5EF4-FFF2-40B4-BE49-F238E27FC236}">
                <a16:creationId xmlns:a16="http://schemas.microsoft.com/office/drawing/2014/main" id="{66454F85-51EA-7117-7643-2B14D6E72D1C}"/>
              </a:ext>
            </a:extLst>
          </p:cNvPr>
          <p:cNvSpPr>
            <a:spLocks noGrp="1"/>
          </p:cNvSpPr>
          <p:nvPr>
            <p:ph type="title"/>
          </p:nvPr>
        </p:nvSpPr>
        <p:spPr/>
        <p:txBody>
          <a:bodyPr/>
          <a:lstStyle/>
          <a:p>
            <a:r>
              <a:rPr lang="zh-TW" altLang="en-US" dirty="0"/>
              <a:t>專利制度的多面向</a:t>
            </a:r>
          </a:p>
        </p:txBody>
      </p:sp>
      <p:sp>
        <p:nvSpPr>
          <p:cNvPr id="60" name="投影片編號版面配置區 59">
            <a:extLst>
              <a:ext uri="{FF2B5EF4-FFF2-40B4-BE49-F238E27FC236}">
                <a16:creationId xmlns:a16="http://schemas.microsoft.com/office/drawing/2014/main" id="{BDC4DC1A-2CB2-7418-DE19-50712662842B}"/>
              </a:ext>
            </a:extLst>
          </p:cNvPr>
          <p:cNvSpPr>
            <a:spLocks noGrp="1"/>
          </p:cNvSpPr>
          <p:nvPr>
            <p:ph type="sldNum" sz="quarter" idx="12"/>
          </p:nvPr>
        </p:nvSpPr>
        <p:spPr/>
        <p:txBody>
          <a:bodyPr/>
          <a:lstStyle/>
          <a:p>
            <a:fld id="{254D4C32-7A1A-45A5-84ED-81747F1ABFAE}" type="slidenum">
              <a:rPr lang="zh-TW" altLang="en-US" smtClean="0"/>
              <a:t>16</a:t>
            </a:fld>
            <a:endParaRPr lang="zh-TW" altLang="en-US"/>
          </a:p>
        </p:txBody>
      </p:sp>
      <p:cxnSp>
        <p:nvCxnSpPr>
          <p:cNvPr id="19" name="直線單箭頭接點 18">
            <a:extLst>
              <a:ext uri="{FF2B5EF4-FFF2-40B4-BE49-F238E27FC236}">
                <a16:creationId xmlns:a16="http://schemas.microsoft.com/office/drawing/2014/main" id="{C93FA1A0-1771-9CC6-9F1F-78732CD2AEF8}"/>
              </a:ext>
            </a:extLst>
          </p:cNvPr>
          <p:cNvCxnSpPr>
            <a:cxnSpLocks/>
          </p:cNvCxnSpPr>
          <p:nvPr/>
        </p:nvCxnSpPr>
        <p:spPr>
          <a:xfrm>
            <a:off x="4572000" y="1070392"/>
            <a:ext cx="20689" cy="5616624"/>
          </a:xfrm>
          <a:prstGeom prst="straightConnector1">
            <a:avLst/>
          </a:prstGeom>
          <a:ln w="1111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lg" len="lg"/>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26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想一想</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17</a:t>
            </a:fld>
            <a:endParaRPr lang="zh-TW" altLang="en-US"/>
          </a:p>
        </p:txBody>
      </p:sp>
      <p:sp>
        <p:nvSpPr>
          <p:cNvPr id="5" name="矩形 4"/>
          <p:cNvSpPr/>
          <p:nvPr/>
        </p:nvSpPr>
        <p:spPr>
          <a:xfrm>
            <a:off x="3066752" y="2087437"/>
            <a:ext cx="5637312" cy="3046988"/>
          </a:xfrm>
          <a:prstGeom prst="rect">
            <a:avLst/>
          </a:prstGeom>
        </p:spPr>
        <p:txBody>
          <a:bodyPr wrap="square">
            <a:spAutoFit/>
          </a:bodyPr>
          <a:lstStyle/>
          <a:p>
            <a:pPr marL="342900" indent="-342900">
              <a:buFont typeface="微軟正黑體" panose="020B0604030504040204" pitchFamily="34" charset="-120"/>
              <a:buChar char="？"/>
            </a:pPr>
            <a:r>
              <a:rPr lang="zh-TW" altLang="en-US" sz="2400" dirty="0">
                <a:latin typeface="微軟正黑體" panose="020B0604030504040204" pitchFamily="34" charset="-120"/>
                <a:ea typeface="微軟正黑體" panose="020B0604030504040204" pitchFamily="34" charset="-120"/>
              </a:rPr>
              <a:t>新興科技對於專利制度帶來什麼新的挑戰</a:t>
            </a:r>
            <a:endParaRPr lang="en-US" altLang="zh-TW" sz="2400"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rPr>
              <a:t>電子商務</a:t>
            </a:r>
            <a:endParaRPr lang="en-US" altLang="zh-TW" sz="2400"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ü"/>
            </a:pPr>
            <a:r>
              <a:rPr lang="en-US" altLang="zh-TW" sz="2400" dirty="0">
                <a:latin typeface="微軟正黑體" panose="020B0604030504040204" pitchFamily="34" charset="-120"/>
                <a:ea typeface="微軟正黑體" panose="020B0604030504040204" pitchFamily="34" charset="-120"/>
              </a:rPr>
              <a:t>AI</a:t>
            </a:r>
            <a:r>
              <a:rPr lang="zh-TW" altLang="en-US" sz="2400" dirty="0">
                <a:latin typeface="微軟正黑體" panose="020B0604030504040204" pitchFamily="34" charset="-120"/>
                <a:ea typeface="微軟正黑體" panose="020B0604030504040204" pitchFamily="34" charset="-120"/>
              </a:rPr>
              <a:t>人工智慧</a:t>
            </a:r>
            <a:endParaRPr lang="en-US" altLang="zh-TW" sz="2400"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rPr>
              <a:t>區塊鏈</a:t>
            </a:r>
            <a:endParaRPr lang="en-US" altLang="zh-TW" sz="2400"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rPr>
              <a:t>元宇宙</a:t>
            </a:r>
            <a:endParaRPr lang="en-US" altLang="zh-TW" sz="2400"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rPr>
              <a:t>量子電腦</a:t>
            </a:r>
            <a:endParaRPr lang="en-US" altLang="zh-TW" sz="2400"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ü"/>
            </a:pPr>
            <a:r>
              <a:rPr lang="zh-TW" altLang="en-US" sz="2400" dirty="0">
                <a:latin typeface="微軟正黑體" panose="020B0604030504040204" pitchFamily="34" charset="-120"/>
                <a:ea typeface="微軟正黑體" panose="020B0604030504040204" pitchFamily="34" charset="-120"/>
              </a:rPr>
              <a:t>智慧座艙、</a:t>
            </a:r>
            <a:r>
              <a:rPr lang="en-US" altLang="zh-TW" sz="2400" dirty="0">
                <a:latin typeface="微軟正黑體" panose="020B0604030504040204" pitchFamily="34" charset="-120"/>
                <a:ea typeface="微軟正黑體" panose="020B0604030504040204" pitchFamily="34" charset="-120"/>
              </a:rPr>
              <a:t>5G</a:t>
            </a: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IOT</a:t>
            </a:r>
            <a:endParaRPr lang="zh-TW" altLang="en-US" sz="2400" dirty="0">
              <a:latin typeface="微軟正黑體" panose="020B0604030504040204" pitchFamily="34" charset="-120"/>
              <a:ea typeface="微軟正黑體" panose="020B0604030504040204" pitchFamily="34" charset="-120"/>
            </a:endParaRPr>
          </a:p>
        </p:txBody>
      </p:sp>
      <p:pic>
        <p:nvPicPr>
          <p:cNvPr id="1026" name="Picture 2" descr="Brain, Thought, Idea, Thinking, Think, Inspiration"/>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67544" y="1884829"/>
            <a:ext cx="2442186" cy="2713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633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18</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專利簡介</a:t>
            </a:r>
          </a:p>
        </p:txBody>
      </p:sp>
    </p:spTree>
    <p:extLst>
      <p:ext uri="{BB962C8B-B14F-4D97-AF65-F5344CB8AC3E}">
        <p14:creationId xmlns:p14="http://schemas.microsoft.com/office/powerpoint/2010/main" val="56619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智慧財產權</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19</a:t>
            </a:fld>
            <a:endParaRPr lang="zh-TW" altLang="en-US" dirty="0">
              <a:solidFill>
                <a:prstClr val="black">
                  <a:tint val="75000"/>
                </a:prstClr>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051720" y="1016424"/>
            <a:ext cx="5562600" cy="546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2273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智慧財產權應用</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20</a:t>
            </a:fld>
            <a:endParaRPr lang="zh-TW" altLang="en-US" dirty="0">
              <a:solidFill>
                <a:prstClr val="black">
                  <a:tint val="75000"/>
                </a:prstClr>
              </a:solidFill>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576388" y="1271588"/>
            <a:ext cx="5991225" cy="431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2555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專利制度的目的</a:t>
            </a:r>
          </a:p>
        </p:txBody>
      </p:sp>
      <p:sp>
        <p:nvSpPr>
          <p:cNvPr id="3" name="內容版面配置區 2"/>
          <p:cNvSpPr>
            <a:spLocks noGrp="1"/>
          </p:cNvSpPr>
          <p:nvPr>
            <p:ph idx="1"/>
          </p:nvPr>
        </p:nvSpPr>
        <p:spPr>
          <a:xfrm>
            <a:off x="1907704" y="962424"/>
            <a:ext cx="7128792" cy="806958"/>
          </a:xfrm>
        </p:spPr>
        <p:txBody>
          <a:bodyPr>
            <a:noAutofit/>
          </a:bodyPr>
          <a:lstStyle/>
          <a:p>
            <a:r>
              <a:rPr lang="zh-TW" altLang="zh-TW" sz="2400" dirty="0">
                <a:ln w="9000" cmpd="sng">
                  <a:noFill/>
                  <a:prstDash val="solid"/>
                </a:ln>
              </a:rPr>
              <a:t>第一條　為</a:t>
            </a:r>
            <a:r>
              <a:rPr lang="zh-TW" altLang="zh-TW" sz="2400" b="1" dirty="0">
                <a:ln w="9000" cmpd="sng">
                  <a:noFill/>
                  <a:prstDash val="solid"/>
                </a:ln>
              </a:rPr>
              <a:t>鼓勵</a:t>
            </a:r>
            <a:r>
              <a:rPr lang="zh-TW" altLang="zh-TW" sz="2400" dirty="0">
                <a:ln w="9000" cmpd="sng">
                  <a:noFill/>
                  <a:prstDash val="solid"/>
                </a:ln>
              </a:rPr>
              <a:t>、</a:t>
            </a:r>
            <a:r>
              <a:rPr lang="zh-TW" altLang="zh-TW" sz="2400" b="1" dirty="0">
                <a:ln w="9000" cmpd="sng">
                  <a:noFill/>
                  <a:prstDash val="solid"/>
                </a:ln>
              </a:rPr>
              <a:t>保護</a:t>
            </a:r>
            <a:r>
              <a:rPr lang="zh-TW" altLang="zh-TW" sz="2400" dirty="0">
                <a:ln w="9000" cmpd="sng">
                  <a:noFill/>
                  <a:prstDash val="solid"/>
                </a:ln>
              </a:rPr>
              <a:t>、</a:t>
            </a:r>
            <a:r>
              <a:rPr lang="zh-TW" altLang="zh-TW" sz="2400" b="1" dirty="0">
                <a:ln w="9000" cmpd="sng">
                  <a:noFill/>
                  <a:prstDash val="solid"/>
                </a:ln>
              </a:rPr>
              <a:t>利用</a:t>
            </a:r>
            <a:r>
              <a:rPr lang="zh-TW" altLang="zh-TW" sz="2400" u="sng" dirty="0">
                <a:ln w="9000" cmpd="sng">
                  <a:noFill/>
                  <a:prstDash val="solid"/>
                </a:ln>
              </a:rPr>
              <a:t>發明</a:t>
            </a:r>
            <a:r>
              <a:rPr lang="zh-TW" altLang="zh-TW" sz="2400" dirty="0">
                <a:ln w="9000" cmpd="sng">
                  <a:noFill/>
                  <a:prstDash val="solid"/>
                </a:ln>
              </a:rPr>
              <a:t>、</a:t>
            </a:r>
            <a:r>
              <a:rPr lang="zh-TW" altLang="zh-TW" sz="2400" u="sng" dirty="0">
                <a:ln w="9000" cmpd="sng">
                  <a:noFill/>
                  <a:prstDash val="solid"/>
                </a:ln>
              </a:rPr>
              <a:t>新型</a:t>
            </a:r>
            <a:r>
              <a:rPr lang="zh-TW" altLang="zh-TW" sz="2400" dirty="0">
                <a:ln w="9000" cmpd="sng">
                  <a:noFill/>
                  <a:prstDash val="solid"/>
                </a:ln>
              </a:rPr>
              <a:t>及</a:t>
            </a:r>
            <a:r>
              <a:rPr lang="zh-TW" altLang="zh-TW" sz="2400" u="sng" dirty="0">
                <a:ln w="9000" cmpd="sng">
                  <a:noFill/>
                  <a:prstDash val="solid"/>
                </a:ln>
              </a:rPr>
              <a:t>設計</a:t>
            </a:r>
            <a:r>
              <a:rPr lang="zh-TW" altLang="zh-TW" sz="2400" dirty="0">
                <a:ln w="9000" cmpd="sng">
                  <a:noFill/>
                  <a:prstDash val="solid"/>
                </a:ln>
              </a:rPr>
              <a:t>之創作，以</a:t>
            </a:r>
            <a:r>
              <a:rPr lang="zh-TW" altLang="zh-TW" sz="2400" dirty="0">
                <a:ln w="9000" cmpd="sng">
                  <a:noFill/>
                  <a:prstDash val="solid"/>
                </a:ln>
                <a:solidFill>
                  <a:srgbClr val="C00000"/>
                </a:solidFill>
              </a:rPr>
              <a:t>促進產業發展</a:t>
            </a:r>
            <a:r>
              <a:rPr lang="zh-TW" altLang="zh-TW" sz="2400" dirty="0">
                <a:ln w="9000" cmpd="sng">
                  <a:noFill/>
                  <a:prstDash val="solid"/>
                </a:ln>
              </a:rPr>
              <a:t>，特制定本法</a:t>
            </a:r>
            <a:r>
              <a:rPr lang="zh-TW" altLang="zh-TW" sz="2400" dirty="0"/>
              <a:t>。</a:t>
            </a:r>
            <a:endParaRPr lang="zh-TW" altLang="en-US" sz="2400"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21</a:t>
            </a:fld>
            <a:endParaRPr lang="zh-TW" altLang="en-US" dirty="0">
              <a:solidFill>
                <a:prstClr val="black">
                  <a:tint val="75000"/>
                </a:prstClr>
              </a:solidFill>
            </a:endParaRPr>
          </a:p>
        </p:txBody>
      </p:sp>
      <p:sp>
        <p:nvSpPr>
          <p:cNvPr id="5" name="文字方塊 4"/>
          <p:cNvSpPr txBox="1"/>
          <p:nvPr/>
        </p:nvSpPr>
        <p:spPr>
          <a:xfrm>
            <a:off x="251520" y="1052736"/>
            <a:ext cx="1569660" cy="646331"/>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zh-TW" altLang="en-US" sz="3600" dirty="0">
                <a:latin typeface="微軟正黑體" panose="020B0604030504040204" pitchFamily="34" charset="-120"/>
                <a:ea typeface="微軟正黑體" panose="020B0604030504040204" pitchFamily="34" charset="-120"/>
              </a:rPr>
              <a:t>專利法</a:t>
            </a:r>
          </a:p>
        </p:txBody>
      </p:sp>
      <p:sp>
        <p:nvSpPr>
          <p:cNvPr id="6" name="矩形 5"/>
          <p:cNvSpPr/>
          <p:nvPr/>
        </p:nvSpPr>
        <p:spPr>
          <a:xfrm>
            <a:off x="671504" y="3090003"/>
            <a:ext cx="1005403" cy="584775"/>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zh-TW" altLang="zh-TW" sz="3200" b="1" dirty="0">
                <a:ln w="9000" cmpd="sng">
                  <a:noFill/>
                  <a:prstDash val="solid"/>
                </a:ln>
                <a:latin typeface="微軟正黑體" panose="020B0604030504040204" pitchFamily="34" charset="-120"/>
                <a:ea typeface="微軟正黑體" panose="020B0604030504040204" pitchFamily="34" charset="-120"/>
              </a:rPr>
              <a:t>鼓勵</a:t>
            </a:r>
            <a:endParaRPr lang="zh-TW" altLang="en-US" sz="3200" dirty="0">
              <a:latin typeface="微軟正黑體" panose="020B0604030504040204" pitchFamily="34" charset="-120"/>
              <a:ea typeface="微軟正黑體" panose="020B0604030504040204" pitchFamily="34" charset="-120"/>
            </a:endParaRPr>
          </a:p>
        </p:txBody>
      </p:sp>
      <p:sp>
        <p:nvSpPr>
          <p:cNvPr id="8" name="矩形 7"/>
          <p:cNvSpPr/>
          <p:nvPr/>
        </p:nvSpPr>
        <p:spPr>
          <a:xfrm>
            <a:off x="4974000" y="3573016"/>
            <a:ext cx="1005403" cy="584775"/>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r>
              <a:rPr lang="zh-TW" altLang="en-US" sz="3200" b="1" dirty="0">
                <a:ln w="9000" cmpd="sng">
                  <a:noFill/>
                  <a:prstDash val="solid"/>
                </a:ln>
                <a:latin typeface="微軟正黑體" panose="020B0604030504040204" pitchFamily="34" charset="-120"/>
                <a:ea typeface="微軟正黑體" panose="020B0604030504040204" pitchFamily="34" charset="-120"/>
              </a:rPr>
              <a:t>利用</a:t>
            </a:r>
            <a:endParaRPr lang="zh-TW" altLang="en-US" sz="3200" dirty="0">
              <a:latin typeface="微軟正黑體" panose="020B0604030504040204" pitchFamily="34" charset="-120"/>
              <a:ea typeface="微軟正黑體" panose="020B0604030504040204" pitchFamily="34" charset="-120"/>
            </a:endParaRPr>
          </a:p>
        </p:txBody>
      </p:sp>
      <p:sp>
        <p:nvSpPr>
          <p:cNvPr id="9" name="矩形 8"/>
          <p:cNvSpPr/>
          <p:nvPr/>
        </p:nvSpPr>
        <p:spPr>
          <a:xfrm>
            <a:off x="671504" y="4746187"/>
            <a:ext cx="1005403" cy="584775"/>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zh-TW" altLang="en-US" sz="3200" b="1" dirty="0">
                <a:latin typeface="微軟正黑體" panose="020B0604030504040204" pitchFamily="34" charset="-120"/>
                <a:ea typeface="微軟正黑體" panose="020B0604030504040204" pitchFamily="34" charset="-120"/>
              </a:rPr>
              <a:t>保護</a:t>
            </a:r>
          </a:p>
        </p:txBody>
      </p:sp>
      <p:pic>
        <p:nvPicPr>
          <p:cNvPr id="1026" name="Picture 2" descr="C:\Program Files\Microsoft Office\MEDIA\CAGCAT10\j0285360.wmf"/>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063180" y="3240166"/>
            <a:ext cx="1474013" cy="18178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314440" y="4302405"/>
            <a:ext cx="2349640" cy="776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3" descr="C:\Users\20451\AppData\Local\Microsoft\Windows\Temporary Internet Files\Content.IE5\V8IXP0II\MC900412762[1].wmf"/>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870765" y="3191276"/>
            <a:ext cx="1382925" cy="483502"/>
          </a:xfrm>
          <a:prstGeom prst="rect">
            <a:avLst/>
          </a:prstGeom>
          <a:noFill/>
          <a:extLst>
            <a:ext uri="{909E8E84-426E-40DD-AFC4-6F175D3DCCD1}">
              <a14:hiddenFill xmlns:a14="http://schemas.microsoft.com/office/drawing/2010/main">
                <a:solidFill>
                  <a:srgbClr val="FFFFFF"/>
                </a:solidFill>
              </a14:hiddenFill>
            </a:ext>
          </a:extLst>
        </p:spPr>
      </p:pic>
      <p:sp>
        <p:nvSpPr>
          <p:cNvPr id="10" name="書卷 (垂直) 9"/>
          <p:cNvSpPr/>
          <p:nvPr/>
        </p:nvSpPr>
        <p:spPr>
          <a:xfrm>
            <a:off x="1870764" y="4746186"/>
            <a:ext cx="1382925" cy="1347109"/>
          </a:xfrm>
          <a:prstGeom prst="verticalScroll">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2400" dirty="0">
                <a:solidFill>
                  <a:schemeClr val="tx1"/>
                </a:solidFill>
                <a:latin typeface="微軟正黑體" panose="020B0604030504040204" pitchFamily="34" charset="-120"/>
                <a:ea typeface="微軟正黑體" panose="020B0604030504040204" pitchFamily="34" charset="-120"/>
              </a:rPr>
              <a:t>專</a:t>
            </a:r>
            <a:endParaRPr lang="en-US" altLang="zh-TW" sz="2400" dirty="0">
              <a:solidFill>
                <a:schemeClr val="tx1"/>
              </a:solidFill>
              <a:latin typeface="微軟正黑體" panose="020B0604030504040204" pitchFamily="34" charset="-120"/>
              <a:ea typeface="微軟正黑體" panose="020B0604030504040204" pitchFamily="34" charset="-120"/>
            </a:endParaRPr>
          </a:p>
          <a:p>
            <a:pPr algn="ctr"/>
            <a:r>
              <a:rPr lang="zh-TW" altLang="en-US" sz="2400" dirty="0">
                <a:solidFill>
                  <a:schemeClr val="tx1"/>
                </a:solidFill>
                <a:latin typeface="微軟正黑體" panose="020B0604030504040204" pitchFamily="34" charset="-120"/>
                <a:ea typeface="微軟正黑體" panose="020B0604030504040204" pitchFamily="34" charset="-120"/>
              </a:rPr>
              <a:t>利</a:t>
            </a:r>
            <a:endParaRPr lang="en-US" altLang="zh-TW" sz="2400" dirty="0">
              <a:solidFill>
                <a:schemeClr val="tx1"/>
              </a:solidFill>
              <a:latin typeface="微軟正黑體" panose="020B0604030504040204" pitchFamily="34" charset="-120"/>
              <a:ea typeface="微軟正黑體" panose="020B0604030504040204" pitchFamily="34" charset="-120"/>
            </a:endParaRPr>
          </a:p>
          <a:p>
            <a:pPr algn="ctr"/>
            <a:r>
              <a:rPr lang="zh-TW" altLang="en-US" sz="2400" dirty="0">
                <a:solidFill>
                  <a:schemeClr val="tx1"/>
                </a:solidFill>
                <a:latin typeface="微軟正黑體" panose="020B0604030504040204" pitchFamily="34" charset="-120"/>
                <a:ea typeface="微軟正黑體" panose="020B0604030504040204" pitchFamily="34" charset="-120"/>
              </a:rPr>
              <a:t>權</a:t>
            </a:r>
          </a:p>
        </p:txBody>
      </p:sp>
      <p:sp>
        <p:nvSpPr>
          <p:cNvPr id="11" name="矩形 10"/>
          <p:cNvSpPr/>
          <p:nvPr/>
        </p:nvSpPr>
        <p:spPr>
          <a:xfrm>
            <a:off x="1685212" y="3657453"/>
            <a:ext cx="1569660" cy="369332"/>
          </a:xfrm>
          <a:prstGeom prst="rect">
            <a:avLst/>
          </a:prstGeom>
        </p:spPr>
        <p:txBody>
          <a:bodyPr wrap="none">
            <a:spAutoFit/>
          </a:bodyPr>
          <a:lstStyle/>
          <a:p>
            <a:r>
              <a:rPr lang="zh-TW" altLang="en-US" dirty="0">
                <a:latin typeface="微軟正黑體" panose="020B0604030504040204" pitchFamily="34" charset="-120"/>
                <a:ea typeface="微軟正黑體" panose="020B0604030504040204" pitchFamily="34" charset="-120"/>
              </a:rPr>
              <a:t>發明創作獎勵</a:t>
            </a:r>
          </a:p>
        </p:txBody>
      </p:sp>
      <p:sp>
        <p:nvSpPr>
          <p:cNvPr id="12" name="圓角矩形 11"/>
          <p:cNvSpPr/>
          <p:nvPr/>
        </p:nvSpPr>
        <p:spPr>
          <a:xfrm>
            <a:off x="251520" y="2636912"/>
            <a:ext cx="3672408" cy="381642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圓角矩形 16"/>
          <p:cNvSpPr/>
          <p:nvPr/>
        </p:nvSpPr>
        <p:spPr>
          <a:xfrm>
            <a:off x="4128464" y="2636912"/>
            <a:ext cx="4408729" cy="381642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6920082" y="5039594"/>
            <a:ext cx="1569660" cy="369332"/>
          </a:xfrm>
          <a:prstGeom prst="rect">
            <a:avLst/>
          </a:prstGeom>
        </p:spPr>
        <p:txBody>
          <a:bodyPr wrap="none">
            <a:spAutoFit/>
          </a:bodyPr>
          <a:lstStyle/>
          <a:p>
            <a:r>
              <a:rPr lang="zh-TW" altLang="zh-TW" dirty="0">
                <a:ln w="9000" cmpd="sng">
                  <a:noFill/>
                  <a:prstDash val="solid"/>
                </a:ln>
                <a:latin typeface="微軟正黑體" panose="020B0604030504040204" pitchFamily="34" charset="-120"/>
                <a:ea typeface="微軟正黑體" panose="020B0604030504040204" pitchFamily="34" charset="-120"/>
              </a:rPr>
              <a:t>促進產業發展</a:t>
            </a:r>
            <a:endParaRPr lang="zh-TW" altLang="en-US" dirty="0">
              <a:latin typeface="微軟正黑體" panose="020B0604030504040204" pitchFamily="34" charset="-120"/>
              <a:ea typeface="微軟正黑體" panose="020B0604030504040204" pitchFamily="34" charset="-120"/>
            </a:endParaRPr>
          </a:p>
        </p:txBody>
      </p:sp>
      <p:sp>
        <p:nvSpPr>
          <p:cNvPr id="15" name="矩形 14"/>
          <p:cNvSpPr/>
          <p:nvPr/>
        </p:nvSpPr>
        <p:spPr>
          <a:xfrm>
            <a:off x="757959" y="2113692"/>
            <a:ext cx="2339102" cy="523220"/>
          </a:xfrm>
          <a:prstGeom prst="rect">
            <a:avLst/>
          </a:prstGeom>
        </p:spPr>
        <p:txBody>
          <a:bodyPr wrap="none">
            <a:spAutoFit/>
          </a:bodyPr>
          <a:lstStyle/>
          <a:p>
            <a:r>
              <a:rPr lang="zh-TW" altLang="en-US" sz="2800" dirty="0">
                <a:latin typeface="微軟正黑體" panose="020B0604030504040204" pitchFamily="34" charset="-120"/>
                <a:ea typeface="微軟正黑體" panose="020B0604030504040204" pitchFamily="34" charset="-120"/>
              </a:rPr>
              <a:t>保障私人利益</a:t>
            </a:r>
          </a:p>
        </p:txBody>
      </p:sp>
      <p:sp>
        <p:nvSpPr>
          <p:cNvPr id="21" name="矩形 20"/>
          <p:cNvSpPr/>
          <p:nvPr/>
        </p:nvSpPr>
        <p:spPr>
          <a:xfrm>
            <a:off x="5163277" y="2113692"/>
            <a:ext cx="2339102" cy="523220"/>
          </a:xfrm>
          <a:prstGeom prst="rect">
            <a:avLst/>
          </a:prstGeom>
        </p:spPr>
        <p:txBody>
          <a:bodyPr wrap="none">
            <a:spAutoFit/>
          </a:bodyPr>
          <a:lstStyle/>
          <a:p>
            <a:r>
              <a:rPr lang="zh-TW" altLang="en-US" sz="2800" dirty="0">
                <a:latin typeface="微軟正黑體" panose="020B0604030504040204" pitchFamily="34" charset="-120"/>
                <a:ea typeface="微軟正黑體" panose="020B0604030504040204" pitchFamily="34" charset="-120"/>
              </a:rPr>
              <a:t>促進公共利益</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0"/>
            <a:ext cx="9144000" cy="778098"/>
          </a:xfrm>
        </p:spPr>
        <p:txBody>
          <a:bodyPr/>
          <a:lstStyle/>
          <a:p>
            <a:r>
              <a:rPr lang="zh-TW" altLang="en-US" dirty="0"/>
              <a:t>專利制度</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22</a:t>
            </a:fld>
            <a:endParaRPr lang="zh-TW" altLang="en-US" dirty="0">
              <a:solidFill>
                <a:prstClr val="black">
                  <a:tint val="75000"/>
                </a:prstClr>
              </a:solidFill>
            </a:endParaRPr>
          </a:p>
        </p:txBody>
      </p:sp>
      <p:sp>
        <p:nvSpPr>
          <p:cNvPr id="8" name="文字方塊 7"/>
          <p:cNvSpPr txBox="1"/>
          <p:nvPr/>
        </p:nvSpPr>
        <p:spPr>
          <a:xfrm>
            <a:off x="1427409" y="4941168"/>
            <a:ext cx="5879706" cy="797526"/>
          </a:xfrm>
          <a:prstGeom prst="rect">
            <a:avLst/>
          </a:prstGeom>
          <a:noFill/>
        </p:spPr>
        <p:txBody>
          <a:bodyPr wrap="square" rtlCol="0">
            <a:spAutoFit/>
          </a:bodyPr>
          <a:lstStyle/>
          <a:p>
            <a:pPr marL="285750" indent="-285750">
              <a:lnSpc>
                <a:spcPct val="120000"/>
              </a:lnSpc>
              <a:buFont typeface="Wingdings" panose="05000000000000000000" pitchFamily="2" charset="2"/>
              <a:buChar char="u"/>
            </a:pPr>
            <a:r>
              <a:rPr lang="zh-TW" altLang="en-US" sz="2000" dirty="0">
                <a:solidFill>
                  <a:prstClr val="black"/>
                </a:solidFill>
                <a:latin typeface="微軟正黑體" pitchFamily="34" charset="-120"/>
                <a:ea typeface="微軟正黑體" pitchFamily="34" charset="-120"/>
              </a:rPr>
              <a:t>在</a:t>
            </a:r>
            <a:r>
              <a:rPr lang="zh-TW" altLang="en-US" sz="2000" b="1" u="sng" dirty="0">
                <a:solidFill>
                  <a:srgbClr val="0000FF"/>
                </a:solidFill>
                <a:latin typeface="微軟正黑體" pitchFamily="34" charset="-120"/>
                <a:ea typeface="微軟正黑體" pitchFamily="34" charset="-120"/>
              </a:rPr>
              <a:t>一定期間</a:t>
            </a:r>
            <a:r>
              <a:rPr lang="zh-TW" altLang="en-US" sz="2000" dirty="0">
                <a:solidFill>
                  <a:prstClr val="black"/>
                </a:solidFill>
                <a:latin typeface="微軟正黑體" pitchFamily="34" charset="-120"/>
                <a:ea typeface="微軟正黑體" pitchFamily="34" charset="-120"/>
              </a:rPr>
              <a:t>內，專有</a:t>
            </a:r>
            <a:r>
              <a:rPr lang="zh-TW" altLang="en-US" sz="2000" b="1" u="sng" dirty="0">
                <a:solidFill>
                  <a:srgbClr val="0000FF"/>
                </a:solidFill>
                <a:latin typeface="微軟正黑體" pitchFamily="34" charset="-120"/>
                <a:ea typeface="微軟正黑體" pitchFamily="34" charset="-120"/>
              </a:rPr>
              <a:t>排除他人</a:t>
            </a:r>
            <a:r>
              <a:rPr lang="zh-TW" altLang="en-US" sz="2000" u="sng" dirty="0">
                <a:solidFill>
                  <a:srgbClr val="0000FF"/>
                </a:solidFill>
                <a:latin typeface="微軟正黑體" pitchFamily="34" charset="-120"/>
                <a:ea typeface="微軟正黑體" pitchFamily="34" charset="-120"/>
              </a:rPr>
              <a:t>在我國境內未經其同意而</a:t>
            </a:r>
            <a:r>
              <a:rPr lang="zh-TW" altLang="en-US" sz="2000" b="1" u="sng" dirty="0">
                <a:solidFill>
                  <a:srgbClr val="0000FF"/>
                </a:solidFill>
                <a:latin typeface="微軟正黑體" pitchFamily="34" charset="-120"/>
                <a:ea typeface="微軟正黑體" pitchFamily="34" charset="-120"/>
              </a:rPr>
              <a:t>實施</a:t>
            </a:r>
            <a:r>
              <a:rPr lang="zh-TW" altLang="en-US" sz="2000" dirty="0">
                <a:solidFill>
                  <a:prstClr val="black"/>
                </a:solidFill>
                <a:latin typeface="微軟正黑體" pitchFamily="34" charset="-120"/>
                <a:ea typeface="微軟正黑體" pitchFamily="34" charset="-120"/>
              </a:rPr>
              <a:t>該發明（新型、設計）之權</a:t>
            </a:r>
          </a:p>
        </p:txBody>
      </p:sp>
      <p:sp>
        <p:nvSpPr>
          <p:cNvPr id="9" name="文字方塊 8"/>
          <p:cNvSpPr txBox="1"/>
          <p:nvPr/>
        </p:nvSpPr>
        <p:spPr>
          <a:xfrm>
            <a:off x="1415504" y="5738694"/>
            <a:ext cx="5879706" cy="797526"/>
          </a:xfrm>
          <a:prstGeom prst="rect">
            <a:avLst/>
          </a:prstGeom>
          <a:noFill/>
        </p:spPr>
        <p:txBody>
          <a:bodyPr wrap="square" rtlCol="0">
            <a:spAutoFit/>
          </a:bodyPr>
          <a:lstStyle/>
          <a:p>
            <a:pPr marL="285750" indent="-285750">
              <a:lnSpc>
                <a:spcPct val="120000"/>
              </a:lnSpc>
              <a:buFont typeface="Wingdings" panose="05000000000000000000" pitchFamily="2" charset="2"/>
              <a:buChar char="u"/>
            </a:pPr>
            <a:r>
              <a:rPr lang="zh-TW" altLang="en-US" sz="2000" dirty="0">
                <a:solidFill>
                  <a:prstClr val="black"/>
                </a:solidFill>
                <a:latin typeface="微軟正黑體" pitchFamily="34" charset="-120"/>
                <a:ea typeface="微軟正黑體" pitchFamily="34" charset="-120"/>
              </a:rPr>
              <a:t>賦予專利權人對於製造、使用、為販賣之要約、販賣或進口其發明之專有排他權利</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971600" y="836684"/>
            <a:ext cx="6791325" cy="3867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4819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專利權類別</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23</a:t>
            </a:fld>
            <a:endParaRPr lang="zh-TW" altLang="en-US" dirty="0">
              <a:solidFill>
                <a:prstClr val="black">
                  <a:tint val="75000"/>
                </a:prstClr>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547813" y="1419225"/>
            <a:ext cx="6048375" cy="401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5434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專利種類</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24</a:t>
            </a:fld>
            <a:endParaRPr lang="zh-TW" altLang="en-US" dirty="0">
              <a:solidFill>
                <a:prstClr val="black">
                  <a:tint val="75000"/>
                </a:prstClr>
              </a:solidFill>
            </a:endParaRPr>
          </a:p>
        </p:txBody>
      </p:sp>
      <p:sp>
        <p:nvSpPr>
          <p:cNvPr id="8" name="矩形 7"/>
          <p:cNvSpPr/>
          <p:nvPr/>
        </p:nvSpPr>
        <p:spPr>
          <a:xfrm>
            <a:off x="2467525" y="4959541"/>
            <a:ext cx="6260008" cy="182498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TW" altLang="en-US"/>
          </a:p>
        </p:txBody>
      </p:sp>
      <p:sp>
        <p:nvSpPr>
          <p:cNvPr id="9" name="矩形 8"/>
          <p:cNvSpPr/>
          <p:nvPr/>
        </p:nvSpPr>
        <p:spPr>
          <a:xfrm>
            <a:off x="2467525" y="2988000"/>
            <a:ext cx="6260008" cy="182498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 name="矩形 9"/>
          <p:cNvSpPr/>
          <p:nvPr/>
        </p:nvSpPr>
        <p:spPr>
          <a:xfrm>
            <a:off x="2467525" y="958070"/>
            <a:ext cx="6260008" cy="18644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11" name="流程圖: 替代處理程序 10"/>
          <p:cNvSpPr/>
          <p:nvPr/>
        </p:nvSpPr>
        <p:spPr>
          <a:xfrm>
            <a:off x="789957" y="958070"/>
            <a:ext cx="1656184" cy="720080"/>
          </a:xfrm>
          <a:prstGeom prst="flowChartAlternateProcess">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3600" b="1" dirty="0">
                <a:solidFill>
                  <a:schemeClr val="tx1"/>
                </a:solidFill>
                <a:latin typeface="微軟正黑體" panose="020B0604030504040204" pitchFamily="34" charset="-120"/>
                <a:ea typeface="微軟正黑體" panose="020B0604030504040204" pitchFamily="34" charset="-120"/>
              </a:rPr>
              <a:t>發明</a:t>
            </a:r>
          </a:p>
        </p:txBody>
      </p:sp>
      <p:sp>
        <p:nvSpPr>
          <p:cNvPr id="12" name="流程圖: 替代處理程序 11"/>
          <p:cNvSpPr/>
          <p:nvPr/>
        </p:nvSpPr>
        <p:spPr>
          <a:xfrm>
            <a:off x="789957" y="2988000"/>
            <a:ext cx="1656184" cy="720080"/>
          </a:xfrm>
          <a:prstGeom prst="flowChartAlternateProcess">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3600" b="1" dirty="0">
                <a:solidFill>
                  <a:schemeClr val="tx1"/>
                </a:solidFill>
                <a:latin typeface="微軟正黑體" panose="020B0604030504040204" pitchFamily="34" charset="-120"/>
                <a:ea typeface="微軟正黑體" panose="020B0604030504040204" pitchFamily="34" charset="-120"/>
              </a:rPr>
              <a:t>新型</a:t>
            </a:r>
          </a:p>
        </p:txBody>
      </p:sp>
      <p:sp>
        <p:nvSpPr>
          <p:cNvPr id="13" name="流程圖: 替代處理程序 12"/>
          <p:cNvSpPr/>
          <p:nvPr/>
        </p:nvSpPr>
        <p:spPr>
          <a:xfrm>
            <a:off x="789957" y="4959541"/>
            <a:ext cx="1656184" cy="720080"/>
          </a:xfrm>
          <a:prstGeom prst="flowChartAlternateProcess">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tx1"/>
                </a:solidFill>
                <a:latin typeface="微軟正黑體" panose="020B0604030504040204" pitchFamily="34" charset="-120"/>
                <a:ea typeface="微軟正黑體" panose="020B0604030504040204" pitchFamily="34" charset="-120"/>
              </a:rPr>
              <a:t>設計</a:t>
            </a:r>
          </a:p>
        </p:txBody>
      </p:sp>
      <p:sp>
        <p:nvSpPr>
          <p:cNvPr id="14" name="文字方塊 13"/>
          <p:cNvSpPr txBox="1"/>
          <p:nvPr/>
        </p:nvSpPr>
        <p:spPr>
          <a:xfrm>
            <a:off x="2590581" y="1052736"/>
            <a:ext cx="5724644" cy="1421928"/>
          </a:xfrm>
          <a:prstGeom prst="rect">
            <a:avLst/>
          </a:prstGeom>
          <a:noFill/>
          <a:ln>
            <a:noFill/>
          </a:ln>
        </p:spPr>
        <p:txBody>
          <a:bodyPr wrap="none" rtlCol="0">
            <a:spAutoFit/>
          </a:bodyPr>
          <a:lstStyle/>
          <a:p>
            <a:pPr>
              <a:lnSpc>
                <a:spcPct val="120000"/>
              </a:lnSpc>
            </a:pPr>
            <a:r>
              <a:rPr lang="zh-TW" altLang="en-US" sz="2400" b="1" dirty="0">
                <a:latin typeface="微軟正黑體" panose="020B0604030504040204" pitchFamily="34" charset="-120"/>
                <a:ea typeface="微軟正黑體" panose="020B0604030504040204" pitchFamily="34" charset="-120"/>
              </a:rPr>
              <a:t>發明，指利用自然法則之技術思想之創作</a:t>
            </a:r>
            <a:endParaRPr lang="en-US" altLang="zh-TW" sz="2400" b="1" dirty="0">
              <a:latin typeface="微軟正黑體" panose="020B0604030504040204" pitchFamily="34" charset="-120"/>
              <a:ea typeface="微軟正黑體" panose="020B0604030504040204" pitchFamily="34" charset="-120"/>
            </a:endParaRPr>
          </a:p>
          <a:p>
            <a:pPr>
              <a:lnSpc>
                <a:spcPct val="120000"/>
              </a:lnSpc>
            </a:pPr>
            <a:r>
              <a:rPr lang="zh-TW" altLang="en-US" sz="2400" b="1" dirty="0">
                <a:solidFill>
                  <a:srgbClr val="0000FF"/>
                </a:solidFill>
                <a:latin typeface="微軟正黑體" panose="020B0604030504040204" pitchFamily="34" charset="-120"/>
                <a:ea typeface="微軟正黑體" panose="020B0604030504040204" pitchFamily="34" charset="-120"/>
              </a:rPr>
              <a:t>請求實體審查制</a:t>
            </a:r>
            <a:endParaRPr lang="en-US" altLang="zh-TW" sz="2400" b="1" dirty="0">
              <a:solidFill>
                <a:srgbClr val="0000FF"/>
              </a:solidFill>
              <a:latin typeface="微軟正黑體" panose="020B0604030504040204" pitchFamily="34" charset="-120"/>
              <a:ea typeface="微軟正黑體" panose="020B0604030504040204" pitchFamily="34" charset="-120"/>
            </a:endParaRPr>
          </a:p>
          <a:p>
            <a:pPr>
              <a:lnSpc>
                <a:spcPct val="120000"/>
              </a:lnSpc>
            </a:pPr>
            <a:r>
              <a:rPr lang="zh-TW" altLang="en-US" sz="2400" b="1" dirty="0">
                <a:solidFill>
                  <a:srgbClr val="009900"/>
                </a:solidFill>
                <a:latin typeface="微軟正黑體" panose="020B0604030504040204" pitchFamily="34" charset="-120"/>
                <a:ea typeface="微軟正黑體" panose="020B0604030504040204" pitchFamily="34" charset="-120"/>
              </a:rPr>
              <a:t>專利權期限</a:t>
            </a:r>
            <a:r>
              <a:rPr lang="en-US" altLang="zh-TW" sz="2400" b="1" dirty="0">
                <a:solidFill>
                  <a:srgbClr val="009900"/>
                </a:solidFill>
                <a:latin typeface="微軟正黑體" panose="020B0604030504040204" pitchFamily="34" charset="-120"/>
                <a:ea typeface="微軟正黑體" panose="020B0604030504040204" pitchFamily="34" charset="-120"/>
              </a:rPr>
              <a:t>20</a:t>
            </a:r>
            <a:r>
              <a:rPr lang="zh-TW" altLang="en-US" sz="2400" b="1" dirty="0">
                <a:solidFill>
                  <a:srgbClr val="009900"/>
                </a:solidFill>
                <a:latin typeface="微軟正黑體" panose="020B0604030504040204" pitchFamily="34" charset="-120"/>
                <a:ea typeface="微軟正黑體" panose="020B0604030504040204" pitchFamily="34" charset="-120"/>
              </a:rPr>
              <a:t>年</a:t>
            </a:r>
          </a:p>
        </p:txBody>
      </p:sp>
      <p:sp>
        <p:nvSpPr>
          <p:cNvPr id="15" name="文字方塊 14"/>
          <p:cNvSpPr txBox="1"/>
          <p:nvPr/>
        </p:nvSpPr>
        <p:spPr>
          <a:xfrm>
            <a:off x="2552358" y="2988000"/>
            <a:ext cx="5925615" cy="1865126"/>
          </a:xfrm>
          <a:prstGeom prst="rect">
            <a:avLst/>
          </a:prstGeom>
          <a:noFill/>
          <a:ln>
            <a:noFill/>
          </a:ln>
        </p:spPr>
        <p:txBody>
          <a:bodyPr wrap="square" rtlCol="0">
            <a:spAutoFit/>
          </a:bodyPr>
          <a:lstStyle>
            <a:defPPr>
              <a:defRPr lang="zh-TW"/>
            </a:defPPr>
            <a:lvl1pPr>
              <a:defRPr sz="2400" b="1">
                <a:latin typeface="微軟正黑體" panose="020B0604030504040204" pitchFamily="34" charset="-120"/>
                <a:ea typeface="微軟正黑體" panose="020B0604030504040204" pitchFamily="34" charset="-120"/>
              </a:defRPr>
            </a:lvl1pPr>
          </a:lstStyle>
          <a:p>
            <a:pPr>
              <a:lnSpc>
                <a:spcPct val="120000"/>
              </a:lnSpc>
            </a:pPr>
            <a:r>
              <a:rPr lang="zh-TW" altLang="en-US" dirty="0"/>
              <a:t>新型，指利用自然法則之技術思想，對物品之形狀、構造或組合之創作</a:t>
            </a:r>
            <a:endParaRPr lang="en-US" altLang="zh-TW" dirty="0"/>
          </a:p>
          <a:p>
            <a:pPr>
              <a:lnSpc>
                <a:spcPct val="120000"/>
              </a:lnSpc>
            </a:pPr>
            <a:r>
              <a:rPr lang="zh-TW" altLang="en-US" dirty="0">
                <a:solidFill>
                  <a:srgbClr val="0000FF"/>
                </a:solidFill>
              </a:rPr>
              <a:t>形式審查制</a:t>
            </a:r>
            <a:endParaRPr lang="en-US" altLang="zh-TW" dirty="0">
              <a:solidFill>
                <a:srgbClr val="0000FF"/>
              </a:solidFill>
            </a:endParaRPr>
          </a:p>
          <a:p>
            <a:pPr>
              <a:lnSpc>
                <a:spcPct val="120000"/>
              </a:lnSpc>
            </a:pPr>
            <a:r>
              <a:rPr lang="zh-TW" altLang="en-US" dirty="0">
                <a:solidFill>
                  <a:srgbClr val="009900"/>
                </a:solidFill>
              </a:rPr>
              <a:t>專利權期限</a:t>
            </a:r>
            <a:r>
              <a:rPr lang="en-US" altLang="zh-TW" dirty="0">
                <a:solidFill>
                  <a:srgbClr val="009900"/>
                </a:solidFill>
              </a:rPr>
              <a:t>10</a:t>
            </a:r>
            <a:r>
              <a:rPr lang="zh-TW" altLang="en-US" dirty="0">
                <a:solidFill>
                  <a:srgbClr val="009900"/>
                </a:solidFill>
              </a:rPr>
              <a:t>年</a:t>
            </a:r>
          </a:p>
        </p:txBody>
      </p:sp>
      <p:sp>
        <p:nvSpPr>
          <p:cNvPr id="16" name="文字方塊 15"/>
          <p:cNvSpPr txBox="1"/>
          <p:nvPr/>
        </p:nvSpPr>
        <p:spPr>
          <a:xfrm>
            <a:off x="2552358" y="4959541"/>
            <a:ext cx="5745603" cy="1865126"/>
          </a:xfrm>
          <a:prstGeom prst="rect">
            <a:avLst/>
          </a:prstGeom>
          <a:noFill/>
          <a:ln>
            <a:noFill/>
          </a:ln>
        </p:spPr>
        <p:txBody>
          <a:bodyPr wrap="square" rtlCol="0">
            <a:spAutoFit/>
          </a:bodyPr>
          <a:lstStyle>
            <a:defPPr>
              <a:defRPr lang="zh-TW"/>
            </a:defPPr>
            <a:lvl1pPr>
              <a:defRPr sz="2400" b="1">
                <a:latin typeface="微軟正黑體" panose="020B0604030504040204" pitchFamily="34" charset="-120"/>
                <a:ea typeface="微軟正黑體" panose="020B0604030504040204" pitchFamily="34" charset="-120"/>
              </a:defRPr>
            </a:lvl1pPr>
          </a:lstStyle>
          <a:p>
            <a:pPr>
              <a:lnSpc>
                <a:spcPct val="120000"/>
              </a:lnSpc>
            </a:pPr>
            <a:r>
              <a:rPr lang="zh-TW" altLang="en-US" dirty="0"/>
              <a:t>設計，指對物品之全部或部分之形狀、花紋、色彩或其結合，透過視覺訴求之創作</a:t>
            </a:r>
            <a:endParaRPr lang="en-US" altLang="zh-TW" dirty="0"/>
          </a:p>
          <a:p>
            <a:pPr>
              <a:lnSpc>
                <a:spcPct val="120000"/>
              </a:lnSpc>
            </a:pPr>
            <a:r>
              <a:rPr lang="zh-TW" altLang="en-US" dirty="0">
                <a:solidFill>
                  <a:srgbClr val="0000FF"/>
                </a:solidFill>
              </a:rPr>
              <a:t>依職權實體審查制</a:t>
            </a:r>
            <a:endParaRPr lang="en-US" altLang="zh-TW" dirty="0">
              <a:solidFill>
                <a:srgbClr val="0000FF"/>
              </a:solidFill>
            </a:endParaRPr>
          </a:p>
          <a:p>
            <a:pPr>
              <a:lnSpc>
                <a:spcPct val="120000"/>
              </a:lnSpc>
            </a:pPr>
            <a:r>
              <a:rPr lang="zh-TW" altLang="en-US" dirty="0">
                <a:solidFill>
                  <a:srgbClr val="009900"/>
                </a:solidFill>
              </a:rPr>
              <a:t>專利權期限</a:t>
            </a:r>
            <a:r>
              <a:rPr lang="en-US" altLang="zh-TW" dirty="0">
                <a:solidFill>
                  <a:srgbClr val="009900"/>
                </a:solidFill>
              </a:rPr>
              <a:t>15</a:t>
            </a:r>
            <a:r>
              <a:rPr lang="zh-TW" altLang="en-US" dirty="0">
                <a:solidFill>
                  <a:srgbClr val="009900"/>
                </a:solidFill>
              </a:rPr>
              <a:t>年</a:t>
            </a:r>
          </a:p>
        </p:txBody>
      </p:sp>
    </p:spTree>
    <p:extLst>
      <p:ext uri="{BB962C8B-B14F-4D97-AF65-F5344CB8AC3E}">
        <p14:creationId xmlns:p14="http://schemas.microsoft.com/office/powerpoint/2010/main" val="1333083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發明</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25</a:t>
            </a:fld>
            <a:endParaRPr lang="zh-TW" altLang="en-US" dirty="0">
              <a:solidFill>
                <a:prstClr val="black">
                  <a:tint val="75000"/>
                </a:prstClr>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259632" y="980728"/>
            <a:ext cx="6400800" cy="3114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251520" y="4293096"/>
            <a:ext cx="8568952" cy="1754326"/>
          </a:xfrm>
          <a:prstGeom prst="rect">
            <a:avLst/>
          </a:prstGeom>
        </p:spPr>
        <p:txBody>
          <a:bodyPr wrap="square">
            <a:spAutoFit/>
          </a:bodyP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發明名稱：「新穎的生理活性物質」（專利證書號</a:t>
            </a:r>
            <a:r>
              <a:rPr lang="en-US" altLang="zh-TW" dirty="0">
                <a:latin typeface="微軟正黑體" panose="020B0604030504040204" pitchFamily="34" charset="-120"/>
                <a:ea typeface="微軟正黑體" panose="020B0604030504040204" pitchFamily="34" charset="-120"/>
              </a:rPr>
              <a:t>I334866)</a:t>
            </a:r>
          </a:p>
          <a:p>
            <a:pPr marL="285750" indent="-285750">
              <a:buFont typeface="Arial" panose="020B0604020202020204" pitchFamily="34" charset="0"/>
              <a:buChar char="•"/>
            </a:pPr>
            <a:r>
              <a:rPr lang="zh-TW" altLang="en-US" dirty="0"/>
              <a:t>發明名稱：「數位相機自動對焦裝置」（專利證書號</a:t>
            </a:r>
            <a:r>
              <a:rPr lang="en-US" altLang="zh-TW" dirty="0"/>
              <a:t>I368100</a:t>
            </a:r>
            <a:r>
              <a:rPr lang="zh-TW" altLang="en-US" dirty="0"/>
              <a:t>）</a:t>
            </a:r>
            <a:endParaRPr lang="en-US" altLang="zh-TW" dirty="0"/>
          </a:p>
          <a:p>
            <a:pPr marL="285750" indent="-285750">
              <a:buFont typeface="Arial" panose="020B0604020202020204" pitchFamily="34" charset="0"/>
              <a:buChar char="•"/>
            </a:pPr>
            <a:r>
              <a:rPr lang="zh-TW" altLang="en-US" dirty="0"/>
              <a:t>發明名稱：「薄膜電晶體陣列的製造方法」（專利證書號</a:t>
            </a:r>
            <a:r>
              <a:rPr lang="en-US" altLang="zh-TW" dirty="0"/>
              <a:t>I255959</a:t>
            </a:r>
            <a:r>
              <a:rPr lang="zh-TW" altLang="en-US" dirty="0"/>
              <a:t>）</a:t>
            </a:r>
            <a:endParaRPr lang="en-US" altLang="zh-TW" dirty="0"/>
          </a:p>
          <a:p>
            <a:pPr marL="285750" indent="-285750">
              <a:buFont typeface="Arial" panose="020B0604020202020204" pitchFamily="34" charset="0"/>
              <a:buChar char="•"/>
            </a:pPr>
            <a:r>
              <a:rPr lang="zh-TW" altLang="en-US" dirty="0"/>
              <a:t>發明名稱：「半導體之缺陷檢測方法」（專利證書號</a:t>
            </a:r>
            <a:r>
              <a:rPr lang="en-US" altLang="zh-TW" dirty="0"/>
              <a:t>I276818</a:t>
            </a:r>
            <a:r>
              <a:rPr lang="zh-TW" altLang="en-US" dirty="0"/>
              <a:t>）</a:t>
            </a:r>
            <a:endParaRPr lang="en-US" altLang="zh-TW" dirty="0"/>
          </a:p>
          <a:p>
            <a:pPr marL="285750" indent="-285750">
              <a:buFont typeface="Arial" panose="020B0604020202020204" pitchFamily="34" charset="0"/>
              <a:buChar char="•"/>
            </a:pPr>
            <a:r>
              <a:rPr lang="zh-TW" altLang="en-US" dirty="0"/>
              <a:t>發明名稱：「利用牛樟芝萃取物去氫硫色多孔菌酸以抑制腫瘤細胞生長之用途」（專利證書號</a:t>
            </a:r>
            <a:r>
              <a:rPr lang="en-US" altLang="zh-TW" dirty="0"/>
              <a:t>I363631</a:t>
            </a:r>
            <a:r>
              <a:rPr lang="zh-TW" altLang="en-US" dirty="0"/>
              <a:t>）</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590075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新型</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26</a:t>
            </a:fld>
            <a:endParaRPr lang="zh-TW" altLang="en-US" dirty="0">
              <a:solidFill>
                <a:prstClr val="black">
                  <a:tint val="75000"/>
                </a:prstClr>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356533" y="980728"/>
            <a:ext cx="6362700" cy="3524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899592" y="4558768"/>
            <a:ext cx="7560840" cy="1200329"/>
          </a:xfrm>
          <a:prstGeom prst="rect">
            <a:avLst/>
          </a:prstGeom>
        </p:spPr>
        <p:txBody>
          <a:bodyPr wrap="square">
            <a:spAutoFit/>
          </a:bodyP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新型名稱：「有頭螺絲的螺絲頭改良構造」（專利證書號</a:t>
            </a:r>
            <a:r>
              <a:rPr lang="en-US" altLang="zh-TW" dirty="0">
                <a:latin typeface="微軟正黑體" panose="020B0604030504040204" pitchFamily="34" charset="-120"/>
                <a:ea typeface="微軟正黑體" panose="020B0604030504040204" pitchFamily="34" charset="-120"/>
              </a:rPr>
              <a:t>M271974</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新型名稱：「三折傘傘骨結構改良」（專利證書號</a:t>
            </a:r>
            <a:r>
              <a:rPr lang="en-US" altLang="zh-TW" dirty="0">
                <a:latin typeface="微軟正黑體" panose="020B0604030504040204" pitchFamily="34" charset="-120"/>
                <a:ea typeface="微軟正黑體" panose="020B0604030504040204" pitchFamily="34" charset="-120"/>
              </a:rPr>
              <a:t>M417809</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新型名稱：「具殺菌燈之逆滲透純水機儲水壓力桶之改良結構」（專利證書號</a:t>
            </a:r>
            <a:r>
              <a:rPr lang="en-US" altLang="zh-TW" dirty="0">
                <a:latin typeface="微軟正黑體" panose="020B0604030504040204" pitchFamily="34" charset="-120"/>
                <a:ea typeface="微軟正黑體" panose="020B0604030504040204" pitchFamily="34" charset="-120"/>
              </a:rPr>
              <a:t>567898</a:t>
            </a:r>
            <a:r>
              <a:rPr lang="zh-TW" altLang="en-US"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973977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27</a:t>
            </a:fld>
            <a:endParaRPr lang="zh-TW" altLang="en-US" dirty="0">
              <a:solidFill>
                <a:prstClr val="black">
                  <a:tint val="75000"/>
                </a:prstClr>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480379" y="1124744"/>
            <a:ext cx="613410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899592" y="4005064"/>
            <a:ext cx="7272808" cy="1477328"/>
          </a:xfrm>
          <a:prstGeom prst="rect">
            <a:avLst/>
          </a:prstGeom>
        </p:spPr>
        <p:txBody>
          <a:bodyPr wrap="square">
            <a:spAutoFit/>
          </a:bodyP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設計名稱：「咖啡機」（專利證書號</a:t>
            </a:r>
            <a:r>
              <a:rPr lang="en-US" altLang="zh-TW" dirty="0">
                <a:latin typeface="微軟正黑體" panose="020B0604030504040204" pitchFamily="34" charset="-120"/>
                <a:ea typeface="微軟正黑體" panose="020B0604030504040204" pitchFamily="34" charset="-120"/>
              </a:rPr>
              <a:t>D148962</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設計名稱：「運動鞋之部分」</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t>設計名稱：「手機之通話圖像」</a:t>
            </a:r>
            <a:endParaRPr lang="en-US" altLang="zh-TW" dirty="0"/>
          </a:p>
          <a:p>
            <a:pPr marL="285750" indent="-285750">
              <a:buFont typeface="Arial" panose="020B0604020202020204" pitchFamily="34" charset="0"/>
              <a:buChar char="•"/>
            </a:pPr>
            <a:r>
              <a:rPr lang="zh-TW" altLang="en-US" dirty="0"/>
              <a:t>設計名稱：「一組音響」</a:t>
            </a:r>
            <a:endParaRPr lang="en-US" altLang="zh-TW" dirty="0"/>
          </a:p>
          <a:p>
            <a:pPr marL="285750" indent="-285750">
              <a:buFont typeface="Arial" panose="020B0604020202020204" pitchFamily="34" charset="0"/>
              <a:buChar char="•"/>
            </a:pPr>
            <a:r>
              <a:rPr lang="zh-TW" altLang="en-US" dirty="0"/>
              <a:t>原設計名稱：「湯匙之把手」，衍生設計名稱：「餐叉之把手」</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432168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專利種類</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28</a:t>
            </a:fld>
            <a:endParaRPr lang="zh-TW" altLang="en-US" dirty="0">
              <a:solidFill>
                <a:prstClr val="black">
                  <a:tint val="75000"/>
                </a:prstClr>
              </a:solidFill>
            </a:endParaRPr>
          </a:p>
        </p:txBody>
      </p:sp>
      <p:pic>
        <p:nvPicPr>
          <p:cNvPr id="3074"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81618" y="819759"/>
            <a:ext cx="5256584" cy="6024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2831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2E015B-A272-469C-998D-4711D8ADE348}"/>
              </a:ext>
            </a:extLst>
          </p:cNvPr>
          <p:cNvSpPr>
            <a:spLocks noGrp="1"/>
          </p:cNvSpPr>
          <p:nvPr>
            <p:ph type="title"/>
          </p:nvPr>
        </p:nvSpPr>
        <p:spPr/>
        <p:txBody>
          <a:bodyPr/>
          <a:lstStyle/>
          <a:p>
            <a:r>
              <a:rPr lang="zh-TW" altLang="en-US" dirty="0"/>
              <a:t>小結</a:t>
            </a:r>
          </a:p>
        </p:txBody>
      </p:sp>
      <p:sp>
        <p:nvSpPr>
          <p:cNvPr id="4" name="投影片編號版面配置區 3">
            <a:extLst>
              <a:ext uri="{FF2B5EF4-FFF2-40B4-BE49-F238E27FC236}">
                <a16:creationId xmlns:a16="http://schemas.microsoft.com/office/drawing/2014/main" id="{8FED4C3B-D4CC-4E6B-97F0-068B458D3EA2}"/>
              </a:ext>
            </a:extLst>
          </p:cNvPr>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29</a:t>
            </a:fld>
            <a:endParaRPr lang="zh-TW" altLang="en-US" dirty="0">
              <a:solidFill>
                <a:prstClr val="black">
                  <a:tint val="75000"/>
                </a:prstClr>
              </a:solidFill>
            </a:endParaRPr>
          </a:p>
        </p:txBody>
      </p:sp>
      <p:graphicFrame>
        <p:nvGraphicFramePr>
          <p:cNvPr id="5" name="表格 5">
            <a:extLst>
              <a:ext uri="{FF2B5EF4-FFF2-40B4-BE49-F238E27FC236}">
                <a16:creationId xmlns:a16="http://schemas.microsoft.com/office/drawing/2014/main" id="{7E36B9ED-FD7C-40E7-BBCA-0A8BB4991EC8}"/>
              </a:ext>
            </a:extLst>
          </p:cNvPr>
          <p:cNvGraphicFramePr>
            <a:graphicFrameLocks noGrp="1"/>
          </p:cNvGraphicFramePr>
          <p:nvPr>
            <p:extLst>
              <p:ext uri="{D42A27DB-BD31-4B8C-83A1-F6EECF244321}">
                <p14:modId xmlns:p14="http://schemas.microsoft.com/office/powerpoint/2010/main" val="2471124700"/>
              </p:ext>
            </p:extLst>
          </p:nvPr>
        </p:nvGraphicFramePr>
        <p:xfrm>
          <a:off x="251520" y="908721"/>
          <a:ext cx="8640960" cy="3240363"/>
        </p:xfrm>
        <a:graphic>
          <a:graphicData uri="http://schemas.openxmlformats.org/drawingml/2006/table">
            <a:tbl>
              <a:tblPr firstRow="1" bandRow="1">
                <a:tableStyleId>{8799B23B-EC83-4686-B30A-512413B5E67A}</a:tableStyleId>
              </a:tblPr>
              <a:tblGrid>
                <a:gridCol w="817042">
                  <a:extLst>
                    <a:ext uri="{9D8B030D-6E8A-4147-A177-3AD203B41FA5}">
                      <a16:colId xmlns:a16="http://schemas.microsoft.com/office/drawing/2014/main" val="3842372399"/>
                    </a:ext>
                  </a:extLst>
                </a:gridCol>
                <a:gridCol w="1343198">
                  <a:extLst>
                    <a:ext uri="{9D8B030D-6E8A-4147-A177-3AD203B41FA5}">
                      <a16:colId xmlns:a16="http://schemas.microsoft.com/office/drawing/2014/main" val="592049625"/>
                    </a:ext>
                  </a:extLst>
                </a:gridCol>
                <a:gridCol w="2160240">
                  <a:extLst>
                    <a:ext uri="{9D8B030D-6E8A-4147-A177-3AD203B41FA5}">
                      <a16:colId xmlns:a16="http://schemas.microsoft.com/office/drawing/2014/main" val="476076530"/>
                    </a:ext>
                  </a:extLst>
                </a:gridCol>
                <a:gridCol w="2160240">
                  <a:extLst>
                    <a:ext uri="{9D8B030D-6E8A-4147-A177-3AD203B41FA5}">
                      <a16:colId xmlns:a16="http://schemas.microsoft.com/office/drawing/2014/main" val="2538373189"/>
                    </a:ext>
                  </a:extLst>
                </a:gridCol>
                <a:gridCol w="2160240">
                  <a:extLst>
                    <a:ext uri="{9D8B030D-6E8A-4147-A177-3AD203B41FA5}">
                      <a16:colId xmlns:a16="http://schemas.microsoft.com/office/drawing/2014/main" val="935230971"/>
                    </a:ext>
                  </a:extLst>
                </a:gridCol>
              </a:tblGrid>
              <a:tr h="462909">
                <a:tc gridSpan="2">
                  <a:txBody>
                    <a:bodyPr/>
                    <a:lstStyle/>
                    <a:p>
                      <a:pPr algn="ctr"/>
                      <a:endParaRPr lang="zh-TW" altLang="en-US" sz="240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hMerge="1">
                  <a:txBody>
                    <a:bodyPr/>
                    <a:lstStyle/>
                    <a:p>
                      <a:endParaRPr lang="zh-TW" altLang="en-US"/>
                    </a:p>
                  </a:txBody>
                  <a:tcPr/>
                </a:tc>
                <a:tc>
                  <a:txBody>
                    <a:bodyPr/>
                    <a:lstStyle/>
                    <a:p>
                      <a:pPr algn="ctr"/>
                      <a:r>
                        <a:rPr lang="zh-TW" altLang="en-US" sz="2400" dirty="0">
                          <a:latin typeface="微軟正黑體" panose="020B0604030504040204" pitchFamily="34" charset="-120"/>
                          <a:ea typeface="微軟正黑體" panose="020B0604030504040204" pitchFamily="34" charset="-120"/>
                        </a:rPr>
                        <a:t>發明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zh-TW" altLang="en-US" sz="2400" dirty="0">
                          <a:latin typeface="微軟正黑體" panose="020B0604030504040204" pitchFamily="34" charset="-120"/>
                          <a:ea typeface="微軟正黑體" panose="020B0604030504040204" pitchFamily="34" charset="-120"/>
                        </a:rPr>
                        <a:t>新型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zh-TW" altLang="en-US" sz="2400" dirty="0">
                          <a:latin typeface="微軟正黑體" panose="020B0604030504040204" pitchFamily="34" charset="-120"/>
                          <a:ea typeface="微軟正黑體" panose="020B0604030504040204" pitchFamily="34" charset="-120"/>
                        </a:rPr>
                        <a:t>設計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363347959"/>
                  </a:ext>
                </a:extLst>
              </a:tr>
              <a:tr h="462909">
                <a:tc rowSpan="3">
                  <a:txBody>
                    <a:bodyPr/>
                    <a:lstStyle/>
                    <a:p>
                      <a:pPr algn="ctr"/>
                      <a:r>
                        <a:rPr lang="zh-TW" altLang="en-US" sz="2400" dirty="0">
                          <a:latin typeface="微軟正黑體" panose="020B0604030504040204" pitchFamily="34" charset="-120"/>
                          <a:ea typeface="微軟正黑體" panose="020B0604030504040204" pitchFamily="34" charset="-120"/>
                        </a:rPr>
                        <a:t>標</a:t>
                      </a:r>
                      <a:endParaRPr lang="en-US" altLang="zh-TW" sz="2400" dirty="0">
                        <a:latin typeface="微軟正黑體" panose="020B0604030504040204" pitchFamily="34" charset="-120"/>
                        <a:ea typeface="微軟正黑體" panose="020B0604030504040204" pitchFamily="34" charset="-120"/>
                      </a:endParaRPr>
                    </a:p>
                    <a:p>
                      <a:pPr algn="ctr"/>
                      <a:r>
                        <a:rPr lang="zh-TW" altLang="en-US" sz="2400" dirty="0">
                          <a:latin typeface="微軟正黑體" panose="020B0604030504040204" pitchFamily="34" charset="-120"/>
                          <a:ea typeface="微軟正黑體" panose="020B0604030504040204" pitchFamily="34" charset="-120"/>
                        </a:rPr>
                        <a:t>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a:latin typeface="微軟正黑體" panose="020B0604030504040204" pitchFamily="34" charset="-120"/>
                          <a:ea typeface="微軟正黑體" panose="020B0604030504040204" pitchFamily="34" charset="-120"/>
                        </a:rPr>
                        <a:t>物品</a:t>
                      </a:r>
                      <a:endParaRPr lang="zh-TW" altLang="en-US" sz="240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latin typeface="微軟正黑體" panose="020B0604030504040204" pitchFamily="34" charset="-120"/>
                          <a:ea typeface="微軟正黑體" panose="020B0604030504040204" pitchFamily="34" charset="-120"/>
                        </a:rPr>
                        <a:t>√</a:t>
                      </a:r>
                      <a:r>
                        <a:rPr lang="en-US" altLang="zh-TW" sz="2400" dirty="0">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視覺訴求</a:t>
                      </a:r>
                      <a:r>
                        <a:rPr lang="en-US" altLang="zh-TW" sz="2400" dirty="0">
                          <a:latin typeface="微軟正黑體" panose="020B0604030504040204" pitchFamily="34" charset="-120"/>
                          <a:ea typeface="微軟正黑體" panose="020B0604030504040204" pitchFamily="34" charset="-120"/>
                        </a:rPr>
                        <a:t>)</a:t>
                      </a:r>
                      <a:endParaRPr lang="zh-TW" altLang="en-US" sz="240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1660693"/>
                  </a:ext>
                </a:extLst>
              </a:tr>
              <a:tr h="462909">
                <a:tc vMerge="1">
                  <a:txBody>
                    <a:bodyPr/>
                    <a:lstStyle/>
                    <a:p>
                      <a:endParaRPr lang="zh-TW" altLang="en-US" dirty="0"/>
                    </a:p>
                  </a:txBody>
                  <a:tcPr>
                    <a:lnR w="12700" cap="flat" cmpd="sng" algn="ctr">
                      <a:solidFill>
                        <a:schemeClr val="tx1"/>
                      </a:solidFill>
                      <a:prstDash val="solid"/>
                      <a:round/>
                      <a:headEnd type="none" w="med" len="med"/>
                      <a:tailEnd type="none" w="med" len="med"/>
                    </a:lnR>
                  </a:tcPr>
                </a:tc>
                <a:tc>
                  <a:txBody>
                    <a:bodyPr/>
                    <a:lstStyle/>
                    <a:p>
                      <a:pPr algn="ctr"/>
                      <a:r>
                        <a:rPr lang="zh-TW" altLang="en-US" sz="2400" dirty="0">
                          <a:latin typeface="微軟正黑體" panose="020B0604030504040204" pitchFamily="34" charset="-120"/>
                          <a:ea typeface="微軟正黑體" panose="020B0604030504040204" pitchFamily="34" charset="-120"/>
                        </a:rPr>
                        <a:t>物質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微軟正黑體" panose="020B0604030504040204" pitchFamily="34" charset="-120"/>
                          <a:ea typeface="微軟正黑體" panose="020B0604030504040204" pitchFamily="34" charset="-120"/>
                        </a:rPr>
                        <a:t>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微軟正黑體" panose="020B0604030504040204" pitchFamily="34" charset="-120"/>
                          <a:ea typeface="微軟正黑體" panose="020B0604030504040204" pitchFamily="34" charset="-120"/>
                        </a:rPr>
                        <a:t>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111495"/>
                  </a:ext>
                </a:extLst>
              </a:tr>
              <a:tr h="462909">
                <a:tc vMerge="1">
                  <a:txBody>
                    <a:bodyPr/>
                    <a:lstStyle/>
                    <a:p>
                      <a:endParaRPr lang="zh-TW" altLang="en-US" dirty="0"/>
                    </a:p>
                  </a:txBody>
                  <a:tcPr>
                    <a:lnR w="12700" cap="flat" cmpd="sng" algn="ctr">
                      <a:solidFill>
                        <a:schemeClr val="tx1"/>
                      </a:solidFill>
                      <a:prstDash val="solid"/>
                      <a:round/>
                      <a:headEnd type="none" w="med" len="med"/>
                      <a:tailEnd type="none" w="med" len="med"/>
                    </a:lnR>
                  </a:tcPr>
                </a:tc>
                <a:tc>
                  <a:txBody>
                    <a:bodyPr/>
                    <a:lstStyle/>
                    <a:p>
                      <a:pPr algn="ctr"/>
                      <a:r>
                        <a:rPr lang="zh-TW" altLang="en-US" sz="2400" dirty="0">
                          <a:latin typeface="微軟正黑體" panose="020B0604030504040204" pitchFamily="34" charset="-120"/>
                          <a:ea typeface="微軟正黑體" panose="020B0604030504040204" pitchFamily="34" charset="-120"/>
                        </a:rPr>
                        <a:t>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微軟正黑體" panose="020B0604030504040204" pitchFamily="34" charset="-120"/>
                          <a:ea typeface="微軟正黑體" panose="020B0604030504040204" pitchFamily="34" charset="-120"/>
                        </a:rPr>
                        <a:t>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微軟正黑體" panose="020B0604030504040204" pitchFamily="34" charset="-120"/>
                          <a:ea typeface="微軟正黑體" panose="020B0604030504040204" pitchFamily="34" charset="-120"/>
                        </a:rPr>
                        <a:t>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435071"/>
                  </a:ext>
                </a:extLst>
              </a:tr>
              <a:tr h="462909">
                <a:tc rowSpan="2">
                  <a:txBody>
                    <a:bodyPr/>
                    <a:lstStyle/>
                    <a:p>
                      <a:pPr algn="ctr"/>
                      <a:r>
                        <a:rPr lang="zh-TW" altLang="en-US" sz="2400" dirty="0">
                          <a:latin typeface="微軟正黑體" panose="020B0604030504040204" pitchFamily="34" charset="-120"/>
                          <a:ea typeface="微軟正黑體" panose="020B0604030504040204" pitchFamily="34" charset="-120"/>
                        </a:rPr>
                        <a:t>審</a:t>
                      </a:r>
                      <a:endParaRPr lang="en-US" altLang="zh-TW" sz="2400" dirty="0">
                        <a:latin typeface="微軟正黑體" panose="020B0604030504040204" pitchFamily="34" charset="-120"/>
                        <a:ea typeface="微軟正黑體" panose="020B0604030504040204" pitchFamily="34" charset="-120"/>
                      </a:endParaRPr>
                    </a:p>
                    <a:p>
                      <a:pPr algn="ctr"/>
                      <a:r>
                        <a:rPr lang="zh-TW" altLang="en-US" sz="2400" dirty="0">
                          <a:latin typeface="微軟正黑體" panose="020B0604030504040204" pitchFamily="34" charset="-120"/>
                          <a:ea typeface="微軟正黑體" panose="020B0604030504040204" pitchFamily="34" charset="-120"/>
                        </a:rPr>
                        <a:t>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微軟正黑體" panose="020B0604030504040204" pitchFamily="34" charset="-120"/>
                          <a:ea typeface="微軟正黑體" panose="020B0604030504040204" pitchFamily="34" charset="-120"/>
                        </a:rPr>
                        <a:t>實體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微軟正黑體" panose="020B0604030504040204" pitchFamily="34" charset="-120"/>
                          <a:ea typeface="微軟正黑體" panose="020B0604030504040204" pitchFamily="34" charset="-120"/>
                        </a:rPr>
                        <a:t>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2696782"/>
                  </a:ext>
                </a:extLst>
              </a:tr>
              <a:tr h="462909">
                <a:tc v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微軟正黑體" panose="020B0604030504040204" pitchFamily="34" charset="-120"/>
                          <a:ea typeface="微軟正黑體" panose="020B0604030504040204" pitchFamily="34" charset="-120"/>
                        </a:rPr>
                        <a:t>形式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latin typeface="微軟正黑體" panose="020B0604030504040204" pitchFamily="34" charset="-120"/>
                          <a:ea typeface="微軟正黑體" panose="020B0604030504040204" pitchFamily="34" charset="-12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3017173"/>
                  </a:ext>
                </a:extLst>
              </a:tr>
              <a:tr h="462909">
                <a:tc gridSpan="2">
                  <a:txBody>
                    <a:bodyPr/>
                    <a:lstStyle/>
                    <a:p>
                      <a:pPr algn="ctr"/>
                      <a:r>
                        <a:rPr lang="zh-TW" altLang="en-US" sz="2400" dirty="0">
                          <a:latin typeface="微軟正黑體" panose="020B0604030504040204" pitchFamily="34" charset="-120"/>
                          <a:ea typeface="微軟正黑體" panose="020B0604030504040204" pitchFamily="34" charset="-120"/>
                        </a:rPr>
                        <a:t>專利權年限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a:txBody>
                    <a:bodyPr/>
                    <a:lstStyle/>
                    <a:p>
                      <a:pPr algn="ctr"/>
                      <a:r>
                        <a:rPr lang="en-US" altLang="zh-TW" sz="2400" dirty="0">
                          <a:latin typeface="微軟正黑體" panose="020B0604030504040204" pitchFamily="34" charset="-120"/>
                          <a:ea typeface="微軟正黑體" panose="020B0604030504040204" pitchFamily="34" charset="-120"/>
                        </a:rPr>
                        <a:t>20</a:t>
                      </a:r>
                      <a:r>
                        <a:rPr lang="zh-TW" altLang="en-US" sz="2400" dirty="0">
                          <a:latin typeface="微軟正黑體" panose="020B0604030504040204" pitchFamily="34" charset="-120"/>
                          <a:ea typeface="微軟正黑體" panose="020B0604030504040204" pitchFamily="34" charset="-120"/>
                        </a:rPr>
                        <a:t>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微軟正黑體" panose="020B0604030504040204" pitchFamily="34" charset="-120"/>
                          <a:ea typeface="微軟正黑體" panose="020B0604030504040204" pitchFamily="34" charset="-120"/>
                        </a:rPr>
                        <a:t>10</a:t>
                      </a:r>
                      <a:r>
                        <a:rPr lang="zh-TW" altLang="en-US" sz="2400" dirty="0">
                          <a:latin typeface="微軟正黑體" panose="020B0604030504040204" pitchFamily="34" charset="-120"/>
                          <a:ea typeface="微軟正黑體" panose="020B0604030504040204" pitchFamily="34" charset="-120"/>
                        </a:rPr>
                        <a:t>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微軟正黑體" panose="020B0604030504040204" pitchFamily="34" charset="-120"/>
                          <a:ea typeface="微軟正黑體" panose="020B0604030504040204" pitchFamily="34" charset="-120"/>
                        </a:rPr>
                        <a:t>15</a:t>
                      </a:r>
                      <a:r>
                        <a:rPr lang="zh-TW" altLang="en-US" sz="2400" dirty="0">
                          <a:latin typeface="微軟正黑體" panose="020B0604030504040204" pitchFamily="34" charset="-120"/>
                          <a:ea typeface="微軟正黑體" panose="020B0604030504040204" pitchFamily="34" charset="-120"/>
                        </a:rPr>
                        <a:t>年</a:t>
                      </a:r>
                      <a:endParaRPr lang="en-US" altLang="zh-TW" sz="240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458251"/>
                  </a:ext>
                </a:extLst>
              </a:tr>
            </a:tbl>
          </a:graphicData>
        </a:graphic>
      </p:graphicFrame>
      <p:sp>
        <p:nvSpPr>
          <p:cNvPr id="15" name="箭號: 向右 14">
            <a:extLst>
              <a:ext uri="{FF2B5EF4-FFF2-40B4-BE49-F238E27FC236}">
                <a16:creationId xmlns:a16="http://schemas.microsoft.com/office/drawing/2014/main" id="{49E9BD99-615F-448A-8761-A655B25634EB}"/>
              </a:ext>
            </a:extLst>
          </p:cNvPr>
          <p:cNvSpPr/>
          <p:nvPr/>
        </p:nvSpPr>
        <p:spPr>
          <a:xfrm>
            <a:off x="827584" y="5131579"/>
            <a:ext cx="7776864" cy="1696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箭號: 向下 15">
            <a:extLst>
              <a:ext uri="{FF2B5EF4-FFF2-40B4-BE49-F238E27FC236}">
                <a16:creationId xmlns:a16="http://schemas.microsoft.com/office/drawing/2014/main" id="{D3BF050A-0F2D-4F28-90E3-3029CC68EB48}"/>
              </a:ext>
            </a:extLst>
          </p:cNvPr>
          <p:cNvSpPr/>
          <p:nvPr/>
        </p:nvSpPr>
        <p:spPr>
          <a:xfrm>
            <a:off x="971600" y="4869160"/>
            <a:ext cx="216024" cy="2942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DD070180-0D5E-41E2-A793-6369FD0515B4}"/>
              </a:ext>
            </a:extLst>
          </p:cNvPr>
          <p:cNvSpPr txBox="1"/>
          <p:nvPr/>
        </p:nvSpPr>
        <p:spPr>
          <a:xfrm>
            <a:off x="641030" y="4446372"/>
            <a:ext cx="877163"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申請日</a:t>
            </a:r>
          </a:p>
        </p:txBody>
      </p:sp>
      <p:sp>
        <p:nvSpPr>
          <p:cNvPr id="20" name="文字方塊 19">
            <a:extLst>
              <a:ext uri="{FF2B5EF4-FFF2-40B4-BE49-F238E27FC236}">
                <a16:creationId xmlns:a16="http://schemas.microsoft.com/office/drawing/2014/main" id="{0B64D813-66B0-412E-9B5E-1951C1B7CB53}"/>
              </a:ext>
            </a:extLst>
          </p:cNvPr>
          <p:cNvSpPr txBox="1"/>
          <p:nvPr/>
        </p:nvSpPr>
        <p:spPr>
          <a:xfrm>
            <a:off x="1842891" y="4455665"/>
            <a:ext cx="877163"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公告日</a:t>
            </a:r>
          </a:p>
        </p:txBody>
      </p:sp>
      <p:sp>
        <p:nvSpPr>
          <p:cNvPr id="21" name="箭號: 向下 20">
            <a:extLst>
              <a:ext uri="{FF2B5EF4-FFF2-40B4-BE49-F238E27FC236}">
                <a16:creationId xmlns:a16="http://schemas.microsoft.com/office/drawing/2014/main" id="{0D98C162-A2B2-416A-B73E-88649A1520B9}"/>
              </a:ext>
            </a:extLst>
          </p:cNvPr>
          <p:cNvSpPr/>
          <p:nvPr/>
        </p:nvSpPr>
        <p:spPr>
          <a:xfrm>
            <a:off x="2173460" y="4853259"/>
            <a:ext cx="216024" cy="2942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箭號: 向右 21">
            <a:extLst>
              <a:ext uri="{FF2B5EF4-FFF2-40B4-BE49-F238E27FC236}">
                <a16:creationId xmlns:a16="http://schemas.microsoft.com/office/drawing/2014/main" id="{C5A0B552-593F-4333-9664-0C67097B4761}"/>
              </a:ext>
            </a:extLst>
          </p:cNvPr>
          <p:cNvSpPr/>
          <p:nvPr/>
        </p:nvSpPr>
        <p:spPr>
          <a:xfrm>
            <a:off x="1079610" y="6428075"/>
            <a:ext cx="6660743" cy="1789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23" name="箭號: 向右 22">
            <a:extLst>
              <a:ext uri="{FF2B5EF4-FFF2-40B4-BE49-F238E27FC236}">
                <a16:creationId xmlns:a16="http://schemas.microsoft.com/office/drawing/2014/main" id="{E865B0DB-B689-4697-A19F-4792366714D0}"/>
              </a:ext>
            </a:extLst>
          </p:cNvPr>
          <p:cNvSpPr/>
          <p:nvPr/>
        </p:nvSpPr>
        <p:spPr>
          <a:xfrm>
            <a:off x="2281473" y="5834131"/>
            <a:ext cx="5458880" cy="134641"/>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24" name="箭號: 向右 23">
            <a:extLst>
              <a:ext uri="{FF2B5EF4-FFF2-40B4-BE49-F238E27FC236}">
                <a16:creationId xmlns:a16="http://schemas.microsoft.com/office/drawing/2014/main" id="{E3E72E0E-B76F-4D8C-9A81-AD8EA76FD28A}"/>
              </a:ext>
            </a:extLst>
          </p:cNvPr>
          <p:cNvSpPr/>
          <p:nvPr/>
        </p:nvSpPr>
        <p:spPr>
          <a:xfrm>
            <a:off x="1079610" y="5818668"/>
            <a:ext cx="1201862" cy="178953"/>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p>
        </p:txBody>
      </p:sp>
      <p:sp>
        <p:nvSpPr>
          <p:cNvPr id="25" name="文字方塊 24">
            <a:extLst>
              <a:ext uri="{FF2B5EF4-FFF2-40B4-BE49-F238E27FC236}">
                <a16:creationId xmlns:a16="http://schemas.microsoft.com/office/drawing/2014/main" id="{494A44A5-8EFB-4C36-B62A-C403E2089101}"/>
              </a:ext>
            </a:extLst>
          </p:cNvPr>
          <p:cNvSpPr txBox="1"/>
          <p:nvPr/>
        </p:nvSpPr>
        <p:spPr>
          <a:xfrm>
            <a:off x="1357375" y="5448691"/>
            <a:ext cx="646331"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審查</a:t>
            </a:r>
          </a:p>
        </p:txBody>
      </p:sp>
      <p:sp>
        <p:nvSpPr>
          <p:cNvPr id="26" name="文字方塊 25">
            <a:extLst>
              <a:ext uri="{FF2B5EF4-FFF2-40B4-BE49-F238E27FC236}">
                <a16:creationId xmlns:a16="http://schemas.microsoft.com/office/drawing/2014/main" id="{C4AA362A-1F6A-4DEE-A142-2EAD7B856C15}"/>
              </a:ext>
            </a:extLst>
          </p:cNvPr>
          <p:cNvSpPr txBox="1"/>
          <p:nvPr/>
        </p:nvSpPr>
        <p:spPr>
          <a:xfrm>
            <a:off x="4079367" y="5448691"/>
            <a:ext cx="1338828"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專利權期間</a:t>
            </a:r>
          </a:p>
        </p:txBody>
      </p:sp>
      <p:sp>
        <p:nvSpPr>
          <p:cNvPr id="27" name="文字方塊 26">
            <a:extLst>
              <a:ext uri="{FF2B5EF4-FFF2-40B4-BE49-F238E27FC236}">
                <a16:creationId xmlns:a16="http://schemas.microsoft.com/office/drawing/2014/main" id="{291B3FFE-6571-4BBA-B840-D86280004C7F}"/>
              </a:ext>
            </a:extLst>
          </p:cNvPr>
          <p:cNvSpPr txBox="1"/>
          <p:nvPr/>
        </p:nvSpPr>
        <p:spPr>
          <a:xfrm>
            <a:off x="4079367" y="6079389"/>
            <a:ext cx="1338828"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專利權年限</a:t>
            </a:r>
          </a:p>
        </p:txBody>
      </p:sp>
      <p:sp>
        <p:nvSpPr>
          <p:cNvPr id="28" name="箭號: 向下 27">
            <a:extLst>
              <a:ext uri="{FF2B5EF4-FFF2-40B4-BE49-F238E27FC236}">
                <a16:creationId xmlns:a16="http://schemas.microsoft.com/office/drawing/2014/main" id="{DF0F192E-823F-4CDB-99EA-91AF7EF3DDA6}"/>
              </a:ext>
            </a:extLst>
          </p:cNvPr>
          <p:cNvSpPr/>
          <p:nvPr/>
        </p:nvSpPr>
        <p:spPr>
          <a:xfrm>
            <a:off x="7596336" y="4842471"/>
            <a:ext cx="216024" cy="2942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文字方塊 28">
            <a:extLst>
              <a:ext uri="{FF2B5EF4-FFF2-40B4-BE49-F238E27FC236}">
                <a16:creationId xmlns:a16="http://schemas.microsoft.com/office/drawing/2014/main" id="{40C8D5EE-627A-4E98-8AE9-3E3DF3B9B6E7}"/>
              </a:ext>
            </a:extLst>
          </p:cNvPr>
          <p:cNvSpPr txBox="1"/>
          <p:nvPr/>
        </p:nvSpPr>
        <p:spPr>
          <a:xfrm>
            <a:off x="7381182" y="4513892"/>
            <a:ext cx="646331"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屆期</a:t>
            </a:r>
          </a:p>
        </p:txBody>
      </p:sp>
    </p:spTree>
    <p:extLst>
      <p:ext uri="{BB962C8B-B14F-4D97-AF65-F5344CB8AC3E}">
        <p14:creationId xmlns:p14="http://schemas.microsoft.com/office/powerpoint/2010/main" val="2376862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思考</a:t>
            </a:r>
            <a:r>
              <a:rPr lang="en-US" altLang="zh-TW" dirty="0"/>
              <a:t>-</a:t>
            </a:r>
            <a:r>
              <a:rPr lang="zh-TW" altLang="en-US" dirty="0"/>
              <a:t>你會申請什麼類型專利</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30</a:t>
            </a:fld>
            <a:endParaRPr lang="zh-TW" altLang="en-US" dirty="0">
              <a:solidFill>
                <a:prstClr val="black">
                  <a:tint val="75000"/>
                </a:prstClr>
              </a:solidFill>
            </a:endParaRP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97666" y="1071563"/>
            <a:ext cx="2682174" cy="2141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797666" y="3296422"/>
            <a:ext cx="2151551" cy="246221"/>
          </a:xfrm>
          <a:prstGeom prst="rect">
            <a:avLst/>
          </a:prstGeom>
        </p:spPr>
        <p:txBody>
          <a:bodyPr wrap="none">
            <a:spAutoFit/>
          </a:bodyPr>
          <a:lstStyle/>
          <a:p>
            <a:r>
              <a:rPr lang="en-US" altLang="zh-TW" sz="1000" dirty="0"/>
              <a:t>https://news.gamme.com.tw/804900</a:t>
            </a:r>
            <a:endParaRPr lang="zh-TW" altLang="en-US" sz="1000" dirty="0"/>
          </a:p>
        </p:txBody>
      </p:sp>
      <p:pic>
        <p:nvPicPr>
          <p:cNvPr id="1027"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796136" y="4218848"/>
            <a:ext cx="2638902" cy="21284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5796136" y="6395982"/>
            <a:ext cx="2563522" cy="246221"/>
          </a:xfrm>
          <a:prstGeom prst="rect">
            <a:avLst/>
          </a:prstGeom>
        </p:spPr>
        <p:txBody>
          <a:bodyPr wrap="none">
            <a:spAutoFit/>
          </a:bodyPr>
          <a:lstStyle/>
          <a:p>
            <a:r>
              <a:rPr lang="en-US" altLang="zh-TW" sz="1000" dirty="0"/>
              <a:t>http://www.sohu.com/a/164869153_379180</a:t>
            </a:r>
            <a:endParaRPr lang="zh-TW" altLang="en-US" sz="1000" dirty="0"/>
          </a:p>
        </p:txBody>
      </p:sp>
      <p:pic>
        <p:nvPicPr>
          <p:cNvPr id="1028" name="Picture 4"/>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23527" y="3833179"/>
            <a:ext cx="4464497" cy="2514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a:xfrm>
            <a:off x="354112" y="6296092"/>
            <a:ext cx="4572000" cy="553998"/>
          </a:xfrm>
          <a:prstGeom prst="rect">
            <a:avLst/>
          </a:prstGeom>
        </p:spPr>
        <p:txBody>
          <a:bodyPr>
            <a:spAutoFit/>
          </a:bodyPr>
          <a:lstStyle/>
          <a:p>
            <a:r>
              <a:rPr lang="en-US" altLang="zh-TW" sz="1000" dirty="0"/>
              <a:t>https://blog.xuite.net/jx51zvxf/blog/432483496-Levic%E6%A8%82%E6%89%89-%E6%89%8B%E5%B7%A5%E6%B9%AF%E5%8C%99%E9%80%A0%E5%9E%8B%E9%A4%85%E4%B9%BE</a:t>
            </a:r>
            <a:endParaRPr lang="zh-TW" altLang="en-US" sz="1000" dirty="0"/>
          </a:p>
        </p:txBody>
      </p:sp>
      <p:pic>
        <p:nvPicPr>
          <p:cNvPr id="1029" name="Picture 5"/>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225047" y="836712"/>
            <a:ext cx="4713361" cy="2996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p:nvSpPr>
        <p:spPr>
          <a:xfrm>
            <a:off x="5508104" y="3849516"/>
            <a:ext cx="1382110" cy="246221"/>
          </a:xfrm>
          <a:prstGeom prst="rect">
            <a:avLst/>
          </a:prstGeom>
        </p:spPr>
        <p:txBody>
          <a:bodyPr wrap="none">
            <a:spAutoFit/>
          </a:bodyPr>
          <a:lstStyle/>
          <a:p>
            <a:r>
              <a:rPr lang="en-US" altLang="zh-TW" sz="1000" dirty="0"/>
              <a:t>https://tw.hotels.com/</a:t>
            </a:r>
            <a:endParaRPr lang="zh-TW" altLang="en-US" sz="1000" dirty="0"/>
          </a:p>
        </p:txBody>
      </p:sp>
    </p:spTree>
    <p:extLst>
      <p:ext uri="{BB962C8B-B14F-4D97-AF65-F5344CB8AC3E}">
        <p14:creationId xmlns:p14="http://schemas.microsoft.com/office/powerpoint/2010/main" val="45551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31</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專利的重要特性</a:t>
            </a:r>
          </a:p>
        </p:txBody>
      </p:sp>
    </p:spTree>
    <p:extLst>
      <p:ext uri="{BB962C8B-B14F-4D97-AF65-F5344CB8AC3E}">
        <p14:creationId xmlns:p14="http://schemas.microsoft.com/office/powerpoint/2010/main" val="766843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B8A3BE-41FE-C90B-3EAA-12A189EDDB89}"/>
              </a:ext>
            </a:extLst>
          </p:cNvPr>
          <p:cNvSpPr>
            <a:spLocks noGrp="1"/>
          </p:cNvSpPr>
          <p:nvPr>
            <p:ph type="title"/>
          </p:nvPr>
        </p:nvSpPr>
        <p:spPr/>
        <p:txBody>
          <a:bodyPr/>
          <a:lstStyle/>
          <a:p>
            <a:r>
              <a:rPr lang="zh-TW" altLang="en-US" dirty="0"/>
              <a:t>案例</a:t>
            </a:r>
          </a:p>
        </p:txBody>
      </p:sp>
      <p:sp>
        <p:nvSpPr>
          <p:cNvPr id="5" name="文字方塊 4">
            <a:extLst>
              <a:ext uri="{FF2B5EF4-FFF2-40B4-BE49-F238E27FC236}">
                <a16:creationId xmlns:a16="http://schemas.microsoft.com/office/drawing/2014/main" id="{0E5AEB41-A156-D5C4-7DA6-6EDDCB0DD483}"/>
              </a:ext>
            </a:extLst>
          </p:cNvPr>
          <p:cNvSpPr txBox="1"/>
          <p:nvPr/>
        </p:nvSpPr>
        <p:spPr>
          <a:xfrm>
            <a:off x="84330" y="908720"/>
            <a:ext cx="8975340" cy="4247317"/>
          </a:xfrm>
          <a:prstGeom prst="rect">
            <a:avLst/>
          </a:prstGeom>
          <a:noFill/>
        </p:spPr>
        <p:txBody>
          <a:bodyPr wrap="square">
            <a:spAutoFit/>
          </a:bodyPr>
          <a:lstStyle/>
          <a:p>
            <a:pPr algn="just"/>
            <a:r>
              <a:rPr lang="en-US" altLang="zh-TW" b="0" i="0" dirty="0">
                <a:solidFill>
                  <a:srgbClr val="343434"/>
                </a:solidFill>
                <a:effectLst/>
                <a:latin typeface="微軟正黑體" panose="020B0604030504040204" pitchFamily="34" charset="-120"/>
                <a:ea typeface="微軟正黑體" panose="020B0604030504040204" pitchFamily="34" charset="-120"/>
              </a:rPr>
              <a:t>Dr. Dan Ryan </a:t>
            </a:r>
            <a:r>
              <a:rPr lang="zh-TW" altLang="en-US" b="0" i="0" dirty="0">
                <a:solidFill>
                  <a:srgbClr val="343434"/>
                </a:solidFill>
                <a:effectLst/>
                <a:latin typeface="微軟正黑體" panose="020B0604030504040204" pitchFamily="34" charset="-120"/>
                <a:ea typeface="微軟正黑體" panose="020B0604030504040204" pitchFamily="34" charset="-120"/>
              </a:rPr>
              <a:t>教授在美國某大學環境科學研究所任教多年，他在該校領導的研究團隊，致力於研究從天然植物中，提取有效殺蟲成分，配製成環保無害的植物殺蟲劑，其中特別是他的「印楝素植物性殺蟲劑」的研究，該研究是從一種名為「印度楝樹」的植物種子中，淬取出植物農藥中所需的「印楝素」，再以印棟素製成高效、低毒、無殘留的植物性殺蟲劑，在注重環境保護的今天，特別受到環保科技界的重視。</a:t>
            </a:r>
            <a:r>
              <a:rPr lang="en-US" altLang="zh-TW" i="0" u="sng" dirty="0">
                <a:solidFill>
                  <a:srgbClr val="343434"/>
                </a:solidFill>
                <a:effectLst/>
                <a:latin typeface="微軟正黑體" panose="020B0604030504040204" pitchFamily="34" charset="-120"/>
                <a:ea typeface="微軟正黑體" panose="020B0604030504040204" pitchFamily="34" charset="-120"/>
              </a:rPr>
              <a:t>Ryan</a:t>
            </a:r>
            <a:r>
              <a:rPr lang="zh-TW" altLang="en-US" i="0" u="sng" dirty="0">
                <a:solidFill>
                  <a:srgbClr val="343434"/>
                </a:solidFill>
                <a:effectLst/>
                <a:latin typeface="微軟正黑體" panose="020B0604030504040204" pitchFamily="34" charset="-120"/>
                <a:ea typeface="微軟正黑體" panose="020B0604030504040204" pitchFamily="34" charset="-120"/>
              </a:rPr>
              <a:t>教授所任教的該所大學，將此項研究成果，於</a:t>
            </a:r>
            <a:r>
              <a:rPr lang="en-US" altLang="zh-TW" b="1" i="0" u="sng" dirty="0">
                <a:solidFill>
                  <a:srgbClr val="343434"/>
                </a:solidFill>
                <a:effectLst/>
                <a:latin typeface="微軟正黑體" panose="020B0604030504040204" pitchFamily="34" charset="-120"/>
                <a:ea typeface="微軟正黑體" panose="020B0604030504040204" pitchFamily="34" charset="-120"/>
              </a:rPr>
              <a:t>2004</a:t>
            </a:r>
            <a:r>
              <a:rPr lang="zh-TW" altLang="en-US" b="1" i="0" u="sng" dirty="0">
                <a:solidFill>
                  <a:srgbClr val="343434"/>
                </a:solidFill>
                <a:effectLst/>
                <a:latin typeface="微軟正黑體" panose="020B0604030504040204" pitchFamily="34" charset="-120"/>
                <a:ea typeface="微軟正黑體" panose="020B0604030504040204" pitchFamily="34" charset="-120"/>
              </a:rPr>
              <a:t>年</a:t>
            </a:r>
            <a:r>
              <a:rPr lang="en-US" altLang="zh-TW" b="1" i="0" u="sng" dirty="0">
                <a:solidFill>
                  <a:srgbClr val="343434"/>
                </a:solidFill>
                <a:effectLst/>
                <a:latin typeface="微軟正黑體" panose="020B0604030504040204" pitchFamily="34" charset="-120"/>
                <a:ea typeface="微軟正黑體" panose="020B0604030504040204" pitchFamily="34" charset="-120"/>
              </a:rPr>
              <a:t>7</a:t>
            </a:r>
            <a:r>
              <a:rPr lang="zh-TW" altLang="en-US" b="1" i="0" u="sng" dirty="0">
                <a:solidFill>
                  <a:srgbClr val="343434"/>
                </a:solidFill>
                <a:effectLst/>
                <a:latin typeface="微軟正黑體" panose="020B0604030504040204" pitchFamily="34" charset="-120"/>
                <a:ea typeface="微軟正黑體" panose="020B0604030504040204" pitchFamily="34" charset="-120"/>
              </a:rPr>
              <a:t>月</a:t>
            </a:r>
            <a:r>
              <a:rPr lang="en-US" altLang="zh-TW" b="1" i="0" u="sng" dirty="0">
                <a:solidFill>
                  <a:srgbClr val="343434"/>
                </a:solidFill>
                <a:effectLst/>
                <a:latin typeface="微軟正黑體" panose="020B0604030504040204" pitchFamily="34" charset="-120"/>
                <a:ea typeface="微軟正黑體" panose="020B0604030504040204" pitchFamily="34" charset="-120"/>
              </a:rPr>
              <a:t>20</a:t>
            </a:r>
            <a:r>
              <a:rPr lang="zh-TW" altLang="en-US" b="1" i="0" u="sng" dirty="0">
                <a:solidFill>
                  <a:srgbClr val="343434"/>
                </a:solidFill>
                <a:effectLst/>
                <a:latin typeface="微軟正黑體" panose="020B0604030504040204" pitchFamily="34" charset="-120"/>
                <a:ea typeface="微軟正黑體" panose="020B0604030504040204" pitchFamily="34" charset="-120"/>
              </a:rPr>
              <a:t>日 </a:t>
            </a:r>
            <a:r>
              <a:rPr lang="zh-TW" altLang="en-US" i="0" u="sng" dirty="0">
                <a:solidFill>
                  <a:srgbClr val="343434"/>
                </a:solidFill>
                <a:effectLst/>
                <a:latin typeface="微軟正黑體" panose="020B0604030504040204" pitchFamily="34" charset="-120"/>
                <a:ea typeface="微軟正黑體" panose="020B0604030504040204" pitchFamily="34" charset="-120"/>
              </a:rPr>
              <a:t>，</a:t>
            </a:r>
            <a:r>
              <a:rPr lang="zh-TW" altLang="en-US" b="1" i="0" u="sng" dirty="0">
                <a:solidFill>
                  <a:srgbClr val="343434"/>
                </a:solidFill>
                <a:effectLst/>
                <a:latin typeface="微軟正黑體" panose="020B0604030504040204" pitchFamily="34" charset="-120"/>
                <a:ea typeface="微軟正黑體" panose="020B0604030504040204" pitchFamily="34" charset="-120"/>
              </a:rPr>
              <a:t>向美國專利商標局</a:t>
            </a:r>
            <a:r>
              <a:rPr lang="zh-TW" altLang="en-US" i="0" u="sng" dirty="0">
                <a:solidFill>
                  <a:srgbClr val="343434"/>
                </a:solidFill>
                <a:effectLst/>
                <a:latin typeface="微軟正黑體" panose="020B0604030504040204" pitchFamily="34" charset="-120"/>
                <a:ea typeface="微軟正黑體" panose="020B0604030504040204" pitchFamily="34" charset="-120"/>
              </a:rPr>
              <a:t>提出發明專利申請，</a:t>
            </a:r>
            <a:r>
              <a:rPr lang="en-US" altLang="zh-TW" i="0" u="sng" dirty="0">
                <a:solidFill>
                  <a:srgbClr val="343434"/>
                </a:solidFill>
                <a:effectLst/>
                <a:latin typeface="微軟正黑體" panose="020B0604030504040204" pitchFamily="34" charset="-120"/>
                <a:ea typeface="微軟正黑體" panose="020B0604030504040204" pitchFamily="34" charset="-120"/>
              </a:rPr>
              <a:t>(A1</a:t>
            </a:r>
            <a:r>
              <a:rPr lang="zh-TW" altLang="en-US" i="0" u="sng" dirty="0">
                <a:solidFill>
                  <a:srgbClr val="343434"/>
                </a:solidFill>
                <a:effectLst/>
                <a:latin typeface="微軟正黑體" panose="020B0604030504040204" pitchFamily="34" charset="-120"/>
                <a:ea typeface="微軟正黑體" panose="020B0604030504040204" pitchFamily="34" charset="-120"/>
              </a:rPr>
              <a:t>專利申請案</a:t>
            </a:r>
            <a:r>
              <a:rPr lang="en-US" altLang="zh-TW" i="0" u="sng" dirty="0">
                <a:solidFill>
                  <a:srgbClr val="343434"/>
                </a:solidFill>
                <a:effectLst/>
                <a:latin typeface="微軟正黑體" panose="020B0604030504040204" pitchFamily="34" charset="-120"/>
                <a:ea typeface="微軟正黑體" panose="020B0604030504040204" pitchFamily="34" charset="-120"/>
              </a:rPr>
              <a:t>)</a:t>
            </a:r>
            <a:r>
              <a:rPr lang="zh-TW" altLang="en-US" i="0" u="sng" dirty="0">
                <a:solidFill>
                  <a:srgbClr val="343434"/>
                </a:solidFill>
                <a:effectLst/>
                <a:latin typeface="微軟正黑體" panose="020B0604030504040204" pitchFamily="34" charset="-120"/>
                <a:ea typeface="微軟正黑體" panose="020B0604030504040204" pitchFamily="34" charset="-120"/>
              </a:rPr>
              <a:t>尚在進行專利審查中</a:t>
            </a:r>
            <a:r>
              <a:rPr lang="zh-TW" altLang="en-US" b="0" i="0" dirty="0">
                <a:solidFill>
                  <a:srgbClr val="343434"/>
                </a:solidFill>
                <a:effectLst/>
                <a:latin typeface="微軟正黑體" panose="020B0604030504040204" pitchFamily="34" charset="-120"/>
                <a:ea typeface="微軟正黑體" panose="020B0604030504040204" pitchFamily="34" charset="-120"/>
              </a:rPr>
              <a:t> </a:t>
            </a:r>
          </a:p>
          <a:p>
            <a:pPr algn="just"/>
            <a:r>
              <a:rPr lang="zh-TW" altLang="en-US" b="0" i="0" dirty="0">
                <a:solidFill>
                  <a:srgbClr val="343434"/>
                </a:solidFill>
                <a:effectLst/>
                <a:latin typeface="微軟正黑體" panose="020B0604030504040204" pitchFamily="34" charset="-120"/>
                <a:ea typeface="微軟正黑體" panose="020B0604030504040204" pitchFamily="34" charset="-120"/>
              </a:rPr>
              <a:t>由於植物性農藥的研究與開發，被世界各國視為一場劃時代的革命，又被稱為「綠色黃金」產業，在我國的生物科技界，也是重要的研究項目，在我國某大學農業技術系任教的鄭欽民助理教授，也恰巧完成了</a:t>
            </a:r>
            <a:r>
              <a:rPr lang="zh-TW" altLang="en-US" b="1" i="0" u="sng" dirty="0">
                <a:solidFill>
                  <a:srgbClr val="343434"/>
                </a:solidFill>
                <a:effectLst/>
                <a:latin typeface="微軟正黑體" panose="020B0604030504040204" pitchFamily="34" charset="-120"/>
                <a:ea typeface="微軟正黑體" panose="020B0604030504040204" pitchFamily="34" charset="-120"/>
              </a:rPr>
              <a:t>相同的研究成果</a:t>
            </a:r>
            <a:r>
              <a:rPr lang="zh-TW" altLang="en-US" b="0" i="0" dirty="0">
                <a:solidFill>
                  <a:srgbClr val="343434"/>
                </a:solidFill>
                <a:effectLst/>
                <a:latin typeface="微軟正黑體" panose="020B0604030504040204" pitchFamily="34" charset="-120"/>
                <a:ea typeface="微軟正黑體" panose="020B0604030504040204" pitchFamily="34" charset="-120"/>
              </a:rPr>
              <a:t>， </a:t>
            </a:r>
            <a:r>
              <a:rPr lang="zh-TW" altLang="en-US" b="0" i="0" u="sng" dirty="0">
                <a:solidFill>
                  <a:srgbClr val="343434"/>
                </a:solidFill>
                <a:effectLst/>
                <a:latin typeface="微軟正黑體" panose="020B0604030504040204" pitchFamily="34" charset="-120"/>
                <a:ea typeface="微軟正黑體" panose="020B0604030504040204" pitchFamily="34" charset="-120"/>
              </a:rPr>
              <a:t>鄭教授所任教的該所大學，於 </a:t>
            </a:r>
            <a:r>
              <a:rPr lang="en-US" altLang="zh-TW" b="1" i="0" u="sng" dirty="0">
                <a:solidFill>
                  <a:srgbClr val="343434"/>
                </a:solidFill>
                <a:effectLst/>
                <a:latin typeface="微軟正黑體" panose="020B0604030504040204" pitchFamily="34" charset="-120"/>
                <a:ea typeface="微軟正黑體" panose="020B0604030504040204" pitchFamily="34" charset="-120"/>
              </a:rPr>
              <a:t>2005</a:t>
            </a:r>
            <a:r>
              <a:rPr lang="zh-TW" altLang="en-US" b="1" i="0" u="sng" dirty="0">
                <a:solidFill>
                  <a:srgbClr val="343434"/>
                </a:solidFill>
                <a:effectLst/>
                <a:latin typeface="微軟正黑體" panose="020B0604030504040204" pitchFamily="34" charset="-120"/>
                <a:ea typeface="微軟正黑體" panose="020B0604030504040204" pitchFamily="34" charset="-120"/>
              </a:rPr>
              <a:t>年</a:t>
            </a:r>
            <a:r>
              <a:rPr lang="en-US" altLang="zh-TW" b="1" i="0" u="sng" dirty="0">
                <a:solidFill>
                  <a:srgbClr val="343434"/>
                </a:solidFill>
                <a:effectLst/>
                <a:latin typeface="微軟正黑體" panose="020B0604030504040204" pitchFamily="34" charset="-120"/>
                <a:ea typeface="微軟正黑體" panose="020B0604030504040204" pitchFamily="34" charset="-120"/>
              </a:rPr>
              <a:t>3</a:t>
            </a:r>
            <a:r>
              <a:rPr lang="zh-TW" altLang="en-US" b="1" i="0" u="sng" dirty="0">
                <a:solidFill>
                  <a:srgbClr val="343434"/>
                </a:solidFill>
                <a:effectLst/>
                <a:latin typeface="微軟正黑體" panose="020B0604030504040204" pitchFamily="34" charset="-120"/>
                <a:ea typeface="微軟正黑體" panose="020B0604030504040204" pitchFamily="34" charset="-120"/>
              </a:rPr>
              <a:t>月</a:t>
            </a:r>
            <a:r>
              <a:rPr lang="en-US" altLang="zh-TW" b="1" i="0" u="sng" dirty="0">
                <a:solidFill>
                  <a:srgbClr val="343434"/>
                </a:solidFill>
                <a:effectLst/>
                <a:latin typeface="微軟正黑體" panose="020B0604030504040204" pitchFamily="34" charset="-120"/>
                <a:ea typeface="微軟正黑體" panose="020B0604030504040204" pitchFamily="34" charset="-120"/>
              </a:rPr>
              <a:t>25</a:t>
            </a:r>
            <a:r>
              <a:rPr lang="zh-TW" altLang="en-US" b="1" i="0" u="sng" dirty="0">
                <a:solidFill>
                  <a:srgbClr val="343434"/>
                </a:solidFill>
                <a:effectLst/>
                <a:latin typeface="微軟正黑體" panose="020B0604030504040204" pitchFamily="34" charset="-120"/>
                <a:ea typeface="微軟正黑體" panose="020B0604030504040204" pitchFamily="34" charset="-120"/>
              </a:rPr>
              <a:t>日</a:t>
            </a:r>
            <a:r>
              <a:rPr lang="zh-TW" altLang="en-US" b="0" i="0" u="sng" dirty="0">
                <a:solidFill>
                  <a:srgbClr val="343434"/>
                </a:solidFill>
                <a:effectLst/>
                <a:latin typeface="微軟正黑體" panose="020B0604030504040204" pitchFamily="34" charset="-120"/>
                <a:ea typeface="微軟正黑體" panose="020B0604030504040204" pitchFamily="34" charset="-120"/>
              </a:rPr>
              <a:t>，向</a:t>
            </a:r>
            <a:r>
              <a:rPr lang="zh-TW" altLang="en-US" b="1" i="0" u="sng" dirty="0">
                <a:solidFill>
                  <a:srgbClr val="343434"/>
                </a:solidFill>
                <a:effectLst/>
                <a:latin typeface="微軟正黑體" panose="020B0604030504040204" pitchFamily="34" charset="-120"/>
                <a:ea typeface="微軟正黑體" panose="020B0604030504040204" pitchFamily="34" charset="-120"/>
              </a:rPr>
              <a:t>我國經濟部智慧財產局</a:t>
            </a:r>
            <a:r>
              <a:rPr lang="zh-TW" altLang="en-US" b="0" i="0" u="sng" dirty="0">
                <a:solidFill>
                  <a:srgbClr val="343434"/>
                </a:solidFill>
                <a:effectLst/>
                <a:latin typeface="微軟正黑體" panose="020B0604030504040204" pitchFamily="34" charset="-120"/>
                <a:ea typeface="微軟正黑體" panose="020B0604030504040204" pitchFamily="34" charset="-120"/>
              </a:rPr>
              <a:t>提出發明專利申請</a:t>
            </a:r>
            <a:r>
              <a:rPr lang="en-US" altLang="zh-TW" b="0" i="0" u="sng" dirty="0">
                <a:solidFill>
                  <a:srgbClr val="343434"/>
                </a:solidFill>
                <a:effectLst/>
                <a:latin typeface="微軟正黑體" panose="020B0604030504040204" pitchFamily="34" charset="-120"/>
                <a:ea typeface="微軟正黑體" panose="020B0604030504040204" pitchFamily="34" charset="-120"/>
              </a:rPr>
              <a:t>(B</a:t>
            </a:r>
            <a:r>
              <a:rPr lang="zh-TW" altLang="en-US" b="0" i="0" u="sng" dirty="0">
                <a:solidFill>
                  <a:srgbClr val="343434"/>
                </a:solidFill>
                <a:effectLst/>
                <a:latin typeface="微軟正黑體" panose="020B0604030504040204" pitchFamily="34" charset="-120"/>
                <a:ea typeface="微軟正黑體" panose="020B0604030504040204" pitchFamily="34" charset="-120"/>
              </a:rPr>
              <a:t>專利申請案</a:t>
            </a:r>
            <a:r>
              <a:rPr lang="en-US" altLang="zh-TW" b="0" i="0" u="sng" dirty="0">
                <a:solidFill>
                  <a:srgbClr val="343434"/>
                </a:solidFill>
                <a:effectLst/>
                <a:latin typeface="微軟正黑體" panose="020B0604030504040204" pitchFamily="34" charset="-120"/>
                <a:ea typeface="微軟正黑體" panose="020B0604030504040204" pitchFamily="34" charset="-120"/>
              </a:rPr>
              <a:t>)</a:t>
            </a:r>
            <a:r>
              <a:rPr lang="zh-TW" altLang="en-US" b="0" i="0" dirty="0">
                <a:solidFill>
                  <a:srgbClr val="343434"/>
                </a:solidFill>
                <a:effectLst/>
                <a:latin typeface="微軟正黑體" panose="020B0604030504040204" pitchFamily="34" charset="-120"/>
                <a:ea typeface="微軟正黑體" panose="020B0604030504040204" pitchFamily="34" charset="-120"/>
              </a:rPr>
              <a:t>，目前也正在進行專利審查中。 </a:t>
            </a:r>
          </a:p>
          <a:p>
            <a:pPr algn="just"/>
            <a:r>
              <a:rPr lang="zh-TW" altLang="en-US" b="0" i="0" dirty="0">
                <a:solidFill>
                  <a:srgbClr val="343434"/>
                </a:solidFill>
                <a:effectLst/>
                <a:latin typeface="微軟正黑體" panose="020B0604030504040204" pitchFamily="34" charset="-120"/>
                <a:ea typeface="微軟正黑體" panose="020B0604030504040204" pitchFamily="34" charset="-120"/>
              </a:rPr>
              <a:t>其後，</a:t>
            </a:r>
            <a:r>
              <a:rPr lang="en-US" altLang="zh-TW" b="0" i="0" dirty="0">
                <a:solidFill>
                  <a:srgbClr val="343434"/>
                </a:solidFill>
                <a:effectLst/>
                <a:latin typeface="微軟正黑體" panose="020B0604030504040204" pitchFamily="34" charset="-120"/>
                <a:ea typeface="微軟正黑體" panose="020B0604030504040204" pitchFamily="34" charset="-120"/>
              </a:rPr>
              <a:t>Ryan</a:t>
            </a:r>
            <a:r>
              <a:rPr lang="zh-TW" altLang="en-US" b="0" i="0" dirty="0">
                <a:solidFill>
                  <a:srgbClr val="343434"/>
                </a:solidFill>
                <a:effectLst/>
                <a:latin typeface="微軟正黑體" panose="020B0604030504040204" pitchFamily="34" charset="-120"/>
                <a:ea typeface="微軟正黑體" panose="020B0604030504040204" pitchFamily="34" charset="-120"/>
              </a:rPr>
              <a:t>教授所任教的美國該所大學，將上述相同的研究成果，</a:t>
            </a:r>
            <a:r>
              <a:rPr lang="zh-TW" altLang="en-US" b="0" i="0" u="sng" dirty="0">
                <a:solidFill>
                  <a:srgbClr val="343434"/>
                </a:solidFill>
                <a:effectLst/>
                <a:latin typeface="微軟正黑體" panose="020B0604030504040204" pitchFamily="34" charset="-120"/>
                <a:ea typeface="微軟正黑體" panose="020B0604030504040204" pitchFamily="34" charset="-120"/>
              </a:rPr>
              <a:t>於</a:t>
            </a:r>
            <a:r>
              <a:rPr lang="en-US" altLang="zh-TW" b="1" i="0" u="sng" dirty="0">
                <a:solidFill>
                  <a:srgbClr val="343434"/>
                </a:solidFill>
                <a:effectLst/>
                <a:latin typeface="微軟正黑體" panose="020B0604030504040204" pitchFamily="34" charset="-120"/>
                <a:ea typeface="微軟正黑體" panose="020B0604030504040204" pitchFamily="34" charset="-120"/>
              </a:rPr>
              <a:t>2005</a:t>
            </a:r>
            <a:r>
              <a:rPr lang="zh-TW" altLang="en-US" b="1" i="0" u="sng" dirty="0">
                <a:solidFill>
                  <a:srgbClr val="343434"/>
                </a:solidFill>
                <a:effectLst/>
                <a:latin typeface="微軟正黑體" panose="020B0604030504040204" pitchFamily="34" charset="-120"/>
                <a:ea typeface="微軟正黑體" panose="020B0604030504040204" pitchFamily="34" charset="-120"/>
              </a:rPr>
              <a:t>年</a:t>
            </a:r>
            <a:r>
              <a:rPr lang="en-US" altLang="zh-TW" b="1" i="0" u="sng" dirty="0">
                <a:solidFill>
                  <a:srgbClr val="343434"/>
                </a:solidFill>
                <a:effectLst/>
                <a:latin typeface="微軟正黑體" panose="020B0604030504040204" pitchFamily="34" charset="-120"/>
                <a:ea typeface="微軟正黑體" panose="020B0604030504040204" pitchFamily="34" charset="-120"/>
              </a:rPr>
              <a:t>5</a:t>
            </a:r>
            <a:r>
              <a:rPr lang="zh-TW" altLang="en-US" b="1" i="0" u="sng" dirty="0">
                <a:solidFill>
                  <a:srgbClr val="343434"/>
                </a:solidFill>
                <a:effectLst/>
                <a:latin typeface="微軟正黑體" panose="020B0604030504040204" pitchFamily="34" charset="-120"/>
                <a:ea typeface="微軟正黑體" panose="020B0604030504040204" pitchFamily="34" charset="-120"/>
              </a:rPr>
              <a:t>月</a:t>
            </a:r>
            <a:r>
              <a:rPr lang="en-US" altLang="zh-TW" b="1" i="0" u="sng" dirty="0">
                <a:solidFill>
                  <a:srgbClr val="343434"/>
                </a:solidFill>
                <a:effectLst/>
                <a:latin typeface="微軟正黑體" panose="020B0604030504040204" pitchFamily="34" charset="-120"/>
                <a:ea typeface="微軟正黑體" panose="020B0604030504040204" pitchFamily="34" charset="-120"/>
              </a:rPr>
              <a:t>2</a:t>
            </a:r>
            <a:r>
              <a:rPr lang="zh-TW" altLang="en-US" b="1" i="0" u="sng" dirty="0">
                <a:solidFill>
                  <a:srgbClr val="343434"/>
                </a:solidFill>
                <a:effectLst/>
                <a:latin typeface="微軟正黑體" panose="020B0604030504040204" pitchFamily="34" charset="-120"/>
                <a:ea typeface="微軟正黑體" panose="020B0604030504040204" pitchFamily="34" charset="-120"/>
              </a:rPr>
              <a:t>日</a:t>
            </a:r>
            <a:r>
              <a:rPr lang="zh-TW" altLang="en-US" b="0" i="0" u="sng" dirty="0">
                <a:solidFill>
                  <a:srgbClr val="343434"/>
                </a:solidFill>
                <a:effectLst/>
                <a:latin typeface="微軟正黑體" panose="020B0604030504040204" pitchFamily="34" charset="-120"/>
                <a:ea typeface="微軟正黑體" panose="020B0604030504040204" pitchFamily="34" charset="-120"/>
              </a:rPr>
              <a:t> ，向</a:t>
            </a:r>
            <a:r>
              <a:rPr lang="zh-TW" altLang="en-US" b="1" i="0" u="sng" dirty="0">
                <a:solidFill>
                  <a:srgbClr val="343434"/>
                </a:solidFill>
                <a:effectLst/>
                <a:latin typeface="微軟正黑體" panose="020B0604030504040204" pitchFamily="34" charset="-120"/>
                <a:ea typeface="微軟正黑體" panose="020B0604030504040204" pitchFamily="34" charset="-120"/>
              </a:rPr>
              <a:t>我國經濟部智慧財產局</a:t>
            </a:r>
            <a:r>
              <a:rPr lang="zh-TW" altLang="en-US" b="0" i="0" u="sng" dirty="0">
                <a:solidFill>
                  <a:srgbClr val="343434"/>
                </a:solidFill>
                <a:effectLst/>
                <a:latin typeface="微軟正黑體" panose="020B0604030504040204" pitchFamily="34" charset="-120"/>
                <a:ea typeface="微軟正黑體" panose="020B0604030504040204" pitchFamily="34" charset="-120"/>
              </a:rPr>
              <a:t>提出發明專利申請</a:t>
            </a:r>
            <a:r>
              <a:rPr lang="en-US" altLang="zh-TW" b="0" i="0" u="sng" dirty="0">
                <a:solidFill>
                  <a:srgbClr val="343434"/>
                </a:solidFill>
                <a:effectLst/>
                <a:latin typeface="微軟正黑體" panose="020B0604030504040204" pitchFamily="34" charset="-120"/>
                <a:ea typeface="微軟正黑體" panose="020B0604030504040204" pitchFamily="34" charset="-120"/>
              </a:rPr>
              <a:t>(A2</a:t>
            </a:r>
            <a:r>
              <a:rPr lang="zh-TW" altLang="en-US" b="0" i="0" u="sng" dirty="0">
                <a:solidFill>
                  <a:srgbClr val="343434"/>
                </a:solidFill>
                <a:effectLst/>
                <a:latin typeface="微軟正黑體" panose="020B0604030504040204" pitchFamily="34" charset="-120"/>
                <a:ea typeface="微軟正黑體" panose="020B0604030504040204" pitchFamily="34" charset="-120"/>
              </a:rPr>
              <a:t>專利申請案</a:t>
            </a:r>
            <a:r>
              <a:rPr lang="en-US" altLang="zh-TW" b="0" i="0" u="sng" dirty="0">
                <a:solidFill>
                  <a:srgbClr val="343434"/>
                </a:solidFill>
                <a:effectLst/>
                <a:latin typeface="微軟正黑體" panose="020B0604030504040204" pitchFamily="34" charset="-120"/>
                <a:ea typeface="微軟正黑體" panose="020B0604030504040204" pitchFamily="34" charset="-120"/>
              </a:rPr>
              <a:t>)</a:t>
            </a:r>
            <a:r>
              <a:rPr lang="zh-TW" altLang="en-US" b="0" i="0" u="sng" dirty="0">
                <a:solidFill>
                  <a:srgbClr val="343434"/>
                </a:solidFill>
                <a:effectLst/>
                <a:latin typeface="微軟正黑體" panose="020B0604030504040204" pitchFamily="34" charset="-120"/>
                <a:ea typeface="微軟正黑體" panose="020B0604030504040204" pitchFamily="34" charset="-120"/>
              </a:rPr>
              <a:t>，並主張以</a:t>
            </a:r>
            <a:r>
              <a:rPr lang="en-US" altLang="zh-TW" b="0" i="0" u="sng" dirty="0">
                <a:solidFill>
                  <a:srgbClr val="343434"/>
                </a:solidFill>
                <a:effectLst/>
                <a:latin typeface="微軟正黑體" panose="020B0604030504040204" pitchFamily="34" charset="-120"/>
                <a:ea typeface="微軟正黑體" panose="020B0604030504040204" pitchFamily="34" charset="-120"/>
              </a:rPr>
              <a:t>A1</a:t>
            </a:r>
            <a:r>
              <a:rPr lang="zh-TW" altLang="en-US" b="0" i="0" u="sng" dirty="0">
                <a:solidFill>
                  <a:srgbClr val="343434"/>
                </a:solidFill>
                <a:effectLst/>
                <a:latin typeface="微軟正黑體" panose="020B0604030504040204" pitchFamily="34" charset="-120"/>
                <a:ea typeface="微軟正黑體" panose="020B0604030504040204" pitchFamily="34" charset="-120"/>
              </a:rPr>
              <a:t>專利申請案為該發明專利申請案的「</a:t>
            </a:r>
            <a:r>
              <a:rPr lang="zh-TW" altLang="en-US" b="1" i="0" u="sng" dirty="0">
                <a:solidFill>
                  <a:srgbClr val="343434"/>
                </a:solidFill>
                <a:effectLst/>
                <a:latin typeface="微軟正黑體" panose="020B0604030504040204" pitchFamily="34" charset="-120"/>
                <a:ea typeface="微軟正黑體" panose="020B0604030504040204" pitchFamily="34" charset="-120"/>
              </a:rPr>
              <a:t>優先權日</a:t>
            </a:r>
            <a:r>
              <a:rPr lang="zh-TW" altLang="en-US" b="0" i="0" u="sng" dirty="0">
                <a:solidFill>
                  <a:srgbClr val="343434"/>
                </a:solidFill>
                <a:effectLst/>
                <a:latin typeface="微軟正黑體" panose="020B0604030504040204" pitchFamily="34" charset="-120"/>
                <a:ea typeface="微軟正黑體" panose="020B0604030504040204" pitchFamily="34" charset="-120"/>
              </a:rPr>
              <a:t>」</a:t>
            </a:r>
            <a:r>
              <a:rPr lang="zh-TW" altLang="en-US" b="0" i="0" dirty="0">
                <a:solidFill>
                  <a:srgbClr val="343434"/>
                </a:solidFill>
                <a:effectLst/>
                <a:latin typeface="微軟正黑體" panose="020B0604030504040204" pitchFamily="34" charset="-120"/>
                <a:ea typeface="微軟正黑體" panose="020B0604030504040204" pitchFamily="34" charset="-120"/>
              </a:rPr>
              <a:t>。</a:t>
            </a:r>
          </a:p>
        </p:txBody>
      </p:sp>
      <p:sp>
        <p:nvSpPr>
          <p:cNvPr id="7" name="文字方塊 6">
            <a:extLst>
              <a:ext uri="{FF2B5EF4-FFF2-40B4-BE49-F238E27FC236}">
                <a16:creationId xmlns:a16="http://schemas.microsoft.com/office/drawing/2014/main" id="{398B60FB-C786-76E1-4E66-73BDEFF08BD8}"/>
              </a:ext>
            </a:extLst>
          </p:cNvPr>
          <p:cNvSpPr txBox="1"/>
          <p:nvPr/>
        </p:nvSpPr>
        <p:spPr>
          <a:xfrm>
            <a:off x="88274" y="6488668"/>
            <a:ext cx="4668520" cy="261610"/>
          </a:xfrm>
          <a:prstGeom prst="rect">
            <a:avLst/>
          </a:prstGeom>
          <a:noFill/>
        </p:spPr>
        <p:txBody>
          <a:bodyPr wrap="square">
            <a:spAutoFit/>
          </a:bodyPr>
          <a:lstStyle/>
          <a:p>
            <a:r>
              <a:rPr lang="zh-TW" altLang="en-US" sz="1100" dirty="0">
                <a:solidFill>
                  <a:srgbClr val="343434"/>
                </a:solidFill>
                <a:latin typeface="微軟正黑體" panose="020B0604030504040204" pitchFamily="34" charset="-120"/>
                <a:ea typeface="微軟正黑體" panose="020B0604030504040204" pitchFamily="34" charset="-120"/>
              </a:rPr>
              <a:t>教育部資訊及科技教育司，專利權法律案例教材</a:t>
            </a:r>
            <a:endParaRPr lang="zh-TW" altLang="en-US" sz="1100" dirty="0"/>
          </a:p>
        </p:txBody>
      </p:sp>
      <p:sp>
        <p:nvSpPr>
          <p:cNvPr id="8" name="文字方塊 7">
            <a:extLst>
              <a:ext uri="{FF2B5EF4-FFF2-40B4-BE49-F238E27FC236}">
                <a16:creationId xmlns:a16="http://schemas.microsoft.com/office/drawing/2014/main" id="{AE341C0E-F763-B76B-A76B-69B54C13E182}"/>
              </a:ext>
            </a:extLst>
          </p:cNvPr>
          <p:cNvSpPr txBox="1"/>
          <p:nvPr/>
        </p:nvSpPr>
        <p:spPr>
          <a:xfrm>
            <a:off x="323528" y="5517232"/>
            <a:ext cx="8568952" cy="70788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342900" indent="-34290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誰可以獲准專利</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以屬地原則、先申請原則如何解釋此案例</a:t>
            </a:r>
            <a:r>
              <a:rPr lang="en-US" altLang="zh-TW" sz="2000" dirty="0">
                <a:latin typeface="微軟正黑體" panose="020B0604030504040204" pitchFamily="34" charset="-120"/>
                <a:ea typeface="微軟正黑體" panose="020B0604030504040204" pitchFamily="34" charset="-120"/>
              </a:rPr>
              <a:t>?</a:t>
            </a:r>
          </a:p>
          <a:p>
            <a:pPr marL="342900" indent="-342900">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無法獲准專利的一方，有何補救的方法</a:t>
            </a:r>
            <a:r>
              <a:rPr lang="en-US" altLang="zh-TW" sz="2000" dirty="0">
                <a:latin typeface="微軟正黑體" panose="020B0604030504040204" pitchFamily="34" charset="-120"/>
                <a:ea typeface="微軟正黑體" panose="020B0604030504040204" pitchFamily="34" charset="-120"/>
              </a:rPr>
              <a:t>?</a:t>
            </a:r>
            <a:endParaRPr lang="zh-TW" altLang="en-US" sz="2000" dirty="0">
              <a:latin typeface="微軟正黑體" panose="020B0604030504040204" pitchFamily="34" charset="-120"/>
              <a:ea typeface="微軟正黑體" panose="020B0604030504040204" pitchFamily="34" charset="-120"/>
            </a:endParaRPr>
          </a:p>
        </p:txBody>
      </p:sp>
      <p:sp>
        <p:nvSpPr>
          <p:cNvPr id="9" name="投影片編號版面配置區 8">
            <a:extLst>
              <a:ext uri="{FF2B5EF4-FFF2-40B4-BE49-F238E27FC236}">
                <a16:creationId xmlns:a16="http://schemas.microsoft.com/office/drawing/2014/main" id="{5FFF330D-76CB-9CAC-69AE-957AC455B374}"/>
              </a:ext>
            </a:extLst>
          </p:cNvPr>
          <p:cNvSpPr>
            <a:spLocks noGrp="1"/>
          </p:cNvSpPr>
          <p:nvPr>
            <p:ph type="sldNum" sz="quarter" idx="12"/>
          </p:nvPr>
        </p:nvSpPr>
        <p:spPr/>
        <p:txBody>
          <a:bodyPr/>
          <a:lstStyle/>
          <a:p>
            <a:fld id="{254D4C32-7A1A-45A5-84ED-81747F1ABFAE}" type="slidenum">
              <a:rPr lang="zh-TW" altLang="en-US" smtClean="0"/>
              <a:t>32</a:t>
            </a:fld>
            <a:endParaRPr lang="zh-TW" altLang="en-US"/>
          </a:p>
        </p:txBody>
      </p:sp>
      <p:pic>
        <p:nvPicPr>
          <p:cNvPr id="3" name="ttsmaker-file-2024-9-5-22-23-2">
            <a:hlinkClick r:id="" action="ppaction://media"/>
            <a:extLst>
              <a:ext uri="{FF2B5EF4-FFF2-40B4-BE49-F238E27FC236}">
                <a16:creationId xmlns:a16="http://schemas.microsoft.com/office/drawing/2014/main" id="{6231655A-EF79-8AFB-9CD4-D6C46969D2F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4928104" y="6299110"/>
            <a:ext cx="487363" cy="487363"/>
          </a:xfrm>
          <a:prstGeom prst="rect">
            <a:avLst/>
          </a:prstGeom>
        </p:spPr>
      </p:pic>
    </p:spTree>
    <p:extLst>
      <p:ext uri="{BB962C8B-B14F-4D97-AF65-F5344CB8AC3E}">
        <p14:creationId xmlns:p14="http://schemas.microsoft.com/office/powerpoint/2010/main" val="402846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581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53659">
                <p:cTn id="7" fill="hold" display="0">
                  <p:stCondLst>
                    <p:cond delay="indefinite"/>
                  </p:stCondLst>
                  <p:endCondLst>
                    <p:cond evt="onStopAudio" delay="0">
                      <p:tgtEl>
                        <p:sldTgt/>
                      </p:tgtEl>
                    </p:cond>
                  </p:endCondLst>
                </p:cTn>
                <p:tgtEl>
                  <p:spTgt spid="3"/>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 屬地原則</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33</a:t>
            </a:fld>
            <a:endParaRPr lang="zh-TW" altLang="en-US" dirty="0">
              <a:solidFill>
                <a:prstClr val="black">
                  <a:tint val="75000"/>
                </a:prstClr>
              </a:solidFill>
            </a:endParaRPr>
          </a:p>
        </p:txBody>
      </p:sp>
      <p:sp>
        <p:nvSpPr>
          <p:cNvPr id="7" name="文字方塊 6"/>
          <p:cNvSpPr txBox="1"/>
          <p:nvPr/>
        </p:nvSpPr>
        <p:spPr>
          <a:xfrm>
            <a:off x="191205" y="980728"/>
            <a:ext cx="8773283" cy="1569660"/>
          </a:xfrm>
          <a:prstGeom prst="rect">
            <a:avLst/>
          </a:prstGeom>
          <a:noFill/>
        </p:spPr>
        <p:txBody>
          <a:bodyPr wrap="square" rtlCol="0">
            <a:spAutoFit/>
          </a:bodyPr>
          <a:lstStyle/>
          <a:p>
            <a:pPr marL="342900" indent="-342900">
              <a:lnSpc>
                <a:spcPct val="12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專利權人所取得的專利權，只能得到授予該項權利的國家法律保護，在專利權所依法產生的國家地域內才屬有效</a:t>
            </a:r>
            <a:endParaRPr lang="en-US" altLang="zh-TW" sz="2000" dirty="0">
              <a:solidFill>
                <a:prstClr val="black"/>
              </a:solidFill>
              <a:latin typeface="微軟正黑體" pitchFamily="34" charset="-120"/>
              <a:ea typeface="微軟正黑體" pitchFamily="34" charset="-120"/>
            </a:endParaRPr>
          </a:p>
          <a:p>
            <a:pPr marL="342900" indent="-342900">
              <a:lnSpc>
                <a:spcPct val="120000"/>
              </a:lnSpc>
              <a:buFont typeface="Arial" panose="020B0604020202020204" pitchFamily="34" charset="0"/>
              <a:buChar char="•"/>
            </a:pPr>
            <a:r>
              <a:rPr lang="zh-TW" altLang="en-US" sz="2000" dirty="0">
                <a:solidFill>
                  <a:prstClr val="black"/>
                </a:solidFill>
                <a:latin typeface="微軟正黑體" pitchFamily="34" charset="-120"/>
                <a:ea typeface="微軟正黑體" pitchFamily="34" charset="-120"/>
              </a:rPr>
              <a:t>如果申請人雖已向外國申請專利，倘欲在我國受到專利保護，仍應向我國申請專利</a:t>
            </a:r>
          </a:p>
        </p:txBody>
      </p:sp>
      <p:pic>
        <p:nvPicPr>
          <p:cNvPr id="2052" name="Picture 4" descr="Borders, Country, Flag, Geography, Map, Nation, Asia"/>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13196" y="2996952"/>
            <a:ext cx="1332148" cy="1903068"/>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111340" y="6628456"/>
            <a:ext cx="1293944" cy="246221"/>
          </a:xfrm>
          <a:prstGeom prst="rect">
            <a:avLst/>
          </a:prstGeom>
        </p:spPr>
        <p:txBody>
          <a:bodyPr wrap="none">
            <a:spAutoFit/>
          </a:bodyPr>
          <a:lstStyle/>
          <a:p>
            <a:r>
              <a:rPr lang="en-US" altLang="zh-TW" sz="1000" dirty="0"/>
              <a:t>https://pixabay.com/</a:t>
            </a:r>
            <a:endParaRPr lang="zh-TW" altLang="en-US" sz="1000" dirty="0"/>
          </a:p>
        </p:txBody>
      </p:sp>
      <p:pic>
        <p:nvPicPr>
          <p:cNvPr id="2054" name="Picture 6" descr="America, United States, Map, Flag, Us, Usa"/>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20073" y="2901310"/>
            <a:ext cx="3096344" cy="1957793"/>
          </a:xfrm>
          <a:prstGeom prst="rect">
            <a:avLst/>
          </a:prstGeom>
          <a:noFill/>
          <a:extLst>
            <a:ext uri="{909E8E84-426E-40DD-AFC4-6F175D3DCCD1}">
              <a14:hiddenFill xmlns:a14="http://schemas.microsoft.com/office/drawing/2010/main">
                <a:solidFill>
                  <a:srgbClr val="FFFFFF"/>
                </a:solidFill>
              </a14:hiddenFill>
            </a:ext>
          </a:extLst>
        </p:spPr>
      </p:pic>
      <p:sp>
        <p:nvSpPr>
          <p:cNvPr id="16" name="書卷 (垂直) 15"/>
          <p:cNvSpPr/>
          <p:nvPr/>
        </p:nvSpPr>
        <p:spPr>
          <a:xfrm>
            <a:off x="4355977" y="2871095"/>
            <a:ext cx="864096" cy="807518"/>
          </a:xfrm>
          <a:prstGeom prst="verticalScroll">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pic>
        <p:nvPicPr>
          <p:cNvPr id="17" name="Picture 6"/>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536505" y="3056300"/>
            <a:ext cx="497294" cy="428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書卷 (垂直) 17"/>
          <p:cNvSpPr/>
          <p:nvPr/>
        </p:nvSpPr>
        <p:spPr>
          <a:xfrm>
            <a:off x="2082886" y="4038635"/>
            <a:ext cx="864096" cy="807518"/>
          </a:xfrm>
          <a:prstGeom prst="verticalScroll">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pic>
        <p:nvPicPr>
          <p:cNvPr id="2055" name="Picture 7"/>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2230506" y="4237424"/>
            <a:ext cx="564455" cy="204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0" name="群組 29"/>
          <p:cNvGrpSpPr/>
          <p:nvPr/>
        </p:nvGrpSpPr>
        <p:grpSpPr>
          <a:xfrm>
            <a:off x="4273171" y="3807802"/>
            <a:ext cx="944029" cy="1038351"/>
            <a:chOff x="4273171" y="3807802"/>
            <a:chExt cx="944029" cy="1038351"/>
          </a:xfrm>
        </p:grpSpPr>
        <p:sp>
          <p:nvSpPr>
            <p:cNvPr id="21" name="書卷 (垂直) 20"/>
            <p:cNvSpPr/>
            <p:nvPr/>
          </p:nvSpPr>
          <p:spPr>
            <a:xfrm>
              <a:off x="4353104" y="4038635"/>
              <a:ext cx="864096" cy="807518"/>
            </a:xfrm>
            <a:prstGeom prst="verticalScroll">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pic>
          <p:nvPicPr>
            <p:cNvPr id="22" name="Picture 7"/>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500724" y="4219032"/>
              <a:ext cx="564455" cy="204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矩形 13"/>
            <p:cNvSpPr/>
            <p:nvPr/>
          </p:nvSpPr>
          <p:spPr>
            <a:xfrm>
              <a:off x="4273171" y="3807802"/>
              <a:ext cx="458780" cy="461665"/>
            </a:xfrm>
            <a:prstGeom prst="rect">
              <a:avLst/>
            </a:prstGeom>
          </p:spPr>
          <p:txBody>
            <a:bodyPr wrap="none">
              <a:spAutoFit/>
            </a:bodyPr>
            <a:lstStyle/>
            <a:p>
              <a:r>
                <a:rPr lang="zh-TW" altLang="en-US" sz="2400" dirty="0">
                  <a:solidFill>
                    <a:srgbClr val="FF0000"/>
                  </a:solidFill>
                  <a:latin typeface="新細明體"/>
                  <a:sym typeface="Wingdings 2"/>
                </a:rPr>
                <a:t></a:t>
              </a:r>
              <a:endParaRPr lang="zh-TW" altLang="en-US" sz="2400" dirty="0">
                <a:solidFill>
                  <a:srgbClr val="FF0000"/>
                </a:solidFill>
              </a:endParaRPr>
            </a:p>
          </p:txBody>
        </p:sp>
      </p:grpSp>
      <p:sp>
        <p:nvSpPr>
          <p:cNvPr id="20" name="矩形 19"/>
          <p:cNvSpPr/>
          <p:nvPr/>
        </p:nvSpPr>
        <p:spPr>
          <a:xfrm>
            <a:off x="4271334" y="2621530"/>
            <a:ext cx="458780" cy="461665"/>
          </a:xfrm>
          <a:prstGeom prst="rect">
            <a:avLst/>
          </a:prstGeom>
        </p:spPr>
        <p:txBody>
          <a:bodyPr wrap="none">
            <a:spAutoFit/>
          </a:bodyPr>
          <a:lstStyle/>
          <a:p>
            <a:r>
              <a:rPr lang="zh-TW" altLang="en-US" sz="2400" dirty="0">
                <a:solidFill>
                  <a:srgbClr val="FF0000"/>
                </a:solidFill>
                <a:latin typeface="新細明體"/>
                <a:sym typeface="Wingdings 2"/>
              </a:rPr>
              <a:t></a:t>
            </a:r>
            <a:endParaRPr lang="zh-TW" altLang="en-US" sz="2400" dirty="0">
              <a:solidFill>
                <a:srgbClr val="FF0000"/>
              </a:solidFill>
            </a:endParaRPr>
          </a:p>
        </p:txBody>
      </p:sp>
      <p:grpSp>
        <p:nvGrpSpPr>
          <p:cNvPr id="29" name="群組 28"/>
          <p:cNvGrpSpPr/>
          <p:nvPr/>
        </p:nvGrpSpPr>
        <p:grpSpPr>
          <a:xfrm>
            <a:off x="1968036" y="2670477"/>
            <a:ext cx="947780" cy="1008136"/>
            <a:chOff x="1968036" y="2670477"/>
            <a:chExt cx="947780" cy="1008136"/>
          </a:xfrm>
        </p:grpSpPr>
        <p:sp>
          <p:nvSpPr>
            <p:cNvPr id="10" name="書卷 (垂直) 9"/>
            <p:cNvSpPr/>
            <p:nvPr/>
          </p:nvSpPr>
          <p:spPr>
            <a:xfrm>
              <a:off x="2051720" y="2871095"/>
              <a:ext cx="864096" cy="807518"/>
            </a:xfrm>
            <a:prstGeom prst="verticalScroll">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pic>
          <p:nvPicPr>
            <p:cNvPr id="15" name="Picture 6"/>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232248" y="3026085"/>
              <a:ext cx="497294" cy="428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矩形 26"/>
            <p:cNvSpPr/>
            <p:nvPr/>
          </p:nvSpPr>
          <p:spPr>
            <a:xfrm>
              <a:off x="1968036" y="2670477"/>
              <a:ext cx="458780" cy="461665"/>
            </a:xfrm>
            <a:prstGeom prst="rect">
              <a:avLst/>
            </a:prstGeom>
          </p:spPr>
          <p:txBody>
            <a:bodyPr wrap="none">
              <a:spAutoFit/>
            </a:bodyPr>
            <a:lstStyle/>
            <a:p>
              <a:r>
                <a:rPr lang="zh-TW" altLang="en-US" sz="2400" dirty="0">
                  <a:solidFill>
                    <a:srgbClr val="FF0000"/>
                  </a:solidFill>
                  <a:latin typeface="新細明體"/>
                  <a:sym typeface="Wingdings 2"/>
                </a:rPr>
                <a:t></a:t>
              </a:r>
              <a:endParaRPr lang="zh-TW" altLang="en-US" sz="2400" dirty="0">
                <a:solidFill>
                  <a:srgbClr val="FF0000"/>
                </a:solidFill>
              </a:endParaRPr>
            </a:p>
          </p:txBody>
        </p:sp>
      </p:grpSp>
      <p:sp>
        <p:nvSpPr>
          <p:cNvPr id="28" name="矩形 27"/>
          <p:cNvSpPr/>
          <p:nvPr/>
        </p:nvSpPr>
        <p:spPr>
          <a:xfrm>
            <a:off x="1968036" y="3854723"/>
            <a:ext cx="458780" cy="461665"/>
          </a:xfrm>
          <a:prstGeom prst="rect">
            <a:avLst/>
          </a:prstGeom>
        </p:spPr>
        <p:txBody>
          <a:bodyPr wrap="none">
            <a:spAutoFit/>
          </a:bodyPr>
          <a:lstStyle/>
          <a:p>
            <a:r>
              <a:rPr lang="zh-TW" altLang="en-US" sz="2400" dirty="0">
                <a:solidFill>
                  <a:srgbClr val="FF0000"/>
                </a:solidFill>
                <a:latin typeface="新細明體"/>
                <a:sym typeface="Wingdings 2"/>
              </a:rPr>
              <a:t></a:t>
            </a:r>
            <a:endParaRPr lang="zh-TW" altLang="en-US" sz="2400" dirty="0">
              <a:solidFill>
                <a:srgbClr val="FF0000"/>
              </a:solidFill>
            </a:endParaRPr>
          </a:p>
        </p:txBody>
      </p:sp>
      <p:sp>
        <p:nvSpPr>
          <p:cNvPr id="25" name="弧形箭號 (下彎) 24"/>
          <p:cNvSpPr/>
          <p:nvPr/>
        </p:nvSpPr>
        <p:spPr>
          <a:xfrm flipH="1" flipV="1">
            <a:off x="1915964" y="5085184"/>
            <a:ext cx="4600252" cy="523720"/>
          </a:xfrm>
          <a:prstGeom prst="curved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solidFill>
                <a:schemeClr val="tx1"/>
              </a:solidFill>
            </a:endParaRPr>
          </a:p>
        </p:txBody>
      </p:sp>
      <p:sp>
        <p:nvSpPr>
          <p:cNvPr id="26" name="文字方塊 25"/>
          <p:cNvSpPr txBox="1"/>
          <p:nvPr/>
        </p:nvSpPr>
        <p:spPr>
          <a:xfrm>
            <a:off x="2963460" y="5162378"/>
            <a:ext cx="1980029" cy="400110"/>
          </a:xfrm>
          <a:prstGeom prst="rect">
            <a:avLst/>
          </a:prstGeom>
          <a:noFill/>
        </p:spPr>
        <p:txBody>
          <a:bodyPr wrap="none" rtlCol="0">
            <a:spAutoFit/>
          </a:bodyPr>
          <a:lstStyle/>
          <a:p>
            <a:r>
              <a:rPr lang="zh-TW" altLang="en-US" sz="2000" dirty="0">
                <a:solidFill>
                  <a:srgbClr val="7030A0"/>
                </a:solidFill>
                <a:latin typeface="微軟正黑體" panose="020B0604030504040204" pitchFamily="34" charset="-120"/>
                <a:ea typeface="微軟正黑體" panose="020B0604030504040204" pitchFamily="34" charset="-120"/>
              </a:rPr>
              <a:t>主張國際優先權</a:t>
            </a:r>
          </a:p>
        </p:txBody>
      </p:sp>
      <p:grpSp>
        <p:nvGrpSpPr>
          <p:cNvPr id="35" name="群組 34"/>
          <p:cNvGrpSpPr/>
          <p:nvPr/>
        </p:nvGrpSpPr>
        <p:grpSpPr>
          <a:xfrm>
            <a:off x="6732160" y="4966776"/>
            <a:ext cx="944029" cy="1038351"/>
            <a:chOff x="4273171" y="3807802"/>
            <a:chExt cx="944029" cy="1038351"/>
          </a:xfrm>
        </p:grpSpPr>
        <p:sp>
          <p:nvSpPr>
            <p:cNvPr id="36" name="書卷 (垂直) 35"/>
            <p:cNvSpPr/>
            <p:nvPr/>
          </p:nvSpPr>
          <p:spPr>
            <a:xfrm>
              <a:off x="4353104" y="4038635"/>
              <a:ext cx="864096" cy="807518"/>
            </a:xfrm>
            <a:prstGeom prst="verticalScroll">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pic>
          <p:nvPicPr>
            <p:cNvPr id="37" name="Picture 7"/>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500724" y="4219032"/>
              <a:ext cx="564455" cy="204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矩形 37"/>
            <p:cNvSpPr/>
            <p:nvPr/>
          </p:nvSpPr>
          <p:spPr>
            <a:xfrm>
              <a:off x="4273171" y="3807802"/>
              <a:ext cx="458780" cy="461665"/>
            </a:xfrm>
            <a:prstGeom prst="rect">
              <a:avLst/>
            </a:prstGeom>
          </p:spPr>
          <p:txBody>
            <a:bodyPr wrap="none">
              <a:spAutoFit/>
            </a:bodyPr>
            <a:lstStyle/>
            <a:p>
              <a:r>
                <a:rPr lang="zh-TW" altLang="en-US" sz="2400" dirty="0">
                  <a:solidFill>
                    <a:srgbClr val="FF0000"/>
                  </a:solidFill>
                  <a:latin typeface="新細明體"/>
                  <a:sym typeface="Wingdings 2"/>
                </a:rPr>
                <a:t></a:t>
              </a:r>
              <a:endParaRPr lang="zh-TW" altLang="en-US" sz="2400" dirty="0">
                <a:solidFill>
                  <a:srgbClr val="FF0000"/>
                </a:solidFill>
              </a:endParaRPr>
            </a:p>
          </p:txBody>
        </p:sp>
      </p:grpSp>
      <p:grpSp>
        <p:nvGrpSpPr>
          <p:cNvPr id="39" name="群組 38"/>
          <p:cNvGrpSpPr/>
          <p:nvPr/>
        </p:nvGrpSpPr>
        <p:grpSpPr>
          <a:xfrm>
            <a:off x="805380" y="4984473"/>
            <a:ext cx="947780" cy="1008136"/>
            <a:chOff x="1968036" y="2670477"/>
            <a:chExt cx="947780" cy="1008136"/>
          </a:xfrm>
        </p:grpSpPr>
        <p:sp>
          <p:nvSpPr>
            <p:cNvPr id="40" name="書卷 (垂直) 39"/>
            <p:cNvSpPr/>
            <p:nvPr/>
          </p:nvSpPr>
          <p:spPr>
            <a:xfrm>
              <a:off x="2051720" y="2871095"/>
              <a:ext cx="864096" cy="807518"/>
            </a:xfrm>
            <a:prstGeom prst="verticalScroll">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pic>
          <p:nvPicPr>
            <p:cNvPr id="41" name="Picture 6"/>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232248" y="3026085"/>
              <a:ext cx="497294" cy="428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矩形 41"/>
            <p:cNvSpPr/>
            <p:nvPr/>
          </p:nvSpPr>
          <p:spPr>
            <a:xfrm>
              <a:off x="1968036" y="2670477"/>
              <a:ext cx="458780" cy="461665"/>
            </a:xfrm>
            <a:prstGeom prst="rect">
              <a:avLst/>
            </a:prstGeom>
          </p:spPr>
          <p:txBody>
            <a:bodyPr wrap="none">
              <a:spAutoFit/>
            </a:bodyPr>
            <a:lstStyle/>
            <a:p>
              <a:r>
                <a:rPr lang="zh-TW" altLang="en-US" sz="2400" dirty="0">
                  <a:solidFill>
                    <a:srgbClr val="FF0000"/>
                  </a:solidFill>
                  <a:latin typeface="新細明體"/>
                  <a:sym typeface="Wingdings 2"/>
                </a:rPr>
                <a:t></a:t>
              </a:r>
              <a:endParaRPr lang="zh-TW" altLang="en-US" sz="2400" dirty="0">
                <a:solidFill>
                  <a:srgbClr val="FF0000"/>
                </a:solidFill>
              </a:endParaRPr>
            </a:p>
          </p:txBody>
        </p:sp>
      </p:grpSp>
    </p:spTree>
    <p:extLst>
      <p:ext uri="{BB962C8B-B14F-4D97-AF65-F5344CB8AC3E}">
        <p14:creationId xmlns:p14="http://schemas.microsoft.com/office/powerpoint/2010/main" val="17638904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先申請原則 </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34</a:t>
            </a:fld>
            <a:endParaRPr lang="zh-TW" altLang="en-US" dirty="0">
              <a:solidFill>
                <a:prstClr val="black">
                  <a:tint val="75000"/>
                </a:prstClr>
              </a:solidFill>
            </a:endParaRPr>
          </a:p>
        </p:txBody>
      </p:sp>
      <p:sp>
        <p:nvSpPr>
          <p:cNvPr id="9" name="文字方塊 8"/>
          <p:cNvSpPr txBox="1"/>
          <p:nvPr/>
        </p:nvSpPr>
        <p:spPr>
          <a:xfrm>
            <a:off x="251520" y="980728"/>
            <a:ext cx="8640960" cy="1200329"/>
          </a:xfrm>
          <a:prstGeom prst="rect">
            <a:avLst/>
          </a:prstGeom>
          <a:noFill/>
        </p:spPr>
        <p:txBody>
          <a:bodyPr wrap="square" rtlCol="0">
            <a:spAutoFit/>
          </a:bodyPr>
          <a:lstStyle/>
          <a:p>
            <a:pPr marL="342900" indent="-342900">
              <a:lnSpc>
                <a:spcPct val="120000"/>
              </a:lnSpc>
              <a:buFont typeface="Arial" panose="020B0604020202020204" pitchFamily="34" charset="0"/>
              <a:buChar char="•"/>
            </a:pPr>
            <a:r>
              <a:rPr lang="zh-TW" altLang="en-US" sz="2000" dirty="0">
                <a:latin typeface="微軟正黑體" panose="020B0604030504040204" pitchFamily="34" charset="-120"/>
                <a:ea typeface="微軟正黑體" panose="020B0604030504040204" pitchFamily="34" charset="-120"/>
              </a:rPr>
              <a:t>專利權之專有排他性，係專利制度中的一項重要原則，故一項發明僅能授予一項專利權</a:t>
            </a:r>
            <a:endParaRPr lang="en-US" altLang="zh-TW" sz="2000" dirty="0">
              <a:solidFill>
                <a:prstClr val="black"/>
              </a:solidFill>
              <a:latin typeface="微軟正黑體" pitchFamily="34" charset="-120"/>
              <a:ea typeface="微軟正黑體" pitchFamily="34" charset="-120"/>
            </a:endParaRPr>
          </a:p>
          <a:p>
            <a:pPr marL="342900" indent="-342900">
              <a:lnSpc>
                <a:spcPct val="120000"/>
              </a:lnSpc>
              <a:buFont typeface="Arial" panose="020B0604020202020204" pitchFamily="34" charset="0"/>
              <a:buChar char="•"/>
            </a:pPr>
            <a:r>
              <a:rPr lang="zh-TW" altLang="en-US" sz="2000" dirty="0">
                <a:solidFill>
                  <a:prstClr val="black"/>
                </a:solidFill>
                <a:latin typeface="微軟正黑體" pitchFamily="34" charset="-120"/>
                <a:ea typeface="微軟正黑體" pitchFamily="34" charset="-120"/>
              </a:rPr>
              <a:t>相同發明有二以上之專利申請案時，僅得就其最先申請者准予發明專利</a:t>
            </a:r>
            <a:endParaRPr lang="zh-TW" altLang="en-US" sz="2000" b="1" u="sng" dirty="0">
              <a:solidFill>
                <a:prstClr val="black"/>
              </a:solidFill>
              <a:latin typeface="微軟正黑體" pitchFamily="34" charset="-120"/>
              <a:ea typeface="微軟正黑體" pitchFamily="34" charset="-120"/>
            </a:endParaRPr>
          </a:p>
        </p:txBody>
      </p:sp>
      <p:pic>
        <p:nvPicPr>
          <p:cNvPr id="3074"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51520" y="2323137"/>
            <a:ext cx="4351980" cy="19964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580635" y="2324426"/>
            <a:ext cx="4351980" cy="19637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251520" y="4348614"/>
            <a:ext cx="4320480" cy="20635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2" name="群組 11"/>
          <p:cNvGrpSpPr/>
          <p:nvPr/>
        </p:nvGrpSpPr>
        <p:grpSpPr>
          <a:xfrm>
            <a:off x="4986694" y="4427169"/>
            <a:ext cx="3707980" cy="2113059"/>
            <a:chOff x="4790383" y="2326068"/>
            <a:chExt cx="3996012" cy="2451355"/>
          </a:xfrm>
        </p:grpSpPr>
        <p:sp>
          <p:nvSpPr>
            <p:cNvPr id="5" name="矩形 4"/>
            <p:cNvSpPr/>
            <p:nvPr/>
          </p:nvSpPr>
          <p:spPr>
            <a:xfrm>
              <a:off x="4790383" y="2420888"/>
              <a:ext cx="3996012" cy="235653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6"/>
            </a:lnRef>
            <a:fillRef idx="2">
              <a:schemeClr val="accent6"/>
            </a:fillRef>
            <a:effectRef idx="1">
              <a:schemeClr val="accent6"/>
            </a:effectRef>
            <a:fontRef idx="minor">
              <a:schemeClr val="dk1"/>
            </a:fontRef>
          </p:style>
          <p:txBody>
            <a:bodyPr wrap="square">
              <a:spAutoFit/>
            </a:bodyPr>
            <a:lstStyle/>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申請人就相同創作，於</a:t>
              </a:r>
              <a:r>
                <a:rPr lang="zh-TW" altLang="en-US" u="sng" dirty="0">
                  <a:latin typeface="微軟正黑體" panose="020B0604030504040204" pitchFamily="34" charset="-120"/>
                  <a:ea typeface="微軟正黑體" panose="020B0604030504040204" pitchFamily="34" charset="-120"/>
                </a:rPr>
                <a:t>同日分別申請</a:t>
              </a:r>
              <a:r>
                <a:rPr lang="zh-TW" altLang="en-US" u="sng" dirty="0">
                  <a:solidFill>
                    <a:srgbClr val="FF0000"/>
                  </a:solidFill>
                  <a:latin typeface="微軟正黑體" panose="020B0604030504040204" pitchFamily="34" charset="-120"/>
                  <a:ea typeface="微軟正黑體" panose="020B0604030504040204" pitchFamily="34" charset="-120"/>
                </a:rPr>
                <a:t>發明專利</a:t>
              </a:r>
              <a:r>
                <a:rPr lang="zh-TW" altLang="en-US" u="sng" dirty="0">
                  <a:latin typeface="微軟正黑體" panose="020B0604030504040204" pitchFamily="34" charset="-120"/>
                  <a:ea typeface="微軟正黑體" panose="020B0604030504040204" pitchFamily="34" charset="-120"/>
                </a:rPr>
                <a:t>及</a:t>
              </a:r>
              <a:r>
                <a:rPr lang="zh-TW" altLang="en-US" u="sng" dirty="0">
                  <a:solidFill>
                    <a:srgbClr val="FF0000"/>
                  </a:solidFill>
                  <a:latin typeface="微軟正黑體" panose="020B0604030504040204" pitchFamily="34" charset="-120"/>
                  <a:ea typeface="微軟正黑體" panose="020B0604030504040204" pitchFamily="34" charset="-120"/>
                </a:rPr>
                <a:t>新型專利</a:t>
              </a:r>
              <a:r>
                <a:rPr lang="zh-TW" altLang="en-US" dirty="0">
                  <a:latin typeface="微軟正黑體" panose="020B0604030504040204" pitchFamily="34" charset="-120"/>
                  <a:ea typeface="微軟正黑體" panose="020B0604030504040204" pitchFamily="34" charset="-120"/>
                </a:rPr>
                <a:t>，並得於事後享有權利接續之利益，相對的，申請人應負有於申請時分別聲明其事實之義務，如未分別聲明時，明定不予發明專利</a:t>
              </a:r>
            </a:p>
          </p:txBody>
        </p:sp>
        <p:sp>
          <p:nvSpPr>
            <p:cNvPr id="10" name="圓角矩形 9"/>
            <p:cNvSpPr/>
            <p:nvPr/>
          </p:nvSpPr>
          <p:spPr>
            <a:xfrm>
              <a:off x="4790383" y="2326068"/>
              <a:ext cx="1437802" cy="310844"/>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一案兩請</a:t>
              </a:r>
            </a:p>
          </p:txBody>
        </p:sp>
      </p:grpSp>
    </p:spTree>
    <p:extLst>
      <p:ext uri="{BB962C8B-B14F-4D97-AF65-F5344CB8AC3E}">
        <p14:creationId xmlns:p14="http://schemas.microsoft.com/office/powerpoint/2010/main" val="142492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發明公開</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35</a:t>
            </a:fld>
            <a:endParaRPr lang="zh-TW" altLang="en-US" dirty="0">
              <a:solidFill>
                <a:prstClr val="black">
                  <a:tint val="75000"/>
                </a:prstClr>
              </a:solidFill>
            </a:endParaRPr>
          </a:p>
        </p:txBody>
      </p:sp>
      <p:pic>
        <p:nvPicPr>
          <p:cNvPr id="4099" name="Picture 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4749" y="881825"/>
            <a:ext cx="4743275" cy="26911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5" name="表格 14"/>
          <p:cNvGraphicFramePr>
            <a:graphicFrameLocks noGrp="1"/>
          </p:cNvGraphicFramePr>
          <p:nvPr>
            <p:extLst>
              <p:ext uri="{D42A27DB-BD31-4B8C-83A1-F6EECF244321}">
                <p14:modId xmlns:p14="http://schemas.microsoft.com/office/powerpoint/2010/main" val="1221479023"/>
              </p:ext>
            </p:extLst>
          </p:nvPr>
        </p:nvGraphicFramePr>
        <p:xfrm>
          <a:off x="4932040" y="953569"/>
          <a:ext cx="4007353" cy="5616623"/>
        </p:xfrm>
        <a:graphic>
          <a:graphicData uri="http://schemas.openxmlformats.org/drawingml/2006/table">
            <a:tbl>
              <a:tblPr firstRow="1" bandRow="1">
                <a:tableStyleId>{D7AC3CCA-C797-4891-BE02-D94E43425B78}</a:tableStyleId>
              </a:tblPr>
              <a:tblGrid>
                <a:gridCol w="645806">
                  <a:extLst>
                    <a:ext uri="{9D8B030D-6E8A-4147-A177-3AD203B41FA5}">
                      <a16:colId xmlns:a16="http://schemas.microsoft.com/office/drawing/2014/main" val="20000"/>
                    </a:ext>
                  </a:extLst>
                </a:gridCol>
                <a:gridCol w="3361547">
                  <a:extLst>
                    <a:ext uri="{9D8B030D-6E8A-4147-A177-3AD203B41FA5}">
                      <a16:colId xmlns:a16="http://schemas.microsoft.com/office/drawing/2014/main" val="20001"/>
                    </a:ext>
                  </a:extLst>
                </a:gridCol>
              </a:tblGrid>
              <a:tr h="1250284">
                <a:tc>
                  <a:txBody>
                    <a:bodyPr/>
                    <a:lstStyle/>
                    <a:p>
                      <a:pPr algn="l"/>
                      <a:r>
                        <a:rPr lang="zh-TW" altLang="en-US" b="0" dirty="0">
                          <a:latin typeface="微軟正黑體" panose="020B0604030504040204" pitchFamily="34" charset="-120"/>
                          <a:ea typeface="微軟正黑體" panose="020B0604030504040204" pitchFamily="34" charset="-120"/>
                        </a:rPr>
                        <a:t>定義</a:t>
                      </a:r>
                    </a:p>
                  </a:txBody>
                  <a:tcPr anchor="ctr"/>
                </a:tc>
                <a:tc>
                  <a:txBody>
                    <a:bodyPr/>
                    <a:lstStyle/>
                    <a:p>
                      <a:pPr algn="l"/>
                      <a:r>
                        <a:rPr lang="zh-TW" altLang="en-US" b="0" dirty="0">
                          <a:latin typeface="微軟正黑體" panose="020B0604030504040204" pitchFamily="34" charset="-120"/>
                          <a:ea typeface="微軟正黑體" panose="020B0604030504040204" pitchFamily="34" charset="-120"/>
                        </a:rPr>
                        <a:t>專利專責機關接到發明專利申請文件後，經審查認為無不 合規定程式，且無應不予公開之情事者， 應將該申請案公開之</a:t>
                      </a:r>
                    </a:p>
                  </a:txBody>
                  <a:tcPr anchor="ctr"/>
                </a:tc>
                <a:extLst>
                  <a:ext uri="{0D108BD9-81ED-4DB2-BD59-A6C34878D82A}">
                    <a16:rowId xmlns:a16="http://schemas.microsoft.com/office/drawing/2014/main" val="10000"/>
                  </a:ext>
                </a:extLst>
              </a:tr>
              <a:tr h="706882">
                <a:tc>
                  <a:txBody>
                    <a:bodyPr/>
                    <a:lstStyle/>
                    <a:p>
                      <a:pPr algn="l"/>
                      <a:r>
                        <a:rPr lang="zh-TW" altLang="en-US" b="0" dirty="0">
                          <a:latin typeface="微軟正黑體" panose="020B0604030504040204" pitchFamily="34" charset="-120"/>
                          <a:ea typeface="微軟正黑體" panose="020B0604030504040204" pitchFamily="34" charset="-120"/>
                        </a:rPr>
                        <a:t>適用</a:t>
                      </a:r>
                    </a:p>
                  </a:txBody>
                  <a:tcPr anchor="ctr"/>
                </a:tc>
                <a:tc>
                  <a:txBody>
                    <a:bodyPr/>
                    <a:lstStyle/>
                    <a:p>
                      <a:pPr algn="l"/>
                      <a:r>
                        <a:rPr lang="zh-TW" altLang="en-US" b="0" dirty="0">
                          <a:latin typeface="微軟正黑體" panose="020B0604030504040204" pitchFamily="34" charset="-120"/>
                          <a:ea typeface="微軟正黑體" panose="020B0604030504040204" pitchFamily="34" charset="-120"/>
                        </a:rPr>
                        <a:t>僅適用發明專利</a:t>
                      </a:r>
                    </a:p>
                  </a:txBody>
                  <a:tcPr anchor="ctr"/>
                </a:tc>
                <a:extLst>
                  <a:ext uri="{0D108BD9-81ED-4DB2-BD59-A6C34878D82A}">
                    <a16:rowId xmlns:a16="http://schemas.microsoft.com/office/drawing/2014/main" val="10001"/>
                  </a:ext>
                </a:extLst>
              </a:tr>
              <a:tr h="706882">
                <a:tc>
                  <a:txBody>
                    <a:bodyPr/>
                    <a:lstStyle/>
                    <a:p>
                      <a:pPr algn="l"/>
                      <a:r>
                        <a:rPr lang="zh-TW" altLang="en-US" b="0" dirty="0">
                          <a:latin typeface="微軟正黑體" panose="020B0604030504040204" pitchFamily="34" charset="-120"/>
                          <a:ea typeface="微軟正黑體" panose="020B0604030504040204" pitchFamily="34" charset="-120"/>
                        </a:rPr>
                        <a:t>期間</a:t>
                      </a:r>
                    </a:p>
                  </a:txBody>
                  <a:tcPr anchor="ctr"/>
                </a:tc>
                <a:tc>
                  <a:txBody>
                    <a:bodyPr/>
                    <a:lstStyle/>
                    <a:p>
                      <a:pPr algn="l"/>
                      <a:r>
                        <a:rPr lang="zh-TW" altLang="en-US" dirty="0">
                          <a:latin typeface="微軟正黑體" panose="020B0604030504040204" pitchFamily="34" charset="-120"/>
                          <a:ea typeface="微軟正黑體" panose="020B0604030504040204" pitchFamily="34" charset="-120"/>
                        </a:rPr>
                        <a:t>自申請日後經過十八個月</a:t>
                      </a:r>
                      <a:endParaRPr lang="zh-TW" altLang="en-US" b="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002"/>
                  </a:ext>
                </a:extLst>
              </a:tr>
              <a:tr h="1538811">
                <a:tc>
                  <a:txBody>
                    <a:bodyPr/>
                    <a:lstStyle/>
                    <a:p>
                      <a:pPr algn="l"/>
                      <a:r>
                        <a:rPr lang="zh-TW" altLang="en-US" b="0" dirty="0">
                          <a:latin typeface="微軟正黑體" panose="020B0604030504040204" pitchFamily="34" charset="-120"/>
                          <a:ea typeface="微軟正黑體" panose="020B0604030504040204" pitchFamily="34" charset="-120"/>
                        </a:rPr>
                        <a:t>目的</a:t>
                      </a:r>
                    </a:p>
                  </a:txBody>
                  <a:tcPr anchor="ctr"/>
                </a:tc>
                <a:tc>
                  <a:txBody>
                    <a:bodyPr/>
                    <a:lstStyle/>
                    <a:p>
                      <a:pPr marL="285750" indent="-285750" algn="l">
                        <a:buFont typeface="Arial" panose="020B0604020202020204" pitchFamily="34" charset="0"/>
                        <a:buChar char="•"/>
                      </a:pPr>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避免企業活動重複投入研發及投資的浪費</a:t>
                      </a:r>
                      <a:endParaRPr lang="en-US" altLang="zh-TW"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endParaRPr>
                    </a:p>
                    <a:p>
                      <a:pPr marL="285750" indent="-285750" algn="l">
                        <a:buFont typeface="Arial" panose="020B0604020202020204" pitchFamily="34" charset="0"/>
                        <a:buChar char="•"/>
                      </a:pPr>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第三人得因發明技術內容之公開而及早獲得相關技術資訊，從事進一步研究發展</a:t>
                      </a:r>
                      <a:endParaRPr lang="zh-TW" altLang="en-US" b="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003"/>
                  </a:ext>
                </a:extLst>
              </a:tr>
              <a:tr h="706882">
                <a:tc>
                  <a:txBody>
                    <a:bodyPr/>
                    <a:lstStyle/>
                    <a:p>
                      <a:pPr algn="l"/>
                      <a:r>
                        <a:rPr lang="zh-TW" altLang="en-US" b="0" dirty="0">
                          <a:latin typeface="微軟正黑體" panose="020B0604030504040204" pitchFamily="34" charset="-120"/>
                          <a:ea typeface="微軟正黑體" panose="020B0604030504040204" pitchFamily="34" charset="-120"/>
                        </a:rPr>
                        <a:t>效果</a:t>
                      </a:r>
                    </a:p>
                  </a:txBody>
                  <a:tcPr anchor="ctr"/>
                </a:tc>
                <a:tc>
                  <a:txBody>
                    <a:bodyPr/>
                    <a:lstStyle/>
                    <a:p>
                      <a:pPr algn="l"/>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已被公開之發明申請案，即屬於先前技術</a:t>
                      </a:r>
                      <a:endParaRPr lang="zh-TW" altLang="en-US" b="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004"/>
                  </a:ext>
                </a:extLst>
              </a:tr>
              <a:tr h="706882">
                <a:tc>
                  <a:txBody>
                    <a:bodyPr/>
                    <a:lstStyle/>
                    <a:p>
                      <a:pPr algn="l"/>
                      <a:r>
                        <a:rPr lang="zh-TW" altLang="en-US" b="0" dirty="0">
                          <a:latin typeface="微軟正黑體" panose="020B0604030504040204" pitchFamily="34" charset="-120"/>
                          <a:ea typeface="微軟正黑體" panose="020B0604030504040204" pitchFamily="34" charset="-120"/>
                        </a:rPr>
                        <a:t>提早</a:t>
                      </a:r>
                    </a:p>
                  </a:txBody>
                  <a:tcPr anchor="ctr"/>
                </a:tc>
                <a:tc>
                  <a:txBody>
                    <a:bodyPr/>
                    <a:lstStyle/>
                    <a:p>
                      <a:pPr algn="l"/>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得因申請人之申請，提早公開其申請案</a:t>
                      </a:r>
                      <a:endParaRPr lang="zh-TW" altLang="en-US" b="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005"/>
                  </a:ext>
                </a:extLst>
              </a:tr>
            </a:tbl>
          </a:graphicData>
        </a:graphic>
      </p:graphicFrame>
      <p:grpSp>
        <p:nvGrpSpPr>
          <p:cNvPr id="20" name="群組 19"/>
          <p:cNvGrpSpPr/>
          <p:nvPr/>
        </p:nvGrpSpPr>
        <p:grpSpPr>
          <a:xfrm>
            <a:off x="204606" y="3589519"/>
            <a:ext cx="4608512" cy="1198168"/>
            <a:chOff x="179512" y="4535088"/>
            <a:chExt cx="4608512" cy="1198168"/>
          </a:xfrm>
        </p:grpSpPr>
        <p:sp>
          <p:nvSpPr>
            <p:cNvPr id="23" name="矩形 22"/>
            <p:cNvSpPr/>
            <p:nvPr/>
          </p:nvSpPr>
          <p:spPr>
            <a:xfrm>
              <a:off x="179512" y="4669061"/>
              <a:ext cx="4608512" cy="106419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6"/>
            </a:lnRef>
            <a:fillRef idx="2">
              <a:schemeClr val="accent6"/>
            </a:fillRef>
            <a:effectRef idx="1">
              <a:schemeClr val="accent6"/>
            </a:effectRef>
            <a:fontRef idx="minor">
              <a:schemeClr val="dk1"/>
            </a:fontRef>
          </p:style>
          <p:txBody>
            <a:bodyPr wrap="square" anchor="b" anchorCtr="0">
              <a:noAutofit/>
            </a:bodyPr>
            <a:lstStyle/>
            <a:p>
              <a:pPr marL="285750" indent="-285750">
                <a:buFont typeface="Arial" panose="020B0604020202020204" pitchFamily="34" charset="0"/>
                <a:buChar char="•"/>
              </a:pPr>
              <a:r>
                <a:rPr lang="zh-TW" altLang="en-US" dirty="0"/>
                <a:t>自申請日後</a:t>
              </a:r>
              <a:r>
                <a:rPr lang="en-US" altLang="zh-TW" dirty="0"/>
                <a:t>15</a:t>
              </a:r>
              <a:r>
                <a:rPr lang="zh-TW" altLang="en-US" dirty="0"/>
                <a:t>個月內撤回申請案者</a:t>
              </a:r>
              <a:endParaRPr lang="en-US" altLang="zh-TW" dirty="0"/>
            </a:p>
            <a:p>
              <a:pPr marL="285750" indent="-285750">
                <a:buFont typeface="Arial" panose="020B0604020202020204" pitchFamily="34" charset="0"/>
                <a:buChar char="•"/>
              </a:pPr>
              <a:r>
                <a:rPr lang="zh-TW" altLang="en-US" dirty="0"/>
                <a:t>涉及國防機密或其他國家安全之機密者</a:t>
              </a:r>
              <a:endParaRPr lang="en-US" altLang="zh-TW" dirty="0"/>
            </a:p>
            <a:p>
              <a:pPr marL="285750" indent="-285750">
                <a:buFont typeface="Arial" panose="020B0604020202020204" pitchFamily="34" charset="0"/>
                <a:buChar char="•"/>
              </a:pPr>
              <a:r>
                <a:rPr lang="zh-TW" altLang="en-US" dirty="0"/>
                <a:t>妨害公共秩序或善良風俗者</a:t>
              </a:r>
              <a:endParaRPr lang="en-US" altLang="zh-TW" dirty="0">
                <a:latin typeface="微軟正黑體" panose="020B0604030504040204" pitchFamily="34" charset="-120"/>
                <a:ea typeface="微軟正黑體" panose="020B0604030504040204" pitchFamily="34" charset="-120"/>
              </a:endParaRPr>
            </a:p>
          </p:txBody>
        </p:sp>
        <p:sp>
          <p:nvSpPr>
            <p:cNvPr id="24" name="圓角矩形 23"/>
            <p:cNvSpPr/>
            <p:nvPr/>
          </p:nvSpPr>
          <p:spPr>
            <a:xfrm>
              <a:off x="183504" y="4535088"/>
              <a:ext cx="1658185" cy="26794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不予公開</a:t>
              </a:r>
            </a:p>
          </p:txBody>
        </p:sp>
      </p:grpSp>
      <p:pic>
        <p:nvPicPr>
          <p:cNvPr id="3" name="圖片 2">
            <a:extLst>
              <a:ext uri="{FF2B5EF4-FFF2-40B4-BE49-F238E27FC236}">
                <a16:creationId xmlns:a16="http://schemas.microsoft.com/office/drawing/2014/main" id="{D0C3EAD3-3503-4D78-922D-F3C6F4AAAC4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7054" y="4818475"/>
            <a:ext cx="4511431" cy="2036240"/>
          </a:xfrm>
          <a:prstGeom prst="rect">
            <a:avLst/>
          </a:prstGeom>
        </p:spPr>
      </p:pic>
    </p:spTree>
    <p:extLst>
      <p:ext uri="{BB962C8B-B14F-4D97-AF65-F5344CB8AC3E}">
        <p14:creationId xmlns:p14="http://schemas.microsoft.com/office/powerpoint/2010/main" val="1961747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36</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專利申請及專利文件</a:t>
            </a:r>
          </a:p>
        </p:txBody>
      </p:sp>
    </p:spTree>
    <p:extLst>
      <p:ext uri="{BB962C8B-B14F-4D97-AF65-F5344CB8AC3E}">
        <p14:creationId xmlns:p14="http://schemas.microsoft.com/office/powerpoint/2010/main" val="3356761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專利申請權</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37</a:t>
            </a:fld>
            <a:endParaRPr lang="zh-TW" altLang="en-US" dirty="0">
              <a:solidFill>
                <a:prstClr val="black">
                  <a:tint val="75000"/>
                </a:prstClr>
              </a:solidFill>
            </a:endParaRPr>
          </a:p>
        </p:txBody>
      </p:sp>
      <p:sp>
        <p:nvSpPr>
          <p:cNvPr id="6" name="矩形 5"/>
          <p:cNvSpPr/>
          <p:nvPr/>
        </p:nvSpPr>
        <p:spPr>
          <a:xfrm>
            <a:off x="107504" y="6511860"/>
            <a:ext cx="1935145" cy="246221"/>
          </a:xfrm>
          <a:prstGeom prst="rect">
            <a:avLst/>
          </a:prstGeom>
        </p:spPr>
        <p:txBody>
          <a:bodyPr wrap="none">
            <a:spAutoFit/>
          </a:bodyPr>
          <a:lstStyle/>
          <a:p>
            <a:r>
              <a:rPr lang="zh-TW" altLang="en-US" sz="1000" dirty="0"/>
              <a:t>圖片來源：</a:t>
            </a:r>
            <a:r>
              <a:rPr lang="en-US" altLang="zh-TW" sz="1000" dirty="0"/>
              <a:t>https://pixabay.com/</a:t>
            </a:r>
            <a:endParaRPr lang="zh-TW" altLang="en-US" sz="1000" dirty="0"/>
          </a:p>
        </p:txBody>
      </p:sp>
      <p:pic>
        <p:nvPicPr>
          <p:cNvPr id="1028" name="Picture 4" descr="Businessman, Man, Employer, Superior, Boss, Head"/>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932040" y="980728"/>
            <a:ext cx="3520116" cy="176005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Office, Business, Worker, Computer, Colleagues, Man"/>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1009" y="1064547"/>
            <a:ext cx="2663280" cy="1592420"/>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p:cNvSpPr txBox="1"/>
          <p:nvPr/>
        </p:nvSpPr>
        <p:spPr>
          <a:xfrm>
            <a:off x="4065665" y="845094"/>
            <a:ext cx="432048" cy="2308324"/>
          </a:xfrm>
          <a:prstGeom prst="rect">
            <a:avLst/>
          </a:prstGeom>
          <a:noFill/>
        </p:spPr>
        <p:txBody>
          <a:bodyPr wrap="square" rtlCol="0">
            <a:spAutoFit/>
          </a:bodyPr>
          <a:lstStyle/>
          <a:p>
            <a:r>
              <a:rPr lang="zh-TW" altLang="en-US" dirty="0">
                <a:solidFill>
                  <a:srgbClr val="FF0000"/>
                </a:solidFill>
              </a:rPr>
              <a:t>誰有專利申請權</a:t>
            </a:r>
            <a:endParaRPr lang="en-US" altLang="zh-TW" dirty="0">
              <a:solidFill>
                <a:srgbClr val="FF0000"/>
              </a:solidFill>
            </a:endParaRPr>
          </a:p>
          <a:p>
            <a:pPr algn="ctr"/>
            <a:r>
              <a:rPr lang="en-US" altLang="zh-TW" dirty="0">
                <a:solidFill>
                  <a:srgbClr val="FF0000"/>
                </a:solidFill>
              </a:rPr>
              <a:t>?</a:t>
            </a:r>
            <a:endParaRPr lang="zh-TW" altLang="en-US" dirty="0">
              <a:solidFill>
                <a:srgbClr val="FF0000"/>
              </a:solidFill>
            </a:endParaRPr>
          </a:p>
        </p:txBody>
      </p:sp>
      <p:graphicFrame>
        <p:nvGraphicFramePr>
          <p:cNvPr id="10" name="表格 9"/>
          <p:cNvGraphicFramePr>
            <a:graphicFrameLocks noGrp="1"/>
          </p:cNvGraphicFramePr>
          <p:nvPr>
            <p:extLst>
              <p:ext uri="{D42A27DB-BD31-4B8C-83A1-F6EECF244321}">
                <p14:modId xmlns:p14="http://schemas.microsoft.com/office/powerpoint/2010/main" val="1005028462"/>
              </p:ext>
            </p:extLst>
          </p:nvPr>
        </p:nvGraphicFramePr>
        <p:xfrm>
          <a:off x="251520" y="3501008"/>
          <a:ext cx="8687873" cy="2926080"/>
        </p:xfrm>
        <a:graphic>
          <a:graphicData uri="http://schemas.openxmlformats.org/drawingml/2006/table">
            <a:tbl>
              <a:tblPr firstRow="1" bandRow="1">
                <a:tableStyleId>{D7AC3CCA-C797-4891-BE02-D94E43425B78}</a:tableStyleId>
              </a:tblPr>
              <a:tblGrid>
                <a:gridCol w="1800200">
                  <a:extLst>
                    <a:ext uri="{9D8B030D-6E8A-4147-A177-3AD203B41FA5}">
                      <a16:colId xmlns:a16="http://schemas.microsoft.com/office/drawing/2014/main" val="20000"/>
                    </a:ext>
                  </a:extLst>
                </a:gridCol>
                <a:gridCol w="6887673">
                  <a:extLst>
                    <a:ext uri="{9D8B030D-6E8A-4147-A177-3AD203B41FA5}">
                      <a16:colId xmlns:a16="http://schemas.microsoft.com/office/drawing/2014/main" val="20001"/>
                    </a:ext>
                  </a:extLst>
                </a:gridCol>
              </a:tblGrid>
              <a:tr h="155848">
                <a:tc>
                  <a:txBody>
                    <a:bodyPr/>
                    <a:lstStyle/>
                    <a:p>
                      <a:pPr algn="l"/>
                      <a:r>
                        <a:rPr lang="zh-TW" altLang="en-US" sz="1800" b="0" dirty="0">
                          <a:latin typeface="微軟正黑體" panose="020B0604030504040204" pitchFamily="34" charset="-120"/>
                          <a:ea typeface="微軟正黑體" panose="020B0604030504040204" pitchFamily="34" charset="-120"/>
                        </a:rPr>
                        <a:t>發明人</a:t>
                      </a:r>
                    </a:p>
                  </a:txBody>
                  <a:tcPr anchor="ctr"/>
                </a:tc>
                <a:tc>
                  <a:txBody>
                    <a:bodyPr/>
                    <a:lstStyle/>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發明人即為有權提出專利申請之人</a:t>
                      </a:r>
                    </a:p>
                  </a:txBody>
                  <a:tcPr anchor="ctr"/>
                </a:tc>
                <a:extLst>
                  <a:ext uri="{0D108BD9-81ED-4DB2-BD59-A6C34878D82A}">
                    <a16:rowId xmlns:a16="http://schemas.microsoft.com/office/drawing/2014/main" val="10000"/>
                  </a:ext>
                </a:extLst>
              </a:tr>
              <a:tr h="792088">
                <a:tc>
                  <a:txBody>
                    <a:bodyPr/>
                    <a:lstStyle/>
                    <a:p>
                      <a:endPar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endParaRPr>
                    </a:p>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發明人之受讓人</a:t>
                      </a:r>
                    </a:p>
                    <a:p>
                      <a:pPr algn="l"/>
                      <a:endParaRPr lang="zh-TW" altLang="en-US" sz="1800" b="0" dirty="0">
                        <a:latin typeface="微軟正黑體" panose="020B0604030504040204" pitchFamily="34" charset="-120"/>
                        <a:ea typeface="微軟正黑體" panose="020B0604030504040204" pitchFamily="34" charset="-120"/>
                      </a:endParaRPr>
                    </a:p>
                  </a:txBody>
                  <a:tcPr anchor="ctr"/>
                </a:tc>
                <a:tc>
                  <a:txBody>
                    <a:bodyPr/>
                    <a:lstStyle/>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發明人之受讓人：發明人可以把專利申請權讓與他人，受讓取得專利申請權者，可具名申請專利。</a:t>
                      </a:r>
                    </a:p>
                  </a:txBody>
                  <a:tcPr anchor="ctr"/>
                </a:tc>
                <a:extLst>
                  <a:ext uri="{0D108BD9-81ED-4DB2-BD59-A6C34878D82A}">
                    <a16:rowId xmlns:a16="http://schemas.microsoft.com/office/drawing/2014/main" val="10001"/>
                  </a:ext>
                </a:extLst>
              </a:tr>
              <a:tr h="340216">
                <a:tc>
                  <a:txBody>
                    <a:bodyPr/>
                    <a:lstStyle/>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發明人之繼承人</a:t>
                      </a:r>
                    </a:p>
                  </a:txBody>
                  <a:tcPr anchor="ctr"/>
                </a:tc>
                <a:tc>
                  <a:txBody>
                    <a:bodyPr/>
                    <a:lstStyle/>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發明人之繼承人：指發明人死亡後，依民法第</a:t>
                      </a:r>
                      <a:r>
                        <a:rPr lang="en-US" altLang="zh-TW"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1148</a:t>
                      </a:r>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條規定</a:t>
                      </a:r>
                    </a:p>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繼承該專利申請權之人</a:t>
                      </a:r>
                    </a:p>
                  </a:txBody>
                  <a:tcPr anchor="ctr"/>
                </a:tc>
                <a:extLst>
                  <a:ext uri="{0D108BD9-81ED-4DB2-BD59-A6C34878D82A}">
                    <a16:rowId xmlns:a16="http://schemas.microsoft.com/office/drawing/2014/main" val="10002"/>
                  </a:ext>
                </a:extLst>
              </a:tr>
              <a:tr h="340216">
                <a:tc>
                  <a:txBody>
                    <a:bodyPr/>
                    <a:lstStyle/>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雇用人</a:t>
                      </a:r>
                    </a:p>
                  </a:txBody>
                  <a:tcPr anchor="ctr"/>
                </a:tc>
                <a:tc>
                  <a:txBody>
                    <a:bodyPr/>
                    <a:lstStyle/>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受雇人於僱傭關係中工作所完成之發明，其專利申請權屬於雇用人</a:t>
                      </a:r>
                    </a:p>
                  </a:txBody>
                  <a:tcPr anchor="ctr"/>
                </a:tc>
                <a:extLst>
                  <a:ext uri="{0D108BD9-81ED-4DB2-BD59-A6C34878D82A}">
                    <a16:rowId xmlns:a16="http://schemas.microsoft.com/office/drawing/2014/main" val="10003"/>
                  </a:ext>
                </a:extLst>
              </a:tr>
              <a:tr h="340216">
                <a:tc>
                  <a:txBody>
                    <a:bodyPr/>
                    <a:lstStyle/>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出資人</a:t>
                      </a:r>
                    </a:p>
                  </a:txBody>
                  <a:tcPr anchor="ctr"/>
                </a:tc>
                <a:tc>
                  <a:txBody>
                    <a:bodyPr/>
                    <a:lstStyle/>
                    <a:p>
                      <a:r>
                        <a:rPr lang="zh-TW" altLang="en-US" sz="18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一方出資聘請他人從事研究開發者，以契約約定取得專利申請權取得</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7969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1D5BC9-C9F0-4D70-AC04-734B315A1BBE}"/>
              </a:ext>
            </a:extLst>
          </p:cNvPr>
          <p:cNvSpPr>
            <a:spLocks noGrp="1"/>
          </p:cNvSpPr>
          <p:nvPr>
            <p:ph type="title"/>
          </p:nvPr>
        </p:nvSpPr>
        <p:spPr/>
        <p:txBody>
          <a:bodyPr/>
          <a:lstStyle/>
          <a:p>
            <a:r>
              <a:rPr lang="zh-TW" altLang="en-US" dirty="0"/>
              <a:t>專利申請權</a:t>
            </a:r>
          </a:p>
        </p:txBody>
      </p:sp>
      <p:sp>
        <p:nvSpPr>
          <p:cNvPr id="4" name="投影片編號版面配置區 3">
            <a:extLst>
              <a:ext uri="{FF2B5EF4-FFF2-40B4-BE49-F238E27FC236}">
                <a16:creationId xmlns:a16="http://schemas.microsoft.com/office/drawing/2014/main" id="{5DC12627-4445-4BA5-A6B8-24D17CC6A7C5}"/>
              </a:ext>
            </a:extLst>
          </p:cNvPr>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38</a:t>
            </a:fld>
            <a:endParaRPr lang="zh-TW" altLang="en-US" dirty="0">
              <a:solidFill>
                <a:prstClr val="black">
                  <a:tint val="75000"/>
                </a:prstClr>
              </a:solidFill>
            </a:endParaRPr>
          </a:p>
        </p:txBody>
      </p:sp>
      <p:graphicFrame>
        <p:nvGraphicFramePr>
          <p:cNvPr id="5" name="資料庫圖表 4">
            <a:extLst>
              <a:ext uri="{FF2B5EF4-FFF2-40B4-BE49-F238E27FC236}">
                <a16:creationId xmlns:a16="http://schemas.microsoft.com/office/drawing/2014/main" id="{7B4EC4CA-34F0-4256-85B0-60DDD8C7171C}"/>
              </a:ext>
            </a:extLst>
          </p:cNvPr>
          <p:cNvGraphicFramePr/>
          <p:nvPr>
            <p:extLst>
              <p:ext uri="{D42A27DB-BD31-4B8C-83A1-F6EECF244321}">
                <p14:modId xmlns:p14="http://schemas.microsoft.com/office/powerpoint/2010/main" val="1124808920"/>
              </p:ext>
            </p:extLst>
          </p:nvPr>
        </p:nvGraphicFramePr>
        <p:xfrm>
          <a:off x="251520" y="980727"/>
          <a:ext cx="8712968" cy="55121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38236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0E82BB-D1B6-671F-D0FA-D5418D2EFE57}"/>
              </a:ext>
            </a:extLst>
          </p:cNvPr>
          <p:cNvSpPr>
            <a:spLocks noGrp="1"/>
          </p:cNvSpPr>
          <p:nvPr>
            <p:ph type="title"/>
          </p:nvPr>
        </p:nvSpPr>
        <p:spPr/>
        <p:txBody>
          <a:bodyPr/>
          <a:lstStyle/>
          <a:p>
            <a:r>
              <a:rPr lang="zh-TW" altLang="en-US" dirty="0"/>
              <a:t>案例</a:t>
            </a:r>
          </a:p>
        </p:txBody>
      </p:sp>
      <p:sp>
        <p:nvSpPr>
          <p:cNvPr id="5" name="文字方塊 4">
            <a:extLst>
              <a:ext uri="{FF2B5EF4-FFF2-40B4-BE49-F238E27FC236}">
                <a16:creationId xmlns:a16="http://schemas.microsoft.com/office/drawing/2014/main" id="{E548B880-04B5-C46D-FE15-A0B1BCD5CA6D}"/>
              </a:ext>
            </a:extLst>
          </p:cNvPr>
          <p:cNvSpPr txBox="1"/>
          <p:nvPr/>
        </p:nvSpPr>
        <p:spPr>
          <a:xfrm>
            <a:off x="107504" y="908720"/>
            <a:ext cx="8928992" cy="2246769"/>
          </a:xfrm>
          <a:prstGeom prst="rect">
            <a:avLst/>
          </a:prstGeom>
          <a:noFill/>
        </p:spPr>
        <p:txBody>
          <a:bodyPr wrap="square">
            <a:spAutoFit/>
          </a:bodyPr>
          <a:lstStyle/>
          <a:p>
            <a:r>
              <a:rPr lang="zh-TW" altLang="en-US" sz="2000" dirty="0">
                <a:latin typeface="微軟正黑體" panose="020B0604030504040204" pitchFamily="34" charset="-120"/>
                <a:ea typeface="微軟正黑體" panose="020B0604030504040204" pitchFamily="34" charset="-120"/>
              </a:rPr>
              <a:t>甲任職於乙包裝公司之研發部門，雙方之僱傭契約約定：「甲於任職期間及自離職日起二年內，只要與任職職務有關、有利用乙方資源或經驗之任何創作，不問是否為職務上所完成之創作，其智慧財產權均歸屬於乙所有」。甲經乙指派而負責「環保吸管」之研發，完成「可生物分解吸管」發明。甲於研發過程發現，只要在吸管原料中再加入</a:t>
            </a:r>
            <a:r>
              <a:rPr lang="en-US" altLang="zh-TW" sz="2000" dirty="0">
                <a:latin typeface="微軟正黑體" panose="020B0604030504040204" pitchFamily="34" charset="-120"/>
                <a:ea typeface="微軟正黑體" panose="020B0604030504040204" pitchFamily="34" charset="-120"/>
              </a:rPr>
              <a:t>PLA</a:t>
            </a:r>
            <a:r>
              <a:rPr lang="zh-TW" altLang="en-US" sz="2000" dirty="0">
                <a:latin typeface="微軟正黑體" panose="020B0604030504040204" pitchFamily="34" charset="-120"/>
                <a:ea typeface="微軟正黑體" panose="020B0604030504040204" pitchFamily="34" charset="-120"/>
              </a:rPr>
              <a:t>成分，可增加成品之延展性及作成廚房防油污之保潔膜。請問：針對「保潔膜」之研究成果，其專利申請權及專利權之權益歸屬何人？</a:t>
            </a:r>
          </a:p>
        </p:txBody>
      </p:sp>
      <p:sp>
        <p:nvSpPr>
          <p:cNvPr id="7" name="文字方塊 6">
            <a:extLst>
              <a:ext uri="{FF2B5EF4-FFF2-40B4-BE49-F238E27FC236}">
                <a16:creationId xmlns:a16="http://schemas.microsoft.com/office/drawing/2014/main" id="{28F948DC-C33E-F400-D8F1-CDA4A19C0384}"/>
              </a:ext>
            </a:extLst>
          </p:cNvPr>
          <p:cNvSpPr txBox="1"/>
          <p:nvPr/>
        </p:nvSpPr>
        <p:spPr>
          <a:xfrm>
            <a:off x="179512" y="5914529"/>
            <a:ext cx="4572000" cy="646331"/>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§8</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9</a:t>
            </a:r>
          </a:p>
          <a:p>
            <a:r>
              <a:rPr lang="zh-TW" altLang="en-US" dirty="0">
                <a:latin typeface="微軟正黑體" panose="020B0604030504040204" pitchFamily="34" charset="-120"/>
                <a:ea typeface="微軟正黑體" panose="020B0604030504040204" pitchFamily="34" charset="-120"/>
              </a:rPr>
              <a:t>基準第五篇第一章</a:t>
            </a:r>
            <a:r>
              <a:rPr lang="en-US" altLang="zh-TW" dirty="0">
                <a:latin typeface="微軟正黑體" panose="020B0604030504040204" pitchFamily="34" charset="-120"/>
                <a:ea typeface="微軟正黑體" panose="020B0604030504040204" pitchFamily="34" charset="-120"/>
              </a:rPr>
              <a:t>5-1-25</a:t>
            </a:r>
            <a:endParaRPr lang="zh-TW" altLang="en-US" dirty="0">
              <a:latin typeface="微軟正黑體" panose="020B0604030504040204" pitchFamily="34" charset="-120"/>
              <a:ea typeface="微軟正黑體" panose="020B0604030504040204" pitchFamily="34" charset="-120"/>
            </a:endParaRPr>
          </a:p>
        </p:txBody>
      </p:sp>
      <p:sp>
        <p:nvSpPr>
          <p:cNvPr id="8" name="投影片編號版面配置區 7">
            <a:extLst>
              <a:ext uri="{FF2B5EF4-FFF2-40B4-BE49-F238E27FC236}">
                <a16:creationId xmlns:a16="http://schemas.microsoft.com/office/drawing/2014/main" id="{B13B2C4D-0143-F529-4D7C-2E828963D984}"/>
              </a:ext>
            </a:extLst>
          </p:cNvPr>
          <p:cNvSpPr>
            <a:spLocks noGrp="1"/>
          </p:cNvSpPr>
          <p:nvPr>
            <p:ph type="sldNum" sz="quarter" idx="12"/>
          </p:nvPr>
        </p:nvSpPr>
        <p:spPr/>
        <p:txBody>
          <a:bodyPr/>
          <a:lstStyle/>
          <a:p>
            <a:fld id="{254D4C32-7A1A-45A5-84ED-81747F1ABFAE}" type="slidenum">
              <a:rPr lang="zh-TW" altLang="en-US" smtClean="0"/>
              <a:t>39</a:t>
            </a:fld>
            <a:endParaRPr lang="zh-TW" altLang="en-US"/>
          </a:p>
        </p:txBody>
      </p:sp>
      <p:pic>
        <p:nvPicPr>
          <p:cNvPr id="3" name="ttsmaker-file-2024-9-6-7-50-56.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508104" y="6051550"/>
            <a:ext cx="609600" cy="609600"/>
          </a:xfrm>
          <a:prstGeom prst="rect">
            <a:avLst/>
          </a:prstGeom>
        </p:spPr>
      </p:pic>
    </p:spTree>
    <p:extLst>
      <p:ext uri="{BB962C8B-B14F-4D97-AF65-F5344CB8AC3E}">
        <p14:creationId xmlns:p14="http://schemas.microsoft.com/office/powerpoint/2010/main" val="238412989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0680" fill="hold"/>
                                        <p:tgtEl>
                                          <p:spTgt spid="3"/>
                                        </p:tgtEl>
                                      </p:cBhvr>
                                    </p:cmd>
                                  </p:childTnLst>
                                </p:cTn>
                              </p:par>
                            </p:childTnLst>
                          </p:cTn>
                        </p:par>
                      </p:childTnLst>
                    </p:cTn>
                  </p:par>
                </p:childTnLst>
              </p:cTn>
              <p:nextCondLst>
                <p:cond evt="onClick" delay="0">
                  <p:tgtEl>
                    <p:spTgt spid="3"/>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203ABD-0DDC-40F1-A9EF-C7B249F4292D}"/>
              </a:ext>
            </a:extLst>
          </p:cNvPr>
          <p:cNvSpPr>
            <a:spLocks noGrp="1"/>
          </p:cNvSpPr>
          <p:nvPr>
            <p:ph type="title"/>
          </p:nvPr>
        </p:nvSpPr>
        <p:spPr/>
        <p:txBody>
          <a:bodyPr/>
          <a:lstStyle/>
          <a:p>
            <a:r>
              <a:rPr lang="zh-TW" altLang="en-US" dirty="0"/>
              <a:t>專利代理人</a:t>
            </a:r>
          </a:p>
        </p:txBody>
      </p:sp>
      <p:sp>
        <p:nvSpPr>
          <p:cNvPr id="4" name="投影片編號版面配置區 3">
            <a:extLst>
              <a:ext uri="{FF2B5EF4-FFF2-40B4-BE49-F238E27FC236}">
                <a16:creationId xmlns:a16="http://schemas.microsoft.com/office/drawing/2014/main" id="{C5669C48-4E33-4E25-ACA5-7E5CE669FA48}"/>
              </a:ext>
            </a:extLst>
          </p:cNvPr>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40</a:t>
            </a:fld>
            <a:endParaRPr lang="zh-TW" altLang="en-US" dirty="0">
              <a:solidFill>
                <a:prstClr val="black">
                  <a:tint val="75000"/>
                </a:prstClr>
              </a:solidFill>
            </a:endParaRPr>
          </a:p>
        </p:txBody>
      </p:sp>
      <p:grpSp>
        <p:nvGrpSpPr>
          <p:cNvPr id="13" name="群組 12">
            <a:extLst>
              <a:ext uri="{FF2B5EF4-FFF2-40B4-BE49-F238E27FC236}">
                <a16:creationId xmlns:a16="http://schemas.microsoft.com/office/drawing/2014/main" id="{6F7AC0A0-2E6B-4897-A2F4-FA0856B21007}"/>
              </a:ext>
            </a:extLst>
          </p:cNvPr>
          <p:cNvGrpSpPr/>
          <p:nvPr/>
        </p:nvGrpSpPr>
        <p:grpSpPr>
          <a:xfrm>
            <a:off x="467544" y="980728"/>
            <a:ext cx="8208912" cy="1440160"/>
            <a:chOff x="467544" y="980728"/>
            <a:chExt cx="8208912" cy="1440160"/>
          </a:xfrm>
        </p:grpSpPr>
        <p:sp>
          <p:nvSpPr>
            <p:cNvPr id="5" name="矩形 4">
              <a:extLst>
                <a:ext uri="{FF2B5EF4-FFF2-40B4-BE49-F238E27FC236}">
                  <a16:creationId xmlns:a16="http://schemas.microsoft.com/office/drawing/2014/main" id="{467BD515-A472-4931-A73C-8EDE0BF6492C}"/>
                </a:ext>
              </a:extLst>
            </p:cNvPr>
            <p:cNvSpPr/>
            <p:nvPr/>
          </p:nvSpPr>
          <p:spPr>
            <a:xfrm>
              <a:off x="467544" y="1196752"/>
              <a:ext cx="8208912" cy="12241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tIns="144000" rtlCol="0" anchor="ctr" anchorCtr="0"/>
            <a:lstStyle/>
            <a:p>
              <a:pPr marL="180975" indent="-180975">
                <a:buFont typeface="Arial" panose="020B0604020202020204" pitchFamily="34" charset="0"/>
                <a:buChar char="•"/>
              </a:pPr>
              <a:r>
                <a:rPr lang="zh-TW" altLang="en-US" dirty="0">
                  <a:solidFill>
                    <a:schemeClr val="tx1"/>
                  </a:solidFill>
                  <a:latin typeface="微軟正黑體" panose="020B0604030504040204" pitchFamily="34" charset="-120"/>
                  <a:ea typeface="微軟正黑體" panose="020B0604030504040204" pitchFamily="34" charset="-120"/>
                </a:rPr>
                <a:t>在中華民國境內，無住所或營業所者，申請專利及辦理專利有關事項，應委任代理人辦理</a:t>
              </a:r>
              <a:endParaRPr lang="en-US" altLang="zh-TW" dirty="0">
                <a:solidFill>
                  <a:schemeClr val="tx1"/>
                </a:solidFill>
                <a:latin typeface="微軟正黑體" panose="020B0604030504040204" pitchFamily="34" charset="-120"/>
                <a:ea typeface="微軟正黑體" panose="020B0604030504040204" pitchFamily="34" charset="-120"/>
              </a:endParaRPr>
            </a:p>
            <a:p>
              <a:pPr marL="180975" indent="-180975">
                <a:buFont typeface="Arial" panose="020B0604020202020204" pitchFamily="34" charset="0"/>
                <a:buChar char="•"/>
              </a:pPr>
              <a:r>
                <a:rPr lang="zh-TW" altLang="en-US" dirty="0">
                  <a:solidFill>
                    <a:schemeClr val="tx1"/>
                  </a:solidFill>
                  <a:latin typeface="微軟正黑體" panose="020B0604030504040204" pitchFamily="34" charset="-120"/>
                  <a:ea typeface="微軟正黑體" panose="020B0604030504040204" pitchFamily="34" charset="-120"/>
                </a:rPr>
                <a:t>每一專利案，代理人不得逾</a:t>
              </a:r>
              <a:r>
                <a:rPr lang="en-US" altLang="zh-TW" dirty="0">
                  <a:solidFill>
                    <a:schemeClr val="tx1"/>
                  </a:solidFill>
                  <a:latin typeface="微軟正黑體" panose="020B0604030504040204" pitchFamily="34" charset="-120"/>
                  <a:ea typeface="微軟正黑體" panose="020B0604030504040204" pitchFamily="34" charset="-120"/>
                </a:rPr>
                <a:t>3</a:t>
              </a:r>
              <a:r>
                <a:rPr lang="zh-TW" altLang="en-US" dirty="0">
                  <a:solidFill>
                    <a:schemeClr val="tx1"/>
                  </a:solidFill>
                  <a:latin typeface="微軟正黑體" panose="020B0604030504040204" pitchFamily="34" charset="-120"/>
                  <a:ea typeface="微軟正黑體" panose="020B0604030504040204" pitchFamily="34" charset="-120"/>
                </a:rPr>
                <a:t>人</a:t>
              </a:r>
            </a:p>
          </p:txBody>
        </p:sp>
        <p:sp>
          <p:nvSpPr>
            <p:cNvPr id="6" name="矩形: 圓角 5">
              <a:extLst>
                <a:ext uri="{FF2B5EF4-FFF2-40B4-BE49-F238E27FC236}">
                  <a16:creationId xmlns:a16="http://schemas.microsoft.com/office/drawing/2014/main" id="{0EC62BDA-B4F2-4F86-8A68-94EE9F13467A}"/>
                </a:ext>
              </a:extLst>
            </p:cNvPr>
            <p:cNvSpPr/>
            <p:nvPr/>
          </p:nvSpPr>
          <p:spPr>
            <a:xfrm>
              <a:off x="683568" y="980728"/>
              <a:ext cx="4032448" cy="36004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zh-TW" altLang="en-US" dirty="0">
                  <a:latin typeface="微軟正黑體" panose="020B0604030504040204" pitchFamily="34" charset="-120"/>
                  <a:ea typeface="微軟正黑體" panose="020B0604030504040204" pitchFamily="34" charset="-120"/>
                </a:rPr>
                <a:t>委任代理人</a:t>
              </a:r>
            </a:p>
          </p:txBody>
        </p:sp>
      </p:grpSp>
      <p:sp>
        <p:nvSpPr>
          <p:cNvPr id="9" name="矩形 8">
            <a:extLst>
              <a:ext uri="{FF2B5EF4-FFF2-40B4-BE49-F238E27FC236}">
                <a16:creationId xmlns:a16="http://schemas.microsoft.com/office/drawing/2014/main" id="{135B905D-EC58-46A4-ADBF-1509D4972782}"/>
              </a:ext>
            </a:extLst>
          </p:cNvPr>
          <p:cNvSpPr/>
          <p:nvPr/>
        </p:nvSpPr>
        <p:spPr>
          <a:xfrm>
            <a:off x="467544" y="2708920"/>
            <a:ext cx="8208912"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tIns="144000" rtlCol="0" anchor="ctr" anchorCtr="0"/>
          <a:lstStyle/>
          <a:p>
            <a:pPr marL="180975" indent="-180975">
              <a:buFont typeface="Arial" panose="020B0604020202020204" pitchFamily="34" charset="0"/>
              <a:buChar char="•"/>
            </a:pPr>
            <a:r>
              <a:rPr lang="zh-TW" altLang="en-US" dirty="0">
                <a:solidFill>
                  <a:schemeClr val="tx1"/>
                </a:solidFill>
                <a:latin typeface="微軟正黑體" panose="020B0604030504040204" pitchFamily="34" charset="-120"/>
                <a:ea typeface="微軟正黑體" panose="020B0604030504040204" pitchFamily="34" charset="-120"/>
              </a:rPr>
              <a:t>律師、專利師、專利代理人</a:t>
            </a:r>
          </a:p>
        </p:txBody>
      </p:sp>
      <p:sp>
        <p:nvSpPr>
          <p:cNvPr id="10" name="矩形: 圓角 9">
            <a:extLst>
              <a:ext uri="{FF2B5EF4-FFF2-40B4-BE49-F238E27FC236}">
                <a16:creationId xmlns:a16="http://schemas.microsoft.com/office/drawing/2014/main" id="{61865F0B-A906-4401-A672-0FFA3BB85C20}"/>
              </a:ext>
            </a:extLst>
          </p:cNvPr>
          <p:cNvSpPr/>
          <p:nvPr/>
        </p:nvSpPr>
        <p:spPr>
          <a:xfrm>
            <a:off x="683568" y="2492896"/>
            <a:ext cx="4032448" cy="360040"/>
          </a:xfrm>
          <a:prstGeom prst="roundRect">
            <a:avLst/>
          </a:prstGeom>
          <a:solidFill>
            <a:schemeClr val="accent3">
              <a:lumMod val="40000"/>
              <a:lumOff val="60000"/>
            </a:schemeClr>
          </a:solidFill>
          <a:ln>
            <a:solidFill>
              <a:schemeClr val="accent3">
                <a:lumMod val="40000"/>
                <a:lumOff val="60000"/>
              </a:schemeClr>
            </a:solidFill>
          </a:ln>
        </p:spPr>
        <p:style>
          <a:lnRef idx="1">
            <a:schemeClr val="accent3"/>
          </a:lnRef>
          <a:fillRef idx="2">
            <a:schemeClr val="accent3"/>
          </a:fillRef>
          <a:effectRef idx="1">
            <a:schemeClr val="accent3"/>
          </a:effectRef>
          <a:fontRef idx="minor">
            <a:schemeClr val="dk1"/>
          </a:fontRef>
        </p:style>
        <p:txBody>
          <a:bodyPr rtlCol="0" anchor="ctr"/>
          <a:lstStyle/>
          <a:p>
            <a:r>
              <a:rPr lang="zh-TW" altLang="en-US" dirty="0">
                <a:latin typeface="微軟正黑體" panose="020B0604030504040204" pitchFamily="34" charset="-120"/>
                <a:ea typeface="微軟正黑體" panose="020B0604030504040204" pitchFamily="34" charset="-120"/>
              </a:rPr>
              <a:t>代理人資格</a:t>
            </a:r>
          </a:p>
        </p:txBody>
      </p:sp>
      <p:grpSp>
        <p:nvGrpSpPr>
          <p:cNvPr id="14" name="群組 13">
            <a:extLst>
              <a:ext uri="{FF2B5EF4-FFF2-40B4-BE49-F238E27FC236}">
                <a16:creationId xmlns:a16="http://schemas.microsoft.com/office/drawing/2014/main" id="{938250B2-9301-469D-B092-BCBD6C9AAAC1}"/>
              </a:ext>
            </a:extLst>
          </p:cNvPr>
          <p:cNvGrpSpPr/>
          <p:nvPr/>
        </p:nvGrpSpPr>
        <p:grpSpPr>
          <a:xfrm>
            <a:off x="467544" y="3520777"/>
            <a:ext cx="8208912" cy="1204367"/>
            <a:chOff x="467544" y="980728"/>
            <a:chExt cx="8208912" cy="1204367"/>
          </a:xfrm>
        </p:grpSpPr>
        <p:sp>
          <p:nvSpPr>
            <p:cNvPr id="15" name="矩形 14">
              <a:extLst>
                <a:ext uri="{FF2B5EF4-FFF2-40B4-BE49-F238E27FC236}">
                  <a16:creationId xmlns:a16="http://schemas.microsoft.com/office/drawing/2014/main" id="{9C178924-3539-4439-8020-A20757642D54}"/>
                </a:ext>
              </a:extLst>
            </p:cNvPr>
            <p:cNvSpPr/>
            <p:nvPr/>
          </p:nvSpPr>
          <p:spPr>
            <a:xfrm>
              <a:off x="467544" y="1196752"/>
              <a:ext cx="8208912" cy="9883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tIns="144000" rtlCol="0" anchor="ctr" anchorCtr="0"/>
            <a:lstStyle/>
            <a:p>
              <a:pPr marL="180975" indent="-180975">
                <a:buFont typeface="Arial" panose="020B0604020202020204" pitchFamily="34" charset="0"/>
                <a:buChar char="•"/>
              </a:pPr>
              <a:r>
                <a:rPr lang="zh-TW" altLang="en-US" dirty="0">
                  <a:solidFill>
                    <a:schemeClr val="tx1"/>
                  </a:solidFill>
                  <a:latin typeface="微軟正黑體" panose="020B0604030504040204" pitchFamily="34" charset="-120"/>
                  <a:ea typeface="微軟正黑體" panose="020B0604030504040204" pitchFamily="34" charset="-120"/>
                </a:rPr>
                <a:t>申請人委任代理人者，應檢附委任書，載明代理之權限及送達處所</a:t>
              </a:r>
            </a:p>
            <a:p>
              <a:pPr marL="180975" indent="-180975">
                <a:buFont typeface="Arial" panose="020B0604020202020204" pitchFamily="34" charset="0"/>
                <a:buChar char="•"/>
              </a:pPr>
              <a:r>
                <a:rPr lang="zh-TW" altLang="en-US" dirty="0">
                  <a:solidFill>
                    <a:schemeClr val="tx1"/>
                  </a:solidFill>
                  <a:latin typeface="微軟正黑體" panose="020B0604030504040204" pitchFamily="34" charset="-120"/>
                  <a:ea typeface="微軟正黑體" panose="020B0604030504040204" pitchFamily="34" charset="-120"/>
                </a:rPr>
                <a:t>委任人應於委任書或申請書上簽章</a:t>
              </a:r>
            </a:p>
          </p:txBody>
        </p:sp>
        <p:sp>
          <p:nvSpPr>
            <p:cNvPr id="16" name="矩形: 圓角 15">
              <a:extLst>
                <a:ext uri="{FF2B5EF4-FFF2-40B4-BE49-F238E27FC236}">
                  <a16:creationId xmlns:a16="http://schemas.microsoft.com/office/drawing/2014/main" id="{F1DF31B0-4C35-4378-AB8D-534C3CEFF866}"/>
                </a:ext>
              </a:extLst>
            </p:cNvPr>
            <p:cNvSpPr/>
            <p:nvPr/>
          </p:nvSpPr>
          <p:spPr>
            <a:xfrm>
              <a:off x="683568" y="980728"/>
              <a:ext cx="4032448" cy="360040"/>
            </a:xfrm>
            <a:prstGeom prst="roundRect">
              <a:avLst/>
            </a:prstGeom>
            <a:solidFill>
              <a:schemeClr val="accent4">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r>
                <a:rPr lang="zh-TW" altLang="en-US" dirty="0">
                  <a:latin typeface="微軟正黑體" panose="020B0604030504040204" pitchFamily="34" charset="-120"/>
                  <a:ea typeface="微軟正黑體" panose="020B0604030504040204" pitchFamily="34" charset="-120"/>
                </a:rPr>
                <a:t>委任書</a:t>
              </a:r>
            </a:p>
          </p:txBody>
        </p:sp>
      </p:grpSp>
      <p:grpSp>
        <p:nvGrpSpPr>
          <p:cNvPr id="19" name="群組 18">
            <a:extLst>
              <a:ext uri="{FF2B5EF4-FFF2-40B4-BE49-F238E27FC236}">
                <a16:creationId xmlns:a16="http://schemas.microsoft.com/office/drawing/2014/main" id="{291D3FB8-3971-41F2-8BA3-B03016474285}"/>
              </a:ext>
            </a:extLst>
          </p:cNvPr>
          <p:cNvGrpSpPr/>
          <p:nvPr/>
        </p:nvGrpSpPr>
        <p:grpSpPr>
          <a:xfrm>
            <a:off x="467544" y="4822926"/>
            <a:ext cx="8208912" cy="1440160"/>
            <a:chOff x="467544" y="980728"/>
            <a:chExt cx="8208912" cy="1440160"/>
          </a:xfrm>
        </p:grpSpPr>
        <p:sp>
          <p:nvSpPr>
            <p:cNvPr id="20" name="矩形 19">
              <a:extLst>
                <a:ext uri="{FF2B5EF4-FFF2-40B4-BE49-F238E27FC236}">
                  <a16:creationId xmlns:a16="http://schemas.microsoft.com/office/drawing/2014/main" id="{33079D4D-8D2E-436B-8A4E-E56DE60B8A8A}"/>
                </a:ext>
              </a:extLst>
            </p:cNvPr>
            <p:cNvSpPr/>
            <p:nvPr/>
          </p:nvSpPr>
          <p:spPr>
            <a:xfrm>
              <a:off x="467544" y="1196752"/>
              <a:ext cx="8208912" cy="12241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tIns="144000" rtlCol="0" anchor="ctr" anchorCtr="0"/>
            <a:lstStyle/>
            <a:p>
              <a:pPr marL="180975" indent="-180975">
                <a:buFont typeface="Arial" panose="020B0604020202020204" pitchFamily="34" charset="0"/>
                <a:buChar char="•"/>
              </a:pPr>
              <a:r>
                <a:rPr lang="zh-TW" altLang="en-US" u="sng" dirty="0">
                  <a:solidFill>
                    <a:schemeClr val="tx1"/>
                  </a:solidFill>
                  <a:latin typeface="微軟正黑體" panose="020B0604030504040204" pitchFamily="34" charset="-120"/>
                  <a:ea typeface="微軟正黑體" panose="020B0604030504040204" pitchFamily="34" charset="-120"/>
                </a:rPr>
                <a:t>選任或解任</a:t>
              </a:r>
              <a:r>
                <a:rPr lang="zh-TW" altLang="en-US" dirty="0">
                  <a:solidFill>
                    <a:schemeClr val="tx1"/>
                  </a:solidFill>
                  <a:latin typeface="微軟正黑體" panose="020B0604030504040204" pitchFamily="34" charset="-120"/>
                  <a:ea typeface="微軟正黑體" panose="020B0604030504040204" pitchFamily="34" charset="-120"/>
                </a:rPr>
                <a:t>代理人、</a:t>
              </a:r>
              <a:r>
                <a:rPr lang="zh-TW" altLang="en-US" u="sng" dirty="0">
                  <a:solidFill>
                    <a:schemeClr val="tx1"/>
                  </a:solidFill>
                  <a:latin typeface="微軟正黑體" panose="020B0604030504040204" pitchFamily="34" charset="-120"/>
                  <a:ea typeface="微軟正黑體" panose="020B0604030504040204" pitchFamily="34" charset="-120"/>
                </a:rPr>
                <a:t>撤回</a:t>
              </a:r>
              <a:r>
                <a:rPr lang="zh-TW" altLang="en-US" dirty="0">
                  <a:solidFill>
                    <a:schemeClr val="tx1"/>
                  </a:solidFill>
                  <a:latin typeface="微軟正黑體" panose="020B0604030504040204" pitchFamily="34" charset="-120"/>
                  <a:ea typeface="微軟正黑體" panose="020B0604030504040204" pitchFamily="34" charset="-120"/>
                </a:rPr>
                <a:t>專利申請案、</a:t>
              </a:r>
              <a:r>
                <a:rPr lang="zh-TW" altLang="en-US" u="sng" dirty="0">
                  <a:solidFill>
                    <a:schemeClr val="tx1"/>
                  </a:solidFill>
                  <a:latin typeface="微軟正黑體" panose="020B0604030504040204" pitchFamily="34" charset="-120"/>
                  <a:ea typeface="微軟正黑體" panose="020B0604030504040204" pitchFamily="34" charset="-120"/>
                </a:rPr>
                <a:t>撤回</a:t>
              </a:r>
              <a:r>
                <a:rPr lang="zh-TW" altLang="en-US" dirty="0">
                  <a:solidFill>
                    <a:schemeClr val="tx1"/>
                  </a:solidFill>
                  <a:latin typeface="微軟正黑體" panose="020B0604030504040204" pitchFamily="34" charset="-120"/>
                  <a:ea typeface="微軟正黑體" panose="020B0604030504040204" pitchFamily="34" charset="-120"/>
                </a:rPr>
                <a:t>分割案、</a:t>
              </a:r>
              <a:r>
                <a:rPr lang="zh-TW" altLang="en-US" u="sng" dirty="0">
                  <a:solidFill>
                    <a:schemeClr val="tx1"/>
                  </a:solidFill>
                  <a:latin typeface="微軟正黑體" panose="020B0604030504040204" pitchFamily="34" charset="-120"/>
                  <a:ea typeface="微軟正黑體" panose="020B0604030504040204" pitchFamily="34" charset="-120"/>
                </a:rPr>
                <a:t>撤回</a:t>
              </a:r>
              <a:r>
                <a:rPr lang="zh-TW" altLang="en-US" dirty="0">
                  <a:solidFill>
                    <a:schemeClr val="tx1"/>
                  </a:solidFill>
                  <a:latin typeface="微軟正黑體" panose="020B0604030504040204" pitchFamily="34" charset="-120"/>
                  <a:ea typeface="微軟正黑體" panose="020B0604030504040204" pitchFamily="34" charset="-120"/>
                </a:rPr>
                <a:t>改請案、</a:t>
              </a:r>
              <a:r>
                <a:rPr lang="zh-TW" altLang="en-US" u="sng" dirty="0">
                  <a:solidFill>
                    <a:schemeClr val="tx1"/>
                  </a:solidFill>
                  <a:latin typeface="微軟正黑體" panose="020B0604030504040204" pitchFamily="34" charset="-120"/>
                  <a:ea typeface="微軟正黑體" panose="020B0604030504040204" pitchFamily="34" charset="-120"/>
                </a:rPr>
                <a:t>撤回</a:t>
              </a:r>
              <a:r>
                <a:rPr lang="zh-TW" altLang="en-US" dirty="0">
                  <a:solidFill>
                    <a:schemeClr val="tx1"/>
                  </a:solidFill>
                  <a:latin typeface="微軟正黑體" panose="020B0604030504040204" pitchFamily="34" charset="-120"/>
                  <a:ea typeface="微軟正黑體" panose="020B0604030504040204" pitchFamily="34" charset="-120"/>
                </a:rPr>
                <a:t>再審查申請、</a:t>
              </a:r>
              <a:r>
                <a:rPr lang="zh-TW" altLang="en-US" u="sng" dirty="0">
                  <a:solidFill>
                    <a:schemeClr val="tx1"/>
                  </a:solidFill>
                  <a:latin typeface="微軟正黑體" panose="020B0604030504040204" pitchFamily="34" charset="-120"/>
                  <a:ea typeface="微軟正黑體" panose="020B0604030504040204" pitchFamily="34" charset="-120"/>
                </a:rPr>
                <a:t>撤回</a:t>
              </a:r>
              <a:r>
                <a:rPr lang="zh-TW" altLang="en-US" dirty="0">
                  <a:solidFill>
                    <a:schemeClr val="tx1"/>
                  </a:solidFill>
                  <a:latin typeface="微軟正黑體" panose="020B0604030504040204" pitchFamily="34" charset="-120"/>
                  <a:ea typeface="微軟正黑體" panose="020B0604030504040204" pitchFamily="34" charset="-120"/>
                </a:rPr>
                <a:t>更正申請、</a:t>
              </a:r>
              <a:r>
                <a:rPr lang="zh-TW" altLang="en-US" u="sng" dirty="0">
                  <a:solidFill>
                    <a:schemeClr val="tx1"/>
                  </a:solidFill>
                  <a:latin typeface="微軟正黑體" panose="020B0604030504040204" pitchFamily="34" charset="-120"/>
                  <a:ea typeface="微軟正黑體" panose="020B0604030504040204" pitchFamily="34" charset="-120"/>
                </a:rPr>
                <a:t>撤回</a:t>
              </a:r>
              <a:r>
                <a:rPr lang="zh-TW" altLang="en-US" dirty="0">
                  <a:solidFill>
                    <a:schemeClr val="tx1"/>
                  </a:solidFill>
                  <a:latin typeface="微軟正黑體" panose="020B0604030504040204" pitchFamily="34" charset="-120"/>
                  <a:ea typeface="微軟正黑體" panose="020B0604030504040204" pitchFamily="34" charset="-120"/>
                </a:rPr>
                <a:t>舉發案或</a:t>
              </a:r>
              <a:r>
                <a:rPr lang="zh-TW" altLang="en-US" u="sng" dirty="0">
                  <a:solidFill>
                    <a:schemeClr val="tx1"/>
                  </a:solidFill>
                  <a:latin typeface="微軟正黑體" panose="020B0604030504040204" pitchFamily="34" charset="-120"/>
                  <a:ea typeface="微軟正黑體" panose="020B0604030504040204" pitchFamily="34" charset="-120"/>
                </a:rPr>
                <a:t>拋棄</a:t>
              </a:r>
              <a:r>
                <a:rPr lang="zh-TW" altLang="en-US" dirty="0">
                  <a:solidFill>
                    <a:schemeClr val="tx1"/>
                  </a:solidFill>
                  <a:latin typeface="微軟正黑體" panose="020B0604030504040204" pitchFamily="34" charset="-120"/>
                  <a:ea typeface="微軟正黑體" panose="020B0604030504040204" pitchFamily="34" charset="-120"/>
                </a:rPr>
                <a:t>專利權</a:t>
              </a:r>
            </a:p>
          </p:txBody>
        </p:sp>
        <p:sp>
          <p:nvSpPr>
            <p:cNvPr id="21" name="矩形: 圓角 20">
              <a:extLst>
                <a:ext uri="{FF2B5EF4-FFF2-40B4-BE49-F238E27FC236}">
                  <a16:creationId xmlns:a16="http://schemas.microsoft.com/office/drawing/2014/main" id="{EBDA4F3E-06F4-4D04-89B6-14ED725DA463}"/>
                </a:ext>
              </a:extLst>
            </p:cNvPr>
            <p:cNvSpPr/>
            <p:nvPr/>
          </p:nvSpPr>
          <p:spPr>
            <a:xfrm>
              <a:off x="683568" y="980728"/>
              <a:ext cx="4032448" cy="360040"/>
            </a:xfrm>
            <a:prstGeom prst="roundRect">
              <a:avLst/>
            </a:prstGeom>
            <a:solidFill>
              <a:schemeClr val="accent4">
                <a:lumMod val="40000"/>
                <a:lumOff val="60000"/>
              </a:schemeClr>
            </a:solidFill>
            <a:ln>
              <a:solidFill>
                <a:schemeClr val="accent3">
                  <a:lumMod val="75000"/>
                </a:schemeClr>
              </a:solidFill>
            </a:ln>
          </p:spPr>
          <p:style>
            <a:lnRef idx="1">
              <a:schemeClr val="accent3"/>
            </a:lnRef>
            <a:fillRef idx="2">
              <a:schemeClr val="accent3"/>
            </a:fillRef>
            <a:effectRef idx="1">
              <a:schemeClr val="accent3"/>
            </a:effectRef>
            <a:fontRef idx="minor">
              <a:schemeClr val="dk1"/>
            </a:fontRef>
          </p:style>
          <p:txBody>
            <a:bodyPr rtlCol="0" anchor="ctr"/>
            <a:lstStyle/>
            <a:p>
              <a:r>
                <a:rPr lang="zh-TW" altLang="en-US" dirty="0">
                  <a:latin typeface="微軟正黑體" panose="020B0604030504040204" pitchFamily="34" charset="-120"/>
                  <a:ea typeface="微軟正黑體" panose="020B0604030504040204" pitchFamily="34" charset="-120"/>
                </a:rPr>
                <a:t>須特別委任事項</a:t>
              </a:r>
            </a:p>
          </p:txBody>
        </p:sp>
      </p:grpSp>
    </p:spTree>
    <p:extLst>
      <p:ext uri="{BB962C8B-B14F-4D97-AF65-F5344CB8AC3E}">
        <p14:creationId xmlns:p14="http://schemas.microsoft.com/office/powerpoint/2010/main" val="842723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專利流程</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41</a:t>
            </a:fld>
            <a:endParaRPr lang="zh-TW" altLang="en-US" dirty="0">
              <a:solidFill>
                <a:prstClr val="black">
                  <a:tint val="75000"/>
                </a:prstClr>
              </a:solidFill>
            </a:endParaRPr>
          </a:p>
        </p:txBody>
      </p:sp>
      <p:graphicFrame>
        <p:nvGraphicFramePr>
          <p:cNvPr id="5" name="資料庫圖表 4"/>
          <p:cNvGraphicFramePr/>
          <p:nvPr>
            <p:extLst>
              <p:ext uri="{D42A27DB-BD31-4B8C-83A1-F6EECF244321}">
                <p14:modId xmlns:p14="http://schemas.microsoft.com/office/powerpoint/2010/main" val="642900280"/>
              </p:ext>
            </p:extLst>
          </p:nvPr>
        </p:nvGraphicFramePr>
        <p:xfrm>
          <a:off x="539552" y="908720"/>
          <a:ext cx="8424936" cy="5688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矩形 2"/>
          <p:cNvSpPr/>
          <p:nvPr/>
        </p:nvSpPr>
        <p:spPr>
          <a:xfrm>
            <a:off x="395536" y="6205954"/>
            <a:ext cx="7632848" cy="307777"/>
          </a:xfrm>
          <a:prstGeom prst="rect">
            <a:avLst/>
          </a:prstGeom>
        </p:spPr>
        <p:txBody>
          <a:bodyPr wrap="square">
            <a:spAutoFit/>
          </a:bodyPr>
          <a:lstStyle/>
          <a:p>
            <a:r>
              <a:rPr lang="zh-TW" altLang="en-US" sz="1400" dirty="0">
                <a:latin typeface="微軟正黑體" panose="020B0604030504040204" pitchFamily="34" charset="-120"/>
                <a:ea typeface="微軟正黑體" panose="020B0604030504040204" pitchFamily="34" charset="-120"/>
              </a:rPr>
              <a:t>專利處理期間：</a:t>
            </a:r>
            <a:r>
              <a:rPr lang="en-US" altLang="zh-TW" sz="1400" dirty="0">
                <a:latin typeface="微軟正黑體" panose="020B0604030504040204" pitchFamily="34" charset="-120"/>
                <a:ea typeface="微軟正黑體" panose="020B0604030504040204" pitchFamily="34" charset="-120"/>
                <a:hlinkClick r:id="rId7"/>
              </a:rPr>
              <a:t>https://rd.nkuht.edu.tw/p/406-1009-13271,r335.php?Lang=zh-tw</a:t>
            </a:r>
            <a:endParaRPr lang="zh-TW" altLang="en-US" sz="1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09607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6CC1B280-0486-35D3-480F-6CD9FD36D31D}"/>
              </a:ext>
            </a:extLst>
          </p:cNvPr>
          <p:cNvPicPr>
            <a:picLocks noChangeAspect="1"/>
          </p:cNvPicPr>
          <p:nvPr/>
        </p:nvPicPr>
        <p:blipFill>
          <a:blip r:embed="rId2"/>
          <a:stretch>
            <a:fillRect/>
          </a:stretch>
        </p:blipFill>
        <p:spPr>
          <a:xfrm>
            <a:off x="10760" y="923728"/>
            <a:ext cx="8927873" cy="5797211"/>
          </a:xfrm>
          <a:prstGeom prst="rect">
            <a:avLst/>
          </a:prstGeom>
        </p:spPr>
      </p:pic>
      <p:sp>
        <p:nvSpPr>
          <p:cNvPr id="2" name="標題 1"/>
          <p:cNvSpPr>
            <a:spLocks noGrp="1"/>
          </p:cNvSpPr>
          <p:nvPr>
            <p:ph type="title"/>
          </p:nvPr>
        </p:nvSpPr>
        <p:spPr/>
        <p:txBody>
          <a:bodyPr>
            <a:normAutofit/>
          </a:bodyPr>
          <a:lstStyle/>
          <a:p>
            <a:r>
              <a:rPr lang="zh-TW" altLang="en-US" dirty="0"/>
              <a:t>發明專利審查及行政救濟流程圖</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42</a:t>
            </a:fld>
            <a:endParaRPr lang="zh-TW" altLang="en-US" dirty="0">
              <a:solidFill>
                <a:prstClr val="black">
                  <a:tint val="75000"/>
                </a:prstClr>
              </a:solidFill>
            </a:endParaRPr>
          </a:p>
        </p:txBody>
      </p:sp>
      <p:sp>
        <p:nvSpPr>
          <p:cNvPr id="6" name="文字方塊 5">
            <a:extLst>
              <a:ext uri="{FF2B5EF4-FFF2-40B4-BE49-F238E27FC236}">
                <a16:creationId xmlns:a16="http://schemas.microsoft.com/office/drawing/2014/main" id="{FC3DDC4A-FEEA-E0A8-8A67-70356F9D897A}"/>
              </a:ext>
            </a:extLst>
          </p:cNvPr>
          <p:cNvSpPr txBox="1"/>
          <p:nvPr/>
        </p:nvSpPr>
        <p:spPr>
          <a:xfrm>
            <a:off x="7370809" y="2782669"/>
            <a:ext cx="546945" cy="646331"/>
          </a:xfrm>
          <a:prstGeom prst="rect">
            <a:avLst/>
          </a:prstGeom>
          <a:noFill/>
        </p:spPr>
        <p:txBody>
          <a:bodyPr wrap="none" rtlCol="0">
            <a:spAutoFit/>
          </a:bodyPr>
          <a:lstStyle/>
          <a:p>
            <a:r>
              <a:rPr lang="zh-TW" altLang="en-US" sz="3600" dirty="0">
                <a:solidFill>
                  <a:srgbClr val="FF0000"/>
                </a:solidFill>
                <a:sym typeface="Wingdings" panose="05000000000000000000" pitchFamily="2" charset="2"/>
              </a:rPr>
              <a:t></a:t>
            </a:r>
            <a:endParaRPr lang="zh-TW" altLang="en-US" sz="3600" dirty="0">
              <a:solidFill>
                <a:srgbClr val="FF0000"/>
              </a:solidFill>
            </a:endParaRPr>
          </a:p>
        </p:txBody>
      </p:sp>
      <p:sp>
        <p:nvSpPr>
          <p:cNvPr id="7" name="文字方塊 6">
            <a:extLst>
              <a:ext uri="{FF2B5EF4-FFF2-40B4-BE49-F238E27FC236}">
                <a16:creationId xmlns:a16="http://schemas.microsoft.com/office/drawing/2014/main" id="{4F50EF52-019B-B266-469C-C0D548051749}"/>
              </a:ext>
            </a:extLst>
          </p:cNvPr>
          <p:cNvSpPr txBox="1"/>
          <p:nvPr/>
        </p:nvSpPr>
        <p:spPr>
          <a:xfrm>
            <a:off x="5212241" y="2844462"/>
            <a:ext cx="546945" cy="646331"/>
          </a:xfrm>
          <a:prstGeom prst="rect">
            <a:avLst/>
          </a:prstGeom>
          <a:noFill/>
        </p:spPr>
        <p:txBody>
          <a:bodyPr wrap="none" rtlCol="0">
            <a:spAutoFit/>
          </a:bodyPr>
          <a:lstStyle/>
          <a:p>
            <a:r>
              <a:rPr lang="zh-TW" altLang="en-US" sz="3600" dirty="0">
                <a:solidFill>
                  <a:srgbClr val="FF0000"/>
                </a:solidFill>
                <a:sym typeface="Wingdings" panose="05000000000000000000" pitchFamily="2" charset="2"/>
              </a:rPr>
              <a:t></a:t>
            </a:r>
            <a:endParaRPr lang="zh-TW" altLang="en-US" sz="3600" dirty="0">
              <a:solidFill>
                <a:srgbClr val="FF0000"/>
              </a:solidFill>
            </a:endParaRPr>
          </a:p>
        </p:txBody>
      </p:sp>
      <p:sp>
        <p:nvSpPr>
          <p:cNvPr id="8" name="文字方塊 7">
            <a:extLst>
              <a:ext uri="{FF2B5EF4-FFF2-40B4-BE49-F238E27FC236}">
                <a16:creationId xmlns:a16="http://schemas.microsoft.com/office/drawing/2014/main" id="{EE513414-DDCB-CC31-0B5C-E5B1394FCB84}"/>
              </a:ext>
            </a:extLst>
          </p:cNvPr>
          <p:cNvSpPr txBox="1"/>
          <p:nvPr/>
        </p:nvSpPr>
        <p:spPr>
          <a:xfrm>
            <a:off x="2339752" y="2818124"/>
            <a:ext cx="546945" cy="646331"/>
          </a:xfrm>
          <a:prstGeom prst="rect">
            <a:avLst/>
          </a:prstGeom>
          <a:noFill/>
        </p:spPr>
        <p:txBody>
          <a:bodyPr wrap="none" rtlCol="0">
            <a:spAutoFit/>
          </a:bodyPr>
          <a:lstStyle/>
          <a:p>
            <a:r>
              <a:rPr lang="zh-TW" altLang="en-US" sz="3600" dirty="0">
                <a:solidFill>
                  <a:srgbClr val="FF0000"/>
                </a:solidFill>
                <a:sym typeface="Wingdings" panose="05000000000000000000" pitchFamily="2" charset="2"/>
              </a:rPr>
              <a:t></a:t>
            </a:r>
            <a:endParaRPr lang="zh-TW" altLang="en-US" sz="3600" dirty="0">
              <a:solidFill>
                <a:srgbClr val="FF0000"/>
              </a:solidFill>
            </a:endParaRPr>
          </a:p>
        </p:txBody>
      </p:sp>
      <p:sp>
        <p:nvSpPr>
          <p:cNvPr id="9" name="文字方塊 8">
            <a:extLst>
              <a:ext uri="{FF2B5EF4-FFF2-40B4-BE49-F238E27FC236}">
                <a16:creationId xmlns:a16="http://schemas.microsoft.com/office/drawing/2014/main" id="{AB4FD905-42FC-F98F-D856-3F02CEE01D6A}"/>
              </a:ext>
            </a:extLst>
          </p:cNvPr>
          <p:cNvSpPr txBox="1"/>
          <p:nvPr/>
        </p:nvSpPr>
        <p:spPr>
          <a:xfrm>
            <a:off x="181184" y="2818125"/>
            <a:ext cx="546945" cy="646331"/>
          </a:xfrm>
          <a:prstGeom prst="rect">
            <a:avLst/>
          </a:prstGeom>
          <a:noFill/>
        </p:spPr>
        <p:txBody>
          <a:bodyPr wrap="none" rtlCol="0">
            <a:spAutoFit/>
          </a:bodyPr>
          <a:lstStyle/>
          <a:p>
            <a:r>
              <a:rPr lang="zh-TW" altLang="en-US" sz="3600" dirty="0">
                <a:solidFill>
                  <a:srgbClr val="FF0000"/>
                </a:solidFill>
                <a:sym typeface="Wingdings" panose="05000000000000000000" pitchFamily="2" charset="2"/>
              </a:rPr>
              <a:t></a:t>
            </a:r>
            <a:endParaRPr lang="zh-TW" altLang="en-US" sz="3600" dirty="0">
              <a:solidFill>
                <a:srgbClr val="FF0000"/>
              </a:solidFill>
            </a:endParaRPr>
          </a:p>
        </p:txBody>
      </p:sp>
    </p:spTree>
    <p:extLst>
      <p:ext uri="{BB962C8B-B14F-4D97-AF65-F5344CB8AC3E}">
        <p14:creationId xmlns:p14="http://schemas.microsoft.com/office/powerpoint/2010/main" val="17443267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66386F14-5A12-9696-DCCB-7BB745F20C6F}"/>
              </a:ext>
            </a:extLst>
          </p:cNvPr>
          <p:cNvPicPr>
            <a:picLocks noChangeAspect="1"/>
          </p:cNvPicPr>
          <p:nvPr/>
        </p:nvPicPr>
        <p:blipFill>
          <a:blip r:embed="rId2"/>
          <a:stretch>
            <a:fillRect/>
          </a:stretch>
        </p:blipFill>
        <p:spPr>
          <a:xfrm>
            <a:off x="351052" y="830981"/>
            <a:ext cx="8441895" cy="5986379"/>
          </a:xfrm>
          <a:prstGeom prst="rect">
            <a:avLst/>
          </a:prstGeom>
        </p:spPr>
      </p:pic>
      <p:sp>
        <p:nvSpPr>
          <p:cNvPr id="2" name="標題 1"/>
          <p:cNvSpPr>
            <a:spLocks noGrp="1"/>
          </p:cNvSpPr>
          <p:nvPr>
            <p:ph type="title"/>
          </p:nvPr>
        </p:nvSpPr>
        <p:spPr/>
        <p:txBody>
          <a:bodyPr>
            <a:normAutofit/>
          </a:bodyPr>
          <a:lstStyle/>
          <a:p>
            <a:r>
              <a:rPr lang="zh-TW" altLang="en-US" dirty="0"/>
              <a:t>新型專利審查及行政救濟流程圖</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43</a:t>
            </a:fld>
            <a:endParaRPr lang="zh-TW" altLang="en-US" dirty="0">
              <a:solidFill>
                <a:prstClr val="black">
                  <a:tint val="75000"/>
                </a:prstClr>
              </a:solidFill>
            </a:endParaRPr>
          </a:p>
        </p:txBody>
      </p:sp>
      <p:sp>
        <p:nvSpPr>
          <p:cNvPr id="3" name="文字方塊 2">
            <a:extLst>
              <a:ext uri="{FF2B5EF4-FFF2-40B4-BE49-F238E27FC236}">
                <a16:creationId xmlns:a16="http://schemas.microsoft.com/office/drawing/2014/main" id="{88B1E924-0002-8D04-7F05-FD3FD8F8F77B}"/>
              </a:ext>
            </a:extLst>
          </p:cNvPr>
          <p:cNvSpPr txBox="1"/>
          <p:nvPr/>
        </p:nvSpPr>
        <p:spPr>
          <a:xfrm>
            <a:off x="488554" y="2708920"/>
            <a:ext cx="546945" cy="646331"/>
          </a:xfrm>
          <a:prstGeom prst="rect">
            <a:avLst/>
          </a:prstGeom>
          <a:noFill/>
        </p:spPr>
        <p:txBody>
          <a:bodyPr wrap="none" rtlCol="0">
            <a:spAutoFit/>
          </a:bodyPr>
          <a:lstStyle/>
          <a:p>
            <a:r>
              <a:rPr lang="zh-TW" altLang="en-US" sz="3600" dirty="0">
                <a:solidFill>
                  <a:srgbClr val="FF0000"/>
                </a:solidFill>
                <a:sym typeface="Wingdings" panose="05000000000000000000" pitchFamily="2" charset="2"/>
              </a:rPr>
              <a:t></a:t>
            </a:r>
            <a:endParaRPr lang="zh-TW" altLang="en-US" sz="3600" dirty="0">
              <a:solidFill>
                <a:srgbClr val="FF0000"/>
              </a:solidFill>
            </a:endParaRPr>
          </a:p>
        </p:txBody>
      </p:sp>
      <p:sp>
        <p:nvSpPr>
          <p:cNvPr id="6" name="文字方塊 5">
            <a:extLst>
              <a:ext uri="{FF2B5EF4-FFF2-40B4-BE49-F238E27FC236}">
                <a16:creationId xmlns:a16="http://schemas.microsoft.com/office/drawing/2014/main" id="{B7B50891-AA27-D199-F515-F65F30A5C3D2}"/>
              </a:ext>
            </a:extLst>
          </p:cNvPr>
          <p:cNvSpPr txBox="1"/>
          <p:nvPr/>
        </p:nvSpPr>
        <p:spPr>
          <a:xfrm>
            <a:off x="5580112" y="2564904"/>
            <a:ext cx="546945" cy="646331"/>
          </a:xfrm>
          <a:prstGeom prst="rect">
            <a:avLst/>
          </a:prstGeom>
          <a:noFill/>
        </p:spPr>
        <p:txBody>
          <a:bodyPr wrap="none" rtlCol="0">
            <a:spAutoFit/>
          </a:bodyPr>
          <a:lstStyle/>
          <a:p>
            <a:r>
              <a:rPr lang="zh-TW" altLang="en-US" sz="3600" dirty="0">
                <a:solidFill>
                  <a:srgbClr val="FF0000"/>
                </a:solidFill>
                <a:sym typeface="Wingdings" panose="05000000000000000000" pitchFamily="2" charset="2"/>
              </a:rPr>
              <a:t></a:t>
            </a:r>
            <a:endParaRPr lang="zh-TW" altLang="en-US" sz="3600" dirty="0">
              <a:solidFill>
                <a:srgbClr val="FF0000"/>
              </a:solidFill>
            </a:endParaRPr>
          </a:p>
        </p:txBody>
      </p:sp>
    </p:spTree>
    <p:extLst>
      <p:ext uri="{BB962C8B-B14F-4D97-AF65-F5344CB8AC3E}">
        <p14:creationId xmlns:p14="http://schemas.microsoft.com/office/powerpoint/2010/main" val="38309995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申請專利花費</a:t>
            </a:r>
            <a:r>
              <a:rPr lang="en-US" altLang="zh-TW" dirty="0"/>
              <a:t>(</a:t>
            </a:r>
            <a:r>
              <a:rPr lang="zh-TW" altLang="en-US" dirty="0"/>
              <a:t>規費</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44</a:t>
            </a:fld>
            <a:endParaRPr lang="zh-TW" altLang="en-US" dirty="0">
              <a:solidFill>
                <a:prstClr val="black">
                  <a:tint val="75000"/>
                </a:prstClr>
              </a:solidFill>
            </a:endParaRPr>
          </a:p>
        </p:txBody>
      </p:sp>
      <p:sp>
        <p:nvSpPr>
          <p:cNvPr id="16" name="文字方塊 15">
            <a:extLst>
              <a:ext uri="{FF2B5EF4-FFF2-40B4-BE49-F238E27FC236}">
                <a16:creationId xmlns:a16="http://schemas.microsoft.com/office/drawing/2014/main" id="{36AD9D77-BC07-E013-022A-833554A0A9E5}"/>
              </a:ext>
            </a:extLst>
          </p:cNvPr>
          <p:cNvSpPr txBox="1"/>
          <p:nvPr/>
        </p:nvSpPr>
        <p:spPr>
          <a:xfrm>
            <a:off x="1454952" y="827420"/>
            <a:ext cx="91784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zh-TW" altLang="en-US" dirty="0">
                <a:latin typeface="微軟正黑體" panose="020B0604030504040204" pitchFamily="34" charset="-120"/>
                <a:ea typeface="微軟正黑體" panose="020B0604030504040204" pitchFamily="34" charset="-120"/>
              </a:rPr>
              <a:t>申請人</a:t>
            </a:r>
          </a:p>
        </p:txBody>
      </p:sp>
      <p:sp>
        <p:nvSpPr>
          <p:cNvPr id="17" name="文字方塊 16">
            <a:extLst>
              <a:ext uri="{FF2B5EF4-FFF2-40B4-BE49-F238E27FC236}">
                <a16:creationId xmlns:a16="http://schemas.microsoft.com/office/drawing/2014/main" id="{F7CC9EDE-FC14-CA11-09B4-67A3D0A48924}"/>
              </a:ext>
            </a:extLst>
          </p:cNvPr>
          <p:cNvSpPr txBox="1"/>
          <p:nvPr/>
        </p:nvSpPr>
        <p:spPr>
          <a:xfrm>
            <a:off x="6097305" y="884456"/>
            <a:ext cx="1591743" cy="36933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zh-TW" altLang="en-US" dirty="0">
                <a:latin typeface="微軟正黑體" panose="020B0604030504040204" pitchFamily="34" charset="-120"/>
                <a:ea typeface="微軟正黑體" panose="020B0604030504040204" pitchFamily="34" charset="-120"/>
              </a:rPr>
              <a:t>智慧財產局</a:t>
            </a:r>
          </a:p>
        </p:txBody>
      </p:sp>
      <p:grpSp>
        <p:nvGrpSpPr>
          <p:cNvPr id="3" name="群組 2">
            <a:extLst>
              <a:ext uri="{FF2B5EF4-FFF2-40B4-BE49-F238E27FC236}">
                <a16:creationId xmlns:a16="http://schemas.microsoft.com/office/drawing/2014/main" id="{DDE72C2C-0416-DDAC-340F-B4DCE3A8BF3F}"/>
              </a:ext>
            </a:extLst>
          </p:cNvPr>
          <p:cNvGrpSpPr/>
          <p:nvPr/>
        </p:nvGrpSpPr>
        <p:grpSpPr>
          <a:xfrm>
            <a:off x="1331640" y="1832538"/>
            <a:ext cx="6820805" cy="3238098"/>
            <a:chOff x="1279587" y="1259468"/>
            <a:chExt cx="6820805" cy="3238098"/>
          </a:xfrm>
        </p:grpSpPr>
        <p:pic>
          <p:nvPicPr>
            <p:cNvPr id="1026" name="Picture 2" descr="玩具工作员工- Pixabay上的免费图片- Pixabay">
              <a:extLst>
                <a:ext uri="{FF2B5EF4-FFF2-40B4-BE49-F238E27FC236}">
                  <a16:creationId xmlns:a16="http://schemas.microsoft.com/office/drawing/2014/main" id="{7F3F30D3-E239-29FC-AE85-527D22FEDA7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279587" y="1259468"/>
              <a:ext cx="1115650" cy="13198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i产生的摩天大楼建造- Pixabay上的免费图片- Pixabay">
              <a:extLst>
                <a:ext uri="{FF2B5EF4-FFF2-40B4-BE49-F238E27FC236}">
                  <a16:creationId xmlns:a16="http://schemas.microsoft.com/office/drawing/2014/main" id="{69276579-531D-24CF-88B2-B7E7F0DBEF10}"/>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078666" y="1373540"/>
              <a:ext cx="1526106" cy="1015554"/>
            </a:xfrm>
            <a:prstGeom prst="rect">
              <a:avLst/>
            </a:prstGeom>
            <a:noFill/>
            <a:extLst>
              <a:ext uri="{909E8E84-426E-40DD-AFC4-6F175D3DCCD1}">
                <a14:hiddenFill xmlns:a14="http://schemas.microsoft.com/office/drawing/2010/main">
                  <a:solidFill>
                    <a:srgbClr val="FFFFFF"/>
                  </a:solidFill>
                </a14:hiddenFill>
              </a:ext>
            </a:extLst>
          </p:spPr>
        </p:pic>
        <p:sp>
          <p:nvSpPr>
            <p:cNvPr id="18" name="箭號: 有線條的向右箭號 17">
              <a:extLst>
                <a:ext uri="{FF2B5EF4-FFF2-40B4-BE49-F238E27FC236}">
                  <a16:creationId xmlns:a16="http://schemas.microsoft.com/office/drawing/2014/main" id="{3B33498D-D59D-6D61-F6A4-DE3491D298E1}"/>
                </a:ext>
              </a:extLst>
            </p:cNvPr>
            <p:cNvSpPr/>
            <p:nvPr/>
          </p:nvSpPr>
          <p:spPr>
            <a:xfrm>
              <a:off x="3851920" y="1519012"/>
              <a:ext cx="720080" cy="761750"/>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2E36D255-2FA3-9379-403B-4772F4265AB4}"/>
                </a:ext>
              </a:extLst>
            </p:cNvPr>
            <p:cNvSpPr txBox="1"/>
            <p:nvPr/>
          </p:nvSpPr>
          <p:spPr>
            <a:xfrm>
              <a:off x="2611260" y="1484620"/>
              <a:ext cx="1115649" cy="923330"/>
            </a:xfrm>
            <a:prstGeom prst="rect">
              <a:avLst/>
            </a:prstGeom>
            <a:noFill/>
          </p:spPr>
          <p:txBody>
            <a:bodyPr wrap="square">
              <a:spAutoFit/>
            </a:bodyPr>
            <a:lstStyle/>
            <a:p>
              <a:r>
                <a:rPr lang="zh-TW" altLang="en-US" b="1" dirty="0">
                  <a:latin typeface="微軟正黑體" panose="020B0604030504040204" pitchFamily="34" charset="-120"/>
                  <a:ea typeface="微軟正黑體" panose="020B0604030504040204" pitchFamily="34" charset="-120"/>
                </a:rPr>
                <a:t>申請發明</a:t>
              </a: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新型專利</a:t>
              </a:r>
            </a:p>
          </p:txBody>
        </p:sp>
        <p:sp>
          <p:nvSpPr>
            <p:cNvPr id="21" name="文字方塊 20">
              <a:extLst>
                <a:ext uri="{FF2B5EF4-FFF2-40B4-BE49-F238E27FC236}">
                  <a16:creationId xmlns:a16="http://schemas.microsoft.com/office/drawing/2014/main" id="{19B34DAF-BDF3-0411-3651-794572DC82EA}"/>
                </a:ext>
              </a:extLst>
            </p:cNvPr>
            <p:cNvSpPr txBox="1"/>
            <p:nvPr/>
          </p:nvSpPr>
          <p:spPr>
            <a:xfrm>
              <a:off x="4767858" y="1576721"/>
              <a:ext cx="1115649" cy="646331"/>
            </a:xfrm>
            <a:prstGeom prst="rect">
              <a:avLst/>
            </a:prstGeom>
            <a:noFill/>
          </p:spPr>
          <p:txBody>
            <a:bodyPr wrap="square">
              <a:spAutoFit/>
            </a:bodyPr>
            <a:lstStyle/>
            <a:p>
              <a:r>
                <a:rPr lang="en-US" altLang="zh-TW" sz="1800" b="1" dirty="0">
                  <a:solidFill>
                    <a:srgbClr val="3333FF"/>
                  </a:solidFill>
                  <a:latin typeface="微軟正黑體" pitchFamily="34" charset="-120"/>
                  <a:ea typeface="微軟正黑體" pitchFamily="34" charset="-120"/>
                </a:rPr>
                <a:t>3500</a:t>
              </a:r>
              <a:r>
                <a:rPr lang="zh-TW" altLang="en-US" sz="1800" b="1" dirty="0">
                  <a:solidFill>
                    <a:srgbClr val="3333FF"/>
                  </a:solidFill>
                  <a:latin typeface="微軟正黑體" pitchFamily="34" charset="-120"/>
                  <a:ea typeface="微軟正黑體" pitchFamily="34" charset="-120"/>
                </a:rPr>
                <a:t>元</a:t>
              </a:r>
              <a:r>
                <a:rPr lang="en-US" altLang="zh-TW" sz="1800" b="1" dirty="0">
                  <a:solidFill>
                    <a:srgbClr val="3333FF"/>
                  </a:solidFill>
                  <a:latin typeface="微軟正黑體" pitchFamily="34" charset="-120"/>
                  <a:ea typeface="微軟正黑體" pitchFamily="34" charset="-120"/>
                </a:rPr>
                <a:t>/3000</a:t>
              </a:r>
              <a:r>
                <a:rPr lang="zh-TW" altLang="en-US" sz="1800" b="1" dirty="0">
                  <a:solidFill>
                    <a:srgbClr val="3333FF"/>
                  </a:solidFill>
                  <a:latin typeface="微軟正黑體" pitchFamily="34" charset="-120"/>
                  <a:ea typeface="微軟正黑體" pitchFamily="34" charset="-120"/>
                </a:rPr>
                <a:t>元</a:t>
              </a:r>
            </a:p>
          </p:txBody>
        </p:sp>
        <p:sp>
          <p:nvSpPr>
            <p:cNvPr id="23" name="文字方塊 22">
              <a:extLst>
                <a:ext uri="{FF2B5EF4-FFF2-40B4-BE49-F238E27FC236}">
                  <a16:creationId xmlns:a16="http://schemas.microsoft.com/office/drawing/2014/main" id="{A7DF186A-E25B-5812-3C60-4050A28C096A}"/>
                </a:ext>
              </a:extLst>
            </p:cNvPr>
            <p:cNvSpPr txBox="1"/>
            <p:nvPr/>
          </p:nvSpPr>
          <p:spPr>
            <a:xfrm>
              <a:off x="2761217" y="2828835"/>
              <a:ext cx="720080" cy="1200329"/>
            </a:xfrm>
            <a:prstGeom prst="rect">
              <a:avLst/>
            </a:prstGeom>
            <a:noFill/>
          </p:spPr>
          <p:txBody>
            <a:bodyPr wrap="square">
              <a:spAutoFit/>
            </a:bodyPr>
            <a:lstStyle/>
            <a:p>
              <a:r>
                <a:rPr lang="zh-TW" altLang="zh-TW" sz="1800" b="1" dirty="0">
                  <a:solidFill>
                    <a:prstClr val="black"/>
                  </a:solidFill>
                  <a:latin typeface="微軟正黑體" pitchFamily="34" charset="-120"/>
                  <a:ea typeface="微軟正黑體" pitchFamily="34" charset="-120"/>
                </a:rPr>
                <a:t>發明申請實體審查</a:t>
              </a:r>
              <a:endParaRPr lang="zh-TW" altLang="en-US" sz="1800" b="1" dirty="0">
                <a:solidFill>
                  <a:prstClr val="black"/>
                </a:solidFill>
                <a:latin typeface="微軟正黑體" pitchFamily="34" charset="-120"/>
                <a:ea typeface="微軟正黑體" pitchFamily="34" charset="-120"/>
              </a:endParaRPr>
            </a:p>
          </p:txBody>
        </p:sp>
        <p:sp>
          <p:nvSpPr>
            <p:cNvPr id="24" name="箭號: 有線條的向右箭號 23">
              <a:extLst>
                <a:ext uri="{FF2B5EF4-FFF2-40B4-BE49-F238E27FC236}">
                  <a16:creationId xmlns:a16="http://schemas.microsoft.com/office/drawing/2014/main" id="{BFD46024-CC5E-14B4-6CDE-36E3B0AF1BB6}"/>
                </a:ext>
              </a:extLst>
            </p:cNvPr>
            <p:cNvSpPr/>
            <p:nvPr/>
          </p:nvSpPr>
          <p:spPr>
            <a:xfrm>
              <a:off x="3851920" y="3008721"/>
              <a:ext cx="720080" cy="761750"/>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文字方塊 24">
              <a:extLst>
                <a:ext uri="{FF2B5EF4-FFF2-40B4-BE49-F238E27FC236}">
                  <a16:creationId xmlns:a16="http://schemas.microsoft.com/office/drawing/2014/main" id="{B6BF249D-46EB-7790-7724-E900BA224CE7}"/>
                </a:ext>
              </a:extLst>
            </p:cNvPr>
            <p:cNvSpPr txBox="1"/>
            <p:nvPr/>
          </p:nvSpPr>
          <p:spPr>
            <a:xfrm>
              <a:off x="4788024" y="3112795"/>
              <a:ext cx="989856" cy="369332"/>
            </a:xfrm>
            <a:prstGeom prst="rect">
              <a:avLst/>
            </a:prstGeom>
            <a:noFill/>
          </p:spPr>
          <p:txBody>
            <a:bodyPr wrap="square">
              <a:spAutoFit/>
            </a:bodyPr>
            <a:lstStyle/>
            <a:p>
              <a:r>
                <a:rPr lang="en-US" altLang="zh-TW" b="1" dirty="0">
                  <a:solidFill>
                    <a:srgbClr val="3333FF"/>
                  </a:solidFill>
                  <a:latin typeface="微軟正黑體" pitchFamily="34" charset="-120"/>
                  <a:ea typeface="微軟正黑體" pitchFamily="34" charset="-120"/>
                </a:rPr>
                <a:t>70</a:t>
              </a:r>
              <a:r>
                <a:rPr lang="en-US" altLang="zh-TW" sz="1800" b="1" dirty="0">
                  <a:solidFill>
                    <a:srgbClr val="3333FF"/>
                  </a:solidFill>
                  <a:latin typeface="微軟正黑體" pitchFamily="34" charset="-120"/>
                  <a:ea typeface="微軟正黑體" pitchFamily="34" charset="-120"/>
                </a:rPr>
                <a:t>00</a:t>
              </a:r>
              <a:r>
                <a:rPr lang="zh-TW" altLang="en-US" sz="1800" b="1" dirty="0">
                  <a:solidFill>
                    <a:srgbClr val="3333FF"/>
                  </a:solidFill>
                  <a:latin typeface="微軟正黑體" pitchFamily="34" charset="-120"/>
                  <a:ea typeface="微軟正黑體" pitchFamily="34" charset="-120"/>
                </a:rPr>
                <a:t>元</a:t>
              </a:r>
            </a:p>
          </p:txBody>
        </p:sp>
        <p:sp>
          <p:nvSpPr>
            <p:cNvPr id="26" name="文字方塊 25">
              <a:extLst>
                <a:ext uri="{FF2B5EF4-FFF2-40B4-BE49-F238E27FC236}">
                  <a16:creationId xmlns:a16="http://schemas.microsoft.com/office/drawing/2014/main" id="{EEE09446-A7A3-30CE-D6E0-538E6DA030C6}"/>
                </a:ext>
              </a:extLst>
            </p:cNvPr>
            <p:cNvSpPr txBox="1"/>
            <p:nvPr/>
          </p:nvSpPr>
          <p:spPr>
            <a:xfrm>
              <a:off x="1459610" y="3112795"/>
              <a:ext cx="989856" cy="369332"/>
            </a:xfrm>
            <a:prstGeom prst="rect">
              <a:avLst/>
            </a:prstGeom>
            <a:noFill/>
          </p:spPr>
          <p:txBody>
            <a:bodyPr wrap="square">
              <a:spAutoFit/>
            </a:bodyPr>
            <a:lstStyle/>
            <a:p>
              <a:r>
                <a:rPr lang="en-US" altLang="zh-TW" sz="1800" b="1" dirty="0">
                  <a:solidFill>
                    <a:srgbClr val="3333FF"/>
                  </a:solidFill>
                  <a:latin typeface="微軟正黑體" pitchFamily="34" charset="-120"/>
                  <a:ea typeface="微軟正黑體" pitchFamily="34" charset="-120"/>
                </a:rPr>
                <a:t>3</a:t>
              </a:r>
              <a:r>
                <a:rPr lang="zh-TW" altLang="en-US" sz="1800" b="1" dirty="0">
                  <a:solidFill>
                    <a:srgbClr val="3333FF"/>
                  </a:solidFill>
                  <a:latin typeface="微軟正黑體" pitchFamily="34" charset="-120"/>
                  <a:ea typeface="微軟正黑體" pitchFamily="34" charset="-120"/>
                </a:rPr>
                <a:t>年內</a:t>
              </a:r>
            </a:p>
          </p:txBody>
        </p:sp>
        <p:sp>
          <p:nvSpPr>
            <p:cNvPr id="28" name="文字方塊 27">
              <a:extLst>
                <a:ext uri="{FF2B5EF4-FFF2-40B4-BE49-F238E27FC236}">
                  <a16:creationId xmlns:a16="http://schemas.microsoft.com/office/drawing/2014/main" id="{E8AA3DE6-5AF9-28D3-F907-14D107E2B6AD}"/>
                </a:ext>
              </a:extLst>
            </p:cNvPr>
            <p:cNvSpPr txBox="1"/>
            <p:nvPr/>
          </p:nvSpPr>
          <p:spPr>
            <a:xfrm>
              <a:off x="4654352" y="3481903"/>
              <a:ext cx="3446040" cy="923330"/>
            </a:xfrm>
            <a:prstGeom prst="rect">
              <a:avLst/>
            </a:prstGeom>
            <a:noFill/>
          </p:spPr>
          <p:txBody>
            <a:bodyPr wrap="square">
              <a:spAutoFit/>
            </a:bodyPr>
            <a:lstStyle/>
            <a:p>
              <a:r>
                <a:rPr lang="en-US" altLang="zh-TW" sz="1800" b="1" dirty="0">
                  <a:solidFill>
                    <a:srgbClr val="002060"/>
                  </a:solidFill>
                  <a:latin typeface="微軟正黑體" pitchFamily="34" charset="-120"/>
                  <a:ea typeface="微軟正黑體" pitchFamily="34" charset="-120"/>
                </a:rPr>
                <a:t>(50</a:t>
              </a:r>
              <a:r>
                <a:rPr lang="zh-TW" altLang="en-US" sz="1800" b="1" dirty="0">
                  <a:solidFill>
                    <a:srgbClr val="002060"/>
                  </a:solidFill>
                  <a:latin typeface="微軟正黑體" pitchFamily="34" charset="-120"/>
                  <a:ea typeface="微軟正黑體" pitchFamily="34" charset="-120"/>
                </a:rPr>
                <a:t>頁以下、請求項</a:t>
              </a:r>
              <a:r>
                <a:rPr lang="en-US" altLang="zh-TW" sz="1800" b="1" dirty="0">
                  <a:solidFill>
                    <a:srgbClr val="002060"/>
                  </a:solidFill>
                  <a:latin typeface="微軟正黑體" pitchFamily="34" charset="-120"/>
                  <a:ea typeface="微軟正黑體" pitchFamily="34" charset="-120"/>
                </a:rPr>
                <a:t>10</a:t>
              </a:r>
              <a:r>
                <a:rPr lang="zh-TW" altLang="en-US" sz="1800" b="1" dirty="0">
                  <a:solidFill>
                    <a:srgbClr val="002060"/>
                  </a:solidFill>
                  <a:latin typeface="微軟正黑體" pitchFamily="34" charset="-120"/>
                  <a:ea typeface="微軟正黑體" pitchFamily="34" charset="-120"/>
                </a:rPr>
                <a:t>項以內，每超過</a:t>
              </a:r>
              <a:r>
                <a:rPr lang="en-US" altLang="zh-TW" sz="1800" b="1" dirty="0">
                  <a:solidFill>
                    <a:srgbClr val="002060"/>
                  </a:solidFill>
                  <a:latin typeface="微軟正黑體" pitchFamily="34" charset="-120"/>
                  <a:ea typeface="微軟正黑體" pitchFamily="34" charset="-120"/>
                </a:rPr>
                <a:t>1</a:t>
              </a:r>
              <a:r>
                <a:rPr lang="zh-TW" altLang="en-US" sz="1800" b="1" dirty="0">
                  <a:solidFill>
                    <a:srgbClr val="002060"/>
                  </a:solidFill>
                  <a:latin typeface="微軟正黑體" pitchFamily="34" charset="-120"/>
                  <a:ea typeface="微軟正黑體" pitchFamily="34" charset="-120"/>
                </a:rPr>
                <a:t>項加</a:t>
              </a:r>
              <a:r>
                <a:rPr lang="en-US" altLang="zh-TW" sz="1800" b="1" dirty="0">
                  <a:solidFill>
                    <a:srgbClr val="002060"/>
                  </a:solidFill>
                  <a:latin typeface="微軟正黑體" pitchFamily="34" charset="-120"/>
                  <a:ea typeface="微軟正黑體" pitchFamily="34" charset="-120"/>
                </a:rPr>
                <a:t>800</a:t>
              </a:r>
              <a:r>
                <a:rPr lang="zh-TW" altLang="en-US" sz="1800" b="1" dirty="0">
                  <a:solidFill>
                    <a:srgbClr val="002060"/>
                  </a:solidFill>
                  <a:latin typeface="微軟正黑體" pitchFamily="34" charset="-120"/>
                  <a:ea typeface="微軟正黑體" pitchFamily="34" charset="-120"/>
                </a:rPr>
                <a:t>元、每超過</a:t>
              </a:r>
              <a:r>
                <a:rPr lang="en-US" altLang="zh-TW" sz="1800" b="1" dirty="0">
                  <a:solidFill>
                    <a:srgbClr val="002060"/>
                  </a:solidFill>
                  <a:latin typeface="微軟正黑體" pitchFamily="34" charset="-120"/>
                  <a:ea typeface="微軟正黑體" pitchFamily="34" charset="-120"/>
                </a:rPr>
                <a:t>50</a:t>
              </a:r>
              <a:r>
                <a:rPr lang="zh-TW" altLang="en-US" sz="1800" b="1" dirty="0">
                  <a:solidFill>
                    <a:srgbClr val="002060"/>
                  </a:solidFill>
                  <a:latin typeface="微軟正黑體" pitchFamily="34" charset="-120"/>
                  <a:ea typeface="微軟正黑體" pitchFamily="34" charset="-120"/>
                </a:rPr>
                <a:t>頁加收</a:t>
              </a:r>
              <a:r>
                <a:rPr lang="en-US" altLang="zh-TW" sz="1800" b="1" dirty="0">
                  <a:solidFill>
                    <a:srgbClr val="002060"/>
                  </a:solidFill>
                  <a:latin typeface="微軟正黑體" pitchFamily="34" charset="-120"/>
                  <a:ea typeface="微軟正黑體" pitchFamily="34" charset="-120"/>
                </a:rPr>
                <a:t>500</a:t>
              </a:r>
              <a:r>
                <a:rPr lang="zh-TW" altLang="en-US" sz="1800" b="1" dirty="0">
                  <a:solidFill>
                    <a:srgbClr val="002060"/>
                  </a:solidFill>
                  <a:latin typeface="微軟正黑體" pitchFamily="34" charset="-120"/>
                  <a:ea typeface="微軟正黑體" pitchFamily="34" charset="-120"/>
                </a:rPr>
                <a:t>元</a:t>
              </a:r>
              <a:r>
                <a:rPr lang="en-US" altLang="zh-TW" sz="1800" b="1" dirty="0">
                  <a:solidFill>
                    <a:srgbClr val="002060"/>
                  </a:solidFill>
                  <a:latin typeface="微軟正黑體" pitchFamily="34" charset="-120"/>
                  <a:ea typeface="微軟正黑體" pitchFamily="34" charset="-120"/>
                </a:rPr>
                <a:t>)</a:t>
              </a:r>
              <a:endParaRPr lang="zh-TW" altLang="en-US" b="1" dirty="0">
                <a:solidFill>
                  <a:srgbClr val="002060"/>
                </a:solidFill>
              </a:endParaRPr>
            </a:p>
          </p:txBody>
        </p:sp>
        <p:sp>
          <p:nvSpPr>
            <p:cNvPr id="29" name="文字方塊 28">
              <a:extLst>
                <a:ext uri="{FF2B5EF4-FFF2-40B4-BE49-F238E27FC236}">
                  <a16:creationId xmlns:a16="http://schemas.microsoft.com/office/drawing/2014/main" id="{62F83079-AC70-18D6-07F1-2EFBAD8AF248}"/>
                </a:ext>
              </a:extLst>
            </p:cNvPr>
            <p:cNvSpPr txBox="1"/>
            <p:nvPr/>
          </p:nvSpPr>
          <p:spPr>
            <a:xfrm>
              <a:off x="1454952" y="3574236"/>
              <a:ext cx="989856" cy="923330"/>
            </a:xfrm>
            <a:prstGeom prst="rect">
              <a:avLst/>
            </a:prstGeom>
            <a:noFill/>
          </p:spPr>
          <p:txBody>
            <a:bodyPr wrap="square">
              <a:spAutoFit/>
            </a:bodyPr>
            <a:lstStyle/>
            <a:p>
              <a:r>
                <a:rPr lang="en-US" altLang="zh-TW" sz="1800" b="1" dirty="0">
                  <a:solidFill>
                    <a:srgbClr val="002060"/>
                  </a:solidFill>
                  <a:latin typeface="微軟正黑體" pitchFamily="34" charset="-120"/>
                  <a:ea typeface="微軟正黑體" pitchFamily="34" charset="-120"/>
                </a:rPr>
                <a:t>(</a:t>
              </a:r>
              <a:r>
                <a:rPr lang="zh-TW" altLang="en-US" sz="1800" b="1" dirty="0">
                  <a:solidFill>
                    <a:srgbClr val="002060"/>
                  </a:solidFill>
                  <a:latin typeface="微軟正黑體" pitchFamily="34" charset="-120"/>
                  <a:ea typeface="微軟正黑體" pitchFamily="34" charset="-120"/>
                </a:rPr>
                <a:t>沒申請視為撤回</a:t>
              </a:r>
              <a:r>
                <a:rPr lang="en-US" altLang="zh-TW" sz="1800" b="1" dirty="0">
                  <a:solidFill>
                    <a:srgbClr val="002060"/>
                  </a:solidFill>
                  <a:latin typeface="微軟正黑體" pitchFamily="34" charset="-120"/>
                  <a:ea typeface="微軟正黑體" pitchFamily="34" charset="-120"/>
                </a:rPr>
                <a:t>)</a:t>
              </a:r>
              <a:endParaRPr lang="zh-TW" altLang="en-US" sz="1800" b="1" dirty="0">
                <a:solidFill>
                  <a:srgbClr val="002060"/>
                </a:solidFill>
                <a:latin typeface="微軟正黑體" pitchFamily="34" charset="-120"/>
                <a:ea typeface="微軟正黑體" pitchFamily="34" charset="-120"/>
              </a:endParaRPr>
            </a:p>
          </p:txBody>
        </p:sp>
      </p:grpSp>
      <p:sp>
        <p:nvSpPr>
          <p:cNvPr id="31" name="文字方塊 30">
            <a:extLst>
              <a:ext uri="{FF2B5EF4-FFF2-40B4-BE49-F238E27FC236}">
                <a16:creationId xmlns:a16="http://schemas.microsoft.com/office/drawing/2014/main" id="{90C134EB-D951-6DB4-A7C8-19E958C3861D}"/>
              </a:ext>
            </a:extLst>
          </p:cNvPr>
          <p:cNvSpPr txBox="1"/>
          <p:nvPr/>
        </p:nvSpPr>
        <p:spPr>
          <a:xfrm>
            <a:off x="1279587" y="5802352"/>
            <a:ext cx="7633674" cy="646331"/>
          </a:xfrm>
          <a:prstGeom prst="rect">
            <a:avLst/>
          </a:prstGeom>
          <a:noFill/>
        </p:spPr>
        <p:txBody>
          <a:bodyPr wrap="square">
            <a:spAutoFit/>
          </a:bodyPr>
          <a:lstStyle/>
          <a:p>
            <a:r>
              <a:rPr lang="zh-TW" altLang="en-US" dirty="0">
                <a:latin typeface="微軟正黑體" panose="020B0604030504040204" pitchFamily="34" charset="-120"/>
                <a:ea typeface="微軟正黑體" panose="020B0604030504040204" pitchFamily="34" charset="-120"/>
              </a:rPr>
              <a:t>專利規費收費辦法</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hlinkClick r:id="rId5"/>
              </a:rPr>
              <a:t>https://law.moea.gov.tw/LawContent.aspx?id=FL011253</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9044741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專利年費</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45</a:t>
            </a:fld>
            <a:endParaRPr lang="zh-TW" altLang="en-US" dirty="0">
              <a:solidFill>
                <a:prstClr val="black">
                  <a:tint val="75000"/>
                </a:prstClr>
              </a:solidFill>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915816" y="908720"/>
            <a:ext cx="6105525" cy="2647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p:nvPr/>
        </p:nvSpPr>
        <p:spPr>
          <a:xfrm>
            <a:off x="107505" y="1046717"/>
            <a:ext cx="2808312"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TW" altLang="en-US" sz="28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專利年費</a:t>
            </a: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677691" y="3745373"/>
            <a:ext cx="6343650" cy="233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矩形 13"/>
          <p:cNvSpPr/>
          <p:nvPr/>
        </p:nvSpPr>
        <p:spPr>
          <a:xfrm>
            <a:off x="107505" y="3889389"/>
            <a:ext cx="2570186"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TW" altLang="en-US" sz="28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專利年費減收</a:t>
            </a:r>
          </a:p>
        </p:txBody>
      </p:sp>
      <p:sp>
        <p:nvSpPr>
          <p:cNvPr id="3" name="文字方塊 2"/>
          <p:cNvSpPr txBox="1"/>
          <p:nvPr/>
        </p:nvSpPr>
        <p:spPr>
          <a:xfrm>
            <a:off x="323528" y="4426418"/>
            <a:ext cx="1396536" cy="923330"/>
          </a:xfrm>
          <a:prstGeom prst="rect">
            <a:avLst/>
          </a:prstGeom>
          <a:noFill/>
        </p:spPr>
        <p:txBody>
          <a:bodyPr wrap="none" rtlCol="0">
            <a:spAutoFit/>
          </a:bodyP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自然人</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學校</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中小企業</a:t>
            </a:r>
          </a:p>
        </p:txBody>
      </p:sp>
      <p:sp>
        <p:nvSpPr>
          <p:cNvPr id="6" name="文字方塊 5">
            <a:extLst>
              <a:ext uri="{FF2B5EF4-FFF2-40B4-BE49-F238E27FC236}">
                <a16:creationId xmlns:a16="http://schemas.microsoft.com/office/drawing/2014/main" id="{DE7A2C55-A1CA-E82C-2463-23157FAF9D87}"/>
              </a:ext>
            </a:extLst>
          </p:cNvPr>
          <p:cNvSpPr txBox="1"/>
          <p:nvPr/>
        </p:nvSpPr>
        <p:spPr>
          <a:xfrm>
            <a:off x="107505" y="6419386"/>
            <a:ext cx="8363272" cy="338554"/>
          </a:xfrm>
          <a:prstGeom prst="rect">
            <a:avLst/>
          </a:prstGeom>
          <a:noFill/>
        </p:spPr>
        <p:txBody>
          <a:bodyPr wrap="square">
            <a:spAutoFit/>
          </a:bodyPr>
          <a:lstStyle/>
          <a:p>
            <a:r>
              <a:rPr lang="zh-TW" altLang="en-US" sz="1600" dirty="0">
                <a:latin typeface="微軟正黑體" panose="020B0604030504040204" pitchFamily="34" charset="-120"/>
                <a:ea typeface="微軟正黑體" panose="020B0604030504040204" pitchFamily="34" charset="-120"/>
              </a:rPr>
              <a:t>專利規費清單：</a:t>
            </a:r>
            <a:r>
              <a:rPr lang="en-US" altLang="zh-TW" sz="1600" dirty="0">
                <a:latin typeface="微軟正黑體" panose="020B0604030504040204" pitchFamily="34" charset="-120"/>
                <a:ea typeface="微軟正黑體" panose="020B0604030504040204" pitchFamily="34" charset="-120"/>
                <a:hlinkClick r:id="rId4"/>
              </a:rPr>
              <a:t>https://www.tipo.gov.tw/tw/patents/482.html</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615232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DD02B1-BC21-4A6A-BE37-0AAEF0D4BBD0}"/>
              </a:ext>
            </a:extLst>
          </p:cNvPr>
          <p:cNvSpPr>
            <a:spLocks noGrp="1"/>
          </p:cNvSpPr>
          <p:nvPr>
            <p:ph type="title"/>
          </p:nvPr>
        </p:nvSpPr>
        <p:spPr/>
        <p:txBody>
          <a:bodyPr/>
          <a:lstStyle/>
          <a:p>
            <a:r>
              <a:rPr lang="zh-TW" altLang="en-US" dirty="0"/>
              <a:t>專利審查</a:t>
            </a:r>
          </a:p>
        </p:txBody>
      </p:sp>
      <p:sp>
        <p:nvSpPr>
          <p:cNvPr id="4" name="投影片編號版面配置區 3">
            <a:extLst>
              <a:ext uri="{FF2B5EF4-FFF2-40B4-BE49-F238E27FC236}">
                <a16:creationId xmlns:a16="http://schemas.microsoft.com/office/drawing/2014/main" id="{4B7AD6CE-1CB4-4BE4-BECE-B76E6DBAF787}"/>
              </a:ext>
            </a:extLst>
          </p:cNvPr>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46</a:t>
            </a:fld>
            <a:endParaRPr lang="zh-TW" altLang="en-US" dirty="0">
              <a:solidFill>
                <a:prstClr val="black">
                  <a:tint val="75000"/>
                </a:prstClr>
              </a:solidFill>
            </a:endParaRPr>
          </a:p>
        </p:txBody>
      </p:sp>
      <p:graphicFrame>
        <p:nvGraphicFramePr>
          <p:cNvPr id="5" name="資料庫圖表 4">
            <a:extLst>
              <a:ext uri="{FF2B5EF4-FFF2-40B4-BE49-F238E27FC236}">
                <a16:creationId xmlns:a16="http://schemas.microsoft.com/office/drawing/2014/main" id="{C72A0830-0C9C-4073-A7A7-D15D70E7711F}"/>
              </a:ext>
            </a:extLst>
          </p:cNvPr>
          <p:cNvGraphicFramePr/>
          <p:nvPr>
            <p:extLst>
              <p:ext uri="{D42A27DB-BD31-4B8C-83A1-F6EECF244321}">
                <p14:modId xmlns:p14="http://schemas.microsoft.com/office/powerpoint/2010/main" val="807751377"/>
              </p:ext>
            </p:extLst>
          </p:nvPr>
        </p:nvGraphicFramePr>
        <p:xfrm>
          <a:off x="9292" y="845346"/>
          <a:ext cx="9036496" cy="5877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39548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 專利申請文件</a:t>
            </a:r>
          </a:p>
        </p:txBody>
      </p:sp>
      <p:sp>
        <p:nvSpPr>
          <p:cNvPr id="18" name="投影片編號版面配置區 17"/>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47</a:t>
            </a:fld>
            <a:endParaRPr lang="zh-TW" altLang="en-US" dirty="0">
              <a:solidFill>
                <a:prstClr val="black">
                  <a:tint val="75000"/>
                </a:prstClr>
              </a:solidFill>
            </a:endParaRPr>
          </a:p>
        </p:txBody>
      </p:sp>
      <p:pic>
        <p:nvPicPr>
          <p:cNvPr id="4" name="圖片 3">
            <a:extLst>
              <a:ext uri="{FF2B5EF4-FFF2-40B4-BE49-F238E27FC236}">
                <a16:creationId xmlns:a16="http://schemas.microsoft.com/office/drawing/2014/main" id="{CDCE15CE-7A92-7C55-1F04-FB1CC2B7ADAA}"/>
              </a:ext>
            </a:extLst>
          </p:cNvPr>
          <p:cNvPicPr>
            <a:picLocks noChangeAspect="1"/>
          </p:cNvPicPr>
          <p:nvPr/>
        </p:nvPicPr>
        <p:blipFill>
          <a:blip r:embed="rId2"/>
          <a:stretch>
            <a:fillRect/>
          </a:stretch>
        </p:blipFill>
        <p:spPr>
          <a:xfrm>
            <a:off x="107504" y="764704"/>
            <a:ext cx="5363103" cy="4567119"/>
          </a:xfrm>
          <a:prstGeom prst="rect">
            <a:avLst/>
          </a:prstGeom>
        </p:spPr>
      </p:pic>
      <p:pic>
        <p:nvPicPr>
          <p:cNvPr id="20" name="圖片 19">
            <a:extLst>
              <a:ext uri="{FF2B5EF4-FFF2-40B4-BE49-F238E27FC236}">
                <a16:creationId xmlns:a16="http://schemas.microsoft.com/office/drawing/2014/main" id="{0ED5DB70-A2DF-8C94-3476-26F6DC8CEE68}"/>
              </a:ext>
            </a:extLst>
          </p:cNvPr>
          <p:cNvPicPr>
            <a:picLocks noChangeAspect="1"/>
          </p:cNvPicPr>
          <p:nvPr/>
        </p:nvPicPr>
        <p:blipFill>
          <a:blip r:embed="rId3"/>
          <a:stretch>
            <a:fillRect/>
          </a:stretch>
        </p:blipFill>
        <p:spPr>
          <a:xfrm>
            <a:off x="4389665" y="764704"/>
            <a:ext cx="4741159" cy="3976892"/>
          </a:xfrm>
          <a:prstGeom prst="rect">
            <a:avLst/>
          </a:prstGeom>
        </p:spPr>
      </p:pic>
      <p:pic>
        <p:nvPicPr>
          <p:cNvPr id="22" name="圖片 21">
            <a:extLst>
              <a:ext uri="{FF2B5EF4-FFF2-40B4-BE49-F238E27FC236}">
                <a16:creationId xmlns:a16="http://schemas.microsoft.com/office/drawing/2014/main" id="{A1DC7FA3-0644-74CC-3C7C-41B85A65E2CD}"/>
              </a:ext>
            </a:extLst>
          </p:cNvPr>
          <p:cNvPicPr>
            <a:picLocks noChangeAspect="1"/>
          </p:cNvPicPr>
          <p:nvPr/>
        </p:nvPicPr>
        <p:blipFill>
          <a:blip r:embed="rId4"/>
          <a:stretch>
            <a:fillRect/>
          </a:stretch>
        </p:blipFill>
        <p:spPr>
          <a:xfrm>
            <a:off x="70946" y="2043073"/>
            <a:ext cx="4446754" cy="3951293"/>
          </a:xfrm>
          <a:prstGeom prst="rect">
            <a:avLst/>
          </a:prstGeom>
        </p:spPr>
      </p:pic>
      <p:sp>
        <p:nvSpPr>
          <p:cNvPr id="33" name="矩形 32">
            <a:extLst>
              <a:ext uri="{FF2B5EF4-FFF2-40B4-BE49-F238E27FC236}">
                <a16:creationId xmlns:a16="http://schemas.microsoft.com/office/drawing/2014/main" id="{251ECE47-E214-0D51-9E50-BF354FDB453B}"/>
              </a:ext>
            </a:extLst>
          </p:cNvPr>
          <p:cNvSpPr/>
          <p:nvPr/>
        </p:nvSpPr>
        <p:spPr>
          <a:xfrm>
            <a:off x="6173423" y="749895"/>
            <a:ext cx="2719057" cy="461665"/>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TW" altLang="en-US" sz="2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latin typeface="微軟正黑體" pitchFamily="34" charset="-120"/>
                <a:ea typeface="微軟正黑體" pitchFamily="34" charset="-120"/>
              </a:rPr>
              <a:t>取得申請日之文件</a:t>
            </a:r>
          </a:p>
        </p:txBody>
      </p:sp>
      <p:sp>
        <p:nvSpPr>
          <p:cNvPr id="34" name="矩形: 圓角 33">
            <a:extLst>
              <a:ext uri="{FF2B5EF4-FFF2-40B4-BE49-F238E27FC236}">
                <a16:creationId xmlns:a16="http://schemas.microsoft.com/office/drawing/2014/main" id="{A24FEB85-3FE8-393D-6CAA-83893FFE4928}"/>
              </a:ext>
            </a:extLst>
          </p:cNvPr>
          <p:cNvSpPr/>
          <p:nvPr/>
        </p:nvSpPr>
        <p:spPr>
          <a:xfrm>
            <a:off x="1763688" y="869809"/>
            <a:ext cx="2016224" cy="404968"/>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圓角 34">
            <a:extLst>
              <a:ext uri="{FF2B5EF4-FFF2-40B4-BE49-F238E27FC236}">
                <a16:creationId xmlns:a16="http://schemas.microsoft.com/office/drawing/2014/main" id="{55B3BC61-333B-EEC6-F7FD-77430A8892ED}"/>
              </a:ext>
            </a:extLst>
          </p:cNvPr>
          <p:cNvSpPr/>
          <p:nvPr/>
        </p:nvSpPr>
        <p:spPr>
          <a:xfrm>
            <a:off x="1274207" y="2322461"/>
            <a:ext cx="2016224" cy="38839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2" name="群組 31">
            <a:extLst>
              <a:ext uri="{FF2B5EF4-FFF2-40B4-BE49-F238E27FC236}">
                <a16:creationId xmlns:a16="http://schemas.microsoft.com/office/drawing/2014/main" id="{336E85DC-400F-3B6D-049E-AFA08B57A1C9}"/>
              </a:ext>
            </a:extLst>
          </p:cNvPr>
          <p:cNvGrpSpPr/>
          <p:nvPr/>
        </p:nvGrpSpPr>
        <p:grpSpPr>
          <a:xfrm>
            <a:off x="1137000" y="3667029"/>
            <a:ext cx="3531812" cy="3152480"/>
            <a:chOff x="4475506" y="3457350"/>
            <a:chExt cx="3998254" cy="3429000"/>
          </a:xfrm>
        </p:grpSpPr>
        <p:pic>
          <p:nvPicPr>
            <p:cNvPr id="26" name="圖片 25">
              <a:extLst>
                <a:ext uri="{FF2B5EF4-FFF2-40B4-BE49-F238E27FC236}">
                  <a16:creationId xmlns:a16="http://schemas.microsoft.com/office/drawing/2014/main" id="{D6A723B0-37EF-843F-A2FC-4AA1B923E14C}"/>
                </a:ext>
              </a:extLst>
            </p:cNvPr>
            <p:cNvPicPr>
              <a:picLocks noChangeAspect="1"/>
            </p:cNvPicPr>
            <p:nvPr/>
          </p:nvPicPr>
          <p:blipFill>
            <a:blip r:embed="rId5"/>
            <a:stretch>
              <a:fillRect/>
            </a:stretch>
          </p:blipFill>
          <p:spPr>
            <a:xfrm>
              <a:off x="4499992" y="3673374"/>
              <a:ext cx="3973768" cy="3212976"/>
            </a:xfrm>
            <a:prstGeom prst="rect">
              <a:avLst/>
            </a:prstGeom>
          </p:spPr>
        </p:pic>
        <p:pic>
          <p:nvPicPr>
            <p:cNvPr id="31" name="圖片 30">
              <a:extLst>
                <a:ext uri="{FF2B5EF4-FFF2-40B4-BE49-F238E27FC236}">
                  <a16:creationId xmlns:a16="http://schemas.microsoft.com/office/drawing/2014/main" id="{C5319C4F-8400-8EE6-9717-4B41F5032F1C}"/>
                </a:ext>
              </a:extLst>
            </p:cNvPr>
            <p:cNvPicPr>
              <a:picLocks noChangeAspect="1"/>
            </p:cNvPicPr>
            <p:nvPr/>
          </p:nvPicPr>
          <p:blipFill>
            <a:blip r:embed="rId6"/>
            <a:stretch>
              <a:fillRect/>
            </a:stretch>
          </p:blipFill>
          <p:spPr>
            <a:xfrm>
              <a:off x="4475506" y="3457350"/>
              <a:ext cx="3998254" cy="381033"/>
            </a:xfrm>
            <a:prstGeom prst="rect">
              <a:avLst/>
            </a:prstGeom>
          </p:spPr>
        </p:pic>
      </p:grpSp>
      <p:sp>
        <p:nvSpPr>
          <p:cNvPr id="36" name="矩形: 圓角 35">
            <a:extLst>
              <a:ext uri="{FF2B5EF4-FFF2-40B4-BE49-F238E27FC236}">
                <a16:creationId xmlns:a16="http://schemas.microsoft.com/office/drawing/2014/main" id="{69AE3390-FA2F-CFBE-C88C-0FCB97FE0F58}"/>
              </a:ext>
            </a:extLst>
          </p:cNvPr>
          <p:cNvSpPr/>
          <p:nvPr/>
        </p:nvSpPr>
        <p:spPr>
          <a:xfrm>
            <a:off x="1908473" y="3645024"/>
            <a:ext cx="1781008" cy="372311"/>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8" name="圖片 37">
            <a:extLst>
              <a:ext uri="{FF2B5EF4-FFF2-40B4-BE49-F238E27FC236}">
                <a16:creationId xmlns:a16="http://schemas.microsoft.com/office/drawing/2014/main" id="{7A82B299-A248-9A8D-D80B-A50078EE71EB}"/>
              </a:ext>
            </a:extLst>
          </p:cNvPr>
          <p:cNvPicPr>
            <a:picLocks noChangeAspect="1"/>
          </p:cNvPicPr>
          <p:nvPr/>
        </p:nvPicPr>
        <p:blipFill>
          <a:blip r:embed="rId7"/>
          <a:stretch>
            <a:fillRect/>
          </a:stretch>
        </p:blipFill>
        <p:spPr>
          <a:xfrm>
            <a:off x="4572000" y="2520437"/>
            <a:ext cx="4333607" cy="4038581"/>
          </a:xfrm>
          <a:prstGeom prst="rect">
            <a:avLst/>
          </a:prstGeom>
        </p:spPr>
      </p:pic>
      <p:sp>
        <p:nvSpPr>
          <p:cNvPr id="40" name="矩形: 圓角 39">
            <a:extLst>
              <a:ext uri="{FF2B5EF4-FFF2-40B4-BE49-F238E27FC236}">
                <a16:creationId xmlns:a16="http://schemas.microsoft.com/office/drawing/2014/main" id="{1CCA63EB-322D-A5D8-3A60-CD8272B315C4}"/>
              </a:ext>
            </a:extLst>
          </p:cNvPr>
          <p:cNvSpPr/>
          <p:nvPr/>
        </p:nvSpPr>
        <p:spPr>
          <a:xfrm>
            <a:off x="5513355" y="2558955"/>
            <a:ext cx="2016224" cy="38839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9909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animBg="1"/>
      <p:bldP spid="35" grpId="0" animBg="1"/>
      <p:bldP spid="36" grpId="0" animBg="1"/>
      <p:bldP spid="4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申請書</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48</a:t>
            </a:fld>
            <a:endParaRPr lang="zh-TW" altLang="en-US" dirty="0">
              <a:solidFill>
                <a:prstClr val="black">
                  <a:tint val="75000"/>
                </a:prstClr>
              </a:solidFill>
            </a:endParaRPr>
          </a:p>
        </p:txBody>
      </p:sp>
      <p:sp>
        <p:nvSpPr>
          <p:cNvPr id="6" name="文字方塊 5"/>
          <p:cNvSpPr txBox="1"/>
          <p:nvPr/>
        </p:nvSpPr>
        <p:spPr>
          <a:xfrm>
            <a:off x="3779912" y="1196752"/>
            <a:ext cx="5112568" cy="4524315"/>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、申請人</a:t>
            </a:r>
            <a:endParaRPr lang="en-US" altLang="zh-TW" dirty="0">
              <a:latin typeface="微軟正黑體" panose="020B0604030504040204" pitchFamily="34" charset="-120"/>
              <a:ea typeface="微軟正黑體" panose="020B0604030504040204" pitchFamily="34" charset="-120"/>
            </a:endParaRPr>
          </a:p>
          <a:p>
            <a:pPr marL="646113" lvl="1"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應填寫姓名或名稱、</a:t>
            </a:r>
            <a:r>
              <a:rPr lang="en-US" altLang="zh-TW" dirty="0">
                <a:latin typeface="微軟正黑體" panose="020B0604030504040204" pitchFamily="34" charset="-120"/>
                <a:ea typeface="微軟正黑體" panose="020B0604030504040204" pitchFamily="34" charset="-120"/>
              </a:rPr>
              <a:t>ID</a:t>
            </a:r>
            <a:r>
              <a:rPr lang="zh-TW" altLang="en-US" dirty="0">
                <a:latin typeface="微軟正黑體" panose="020B0604030504040204" pitchFamily="34" charset="-120"/>
                <a:ea typeface="微軟正黑體" panose="020B0604030504040204" pitchFamily="34" charset="-120"/>
              </a:rPr>
              <a:t>、住居所或營業所、國籍；如為法人、機關、學校者，並應填寫代表人姓名</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、發明人</a:t>
            </a:r>
            <a:endParaRPr lang="en-US" altLang="zh-TW" dirty="0">
              <a:latin typeface="微軟正黑體" panose="020B0604030504040204" pitchFamily="34" charset="-120"/>
              <a:ea typeface="微軟正黑體" panose="020B0604030504040204" pitchFamily="34" charset="-120"/>
            </a:endParaRPr>
          </a:p>
          <a:p>
            <a:pPr marL="703263" indent="-34290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應是自然人，且應填寫姓名、國籍，本國人</a:t>
            </a:r>
            <a:r>
              <a:rPr lang="en-US" altLang="zh-TW" dirty="0">
                <a:latin typeface="微軟正黑體" panose="020B0604030504040204" pitchFamily="34" charset="-120"/>
                <a:ea typeface="微軟正黑體" panose="020B0604030504040204" pitchFamily="34" charset="-120"/>
              </a:rPr>
              <a:t>ID</a:t>
            </a:r>
            <a:r>
              <a:rPr lang="zh-TW" altLang="en-US" dirty="0">
                <a:latin typeface="微軟正黑體" panose="020B0604030504040204" pitchFamily="34" charset="-120"/>
                <a:ea typeface="微軟正黑體" panose="020B0604030504040204" pitchFamily="34" charset="-120"/>
              </a:rPr>
              <a:t>為選填欄位，外國人</a:t>
            </a:r>
            <a:r>
              <a:rPr lang="en-US" altLang="zh-TW" dirty="0">
                <a:latin typeface="微軟正黑體" panose="020B0604030504040204" pitchFamily="34" charset="-120"/>
                <a:ea typeface="微軟正黑體" panose="020B0604030504040204" pitchFamily="34" charset="-120"/>
              </a:rPr>
              <a:t>ID</a:t>
            </a:r>
            <a:r>
              <a:rPr lang="zh-TW" altLang="en-US" dirty="0">
                <a:latin typeface="微軟正黑體" panose="020B0604030504040204" pitchFamily="34" charset="-120"/>
                <a:ea typeface="微軟正黑體" panose="020B0604030504040204" pitchFamily="34" charset="-120"/>
              </a:rPr>
              <a:t>由本局統一編給識別碼</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、代理人</a:t>
            </a:r>
            <a:endParaRPr lang="en-US" altLang="zh-TW" dirty="0">
              <a:latin typeface="微軟正黑體" panose="020B0604030504040204" pitchFamily="34" charset="-120"/>
              <a:ea typeface="微軟正黑體" panose="020B0604030504040204" pitchFamily="34" charset="-120"/>
            </a:endParaRPr>
          </a:p>
          <a:p>
            <a:pPr marL="361950" indent="180975">
              <a:buFont typeface="Arial" pitchFamily="34" charset="0"/>
              <a:buChar char="•"/>
            </a:pPr>
            <a:r>
              <a:rPr lang="zh-TW" altLang="en-US" dirty="0">
                <a:latin typeface="微軟正黑體" panose="020B0604030504040204" pitchFamily="34" charset="-120"/>
                <a:ea typeface="微軟正黑體" panose="020B0604030504040204" pitchFamily="34" charset="-120"/>
              </a:rPr>
              <a:t>代理人姓名等資料，並簽名或蓋章</a:t>
            </a:r>
            <a:endParaRPr lang="en-US" altLang="zh-TW" dirty="0">
              <a:latin typeface="微軟正黑體" panose="020B0604030504040204" pitchFamily="34" charset="-120"/>
              <a:ea typeface="微軟正黑體" panose="020B0604030504040204" pitchFamily="34" charset="-120"/>
            </a:endParaRPr>
          </a:p>
          <a:p>
            <a:pPr marL="361950" indent="180975">
              <a:buFont typeface="Arial" pitchFamily="34" charset="0"/>
              <a:buChar char="•"/>
            </a:pPr>
            <a:r>
              <a:rPr lang="zh-TW" altLang="en-US" dirty="0">
                <a:latin typeface="微軟正黑體" panose="020B0604030504040204" pitchFamily="34" charset="-120"/>
                <a:ea typeface="微軟正黑體" panose="020B0604030504040204" pitchFamily="34" charset="-120"/>
              </a:rPr>
              <a:t>委任書</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4</a:t>
            </a:r>
            <a:r>
              <a:rPr lang="zh-TW" altLang="en-US" dirty="0">
                <a:latin typeface="微軟正黑體" panose="020B0604030504040204" pitchFamily="34" charset="-120"/>
                <a:ea typeface="微軟正黑體" panose="020B0604030504040204" pitchFamily="34" charset="-120"/>
              </a:rPr>
              <a:t>、聲明事項</a:t>
            </a:r>
            <a:endParaRPr lang="en-US" altLang="zh-TW" dirty="0">
              <a:latin typeface="微軟正黑體" panose="020B0604030504040204" pitchFamily="34" charset="-120"/>
              <a:ea typeface="微軟正黑體" panose="020B0604030504040204" pitchFamily="34" charset="-120"/>
            </a:endParaRPr>
          </a:p>
          <a:p>
            <a:pPr marL="361950" indent="180975">
              <a:buFont typeface="Arial" pitchFamily="34" charset="0"/>
              <a:buChar char="•"/>
            </a:pPr>
            <a:r>
              <a:rPr lang="zh-TW" altLang="en-US" dirty="0">
                <a:latin typeface="微軟正黑體" panose="020B0604030504040204" pitchFamily="34" charset="-120"/>
                <a:ea typeface="微軟正黑體" panose="020B0604030504040204" pitchFamily="34" charset="-120"/>
              </a:rPr>
              <a:t>一併申請實體審查</a:t>
            </a:r>
            <a:endParaRPr lang="en-US" altLang="zh-TW" dirty="0">
              <a:latin typeface="微軟正黑體" panose="020B0604030504040204" pitchFamily="34" charset="-120"/>
              <a:ea typeface="微軟正黑體" panose="020B0604030504040204" pitchFamily="34" charset="-120"/>
            </a:endParaRPr>
          </a:p>
          <a:p>
            <a:pPr marL="361950" indent="180975">
              <a:buFont typeface="Arial" pitchFamily="34" charset="0"/>
              <a:buChar char="•"/>
            </a:pPr>
            <a:r>
              <a:rPr lang="zh-TW" altLang="en-US" dirty="0">
                <a:latin typeface="微軟正黑體" panose="020B0604030504040204" pitchFamily="34" charset="-120"/>
                <a:ea typeface="微軟正黑體" panose="020B0604030504040204" pitchFamily="34" charset="-120"/>
              </a:rPr>
              <a:t>主張優先權</a:t>
            </a:r>
            <a:endParaRPr lang="en-US" altLang="zh-TW" dirty="0">
              <a:latin typeface="微軟正黑體" panose="020B0604030504040204" pitchFamily="34" charset="-120"/>
              <a:ea typeface="微軟正黑體" panose="020B0604030504040204" pitchFamily="34" charset="-120"/>
            </a:endParaRPr>
          </a:p>
          <a:p>
            <a:pPr marL="361950" indent="180975">
              <a:buFont typeface="Arial" pitchFamily="34" charset="0"/>
              <a:buChar char="•"/>
            </a:pPr>
            <a:r>
              <a:rPr lang="zh-TW" altLang="en-US" dirty="0">
                <a:latin typeface="微軟正黑體" panose="020B0604030504040204" pitchFamily="34" charset="-120"/>
                <a:ea typeface="微軟正黑體" panose="020B0604030504040204" pitchFamily="34" charset="-120"/>
              </a:rPr>
              <a:t>主張生物寄存</a:t>
            </a:r>
            <a:endParaRPr lang="en-US" altLang="zh-TW" dirty="0">
              <a:latin typeface="微軟正黑體" panose="020B0604030504040204" pitchFamily="34" charset="-120"/>
              <a:ea typeface="微軟正黑體" panose="020B0604030504040204" pitchFamily="34" charset="-120"/>
            </a:endParaRPr>
          </a:p>
          <a:p>
            <a:pPr marL="361950" indent="180975">
              <a:buFont typeface="Arial" pitchFamily="34" charset="0"/>
              <a:buChar char="•"/>
            </a:pPr>
            <a:r>
              <a:rPr lang="zh-TW" altLang="en-US" dirty="0">
                <a:latin typeface="微軟正黑體" panose="020B0604030504040204" pitchFamily="34" charset="-120"/>
                <a:ea typeface="微軟正黑體" panose="020B0604030504040204" pitchFamily="34" charset="-120"/>
              </a:rPr>
              <a:t>主張一案兩請</a:t>
            </a:r>
            <a:r>
              <a:rPr lang="en-US" altLang="zh-TW" dirty="0">
                <a:latin typeface="微軟正黑體" panose="020B0604030504040204" pitchFamily="34" charset="-120"/>
                <a:ea typeface="微軟正黑體" panose="020B0604030504040204" pitchFamily="34" charset="-120"/>
              </a:rPr>
              <a:t>	</a:t>
            </a:r>
            <a:endParaRPr lang="zh-TW" altLang="en-US" dirty="0">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0F9A4B81-B6A9-CE25-3AF4-E726C0D50668}"/>
              </a:ext>
            </a:extLst>
          </p:cNvPr>
          <p:cNvSpPr txBox="1"/>
          <p:nvPr/>
        </p:nvSpPr>
        <p:spPr>
          <a:xfrm>
            <a:off x="304800" y="6067456"/>
            <a:ext cx="7435551" cy="646331"/>
          </a:xfrm>
          <a:prstGeom prst="rect">
            <a:avLst/>
          </a:prstGeom>
          <a:noFill/>
        </p:spPr>
        <p:txBody>
          <a:bodyPr wrap="square">
            <a:spAutoFit/>
          </a:bodyPr>
          <a:lstStyle/>
          <a:p>
            <a:r>
              <a:rPr lang="zh-TW" altLang="en-US" dirty="0">
                <a:latin typeface="微軟正黑體" panose="020B0604030504040204" pitchFamily="34" charset="-120"/>
                <a:ea typeface="微軟正黑體" panose="020B0604030504040204" pitchFamily="34" charset="-120"/>
              </a:rPr>
              <a:t>專利申請表格暨申請須知</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hlinkClick r:id="rId2"/>
              </a:rPr>
              <a:t>https://www.tipo.gov.tw/tw/patents/469.html</a:t>
            </a:r>
            <a:endParaRPr lang="zh-TW" altLang="en-US" dirty="0">
              <a:latin typeface="微軟正黑體" panose="020B0604030504040204" pitchFamily="34" charset="-120"/>
              <a:ea typeface="微軟正黑體" panose="020B0604030504040204" pitchFamily="34" charset="-120"/>
            </a:endParaRPr>
          </a:p>
        </p:txBody>
      </p:sp>
      <p:pic>
        <p:nvPicPr>
          <p:cNvPr id="9" name="圖片 8">
            <a:extLst>
              <a:ext uri="{FF2B5EF4-FFF2-40B4-BE49-F238E27FC236}">
                <a16:creationId xmlns:a16="http://schemas.microsoft.com/office/drawing/2014/main" id="{74C44C45-9BBA-CA9A-B02A-BBE7E465AE07}"/>
              </a:ext>
            </a:extLst>
          </p:cNvPr>
          <p:cNvPicPr>
            <a:picLocks noChangeAspect="1"/>
          </p:cNvPicPr>
          <p:nvPr/>
        </p:nvPicPr>
        <p:blipFill>
          <a:blip r:embed="rId3"/>
          <a:stretch>
            <a:fillRect/>
          </a:stretch>
        </p:blipFill>
        <p:spPr>
          <a:xfrm>
            <a:off x="179513" y="974782"/>
            <a:ext cx="3498946" cy="4746286"/>
          </a:xfrm>
          <a:prstGeom prst="rect">
            <a:avLst/>
          </a:prstGeom>
          <a:ln>
            <a:solidFill>
              <a:srgbClr val="000000"/>
            </a:solid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4C044A-B05F-8200-5A61-2EF28EDE5561}"/>
              </a:ext>
            </a:extLst>
          </p:cNvPr>
          <p:cNvSpPr>
            <a:spLocks noGrp="1"/>
          </p:cNvSpPr>
          <p:nvPr>
            <p:ph type="title"/>
          </p:nvPr>
        </p:nvSpPr>
        <p:spPr/>
        <p:txBody>
          <a:bodyPr/>
          <a:lstStyle/>
          <a:p>
            <a:r>
              <a:rPr lang="zh-TW" altLang="en-US" dirty="0"/>
              <a:t>專利文件架構</a:t>
            </a:r>
          </a:p>
        </p:txBody>
      </p:sp>
      <p:sp>
        <p:nvSpPr>
          <p:cNvPr id="4" name="投影片編號版面配置區 3">
            <a:extLst>
              <a:ext uri="{FF2B5EF4-FFF2-40B4-BE49-F238E27FC236}">
                <a16:creationId xmlns:a16="http://schemas.microsoft.com/office/drawing/2014/main" id="{F0E02895-BB2C-9E8E-377A-1E16752A703C}"/>
              </a:ext>
            </a:extLst>
          </p:cNvPr>
          <p:cNvSpPr>
            <a:spLocks noGrp="1"/>
          </p:cNvSpPr>
          <p:nvPr>
            <p:ph type="sldNum" sz="quarter" idx="12"/>
          </p:nvPr>
        </p:nvSpPr>
        <p:spPr/>
        <p:txBody>
          <a:bodyPr/>
          <a:lstStyle/>
          <a:p>
            <a:fld id="{51D2D507-09EA-4C6F-96ED-053C801F8797}" type="slidenum">
              <a:rPr lang="zh-TW" altLang="en-US" smtClean="0"/>
              <a:t>49</a:t>
            </a:fld>
            <a:endParaRPr lang="zh-TW" altLang="en-US"/>
          </a:p>
        </p:txBody>
      </p:sp>
      <p:grpSp>
        <p:nvGrpSpPr>
          <p:cNvPr id="5" name="群組 5">
            <a:extLst>
              <a:ext uri="{FF2B5EF4-FFF2-40B4-BE49-F238E27FC236}">
                <a16:creationId xmlns:a16="http://schemas.microsoft.com/office/drawing/2014/main" id="{71856E69-8D53-DFF3-0DBE-B775EFB1C95F}"/>
              </a:ext>
            </a:extLst>
          </p:cNvPr>
          <p:cNvGrpSpPr/>
          <p:nvPr/>
        </p:nvGrpSpPr>
        <p:grpSpPr>
          <a:xfrm>
            <a:off x="857224" y="1356329"/>
            <a:ext cx="3000396" cy="1044000"/>
            <a:chOff x="1248155" y="2265"/>
            <a:chExt cx="1404174" cy="1089501"/>
          </a:xfrm>
          <a:scene3d>
            <a:camera prst="orthographicFront">
              <a:rot lat="0" lon="0" rev="0"/>
            </a:camera>
            <a:lightRig rig="contrasting" dir="t">
              <a:rot lat="0" lon="0" rev="1200000"/>
            </a:lightRig>
          </a:scene3d>
        </p:grpSpPr>
        <p:sp>
          <p:nvSpPr>
            <p:cNvPr id="6" name="圓角矩形 15">
              <a:extLst>
                <a:ext uri="{FF2B5EF4-FFF2-40B4-BE49-F238E27FC236}">
                  <a16:creationId xmlns:a16="http://schemas.microsoft.com/office/drawing/2014/main" id="{73E14838-3306-91F0-9C83-E528CE8462F0}"/>
                </a:ext>
              </a:extLst>
            </p:cNvPr>
            <p:cNvSpPr/>
            <p:nvPr/>
          </p:nvSpPr>
          <p:spPr>
            <a:xfrm>
              <a:off x="1248155" y="2265"/>
              <a:ext cx="1404174" cy="1089501"/>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圓角矩形 4">
              <a:extLst>
                <a:ext uri="{FF2B5EF4-FFF2-40B4-BE49-F238E27FC236}">
                  <a16:creationId xmlns:a16="http://schemas.microsoft.com/office/drawing/2014/main" id="{DF620138-6473-625E-0552-F534D839FEB2}"/>
                </a:ext>
              </a:extLst>
            </p:cNvPr>
            <p:cNvSpPr/>
            <p:nvPr/>
          </p:nvSpPr>
          <p:spPr>
            <a:xfrm>
              <a:off x="1301340" y="55450"/>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r>
                <a:rPr lang="zh-TW" altLang="en-US" sz="2800" b="1" dirty="0">
                  <a:solidFill>
                    <a:schemeClr val="bg1"/>
                  </a:solidFill>
                  <a:latin typeface="微軟正黑體" panose="020B0604030504040204" pitchFamily="34" charset="-120"/>
                  <a:ea typeface="微軟正黑體" panose="020B0604030504040204" pitchFamily="34" charset="-120"/>
                </a:rPr>
                <a:t>摘要</a:t>
              </a:r>
              <a:endParaRPr lang="en-US" sz="2800" b="1" dirty="0">
                <a:solidFill>
                  <a:schemeClr val="bg1"/>
                </a:solidFill>
                <a:latin typeface="微軟正黑體" panose="020B0604030504040204" pitchFamily="34" charset="-120"/>
                <a:ea typeface="微軟正黑體" panose="020B0604030504040204" pitchFamily="34" charset="-120"/>
              </a:endParaRPr>
            </a:p>
          </p:txBody>
        </p:sp>
      </p:grpSp>
      <p:grpSp>
        <p:nvGrpSpPr>
          <p:cNvPr id="8" name="群組 6">
            <a:extLst>
              <a:ext uri="{FF2B5EF4-FFF2-40B4-BE49-F238E27FC236}">
                <a16:creationId xmlns:a16="http://schemas.microsoft.com/office/drawing/2014/main" id="{BEDDD272-4FEC-CD2B-2AC1-B8CACF18319A}"/>
              </a:ext>
            </a:extLst>
          </p:cNvPr>
          <p:cNvGrpSpPr/>
          <p:nvPr/>
        </p:nvGrpSpPr>
        <p:grpSpPr>
          <a:xfrm>
            <a:off x="857224" y="2500306"/>
            <a:ext cx="3000396" cy="1044000"/>
            <a:chOff x="1248155" y="1146242"/>
            <a:chExt cx="1404174" cy="1089501"/>
          </a:xfrm>
          <a:scene3d>
            <a:camera prst="orthographicFront">
              <a:rot lat="0" lon="0" rev="0"/>
            </a:camera>
            <a:lightRig rig="contrasting" dir="t">
              <a:rot lat="0" lon="0" rev="1200000"/>
            </a:lightRig>
          </a:scene3d>
        </p:grpSpPr>
        <p:sp>
          <p:nvSpPr>
            <p:cNvPr id="9" name="圓角矩形 13">
              <a:extLst>
                <a:ext uri="{FF2B5EF4-FFF2-40B4-BE49-F238E27FC236}">
                  <a16:creationId xmlns:a16="http://schemas.microsoft.com/office/drawing/2014/main" id="{E352FA25-C1CE-72F9-4E3D-426232C2E597}"/>
                </a:ext>
              </a:extLst>
            </p:cNvPr>
            <p:cNvSpPr/>
            <p:nvPr/>
          </p:nvSpPr>
          <p:spPr>
            <a:xfrm>
              <a:off x="1248155" y="1146242"/>
              <a:ext cx="1404174" cy="1089501"/>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圓角矩形 6">
              <a:extLst>
                <a:ext uri="{FF2B5EF4-FFF2-40B4-BE49-F238E27FC236}">
                  <a16:creationId xmlns:a16="http://schemas.microsoft.com/office/drawing/2014/main" id="{1874B392-9624-7C54-58B6-197BF7530A1C}"/>
                </a:ext>
              </a:extLst>
            </p:cNvPr>
            <p:cNvSpPr/>
            <p:nvPr/>
          </p:nvSpPr>
          <p:spPr>
            <a:xfrm>
              <a:off x="1301340" y="1199427"/>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r>
                <a:rPr lang="zh-TW" altLang="en-US" sz="2800" b="1" dirty="0">
                  <a:solidFill>
                    <a:schemeClr val="bg1"/>
                  </a:solidFill>
                  <a:latin typeface="微軟正黑體" panose="020B0604030504040204" pitchFamily="34" charset="-120"/>
                  <a:ea typeface="微軟正黑體" panose="020B0604030504040204" pitchFamily="34" charset="-120"/>
                </a:rPr>
                <a:t>說明書</a:t>
              </a:r>
              <a:endParaRPr lang="en-US" sz="2800" b="1" dirty="0">
                <a:solidFill>
                  <a:schemeClr val="bg1"/>
                </a:solidFill>
                <a:latin typeface="微軟正黑體" panose="020B0604030504040204" pitchFamily="34" charset="-120"/>
                <a:ea typeface="微軟正黑體" panose="020B0604030504040204" pitchFamily="34" charset="-120"/>
              </a:endParaRPr>
            </a:p>
          </p:txBody>
        </p:sp>
      </p:grpSp>
      <p:grpSp>
        <p:nvGrpSpPr>
          <p:cNvPr id="11" name="群組 7">
            <a:extLst>
              <a:ext uri="{FF2B5EF4-FFF2-40B4-BE49-F238E27FC236}">
                <a16:creationId xmlns:a16="http://schemas.microsoft.com/office/drawing/2014/main" id="{C60B43AF-F72A-C831-6DEF-24EDAE6A4905}"/>
              </a:ext>
            </a:extLst>
          </p:cNvPr>
          <p:cNvGrpSpPr/>
          <p:nvPr/>
        </p:nvGrpSpPr>
        <p:grpSpPr>
          <a:xfrm>
            <a:off x="857224" y="3644283"/>
            <a:ext cx="3000396" cy="1044000"/>
            <a:chOff x="1248155" y="2290219"/>
            <a:chExt cx="1404174" cy="1089501"/>
          </a:xfrm>
          <a:scene3d>
            <a:camera prst="orthographicFront">
              <a:rot lat="0" lon="0" rev="0"/>
            </a:camera>
            <a:lightRig rig="contrasting" dir="t">
              <a:rot lat="0" lon="0" rev="1200000"/>
            </a:lightRig>
          </a:scene3d>
        </p:grpSpPr>
        <p:sp>
          <p:nvSpPr>
            <p:cNvPr id="12" name="圓角矩形 11">
              <a:extLst>
                <a:ext uri="{FF2B5EF4-FFF2-40B4-BE49-F238E27FC236}">
                  <a16:creationId xmlns:a16="http://schemas.microsoft.com/office/drawing/2014/main" id="{6138EA7B-7C56-F0DE-A9A0-24662F3DA9D7}"/>
                </a:ext>
              </a:extLst>
            </p:cNvPr>
            <p:cNvSpPr/>
            <p:nvPr/>
          </p:nvSpPr>
          <p:spPr>
            <a:xfrm>
              <a:off x="1248155" y="2290219"/>
              <a:ext cx="1404174" cy="1089501"/>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圓角矩形 8">
              <a:extLst>
                <a:ext uri="{FF2B5EF4-FFF2-40B4-BE49-F238E27FC236}">
                  <a16:creationId xmlns:a16="http://schemas.microsoft.com/office/drawing/2014/main" id="{87AB62F6-76E7-E03E-D50B-6A0139610361}"/>
                </a:ext>
              </a:extLst>
            </p:cNvPr>
            <p:cNvSpPr/>
            <p:nvPr/>
          </p:nvSpPr>
          <p:spPr>
            <a:xfrm>
              <a:off x="1301340" y="2343404"/>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r>
                <a:rPr lang="zh-TW" altLang="en-US" sz="2800" b="1" dirty="0">
                  <a:solidFill>
                    <a:schemeClr val="bg1"/>
                  </a:solidFill>
                  <a:latin typeface="微軟正黑體" panose="020B0604030504040204" pitchFamily="34" charset="-120"/>
                  <a:ea typeface="微軟正黑體" panose="020B0604030504040204" pitchFamily="34" charset="-120"/>
                </a:rPr>
                <a:t>申請專利範圍</a:t>
              </a:r>
              <a:endParaRPr lang="en-US" sz="2800" b="1" dirty="0">
                <a:solidFill>
                  <a:schemeClr val="bg1"/>
                </a:solidFill>
                <a:latin typeface="微軟正黑體" panose="020B0604030504040204" pitchFamily="34" charset="-120"/>
                <a:ea typeface="微軟正黑體" panose="020B0604030504040204" pitchFamily="34" charset="-120"/>
              </a:endParaRPr>
            </a:p>
          </p:txBody>
        </p:sp>
      </p:grpSp>
      <p:grpSp>
        <p:nvGrpSpPr>
          <p:cNvPr id="14" name="群組 8">
            <a:extLst>
              <a:ext uri="{FF2B5EF4-FFF2-40B4-BE49-F238E27FC236}">
                <a16:creationId xmlns:a16="http://schemas.microsoft.com/office/drawing/2014/main" id="{BFF8E482-AE7A-8DC5-3668-993878430A38}"/>
              </a:ext>
            </a:extLst>
          </p:cNvPr>
          <p:cNvGrpSpPr/>
          <p:nvPr/>
        </p:nvGrpSpPr>
        <p:grpSpPr>
          <a:xfrm>
            <a:off x="857224" y="4788259"/>
            <a:ext cx="3000396" cy="1044000"/>
            <a:chOff x="1248155" y="3434195"/>
            <a:chExt cx="1404174" cy="1089501"/>
          </a:xfrm>
          <a:scene3d>
            <a:camera prst="orthographicFront">
              <a:rot lat="0" lon="0" rev="0"/>
            </a:camera>
            <a:lightRig rig="contrasting" dir="t">
              <a:rot lat="0" lon="0" rev="1200000"/>
            </a:lightRig>
          </a:scene3d>
        </p:grpSpPr>
        <p:sp>
          <p:nvSpPr>
            <p:cNvPr id="15" name="圓角矩形 9">
              <a:extLst>
                <a:ext uri="{FF2B5EF4-FFF2-40B4-BE49-F238E27FC236}">
                  <a16:creationId xmlns:a16="http://schemas.microsoft.com/office/drawing/2014/main" id="{2C993660-2B9B-E6F9-B013-7678ED410C50}"/>
                </a:ext>
              </a:extLst>
            </p:cNvPr>
            <p:cNvSpPr/>
            <p:nvPr/>
          </p:nvSpPr>
          <p:spPr>
            <a:xfrm>
              <a:off x="1248155" y="3434195"/>
              <a:ext cx="1404174" cy="1089501"/>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6" name="圓角矩形 10">
              <a:extLst>
                <a:ext uri="{FF2B5EF4-FFF2-40B4-BE49-F238E27FC236}">
                  <a16:creationId xmlns:a16="http://schemas.microsoft.com/office/drawing/2014/main" id="{3EB2D2D9-9FCE-7B06-7162-8BAB7D530602}"/>
                </a:ext>
              </a:extLst>
            </p:cNvPr>
            <p:cNvSpPr/>
            <p:nvPr/>
          </p:nvSpPr>
          <p:spPr>
            <a:xfrm>
              <a:off x="1301340" y="3487380"/>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r>
                <a:rPr lang="zh-TW" altLang="en-US" sz="2800" b="1" dirty="0">
                  <a:solidFill>
                    <a:schemeClr val="bg1"/>
                  </a:solidFill>
                  <a:latin typeface="微軟正黑體" panose="020B0604030504040204" pitchFamily="34" charset="-120"/>
                  <a:ea typeface="微軟正黑體" panose="020B0604030504040204" pitchFamily="34" charset="-120"/>
                </a:rPr>
                <a:t>圖式</a:t>
              </a:r>
              <a:endParaRPr lang="zh-TW" sz="2800" b="1" dirty="0">
                <a:solidFill>
                  <a:schemeClr val="bg1"/>
                </a:solidFill>
                <a:latin typeface="微軟正黑體" panose="020B0604030504040204" pitchFamily="34" charset="-120"/>
                <a:ea typeface="微軟正黑體" panose="020B0604030504040204" pitchFamily="34" charset="-120"/>
              </a:endParaRPr>
            </a:p>
          </p:txBody>
        </p:sp>
      </p:grpSp>
      <p:grpSp>
        <p:nvGrpSpPr>
          <p:cNvPr id="17" name="群組 27">
            <a:extLst>
              <a:ext uri="{FF2B5EF4-FFF2-40B4-BE49-F238E27FC236}">
                <a16:creationId xmlns:a16="http://schemas.microsoft.com/office/drawing/2014/main" id="{D17DDBC8-1F1A-A117-DD66-899A2D60FF8C}"/>
              </a:ext>
            </a:extLst>
          </p:cNvPr>
          <p:cNvGrpSpPr>
            <a:grpSpLocks/>
          </p:cNvGrpSpPr>
          <p:nvPr/>
        </p:nvGrpSpPr>
        <p:grpSpPr bwMode="auto">
          <a:xfrm>
            <a:off x="4643464" y="1407292"/>
            <a:ext cx="3643312" cy="4253955"/>
            <a:chOff x="4429124" y="1214422"/>
            <a:chExt cx="3643338" cy="3143272"/>
          </a:xfrm>
        </p:grpSpPr>
        <p:grpSp>
          <p:nvGrpSpPr>
            <p:cNvPr id="18" name="群組 23">
              <a:extLst>
                <a:ext uri="{FF2B5EF4-FFF2-40B4-BE49-F238E27FC236}">
                  <a16:creationId xmlns:a16="http://schemas.microsoft.com/office/drawing/2014/main" id="{CE39EB76-A756-3A3B-AB44-91F582F82EE6}"/>
                </a:ext>
              </a:extLst>
            </p:cNvPr>
            <p:cNvGrpSpPr/>
            <p:nvPr/>
          </p:nvGrpSpPr>
          <p:grpSpPr>
            <a:xfrm>
              <a:off x="4429124" y="1214422"/>
              <a:ext cx="3643338" cy="3143272"/>
              <a:chOff x="1248155" y="2290219"/>
              <a:chExt cx="1404174" cy="1089501"/>
            </a:xfrm>
            <a:scene3d>
              <a:camera prst="orthographicFront">
                <a:rot lat="0" lon="0" rev="0"/>
              </a:camera>
              <a:lightRig rig="contrasting" dir="t">
                <a:rot lat="0" lon="0" rev="1200000"/>
              </a:lightRig>
            </a:scene3d>
          </p:grpSpPr>
          <p:sp>
            <p:nvSpPr>
              <p:cNvPr id="20" name="圓角矩形 24">
                <a:extLst>
                  <a:ext uri="{FF2B5EF4-FFF2-40B4-BE49-F238E27FC236}">
                    <a16:creationId xmlns:a16="http://schemas.microsoft.com/office/drawing/2014/main" id="{FDDBD0DE-E71B-115E-DCFF-92D65B0852E0}"/>
                  </a:ext>
                </a:extLst>
              </p:cNvPr>
              <p:cNvSpPr/>
              <p:nvPr/>
            </p:nvSpPr>
            <p:spPr>
              <a:xfrm>
                <a:off x="1248155" y="2290219"/>
                <a:ext cx="1404174" cy="1089501"/>
              </a:xfrm>
              <a:prstGeom prst="roundRect">
                <a:avLst/>
              </a:prstGeom>
            </p:spPr>
            <p:style>
              <a:lnRef idx="0">
                <a:schemeClr val="accent5"/>
              </a:lnRef>
              <a:fillRef idx="3">
                <a:schemeClr val="accent5"/>
              </a:fillRef>
              <a:effectRef idx="3">
                <a:schemeClr val="accent5"/>
              </a:effectRef>
              <a:fontRef idx="minor">
                <a:schemeClr val="lt1"/>
              </a:fontRef>
            </p:style>
            <p:txBody>
              <a:bodyPr/>
              <a:lstStyle/>
              <a:p>
                <a:endParaRPr lang="zh-TW" altLang="en-US">
                  <a:solidFill>
                    <a:schemeClr val="bg1"/>
                  </a:solidFill>
                </a:endParaRPr>
              </a:p>
            </p:txBody>
          </p:sp>
          <p:sp>
            <p:nvSpPr>
              <p:cNvPr id="21" name="圓角矩形 8">
                <a:extLst>
                  <a:ext uri="{FF2B5EF4-FFF2-40B4-BE49-F238E27FC236}">
                    <a16:creationId xmlns:a16="http://schemas.microsoft.com/office/drawing/2014/main" id="{F720CB3F-601A-FFBD-A5D9-C5FAB7E7FA66}"/>
                  </a:ext>
                </a:extLst>
              </p:cNvPr>
              <p:cNvSpPr/>
              <p:nvPr/>
            </p:nvSpPr>
            <p:spPr>
              <a:xfrm>
                <a:off x="1301340" y="2343404"/>
                <a:ext cx="1297804" cy="983131"/>
              </a:xfrm>
              <a:prstGeom prst="rect">
                <a:avLst/>
              </a:prstGeom>
              <a:sp3d/>
            </p:spPr>
            <p:style>
              <a:lnRef idx="0">
                <a:scrgbClr r="0" g="0" b="0"/>
              </a:lnRef>
              <a:fillRef idx="0">
                <a:scrgbClr r="0" g="0" b="0"/>
              </a:fillRef>
              <a:effectRef idx="0">
                <a:scrgbClr r="0" g="0" b="0"/>
              </a:effectRef>
              <a:fontRef idx="minor">
                <a:schemeClr val="lt1"/>
              </a:fontRef>
            </p:style>
            <p:txBody>
              <a:bodyPr lIns="106680" tIns="53340" rIns="106680" bIns="53340" spcCol="1270" anchor="ctr"/>
              <a:lstStyle/>
              <a:p>
                <a:pPr defTabSz="1244600">
                  <a:lnSpc>
                    <a:spcPct val="90000"/>
                  </a:lnSpc>
                  <a:spcAft>
                    <a:spcPct val="35000"/>
                  </a:spcAft>
                  <a:defRPr/>
                </a:pPr>
                <a:endParaRPr lang="en-US" sz="2800" dirty="0">
                  <a:solidFill>
                    <a:schemeClr val="bg1"/>
                  </a:solidFill>
                  <a:latin typeface="微軟正黑體" panose="020B0604030504040204" pitchFamily="34" charset="-120"/>
                  <a:ea typeface="微軟正黑體" panose="020B0604030504040204" pitchFamily="34" charset="-120"/>
                </a:endParaRPr>
              </a:p>
            </p:txBody>
          </p:sp>
        </p:grpSp>
        <p:sp>
          <p:nvSpPr>
            <p:cNvPr id="19" name="矩形 26">
              <a:extLst>
                <a:ext uri="{FF2B5EF4-FFF2-40B4-BE49-F238E27FC236}">
                  <a16:creationId xmlns:a16="http://schemas.microsoft.com/office/drawing/2014/main" id="{450C7E9D-DA12-85F0-4AB7-1C221DC98027}"/>
                </a:ext>
              </a:extLst>
            </p:cNvPr>
            <p:cNvSpPr>
              <a:spLocks noChangeArrowheads="1"/>
            </p:cNvSpPr>
            <p:nvPr/>
          </p:nvSpPr>
          <p:spPr bwMode="auto">
            <a:xfrm>
              <a:off x="4572000" y="1603300"/>
              <a:ext cx="3500462" cy="2360598"/>
            </a:xfrm>
            <a:prstGeom prst="rect">
              <a:avLst/>
            </a:prstGeom>
            <a:noFill/>
            <a:ln w="9525">
              <a:noFill/>
              <a:miter lim="800000"/>
              <a:headEnd/>
              <a:tailEnd/>
            </a:ln>
          </p:spPr>
          <p:txBody>
            <a:bodyPr>
              <a:spAutoFit/>
            </a:bodyPr>
            <a:lstStyle/>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發明名稱</a:t>
              </a:r>
              <a:endParaRPr lang="en-US" altLang="zh-TW"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技術領域</a:t>
              </a:r>
              <a:endParaRPr lang="en-US"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先前技術</a:t>
              </a:r>
              <a:endParaRPr lang="en-US"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發明內容</a:t>
              </a:r>
              <a:endParaRPr lang="en-US" altLang="zh-TW"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圖式簡單說明</a:t>
              </a:r>
              <a:endParaRPr lang="en-US" altLang="zh-TW"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實施方式</a:t>
              </a:r>
              <a:endParaRPr lang="en-US" sz="2800" b="1" dirty="0">
                <a:solidFill>
                  <a:schemeClr val="bg1"/>
                </a:solidFill>
                <a:latin typeface="微軟正黑體" panose="020B0604030504040204" pitchFamily="34" charset="-120"/>
                <a:ea typeface="微軟正黑體" panose="020B0604030504040204" pitchFamily="34" charset="-120"/>
              </a:endParaRPr>
            </a:p>
            <a:p>
              <a:pPr marL="57150" lvl="1" indent="-57150" algn="l" defTabSz="355600">
                <a:lnSpc>
                  <a:spcPct val="90000"/>
                </a:lnSpc>
                <a:spcAft>
                  <a:spcPct val="15000"/>
                </a:spcAft>
                <a:buFontTx/>
                <a:buChar char="•"/>
              </a:pPr>
              <a:r>
                <a:rPr lang="zh-TW" altLang="en-US" sz="2800" b="1" dirty="0">
                  <a:solidFill>
                    <a:schemeClr val="bg1"/>
                  </a:solidFill>
                  <a:latin typeface="微軟正黑體" panose="020B0604030504040204" pitchFamily="34" charset="-120"/>
                  <a:ea typeface="微軟正黑體" panose="020B0604030504040204" pitchFamily="34" charset="-120"/>
                </a:rPr>
                <a:t>符號說明</a:t>
              </a:r>
              <a:endParaRPr lang="en-US" sz="2800" b="1" dirty="0">
                <a:solidFill>
                  <a:schemeClr val="bg1"/>
                </a:solidFill>
                <a:latin typeface="微軟正黑體" panose="020B0604030504040204" pitchFamily="34" charset="-120"/>
                <a:ea typeface="微軟正黑體" panose="020B0604030504040204" pitchFamily="34" charset="-120"/>
              </a:endParaRPr>
            </a:p>
          </p:txBody>
        </p:sp>
      </p:grpSp>
      <p:sp>
        <p:nvSpPr>
          <p:cNvPr id="22" name="＞形箭號 28">
            <a:extLst>
              <a:ext uri="{FF2B5EF4-FFF2-40B4-BE49-F238E27FC236}">
                <a16:creationId xmlns:a16="http://schemas.microsoft.com/office/drawing/2014/main" id="{FE2D6EDE-27D4-B12D-BF04-AB950FF55DA0}"/>
              </a:ext>
            </a:extLst>
          </p:cNvPr>
          <p:cNvSpPr/>
          <p:nvPr/>
        </p:nvSpPr>
        <p:spPr>
          <a:xfrm>
            <a:off x="4000526" y="2694665"/>
            <a:ext cx="484188" cy="65528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TW" altLang="en-US">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5532636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揭露發明的內容</a:t>
            </a:r>
          </a:p>
        </p:txBody>
      </p:sp>
      <p:sp>
        <p:nvSpPr>
          <p:cNvPr id="6" name="投影片編號版面配置區 5"/>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50</a:t>
            </a:fld>
            <a:endParaRPr lang="zh-TW" altLang="en-US" dirty="0">
              <a:solidFill>
                <a:prstClr val="black">
                  <a:tint val="75000"/>
                </a:prstClr>
              </a:solidFill>
            </a:endParaRPr>
          </a:p>
        </p:txBody>
      </p:sp>
      <p:pic>
        <p:nvPicPr>
          <p:cNvPr id="2050" name="Picture 2" descr="主意思维创意写作- Pixabay上的免费图片- Pixabay">
            <a:extLst>
              <a:ext uri="{FF2B5EF4-FFF2-40B4-BE49-F238E27FC236}">
                <a16:creationId xmlns:a16="http://schemas.microsoft.com/office/drawing/2014/main" id="{687D3F9E-4E3F-45CB-45C6-456C8B59CA6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18081" y="908720"/>
            <a:ext cx="1389623" cy="1389623"/>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5A15CE42-2C79-6C75-12BC-B43015E08055}"/>
              </a:ext>
            </a:extLst>
          </p:cNvPr>
          <p:cNvSpPr txBox="1"/>
          <p:nvPr/>
        </p:nvSpPr>
        <p:spPr>
          <a:xfrm>
            <a:off x="899592" y="2298343"/>
            <a:ext cx="829700" cy="369332"/>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創意</a:t>
            </a:r>
          </a:p>
        </p:txBody>
      </p:sp>
      <p:pic>
        <p:nvPicPr>
          <p:cNvPr id="2052" name="Picture 4" descr="化学女士科学家- Pixabay上的免费图片- Pixabay">
            <a:extLst>
              <a:ext uri="{FF2B5EF4-FFF2-40B4-BE49-F238E27FC236}">
                <a16:creationId xmlns:a16="http://schemas.microsoft.com/office/drawing/2014/main" id="{87E8B176-911E-2D83-BC0F-C6DA6AE3486A}"/>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699792" y="933147"/>
            <a:ext cx="1744240" cy="1340768"/>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a:extLst>
              <a:ext uri="{FF2B5EF4-FFF2-40B4-BE49-F238E27FC236}">
                <a16:creationId xmlns:a16="http://schemas.microsoft.com/office/drawing/2014/main" id="{D42FF054-7014-A47D-C851-2316C54B1D4A}"/>
              </a:ext>
            </a:extLst>
          </p:cNvPr>
          <p:cNvSpPr txBox="1"/>
          <p:nvPr/>
        </p:nvSpPr>
        <p:spPr>
          <a:xfrm>
            <a:off x="3157062" y="2247188"/>
            <a:ext cx="829700" cy="369332"/>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實驗</a:t>
            </a:r>
          </a:p>
        </p:txBody>
      </p:sp>
      <p:pic>
        <p:nvPicPr>
          <p:cNvPr id="2054" name="Picture 6" descr="签名合同文档- Pixabay上的免费图片- Pixabay">
            <a:extLst>
              <a:ext uri="{FF2B5EF4-FFF2-40B4-BE49-F238E27FC236}">
                <a16:creationId xmlns:a16="http://schemas.microsoft.com/office/drawing/2014/main" id="{5C98293E-C76E-AF04-09DD-18A4B74E4C4C}"/>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341432" y="997647"/>
            <a:ext cx="1211768" cy="1211768"/>
          </a:xfrm>
          <a:prstGeom prst="rect">
            <a:avLst/>
          </a:prstGeom>
          <a:noFill/>
          <a:extLst>
            <a:ext uri="{909E8E84-426E-40DD-AFC4-6F175D3DCCD1}">
              <a14:hiddenFill xmlns:a14="http://schemas.microsoft.com/office/drawing/2010/main">
                <a:solidFill>
                  <a:srgbClr val="FFFFFF"/>
                </a:solidFill>
              </a14:hiddenFill>
            </a:ext>
          </a:extLst>
        </p:spPr>
      </p:pic>
      <p:sp>
        <p:nvSpPr>
          <p:cNvPr id="11" name="加號 10">
            <a:extLst>
              <a:ext uri="{FF2B5EF4-FFF2-40B4-BE49-F238E27FC236}">
                <a16:creationId xmlns:a16="http://schemas.microsoft.com/office/drawing/2014/main" id="{9671A594-EBCE-2CB5-A046-B9D8AE3AAA90}"/>
              </a:ext>
            </a:extLst>
          </p:cNvPr>
          <p:cNvSpPr/>
          <p:nvPr/>
        </p:nvSpPr>
        <p:spPr>
          <a:xfrm>
            <a:off x="2172343" y="1423511"/>
            <a:ext cx="360040" cy="36004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箭號: 燕尾形向右 13">
            <a:extLst>
              <a:ext uri="{FF2B5EF4-FFF2-40B4-BE49-F238E27FC236}">
                <a16:creationId xmlns:a16="http://schemas.microsoft.com/office/drawing/2014/main" id="{88571F03-09A4-15A0-D54D-2B031A0BC571}"/>
              </a:ext>
            </a:extLst>
          </p:cNvPr>
          <p:cNvSpPr/>
          <p:nvPr/>
        </p:nvSpPr>
        <p:spPr>
          <a:xfrm>
            <a:off x="4699970" y="1298919"/>
            <a:ext cx="432048" cy="484632"/>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D360D171-96C2-478B-4BE5-9169FC075499}"/>
              </a:ext>
            </a:extLst>
          </p:cNvPr>
          <p:cNvSpPr txBox="1"/>
          <p:nvPr/>
        </p:nvSpPr>
        <p:spPr>
          <a:xfrm>
            <a:off x="4973339" y="2213130"/>
            <a:ext cx="1947954" cy="646331"/>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撰寫成專利文件</a:t>
            </a:r>
            <a:endParaRPr lang="en-US" altLang="zh-TW" b="1" dirty="0">
              <a:latin typeface="微軟正黑體" panose="020B0604030504040204" pitchFamily="34" charset="-120"/>
              <a:ea typeface="微軟正黑體" panose="020B0604030504040204" pitchFamily="34" charset="-120"/>
            </a:endParaRPr>
          </a:p>
          <a:p>
            <a:pPr algn="ctr"/>
            <a:r>
              <a:rPr lang="zh-TW" altLang="en-US" b="1" dirty="0">
                <a:latin typeface="微軟正黑體" panose="020B0604030504040204" pitchFamily="34" charset="-120"/>
                <a:ea typeface="微軟正黑體" panose="020B0604030504040204" pitchFamily="34" charset="-120"/>
              </a:rPr>
              <a:t>提出申請</a:t>
            </a:r>
          </a:p>
        </p:txBody>
      </p:sp>
      <p:sp>
        <p:nvSpPr>
          <p:cNvPr id="17" name="箭號: 有線條的向右箭號 16">
            <a:extLst>
              <a:ext uri="{FF2B5EF4-FFF2-40B4-BE49-F238E27FC236}">
                <a16:creationId xmlns:a16="http://schemas.microsoft.com/office/drawing/2014/main" id="{AD70C5BB-340F-ED5F-58E7-BD08F9BBDCE9}"/>
              </a:ext>
            </a:extLst>
          </p:cNvPr>
          <p:cNvSpPr/>
          <p:nvPr/>
        </p:nvSpPr>
        <p:spPr>
          <a:xfrm>
            <a:off x="6705269" y="1318741"/>
            <a:ext cx="432048" cy="484632"/>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pSp>
        <p:nvGrpSpPr>
          <p:cNvPr id="19" name="群組 18">
            <a:extLst>
              <a:ext uri="{FF2B5EF4-FFF2-40B4-BE49-F238E27FC236}">
                <a16:creationId xmlns:a16="http://schemas.microsoft.com/office/drawing/2014/main" id="{592A14C9-94AB-5AC0-2470-5D202EEFC49C}"/>
              </a:ext>
            </a:extLst>
          </p:cNvPr>
          <p:cNvGrpSpPr/>
          <p:nvPr/>
        </p:nvGrpSpPr>
        <p:grpSpPr>
          <a:xfrm>
            <a:off x="7446072" y="880720"/>
            <a:ext cx="1179847" cy="1556792"/>
            <a:chOff x="622968" y="3002866"/>
            <a:chExt cx="1179847" cy="1556792"/>
          </a:xfrm>
        </p:grpSpPr>
        <p:pic>
          <p:nvPicPr>
            <p:cNvPr id="2058" name="Picture 10" descr="证书羊皮纸海豹- Pixabay上的免费图片- Pixabay">
              <a:extLst>
                <a:ext uri="{FF2B5EF4-FFF2-40B4-BE49-F238E27FC236}">
                  <a16:creationId xmlns:a16="http://schemas.microsoft.com/office/drawing/2014/main" id="{842964F7-078A-CA05-8540-9F8446890C00}"/>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22968" y="3002866"/>
              <a:ext cx="1179847" cy="1556792"/>
            </a:xfrm>
            <a:prstGeom prst="rect">
              <a:avLst/>
            </a:prstGeom>
            <a:noFill/>
            <a:extLst>
              <a:ext uri="{909E8E84-426E-40DD-AFC4-6F175D3DCCD1}">
                <a14:hiddenFill xmlns:a14="http://schemas.microsoft.com/office/drawing/2010/main">
                  <a:solidFill>
                    <a:srgbClr val="FFFFFF"/>
                  </a:solidFill>
                </a14:hiddenFill>
              </a:ext>
            </a:extLst>
          </p:spPr>
        </p:pic>
        <p:sp>
          <p:nvSpPr>
            <p:cNvPr id="18" name="文字方塊 17">
              <a:extLst>
                <a:ext uri="{FF2B5EF4-FFF2-40B4-BE49-F238E27FC236}">
                  <a16:creationId xmlns:a16="http://schemas.microsoft.com/office/drawing/2014/main" id="{4CDAEDCE-F8B0-4DB9-4F37-471A6101DB53}"/>
                </a:ext>
              </a:extLst>
            </p:cNvPr>
            <p:cNvSpPr txBox="1"/>
            <p:nvPr/>
          </p:nvSpPr>
          <p:spPr>
            <a:xfrm>
              <a:off x="798041" y="3187532"/>
              <a:ext cx="829700" cy="646331"/>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專利證書</a:t>
              </a:r>
            </a:p>
          </p:txBody>
        </p:sp>
      </p:grpSp>
      <p:pic>
        <p:nvPicPr>
          <p:cNvPr id="20" name="Picture 6" descr="签名合同文档- Pixabay上的免费图片- Pixabay">
            <a:extLst>
              <a:ext uri="{FF2B5EF4-FFF2-40B4-BE49-F238E27FC236}">
                <a16:creationId xmlns:a16="http://schemas.microsoft.com/office/drawing/2014/main" id="{1D883C56-3A1A-E776-1C20-A75B6EB3313D}"/>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92482" y="3344175"/>
            <a:ext cx="1211768" cy="1211768"/>
          </a:xfrm>
          <a:prstGeom prst="rect">
            <a:avLst/>
          </a:prstGeom>
          <a:noFill/>
          <a:extLst>
            <a:ext uri="{909E8E84-426E-40DD-AFC4-6F175D3DCCD1}">
              <a14:hiddenFill xmlns:a14="http://schemas.microsoft.com/office/drawing/2010/main">
                <a:solidFill>
                  <a:srgbClr val="FFFFFF"/>
                </a:solidFill>
              </a14:hiddenFill>
            </a:ext>
          </a:extLst>
        </p:spPr>
      </p:pic>
      <p:sp>
        <p:nvSpPr>
          <p:cNvPr id="21" name="文字方塊 20">
            <a:extLst>
              <a:ext uri="{FF2B5EF4-FFF2-40B4-BE49-F238E27FC236}">
                <a16:creationId xmlns:a16="http://schemas.microsoft.com/office/drawing/2014/main" id="{30F409CD-4509-74E1-E459-5DA45E9BC813}"/>
              </a:ext>
            </a:extLst>
          </p:cNvPr>
          <p:cNvSpPr txBox="1"/>
          <p:nvPr/>
        </p:nvSpPr>
        <p:spPr>
          <a:xfrm>
            <a:off x="224389" y="4559658"/>
            <a:ext cx="1947954" cy="369332"/>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公告之專利文件</a:t>
            </a:r>
            <a:endParaRPr lang="en-US" altLang="zh-TW" b="1" dirty="0">
              <a:latin typeface="微軟正黑體" panose="020B0604030504040204" pitchFamily="34" charset="-120"/>
              <a:ea typeface="微軟正黑體" panose="020B0604030504040204" pitchFamily="34" charset="-120"/>
            </a:endParaRPr>
          </a:p>
        </p:txBody>
      </p:sp>
      <p:sp>
        <p:nvSpPr>
          <p:cNvPr id="23" name="文字方塊 22">
            <a:extLst>
              <a:ext uri="{FF2B5EF4-FFF2-40B4-BE49-F238E27FC236}">
                <a16:creationId xmlns:a16="http://schemas.microsoft.com/office/drawing/2014/main" id="{29F5A897-59A0-18C3-6C17-AF2E05975EAA}"/>
              </a:ext>
            </a:extLst>
          </p:cNvPr>
          <p:cNvSpPr txBox="1"/>
          <p:nvPr/>
        </p:nvSpPr>
        <p:spPr>
          <a:xfrm>
            <a:off x="3124821" y="4545613"/>
            <a:ext cx="1338828"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通常知識者</a:t>
            </a:r>
          </a:p>
        </p:txBody>
      </p:sp>
      <p:pic>
        <p:nvPicPr>
          <p:cNvPr id="2060" name="Picture 12" descr="科学家医生读- Pixabay上的免费图片- Pixabay">
            <a:extLst>
              <a:ext uri="{FF2B5EF4-FFF2-40B4-BE49-F238E27FC236}">
                <a16:creationId xmlns:a16="http://schemas.microsoft.com/office/drawing/2014/main" id="{CE8401AA-C196-3463-B888-F7E0DCA41239}"/>
              </a:ext>
            </a:extLst>
          </p:cNvPr>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124821" y="3221068"/>
            <a:ext cx="1402971" cy="1402971"/>
          </a:xfrm>
          <a:prstGeom prst="rect">
            <a:avLst/>
          </a:prstGeom>
          <a:noFill/>
          <a:extLst>
            <a:ext uri="{909E8E84-426E-40DD-AFC4-6F175D3DCCD1}">
              <a14:hiddenFill xmlns:a14="http://schemas.microsoft.com/office/drawing/2010/main">
                <a:solidFill>
                  <a:srgbClr val="FFFFFF"/>
                </a:solidFill>
              </a14:hiddenFill>
            </a:ext>
          </a:extLst>
        </p:spPr>
      </p:pic>
      <p:sp>
        <p:nvSpPr>
          <p:cNvPr id="24" name="箭號: 燕尾形向右 23">
            <a:extLst>
              <a:ext uri="{FF2B5EF4-FFF2-40B4-BE49-F238E27FC236}">
                <a16:creationId xmlns:a16="http://schemas.microsoft.com/office/drawing/2014/main" id="{F190BCEE-2841-31BC-983F-233F3B5C37BE}"/>
              </a:ext>
            </a:extLst>
          </p:cNvPr>
          <p:cNvSpPr/>
          <p:nvPr/>
        </p:nvSpPr>
        <p:spPr>
          <a:xfrm flipH="1">
            <a:off x="2440094" y="3707743"/>
            <a:ext cx="416976" cy="484632"/>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062" name="Picture 14" descr="研究人员化学实验室- Pixabay上的免费图片- Pixabay">
            <a:extLst>
              <a:ext uri="{FF2B5EF4-FFF2-40B4-BE49-F238E27FC236}">
                <a16:creationId xmlns:a16="http://schemas.microsoft.com/office/drawing/2014/main" id="{FB0E2722-DFF9-FC69-0FD7-86C80828C23C}"/>
              </a:ext>
            </a:extLst>
          </p:cNvPr>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5628336" y="3251800"/>
            <a:ext cx="1240974" cy="1304144"/>
          </a:xfrm>
          <a:prstGeom prst="rect">
            <a:avLst/>
          </a:prstGeom>
          <a:noFill/>
          <a:extLst>
            <a:ext uri="{909E8E84-426E-40DD-AFC4-6F175D3DCCD1}">
              <a14:hiddenFill xmlns:a14="http://schemas.microsoft.com/office/drawing/2010/main">
                <a:solidFill>
                  <a:srgbClr val="FFFFFF"/>
                </a:solidFill>
              </a14:hiddenFill>
            </a:ext>
          </a:extLst>
        </p:spPr>
      </p:pic>
      <p:sp>
        <p:nvSpPr>
          <p:cNvPr id="25" name="箭號: 燕尾形向右 24">
            <a:extLst>
              <a:ext uri="{FF2B5EF4-FFF2-40B4-BE49-F238E27FC236}">
                <a16:creationId xmlns:a16="http://schemas.microsoft.com/office/drawing/2014/main" id="{75F0CCF6-4AF4-C34D-AD08-8305792D5C30}"/>
              </a:ext>
            </a:extLst>
          </p:cNvPr>
          <p:cNvSpPr/>
          <p:nvPr/>
        </p:nvSpPr>
        <p:spPr>
          <a:xfrm>
            <a:off x="4795543" y="3680237"/>
            <a:ext cx="432048" cy="484632"/>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59D958A3-B0A0-3547-ED3B-D8FF7F4825F8}"/>
              </a:ext>
            </a:extLst>
          </p:cNvPr>
          <p:cNvSpPr txBox="1"/>
          <p:nvPr/>
        </p:nvSpPr>
        <p:spPr>
          <a:xfrm>
            <a:off x="5444271" y="4545613"/>
            <a:ext cx="1569660"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無需過度實驗</a:t>
            </a:r>
          </a:p>
        </p:txBody>
      </p:sp>
      <p:sp>
        <p:nvSpPr>
          <p:cNvPr id="27" name="箭號: 燕尾形向右 26">
            <a:extLst>
              <a:ext uri="{FF2B5EF4-FFF2-40B4-BE49-F238E27FC236}">
                <a16:creationId xmlns:a16="http://schemas.microsoft.com/office/drawing/2014/main" id="{6CA9990D-6FED-CB82-354B-66C9050D62BD}"/>
              </a:ext>
            </a:extLst>
          </p:cNvPr>
          <p:cNvSpPr/>
          <p:nvPr/>
        </p:nvSpPr>
        <p:spPr>
          <a:xfrm>
            <a:off x="5608688" y="5554123"/>
            <a:ext cx="432048" cy="484632"/>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8" name="Picture 2" descr="主意思维创意写作- Pixabay上的免费图片- Pixabay">
            <a:extLst>
              <a:ext uri="{FF2B5EF4-FFF2-40B4-BE49-F238E27FC236}">
                <a16:creationId xmlns:a16="http://schemas.microsoft.com/office/drawing/2014/main" id="{06DC81FF-421F-7A23-7793-D409F29C97E5}"/>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324957" y="5054628"/>
            <a:ext cx="1389623" cy="1389623"/>
          </a:xfrm>
          <a:prstGeom prst="rect">
            <a:avLst/>
          </a:prstGeom>
          <a:noFill/>
          <a:extLst>
            <a:ext uri="{909E8E84-426E-40DD-AFC4-6F175D3DCCD1}">
              <a14:hiddenFill xmlns:a14="http://schemas.microsoft.com/office/drawing/2010/main">
                <a:solidFill>
                  <a:srgbClr val="FFFFFF"/>
                </a:solidFill>
              </a14:hiddenFill>
            </a:ext>
          </a:extLst>
        </p:spPr>
      </p:pic>
      <p:sp>
        <p:nvSpPr>
          <p:cNvPr id="29" name="文字方塊 28">
            <a:extLst>
              <a:ext uri="{FF2B5EF4-FFF2-40B4-BE49-F238E27FC236}">
                <a16:creationId xmlns:a16="http://schemas.microsoft.com/office/drawing/2014/main" id="{427553F0-CDE1-3107-21EF-41F766234829}"/>
              </a:ext>
            </a:extLst>
          </p:cNvPr>
          <p:cNvSpPr txBox="1"/>
          <p:nvPr/>
        </p:nvSpPr>
        <p:spPr>
          <a:xfrm>
            <a:off x="6398330" y="6470474"/>
            <a:ext cx="1221670" cy="369332"/>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實現創意</a:t>
            </a:r>
          </a:p>
        </p:txBody>
      </p:sp>
    </p:spTree>
    <p:extLst>
      <p:ext uri="{BB962C8B-B14F-4D97-AF65-F5344CB8AC3E}">
        <p14:creationId xmlns:p14="http://schemas.microsoft.com/office/powerpoint/2010/main" val="22935650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8BC9EEA8-701E-42CE-33E7-21BC0DCF1CB8}"/>
              </a:ext>
            </a:extLst>
          </p:cNvPr>
          <p:cNvPicPr>
            <a:picLocks noChangeAspect="1"/>
          </p:cNvPicPr>
          <p:nvPr/>
        </p:nvPicPr>
        <p:blipFill>
          <a:blip r:embed="rId2"/>
          <a:stretch>
            <a:fillRect/>
          </a:stretch>
        </p:blipFill>
        <p:spPr>
          <a:xfrm>
            <a:off x="4996048" y="1337701"/>
            <a:ext cx="4147952" cy="3865565"/>
          </a:xfrm>
          <a:prstGeom prst="rect">
            <a:avLst/>
          </a:prstGeom>
        </p:spPr>
      </p:pic>
      <p:sp>
        <p:nvSpPr>
          <p:cNvPr id="2" name="標題 1"/>
          <p:cNvSpPr>
            <a:spLocks noGrp="1"/>
          </p:cNvSpPr>
          <p:nvPr>
            <p:ph type="title"/>
          </p:nvPr>
        </p:nvSpPr>
        <p:spPr/>
        <p:txBody>
          <a:bodyPr/>
          <a:lstStyle/>
          <a:p>
            <a:r>
              <a:rPr lang="zh-TW" altLang="en-US" dirty="0"/>
              <a:t>權利與義務</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51</a:t>
            </a:fld>
            <a:endParaRPr lang="zh-TW" altLang="en-US" dirty="0">
              <a:solidFill>
                <a:prstClr val="black">
                  <a:tint val="75000"/>
                </a:prstClr>
              </a:solidFill>
            </a:endParaRPr>
          </a:p>
        </p:txBody>
      </p:sp>
      <p:sp>
        <p:nvSpPr>
          <p:cNvPr id="3" name="文字方塊 2"/>
          <p:cNvSpPr txBox="1"/>
          <p:nvPr/>
        </p:nvSpPr>
        <p:spPr>
          <a:xfrm>
            <a:off x="5436096" y="850970"/>
            <a:ext cx="3374595" cy="369332"/>
          </a:xfrm>
          <a:prstGeom prst="rect">
            <a:avLst/>
          </a:prstGeom>
          <a:solidFill>
            <a:schemeClr val="accent3">
              <a:lumMod val="40000"/>
              <a:lumOff val="60000"/>
            </a:schemeClr>
          </a:solidFill>
        </p:spPr>
        <p:txBody>
          <a:bodyPr wrap="square" rtlCol="0">
            <a:spAutoFit/>
          </a:bodyPr>
          <a:lstStyle/>
          <a:p>
            <a:pPr algn="ctr"/>
            <a:r>
              <a:rPr lang="zh-TW" altLang="en-US" b="1" dirty="0">
                <a:latin typeface="微軟正黑體" panose="020B0604030504040204" pitchFamily="34" charset="-120"/>
                <a:ea typeface="微軟正黑體" panose="020B0604030504040204" pitchFamily="34" charset="-120"/>
              </a:rPr>
              <a:t>法律文件</a:t>
            </a:r>
          </a:p>
        </p:txBody>
      </p:sp>
      <p:sp>
        <p:nvSpPr>
          <p:cNvPr id="11" name="文字方塊 10"/>
          <p:cNvSpPr txBox="1"/>
          <p:nvPr/>
        </p:nvSpPr>
        <p:spPr>
          <a:xfrm>
            <a:off x="258779" y="831003"/>
            <a:ext cx="3374595" cy="369332"/>
          </a:xfrm>
          <a:prstGeom prst="rect">
            <a:avLst/>
          </a:prstGeom>
          <a:solidFill>
            <a:schemeClr val="accent3">
              <a:lumMod val="40000"/>
              <a:lumOff val="60000"/>
            </a:schemeClr>
          </a:solidFill>
        </p:spPr>
        <p:txBody>
          <a:bodyPr wrap="square" rtlCol="0">
            <a:spAutoFit/>
          </a:bodyPr>
          <a:lstStyle/>
          <a:p>
            <a:pPr algn="ctr"/>
            <a:r>
              <a:rPr lang="zh-TW" altLang="en-US" b="1" dirty="0">
                <a:latin typeface="微軟正黑體" panose="020B0604030504040204" pitchFamily="34" charset="-120"/>
                <a:ea typeface="微軟正黑體" panose="020B0604030504040204" pitchFamily="34" charset="-120"/>
              </a:rPr>
              <a:t>技術文件</a:t>
            </a:r>
          </a:p>
        </p:txBody>
      </p:sp>
      <p:sp>
        <p:nvSpPr>
          <p:cNvPr id="10" name="矩形 9"/>
          <p:cNvSpPr/>
          <p:nvPr/>
        </p:nvSpPr>
        <p:spPr>
          <a:xfrm>
            <a:off x="7163517" y="3628140"/>
            <a:ext cx="1582486"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TW"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明確</a:t>
            </a:r>
          </a:p>
        </p:txBody>
      </p:sp>
      <p:pic>
        <p:nvPicPr>
          <p:cNvPr id="3074" name="Picture 2" descr="法律正义法庭- Pixabay上的免费照片- Pixabay">
            <a:extLst>
              <a:ext uri="{FF2B5EF4-FFF2-40B4-BE49-F238E27FC236}">
                <a16:creationId xmlns:a16="http://schemas.microsoft.com/office/drawing/2014/main" id="{3E3295E3-1284-63CD-903B-941AC48B83DB}"/>
              </a:ext>
            </a:extLst>
          </p:cNvPr>
          <p:cNvPicPr>
            <a:picLocks noChangeAspect="1" noChangeArrowheads="1"/>
          </p:cNvPicPr>
          <p:nvPr/>
        </p:nvPicPr>
        <p:blipFill>
          <a:blip r:embed="rId3" cstate="email">
            <a:alphaModFix amt="38000"/>
            <a:extLst>
              <a:ext uri="{28A0092B-C50C-407E-A947-70E740481C1C}">
                <a14:useLocalDpi xmlns:a14="http://schemas.microsoft.com/office/drawing/2010/main" val="0"/>
              </a:ext>
            </a:extLst>
          </a:blip>
          <a:srcRect/>
          <a:stretch>
            <a:fillRect/>
          </a:stretch>
        </p:blipFill>
        <p:spPr bwMode="auto">
          <a:xfrm>
            <a:off x="6074595" y="5347029"/>
            <a:ext cx="1990858" cy="1493143"/>
          </a:xfrm>
          <a:prstGeom prst="rect">
            <a:avLst/>
          </a:prstGeom>
          <a:noFill/>
          <a:extLst>
            <a:ext uri="{909E8E84-426E-40DD-AFC4-6F175D3DCCD1}">
              <a14:hiddenFill xmlns:a14="http://schemas.microsoft.com/office/drawing/2010/main">
                <a:solidFill>
                  <a:srgbClr val="FFFFFF"/>
                </a:solidFill>
              </a14:hiddenFill>
            </a:ext>
          </a:extLst>
        </p:spPr>
      </p:pic>
      <p:pic>
        <p:nvPicPr>
          <p:cNvPr id="12" name="圖片 11">
            <a:extLst>
              <a:ext uri="{FF2B5EF4-FFF2-40B4-BE49-F238E27FC236}">
                <a16:creationId xmlns:a16="http://schemas.microsoft.com/office/drawing/2014/main" id="{BF04CA26-663A-6DCD-1ACC-9C6FCD608AB3}"/>
              </a:ext>
            </a:extLst>
          </p:cNvPr>
          <p:cNvPicPr>
            <a:picLocks noChangeAspect="1"/>
          </p:cNvPicPr>
          <p:nvPr/>
        </p:nvPicPr>
        <p:blipFill>
          <a:blip r:embed="rId4"/>
          <a:stretch>
            <a:fillRect/>
          </a:stretch>
        </p:blipFill>
        <p:spPr>
          <a:xfrm>
            <a:off x="125246" y="1251973"/>
            <a:ext cx="4075171" cy="3951293"/>
          </a:xfrm>
          <a:prstGeom prst="rect">
            <a:avLst/>
          </a:prstGeom>
        </p:spPr>
      </p:pic>
      <p:grpSp>
        <p:nvGrpSpPr>
          <p:cNvPr id="13" name="群組 12">
            <a:extLst>
              <a:ext uri="{FF2B5EF4-FFF2-40B4-BE49-F238E27FC236}">
                <a16:creationId xmlns:a16="http://schemas.microsoft.com/office/drawing/2014/main" id="{C85FD496-66C6-8105-EE3E-41066C29C437}"/>
              </a:ext>
            </a:extLst>
          </p:cNvPr>
          <p:cNvGrpSpPr/>
          <p:nvPr/>
        </p:nvGrpSpPr>
        <p:grpSpPr>
          <a:xfrm>
            <a:off x="1191300" y="2875929"/>
            <a:ext cx="3236684" cy="3152480"/>
            <a:chOff x="4475506" y="3457350"/>
            <a:chExt cx="3998254" cy="3429000"/>
          </a:xfrm>
        </p:grpSpPr>
        <p:pic>
          <p:nvPicPr>
            <p:cNvPr id="15" name="圖片 14">
              <a:extLst>
                <a:ext uri="{FF2B5EF4-FFF2-40B4-BE49-F238E27FC236}">
                  <a16:creationId xmlns:a16="http://schemas.microsoft.com/office/drawing/2014/main" id="{147C674C-472D-EAC5-B203-D5E7B8EF600D}"/>
                </a:ext>
              </a:extLst>
            </p:cNvPr>
            <p:cNvPicPr>
              <a:picLocks noChangeAspect="1"/>
            </p:cNvPicPr>
            <p:nvPr/>
          </p:nvPicPr>
          <p:blipFill>
            <a:blip r:embed="rId5"/>
            <a:stretch>
              <a:fillRect/>
            </a:stretch>
          </p:blipFill>
          <p:spPr>
            <a:xfrm>
              <a:off x="4499992" y="3673374"/>
              <a:ext cx="3973768" cy="3212976"/>
            </a:xfrm>
            <a:prstGeom prst="rect">
              <a:avLst/>
            </a:prstGeom>
          </p:spPr>
        </p:pic>
        <p:pic>
          <p:nvPicPr>
            <p:cNvPr id="16" name="圖片 15">
              <a:extLst>
                <a:ext uri="{FF2B5EF4-FFF2-40B4-BE49-F238E27FC236}">
                  <a16:creationId xmlns:a16="http://schemas.microsoft.com/office/drawing/2014/main" id="{A30E3BA7-ED26-0D84-9F38-3CDD7627288F}"/>
                </a:ext>
              </a:extLst>
            </p:cNvPr>
            <p:cNvPicPr>
              <a:picLocks noChangeAspect="1"/>
            </p:cNvPicPr>
            <p:nvPr/>
          </p:nvPicPr>
          <p:blipFill>
            <a:blip r:embed="rId6"/>
            <a:stretch>
              <a:fillRect/>
            </a:stretch>
          </p:blipFill>
          <p:spPr>
            <a:xfrm>
              <a:off x="4475506" y="3457350"/>
              <a:ext cx="3998254" cy="381033"/>
            </a:xfrm>
            <a:prstGeom prst="rect">
              <a:avLst/>
            </a:prstGeom>
          </p:spPr>
        </p:pic>
      </p:grpSp>
      <p:sp>
        <p:nvSpPr>
          <p:cNvPr id="14" name="矩形 13"/>
          <p:cNvSpPr/>
          <p:nvPr/>
        </p:nvSpPr>
        <p:spPr>
          <a:xfrm>
            <a:off x="323224" y="5894685"/>
            <a:ext cx="3679213"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TW"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可據以實現</a:t>
            </a:r>
          </a:p>
        </p:txBody>
      </p:sp>
      <p:pic>
        <p:nvPicPr>
          <p:cNvPr id="3076" name="Picture 4" descr="箭头加号减号- Pixabay上的免费图片- Pixabay">
            <a:extLst>
              <a:ext uri="{FF2B5EF4-FFF2-40B4-BE49-F238E27FC236}">
                <a16:creationId xmlns:a16="http://schemas.microsoft.com/office/drawing/2014/main" id="{E4CC9526-5919-5BD5-F638-7D1688F61292}"/>
              </a:ext>
            </a:extLst>
          </p:cNvPr>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3856549" y="2618235"/>
            <a:ext cx="1823864" cy="1621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61744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CE5ED2B-ACB5-0286-945C-3C5B3B5A0057}"/>
              </a:ext>
            </a:extLst>
          </p:cNvPr>
          <p:cNvPicPr>
            <a:picLocks noChangeAspect="1"/>
          </p:cNvPicPr>
          <p:nvPr/>
        </p:nvPicPr>
        <p:blipFill>
          <a:blip r:embed="rId3"/>
          <a:stretch>
            <a:fillRect/>
          </a:stretch>
        </p:blipFill>
        <p:spPr>
          <a:xfrm>
            <a:off x="57980" y="920402"/>
            <a:ext cx="3970364" cy="5677392"/>
          </a:xfrm>
          <a:prstGeom prst="rect">
            <a:avLst/>
          </a:prstGeom>
        </p:spPr>
      </p:pic>
      <p:sp>
        <p:nvSpPr>
          <p:cNvPr id="2" name="標題 1"/>
          <p:cNvSpPr>
            <a:spLocks noGrp="1"/>
          </p:cNvSpPr>
          <p:nvPr>
            <p:ph type="title"/>
          </p:nvPr>
        </p:nvSpPr>
        <p:spPr/>
        <p:txBody>
          <a:bodyPr/>
          <a:lstStyle/>
          <a:p>
            <a:r>
              <a:rPr lang="zh-TW" altLang="en-US" dirty="0"/>
              <a:t>摘要</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52</a:t>
            </a:fld>
            <a:endParaRPr lang="zh-TW" altLang="en-US">
              <a:solidFill>
                <a:prstClr val="black">
                  <a:tint val="75000"/>
                </a:prstClr>
              </a:solidFill>
            </a:endParaRPr>
          </a:p>
        </p:txBody>
      </p:sp>
      <p:sp>
        <p:nvSpPr>
          <p:cNvPr id="9" name="圓角矩形圖說文字 8"/>
          <p:cNvSpPr/>
          <p:nvPr/>
        </p:nvSpPr>
        <p:spPr bwMode="auto">
          <a:xfrm>
            <a:off x="1897936" y="3585275"/>
            <a:ext cx="1728192" cy="646938"/>
          </a:xfrm>
          <a:prstGeom prst="wedgeRoundRectCallout">
            <a:avLst>
              <a:gd name="adj1" fmla="val -56202"/>
              <a:gd name="adj2" fmla="val -31568"/>
              <a:gd name="adj3" fmla="val 16667"/>
            </a:avLst>
          </a:prstGeom>
          <a:gradFill rotWithShape="0">
            <a:gsLst>
              <a:gs pos="0">
                <a:srgbClr val="99CCFF"/>
              </a:gs>
              <a:gs pos="50000">
                <a:srgbClr val="99CCFF">
                  <a:gamma/>
                  <a:tint val="38039"/>
                  <a:invGamma/>
                </a:srgbClr>
              </a:gs>
              <a:gs pos="100000">
                <a:srgbClr val="99CCFF"/>
              </a:gs>
            </a:gsLst>
            <a:lin ang="5400000" scaled="1"/>
          </a:gradFill>
          <a:ln w="15875" cap="flat" cmpd="sng" algn="ctr">
            <a:solidFill>
              <a:schemeClr val="accent6">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r>
              <a:rPr lang="zh-TW" altLang="en-US" sz="2000" dirty="0">
                <a:solidFill>
                  <a:prstClr val="black"/>
                </a:solidFill>
                <a:latin typeface="微軟正黑體" pitchFamily="34" charset="-120"/>
                <a:ea typeface="微軟正黑體" pitchFamily="34" charset="-120"/>
              </a:rPr>
              <a:t>字數原則上</a:t>
            </a:r>
            <a:endParaRPr lang="en-US" altLang="zh-TW" sz="2000" dirty="0">
              <a:solidFill>
                <a:prstClr val="black"/>
              </a:solidFill>
              <a:latin typeface="微軟正黑體" pitchFamily="34" charset="-120"/>
              <a:ea typeface="微軟正黑體" pitchFamily="34" charset="-120"/>
            </a:endParaRPr>
          </a:p>
          <a:p>
            <a:r>
              <a:rPr lang="zh-TW" altLang="en-US" sz="2000" dirty="0">
                <a:solidFill>
                  <a:prstClr val="black"/>
                </a:solidFill>
                <a:latin typeface="微軟正黑體" pitchFamily="34" charset="-120"/>
                <a:ea typeface="微軟正黑體" pitchFamily="34" charset="-120"/>
              </a:rPr>
              <a:t>不超過</a:t>
            </a:r>
            <a:r>
              <a:rPr lang="en-US" altLang="zh-TW" sz="2000" dirty="0">
                <a:solidFill>
                  <a:prstClr val="black"/>
                </a:solidFill>
                <a:latin typeface="微軟正黑體" pitchFamily="34" charset="-120"/>
                <a:ea typeface="微軟正黑體" pitchFamily="34" charset="-120"/>
              </a:rPr>
              <a:t>250</a:t>
            </a:r>
            <a:r>
              <a:rPr lang="zh-TW" altLang="en-US" sz="2000" dirty="0">
                <a:solidFill>
                  <a:prstClr val="black"/>
                </a:solidFill>
                <a:latin typeface="微軟正黑體" pitchFamily="34" charset="-120"/>
                <a:ea typeface="微軟正黑體" pitchFamily="34" charset="-120"/>
              </a:rPr>
              <a:t>字</a:t>
            </a:r>
          </a:p>
        </p:txBody>
      </p:sp>
      <p:sp>
        <p:nvSpPr>
          <p:cNvPr id="10" name="文字方塊 9">
            <a:extLst>
              <a:ext uri="{FF2B5EF4-FFF2-40B4-BE49-F238E27FC236}">
                <a16:creationId xmlns:a16="http://schemas.microsoft.com/office/drawing/2014/main" id="{5FA958A1-2E47-C068-7EFD-9263A4798879}"/>
              </a:ext>
            </a:extLst>
          </p:cNvPr>
          <p:cNvSpPr txBox="1"/>
          <p:nvPr/>
        </p:nvSpPr>
        <p:spPr>
          <a:xfrm>
            <a:off x="4355976" y="913406"/>
            <a:ext cx="4572000" cy="1015663"/>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zh-TW" altLang="en-US" sz="2000" dirty="0">
                <a:latin typeface="微軟正黑體" panose="020B0604030504040204" pitchFamily="34" charset="-120"/>
                <a:ea typeface="微軟正黑體" panose="020B0604030504040204" pitchFamily="34" charset="-120"/>
              </a:rPr>
              <a:t>應簡要敘明發明所揭露之內容，並以</a:t>
            </a:r>
            <a:r>
              <a:rPr lang="zh-TW" altLang="en-US" sz="2000" b="1" u="sng" dirty="0">
                <a:latin typeface="微軟正黑體" panose="020B0604030504040204" pitchFamily="34" charset="-120"/>
                <a:ea typeface="微軟正黑體" panose="020B0604030504040204" pitchFamily="34" charset="-120"/>
              </a:rPr>
              <a:t>所欲解決之問題</a:t>
            </a:r>
            <a:r>
              <a:rPr lang="zh-TW" altLang="en-US" sz="2000" dirty="0">
                <a:latin typeface="微軟正黑體" panose="020B0604030504040204" pitchFamily="34" charset="-120"/>
                <a:ea typeface="微軟正黑體" panose="020B0604030504040204" pitchFamily="34" charset="-120"/>
              </a:rPr>
              <a:t>、</a:t>
            </a:r>
            <a:r>
              <a:rPr lang="zh-TW" altLang="en-US" sz="2000" b="1" u="sng" dirty="0">
                <a:latin typeface="微軟正黑體" panose="020B0604030504040204" pitchFamily="34" charset="-120"/>
                <a:ea typeface="微軟正黑體" panose="020B0604030504040204" pitchFamily="34" charset="-120"/>
              </a:rPr>
              <a:t>解決問題之技術手段</a:t>
            </a:r>
            <a:r>
              <a:rPr lang="zh-TW" altLang="en-US" sz="2000" dirty="0">
                <a:latin typeface="微軟正黑體" panose="020B0604030504040204" pitchFamily="34" charset="-120"/>
                <a:ea typeface="微軟正黑體" panose="020B0604030504040204" pitchFamily="34" charset="-120"/>
              </a:rPr>
              <a:t>及</a:t>
            </a:r>
            <a:r>
              <a:rPr lang="zh-TW" altLang="en-US" sz="2000" b="1" u="sng" dirty="0">
                <a:latin typeface="微軟正黑體" panose="020B0604030504040204" pitchFamily="34" charset="-120"/>
                <a:ea typeface="微軟正黑體" panose="020B0604030504040204" pitchFamily="34" charset="-120"/>
              </a:rPr>
              <a:t>主要用途</a:t>
            </a:r>
            <a:r>
              <a:rPr lang="zh-TW" altLang="en-US" sz="2000" dirty="0">
                <a:latin typeface="微軟正黑體" panose="020B0604030504040204" pitchFamily="34" charset="-120"/>
                <a:ea typeface="微軟正黑體" panose="020B0604030504040204" pitchFamily="34" charset="-120"/>
              </a:rPr>
              <a:t>為限</a:t>
            </a:r>
          </a:p>
        </p:txBody>
      </p:sp>
      <p:sp>
        <p:nvSpPr>
          <p:cNvPr id="12" name="文字方塊 11">
            <a:extLst>
              <a:ext uri="{FF2B5EF4-FFF2-40B4-BE49-F238E27FC236}">
                <a16:creationId xmlns:a16="http://schemas.microsoft.com/office/drawing/2014/main" id="{38118971-B2E2-170F-4521-464A1972B538}"/>
              </a:ext>
            </a:extLst>
          </p:cNvPr>
          <p:cNvSpPr txBox="1"/>
          <p:nvPr/>
        </p:nvSpPr>
        <p:spPr>
          <a:xfrm>
            <a:off x="4355976" y="2211639"/>
            <a:ext cx="3744416" cy="400110"/>
          </a:xfrm>
          <a:prstGeom prst="rect">
            <a:avLst/>
          </a:prstGeom>
          <a:noFill/>
        </p:spPr>
        <p:txBody>
          <a:bodyPr wrap="square">
            <a:spAutoFit/>
          </a:bodyPr>
          <a:lstStyle/>
          <a:p>
            <a:pPr algn="just"/>
            <a:r>
              <a:rPr lang="zh-TW" altLang="en-US" sz="2000" dirty="0">
                <a:latin typeface="微軟正黑體" panose="020B0604030504040204" pitchFamily="34" charset="-120"/>
                <a:ea typeface="微軟正黑體" panose="020B0604030504040204" pitchFamily="34" charset="-120"/>
              </a:rPr>
              <a:t>不得記載商業性宣 傳用語</a:t>
            </a:r>
          </a:p>
        </p:txBody>
      </p:sp>
      <p:sp>
        <p:nvSpPr>
          <p:cNvPr id="15" name="乘號 14">
            <a:extLst>
              <a:ext uri="{FF2B5EF4-FFF2-40B4-BE49-F238E27FC236}">
                <a16:creationId xmlns:a16="http://schemas.microsoft.com/office/drawing/2014/main" id="{16624F80-3027-7F3A-F59C-9CB63D6E77AD}"/>
              </a:ext>
            </a:extLst>
          </p:cNvPr>
          <p:cNvSpPr/>
          <p:nvPr/>
        </p:nvSpPr>
        <p:spPr>
          <a:xfrm>
            <a:off x="7970824" y="1952946"/>
            <a:ext cx="914400" cy="914400"/>
          </a:xfrm>
          <a:prstGeom prst="mathMultiply">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b="1">
              <a:ln w="22225">
                <a:solidFill>
                  <a:schemeClr val="accent2"/>
                </a:solidFill>
                <a:prstDash val="solid"/>
              </a:ln>
              <a:solidFill>
                <a:schemeClr val="accent2">
                  <a:lumMod val="40000"/>
                  <a:lumOff val="60000"/>
                </a:schemeClr>
              </a:solidFill>
            </a:endParaRPr>
          </a:p>
        </p:txBody>
      </p:sp>
      <p:sp>
        <p:nvSpPr>
          <p:cNvPr id="22" name="文字方塊 21">
            <a:extLst>
              <a:ext uri="{FF2B5EF4-FFF2-40B4-BE49-F238E27FC236}">
                <a16:creationId xmlns:a16="http://schemas.microsoft.com/office/drawing/2014/main" id="{AEED7411-D635-48E1-9E07-CA27CFF879FE}"/>
              </a:ext>
            </a:extLst>
          </p:cNvPr>
          <p:cNvSpPr txBox="1"/>
          <p:nvPr/>
        </p:nvSpPr>
        <p:spPr>
          <a:xfrm>
            <a:off x="5291310" y="2810759"/>
            <a:ext cx="3415528" cy="923330"/>
          </a:xfrm>
          <a:prstGeom prst="rect">
            <a:avLst/>
          </a:prstGeom>
          <a:noFill/>
        </p:spPr>
        <p:txBody>
          <a:bodyPr wrap="square">
            <a:spAutoFit/>
          </a:bodyPr>
          <a:lstStyle/>
          <a:p>
            <a:r>
              <a:rPr lang="zh-TW" altLang="en-US" dirty="0">
                <a:latin typeface="微軟正黑體" panose="020B0604030504040204" pitchFamily="34" charset="-120"/>
                <a:ea typeface="微軟正黑體" panose="020B0604030504040204" pitchFamily="34" charset="-120"/>
              </a:rPr>
              <a:t>摘要之撰寫方式，應有助於公眾在特定技術領域內</a:t>
            </a:r>
            <a:r>
              <a:rPr lang="zh-TW" altLang="en-US" b="1" dirty="0">
                <a:latin typeface="微軟正黑體" panose="020B0604030504040204" pitchFamily="34" charset="-120"/>
                <a:ea typeface="微軟正黑體" panose="020B0604030504040204" pitchFamily="34" charset="-120"/>
              </a:rPr>
              <a:t>快速檢索</a:t>
            </a:r>
            <a:r>
              <a:rPr lang="zh-TW" altLang="en-US" dirty="0">
                <a:latin typeface="微軟正黑體" panose="020B0604030504040204" pitchFamily="34" charset="-120"/>
                <a:ea typeface="微軟正黑體" panose="020B0604030504040204" pitchFamily="34" charset="-120"/>
              </a:rPr>
              <a:t>之目的</a:t>
            </a:r>
          </a:p>
        </p:txBody>
      </p:sp>
      <p:sp>
        <p:nvSpPr>
          <p:cNvPr id="24" name="文字方塊 23">
            <a:extLst>
              <a:ext uri="{FF2B5EF4-FFF2-40B4-BE49-F238E27FC236}">
                <a16:creationId xmlns:a16="http://schemas.microsoft.com/office/drawing/2014/main" id="{FCBCCE66-392D-3CBF-4492-ED4F5B163CEE}"/>
              </a:ext>
            </a:extLst>
          </p:cNvPr>
          <p:cNvSpPr txBox="1"/>
          <p:nvPr/>
        </p:nvSpPr>
        <p:spPr>
          <a:xfrm>
            <a:off x="4376910" y="2808981"/>
            <a:ext cx="914400" cy="46166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zh-TW" altLang="en-US" sz="2400" b="1" dirty="0">
                <a:latin typeface="微軟正黑體" panose="020B0604030504040204" pitchFamily="34" charset="-120"/>
                <a:ea typeface="微軟正黑體" panose="020B0604030504040204" pitchFamily="34" charset="-120"/>
              </a:rPr>
              <a:t>目的</a:t>
            </a:r>
            <a:endParaRPr lang="zh-TW" altLang="en-US" sz="2400" b="1" dirty="0"/>
          </a:p>
        </p:txBody>
      </p:sp>
      <p:sp>
        <p:nvSpPr>
          <p:cNvPr id="26" name="文字方塊 25">
            <a:extLst>
              <a:ext uri="{FF2B5EF4-FFF2-40B4-BE49-F238E27FC236}">
                <a16:creationId xmlns:a16="http://schemas.microsoft.com/office/drawing/2014/main" id="{F1FCFADE-E36D-F503-8E79-4D28B07F912F}"/>
              </a:ext>
            </a:extLst>
          </p:cNvPr>
          <p:cNvSpPr txBox="1"/>
          <p:nvPr/>
        </p:nvSpPr>
        <p:spPr>
          <a:xfrm>
            <a:off x="4272963" y="3767515"/>
            <a:ext cx="4572000" cy="1754326"/>
          </a:xfrm>
          <a:prstGeom prst="rect">
            <a:avLst/>
          </a:prstGeom>
          <a:noFill/>
        </p:spPr>
        <p:txBody>
          <a:bodyPr wrap="square">
            <a:spAutoFit/>
          </a:bodyPr>
          <a:lstStyle/>
          <a:p>
            <a:r>
              <a:rPr lang="zh-TW" altLang="en-US" b="1" dirty="0">
                <a:latin typeface="微軟正黑體" panose="020B0604030504040204" pitchFamily="34" charset="-120"/>
                <a:ea typeface="微軟正黑體" panose="020B0604030504040204" pitchFamily="34" charset="-120"/>
              </a:rPr>
              <a:t>摘要僅供揭露技術資訊之用途</a:t>
            </a:r>
            <a:endParaRPr lang="en-US" altLang="zh-TW" b="1"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不得用於決定揭露是否充分，及申 請專利之發明</a:t>
            </a:r>
            <a:r>
              <a:rPr lang="zh-TW" altLang="en-US" u="sng" dirty="0">
                <a:latin typeface="微軟正黑體" panose="020B0604030504040204" pitchFamily="34" charset="-120"/>
                <a:ea typeface="微軟正黑體" panose="020B0604030504040204" pitchFamily="34" charset="-120"/>
              </a:rPr>
              <a:t>是否符合專利要件</a:t>
            </a:r>
            <a:endParaRPr lang="en-US" altLang="zh-TW" u="sng"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不得</a:t>
            </a:r>
            <a:r>
              <a:rPr lang="zh-TW" altLang="en-US" u="sng" dirty="0">
                <a:latin typeface="微軟正黑體" panose="020B0604030504040204" pitchFamily="34" charset="-120"/>
                <a:ea typeface="微軟正黑體" panose="020B0604030504040204" pitchFamily="34" charset="-120"/>
              </a:rPr>
              <a:t>用於解釋申請專利範圍</a:t>
            </a:r>
            <a:endParaRPr lang="en-US" altLang="zh-TW" u="sng"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不得</a:t>
            </a:r>
            <a:r>
              <a:rPr lang="zh-TW" altLang="en-US" u="sng" dirty="0">
                <a:latin typeface="微軟正黑體" panose="020B0604030504040204" pitchFamily="34" charset="-120"/>
                <a:ea typeface="微軟正黑體" panose="020B0604030504040204" pitchFamily="34" charset="-120"/>
              </a:rPr>
              <a:t>作為修正及更正</a:t>
            </a:r>
            <a:r>
              <a:rPr lang="zh-TW" altLang="en-US" dirty="0">
                <a:latin typeface="微軟正黑體" panose="020B0604030504040204" pitchFamily="34" charset="-120"/>
                <a:ea typeface="微軟正黑體" panose="020B0604030504040204" pitchFamily="34" charset="-120"/>
              </a:rPr>
              <a:t>說明書、申請專利範圍或圖式之</a:t>
            </a:r>
            <a:r>
              <a:rPr lang="zh-TW" altLang="en-US" u="sng" dirty="0">
                <a:latin typeface="微軟正黑體" panose="020B0604030504040204" pitchFamily="34" charset="-120"/>
                <a:ea typeface="微軟正黑體" panose="020B0604030504040204" pitchFamily="34" charset="-120"/>
              </a:rPr>
              <a:t>依據</a:t>
            </a:r>
          </a:p>
        </p:txBody>
      </p:sp>
      <p:sp>
        <p:nvSpPr>
          <p:cNvPr id="13" name="文字方塊 12">
            <a:extLst>
              <a:ext uri="{FF2B5EF4-FFF2-40B4-BE49-F238E27FC236}">
                <a16:creationId xmlns:a16="http://schemas.microsoft.com/office/drawing/2014/main" id="{F1FCFADE-E36D-F503-8E79-4D28B07F912F}"/>
              </a:ext>
            </a:extLst>
          </p:cNvPr>
          <p:cNvSpPr txBox="1"/>
          <p:nvPr/>
        </p:nvSpPr>
        <p:spPr>
          <a:xfrm>
            <a:off x="4355976" y="5661248"/>
            <a:ext cx="4572000" cy="923330"/>
          </a:xfrm>
          <a:prstGeom prst="rect">
            <a:avLst/>
          </a:prstGeom>
          <a:noFill/>
        </p:spPr>
        <p:txBody>
          <a:bodyPr wrap="square">
            <a:spAutoFit/>
          </a:bodyPr>
          <a:lstStyle/>
          <a:p>
            <a:pPr marL="285750" indent="-285750">
              <a:buFont typeface="Wingdings" panose="05000000000000000000" pitchFamily="2" charset="2"/>
              <a:buChar char="Ø"/>
            </a:pPr>
            <a:r>
              <a:rPr lang="zh-TW" altLang="en-US" dirty="0">
                <a:latin typeface="微軟正黑體" panose="020B0604030504040204" pitchFamily="34" charset="-120"/>
                <a:ea typeface="微軟正黑體" panose="020B0604030504040204" pitchFamily="34" charset="-120"/>
              </a:rPr>
              <a:t>申請人應指定最能代表該發明技術特徵之圖為代表圖，並列出其主要符號，簡要加以說明</a:t>
            </a:r>
          </a:p>
        </p:txBody>
      </p:sp>
    </p:spTree>
    <p:extLst>
      <p:ext uri="{BB962C8B-B14F-4D97-AF65-F5344CB8AC3E}">
        <p14:creationId xmlns:p14="http://schemas.microsoft.com/office/powerpoint/2010/main" val="3509616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摘要</a:t>
            </a:r>
          </a:p>
        </p:txBody>
      </p:sp>
      <p:sp>
        <p:nvSpPr>
          <p:cNvPr id="4" name="投影片編號版面配置區 3"/>
          <p:cNvSpPr>
            <a:spLocks noGrp="1"/>
          </p:cNvSpPr>
          <p:nvPr>
            <p:ph type="sldNum" sz="quarter" idx="12"/>
          </p:nvPr>
        </p:nvSpPr>
        <p:spPr/>
        <p:txBody>
          <a:bodyPr/>
          <a:lstStyle/>
          <a:p>
            <a:fld id="{254D4C32-7A1A-45A5-84ED-81747F1ABFAE}" type="slidenum">
              <a:rPr lang="zh-TW" altLang="en-US" smtClean="0"/>
              <a:t>53</a:t>
            </a:fld>
            <a:endParaRPr lang="zh-TW" altLang="en-US"/>
          </a:p>
        </p:txBody>
      </p:sp>
      <p:sp>
        <p:nvSpPr>
          <p:cNvPr id="5" name="矩形 4"/>
          <p:cNvSpPr/>
          <p:nvPr/>
        </p:nvSpPr>
        <p:spPr>
          <a:xfrm>
            <a:off x="755576" y="1196752"/>
            <a:ext cx="7776864" cy="224676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TW" altLang="en-US" sz="2000" dirty="0">
                <a:latin typeface="微軟正黑體" panose="020B0604030504040204" pitchFamily="34" charset="-120"/>
                <a:ea typeface="微軟正黑體" panose="020B0604030504040204" pitchFamily="34" charset="-120"/>
              </a:rPr>
              <a:t>本發明公開一種利用機器學習的不動產估價系統及方法。方法包含以下步驟：收集各地區的不動產的大量資料以建立大數據資料庫；利用人工智慧的機器學習技術以學習大數據資料庫的資料中的不動產的成交價隨多個特徵值變化的規則，以訓練出各特徵值的權重值；在不動產估價平台上提供多個特徵值選項；將使用者所選擇的各特徵值選項對應的各特徵值與其權重值相乘以計算出估計值；以及將所有多個估計值相加總，以計算出不動產估價。</a:t>
            </a:r>
          </a:p>
        </p:txBody>
      </p:sp>
    </p:spTree>
    <p:extLst>
      <p:ext uri="{BB962C8B-B14F-4D97-AF65-F5344CB8AC3E}">
        <p14:creationId xmlns:p14="http://schemas.microsoft.com/office/powerpoint/2010/main" val="2678930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7504" y="767567"/>
            <a:ext cx="4204028" cy="6071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pPr lvl="0"/>
            <a:r>
              <a:rPr lang="zh-TW" altLang="en-US" dirty="0"/>
              <a:t>說明書</a:t>
            </a:r>
            <a:r>
              <a:rPr lang="en-US" altLang="zh-TW" dirty="0"/>
              <a:t>(</a:t>
            </a:r>
            <a:r>
              <a:rPr lang="zh-TW" altLang="zh-TW" dirty="0"/>
              <a:t>發明名稱</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54</a:t>
            </a:fld>
            <a:endParaRPr lang="zh-TW" altLang="en-US">
              <a:solidFill>
                <a:prstClr val="black">
                  <a:tint val="75000"/>
                </a:prstClr>
              </a:solidFill>
            </a:endParaRPr>
          </a:p>
        </p:txBody>
      </p:sp>
      <p:sp>
        <p:nvSpPr>
          <p:cNvPr id="15" name="矩形 14"/>
          <p:cNvSpPr/>
          <p:nvPr/>
        </p:nvSpPr>
        <p:spPr>
          <a:xfrm>
            <a:off x="467544" y="1398756"/>
            <a:ext cx="3528392" cy="6620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sp>
        <p:nvSpPr>
          <p:cNvPr id="3" name="矩形 2"/>
          <p:cNvSpPr/>
          <p:nvPr/>
        </p:nvSpPr>
        <p:spPr>
          <a:xfrm>
            <a:off x="4427984" y="1437946"/>
            <a:ext cx="4572000" cy="923330"/>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zh-TW" altLang="en-US" dirty="0">
                <a:latin typeface="微軟正黑體" panose="020B0604030504040204" pitchFamily="34" charset="-120"/>
                <a:ea typeface="微軟正黑體" panose="020B0604030504040204" pitchFamily="34" charset="-120"/>
              </a:rPr>
              <a:t>發明名稱應簡明表示所申請發明之內容，不得冠以無關之文字，其應</a:t>
            </a:r>
            <a:r>
              <a:rPr lang="zh-TW" altLang="en-US" b="1" u="sng" dirty="0">
                <a:latin typeface="微軟正黑體" panose="020B0604030504040204" pitchFamily="34" charset="-120"/>
                <a:ea typeface="微軟正黑體" panose="020B0604030504040204" pitchFamily="34" charset="-120"/>
              </a:rPr>
              <a:t>記載申請標的</a:t>
            </a:r>
            <a:r>
              <a:rPr lang="zh-TW" altLang="en-US" dirty="0">
                <a:latin typeface="微軟正黑體" panose="020B0604030504040204" pitchFamily="34" charset="-120"/>
                <a:ea typeface="微軟正黑體" panose="020B0604030504040204" pitchFamily="34" charset="-120"/>
              </a:rPr>
              <a:t>，並</a:t>
            </a:r>
            <a:r>
              <a:rPr lang="zh-TW" altLang="en-US" b="1" u="sng" dirty="0">
                <a:latin typeface="微軟正黑體" panose="020B0604030504040204" pitchFamily="34" charset="-120"/>
                <a:ea typeface="微軟正黑體" panose="020B0604030504040204" pitchFamily="34" charset="-120"/>
              </a:rPr>
              <a:t>反映</a:t>
            </a:r>
            <a:r>
              <a:rPr lang="en-US" altLang="zh-TW" b="1" u="sng" dirty="0">
                <a:latin typeface="微軟正黑體" panose="020B0604030504040204" pitchFamily="34" charset="-120"/>
                <a:ea typeface="微軟正黑體" panose="020B0604030504040204" pitchFamily="34" charset="-120"/>
              </a:rPr>
              <a:t>(</a:t>
            </a:r>
            <a:r>
              <a:rPr lang="zh-TW" altLang="en-US" b="1" u="sng" dirty="0">
                <a:latin typeface="微軟正黑體" panose="020B0604030504040204" pitchFamily="34" charset="-120"/>
                <a:ea typeface="微軟正黑體" panose="020B0604030504040204" pitchFamily="34" charset="-120"/>
              </a:rPr>
              <a:t>涵蓋</a:t>
            </a:r>
            <a:r>
              <a:rPr lang="en-US" altLang="zh-TW" b="1" u="sng" dirty="0">
                <a:latin typeface="微軟正黑體" panose="020B0604030504040204" pitchFamily="34" charset="-120"/>
                <a:ea typeface="微軟正黑體" panose="020B0604030504040204" pitchFamily="34" charset="-120"/>
              </a:rPr>
              <a:t>)</a:t>
            </a:r>
            <a:r>
              <a:rPr lang="zh-TW" altLang="en-US" b="1" u="sng" dirty="0">
                <a:latin typeface="微軟正黑體" panose="020B0604030504040204" pitchFamily="34" charset="-120"/>
                <a:ea typeface="微軟正黑體" panose="020B0604030504040204" pitchFamily="34" charset="-120"/>
              </a:rPr>
              <a:t>其範疇</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category</a:t>
            </a:r>
            <a:r>
              <a:rPr lang="zh-TW" altLang="en-US" dirty="0">
                <a:latin typeface="微軟正黑體" panose="020B0604030504040204" pitchFamily="34" charset="-120"/>
                <a:ea typeface="微軟正黑體" panose="020B0604030504040204" pitchFamily="34" charset="-120"/>
              </a:rPr>
              <a:t>）</a:t>
            </a:r>
          </a:p>
        </p:txBody>
      </p:sp>
      <p:sp>
        <p:nvSpPr>
          <p:cNvPr id="6" name="矩形 5"/>
          <p:cNvSpPr/>
          <p:nvPr/>
        </p:nvSpPr>
        <p:spPr>
          <a:xfrm>
            <a:off x="4427984" y="2518065"/>
            <a:ext cx="4572000" cy="646331"/>
          </a:xfrm>
          <a:prstGeom prst="rect">
            <a:avLst/>
          </a:prstGeom>
        </p:spPr>
        <p:txBody>
          <a:bodyPr wrap="square">
            <a:spAutoFit/>
          </a:bodyPr>
          <a:lstStyle/>
          <a:p>
            <a:pPr marL="1346200" indent="-1346200"/>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發明名稱</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利用機器學習的不動產估價系統及方法</a:t>
            </a:r>
            <a:endParaRPr lang="zh-TW" altLang="en-US" dirty="0"/>
          </a:p>
        </p:txBody>
      </p:sp>
      <p:sp>
        <p:nvSpPr>
          <p:cNvPr id="7" name="矩形 6"/>
          <p:cNvSpPr/>
          <p:nvPr/>
        </p:nvSpPr>
        <p:spPr>
          <a:xfrm>
            <a:off x="4427984" y="3332220"/>
            <a:ext cx="4576894" cy="923330"/>
          </a:xfrm>
          <a:prstGeom prst="rect">
            <a:avLst/>
          </a:prstGeom>
        </p:spPr>
        <p:txBody>
          <a:bodyPr wrap="none">
            <a:spAutoFit/>
          </a:bodyPr>
          <a:lstStyle/>
          <a:p>
            <a:pPr marL="285750" indent="-285750">
              <a:buFont typeface="Wingdings" panose="05000000000000000000" pitchFamily="2" charset="2"/>
              <a:buChar char="u"/>
            </a:pPr>
            <a:r>
              <a:rPr lang="zh-TW" altLang="en-US" b="1" dirty="0">
                <a:latin typeface="微軟正黑體" panose="020B0604030504040204" pitchFamily="34" charset="-120"/>
                <a:ea typeface="微軟正黑體" panose="020B0604030504040204" pitchFamily="34" charset="-120"/>
              </a:rPr>
              <a:t>範疇：</a:t>
            </a:r>
            <a:r>
              <a:rPr lang="zh-TW" altLang="en-US" dirty="0">
                <a:latin typeface="微軟正黑體" panose="020B0604030504040204" pitchFamily="34" charset="-120"/>
                <a:ea typeface="微軟正黑體" panose="020B0604030504040204" pitchFamily="34" charset="-120"/>
              </a:rPr>
              <a:t>物或方法</a:t>
            </a:r>
            <a:endParaRPr lang="en-US" altLang="zh-TW"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物：裝置、系統、設備、程式產品</a:t>
            </a:r>
            <a:r>
              <a:rPr lang="en-US" altLang="zh-TW" dirty="0">
                <a:latin typeface="微軟正黑體" panose="020B0604030504040204" pitchFamily="34" charset="-120"/>
                <a:ea typeface="微軟正黑體" panose="020B0604030504040204" pitchFamily="34" charset="-120"/>
              </a:rPr>
              <a:t>…</a:t>
            </a:r>
          </a:p>
          <a:p>
            <a:pPr marL="7429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方法：方法、用途</a:t>
            </a:r>
            <a:r>
              <a:rPr lang="en-US" altLang="zh-TW" dirty="0">
                <a:latin typeface="微軟正黑體" panose="020B0604030504040204" pitchFamily="34" charset="-120"/>
                <a:ea typeface="微軟正黑體" panose="020B0604030504040204" pitchFamily="34" charset="-120"/>
              </a:rPr>
              <a:t>…</a:t>
            </a:r>
            <a:endParaRPr lang="zh-TW" altLang="en-US" dirty="0"/>
          </a:p>
        </p:txBody>
      </p:sp>
      <p:sp>
        <p:nvSpPr>
          <p:cNvPr id="19" name="矩形 18"/>
          <p:cNvSpPr/>
          <p:nvPr/>
        </p:nvSpPr>
        <p:spPr>
          <a:xfrm>
            <a:off x="4427984" y="4407950"/>
            <a:ext cx="4397358" cy="1200329"/>
          </a:xfrm>
          <a:prstGeom prst="rect">
            <a:avLst/>
          </a:prstGeom>
        </p:spPr>
        <p:txBody>
          <a:bodyPr wrap="none">
            <a:spAutoFit/>
          </a:bodyPr>
          <a:lstStyle/>
          <a:p>
            <a:pPr marL="285750" indent="-285750">
              <a:buFont typeface="Wingdings" panose="05000000000000000000" pitchFamily="2" charset="2"/>
              <a:buChar char="u"/>
            </a:pPr>
            <a:r>
              <a:rPr lang="zh-TW" altLang="en-US" b="1" dirty="0">
                <a:latin typeface="微軟正黑體" panose="020B0604030504040204" pitchFamily="34" charset="-120"/>
                <a:ea typeface="微軟正黑體" panose="020B0604030504040204" pitchFamily="34" charset="-120"/>
              </a:rPr>
              <a:t>不得記載</a:t>
            </a:r>
            <a:endParaRPr lang="en-US" altLang="zh-TW"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無關文字</a:t>
            </a:r>
            <a:endParaRPr lang="en-US" altLang="zh-TW"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非技術用語：人名、地名、代號</a:t>
            </a:r>
            <a:endParaRPr lang="en-US" altLang="zh-TW"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模糊籠統之用語：</a:t>
            </a:r>
            <a:r>
              <a:rPr lang="zh-TW" altLang="en-US" dirty="0">
                <a:latin typeface="新細明體"/>
                <a:ea typeface="新細明體"/>
              </a:rPr>
              <a:t>「及其類似物」</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2586393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39247" y="2556166"/>
            <a:ext cx="4572000" cy="923330"/>
          </a:xfrm>
          <a:prstGeom prst="rect">
            <a:avLst/>
          </a:prstGeom>
        </p:spPr>
        <p:txBody>
          <a:bodyPr>
            <a:spAutoFit/>
          </a:bodyPr>
          <a:lstStyle/>
          <a:p>
            <a:r>
              <a:rPr lang="en-US" altLang="zh-TW" dirty="0"/>
              <a:t>【</a:t>
            </a:r>
            <a:r>
              <a:rPr lang="zh-TW" altLang="en-US" dirty="0"/>
              <a:t>技術領域</a:t>
            </a:r>
            <a:r>
              <a:rPr lang="en-US" altLang="zh-TW" dirty="0"/>
              <a:t>】 </a:t>
            </a:r>
            <a:r>
              <a:rPr lang="zh-TW" altLang="en-US" dirty="0"/>
              <a:t>本發明涉及不動產，特別是涉及一種利用機器學習的不動產估價系統及方法。</a:t>
            </a:r>
          </a:p>
        </p:txBody>
      </p:sp>
      <p:pic>
        <p:nvPicPr>
          <p:cNvPr id="13"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7504" y="767567"/>
            <a:ext cx="4204028" cy="6071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pPr lvl="0"/>
            <a:r>
              <a:rPr lang="zh-TW" altLang="en-US" dirty="0"/>
              <a:t>說明書</a:t>
            </a:r>
            <a:r>
              <a:rPr lang="en-US" altLang="zh-TW" dirty="0"/>
              <a:t>(</a:t>
            </a:r>
            <a:r>
              <a:rPr lang="zh-TW" altLang="en-US" dirty="0"/>
              <a:t>技術領域</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55</a:t>
            </a:fld>
            <a:endParaRPr lang="zh-TW" altLang="en-US">
              <a:solidFill>
                <a:prstClr val="black">
                  <a:tint val="75000"/>
                </a:prstClr>
              </a:solidFill>
            </a:endParaRPr>
          </a:p>
        </p:txBody>
      </p:sp>
      <p:sp>
        <p:nvSpPr>
          <p:cNvPr id="15" name="矩形 14"/>
          <p:cNvSpPr/>
          <p:nvPr/>
        </p:nvSpPr>
        <p:spPr>
          <a:xfrm>
            <a:off x="4321250" y="3645024"/>
            <a:ext cx="2194966" cy="492443"/>
          </a:xfrm>
          <a:prstGeom prst="rect">
            <a:avLst/>
          </a:prstGeom>
        </p:spPr>
        <p:txBody>
          <a:bodyPr wrap="square">
            <a:spAutoFit/>
          </a:bodyPr>
          <a:lstStyle/>
          <a:p>
            <a:pPr>
              <a:defRPr/>
            </a:pPr>
            <a:r>
              <a:rPr lang="zh-TW" altLang="en-US"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latin typeface="微軟正黑體" pitchFamily="34" charset="-120"/>
                <a:ea typeface="微軟正黑體" pitchFamily="34" charset="-120"/>
              </a:rPr>
              <a:t>具體技術領域</a:t>
            </a:r>
          </a:p>
        </p:txBody>
      </p:sp>
      <p:sp>
        <p:nvSpPr>
          <p:cNvPr id="19" name="矩形 18"/>
          <p:cNvSpPr/>
          <p:nvPr/>
        </p:nvSpPr>
        <p:spPr>
          <a:xfrm>
            <a:off x="467749" y="2228280"/>
            <a:ext cx="3580028" cy="6557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sp>
        <p:nvSpPr>
          <p:cNvPr id="33" name="橢圓 32">
            <a:extLst>
              <a:ext uri="{FF2B5EF4-FFF2-40B4-BE49-F238E27FC236}">
                <a16:creationId xmlns:a16="http://schemas.microsoft.com/office/drawing/2014/main" id="{77816939-9787-483B-B8E6-4215F7E42220}"/>
              </a:ext>
            </a:extLst>
          </p:cNvPr>
          <p:cNvSpPr/>
          <p:nvPr/>
        </p:nvSpPr>
        <p:spPr>
          <a:xfrm>
            <a:off x="6516216" y="3573016"/>
            <a:ext cx="2377034" cy="134658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prstClr val="black"/>
                </a:solidFill>
                <a:latin typeface="微軟正黑體" pitchFamily="34" charset="-120"/>
                <a:ea typeface="微軟正黑體" pitchFamily="34" charset="-120"/>
              </a:rPr>
              <a:t>不動產</a:t>
            </a:r>
            <a:endParaRPr lang="en-US" altLang="zh-TW" dirty="0">
              <a:solidFill>
                <a:prstClr val="black"/>
              </a:solidFill>
              <a:latin typeface="微軟正黑體" pitchFamily="34" charset="-120"/>
              <a:ea typeface="微軟正黑體" pitchFamily="34" charset="-120"/>
            </a:endParaRPr>
          </a:p>
          <a:p>
            <a:pPr algn="ctr"/>
            <a:endParaRPr lang="en-US" altLang="zh-TW" dirty="0">
              <a:solidFill>
                <a:prstClr val="white"/>
              </a:solidFill>
              <a:latin typeface="微軟正黑體" pitchFamily="34" charset="-120"/>
              <a:ea typeface="微軟正黑體" pitchFamily="34" charset="-120"/>
            </a:endParaRPr>
          </a:p>
          <a:p>
            <a:pPr algn="ctr"/>
            <a:endParaRPr lang="zh-TW" altLang="en-US" dirty="0">
              <a:solidFill>
                <a:prstClr val="white"/>
              </a:solidFill>
              <a:latin typeface="微軟正黑體" pitchFamily="34" charset="-120"/>
              <a:ea typeface="微軟正黑體" pitchFamily="34" charset="-120"/>
            </a:endParaRPr>
          </a:p>
        </p:txBody>
      </p:sp>
      <p:sp>
        <p:nvSpPr>
          <p:cNvPr id="35" name="橢圓 34">
            <a:extLst>
              <a:ext uri="{FF2B5EF4-FFF2-40B4-BE49-F238E27FC236}">
                <a16:creationId xmlns:a16="http://schemas.microsoft.com/office/drawing/2014/main" id="{A3E9CB31-FC73-4B2B-BE1C-B9EBC2955CB9}"/>
              </a:ext>
            </a:extLst>
          </p:cNvPr>
          <p:cNvSpPr/>
          <p:nvPr/>
        </p:nvSpPr>
        <p:spPr>
          <a:xfrm>
            <a:off x="6804248" y="4137467"/>
            <a:ext cx="1800200" cy="6370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prstClr val="white"/>
                </a:solidFill>
                <a:latin typeface="微軟正黑體" pitchFamily="34" charset="-120"/>
                <a:ea typeface="微軟正黑體" pitchFamily="34" charset="-120"/>
              </a:rPr>
              <a:t>利用機器學習估價</a:t>
            </a:r>
          </a:p>
        </p:txBody>
      </p:sp>
      <p:sp>
        <p:nvSpPr>
          <p:cNvPr id="14" name="矩形 13"/>
          <p:cNvSpPr/>
          <p:nvPr/>
        </p:nvSpPr>
        <p:spPr>
          <a:xfrm>
            <a:off x="4427984" y="1437946"/>
            <a:ext cx="4572000" cy="923330"/>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zh-TW" altLang="en-US" dirty="0">
                <a:latin typeface="微軟正黑體" panose="020B0604030504040204" pitchFamily="34" charset="-120"/>
                <a:ea typeface="微軟正黑體" panose="020B0604030504040204" pitchFamily="34" charset="-120"/>
              </a:rPr>
              <a:t>技術領域應為申請專利之發明</a:t>
            </a:r>
            <a:r>
              <a:rPr lang="zh-TW" altLang="en-US" b="1" u="sng" dirty="0">
                <a:latin typeface="微軟正黑體" panose="020B0604030504040204" pitchFamily="34" charset="-120"/>
                <a:ea typeface="微軟正黑體" panose="020B0604030504040204" pitchFamily="34" charset="-120"/>
              </a:rPr>
              <a:t>所屬或直接應用</a:t>
            </a:r>
            <a:r>
              <a:rPr lang="zh-TW" altLang="en-US" dirty="0">
                <a:latin typeface="微軟正黑體" panose="020B0604030504040204" pitchFamily="34" charset="-120"/>
                <a:ea typeface="微軟正黑體" panose="020B0604030504040204" pitchFamily="34" charset="-120"/>
              </a:rPr>
              <a:t>的具體技術領域，並非上一階的領域或發明本身，亦非相鄰的技術領域</a:t>
            </a:r>
          </a:p>
        </p:txBody>
      </p:sp>
      <p:sp>
        <p:nvSpPr>
          <p:cNvPr id="3" name="矩形 2"/>
          <p:cNvSpPr/>
          <p:nvPr/>
        </p:nvSpPr>
        <p:spPr>
          <a:xfrm>
            <a:off x="4321250" y="5252265"/>
            <a:ext cx="4572000" cy="92333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zh-TW" altLang="en-US" dirty="0">
                <a:latin typeface="微軟正黑體" panose="020B0604030504040204" pitchFamily="34" charset="-120"/>
                <a:ea typeface="微軟正黑體" panose="020B0604030504040204" pitchFamily="34" charset="-120"/>
              </a:rPr>
              <a:t>若申請專利之發明為開創性發明，不屬於既有之技術領域者，僅須記載該發明所開發之新技術領域</a:t>
            </a:r>
          </a:p>
        </p:txBody>
      </p:sp>
    </p:spTree>
    <p:extLst>
      <p:ext uri="{BB962C8B-B14F-4D97-AF65-F5344CB8AC3E}">
        <p14:creationId xmlns:p14="http://schemas.microsoft.com/office/powerpoint/2010/main" val="23499752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7504" y="767567"/>
            <a:ext cx="4204028" cy="6071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pPr lvl="0"/>
            <a:r>
              <a:rPr lang="zh-TW" altLang="en-US" dirty="0"/>
              <a:t>說明書</a:t>
            </a:r>
            <a:r>
              <a:rPr lang="en-US" altLang="zh-TW" dirty="0"/>
              <a:t>(</a:t>
            </a:r>
            <a:r>
              <a:rPr lang="zh-TW" altLang="en-US" dirty="0"/>
              <a:t>先前技術</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56</a:t>
            </a:fld>
            <a:endParaRPr lang="zh-TW" altLang="en-US">
              <a:solidFill>
                <a:prstClr val="black">
                  <a:tint val="75000"/>
                </a:prstClr>
              </a:solidFill>
            </a:endParaRPr>
          </a:p>
        </p:txBody>
      </p:sp>
      <p:sp>
        <p:nvSpPr>
          <p:cNvPr id="13" name="矩形 12"/>
          <p:cNvSpPr/>
          <p:nvPr/>
        </p:nvSpPr>
        <p:spPr>
          <a:xfrm>
            <a:off x="323528" y="3068960"/>
            <a:ext cx="3744416" cy="266429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sp>
        <p:nvSpPr>
          <p:cNvPr id="14" name="矩形 13"/>
          <p:cNvSpPr/>
          <p:nvPr/>
        </p:nvSpPr>
        <p:spPr>
          <a:xfrm>
            <a:off x="4427984" y="908720"/>
            <a:ext cx="4572000" cy="923330"/>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zh-TW" altLang="en-US" dirty="0">
                <a:latin typeface="微軟正黑體" panose="020B0604030504040204" pitchFamily="34" charset="-120"/>
                <a:ea typeface="微軟正黑體" panose="020B0604030504040204" pitchFamily="34" charset="-120"/>
              </a:rPr>
              <a:t>說明書中應記載</a:t>
            </a:r>
            <a:r>
              <a:rPr lang="zh-TW" altLang="en-US" b="1" u="sng" dirty="0">
                <a:latin typeface="微軟正黑體" panose="020B0604030504040204" pitchFamily="34" charset="-120"/>
                <a:ea typeface="微軟正黑體" panose="020B0604030504040204" pitchFamily="34" charset="-120"/>
              </a:rPr>
              <a:t>申請人所知之先前技術</a:t>
            </a:r>
            <a:r>
              <a:rPr lang="zh-TW" altLang="en-US" dirty="0">
                <a:latin typeface="微軟正黑體" panose="020B0604030504040204" pitchFamily="34" charset="-120"/>
                <a:ea typeface="微軟正黑體" panose="020B0604030504040204" pitchFamily="34" charset="-120"/>
              </a:rPr>
              <a:t>，並客觀指出技術手段</a:t>
            </a:r>
            <a:r>
              <a:rPr lang="zh-TW" altLang="en-US" b="1" u="sng" dirty="0">
                <a:latin typeface="微軟正黑體" panose="020B0604030504040204" pitchFamily="34" charset="-120"/>
                <a:ea typeface="微軟正黑體" panose="020B0604030504040204" pitchFamily="34" charset="-120"/>
              </a:rPr>
              <a:t>所欲解決而存在於先前技術中的問題或缺失</a:t>
            </a:r>
          </a:p>
        </p:txBody>
      </p:sp>
      <p:sp>
        <p:nvSpPr>
          <p:cNvPr id="5" name="矩形 4"/>
          <p:cNvSpPr/>
          <p:nvPr/>
        </p:nvSpPr>
        <p:spPr>
          <a:xfrm>
            <a:off x="4338503" y="1916832"/>
            <a:ext cx="4688452" cy="3785652"/>
          </a:xfrm>
          <a:prstGeom prst="rect">
            <a:avLst/>
          </a:prstGeom>
        </p:spPr>
        <p:txBody>
          <a:bodyPr wrap="square">
            <a:spAutoFit/>
          </a:bodyPr>
          <a:lstStyle/>
          <a:p>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先前技術</a:t>
            </a:r>
            <a:r>
              <a:rPr lang="en-US" altLang="zh-TW" sz="1500" dirty="0">
                <a:latin typeface="微軟正黑體" panose="020B0604030504040204" pitchFamily="34" charset="-120"/>
                <a:ea typeface="微軟正黑體" panose="020B0604030504040204" pitchFamily="34" charset="-120"/>
              </a:rPr>
              <a:t>】</a:t>
            </a:r>
          </a:p>
          <a:p>
            <a:r>
              <a:rPr lang="zh-TW" altLang="en-US" sz="1500" dirty="0">
                <a:latin typeface="微軟正黑體" panose="020B0604030504040204" pitchFamily="34" charset="-120"/>
                <a:ea typeface="微軟正黑體" panose="020B0604030504040204" pitchFamily="34" charset="-120"/>
              </a:rPr>
              <a:t>現今網際網路發達，售屋者欲販售房屋物件時，房屋物件的行情資料，除了藉由房仲業者的房屋租售網站提供，售屋者亦可以由網路取得相關的資料。然而，每一個房屋物件基本上都獨立的，且房屋物件之區域行情不確定因素甚多，因此，售屋者實難由各個房屋物件中觀察到預售房屋物件地區的基本實際行情，以及目前和未來市場競爭狀況。</a:t>
            </a:r>
          </a:p>
          <a:p>
            <a:r>
              <a:rPr lang="zh-TW" altLang="en-US" sz="1500" dirty="0">
                <a:latin typeface="微軟正黑體" panose="020B0604030504040204" pitchFamily="34" charset="-120"/>
                <a:ea typeface="微軟正黑體" panose="020B0604030504040204" pitchFamily="34" charset="-120"/>
              </a:rPr>
              <a:t>目前的房屋物件買賣而言不乏搜尋系統，售屋者常碰到的困擾是在於，市面上無一有效的搜尋系統可提供售屋者快速識別欲搜尋相似房屋物件，以及相似房屋物件之實價登錄資料。因此，售屋者需要個別詳細瀏覽房屋物件之資料，進而從習知房屋物件買賣之搜尋系統中的個別物件的網頁資料中得知目前預售屋物件實際價格的相關比對資料，從而造成花費過多時間，且完全不符合成本效益。</a:t>
            </a:r>
          </a:p>
        </p:txBody>
      </p:sp>
      <p:sp>
        <p:nvSpPr>
          <p:cNvPr id="8" name="矩形 7"/>
          <p:cNvSpPr/>
          <p:nvPr/>
        </p:nvSpPr>
        <p:spPr>
          <a:xfrm>
            <a:off x="5401504" y="5733256"/>
            <a:ext cx="2244525"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TW"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發明目的</a:t>
            </a:r>
            <a:r>
              <a:rPr lang="en-US" altLang="zh-TW"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t>
            </a:r>
            <a:endParaRPr lang="zh-TW"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33375000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0"/>
            <a:r>
              <a:rPr lang="zh-TW" altLang="en-US" dirty="0"/>
              <a:t>說明書</a:t>
            </a:r>
            <a:r>
              <a:rPr lang="en-US" altLang="zh-TW" dirty="0"/>
              <a:t>(</a:t>
            </a:r>
            <a:r>
              <a:rPr lang="zh-TW" altLang="en-US" dirty="0"/>
              <a:t>發明內容</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57</a:t>
            </a:fld>
            <a:endParaRPr lang="zh-TW" altLang="en-US">
              <a:solidFill>
                <a:prstClr val="black">
                  <a:tint val="75000"/>
                </a:prstClr>
              </a:solidFill>
            </a:endParaRPr>
          </a:p>
        </p:txBody>
      </p:sp>
      <p:sp>
        <p:nvSpPr>
          <p:cNvPr id="19" name="文字方塊 18">
            <a:extLst>
              <a:ext uri="{FF2B5EF4-FFF2-40B4-BE49-F238E27FC236}">
                <a16:creationId xmlns:a16="http://schemas.microsoft.com/office/drawing/2014/main" id="{63726CED-DD3B-41AB-8777-18FB58C08DD3}"/>
              </a:ext>
            </a:extLst>
          </p:cNvPr>
          <p:cNvSpPr txBox="1"/>
          <p:nvPr/>
        </p:nvSpPr>
        <p:spPr>
          <a:xfrm>
            <a:off x="4443818" y="1669878"/>
            <a:ext cx="4119553" cy="1354217"/>
          </a:xfrm>
          <a:prstGeom prst="rect">
            <a:avLst/>
          </a:prstGeom>
          <a:noFill/>
        </p:spPr>
        <p:txBody>
          <a:bodyPr wrap="square" rtlCol="0">
            <a:spAutoFit/>
          </a:bodyPr>
          <a:lstStyle/>
          <a:p>
            <a:r>
              <a:rPr lang="zh-TW" altLang="en-US" sz="2000" dirty="0">
                <a:solidFill>
                  <a:prstClr val="black"/>
                </a:solidFill>
                <a:latin typeface="微軟正黑體" pitchFamily="34" charset="-120"/>
                <a:ea typeface="微軟正黑體" pitchFamily="34" charset="-120"/>
              </a:rPr>
              <a:t>發明所欲解決之</a:t>
            </a:r>
            <a:r>
              <a:rPr lang="zh-TW" altLang="en-US" sz="2800" b="1" dirty="0">
                <a:solidFill>
                  <a:srgbClr val="3333FF"/>
                </a:solidFill>
                <a:latin typeface="微軟正黑體" pitchFamily="34" charset="-120"/>
                <a:ea typeface="微軟正黑體" pitchFamily="34" charset="-120"/>
              </a:rPr>
              <a:t>問題</a:t>
            </a:r>
            <a:endParaRPr lang="en-US" altLang="zh-TW" sz="2800" b="1" dirty="0">
              <a:solidFill>
                <a:srgbClr val="3333FF"/>
              </a:solidFill>
              <a:latin typeface="微軟正黑體" pitchFamily="34" charset="-120"/>
              <a:ea typeface="微軟正黑體" pitchFamily="34" charset="-120"/>
            </a:endParaRPr>
          </a:p>
          <a:p>
            <a:pPr marL="914400" lvl="1" indent="-457200">
              <a:buFont typeface="Arial" panose="020B0604020202020204" pitchFamily="34" charset="0"/>
              <a:buChar char="•"/>
            </a:pPr>
            <a:r>
              <a:rPr lang="zh-TW" altLang="en-US" dirty="0">
                <a:latin typeface="微軟正黑體" pitchFamily="34" charset="-120"/>
                <a:ea typeface="微軟正黑體" pitchFamily="34" charset="-120"/>
              </a:rPr>
              <a:t>存在於先前技術</a:t>
            </a:r>
            <a:endParaRPr lang="en-US" altLang="zh-TW" dirty="0">
              <a:latin typeface="微軟正黑體" pitchFamily="34" charset="-120"/>
              <a:ea typeface="微軟正黑體" pitchFamily="34" charset="-120"/>
            </a:endParaRPr>
          </a:p>
          <a:p>
            <a:pPr marL="914400" lvl="1" indent="-457200">
              <a:buFont typeface="Arial" panose="020B0604020202020204" pitchFamily="34" charset="0"/>
              <a:buChar char="•"/>
            </a:pPr>
            <a:r>
              <a:rPr lang="zh-TW" altLang="en-US" dirty="0">
                <a:latin typeface="微軟正黑體" pitchFamily="34" charset="-120"/>
                <a:ea typeface="微軟正黑體" pitchFamily="34" charset="-120"/>
              </a:rPr>
              <a:t>導致該問題原因</a:t>
            </a:r>
            <a:endParaRPr lang="en-US" altLang="zh-TW" dirty="0">
              <a:latin typeface="微軟正黑體" pitchFamily="34" charset="-120"/>
              <a:ea typeface="微軟正黑體" pitchFamily="34" charset="-120"/>
            </a:endParaRPr>
          </a:p>
          <a:p>
            <a:pPr marL="914400" lvl="1" indent="-457200">
              <a:buFont typeface="Arial" panose="020B0604020202020204" pitchFamily="34" charset="0"/>
              <a:buChar char="•"/>
            </a:pPr>
            <a:r>
              <a:rPr lang="zh-TW" altLang="en-US" dirty="0">
                <a:latin typeface="微軟正黑體" pitchFamily="34" charset="-120"/>
                <a:ea typeface="微軟正黑體" pitchFamily="34" charset="-120"/>
              </a:rPr>
              <a:t>解決問題的困難</a:t>
            </a:r>
            <a:endParaRPr lang="en-US" altLang="zh-TW" dirty="0">
              <a:latin typeface="微軟正黑體" pitchFamily="34" charset="-120"/>
              <a:ea typeface="微軟正黑體" pitchFamily="34" charset="-120"/>
            </a:endParaRPr>
          </a:p>
        </p:txBody>
      </p:sp>
      <p:sp>
        <p:nvSpPr>
          <p:cNvPr id="20" name="文字方塊 19">
            <a:extLst>
              <a:ext uri="{FF2B5EF4-FFF2-40B4-BE49-F238E27FC236}">
                <a16:creationId xmlns:a16="http://schemas.microsoft.com/office/drawing/2014/main" id="{FB11DA8A-8E36-4E48-AA38-4E3F156AC480}"/>
              </a:ext>
            </a:extLst>
          </p:cNvPr>
          <p:cNvSpPr txBox="1"/>
          <p:nvPr/>
        </p:nvSpPr>
        <p:spPr>
          <a:xfrm>
            <a:off x="4443818" y="3049653"/>
            <a:ext cx="4229978" cy="1631216"/>
          </a:xfrm>
          <a:prstGeom prst="rect">
            <a:avLst/>
          </a:prstGeom>
          <a:noFill/>
        </p:spPr>
        <p:txBody>
          <a:bodyPr wrap="square" rtlCol="0">
            <a:spAutoFit/>
          </a:bodyPr>
          <a:lstStyle/>
          <a:p>
            <a:r>
              <a:rPr lang="zh-TW" altLang="en-US" sz="2000" dirty="0">
                <a:solidFill>
                  <a:prstClr val="black"/>
                </a:solidFill>
                <a:latin typeface="微軟正黑體" pitchFamily="34" charset="-120"/>
                <a:ea typeface="微軟正黑體" pitchFamily="34" charset="-120"/>
              </a:rPr>
              <a:t>解決問題之</a:t>
            </a:r>
            <a:r>
              <a:rPr lang="zh-TW" altLang="en-US" sz="2800" b="1" dirty="0">
                <a:solidFill>
                  <a:srgbClr val="0000FF"/>
                </a:solidFill>
                <a:latin typeface="微軟正黑體" pitchFamily="34" charset="-120"/>
                <a:ea typeface="微軟正黑體" pitchFamily="34" charset="-120"/>
              </a:rPr>
              <a:t>技術手段</a:t>
            </a:r>
            <a:endParaRPr lang="en-US" altLang="zh-TW" sz="2800" b="1" dirty="0">
              <a:solidFill>
                <a:srgbClr val="0000FF"/>
              </a:solidFill>
              <a:latin typeface="微軟正黑體" pitchFamily="34" charset="-120"/>
              <a:ea typeface="微軟正黑體" pitchFamily="34" charset="-120"/>
            </a:endParaRPr>
          </a:p>
          <a:p>
            <a:pPr marL="742950" lvl="1" indent="-285750">
              <a:buFont typeface="Arial" panose="020B0604020202020204" pitchFamily="34" charset="0"/>
              <a:buChar char="•"/>
            </a:pPr>
            <a:r>
              <a:rPr lang="zh-TW" altLang="en-US" dirty="0">
                <a:latin typeface="微軟正黑體" pitchFamily="34" charset="-120"/>
                <a:ea typeface="微軟正黑體" pitchFamily="34" charset="-120"/>
              </a:rPr>
              <a:t>核心</a:t>
            </a:r>
            <a:endParaRPr lang="en-US" altLang="zh-TW" dirty="0">
              <a:latin typeface="微軟正黑體" pitchFamily="34" charset="-120"/>
              <a:ea typeface="微軟正黑體" pitchFamily="34" charset="-120"/>
            </a:endParaRPr>
          </a:p>
          <a:p>
            <a:pPr marL="1200150" lvl="2" indent="-285750">
              <a:buFont typeface="Wingdings" panose="05000000000000000000" pitchFamily="2" charset="2"/>
              <a:buChar char="ü"/>
            </a:pPr>
            <a:r>
              <a:rPr lang="zh-TW" altLang="en-US" dirty="0">
                <a:latin typeface="微軟正黑體" pitchFamily="34" charset="-120"/>
                <a:ea typeface="微軟正黑體" pitchFamily="34" charset="-120"/>
              </a:rPr>
              <a:t>實現申請專利之發明</a:t>
            </a:r>
            <a:endParaRPr lang="en-US" altLang="zh-TW" dirty="0">
              <a:latin typeface="微軟正黑體" pitchFamily="34" charset="-120"/>
              <a:ea typeface="微軟正黑體" pitchFamily="34" charset="-120"/>
            </a:endParaRPr>
          </a:p>
          <a:p>
            <a:pPr marL="1200150" lvl="2" indent="-285750">
              <a:buFont typeface="Wingdings" panose="05000000000000000000" pitchFamily="2" charset="2"/>
              <a:buChar char="ü"/>
            </a:pPr>
            <a:r>
              <a:rPr lang="zh-TW" altLang="en-US" dirty="0">
                <a:latin typeface="微軟正黑體" pitchFamily="34" charset="-120"/>
                <a:ea typeface="微軟正黑體" pitchFamily="34" charset="-120"/>
              </a:rPr>
              <a:t>揭露要件</a:t>
            </a:r>
            <a:endParaRPr lang="en-US" altLang="zh-TW" dirty="0">
              <a:latin typeface="微軟正黑體" pitchFamily="34" charset="-120"/>
              <a:ea typeface="微軟正黑體" pitchFamily="34" charset="-120"/>
            </a:endParaRPr>
          </a:p>
          <a:p>
            <a:pPr marL="742950" lvl="1" indent="-285750">
              <a:buFont typeface="Arial" panose="020B0604020202020204" pitchFamily="34" charset="0"/>
              <a:buChar char="•"/>
            </a:pPr>
            <a:r>
              <a:rPr lang="zh-TW" altLang="en-US" dirty="0">
                <a:latin typeface="微軟正黑體" pitchFamily="34" charset="-120"/>
                <a:ea typeface="微軟正黑體" pitchFamily="34" charset="-120"/>
              </a:rPr>
              <a:t>必要技術特徵及附加技術特徵</a:t>
            </a:r>
          </a:p>
        </p:txBody>
      </p:sp>
      <p:sp>
        <p:nvSpPr>
          <p:cNvPr id="21" name="文字方塊 20">
            <a:extLst>
              <a:ext uri="{FF2B5EF4-FFF2-40B4-BE49-F238E27FC236}">
                <a16:creationId xmlns:a16="http://schemas.microsoft.com/office/drawing/2014/main" id="{88188254-2158-4606-B693-5376533333F0}"/>
              </a:ext>
            </a:extLst>
          </p:cNvPr>
          <p:cNvSpPr txBox="1"/>
          <p:nvPr/>
        </p:nvSpPr>
        <p:spPr>
          <a:xfrm>
            <a:off x="4443818" y="4658513"/>
            <a:ext cx="2938150" cy="800219"/>
          </a:xfrm>
          <a:prstGeom prst="rect">
            <a:avLst/>
          </a:prstGeom>
          <a:noFill/>
        </p:spPr>
        <p:txBody>
          <a:bodyPr wrap="square" rtlCol="0">
            <a:spAutoFit/>
          </a:bodyPr>
          <a:lstStyle/>
          <a:p>
            <a:r>
              <a:rPr lang="zh-TW" altLang="en-US" sz="2000" dirty="0">
                <a:solidFill>
                  <a:prstClr val="black"/>
                </a:solidFill>
                <a:latin typeface="微軟正黑體" pitchFamily="34" charset="-120"/>
                <a:ea typeface="微軟正黑體" pitchFamily="34" charset="-120"/>
              </a:rPr>
              <a:t>對照先前技術之</a:t>
            </a:r>
            <a:r>
              <a:rPr lang="zh-TW" altLang="en-US" sz="2800" b="1" dirty="0">
                <a:solidFill>
                  <a:srgbClr val="3333FF"/>
                </a:solidFill>
                <a:latin typeface="微軟正黑體" pitchFamily="34" charset="-120"/>
                <a:ea typeface="微軟正黑體" pitchFamily="34" charset="-120"/>
              </a:rPr>
              <a:t>功效</a:t>
            </a:r>
            <a:endParaRPr lang="en-US" altLang="zh-TW" sz="2800" b="1" dirty="0">
              <a:solidFill>
                <a:srgbClr val="3333FF"/>
              </a:solidFill>
              <a:latin typeface="微軟正黑體" pitchFamily="34" charset="-120"/>
              <a:ea typeface="微軟正黑體" pitchFamily="34" charset="-120"/>
            </a:endParaRPr>
          </a:p>
          <a:p>
            <a:pPr marL="742950" lvl="1" indent="-285750">
              <a:buFont typeface="Arial" panose="020B0604020202020204" pitchFamily="34" charset="0"/>
              <a:buChar char="•"/>
            </a:pPr>
            <a:r>
              <a:rPr lang="zh-TW" altLang="en-US" dirty="0">
                <a:latin typeface="微軟正黑體" pitchFamily="34" charset="-120"/>
                <a:ea typeface="微軟正黑體" pitchFamily="34" charset="-120"/>
              </a:rPr>
              <a:t>有利功效</a:t>
            </a:r>
          </a:p>
        </p:txBody>
      </p:sp>
      <p:sp>
        <p:nvSpPr>
          <p:cNvPr id="23" name="文字方塊 22">
            <a:extLst>
              <a:ext uri="{FF2B5EF4-FFF2-40B4-BE49-F238E27FC236}">
                <a16:creationId xmlns:a16="http://schemas.microsoft.com/office/drawing/2014/main" id="{AB649A7E-F2CD-4730-9A81-5162B0137B77}"/>
              </a:ext>
            </a:extLst>
          </p:cNvPr>
          <p:cNvSpPr txBox="1"/>
          <p:nvPr/>
        </p:nvSpPr>
        <p:spPr>
          <a:xfrm>
            <a:off x="4514892" y="5573017"/>
            <a:ext cx="4139597" cy="701731"/>
          </a:xfrm>
          <a:prstGeom prst="rect">
            <a:avLst/>
          </a:prstGeom>
          <a:noFill/>
        </p:spPr>
        <p:txBody>
          <a:bodyPr wrap="square" rtlCol="0">
            <a:spAutoFit/>
          </a:bodyPr>
          <a:lstStyle/>
          <a:p>
            <a:pPr marL="342900" indent="-342900">
              <a:lnSpc>
                <a:spcPct val="110000"/>
              </a:lnSpc>
              <a:buFont typeface="微軟正黑體" panose="020B0604030504040204" pitchFamily="34" charset="-120"/>
              <a:buChar char="★"/>
            </a:pPr>
            <a:r>
              <a:rPr lang="zh-TW" altLang="en-US" dirty="0">
                <a:solidFill>
                  <a:prstClr val="black"/>
                </a:solidFill>
                <a:latin typeface="微軟正黑體" pitchFamily="34" charset="-120"/>
                <a:ea typeface="微軟正黑體" pitchFamily="34" charset="-120"/>
              </a:rPr>
              <a:t>綜合的形式記載即可、不用將</a:t>
            </a:r>
            <a:r>
              <a:rPr lang="zh-TW" altLang="zh-TW" dirty="0">
                <a:solidFill>
                  <a:prstClr val="black"/>
                </a:solidFill>
                <a:latin typeface="微軟正黑體" pitchFamily="34" charset="-120"/>
                <a:ea typeface="微軟正黑體" pitchFamily="34" charset="-120"/>
              </a:rPr>
              <a:t>問題、技術手段及功效三者分項記載</a:t>
            </a:r>
            <a:endParaRPr lang="zh-TW" altLang="en-US" dirty="0">
              <a:solidFill>
                <a:prstClr val="black"/>
              </a:solidFill>
              <a:latin typeface="微軟正黑體" pitchFamily="34" charset="-120"/>
              <a:ea typeface="微軟正黑體" pitchFamily="34" charset="-120"/>
            </a:endParaRPr>
          </a:p>
        </p:txBody>
      </p:sp>
      <p:grpSp>
        <p:nvGrpSpPr>
          <p:cNvPr id="3" name="群組 2"/>
          <p:cNvGrpSpPr/>
          <p:nvPr/>
        </p:nvGrpSpPr>
        <p:grpSpPr>
          <a:xfrm>
            <a:off x="64852" y="767567"/>
            <a:ext cx="4392488" cy="6071880"/>
            <a:chOff x="64852" y="767567"/>
            <a:chExt cx="4392488" cy="6071880"/>
          </a:xfrm>
        </p:grpSpPr>
        <p:pic>
          <p:nvPicPr>
            <p:cNvPr id="12"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7504" y="767567"/>
              <a:ext cx="4204028" cy="6071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3209" y="4409873"/>
              <a:ext cx="4315775" cy="4930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4852" y="4781306"/>
              <a:ext cx="4392488" cy="1533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矩形 16"/>
            <p:cNvSpPr/>
            <p:nvPr/>
          </p:nvSpPr>
          <p:spPr>
            <a:xfrm>
              <a:off x="179512" y="4409874"/>
              <a:ext cx="4132020" cy="19714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grpSp>
      <p:sp>
        <p:nvSpPr>
          <p:cNvPr id="24" name="矩形 23"/>
          <p:cNvSpPr/>
          <p:nvPr/>
        </p:nvSpPr>
        <p:spPr>
          <a:xfrm>
            <a:off x="4427984" y="908720"/>
            <a:ext cx="4572000" cy="646331"/>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zh-TW" altLang="en-US" dirty="0">
                <a:latin typeface="微軟正黑體" panose="020B0604030504040204" pitchFamily="34" charset="-120"/>
                <a:ea typeface="微軟正黑體" panose="020B0604030504040204" pitchFamily="34" charset="-120"/>
              </a:rPr>
              <a:t>發明內容包含三部分：發明所欲解決之</a:t>
            </a:r>
            <a:r>
              <a:rPr lang="zh-TW" altLang="en-US" b="1" u="sng" dirty="0">
                <a:latin typeface="微軟正黑體" panose="020B0604030504040204" pitchFamily="34" charset="-120"/>
                <a:ea typeface="微軟正黑體" panose="020B0604030504040204" pitchFamily="34" charset="-120"/>
              </a:rPr>
              <a:t>問題</a:t>
            </a:r>
            <a:r>
              <a:rPr lang="zh-TW" altLang="en-US" dirty="0">
                <a:latin typeface="微軟正黑體" panose="020B0604030504040204" pitchFamily="34" charset="-120"/>
                <a:ea typeface="微軟正黑體" panose="020B0604030504040204" pitchFamily="34" charset="-120"/>
              </a:rPr>
              <a:t>、解決問題之</a:t>
            </a:r>
            <a:r>
              <a:rPr lang="zh-TW" altLang="en-US" b="1" u="sng" dirty="0">
                <a:latin typeface="微軟正黑體" panose="020B0604030504040204" pitchFamily="34" charset="-120"/>
                <a:ea typeface="微軟正黑體" panose="020B0604030504040204" pitchFamily="34" charset="-120"/>
              </a:rPr>
              <a:t>技術手段</a:t>
            </a:r>
            <a:r>
              <a:rPr lang="zh-TW" altLang="en-US" dirty="0">
                <a:latin typeface="微軟正黑體" panose="020B0604030504040204" pitchFamily="34" charset="-120"/>
                <a:ea typeface="微軟正黑體" panose="020B0604030504040204" pitchFamily="34" charset="-120"/>
              </a:rPr>
              <a:t>及對照先前技術之</a:t>
            </a:r>
            <a:r>
              <a:rPr lang="zh-TW" altLang="en-US" b="1" u="sng" dirty="0">
                <a:latin typeface="微軟正黑體" panose="020B0604030504040204" pitchFamily="34" charset="-120"/>
                <a:ea typeface="微軟正黑體" panose="020B0604030504040204" pitchFamily="34" charset="-120"/>
              </a:rPr>
              <a:t>功效</a:t>
            </a:r>
          </a:p>
        </p:txBody>
      </p:sp>
    </p:spTree>
    <p:extLst>
      <p:ext uri="{BB962C8B-B14F-4D97-AF65-F5344CB8AC3E}">
        <p14:creationId xmlns:p14="http://schemas.microsoft.com/office/powerpoint/2010/main" val="40799188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8005" y="873333"/>
            <a:ext cx="4215984" cy="5984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pPr algn="l"/>
            <a:r>
              <a:rPr lang="zh-TW" altLang="en-US" dirty="0"/>
              <a:t>             說明書</a:t>
            </a:r>
            <a:r>
              <a:rPr lang="en-US" altLang="zh-TW" dirty="0"/>
              <a:t>(</a:t>
            </a:r>
            <a:r>
              <a:rPr lang="zh-TW" altLang="zh-TW" dirty="0"/>
              <a:t>圖式簡單說明</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58</a:t>
            </a:fld>
            <a:endParaRPr lang="zh-TW" altLang="en-US">
              <a:solidFill>
                <a:prstClr val="black">
                  <a:tint val="75000"/>
                </a:prstClr>
              </a:solidFill>
            </a:endParaRPr>
          </a:p>
        </p:txBody>
      </p:sp>
      <p:sp>
        <p:nvSpPr>
          <p:cNvPr id="14" name="矩形 13"/>
          <p:cNvSpPr/>
          <p:nvPr/>
        </p:nvSpPr>
        <p:spPr>
          <a:xfrm>
            <a:off x="323528" y="1833567"/>
            <a:ext cx="3672408" cy="32400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sp>
        <p:nvSpPr>
          <p:cNvPr id="12" name="矩形 11"/>
          <p:cNvSpPr/>
          <p:nvPr/>
        </p:nvSpPr>
        <p:spPr>
          <a:xfrm>
            <a:off x="4283968" y="1836817"/>
            <a:ext cx="4572000" cy="923330"/>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zh-TW" altLang="en-US" dirty="0">
                <a:latin typeface="微軟正黑體" panose="020B0604030504040204" pitchFamily="34" charset="-120"/>
                <a:ea typeface="微軟正黑體" panose="020B0604030504040204" pitchFamily="34" charset="-120"/>
              </a:rPr>
              <a:t>有圖式者，應以簡明之文字依圖式之圖號順序說明圖式；有多幅圖式者，應就所有圖式說明之</a:t>
            </a:r>
            <a:endParaRPr lang="zh-TW" altLang="en-US" b="1" u="sng"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2475846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8005" y="763262"/>
            <a:ext cx="4215984" cy="5984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r>
              <a:rPr lang="zh-TW" altLang="en-US" dirty="0"/>
              <a:t>說明書</a:t>
            </a:r>
            <a:r>
              <a:rPr lang="en-US" altLang="zh-TW" dirty="0"/>
              <a:t>(</a:t>
            </a:r>
            <a:r>
              <a:rPr lang="zh-TW" altLang="en-US" dirty="0"/>
              <a:t>實施方式</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59</a:t>
            </a:fld>
            <a:endParaRPr lang="zh-TW" altLang="en-US">
              <a:solidFill>
                <a:prstClr val="black">
                  <a:tint val="75000"/>
                </a:prstClr>
              </a:solidFill>
            </a:endParaRPr>
          </a:p>
        </p:txBody>
      </p:sp>
      <p:sp>
        <p:nvSpPr>
          <p:cNvPr id="15" name="矩形 14"/>
          <p:cNvSpPr/>
          <p:nvPr/>
        </p:nvSpPr>
        <p:spPr>
          <a:xfrm>
            <a:off x="323528" y="5090225"/>
            <a:ext cx="3600400" cy="11470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sp>
        <p:nvSpPr>
          <p:cNvPr id="16" name="矩形 15"/>
          <p:cNvSpPr/>
          <p:nvPr/>
        </p:nvSpPr>
        <p:spPr>
          <a:xfrm>
            <a:off x="113760" y="1844824"/>
            <a:ext cx="3954184" cy="1200329"/>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TW" altLang="en-US" sz="2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latin typeface="微軟正黑體" pitchFamily="34" charset="-120"/>
                <a:ea typeface="微軟正黑體" pitchFamily="34" charset="-120"/>
              </a:rPr>
              <a:t>在</a:t>
            </a:r>
            <a:r>
              <a:rPr lang="zh-TW" altLang="en-US" sz="2400" b="1" u="sng"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latin typeface="微軟正黑體" pitchFamily="34" charset="-120"/>
                <a:ea typeface="微軟正黑體" pitchFamily="34" charset="-120"/>
              </a:rPr>
              <a:t>無須過度實驗</a:t>
            </a:r>
            <a:r>
              <a:rPr lang="zh-TW" altLang="en-US" sz="24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latin typeface="微軟正黑體" pitchFamily="34" charset="-120"/>
                <a:ea typeface="微軟正黑體" pitchFamily="34" charset="-120"/>
              </a:rPr>
              <a:t>的情況下，即能瞭解申請專利之發明的內容並可據以實現</a:t>
            </a:r>
          </a:p>
        </p:txBody>
      </p:sp>
      <p:sp>
        <p:nvSpPr>
          <p:cNvPr id="19" name="矩形 18"/>
          <p:cNvSpPr/>
          <p:nvPr/>
        </p:nvSpPr>
        <p:spPr>
          <a:xfrm>
            <a:off x="4285538" y="913487"/>
            <a:ext cx="4750957" cy="1477328"/>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TW" altLang="en-US" b="1" u="sng" dirty="0">
                <a:latin typeface="微軟正黑體" panose="020B0604030504040204" pitchFamily="34" charset="-120"/>
                <a:ea typeface="微軟正黑體" panose="020B0604030504040204" pitchFamily="34" charset="-120"/>
              </a:rPr>
              <a:t>目的</a:t>
            </a:r>
            <a:r>
              <a:rPr lang="zh-TW" altLang="en-US" dirty="0">
                <a:latin typeface="微軟正黑體" panose="020B0604030504040204" pitchFamily="34" charset="-120"/>
                <a:ea typeface="微軟正黑體" panose="020B0604030504040204" pitchFamily="34" charset="-120"/>
              </a:rPr>
              <a:t>：實施方式（</a:t>
            </a:r>
            <a:r>
              <a:rPr lang="en-US" altLang="zh-TW" dirty="0">
                <a:latin typeface="微軟正黑體" panose="020B0604030504040204" pitchFamily="34" charset="-120"/>
                <a:ea typeface="微軟正黑體" panose="020B0604030504040204" pitchFamily="34" charset="-120"/>
              </a:rPr>
              <a:t>embodiments</a:t>
            </a:r>
            <a:r>
              <a:rPr lang="zh-TW" altLang="en-US" dirty="0">
                <a:latin typeface="微軟正黑體" panose="020B0604030504040204" pitchFamily="34" charset="-120"/>
                <a:ea typeface="微軟正黑體" panose="020B0604030504040204" pitchFamily="34" charset="-120"/>
              </a:rPr>
              <a:t>），係</a:t>
            </a:r>
            <a:r>
              <a:rPr lang="zh-TW" altLang="en-US" b="1" u="sng" dirty="0">
                <a:latin typeface="微軟正黑體" panose="020B0604030504040204" pitchFamily="34" charset="-120"/>
                <a:ea typeface="微軟正黑體" panose="020B0604030504040204" pitchFamily="34" charset="-120"/>
              </a:rPr>
              <a:t>申請專利之發明的詳細說明</a:t>
            </a:r>
            <a:r>
              <a:rPr lang="zh-TW" altLang="en-US" dirty="0">
                <a:latin typeface="微軟正黑體" panose="020B0604030504040204" pitchFamily="34" charset="-120"/>
                <a:ea typeface="微軟正黑體" panose="020B0604030504040204" pitchFamily="34" charset="-120"/>
              </a:rPr>
              <a:t>，為說明書的重要部分，對於明確且充分揭露、能瞭解及實現發明，以及對於支持及解釋請求項，均極為重要</a:t>
            </a:r>
            <a:endParaRPr lang="zh-TW" altLang="en-US" b="1" u="sng" dirty="0">
              <a:latin typeface="微軟正黑體" panose="020B0604030504040204" pitchFamily="34" charset="-120"/>
              <a:ea typeface="微軟正黑體" panose="020B0604030504040204" pitchFamily="34" charset="-120"/>
            </a:endParaRPr>
          </a:p>
        </p:txBody>
      </p:sp>
      <p:sp>
        <p:nvSpPr>
          <p:cNvPr id="23" name="矩形 22"/>
          <p:cNvSpPr/>
          <p:nvPr/>
        </p:nvSpPr>
        <p:spPr>
          <a:xfrm>
            <a:off x="4285537" y="2449480"/>
            <a:ext cx="4750957" cy="92333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應就申請人所認為</a:t>
            </a:r>
            <a:r>
              <a:rPr lang="zh-TW" altLang="en-US" b="1" u="sng" dirty="0">
                <a:latin typeface="微軟正黑體" panose="020B0604030504040204" pitchFamily="34" charset="-120"/>
                <a:ea typeface="微軟正黑體" panose="020B0604030504040204" pitchFamily="34" charset="-120"/>
              </a:rPr>
              <a:t>實現發明的較佳方式或具體實施例予以記載，以呈現解決問題所採用的技術手段</a:t>
            </a:r>
          </a:p>
        </p:txBody>
      </p:sp>
      <p:sp>
        <p:nvSpPr>
          <p:cNvPr id="6" name="矩形 5"/>
          <p:cNvSpPr/>
          <p:nvPr/>
        </p:nvSpPr>
        <p:spPr>
          <a:xfrm>
            <a:off x="4243988" y="3428999"/>
            <a:ext cx="4792506" cy="3139321"/>
          </a:xfrm>
          <a:prstGeom prst="rect">
            <a:avLst/>
          </a:prstGeom>
        </p:spPr>
        <p:txBody>
          <a:bodyPr wrap="square">
            <a:spAutoFit/>
          </a:bodyPr>
          <a:lstStyle/>
          <a:p>
            <a:pPr marL="285750" lvl="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應</a:t>
            </a:r>
            <a:r>
              <a:rPr lang="en-US" altLang="zh-TW" dirty="0">
                <a:latin typeface="微軟正黑體" panose="020B0604030504040204" pitchFamily="34" charset="-120"/>
                <a:ea typeface="微軟正黑體" panose="020B0604030504040204" pitchFamily="34" charset="-120"/>
              </a:rPr>
              <a:t>…</a:t>
            </a:r>
          </a:p>
          <a:p>
            <a:pPr marL="539750" lvl="1" indent="-285750">
              <a:buFont typeface="Wingdings" panose="05000000000000000000" pitchFamily="2" charset="2"/>
              <a:buChar char="ü"/>
            </a:pPr>
            <a:r>
              <a:rPr lang="zh-TW" altLang="zh-TW" dirty="0">
                <a:latin typeface="微軟正黑體" panose="020B0604030504040204" pitchFamily="34" charset="-120"/>
                <a:ea typeface="微軟正黑體" panose="020B0604030504040204" pitchFamily="34" charset="-120"/>
              </a:rPr>
              <a:t>記載一個以上發明之實施方式</a:t>
            </a:r>
            <a:endParaRPr lang="en-US" altLang="zh-TW" dirty="0">
              <a:latin typeface="微軟正黑體" panose="020B0604030504040204" pitchFamily="34" charset="-120"/>
              <a:ea typeface="微軟正黑體" panose="020B0604030504040204" pitchFamily="34" charset="-120"/>
            </a:endParaRPr>
          </a:p>
          <a:p>
            <a:pPr marL="539750" lvl="1" indent="-285750">
              <a:buFont typeface="Wingdings" panose="05000000000000000000" pitchFamily="2" charset="2"/>
              <a:buChar char="ü"/>
            </a:pPr>
            <a:r>
              <a:rPr lang="zh-TW" altLang="zh-TW" dirty="0">
                <a:solidFill>
                  <a:srgbClr val="0000FF"/>
                </a:solidFill>
                <a:latin typeface="微軟正黑體" panose="020B0604030504040204" pitchFamily="34" charset="-120"/>
                <a:ea typeface="微軟正黑體" panose="020B0604030504040204" pitchFamily="34" charset="-120"/>
              </a:rPr>
              <a:t>實施例是舉例說明較佳的具體實施方式</a:t>
            </a:r>
            <a:endParaRPr lang="en-US" altLang="zh-TW" dirty="0">
              <a:solidFill>
                <a:srgbClr val="0000FF"/>
              </a:solidFill>
              <a:latin typeface="微軟正黑體" panose="020B0604030504040204" pitchFamily="34" charset="-120"/>
              <a:ea typeface="微軟正黑體" panose="020B0604030504040204" pitchFamily="34" charset="-120"/>
            </a:endParaRPr>
          </a:p>
          <a:p>
            <a:pPr marL="285750" lvl="0" indent="-285750">
              <a:buFont typeface="Arial" panose="020B0604020202020204" pitchFamily="34" charset="0"/>
              <a:buChar char="•"/>
            </a:pPr>
            <a:r>
              <a:rPr lang="zh-TW" altLang="zh-TW" dirty="0">
                <a:latin typeface="微軟正黑體" panose="020B0604030504040204" pitchFamily="34" charset="-120"/>
                <a:ea typeface="微軟正黑體" panose="020B0604030504040204" pitchFamily="34" charset="-120"/>
              </a:rPr>
              <a:t>詳細記載</a:t>
            </a:r>
            <a:endParaRPr lang="en-US" altLang="zh-TW" dirty="0">
              <a:latin typeface="微軟正黑體" panose="020B0604030504040204" pitchFamily="34" charset="-120"/>
              <a:ea typeface="微軟正黑體" panose="020B0604030504040204" pitchFamily="34" charset="-120"/>
            </a:endParaRPr>
          </a:p>
          <a:p>
            <a:pPr marL="5397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申請專利範圍中所載之</a:t>
            </a:r>
            <a:r>
              <a:rPr lang="zh-TW" altLang="en-US" u="sng" dirty="0">
                <a:latin typeface="微軟正黑體" panose="020B0604030504040204" pitchFamily="34" charset="-120"/>
                <a:ea typeface="微軟正黑體" panose="020B0604030504040204" pitchFamily="34" charset="-120"/>
              </a:rPr>
              <a:t>必要技術特徵</a:t>
            </a:r>
            <a:endParaRPr lang="en-US" altLang="zh-TW" u="sng" dirty="0">
              <a:latin typeface="微軟正黑體" panose="020B0604030504040204" pitchFamily="34" charset="-120"/>
              <a:ea typeface="微軟正黑體" panose="020B0604030504040204" pitchFamily="34" charset="-120"/>
            </a:endParaRPr>
          </a:p>
          <a:p>
            <a:pPr marL="827088" lvl="2" indent="-285750">
              <a:buFont typeface="微軟正黑體" panose="020B0604030504040204" pitchFamily="34" charset="-120"/>
              <a:buChar char="★"/>
            </a:pPr>
            <a:r>
              <a:rPr lang="zh-TW" altLang="zh-TW" dirty="0">
                <a:latin typeface="微軟正黑體" panose="020B0604030504040204" pitchFamily="34" charset="-120"/>
                <a:ea typeface="微軟正黑體" panose="020B0604030504040204" pitchFamily="34" charset="-120"/>
              </a:rPr>
              <a:t>必要技術特徵</a:t>
            </a:r>
            <a:r>
              <a:rPr lang="zh-TW" altLang="en-US"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指申請專利之發明為</a:t>
            </a:r>
            <a:r>
              <a:rPr lang="zh-TW" altLang="zh-TW" b="1" dirty="0">
                <a:latin typeface="微軟正黑體" panose="020B0604030504040204" pitchFamily="34" charset="-120"/>
                <a:ea typeface="微軟正黑體" panose="020B0604030504040204" pitchFamily="34" charset="-120"/>
              </a:rPr>
              <a:t>解決問題所不可或缺的技術特徵</a:t>
            </a:r>
            <a:r>
              <a:rPr lang="zh-TW" altLang="zh-TW" dirty="0">
                <a:latin typeface="微軟正黑體" panose="020B0604030504040204" pitchFamily="34" charset="-120"/>
                <a:ea typeface="微軟正黑體" panose="020B0604030504040204" pitchFamily="34" charset="-120"/>
              </a:rPr>
              <a:t>，其整體構成發明的技術手段，係申請專利之發明與先前技術比對之基礎</a:t>
            </a:r>
            <a:r>
              <a:rPr lang="zh-TW" altLang="en-US" dirty="0">
                <a:latin typeface="微軟正黑體" panose="020B0604030504040204" pitchFamily="34" charset="-120"/>
                <a:ea typeface="微軟正黑體" panose="020B0604030504040204" pitchFamily="34" charset="-120"/>
              </a:rPr>
              <a:t>與先前技術</a:t>
            </a:r>
            <a:r>
              <a:rPr lang="zh-TW" altLang="en-US" u="sng" dirty="0">
                <a:latin typeface="微軟正黑體" panose="020B0604030504040204" pitchFamily="34" charset="-120"/>
                <a:ea typeface="微軟正黑體" panose="020B0604030504040204" pitchFamily="34" charset="-120"/>
              </a:rPr>
              <a:t>有區別的技術特徵</a:t>
            </a:r>
          </a:p>
          <a:p>
            <a:pPr marL="5397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附屬項中的</a:t>
            </a:r>
            <a:r>
              <a:rPr lang="zh-TW" altLang="en-US" u="sng" dirty="0">
                <a:latin typeface="微軟正黑體" panose="020B0604030504040204" pitchFamily="34" charset="-120"/>
                <a:ea typeface="微軟正黑體" panose="020B0604030504040204" pitchFamily="34" charset="-120"/>
              </a:rPr>
              <a:t>附加技術特徵</a:t>
            </a:r>
            <a:endParaRPr lang="en-US" altLang="zh-TW" u="sng"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459517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58568" y="836712"/>
            <a:ext cx="4197408" cy="5973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r>
              <a:rPr lang="zh-TW" altLang="en-US" dirty="0"/>
              <a:t>說明書</a:t>
            </a:r>
            <a:r>
              <a:rPr lang="en-US" altLang="zh-TW" dirty="0"/>
              <a:t>(</a:t>
            </a:r>
            <a:r>
              <a:rPr lang="zh-TW" altLang="zh-TW" dirty="0"/>
              <a:t>符號說明</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60</a:t>
            </a:fld>
            <a:endParaRPr lang="zh-TW" altLang="en-US">
              <a:solidFill>
                <a:prstClr val="black">
                  <a:tint val="75000"/>
                </a:prstClr>
              </a:solidFill>
            </a:endParaRPr>
          </a:p>
        </p:txBody>
      </p:sp>
      <p:sp>
        <p:nvSpPr>
          <p:cNvPr id="59" name="矩形 58"/>
          <p:cNvSpPr/>
          <p:nvPr/>
        </p:nvSpPr>
        <p:spPr>
          <a:xfrm>
            <a:off x="491128" y="3789040"/>
            <a:ext cx="3576815" cy="28803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sp>
        <p:nvSpPr>
          <p:cNvPr id="41" name="矩形 40"/>
          <p:cNvSpPr/>
          <p:nvPr/>
        </p:nvSpPr>
        <p:spPr>
          <a:xfrm>
            <a:off x="4285537" y="2449480"/>
            <a:ext cx="4750957"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有圖式者，應依圖式之圖號或符號順序列出圖式之主要符號並加以說明。</a:t>
            </a:r>
            <a:endParaRPr lang="zh-TW" altLang="en-US" b="1" u="sng"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2225109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504" y="0"/>
            <a:ext cx="8764737" cy="778098"/>
          </a:xfrm>
        </p:spPr>
        <p:txBody>
          <a:bodyPr/>
          <a:lstStyle/>
          <a:p>
            <a:r>
              <a:rPr lang="zh-TW" altLang="en-US" dirty="0"/>
              <a:t>說明書的記載原則</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61</a:t>
            </a:fld>
            <a:endParaRPr lang="zh-TW" altLang="en-US">
              <a:solidFill>
                <a:prstClr val="black">
                  <a:tint val="75000"/>
                </a:prstClr>
              </a:solidFill>
            </a:endParaRPr>
          </a:p>
        </p:txBody>
      </p:sp>
      <p:sp>
        <p:nvSpPr>
          <p:cNvPr id="7" name="矩形 6"/>
          <p:cNvSpPr/>
          <p:nvPr/>
        </p:nvSpPr>
        <p:spPr>
          <a:xfrm>
            <a:off x="347240" y="1392709"/>
            <a:ext cx="3312368" cy="492443"/>
          </a:xfrm>
          <a:prstGeom prst="rect">
            <a:avLst/>
          </a:prstGeom>
        </p:spPr>
        <p:txBody>
          <a:bodyPr wrap="square">
            <a:spAutoFit/>
          </a:bodyPr>
          <a:lstStyle/>
          <a:p>
            <a:r>
              <a:rPr lang="zh-TW" altLang="en-US"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rPr>
              <a:t>明確</a:t>
            </a:r>
            <a:r>
              <a:rPr lang="en-US" altLang="zh-TW"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rPr>
              <a:t>…</a:t>
            </a:r>
            <a:endParaRPr lang="zh-TW" altLang="en-US"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endParaRPr>
          </a:p>
        </p:txBody>
      </p:sp>
      <p:sp>
        <p:nvSpPr>
          <p:cNvPr id="14" name="矩形 13"/>
          <p:cNvSpPr/>
          <p:nvPr/>
        </p:nvSpPr>
        <p:spPr>
          <a:xfrm>
            <a:off x="100601" y="3120839"/>
            <a:ext cx="3312368" cy="492443"/>
          </a:xfrm>
          <a:prstGeom prst="rect">
            <a:avLst/>
          </a:prstGeom>
        </p:spPr>
        <p:txBody>
          <a:bodyPr wrap="square">
            <a:spAutoFit/>
          </a:bodyPr>
          <a:lstStyle/>
          <a:p>
            <a:r>
              <a:rPr lang="zh-TW" altLang="en-US"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rPr>
              <a:t>充分揭露</a:t>
            </a:r>
            <a:r>
              <a:rPr lang="en-US" altLang="zh-TW"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rPr>
              <a:t>…</a:t>
            </a:r>
            <a:endParaRPr lang="zh-TW" altLang="en-US"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endParaRPr>
          </a:p>
        </p:txBody>
      </p:sp>
      <p:sp>
        <p:nvSpPr>
          <p:cNvPr id="35" name="矩形 34"/>
          <p:cNvSpPr/>
          <p:nvPr/>
        </p:nvSpPr>
        <p:spPr>
          <a:xfrm>
            <a:off x="102069" y="4932381"/>
            <a:ext cx="3312368" cy="492443"/>
          </a:xfrm>
          <a:prstGeom prst="rect">
            <a:avLst/>
          </a:prstGeom>
        </p:spPr>
        <p:txBody>
          <a:bodyPr wrap="square">
            <a:spAutoFit/>
          </a:bodyPr>
          <a:lstStyle/>
          <a:p>
            <a:r>
              <a:rPr lang="zh-TW" altLang="en-US"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rPr>
              <a:t>可據以實現</a:t>
            </a:r>
            <a:r>
              <a:rPr lang="en-US" altLang="zh-TW"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rPr>
              <a:t>…</a:t>
            </a:r>
            <a:endParaRPr lang="zh-TW" altLang="en-US"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endParaRPr>
          </a:p>
        </p:txBody>
      </p:sp>
      <p:sp>
        <p:nvSpPr>
          <p:cNvPr id="53" name="加號 52"/>
          <p:cNvSpPr/>
          <p:nvPr/>
        </p:nvSpPr>
        <p:spPr>
          <a:xfrm>
            <a:off x="606123" y="2165006"/>
            <a:ext cx="576017" cy="60586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sp>
        <p:nvSpPr>
          <p:cNvPr id="33" name="等於 32"/>
          <p:cNvSpPr/>
          <p:nvPr/>
        </p:nvSpPr>
        <p:spPr>
          <a:xfrm rot="5400000">
            <a:off x="582343" y="5424709"/>
            <a:ext cx="681401" cy="676875"/>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black"/>
              </a:solidFill>
            </a:endParaRPr>
          </a:p>
        </p:txBody>
      </p:sp>
      <p:sp>
        <p:nvSpPr>
          <p:cNvPr id="56" name="矩形 55"/>
          <p:cNvSpPr/>
          <p:nvPr/>
        </p:nvSpPr>
        <p:spPr>
          <a:xfrm>
            <a:off x="8372" y="6110387"/>
            <a:ext cx="3079547" cy="523220"/>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TW" altLang="en-US" sz="2800"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latin typeface="微軟正黑體" pitchFamily="34" charset="-120"/>
                <a:ea typeface="微軟正黑體" pitchFamily="34" charset="-120"/>
              </a:rPr>
              <a:t>可據以實現要件</a:t>
            </a:r>
          </a:p>
        </p:txBody>
      </p:sp>
      <p:sp>
        <p:nvSpPr>
          <p:cNvPr id="13" name="文字方塊 12"/>
          <p:cNvSpPr txBox="1"/>
          <p:nvPr/>
        </p:nvSpPr>
        <p:spPr>
          <a:xfrm>
            <a:off x="6084168" y="1426060"/>
            <a:ext cx="2816925" cy="369332"/>
          </a:xfrm>
          <a:prstGeom prst="rect">
            <a:avLst/>
          </a:prstGeom>
          <a:noFill/>
        </p:spPr>
        <p:txBody>
          <a:bodyPr wrap="square" rtlCol="0">
            <a:spAutoFit/>
          </a:bodyPr>
          <a:lstStyle/>
          <a:p>
            <a:r>
              <a:rPr lang="zh-TW" altLang="en-US" b="1" dirty="0">
                <a:solidFill>
                  <a:srgbClr val="0099FF"/>
                </a:solidFill>
                <a:latin typeface="微軟正黑體" pitchFamily="34" charset="-120"/>
                <a:ea typeface="微軟正黑體" pitchFamily="34" charset="-120"/>
              </a:rPr>
              <a:t>用語明確且與符號應一致</a:t>
            </a:r>
          </a:p>
        </p:txBody>
      </p:sp>
      <p:sp>
        <p:nvSpPr>
          <p:cNvPr id="6" name="向下箭號 5"/>
          <p:cNvSpPr/>
          <p:nvPr/>
        </p:nvSpPr>
        <p:spPr>
          <a:xfrm>
            <a:off x="644845" y="3953408"/>
            <a:ext cx="498572" cy="555949"/>
          </a:xfrm>
          <a:prstGeom prst="downArrow">
            <a:avLst>
              <a:gd name="adj1" fmla="val 50000"/>
              <a:gd name="adj2" fmla="val 5193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p:cNvSpPr/>
          <p:nvPr/>
        </p:nvSpPr>
        <p:spPr>
          <a:xfrm>
            <a:off x="2003424" y="1369421"/>
            <a:ext cx="936059" cy="461665"/>
          </a:xfrm>
          <a:prstGeom prst="rect">
            <a:avLst/>
          </a:prstGeom>
          <a:noFill/>
        </p:spPr>
        <p:txBody>
          <a:bodyPr wrap="square" lIns="91440" tIns="45720" rIns="91440" bIns="45720">
            <a:spAutoFit/>
          </a:bodyPr>
          <a:lstStyle/>
          <a:p>
            <a:pPr algn="ctr"/>
            <a:r>
              <a:rPr lang="zh-TW" altLang="en-US" sz="2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問題</a:t>
            </a:r>
            <a:endParaRPr lang="zh-TW" altLang="en-US" sz="2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p:txBody>
      </p:sp>
      <p:sp>
        <p:nvSpPr>
          <p:cNvPr id="15" name="矩形 14"/>
          <p:cNvSpPr/>
          <p:nvPr/>
        </p:nvSpPr>
        <p:spPr>
          <a:xfrm>
            <a:off x="3255713" y="1369421"/>
            <a:ext cx="1415773" cy="461665"/>
          </a:xfrm>
          <a:prstGeom prst="rect">
            <a:avLst/>
          </a:prstGeom>
          <a:noFill/>
        </p:spPr>
        <p:txBody>
          <a:bodyPr wrap="none" lIns="91440" tIns="45720" rIns="91440" bIns="45720">
            <a:spAutoFit/>
          </a:bodyPr>
          <a:lstStyle/>
          <a:p>
            <a:pPr algn="ctr"/>
            <a:r>
              <a:rPr lang="zh-TW" altLang="en-US"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技術手段</a:t>
            </a:r>
          </a:p>
        </p:txBody>
      </p:sp>
      <p:sp>
        <p:nvSpPr>
          <p:cNvPr id="16" name="矩形 15"/>
          <p:cNvSpPr/>
          <p:nvPr/>
        </p:nvSpPr>
        <p:spPr>
          <a:xfrm>
            <a:off x="5029994" y="1355039"/>
            <a:ext cx="813043" cy="461665"/>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TW" alt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功效</a:t>
            </a:r>
            <a:endParaRPr lang="zh-TW" altLang="en-US" sz="2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19" name="群組 18"/>
          <p:cNvGrpSpPr/>
          <p:nvPr/>
        </p:nvGrpSpPr>
        <p:grpSpPr>
          <a:xfrm>
            <a:off x="2003424" y="2742594"/>
            <a:ext cx="6745040" cy="1306197"/>
            <a:chOff x="2003424" y="2770875"/>
            <a:chExt cx="5104386" cy="1306197"/>
          </a:xfrm>
        </p:grpSpPr>
        <p:sp>
          <p:nvSpPr>
            <p:cNvPr id="17" name="矩形 16"/>
            <p:cNvSpPr/>
            <p:nvPr/>
          </p:nvSpPr>
          <p:spPr>
            <a:xfrm>
              <a:off x="2003424" y="2770875"/>
              <a:ext cx="5104386" cy="130619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文字方塊 17"/>
            <p:cNvSpPr txBox="1"/>
            <p:nvPr/>
          </p:nvSpPr>
          <p:spPr>
            <a:xfrm>
              <a:off x="2063127" y="2821923"/>
              <a:ext cx="1620000" cy="1200329"/>
            </a:xfrm>
            <a:prstGeom prst="rect">
              <a:avLst/>
            </a:prstGeom>
            <a:noFill/>
            <a:ln>
              <a:solidFill>
                <a:srgbClr val="C00000"/>
              </a:solidFill>
            </a:ln>
          </p:spPr>
          <p:txBody>
            <a:bodyPr wrap="square" rtlCol="0">
              <a:spAutoFit/>
            </a:bodyPr>
            <a:lstStyle/>
            <a:p>
              <a:r>
                <a:rPr lang="zh-TW" altLang="en-US" dirty="0"/>
                <a:t>技術領域</a:t>
              </a:r>
              <a:endParaRPr lang="en-US" altLang="zh-TW" dirty="0"/>
            </a:p>
            <a:p>
              <a:r>
                <a:rPr lang="zh-TW" altLang="en-US" dirty="0"/>
                <a:t>先前技術</a:t>
              </a:r>
              <a:endParaRPr lang="en-US" altLang="zh-TW" dirty="0"/>
            </a:p>
            <a:p>
              <a:r>
                <a:rPr lang="zh-TW" altLang="en-US" dirty="0"/>
                <a:t>圖式</a:t>
              </a:r>
              <a:endParaRPr lang="en-US" altLang="zh-TW" dirty="0"/>
            </a:p>
            <a:p>
              <a:r>
                <a:rPr lang="zh-TW" altLang="en-US" dirty="0"/>
                <a:t>圖式簡單說明</a:t>
              </a:r>
            </a:p>
          </p:txBody>
        </p:sp>
        <p:sp>
          <p:nvSpPr>
            <p:cNvPr id="40" name="文字方塊 39"/>
            <p:cNvSpPr txBox="1"/>
            <p:nvPr/>
          </p:nvSpPr>
          <p:spPr>
            <a:xfrm>
              <a:off x="3740508" y="2821923"/>
              <a:ext cx="1620000" cy="1200329"/>
            </a:xfrm>
            <a:prstGeom prst="rect">
              <a:avLst/>
            </a:prstGeom>
            <a:noFill/>
            <a:ln>
              <a:solidFill>
                <a:srgbClr val="C00000"/>
              </a:solidFill>
            </a:ln>
          </p:spPr>
          <p:txBody>
            <a:bodyPr wrap="square" rtlCol="0">
              <a:spAutoFit/>
            </a:bodyPr>
            <a:lstStyle/>
            <a:p>
              <a:r>
                <a:rPr lang="zh-TW" altLang="en-US" dirty="0"/>
                <a:t>問題</a:t>
              </a:r>
              <a:endParaRPr lang="en-US" altLang="zh-TW" dirty="0"/>
            </a:p>
            <a:p>
              <a:r>
                <a:rPr lang="zh-TW" altLang="en-US" dirty="0"/>
                <a:t>技術手段</a:t>
              </a:r>
              <a:endParaRPr lang="en-US" altLang="zh-TW" dirty="0"/>
            </a:p>
            <a:p>
              <a:r>
                <a:rPr lang="zh-TW" altLang="en-US" dirty="0"/>
                <a:t>功效</a:t>
              </a:r>
              <a:endParaRPr lang="en-US" altLang="zh-TW" dirty="0"/>
            </a:p>
            <a:p>
              <a:endParaRPr lang="zh-TW" altLang="en-US" dirty="0"/>
            </a:p>
          </p:txBody>
        </p:sp>
        <p:sp>
          <p:nvSpPr>
            <p:cNvPr id="41" name="文字方塊 40"/>
            <p:cNvSpPr txBox="1"/>
            <p:nvPr/>
          </p:nvSpPr>
          <p:spPr>
            <a:xfrm>
              <a:off x="5436516" y="2821922"/>
              <a:ext cx="1620000" cy="1200329"/>
            </a:xfrm>
            <a:prstGeom prst="rect">
              <a:avLst/>
            </a:prstGeom>
            <a:noFill/>
            <a:ln>
              <a:solidFill>
                <a:srgbClr val="C00000"/>
              </a:solidFill>
            </a:ln>
          </p:spPr>
          <p:txBody>
            <a:bodyPr wrap="square" rtlCol="0">
              <a:spAutoFit/>
            </a:bodyPr>
            <a:lstStyle/>
            <a:p>
              <a:r>
                <a:rPr lang="zh-TW" altLang="en-US" dirty="0"/>
                <a:t>實施方式</a:t>
              </a:r>
              <a:endParaRPr lang="en-US" altLang="zh-TW" dirty="0"/>
            </a:p>
            <a:p>
              <a:endParaRPr lang="en-US" altLang="zh-TW" dirty="0"/>
            </a:p>
            <a:p>
              <a:endParaRPr lang="en-US" altLang="zh-TW" dirty="0"/>
            </a:p>
            <a:p>
              <a:endParaRPr lang="zh-TW" altLang="en-US" dirty="0"/>
            </a:p>
          </p:txBody>
        </p:sp>
      </p:grpSp>
      <p:sp>
        <p:nvSpPr>
          <p:cNvPr id="21" name="矩形 20"/>
          <p:cNvSpPr/>
          <p:nvPr/>
        </p:nvSpPr>
        <p:spPr>
          <a:xfrm>
            <a:off x="2398774" y="4917062"/>
            <a:ext cx="2031325" cy="461665"/>
          </a:xfrm>
          <a:prstGeom prst="rect">
            <a:avLst/>
          </a:prstGeom>
          <a:noFill/>
        </p:spPr>
        <p:txBody>
          <a:bodyPr wrap="none" lIns="91440" tIns="45720" rIns="91440" bIns="45720">
            <a:spAutoFit/>
          </a:bodyPr>
          <a:lstStyle/>
          <a:p>
            <a:pPr algn="ctr"/>
            <a:r>
              <a:rPr lang="zh-TW" altLang="en-US"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無須過度實驗</a:t>
            </a:r>
          </a:p>
        </p:txBody>
      </p:sp>
      <p:graphicFrame>
        <p:nvGraphicFramePr>
          <p:cNvPr id="22" name="資料庫圖表 21"/>
          <p:cNvGraphicFramePr/>
          <p:nvPr/>
        </p:nvGraphicFramePr>
        <p:xfrm>
          <a:off x="4576292" y="4048791"/>
          <a:ext cx="3960440" cy="2584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橢圓 7"/>
          <p:cNvSpPr/>
          <p:nvPr/>
        </p:nvSpPr>
        <p:spPr>
          <a:xfrm>
            <a:off x="2003424" y="1196752"/>
            <a:ext cx="3936728" cy="7920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p:cNvSpPr txBox="1"/>
          <p:nvPr/>
        </p:nvSpPr>
        <p:spPr>
          <a:xfrm>
            <a:off x="1992861" y="2367676"/>
            <a:ext cx="2230157" cy="33855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TW" altLang="en-US" sz="1600" dirty="0">
                <a:latin typeface="微軟正黑體" panose="020B0604030504040204" pitchFamily="34" charset="-120"/>
                <a:ea typeface="微軟正黑體" panose="020B0604030504040204" pitchFamily="34" charset="-120"/>
              </a:rPr>
              <a:t>瞭解發明所需的內容</a:t>
            </a:r>
          </a:p>
        </p:txBody>
      </p:sp>
      <p:sp>
        <p:nvSpPr>
          <p:cNvPr id="27" name="文字方塊 26"/>
          <p:cNvSpPr txBox="1"/>
          <p:nvPr/>
        </p:nvSpPr>
        <p:spPr>
          <a:xfrm>
            <a:off x="4312786" y="2132744"/>
            <a:ext cx="2126757" cy="58477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TW" altLang="en-US" sz="1600" dirty="0">
                <a:latin typeface="微軟正黑體" panose="020B0604030504040204" pitchFamily="34" charset="-120"/>
                <a:ea typeface="微軟正黑體" panose="020B0604030504040204" pitchFamily="34" charset="-120"/>
              </a:rPr>
              <a:t>判斷發明是否具專利</a:t>
            </a:r>
            <a:endParaRPr lang="en-US" altLang="zh-TW" sz="1600" dirty="0">
              <a:latin typeface="微軟正黑體" panose="020B0604030504040204" pitchFamily="34" charset="-120"/>
              <a:ea typeface="微軟正黑體" panose="020B0604030504040204" pitchFamily="34" charset="-120"/>
            </a:endParaRPr>
          </a:p>
          <a:p>
            <a:r>
              <a:rPr lang="zh-TW" altLang="en-US" sz="1600" dirty="0">
                <a:latin typeface="微軟正黑體" panose="020B0604030504040204" pitchFamily="34" charset="-120"/>
                <a:ea typeface="微軟正黑體" panose="020B0604030504040204" pitchFamily="34" charset="-120"/>
              </a:rPr>
              <a:t>要件所需內容</a:t>
            </a:r>
          </a:p>
        </p:txBody>
      </p:sp>
      <p:sp>
        <p:nvSpPr>
          <p:cNvPr id="28" name="文字方塊 27"/>
          <p:cNvSpPr txBox="1"/>
          <p:nvPr/>
        </p:nvSpPr>
        <p:spPr>
          <a:xfrm>
            <a:off x="6539982" y="2298663"/>
            <a:ext cx="2126839" cy="33855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TW" altLang="en-US" sz="1600" dirty="0">
                <a:latin typeface="微軟正黑體" panose="020B0604030504040204" pitchFamily="34" charset="-120"/>
                <a:ea typeface="微軟正黑體" panose="020B0604030504040204" pitchFamily="34" charset="-120"/>
              </a:rPr>
              <a:t>實施發明所需的內容</a:t>
            </a:r>
          </a:p>
        </p:txBody>
      </p:sp>
    </p:spTree>
    <p:extLst>
      <p:ext uri="{BB962C8B-B14F-4D97-AF65-F5344CB8AC3E}">
        <p14:creationId xmlns:p14="http://schemas.microsoft.com/office/powerpoint/2010/main" val="23113572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13FF7E-0971-466F-9D50-F0BDF8D553A2}"/>
              </a:ext>
            </a:extLst>
          </p:cNvPr>
          <p:cNvSpPr>
            <a:spLocks noGrp="1"/>
          </p:cNvSpPr>
          <p:nvPr>
            <p:ph type="title"/>
          </p:nvPr>
        </p:nvSpPr>
        <p:spPr/>
        <p:txBody>
          <a:bodyPr/>
          <a:lstStyle/>
          <a:p>
            <a:r>
              <a:rPr lang="zh-TW" altLang="en-US" dirty="0"/>
              <a:t>可據以實現</a:t>
            </a:r>
          </a:p>
        </p:txBody>
      </p:sp>
      <p:sp>
        <p:nvSpPr>
          <p:cNvPr id="4" name="投影片編號版面配置區 3">
            <a:extLst>
              <a:ext uri="{FF2B5EF4-FFF2-40B4-BE49-F238E27FC236}">
                <a16:creationId xmlns:a16="http://schemas.microsoft.com/office/drawing/2014/main" id="{F7AB2522-D801-46EA-8F8B-F123C8CB76E7}"/>
              </a:ext>
            </a:extLst>
          </p:cNvPr>
          <p:cNvSpPr>
            <a:spLocks noGrp="1"/>
          </p:cNvSpPr>
          <p:nvPr>
            <p:ph type="sldNum" sz="quarter" idx="12"/>
          </p:nvPr>
        </p:nvSpPr>
        <p:spPr/>
        <p:txBody>
          <a:bodyPr/>
          <a:lstStyle/>
          <a:p>
            <a:fld id="{51D2D507-09EA-4C6F-96ED-053C801F8797}" type="slidenum">
              <a:rPr lang="zh-TW" altLang="en-US" smtClean="0"/>
              <a:t>62</a:t>
            </a:fld>
            <a:endParaRPr lang="zh-TW" altLang="en-US"/>
          </a:p>
        </p:txBody>
      </p:sp>
      <p:sp>
        <p:nvSpPr>
          <p:cNvPr id="5" name="文字方塊 4">
            <a:extLst>
              <a:ext uri="{FF2B5EF4-FFF2-40B4-BE49-F238E27FC236}">
                <a16:creationId xmlns:a16="http://schemas.microsoft.com/office/drawing/2014/main" id="{2AC6697A-6E5A-4474-968B-651D8D1E8AEF}"/>
              </a:ext>
            </a:extLst>
          </p:cNvPr>
          <p:cNvSpPr txBox="1"/>
          <p:nvPr/>
        </p:nvSpPr>
        <p:spPr>
          <a:xfrm>
            <a:off x="251521" y="980728"/>
            <a:ext cx="8712968"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1438275" indent="-1438275"/>
            <a:r>
              <a:rPr lang="zh-TW" altLang="en-US" dirty="0">
                <a:latin typeface="微軟正黑體" panose="020B0604030504040204" pitchFamily="34" charset="-120"/>
                <a:ea typeface="微軟正黑體" panose="020B0604030504040204" pitchFamily="34" charset="-120"/>
              </a:rPr>
              <a:t>專利法</a:t>
            </a:r>
            <a:r>
              <a:rPr lang="en-US" altLang="zh-TW" dirty="0">
                <a:latin typeface="微軟正黑體" panose="020B0604030504040204" pitchFamily="34" charset="-120"/>
                <a:ea typeface="微軟正黑體" panose="020B0604030504040204" pitchFamily="34" charset="-120"/>
              </a:rPr>
              <a:t>26-1</a:t>
            </a:r>
            <a:r>
              <a:rPr lang="zh-TW" altLang="en-US" dirty="0">
                <a:latin typeface="微軟正黑體" panose="020B0604030504040204" pitchFamily="34" charset="-120"/>
                <a:ea typeface="微軟正黑體" panose="020B0604030504040204" pitchFamily="34" charset="-120"/>
              </a:rPr>
              <a:t>：說明書應明確且充分揭露，使該發明所屬技術領域中具有通常知識者，能瞭解其內容，並可據以實現。</a:t>
            </a:r>
          </a:p>
        </p:txBody>
      </p:sp>
      <p:sp>
        <p:nvSpPr>
          <p:cNvPr id="7" name="文字方塊 6">
            <a:extLst>
              <a:ext uri="{FF2B5EF4-FFF2-40B4-BE49-F238E27FC236}">
                <a16:creationId xmlns:a16="http://schemas.microsoft.com/office/drawing/2014/main" id="{14D558CC-1D0C-489E-BC26-B845E9A2E3D0}"/>
              </a:ext>
            </a:extLst>
          </p:cNvPr>
          <p:cNvSpPr txBox="1"/>
          <p:nvPr/>
        </p:nvSpPr>
        <p:spPr>
          <a:xfrm>
            <a:off x="230932" y="1828622"/>
            <a:ext cx="8712967" cy="1200329"/>
          </a:xfrm>
          <a:prstGeom prst="rect">
            <a:avLst/>
          </a:prstGeom>
          <a:noFill/>
        </p:spPr>
        <p:txBody>
          <a:bodyPr wrap="square">
            <a:spAutoFit/>
          </a:bodyPr>
          <a:lstStyle/>
          <a:p>
            <a:r>
              <a:rPr lang="zh-TW" altLang="en-US" dirty="0">
                <a:latin typeface="微軟正黑體" panose="020B0604030504040204" pitchFamily="34" charset="-120"/>
                <a:ea typeface="微軟正黑體" panose="020B0604030504040204" pitchFamily="34" charset="-120"/>
              </a:rPr>
              <a:t>說明書應明確且充分記載申請專利之發明，記載之用語亦應明確，使該發明所屬技術領域中具有通常知識者，在說明書、申請專利範圍及圖式三者整體之基礎上，參酌申請時之通常知識，</a:t>
            </a:r>
            <a:r>
              <a:rPr lang="zh-TW" altLang="en-US" b="1" u="sng" dirty="0">
                <a:latin typeface="微軟正黑體" panose="020B0604030504040204" pitchFamily="34" charset="-120"/>
                <a:ea typeface="微軟正黑體" panose="020B0604030504040204" pitchFamily="34" charset="-120"/>
              </a:rPr>
              <a:t>無須過度實驗</a:t>
            </a:r>
            <a:r>
              <a:rPr lang="zh-TW" altLang="en-US" dirty="0">
                <a:latin typeface="微軟正黑體" panose="020B0604030504040204" pitchFamily="34" charset="-120"/>
                <a:ea typeface="微軟正黑體" panose="020B0604030504040204" pitchFamily="34" charset="-120"/>
              </a:rPr>
              <a:t>，即能瞭解其內容，</a:t>
            </a:r>
            <a:r>
              <a:rPr lang="zh-TW" altLang="en-US" b="1" u="sng" dirty="0">
                <a:latin typeface="微軟正黑體" panose="020B0604030504040204" pitchFamily="34" charset="-120"/>
                <a:ea typeface="微軟正黑體" panose="020B0604030504040204" pitchFamily="34" charset="-120"/>
              </a:rPr>
              <a:t>據以製造及使用</a:t>
            </a:r>
            <a:r>
              <a:rPr lang="zh-TW" altLang="en-US" dirty="0">
                <a:latin typeface="微軟正黑體" panose="020B0604030504040204" pitchFamily="34" charset="-120"/>
                <a:ea typeface="微軟正黑體" panose="020B0604030504040204" pitchFamily="34" charset="-120"/>
              </a:rPr>
              <a:t>申請專利之發明，解決問題，並且產生預期的功效</a:t>
            </a:r>
          </a:p>
        </p:txBody>
      </p:sp>
      <p:sp>
        <p:nvSpPr>
          <p:cNvPr id="9" name="文字方塊 8">
            <a:extLst>
              <a:ext uri="{FF2B5EF4-FFF2-40B4-BE49-F238E27FC236}">
                <a16:creationId xmlns:a16="http://schemas.microsoft.com/office/drawing/2014/main" id="{B73C82B5-D7AB-49A2-B610-F7E6983E3BC9}"/>
              </a:ext>
            </a:extLst>
          </p:cNvPr>
          <p:cNvSpPr txBox="1"/>
          <p:nvPr/>
        </p:nvSpPr>
        <p:spPr>
          <a:xfrm>
            <a:off x="251520" y="3159626"/>
            <a:ext cx="4576762" cy="369332"/>
          </a:xfrm>
          <a:prstGeom prst="rect">
            <a:avLst/>
          </a:prstGeom>
          <a:noFill/>
        </p:spPr>
        <p:txBody>
          <a:bodyPr wrap="square">
            <a:spAutoFit/>
          </a:bodyPr>
          <a:lstStyle/>
          <a:p>
            <a:r>
              <a:rPr lang="zh-TW" altLang="en-US" dirty="0"/>
              <a:t>是否必須過度實驗，至少應考量下列因素：</a:t>
            </a:r>
          </a:p>
        </p:txBody>
      </p:sp>
      <p:sp>
        <p:nvSpPr>
          <p:cNvPr id="11" name="文字方塊 10">
            <a:extLst>
              <a:ext uri="{FF2B5EF4-FFF2-40B4-BE49-F238E27FC236}">
                <a16:creationId xmlns:a16="http://schemas.microsoft.com/office/drawing/2014/main" id="{E1B52785-2EED-4197-BFC7-3735A59BE65B}"/>
              </a:ext>
            </a:extLst>
          </p:cNvPr>
          <p:cNvSpPr txBox="1"/>
          <p:nvPr/>
        </p:nvSpPr>
        <p:spPr>
          <a:xfrm>
            <a:off x="251520" y="3513708"/>
            <a:ext cx="8640959" cy="2308324"/>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申請專利範圍的</a:t>
            </a:r>
            <a:r>
              <a:rPr lang="zh-TW" altLang="en-US" u="sng" dirty="0">
                <a:latin typeface="微軟正黑體" panose="020B0604030504040204" pitchFamily="34" charset="-120"/>
                <a:ea typeface="微軟正黑體" panose="020B0604030504040204" pitchFamily="34" charset="-120"/>
              </a:rPr>
              <a:t>廣度</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申請專利之發明的</a:t>
            </a:r>
            <a:r>
              <a:rPr lang="zh-TW" altLang="en-US" u="sng" dirty="0">
                <a:latin typeface="微軟正黑體" panose="020B0604030504040204" pitchFamily="34" charset="-120"/>
                <a:ea typeface="微軟正黑體" panose="020B0604030504040204" pitchFamily="34" charset="-120"/>
              </a:rPr>
              <a:t>本質</a:t>
            </a:r>
            <a:r>
              <a:rPr lang="zh-TW" altLang="en-US" dirty="0">
                <a:latin typeface="微軟正黑體" panose="020B0604030504040204" pitchFamily="34" charset="-120"/>
                <a:ea typeface="微軟正黑體" panose="020B0604030504040204" pitchFamily="34" charset="-120"/>
              </a:rPr>
              <a:t>。 </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該發明所屬技術領域中具有通常知識者之</a:t>
            </a:r>
            <a:r>
              <a:rPr lang="zh-TW" altLang="en-US" u="sng" dirty="0">
                <a:latin typeface="微軟正黑體" panose="020B0604030504040204" pitchFamily="34" charset="-120"/>
                <a:ea typeface="微軟正黑體" panose="020B0604030504040204" pitchFamily="34" charset="-120"/>
              </a:rPr>
              <a:t>一般知識及普通技能</a:t>
            </a:r>
            <a:r>
              <a:rPr lang="zh-TW" altLang="en-US" dirty="0">
                <a:latin typeface="微軟正黑體" panose="020B0604030504040204" pitchFamily="34" charset="-120"/>
                <a:ea typeface="微軟正黑體" panose="020B0604030504040204" pitchFamily="34" charset="-120"/>
              </a:rPr>
              <a:t>。 </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(4)</a:t>
            </a:r>
            <a:r>
              <a:rPr lang="zh-TW" altLang="en-US" dirty="0">
                <a:latin typeface="微軟正黑體" panose="020B0604030504040204" pitchFamily="34" charset="-120"/>
                <a:ea typeface="微軟正黑體" panose="020B0604030504040204" pitchFamily="34" charset="-120"/>
              </a:rPr>
              <a:t>發明在所屬技術領域中之</a:t>
            </a:r>
            <a:r>
              <a:rPr lang="zh-TW" altLang="en-US" u="sng" dirty="0">
                <a:latin typeface="微軟正黑體" panose="020B0604030504040204" pitchFamily="34" charset="-120"/>
                <a:ea typeface="微軟正黑體" panose="020B0604030504040204" pitchFamily="34" charset="-120"/>
              </a:rPr>
              <a:t>可預測程度</a:t>
            </a:r>
            <a:r>
              <a:rPr lang="zh-TW" altLang="en-US" dirty="0">
                <a:latin typeface="微軟正黑體" panose="020B0604030504040204" pitchFamily="34" charset="-120"/>
                <a:ea typeface="微軟正黑體" panose="020B0604030504040204" pitchFamily="34" charset="-120"/>
              </a:rPr>
              <a:t>。 </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(5)</a:t>
            </a:r>
            <a:r>
              <a:rPr lang="zh-TW" altLang="en-US" dirty="0">
                <a:latin typeface="微軟正黑體" panose="020B0604030504040204" pitchFamily="34" charset="-120"/>
                <a:ea typeface="微軟正黑體" panose="020B0604030504040204" pitchFamily="34" charset="-120"/>
              </a:rPr>
              <a:t>說明書所提供</a:t>
            </a:r>
            <a:r>
              <a:rPr lang="zh-TW" altLang="en-US" u="sng" dirty="0">
                <a:latin typeface="微軟正黑體" panose="020B0604030504040204" pitchFamily="34" charset="-120"/>
                <a:ea typeface="微軟正黑體" panose="020B0604030504040204" pitchFamily="34" charset="-120"/>
              </a:rPr>
              <a:t>指引的數量</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amount of direction</a:t>
            </a:r>
            <a:r>
              <a:rPr lang="zh-TW" altLang="en-US" dirty="0">
                <a:latin typeface="微軟正黑體" panose="020B0604030504040204" pitchFamily="34" charset="-120"/>
                <a:ea typeface="微軟正黑體" panose="020B0604030504040204" pitchFamily="34" charset="-120"/>
              </a:rPr>
              <a:t>），包括先前技術中所 述及者。 </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(6)</a:t>
            </a:r>
            <a:r>
              <a:rPr lang="zh-TW" altLang="en-US" dirty="0">
                <a:latin typeface="微軟正黑體" panose="020B0604030504040204" pitchFamily="34" charset="-120"/>
                <a:ea typeface="微軟正黑體" panose="020B0604030504040204" pitchFamily="34" charset="-120"/>
              </a:rPr>
              <a:t>基於揭露內容而製造及使用申請專利之發明</a:t>
            </a:r>
            <a:r>
              <a:rPr lang="zh-TW" altLang="en-US" u="sng" dirty="0">
                <a:latin typeface="微軟正黑體" panose="020B0604030504040204" pitchFamily="34" charset="-120"/>
                <a:ea typeface="微軟正黑體" panose="020B0604030504040204" pitchFamily="34" charset="-120"/>
              </a:rPr>
              <a:t>所需實驗的數量</a:t>
            </a:r>
            <a:r>
              <a:rPr lang="zh-TW" altLang="en-US" dirty="0">
                <a:latin typeface="微軟正黑體" panose="020B0604030504040204" pitchFamily="34" charset="-120"/>
                <a:ea typeface="微軟正黑體" panose="020B0604030504040204" pitchFamily="34" charset="-120"/>
              </a:rPr>
              <a:t>。 </a:t>
            </a:r>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基準第二篇第一章 </a:t>
            </a:r>
            <a:r>
              <a:rPr lang="en-US" altLang="zh-TW" dirty="0">
                <a:latin typeface="微軟正黑體" panose="020B0604030504040204" pitchFamily="34" charset="-120"/>
                <a:ea typeface="微軟正黑體" panose="020B0604030504040204" pitchFamily="34" charset="-120"/>
              </a:rPr>
              <a:t>1.3.1]</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0680306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13FF7E-0971-466F-9D50-F0BDF8D553A2}"/>
              </a:ext>
            </a:extLst>
          </p:cNvPr>
          <p:cNvSpPr>
            <a:spLocks noGrp="1"/>
          </p:cNvSpPr>
          <p:nvPr>
            <p:ph type="title"/>
          </p:nvPr>
        </p:nvSpPr>
        <p:spPr/>
        <p:txBody>
          <a:bodyPr/>
          <a:lstStyle/>
          <a:p>
            <a:r>
              <a:rPr lang="zh-TW" altLang="en-US" dirty="0"/>
              <a:t>違反可據以實現要件</a:t>
            </a:r>
          </a:p>
        </p:txBody>
      </p:sp>
      <p:sp>
        <p:nvSpPr>
          <p:cNvPr id="4" name="投影片編號版面配置區 3">
            <a:extLst>
              <a:ext uri="{FF2B5EF4-FFF2-40B4-BE49-F238E27FC236}">
                <a16:creationId xmlns:a16="http://schemas.microsoft.com/office/drawing/2014/main" id="{F7AB2522-D801-46EA-8F8B-F123C8CB76E7}"/>
              </a:ext>
            </a:extLst>
          </p:cNvPr>
          <p:cNvSpPr>
            <a:spLocks noGrp="1"/>
          </p:cNvSpPr>
          <p:nvPr>
            <p:ph type="sldNum" sz="quarter" idx="12"/>
          </p:nvPr>
        </p:nvSpPr>
        <p:spPr>
          <a:xfrm>
            <a:off x="6633592" y="6463906"/>
            <a:ext cx="2133600" cy="365125"/>
          </a:xfrm>
        </p:spPr>
        <p:txBody>
          <a:bodyPr/>
          <a:lstStyle/>
          <a:p>
            <a:fld id="{51D2D507-09EA-4C6F-96ED-053C801F8797}" type="slidenum">
              <a:rPr lang="zh-TW" altLang="en-US" smtClean="0"/>
              <a:t>63</a:t>
            </a:fld>
            <a:endParaRPr lang="zh-TW" altLang="en-US" dirty="0"/>
          </a:p>
        </p:txBody>
      </p:sp>
      <p:sp>
        <p:nvSpPr>
          <p:cNvPr id="8" name="矩形 7">
            <a:extLst>
              <a:ext uri="{FF2B5EF4-FFF2-40B4-BE49-F238E27FC236}">
                <a16:creationId xmlns:a16="http://schemas.microsoft.com/office/drawing/2014/main" id="{AD788DC9-873F-4B06-90BE-F936EF232BB7}"/>
              </a:ext>
            </a:extLst>
          </p:cNvPr>
          <p:cNvSpPr/>
          <p:nvPr/>
        </p:nvSpPr>
        <p:spPr>
          <a:xfrm flipH="1">
            <a:off x="179511" y="1268760"/>
            <a:ext cx="3189219" cy="5271720"/>
          </a:xfrm>
          <a:prstGeom prst="rect">
            <a:avLst/>
          </a:prstGeom>
          <a:scene3d>
            <a:camera prst="orthographicFront"/>
            <a:lightRig rig="threePt" dir="t">
              <a:rot lat="0" lon="0" rev="7500000"/>
            </a:lightRig>
          </a:scene3d>
        </p:spPr>
        <p:style>
          <a:lnRef idx="2">
            <a:schemeClr val="dk1"/>
          </a:lnRef>
          <a:fillRef idx="1">
            <a:schemeClr val="lt1"/>
          </a:fillRef>
          <a:effectRef idx="0">
            <a:schemeClr val="dk1"/>
          </a:effectRef>
          <a:fontRef idx="minor">
            <a:schemeClr val="dk1"/>
          </a:fontRef>
        </p:style>
      </p:sp>
      <p:grpSp>
        <p:nvGrpSpPr>
          <p:cNvPr id="10" name="群組 9">
            <a:extLst>
              <a:ext uri="{FF2B5EF4-FFF2-40B4-BE49-F238E27FC236}">
                <a16:creationId xmlns:a16="http://schemas.microsoft.com/office/drawing/2014/main" id="{2E2E3DF5-4F1E-4A16-91C6-FEF2045A64D2}"/>
              </a:ext>
            </a:extLst>
          </p:cNvPr>
          <p:cNvGrpSpPr/>
          <p:nvPr/>
        </p:nvGrpSpPr>
        <p:grpSpPr>
          <a:xfrm>
            <a:off x="3379720" y="1268760"/>
            <a:ext cx="5595757" cy="5271720"/>
            <a:chOff x="3004839" y="794812"/>
            <a:chExt cx="6139160" cy="6007970"/>
          </a:xfrm>
          <a:scene3d>
            <a:camera prst="orthographicFront"/>
            <a:lightRig rig="threePt" dir="t">
              <a:rot lat="0" lon="0" rev="7500000"/>
            </a:lightRig>
          </a:scene3d>
        </p:grpSpPr>
        <p:sp>
          <p:nvSpPr>
            <p:cNvPr id="12" name="矩形 11">
              <a:extLst>
                <a:ext uri="{FF2B5EF4-FFF2-40B4-BE49-F238E27FC236}">
                  <a16:creationId xmlns:a16="http://schemas.microsoft.com/office/drawing/2014/main" id="{15AD7D75-5C49-4ACE-A933-0540F4B135FC}"/>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sp>
        <p:sp>
          <p:nvSpPr>
            <p:cNvPr id="13" name="矩形 12">
              <a:extLst>
                <a:ext uri="{FF2B5EF4-FFF2-40B4-BE49-F238E27FC236}">
                  <a16:creationId xmlns:a16="http://schemas.microsoft.com/office/drawing/2014/main" id="{DA7C05D4-15BD-44F0-87D0-BC58D768467A}"/>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txBody>
            <a:bodyPr spcFirstLastPara="0" vert="horz" wrap="square" lIns="102870" tIns="102870" rIns="102870" bIns="102870" numCol="1" spcCol="1270" anchor="t" anchorCtr="0">
              <a:noAutofit/>
            </a:bodyPr>
            <a:lstStyle/>
            <a:p>
              <a:pPr lvl="0" algn="l" defTabSz="1200150">
                <a:spcBef>
                  <a:spcPct val="0"/>
                </a:spcBef>
                <a:spcAft>
                  <a:spcPct val="35000"/>
                </a:spcAft>
              </a:pPr>
              <a:endParaRPr lang="zh-TW" altLang="en-US" b="0" kern="1200" dirty="0">
                <a:solidFill>
                  <a:schemeClr val="tx1"/>
                </a:solidFill>
                <a:latin typeface="微軟正黑體" panose="020B0604030504040204" pitchFamily="34" charset="-120"/>
                <a:ea typeface="微軟正黑體" panose="020B0604030504040204" pitchFamily="34" charset="-120"/>
              </a:endParaRPr>
            </a:p>
          </p:txBody>
        </p:sp>
      </p:grpSp>
      <p:sp>
        <p:nvSpPr>
          <p:cNvPr id="14" name="圓角矩形 10">
            <a:extLst>
              <a:ext uri="{FF2B5EF4-FFF2-40B4-BE49-F238E27FC236}">
                <a16:creationId xmlns:a16="http://schemas.microsoft.com/office/drawing/2014/main" id="{401ABB17-D1FD-4E91-B85A-49CB22E333CA}"/>
              </a:ext>
            </a:extLst>
          </p:cNvPr>
          <p:cNvSpPr/>
          <p:nvPr/>
        </p:nvSpPr>
        <p:spPr>
          <a:xfrm>
            <a:off x="369964" y="1700808"/>
            <a:ext cx="2808312" cy="64807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zh-TW" altLang="en-US" sz="1800" dirty="0">
                <a:solidFill>
                  <a:schemeClr val="tx1"/>
                </a:solidFill>
                <a:latin typeface="微軟正黑體" pitchFamily="34" charset="-120"/>
                <a:ea typeface="微軟正黑體" pitchFamily="34" charset="-120"/>
              </a:rPr>
              <a:t>未記載技術手段</a:t>
            </a:r>
          </a:p>
        </p:txBody>
      </p:sp>
      <p:sp>
        <p:nvSpPr>
          <p:cNvPr id="15" name="圓角矩形 11">
            <a:extLst>
              <a:ext uri="{FF2B5EF4-FFF2-40B4-BE49-F238E27FC236}">
                <a16:creationId xmlns:a16="http://schemas.microsoft.com/office/drawing/2014/main" id="{F003548F-D85C-4A1F-95D0-6476CA36919A}"/>
              </a:ext>
            </a:extLst>
          </p:cNvPr>
          <p:cNvSpPr/>
          <p:nvPr/>
        </p:nvSpPr>
        <p:spPr>
          <a:xfrm>
            <a:off x="369964" y="2654914"/>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tx1">
                    <a:lumMod val="50000"/>
                    <a:lumOff val="50000"/>
                  </a:schemeClr>
                </a:solidFill>
                <a:latin typeface="微軟正黑體" pitchFamily="34" charset="-120"/>
                <a:ea typeface="微軟正黑體" pitchFamily="34" charset="-120"/>
              </a:rPr>
              <a:t>技術手段太抽象</a:t>
            </a:r>
          </a:p>
        </p:txBody>
      </p:sp>
      <p:sp>
        <p:nvSpPr>
          <p:cNvPr id="16" name="圓角矩形 12">
            <a:extLst>
              <a:ext uri="{FF2B5EF4-FFF2-40B4-BE49-F238E27FC236}">
                <a16:creationId xmlns:a16="http://schemas.microsoft.com/office/drawing/2014/main" id="{A03D8182-2B66-42A5-8D1B-F43E88CA08F3}"/>
              </a:ext>
            </a:extLst>
          </p:cNvPr>
          <p:cNvSpPr/>
          <p:nvPr/>
        </p:nvSpPr>
        <p:spPr>
          <a:xfrm>
            <a:off x="369964" y="3609020"/>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tx1">
                    <a:lumMod val="50000"/>
                    <a:lumOff val="50000"/>
                  </a:schemeClr>
                </a:solidFill>
                <a:latin typeface="微軟正黑體" pitchFamily="34" charset="-120"/>
                <a:ea typeface="微軟正黑體" pitchFamily="34" charset="-120"/>
              </a:rPr>
              <a:t>技術手段不能解決問題</a:t>
            </a:r>
          </a:p>
        </p:txBody>
      </p:sp>
      <p:sp>
        <p:nvSpPr>
          <p:cNvPr id="17" name="圓角矩形 13">
            <a:extLst>
              <a:ext uri="{FF2B5EF4-FFF2-40B4-BE49-F238E27FC236}">
                <a16:creationId xmlns:a16="http://schemas.microsoft.com/office/drawing/2014/main" id="{E73B3838-CC68-4EA0-963D-D25671DFA503}"/>
              </a:ext>
            </a:extLst>
          </p:cNvPr>
          <p:cNvSpPr/>
          <p:nvPr/>
        </p:nvSpPr>
        <p:spPr>
          <a:xfrm>
            <a:off x="369964" y="4563126"/>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tx1">
                    <a:lumMod val="50000"/>
                    <a:lumOff val="50000"/>
                  </a:schemeClr>
                </a:solidFill>
                <a:latin typeface="微軟正黑體" pitchFamily="34" charset="-120"/>
                <a:ea typeface="微軟正黑體" pitchFamily="34" charset="-120"/>
              </a:rPr>
              <a:t>技術手段無法再現結果</a:t>
            </a:r>
          </a:p>
        </p:txBody>
      </p:sp>
      <p:sp>
        <p:nvSpPr>
          <p:cNvPr id="18" name="圓角矩形 14">
            <a:extLst>
              <a:ext uri="{FF2B5EF4-FFF2-40B4-BE49-F238E27FC236}">
                <a16:creationId xmlns:a16="http://schemas.microsoft.com/office/drawing/2014/main" id="{6EEB1464-2127-481B-BA80-4AF50EA06B21}"/>
              </a:ext>
            </a:extLst>
          </p:cNvPr>
          <p:cNvSpPr/>
          <p:nvPr/>
        </p:nvSpPr>
        <p:spPr>
          <a:xfrm>
            <a:off x="369964" y="5517232"/>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dirty="0">
                <a:solidFill>
                  <a:schemeClr val="tx1">
                    <a:lumMod val="50000"/>
                    <a:lumOff val="50000"/>
                  </a:schemeClr>
                </a:solidFill>
                <a:latin typeface="微軟正黑體" pitchFamily="34" charset="-120"/>
                <a:ea typeface="微軟正黑體" pitchFamily="34" charset="-120"/>
              </a:rPr>
              <a:t>未提供實驗數據</a:t>
            </a:r>
            <a:endParaRPr lang="zh-TW" altLang="en-US" sz="1800" dirty="0">
              <a:solidFill>
                <a:schemeClr val="tx1">
                  <a:lumMod val="50000"/>
                  <a:lumOff val="50000"/>
                </a:schemeClr>
              </a:solidFill>
              <a:latin typeface="微軟正黑體" pitchFamily="34" charset="-120"/>
              <a:ea typeface="微軟正黑體" pitchFamily="34" charset="-120"/>
            </a:endParaRPr>
          </a:p>
        </p:txBody>
      </p:sp>
      <p:sp>
        <p:nvSpPr>
          <p:cNvPr id="19" name="內容版面配置區 2">
            <a:extLst>
              <a:ext uri="{FF2B5EF4-FFF2-40B4-BE49-F238E27FC236}">
                <a16:creationId xmlns:a16="http://schemas.microsoft.com/office/drawing/2014/main" id="{FCB33263-414C-43A9-89BD-694E0CF6D403}"/>
              </a:ext>
            </a:extLst>
          </p:cNvPr>
          <p:cNvSpPr>
            <a:spLocks noGrp="1"/>
          </p:cNvSpPr>
          <p:nvPr>
            <p:ph idx="1"/>
          </p:nvPr>
        </p:nvSpPr>
        <p:spPr>
          <a:xfrm>
            <a:off x="3379719" y="1412776"/>
            <a:ext cx="5595757" cy="5127704"/>
          </a:xfrm>
        </p:spPr>
        <p:txBody>
          <a:bodyPr>
            <a:normAutofit/>
          </a:bodyPr>
          <a:lstStyle/>
          <a:p>
            <a:r>
              <a:rPr lang="zh-TW" altLang="en-US" sz="2400" dirty="0"/>
              <a:t>說明書僅記載</a:t>
            </a:r>
            <a:r>
              <a:rPr lang="zh-TW" altLang="en-US" sz="2400" u="sng" dirty="0"/>
              <a:t>目的或構想</a:t>
            </a:r>
            <a:r>
              <a:rPr lang="zh-TW" altLang="en-US" sz="2400" dirty="0"/>
              <a:t>，或僅表示願望或結果，但</a:t>
            </a:r>
            <a:r>
              <a:rPr lang="zh-TW" altLang="en-US" sz="2400" u="sng" dirty="0"/>
              <a:t>未記載任何技術手段者</a:t>
            </a:r>
            <a:endParaRPr lang="en-US" altLang="zh-TW" sz="2400" u="sng" dirty="0">
              <a:solidFill>
                <a:srgbClr val="FF0000"/>
              </a:solidFill>
            </a:endParaRPr>
          </a:p>
        </p:txBody>
      </p:sp>
      <p:sp>
        <p:nvSpPr>
          <p:cNvPr id="3" name="文字方塊 2">
            <a:extLst>
              <a:ext uri="{FF2B5EF4-FFF2-40B4-BE49-F238E27FC236}">
                <a16:creationId xmlns:a16="http://schemas.microsoft.com/office/drawing/2014/main" id="{0031728B-3C73-40C5-9C95-EF4A6268C7AA}"/>
              </a:ext>
            </a:extLst>
          </p:cNvPr>
          <p:cNvSpPr txBox="1"/>
          <p:nvPr/>
        </p:nvSpPr>
        <p:spPr>
          <a:xfrm>
            <a:off x="3550724" y="2681207"/>
            <a:ext cx="5240479" cy="646331"/>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請求項</a:t>
            </a:r>
            <a:r>
              <a:rPr lang="en-US" altLang="zh-TW"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一種釣竿，其可釣起 </a:t>
            </a:r>
            <a:r>
              <a:rPr lang="en-US" altLang="zh-TW" dirty="0">
                <a:latin typeface="微軟正黑體" panose="020B0604030504040204" pitchFamily="34" charset="-120"/>
                <a:ea typeface="微軟正黑體" panose="020B0604030504040204" pitchFamily="34" charset="-120"/>
              </a:rPr>
              <a:t>500 </a:t>
            </a:r>
            <a:r>
              <a:rPr lang="zh-TW" altLang="en-US" dirty="0">
                <a:latin typeface="微軟正黑體" panose="020B0604030504040204" pitchFamily="34" charset="-120"/>
                <a:ea typeface="微軟正黑體" panose="020B0604030504040204" pitchFamily="34" charset="-120"/>
              </a:rPr>
              <a:t>公斤重之魚。</a:t>
            </a:r>
          </a:p>
        </p:txBody>
      </p:sp>
      <p:sp>
        <p:nvSpPr>
          <p:cNvPr id="21" name="文字方塊 20">
            <a:extLst>
              <a:ext uri="{FF2B5EF4-FFF2-40B4-BE49-F238E27FC236}">
                <a16:creationId xmlns:a16="http://schemas.microsoft.com/office/drawing/2014/main" id="{0A50C860-CB1C-4B24-8E11-8F264D3BA566}"/>
              </a:ext>
            </a:extLst>
          </p:cNvPr>
          <p:cNvSpPr txBox="1"/>
          <p:nvPr/>
        </p:nvSpPr>
        <p:spPr>
          <a:xfrm>
            <a:off x="3550724" y="3539515"/>
            <a:ext cx="5240479" cy="923330"/>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說明</a:t>
            </a:r>
            <a:r>
              <a:rPr lang="en-US" altLang="zh-TW"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說明書中並未記載任何與釣竿有關之材質及結構，無法瞭解該釣竿 如何達成釣起 </a:t>
            </a:r>
            <a:r>
              <a:rPr lang="en-US" altLang="zh-TW" dirty="0">
                <a:latin typeface="微軟正黑體" panose="020B0604030504040204" pitchFamily="34" charset="-120"/>
                <a:ea typeface="微軟正黑體" panose="020B0604030504040204" pitchFamily="34" charset="-120"/>
              </a:rPr>
              <a:t>500 </a:t>
            </a:r>
            <a:r>
              <a:rPr lang="zh-TW" altLang="en-US" dirty="0">
                <a:latin typeface="微軟正黑體" panose="020B0604030504040204" pitchFamily="34" charset="-120"/>
                <a:ea typeface="微軟正黑體" panose="020B0604030504040204" pitchFamily="34" charset="-120"/>
              </a:rPr>
              <a:t>公斤重之魚。</a:t>
            </a:r>
          </a:p>
        </p:txBody>
      </p:sp>
    </p:spTree>
    <p:extLst>
      <p:ext uri="{BB962C8B-B14F-4D97-AF65-F5344CB8AC3E}">
        <p14:creationId xmlns:p14="http://schemas.microsoft.com/office/powerpoint/2010/main" val="21587517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13FF7E-0971-466F-9D50-F0BDF8D553A2}"/>
              </a:ext>
            </a:extLst>
          </p:cNvPr>
          <p:cNvSpPr>
            <a:spLocks noGrp="1"/>
          </p:cNvSpPr>
          <p:nvPr>
            <p:ph type="title"/>
          </p:nvPr>
        </p:nvSpPr>
        <p:spPr/>
        <p:txBody>
          <a:bodyPr/>
          <a:lstStyle/>
          <a:p>
            <a:r>
              <a:rPr lang="zh-TW" altLang="en-US" dirty="0"/>
              <a:t>違反可據以實現要件</a:t>
            </a:r>
          </a:p>
        </p:txBody>
      </p:sp>
      <p:sp>
        <p:nvSpPr>
          <p:cNvPr id="4" name="投影片編號版面配置區 3">
            <a:extLst>
              <a:ext uri="{FF2B5EF4-FFF2-40B4-BE49-F238E27FC236}">
                <a16:creationId xmlns:a16="http://schemas.microsoft.com/office/drawing/2014/main" id="{F7AB2522-D801-46EA-8F8B-F123C8CB76E7}"/>
              </a:ext>
            </a:extLst>
          </p:cNvPr>
          <p:cNvSpPr>
            <a:spLocks noGrp="1"/>
          </p:cNvSpPr>
          <p:nvPr>
            <p:ph type="sldNum" sz="quarter" idx="12"/>
          </p:nvPr>
        </p:nvSpPr>
        <p:spPr>
          <a:xfrm>
            <a:off x="6633592" y="6463906"/>
            <a:ext cx="2133600" cy="365125"/>
          </a:xfrm>
        </p:spPr>
        <p:txBody>
          <a:bodyPr/>
          <a:lstStyle/>
          <a:p>
            <a:fld id="{51D2D507-09EA-4C6F-96ED-053C801F8797}" type="slidenum">
              <a:rPr lang="zh-TW" altLang="en-US" smtClean="0"/>
              <a:t>64</a:t>
            </a:fld>
            <a:endParaRPr lang="zh-TW" altLang="en-US" dirty="0"/>
          </a:p>
        </p:txBody>
      </p:sp>
      <p:sp>
        <p:nvSpPr>
          <p:cNvPr id="8" name="矩形 7">
            <a:extLst>
              <a:ext uri="{FF2B5EF4-FFF2-40B4-BE49-F238E27FC236}">
                <a16:creationId xmlns:a16="http://schemas.microsoft.com/office/drawing/2014/main" id="{AD788DC9-873F-4B06-90BE-F936EF232BB7}"/>
              </a:ext>
            </a:extLst>
          </p:cNvPr>
          <p:cNvSpPr/>
          <p:nvPr/>
        </p:nvSpPr>
        <p:spPr>
          <a:xfrm flipH="1">
            <a:off x="179511" y="1268760"/>
            <a:ext cx="3189219" cy="5271720"/>
          </a:xfrm>
          <a:prstGeom prst="rect">
            <a:avLst/>
          </a:prstGeom>
          <a:scene3d>
            <a:camera prst="orthographicFront"/>
            <a:lightRig rig="threePt" dir="t">
              <a:rot lat="0" lon="0" rev="7500000"/>
            </a:lightRig>
          </a:scene3d>
        </p:spPr>
        <p:style>
          <a:lnRef idx="2">
            <a:schemeClr val="dk1"/>
          </a:lnRef>
          <a:fillRef idx="1">
            <a:schemeClr val="lt1"/>
          </a:fillRef>
          <a:effectRef idx="0">
            <a:schemeClr val="dk1"/>
          </a:effectRef>
          <a:fontRef idx="minor">
            <a:schemeClr val="dk1"/>
          </a:fontRef>
        </p:style>
      </p:sp>
      <p:grpSp>
        <p:nvGrpSpPr>
          <p:cNvPr id="10" name="群組 9">
            <a:extLst>
              <a:ext uri="{FF2B5EF4-FFF2-40B4-BE49-F238E27FC236}">
                <a16:creationId xmlns:a16="http://schemas.microsoft.com/office/drawing/2014/main" id="{2E2E3DF5-4F1E-4A16-91C6-FEF2045A64D2}"/>
              </a:ext>
            </a:extLst>
          </p:cNvPr>
          <p:cNvGrpSpPr/>
          <p:nvPr/>
        </p:nvGrpSpPr>
        <p:grpSpPr>
          <a:xfrm>
            <a:off x="3379720" y="1268760"/>
            <a:ext cx="5595757" cy="5271720"/>
            <a:chOff x="3004839" y="794812"/>
            <a:chExt cx="6139160" cy="6007970"/>
          </a:xfrm>
          <a:scene3d>
            <a:camera prst="orthographicFront"/>
            <a:lightRig rig="threePt" dir="t">
              <a:rot lat="0" lon="0" rev="7500000"/>
            </a:lightRig>
          </a:scene3d>
        </p:grpSpPr>
        <p:sp>
          <p:nvSpPr>
            <p:cNvPr id="12" name="矩形 11">
              <a:extLst>
                <a:ext uri="{FF2B5EF4-FFF2-40B4-BE49-F238E27FC236}">
                  <a16:creationId xmlns:a16="http://schemas.microsoft.com/office/drawing/2014/main" id="{15AD7D75-5C49-4ACE-A933-0540F4B135FC}"/>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sp>
        <p:sp>
          <p:nvSpPr>
            <p:cNvPr id="13" name="矩形 12">
              <a:extLst>
                <a:ext uri="{FF2B5EF4-FFF2-40B4-BE49-F238E27FC236}">
                  <a16:creationId xmlns:a16="http://schemas.microsoft.com/office/drawing/2014/main" id="{DA7C05D4-15BD-44F0-87D0-BC58D768467A}"/>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txBody>
            <a:bodyPr spcFirstLastPara="0" vert="horz" wrap="square" lIns="102870" tIns="102870" rIns="102870" bIns="102870" numCol="1" spcCol="1270" anchor="t" anchorCtr="0">
              <a:noAutofit/>
            </a:bodyPr>
            <a:lstStyle/>
            <a:p>
              <a:pPr lvl="0" algn="l" defTabSz="1200150">
                <a:spcBef>
                  <a:spcPct val="0"/>
                </a:spcBef>
                <a:spcAft>
                  <a:spcPct val="35000"/>
                </a:spcAft>
              </a:pPr>
              <a:endParaRPr lang="zh-TW" altLang="en-US" b="0" kern="1200" dirty="0">
                <a:solidFill>
                  <a:schemeClr val="tx1"/>
                </a:solidFill>
                <a:latin typeface="微軟正黑體" panose="020B0604030504040204" pitchFamily="34" charset="-120"/>
                <a:ea typeface="微軟正黑體" panose="020B0604030504040204" pitchFamily="34" charset="-120"/>
              </a:endParaRPr>
            </a:p>
          </p:txBody>
        </p:sp>
      </p:grpSp>
      <p:sp>
        <p:nvSpPr>
          <p:cNvPr id="14" name="圓角矩形 10">
            <a:extLst>
              <a:ext uri="{FF2B5EF4-FFF2-40B4-BE49-F238E27FC236}">
                <a16:creationId xmlns:a16="http://schemas.microsoft.com/office/drawing/2014/main" id="{401ABB17-D1FD-4E91-B85A-49CB22E333CA}"/>
              </a:ext>
            </a:extLst>
          </p:cNvPr>
          <p:cNvSpPr/>
          <p:nvPr/>
        </p:nvSpPr>
        <p:spPr>
          <a:xfrm>
            <a:off x="369964" y="1700808"/>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未記載技術手段</a:t>
            </a:r>
          </a:p>
        </p:txBody>
      </p:sp>
      <p:sp>
        <p:nvSpPr>
          <p:cNvPr id="15" name="圓角矩形 11">
            <a:extLst>
              <a:ext uri="{FF2B5EF4-FFF2-40B4-BE49-F238E27FC236}">
                <a16:creationId xmlns:a16="http://schemas.microsoft.com/office/drawing/2014/main" id="{F003548F-D85C-4A1F-95D0-6476CA36919A}"/>
              </a:ext>
            </a:extLst>
          </p:cNvPr>
          <p:cNvSpPr/>
          <p:nvPr/>
        </p:nvSpPr>
        <p:spPr>
          <a:xfrm>
            <a:off x="369964" y="2654914"/>
            <a:ext cx="2808312" cy="64807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zh-TW" altLang="en-US" sz="1800" dirty="0">
                <a:solidFill>
                  <a:schemeClr val="tx1"/>
                </a:solidFill>
                <a:latin typeface="微軟正黑體" pitchFamily="34" charset="-120"/>
                <a:ea typeface="微軟正黑體" pitchFamily="34" charset="-120"/>
              </a:rPr>
              <a:t>技術手段太抽象</a:t>
            </a:r>
          </a:p>
        </p:txBody>
      </p:sp>
      <p:sp>
        <p:nvSpPr>
          <p:cNvPr id="16" name="圓角矩形 12">
            <a:extLst>
              <a:ext uri="{FF2B5EF4-FFF2-40B4-BE49-F238E27FC236}">
                <a16:creationId xmlns:a16="http://schemas.microsoft.com/office/drawing/2014/main" id="{A03D8182-2B66-42A5-8D1B-F43E88CA08F3}"/>
              </a:ext>
            </a:extLst>
          </p:cNvPr>
          <p:cNvSpPr/>
          <p:nvPr/>
        </p:nvSpPr>
        <p:spPr>
          <a:xfrm>
            <a:off x="369964" y="3609020"/>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tx1">
                    <a:lumMod val="50000"/>
                    <a:lumOff val="50000"/>
                  </a:schemeClr>
                </a:solidFill>
                <a:latin typeface="微軟正黑體" pitchFamily="34" charset="-120"/>
                <a:ea typeface="微軟正黑體" pitchFamily="34" charset="-120"/>
              </a:rPr>
              <a:t>技術手段不能解決問題</a:t>
            </a:r>
          </a:p>
        </p:txBody>
      </p:sp>
      <p:sp>
        <p:nvSpPr>
          <p:cNvPr id="17" name="圓角矩形 13">
            <a:extLst>
              <a:ext uri="{FF2B5EF4-FFF2-40B4-BE49-F238E27FC236}">
                <a16:creationId xmlns:a16="http://schemas.microsoft.com/office/drawing/2014/main" id="{E73B3838-CC68-4EA0-963D-D25671DFA503}"/>
              </a:ext>
            </a:extLst>
          </p:cNvPr>
          <p:cNvSpPr/>
          <p:nvPr/>
        </p:nvSpPr>
        <p:spPr>
          <a:xfrm>
            <a:off x="369964" y="4563126"/>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tx1">
                    <a:lumMod val="50000"/>
                    <a:lumOff val="50000"/>
                  </a:schemeClr>
                </a:solidFill>
                <a:latin typeface="微軟正黑體" pitchFamily="34" charset="-120"/>
                <a:ea typeface="微軟正黑體" pitchFamily="34" charset="-120"/>
              </a:rPr>
              <a:t>技術手段無法再現結果</a:t>
            </a:r>
          </a:p>
        </p:txBody>
      </p:sp>
      <p:sp>
        <p:nvSpPr>
          <p:cNvPr id="18" name="圓角矩形 14">
            <a:extLst>
              <a:ext uri="{FF2B5EF4-FFF2-40B4-BE49-F238E27FC236}">
                <a16:creationId xmlns:a16="http://schemas.microsoft.com/office/drawing/2014/main" id="{6EEB1464-2127-481B-BA80-4AF50EA06B21}"/>
              </a:ext>
            </a:extLst>
          </p:cNvPr>
          <p:cNvSpPr/>
          <p:nvPr/>
        </p:nvSpPr>
        <p:spPr>
          <a:xfrm>
            <a:off x="369964" y="5517232"/>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dirty="0">
                <a:solidFill>
                  <a:schemeClr val="tx1">
                    <a:lumMod val="50000"/>
                    <a:lumOff val="50000"/>
                  </a:schemeClr>
                </a:solidFill>
                <a:latin typeface="微軟正黑體" pitchFamily="34" charset="-120"/>
                <a:ea typeface="微軟正黑體" pitchFamily="34" charset="-120"/>
              </a:rPr>
              <a:t>未提供實驗數據</a:t>
            </a:r>
            <a:endParaRPr lang="zh-TW" altLang="en-US" sz="1800" dirty="0">
              <a:solidFill>
                <a:schemeClr val="tx1">
                  <a:lumMod val="50000"/>
                  <a:lumOff val="50000"/>
                </a:schemeClr>
              </a:solidFill>
              <a:latin typeface="微軟正黑體" pitchFamily="34" charset="-120"/>
              <a:ea typeface="微軟正黑體" pitchFamily="34" charset="-120"/>
            </a:endParaRPr>
          </a:p>
        </p:txBody>
      </p:sp>
      <p:sp>
        <p:nvSpPr>
          <p:cNvPr id="19" name="內容版面配置區 2">
            <a:extLst>
              <a:ext uri="{FF2B5EF4-FFF2-40B4-BE49-F238E27FC236}">
                <a16:creationId xmlns:a16="http://schemas.microsoft.com/office/drawing/2014/main" id="{FCB33263-414C-43A9-89BD-694E0CF6D403}"/>
              </a:ext>
            </a:extLst>
          </p:cNvPr>
          <p:cNvSpPr>
            <a:spLocks noGrp="1"/>
          </p:cNvSpPr>
          <p:nvPr>
            <p:ph idx="1"/>
          </p:nvPr>
        </p:nvSpPr>
        <p:spPr>
          <a:xfrm>
            <a:off x="3379719" y="1412776"/>
            <a:ext cx="5595757" cy="5127704"/>
          </a:xfrm>
        </p:spPr>
        <p:txBody>
          <a:bodyPr>
            <a:normAutofit/>
          </a:bodyPr>
          <a:lstStyle/>
          <a:p>
            <a:r>
              <a:rPr lang="zh-TW" altLang="en-US" sz="2400" dirty="0"/>
              <a:t>說明書雖然載有解決問題之技術手段，但</a:t>
            </a:r>
            <a:r>
              <a:rPr lang="zh-TW" altLang="en-US" sz="2400" u="sng" dirty="0"/>
              <a:t>不明確或不充分</a:t>
            </a:r>
            <a:r>
              <a:rPr lang="zh-TW" altLang="en-US" sz="2400" dirty="0"/>
              <a:t>者，如僅</a:t>
            </a:r>
            <a:r>
              <a:rPr lang="zh-TW" altLang="en-US" sz="2400" b="1" u="sng" dirty="0"/>
              <a:t>以功能或其他抽象方法</a:t>
            </a:r>
            <a:r>
              <a:rPr lang="zh-TW" altLang="en-US" sz="2400" dirty="0"/>
              <a:t>記載其實施方式，致無法瞭解其材料、裝置或步驟者。</a:t>
            </a:r>
            <a:endParaRPr lang="en-US" altLang="zh-TW" sz="2400" u="sng" dirty="0">
              <a:solidFill>
                <a:srgbClr val="FF0000"/>
              </a:solidFill>
            </a:endParaRPr>
          </a:p>
        </p:txBody>
      </p:sp>
      <p:sp>
        <p:nvSpPr>
          <p:cNvPr id="3" name="文字方塊 2">
            <a:extLst>
              <a:ext uri="{FF2B5EF4-FFF2-40B4-BE49-F238E27FC236}">
                <a16:creationId xmlns:a16="http://schemas.microsoft.com/office/drawing/2014/main" id="{0031728B-3C73-40C5-9C95-EF4A6268C7AA}"/>
              </a:ext>
            </a:extLst>
          </p:cNvPr>
          <p:cNvSpPr txBox="1"/>
          <p:nvPr/>
        </p:nvSpPr>
        <p:spPr>
          <a:xfrm>
            <a:off x="3635896" y="3117306"/>
            <a:ext cx="5240479" cy="646331"/>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請求項</a:t>
            </a:r>
            <a:r>
              <a:rPr lang="en-US" altLang="zh-TW"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一種太陽眼鏡，其可阻擋太陽光中 </a:t>
            </a:r>
            <a:r>
              <a:rPr lang="en-US" altLang="zh-TW" dirty="0">
                <a:latin typeface="微軟正黑體" panose="020B0604030504040204" pitchFamily="34" charset="-120"/>
                <a:ea typeface="微軟正黑體" panose="020B0604030504040204" pitchFamily="34" charset="-120"/>
              </a:rPr>
              <a:t>99%</a:t>
            </a:r>
            <a:r>
              <a:rPr lang="zh-TW" altLang="en-US" dirty="0">
                <a:latin typeface="微軟正黑體" panose="020B0604030504040204" pitchFamily="34" charset="-120"/>
                <a:ea typeface="微軟正黑體" panose="020B0604030504040204" pitchFamily="34" charset="-120"/>
              </a:rPr>
              <a:t>之紫外線。</a:t>
            </a:r>
          </a:p>
        </p:txBody>
      </p:sp>
      <p:sp>
        <p:nvSpPr>
          <p:cNvPr id="21" name="文字方塊 20">
            <a:extLst>
              <a:ext uri="{FF2B5EF4-FFF2-40B4-BE49-F238E27FC236}">
                <a16:creationId xmlns:a16="http://schemas.microsoft.com/office/drawing/2014/main" id="{0A50C860-CB1C-4B24-8E11-8F264D3BA566}"/>
              </a:ext>
            </a:extLst>
          </p:cNvPr>
          <p:cNvSpPr txBox="1"/>
          <p:nvPr/>
        </p:nvSpPr>
        <p:spPr>
          <a:xfrm>
            <a:off x="3545838" y="4088543"/>
            <a:ext cx="5240479" cy="1200329"/>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說明</a:t>
            </a:r>
            <a:r>
              <a:rPr lang="en-US" altLang="zh-TW"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說明書僅記載可使用抗紫外線之鏡片以阻擋紫外線，但未記載該鏡片之材料、組成或結構，無法瞭解如何達成阻擋太陽光中</a:t>
            </a:r>
            <a:r>
              <a:rPr lang="en-US" altLang="zh-TW" dirty="0">
                <a:latin typeface="微軟正黑體" panose="020B0604030504040204" pitchFamily="34" charset="-120"/>
                <a:ea typeface="微軟正黑體" panose="020B0604030504040204" pitchFamily="34" charset="-120"/>
              </a:rPr>
              <a:t>99%</a:t>
            </a:r>
            <a:r>
              <a:rPr lang="zh-TW" altLang="en-US" dirty="0">
                <a:latin typeface="微軟正黑體" panose="020B0604030504040204" pitchFamily="34" charset="-120"/>
                <a:ea typeface="微軟正黑體" panose="020B0604030504040204" pitchFamily="34" charset="-120"/>
              </a:rPr>
              <a:t>之紫外線。</a:t>
            </a:r>
          </a:p>
        </p:txBody>
      </p:sp>
    </p:spTree>
    <p:extLst>
      <p:ext uri="{BB962C8B-B14F-4D97-AF65-F5344CB8AC3E}">
        <p14:creationId xmlns:p14="http://schemas.microsoft.com/office/powerpoint/2010/main" val="41097556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13FF7E-0971-466F-9D50-F0BDF8D553A2}"/>
              </a:ext>
            </a:extLst>
          </p:cNvPr>
          <p:cNvSpPr>
            <a:spLocks noGrp="1"/>
          </p:cNvSpPr>
          <p:nvPr>
            <p:ph type="title"/>
          </p:nvPr>
        </p:nvSpPr>
        <p:spPr/>
        <p:txBody>
          <a:bodyPr/>
          <a:lstStyle/>
          <a:p>
            <a:r>
              <a:rPr lang="zh-TW" altLang="en-US" dirty="0"/>
              <a:t>違反可據以實現要件</a:t>
            </a:r>
          </a:p>
        </p:txBody>
      </p:sp>
      <p:sp>
        <p:nvSpPr>
          <p:cNvPr id="4" name="投影片編號版面配置區 3">
            <a:extLst>
              <a:ext uri="{FF2B5EF4-FFF2-40B4-BE49-F238E27FC236}">
                <a16:creationId xmlns:a16="http://schemas.microsoft.com/office/drawing/2014/main" id="{F7AB2522-D801-46EA-8F8B-F123C8CB76E7}"/>
              </a:ext>
            </a:extLst>
          </p:cNvPr>
          <p:cNvSpPr>
            <a:spLocks noGrp="1"/>
          </p:cNvSpPr>
          <p:nvPr>
            <p:ph type="sldNum" sz="quarter" idx="12"/>
          </p:nvPr>
        </p:nvSpPr>
        <p:spPr>
          <a:xfrm>
            <a:off x="6633592" y="6463906"/>
            <a:ext cx="2133600" cy="365125"/>
          </a:xfrm>
        </p:spPr>
        <p:txBody>
          <a:bodyPr/>
          <a:lstStyle/>
          <a:p>
            <a:fld id="{51D2D507-09EA-4C6F-96ED-053C801F8797}" type="slidenum">
              <a:rPr lang="zh-TW" altLang="en-US" smtClean="0"/>
              <a:t>65</a:t>
            </a:fld>
            <a:endParaRPr lang="zh-TW" altLang="en-US" dirty="0"/>
          </a:p>
        </p:txBody>
      </p:sp>
      <p:sp>
        <p:nvSpPr>
          <p:cNvPr id="8" name="矩形 7">
            <a:extLst>
              <a:ext uri="{FF2B5EF4-FFF2-40B4-BE49-F238E27FC236}">
                <a16:creationId xmlns:a16="http://schemas.microsoft.com/office/drawing/2014/main" id="{AD788DC9-873F-4B06-90BE-F936EF232BB7}"/>
              </a:ext>
            </a:extLst>
          </p:cNvPr>
          <p:cNvSpPr/>
          <p:nvPr/>
        </p:nvSpPr>
        <p:spPr>
          <a:xfrm flipH="1">
            <a:off x="179511" y="1268760"/>
            <a:ext cx="3189219" cy="5271720"/>
          </a:xfrm>
          <a:prstGeom prst="rect">
            <a:avLst/>
          </a:prstGeom>
          <a:scene3d>
            <a:camera prst="orthographicFront"/>
            <a:lightRig rig="threePt" dir="t">
              <a:rot lat="0" lon="0" rev="7500000"/>
            </a:lightRig>
          </a:scene3d>
        </p:spPr>
        <p:style>
          <a:lnRef idx="2">
            <a:schemeClr val="dk1"/>
          </a:lnRef>
          <a:fillRef idx="1">
            <a:schemeClr val="lt1"/>
          </a:fillRef>
          <a:effectRef idx="0">
            <a:schemeClr val="dk1"/>
          </a:effectRef>
          <a:fontRef idx="minor">
            <a:schemeClr val="dk1"/>
          </a:fontRef>
        </p:style>
      </p:sp>
      <p:grpSp>
        <p:nvGrpSpPr>
          <p:cNvPr id="10" name="群組 9">
            <a:extLst>
              <a:ext uri="{FF2B5EF4-FFF2-40B4-BE49-F238E27FC236}">
                <a16:creationId xmlns:a16="http://schemas.microsoft.com/office/drawing/2014/main" id="{2E2E3DF5-4F1E-4A16-91C6-FEF2045A64D2}"/>
              </a:ext>
            </a:extLst>
          </p:cNvPr>
          <p:cNvGrpSpPr/>
          <p:nvPr/>
        </p:nvGrpSpPr>
        <p:grpSpPr>
          <a:xfrm>
            <a:off x="3379720" y="1268760"/>
            <a:ext cx="5595757" cy="5271720"/>
            <a:chOff x="3004839" y="794812"/>
            <a:chExt cx="6139160" cy="6007970"/>
          </a:xfrm>
          <a:scene3d>
            <a:camera prst="orthographicFront"/>
            <a:lightRig rig="threePt" dir="t">
              <a:rot lat="0" lon="0" rev="7500000"/>
            </a:lightRig>
          </a:scene3d>
        </p:grpSpPr>
        <p:sp>
          <p:nvSpPr>
            <p:cNvPr id="12" name="矩形 11">
              <a:extLst>
                <a:ext uri="{FF2B5EF4-FFF2-40B4-BE49-F238E27FC236}">
                  <a16:creationId xmlns:a16="http://schemas.microsoft.com/office/drawing/2014/main" id="{15AD7D75-5C49-4ACE-A933-0540F4B135FC}"/>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sp>
        <p:sp>
          <p:nvSpPr>
            <p:cNvPr id="13" name="矩形 12">
              <a:extLst>
                <a:ext uri="{FF2B5EF4-FFF2-40B4-BE49-F238E27FC236}">
                  <a16:creationId xmlns:a16="http://schemas.microsoft.com/office/drawing/2014/main" id="{DA7C05D4-15BD-44F0-87D0-BC58D768467A}"/>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txBody>
            <a:bodyPr spcFirstLastPara="0" vert="horz" wrap="square" lIns="102870" tIns="102870" rIns="102870" bIns="102870" numCol="1" spcCol="1270" anchor="t" anchorCtr="0">
              <a:noAutofit/>
            </a:bodyPr>
            <a:lstStyle/>
            <a:p>
              <a:pPr lvl="0" algn="l" defTabSz="1200150">
                <a:spcBef>
                  <a:spcPct val="0"/>
                </a:spcBef>
                <a:spcAft>
                  <a:spcPct val="35000"/>
                </a:spcAft>
              </a:pPr>
              <a:endParaRPr lang="zh-TW" altLang="en-US" b="0" kern="1200" dirty="0">
                <a:solidFill>
                  <a:schemeClr val="tx1"/>
                </a:solidFill>
                <a:latin typeface="微軟正黑體" panose="020B0604030504040204" pitchFamily="34" charset="-120"/>
                <a:ea typeface="微軟正黑體" panose="020B0604030504040204" pitchFamily="34" charset="-120"/>
              </a:endParaRPr>
            </a:p>
          </p:txBody>
        </p:sp>
      </p:grpSp>
      <p:sp>
        <p:nvSpPr>
          <p:cNvPr id="14" name="圓角矩形 10">
            <a:extLst>
              <a:ext uri="{FF2B5EF4-FFF2-40B4-BE49-F238E27FC236}">
                <a16:creationId xmlns:a16="http://schemas.microsoft.com/office/drawing/2014/main" id="{401ABB17-D1FD-4E91-B85A-49CB22E333CA}"/>
              </a:ext>
            </a:extLst>
          </p:cNvPr>
          <p:cNvSpPr/>
          <p:nvPr/>
        </p:nvSpPr>
        <p:spPr>
          <a:xfrm>
            <a:off x="369964" y="1700808"/>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未記載技術手段</a:t>
            </a:r>
          </a:p>
        </p:txBody>
      </p:sp>
      <p:sp>
        <p:nvSpPr>
          <p:cNvPr id="15" name="圓角矩形 11">
            <a:extLst>
              <a:ext uri="{FF2B5EF4-FFF2-40B4-BE49-F238E27FC236}">
                <a16:creationId xmlns:a16="http://schemas.microsoft.com/office/drawing/2014/main" id="{F003548F-D85C-4A1F-95D0-6476CA36919A}"/>
              </a:ext>
            </a:extLst>
          </p:cNvPr>
          <p:cNvSpPr/>
          <p:nvPr/>
        </p:nvSpPr>
        <p:spPr>
          <a:xfrm>
            <a:off x="369964" y="2654914"/>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技術手段太抽象</a:t>
            </a:r>
          </a:p>
        </p:txBody>
      </p:sp>
      <p:sp>
        <p:nvSpPr>
          <p:cNvPr id="16" name="圓角矩形 12">
            <a:extLst>
              <a:ext uri="{FF2B5EF4-FFF2-40B4-BE49-F238E27FC236}">
                <a16:creationId xmlns:a16="http://schemas.microsoft.com/office/drawing/2014/main" id="{A03D8182-2B66-42A5-8D1B-F43E88CA08F3}"/>
              </a:ext>
            </a:extLst>
          </p:cNvPr>
          <p:cNvSpPr/>
          <p:nvPr/>
        </p:nvSpPr>
        <p:spPr>
          <a:xfrm>
            <a:off x="369964" y="3609020"/>
            <a:ext cx="2808312" cy="64807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zh-TW" altLang="en-US" sz="1800" dirty="0">
                <a:solidFill>
                  <a:schemeClr val="tx1"/>
                </a:solidFill>
                <a:latin typeface="微軟正黑體" pitchFamily="34" charset="-120"/>
                <a:ea typeface="微軟正黑體" pitchFamily="34" charset="-120"/>
              </a:rPr>
              <a:t>技術手段不能解決問題</a:t>
            </a:r>
          </a:p>
        </p:txBody>
      </p:sp>
      <p:sp>
        <p:nvSpPr>
          <p:cNvPr id="17" name="圓角矩形 13">
            <a:extLst>
              <a:ext uri="{FF2B5EF4-FFF2-40B4-BE49-F238E27FC236}">
                <a16:creationId xmlns:a16="http://schemas.microsoft.com/office/drawing/2014/main" id="{E73B3838-CC68-4EA0-963D-D25671DFA503}"/>
              </a:ext>
            </a:extLst>
          </p:cNvPr>
          <p:cNvSpPr/>
          <p:nvPr/>
        </p:nvSpPr>
        <p:spPr>
          <a:xfrm>
            <a:off x="369964" y="4563126"/>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tx1">
                    <a:lumMod val="50000"/>
                    <a:lumOff val="50000"/>
                  </a:schemeClr>
                </a:solidFill>
                <a:latin typeface="微軟正黑體" pitchFamily="34" charset="-120"/>
                <a:ea typeface="微軟正黑體" pitchFamily="34" charset="-120"/>
              </a:rPr>
              <a:t>技術手段無法再現結果</a:t>
            </a:r>
          </a:p>
        </p:txBody>
      </p:sp>
      <p:sp>
        <p:nvSpPr>
          <p:cNvPr id="18" name="圓角矩形 14">
            <a:extLst>
              <a:ext uri="{FF2B5EF4-FFF2-40B4-BE49-F238E27FC236}">
                <a16:creationId xmlns:a16="http://schemas.microsoft.com/office/drawing/2014/main" id="{6EEB1464-2127-481B-BA80-4AF50EA06B21}"/>
              </a:ext>
            </a:extLst>
          </p:cNvPr>
          <p:cNvSpPr/>
          <p:nvPr/>
        </p:nvSpPr>
        <p:spPr>
          <a:xfrm>
            <a:off x="369964" y="5517232"/>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dirty="0">
                <a:solidFill>
                  <a:schemeClr val="tx1">
                    <a:lumMod val="50000"/>
                    <a:lumOff val="50000"/>
                  </a:schemeClr>
                </a:solidFill>
                <a:latin typeface="微軟正黑體" pitchFamily="34" charset="-120"/>
                <a:ea typeface="微軟正黑體" pitchFamily="34" charset="-120"/>
              </a:rPr>
              <a:t>未提供實驗數據</a:t>
            </a:r>
            <a:endParaRPr lang="zh-TW" altLang="en-US" sz="1800" dirty="0">
              <a:solidFill>
                <a:schemeClr val="tx1">
                  <a:lumMod val="50000"/>
                  <a:lumOff val="50000"/>
                </a:schemeClr>
              </a:solidFill>
              <a:latin typeface="微軟正黑體" pitchFamily="34" charset="-120"/>
              <a:ea typeface="微軟正黑體" pitchFamily="34" charset="-120"/>
            </a:endParaRPr>
          </a:p>
        </p:txBody>
      </p:sp>
      <p:sp>
        <p:nvSpPr>
          <p:cNvPr id="19" name="內容版面配置區 2">
            <a:extLst>
              <a:ext uri="{FF2B5EF4-FFF2-40B4-BE49-F238E27FC236}">
                <a16:creationId xmlns:a16="http://schemas.microsoft.com/office/drawing/2014/main" id="{FCB33263-414C-43A9-89BD-694E0CF6D403}"/>
              </a:ext>
            </a:extLst>
          </p:cNvPr>
          <p:cNvSpPr>
            <a:spLocks noGrp="1"/>
          </p:cNvSpPr>
          <p:nvPr>
            <p:ph idx="1"/>
          </p:nvPr>
        </p:nvSpPr>
        <p:spPr>
          <a:xfrm>
            <a:off x="3379719" y="1412776"/>
            <a:ext cx="5595757" cy="5127704"/>
          </a:xfrm>
        </p:spPr>
        <p:txBody>
          <a:bodyPr>
            <a:normAutofit/>
          </a:bodyPr>
          <a:lstStyle/>
          <a:p>
            <a:r>
              <a:rPr lang="zh-TW" altLang="en-US" sz="2400" dirty="0"/>
              <a:t>說明書雖然載有解決問題之技術手段，但採用該技術手段</a:t>
            </a:r>
            <a:r>
              <a:rPr lang="zh-TW" altLang="en-US" sz="2400" u="sng" dirty="0"/>
              <a:t>不能解決問題者</a:t>
            </a:r>
            <a:r>
              <a:rPr lang="zh-TW" altLang="en-US" sz="2400" dirty="0"/>
              <a:t>。</a:t>
            </a:r>
            <a:endParaRPr lang="en-US" altLang="zh-TW" sz="2400" u="sng" dirty="0">
              <a:solidFill>
                <a:srgbClr val="FF0000"/>
              </a:solidFill>
            </a:endParaRPr>
          </a:p>
        </p:txBody>
      </p:sp>
      <p:sp>
        <p:nvSpPr>
          <p:cNvPr id="3" name="文字方塊 2">
            <a:extLst>
              <a:ext uri="{FF2B5EF4-FFF2-40B4-BE49-F238E27FC236}">
                <a16:creationId xmlns:a16="http://schemas.microsoft.com/office/drawing/2014/main" id="{0031728B-3C73-40C5-9C95-EF4A6268C7AA}"/>
              </a:ext>
            </a:extLst>
          </p:cNvPr>
          <p:cNvSpPr txBox="1"/>
          <p:nvPr/>
        </p:nvSpPr>
        <p:spPr>
          <a:xfrm>
            <a:off x="3635896" y="2348880"/>
            <a:ext cx="5240479" cy="923330"/>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請求項</a:t>
            </a:r>
            <a:r>
              <a:rPr lang="en-US" altLang="zh-TW"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一種無線傳輸裝置，其可於水平距離</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公里之間進行訊號的發射與接收。</a:t>
            </a:r>
          </a:p>
        </p:txBody>
      </p:sp>
      <p:sp>
        <p:nvSpPr>
          <p:cNvPr id="21" name="文字方塊 20">
            <a:extLst>
              <a:ext uri="{FF2B5EF4-FFF2-40B4-BE49-F238E27FC236}">
                <a16:creationId xmlns:a16="http://schemas.microsoft.com/office/drawing/2014/main" id="{0A50C860-CB1C-4B24-8E11-8F264D3BA566}"/>
              </a:ext>
            </a:extLst>
          </p:cNvPr>
          <p:cNvSpPr txBox="1"/>
          <p:nvPr/>
        </p:nvSpPr>
        <p:spPr>
          <a:xfrm>
            <a:off x="3545837" y="3362797"/>
            <a:ext cx="5240479" cy="1200329"/>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說明</a:t>
            </a:r>
            <a:r>
              <a:rPr lang="en-US" altLang="zh-TW"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說明書中僅記載該無線傳輸裝置為藍牙裝置，但該發明所屬技術領域中具有通常知識者，瞭解申請時</a:t>
            </a:r>
          </a:p>
          <a:p>
            <a:r>
              <a:rPr lang="zh-TW" altLang="en-US" dirty="0">
                <a:latin typeface="微軟正黑體" panose="020B0604030504040204" pitchFamily="34" charset="-120"/>
                <a:ea typeface="微軟正黑體" panose="020B0604030504040204" pitchFamily="34" charset="-120"/>
              </a:rPr>
              <a:t>藍牙裝置之傳輸距離最遠為 </a:t>
            </a:r>
            <a:r>
              <a:rPr lang="en-US" altLang="zh-TW" dirty="0">
                <a:latin typeface="微軟正黑體" panose="020B0604030504040204" pitchFamily="34" charset="-120"/>
                <a:ea typeface="微軟正黑體" panose="020B0604030504040204" pitchFamily="34" charset="-120"/>
              </a:rPr>
              <a:t>100 </a:t>
            </a:r>
            <a:r>
              <a:rPr lang="zh-TW" altLang="en-US" dirty="0">
                <a:latin typeface="微軟正黑體" panose="020B0604030504040204" pitchFamily="34" charset="-120"/>
                <a:ea typeface="微軟正黑體" panose="020B0604030504040204" pitchFamily="34" charset="-120"/>
              </a:rPr>
              <a:t>公尺。</a:t>
            </a:r>
          </a:p>
        </p:txBody>
      </p:sp>
      <p:pic>
        <p:nvPicPr>
          <p:cNvPr id="1026" name="Picture 2" descr="Bluetooth Connectivity Wireless - Free vector graphic on Pixabay"/>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951303" y="4563126"/>
            <a:ext cx="2452589" cy="1852953"/>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p:cNvSpPr txBox="1"/>
          <p:nvPr/>
        </p:nvSpPr>
        <p:spPr>
          <a:xfrm>
            <a:off x="5637055" y="4914081"/>
            <a:ext cx="619080" cy="369332"/>
          </a:xfrm>
          <a:prstGeom prst="rect">
            <a:avLst/>
          </a:prstGeom>
          <a:noFill/>
        </p:spPr>
        <p:txBody>
          <a:bodyPr wrap="none" rtlCol="0">
            <a:spAutoFit/>
          </a:bodyPr>
          <a:lstStyle/>
          <a:p>
            <a:r>
              <a:rPr lang="en-US" altLang="zh-TW" dirty="0"/>
              <a:t>1KM</a:t>
            </a:r>
            <a:endParaRPr lang="zh-TW" altLang="en-US" dirty="0"/>
          </a:p>
        </p:txBody>
      </p:sp>
    </p:spTree>
    <p:extLst>
      <p:ext uri="{BB962C8B-B14F-4D97-AF65-F5344CB8AC3E}">
        <p14:creationId xmlns:p14="http://schemas.microsoft.com/office/powerpoint/2010/main" val="19500072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13FF7E-0971-466F-9D50-F0BDF8D553A2}"/>
              </a:ext>
            </a:extLst>
          </p:cNvPr>
          <p:cNvSpPr>
            <a:spLocks noGrp="1"/>
          </p:cNvSpPr>
          <p:nvPr>
            <p:ph type="title"/>
          </p:nvPr>
        </p:nvSpPr>
        <p:spPr/>
        <p:txBody>
          <a:bodyPr/>
          <a:lstStyle/>
          <a:p>
            <a:r>
              <a:rPr lang="zh-TW" altLang="en-US" dirty="0"/>
              <a:t>違反可據以實現要件</a:t>
            </a:r>
          </a:p>
        </p:txBody>
      </p:sp>
      <p:sp>
        <p:nvSpPr>
          <p:cNvPr id="4" name="投影片編號版面配置區 3">
            <a:extLst>
              <a:ext uri="{FF2B5EF4-FFF2-40B4-BE49-F238E27FC236}">
                <a16:creationId xmlns:a16="http://schemas.microsoft.com/office/drawing/2014/main" id="{F7AB2522-D801-46EA-8F8B-F123C8CB76E7}"/>
              </a:ext>
            </a:extLst>
          </p:cNvPr>
          <p:cNvSpPr>
            <a:spLocks noGrp="1"/>
          </p:cNvSpPr>
          <p:nvPr>
            <p:ph type="sldNum" sz="quarter" idx="12"/>
          </p:nvPr>
        </p:nvSpPr>
        <p:spPr>
          <a:xfrm>
            <a:off x="6633592" y="6463906"/>
            <a:ext cx="2133600" cy="365125"/>
          </a:xfrm>
        </p:spPr>
        <p:txBody>
          <a:bodyPr/>
          <a:lstStyle/>
          <a:p>
            <a:fld id="{51D2D507-09EA-4C6F-96ED-053C801F8797}" type="slidenum">
              <a:rPr lang="zh-TW" altLang="en-US" smtClean="0"/>
              <a:t>66</a:t>
            </a:fld>
            <a:endParaRPr lang="zh-TW" altLang="en-US" dirty="0"/>
          </a:p>
        </p:txBody>
      </p:sp>
      <p:sp>
        <p:nvSpPr>
          <p:cNvPr id="8" name="矩形 7">
            <a:extLst>
              <a:ext uri="{FF2B5EF4-FFF2-40B4-BE49-F238E27FC236}">
                <a16:creationId xmlns:a16="http://schemas.microsoft.com/office/drawing/2014/main" id="{AD788DC9-873F-4B06-90BE-F936EF232BB7}"/>
              </a:ext>
            </a:extLst>
          </p:cNvPr>
          <p:cNvSpPr/>
          <p:nvPr/>
        </p:nvSpPr>
        <p:spPr>
          <a:xfrm flipH="1">
            <a:off x="179511" y="1268760"/>
            <a:ext cx="3189219" cy="5271720"/>
          </a:xfrm>
          <a:prstGeom prst="rect">
            <a:avLst/>
          </a:prstGeom>
          <a:scene3d>
            <a:camera prst="orthographicFront"/>
            <a:lightRig rig="threePt" dir="t">
              <a:rot lat="0" lon="0" rev="7500000"/>
            </a:lightRig>
          </a:scene3d>
        </p:spPr>
        <p:style>
          <a:lnRef idx="2">
            <a:schemeClr val="dk1"/>
          </a:lnRef>
          <a:fillRef idx="1">
            <a:schemeClr val="lt1"/>
          </a:fillRef>
          <a:effectRef idx="0">
            <a:schemeClr val="dk1"/>
          </a:effectRef>
          <a:fontRef idx="minor">
            <a:schemeClr val="dk1"/>
          </a:fontRef>
        </p:style>
      </p:sp>
      <p:grpSp>
        <p:nvGrpSpPr>
          <p:cNvPr id="10" name="群組 9">
            <a:extLst>
              <a:ext uri="{FF2B5EF4-FFF2-40B4-BE49-F238E27FC236}">
                <a16:creationId xmlns:a16="http://schemas.microsoft.com/office/drawing/2014/main" id="{2E2E3DF5-4F1E-4A16-91C6-FEF2045A64D2}"/>
              </a:ext>
            </a:extLst>
          </p:cNvPr>
          <p:cNvGrpSpPr/>
          <p:nvPr/>
        </p:nvGrpSpPr>
        <p:grpSpPr>
          <a:xfrm>
            <a:off x="3379720" y="1268760"/>
            <a:ext cx="5595757" cy="5271720"/>
            <a:chOff x="3004839" y="794812"/>
            <a:chExt cx="6139160" cy="6007970"/>
          </a:xfrm>
          <a:scene3d>
            <a:camera prst="orthographicFront"/>
            <a:lightRig rig="threePt" dir="t">
              <a:rot lat="0" lon="0" rev="7500000"/>
            </a:lightRig>
          </a:scene3d>
        </p:grpSpPr>
        <p:sp>
          <p:nvSpPr>
            <p:cNvPr id="12" name="矩形 11">
              <a:extLst>
                <a:ext uri="{FF2B5EF4-FFF2-40B4-BE49-F238E27FC236}">
                  <a16:creationId xmlns:a16="http://schemas.microsoft.com/office/drawing/2014/main" id="{15AD7D75-5C49-4ACE-A933-0540F4B135FC}"/>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sp>
        <p:sp>
          <p:nvSpPr>
            <p:cNvPr id="13" name="矩形 12">
              <a:extLst>
                <a:ext uri="{FF2B5EF4-FFF2-40B4-BE49-F238E27FC236}">
                  <a16:creationId xmlns:a16="http://schemas.microsoft.com/office/drawing/2014/main" id="{DA7C05D4-15BD-44F0-87D0-BC58D768467A}"/>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txBody>
            <a:bodyPr spcFirstLastPara="0" vert="horz" wrap="square" lIns="102870" tIns="102870" rIns="102870" bIns="102870" numCol="1" spcCol="1270" anchor="t" anchorCtr="0">
              <a:noAutofit/>
            </a:bodyPr>
            <a:lstStyle/>
            <a:p>
              <a:pPr lvl="0" algn="l" defTabSz="1200150">
                <a:spcBef>
                  <a:spcPct val="0"/>
                </a:spcBef>
                <a:spcAft>
                  <a:spcPct val="35000"/>
                </a:spcAft>
              </a:pPr>
              <a:endParaRPr lang="zh-TW" altLang="en-US" b="0" kern="1200" dirty="0">
                <a:solidFill>
                  <a:schemeClr val="tx1"/>
                </a:solidFill>
                <a:latin typeface="微軟正黑體" panose="020B0604030504040204" pitchFamily="34" charset="-120"/>
                <a:ea typeface="微軟正黑體" panose="020B0604030504040204" pitchFamily="34" charset="-120"/>
              </a:endParaRPr>
            </a:p>
          </p:txBody>
        </p:sp>
      </p:grpSp>
      <p:sp>
        <p:nvSpPr>
          <p:cNvPr id="14" name="圓角矩形 10">
            <a:extLst>
              <a:ext uri="{FF2B5EF4-FFF2-40B4-BE49-F238E27FC236}">
                <a16:creationId xmlns:a16="http://schemas.microsoft.com/office/drawing/2014/main" id="{401ABB17-D1FD-4E91-B85A-49CB22E333CA}"/>
              </a:ext>
            </a:extLst>
          </p:cNvPr>
          <p:cNvSpPr/>
          <p:nvPr/>
        </p:nvSpPr>
        <p:spPr>
          <a:xfrm>
            <a:off x="369964" y="1700808"/>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未記載技術手段</a:t>
            </a:r>
          </a:p>
        </p:txBody>
      </p:sp>
      <p:sp>
        <p:nvSpPr>
          <p:cNvPr id="15" name="圓角矩形 11">
            <a:extLst>
              <a:ext uri="{FF2B5EF4-FFF2-40B4-BE49-F238E27FC236}">
                <a16:creationId xmlns:a16="http://schemas.microsoft.com/office/drawing/2014/main" id="{F003548F-D85C-4A1F-95D0-6476CA36919A}"/>
              </a:ext>
            </a:extLst>
          </p:cNvPr>
          <p:cNvSpPr/>
          <p:nvPr/>
        </p:nvSpPr>
        <p:spPr>
          <a:xfrm>
            <a:off x="369964" y="2654914"/>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技術手段太抽象</a:t>
            </a:r>
          </a:p>
        </p:txBody>
      </p:sp>
      <p:sp>
        <p:nvSpPr>
          <p:cNvPr id="16" name="圓角矩形 12">
            <a:extLst>
              <a:ext uri="{FF2B5EF4-FFF2-40B4-BE49-F238E27FC236}">
                <a16:creationId xmlns:a16="http://schemas.microsoft.com/office/drawing/2014/main" id="{A03D8182-2B66-42A5-8D1B-F43E88CA08F3}"/>
              </a:ext>
            </a:extLst>
          </p:cNvPr>
          <p:cNvSpPr/>
          <p:nvPr/>
        </p:nvSpPr>
        <p:spPr>
          <a:xfrm>
            <a:off x="369964" y="3609020"/>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技術手段不能解決問題</a:t>
            </a:r>
          </a:p>
        </p:txBody>
      </p:sp>
      <p:sp>
        <p:nvSpPr>
          <p:cNvPr id="17" name="圓角矩形 13">
            <a:extLst>
              <a:ext uri="{FF2B5EF4-FFF2-40B4-BE49-F238E27FC236}">
                <a16:creationId xmlns:a16="http://schemas.microsoft.com/office/drawing/2014/main" id="{E73B3838-CC68-4EA0-963D-D25671DFA503}"/>
              </a:ext>
            </a:extLst>
          </p:cNvPr>
          <p:cNvSpPr/>
          <p:nvPr/>
        </p:nvSpPr>
        <p:spPr>
          <a:xfrm>
            <a:off x="369964" y="4563126"/>
            <a:ext cx="2808312" cy="64807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zh-TW" altLang="en-US" sz="1800" dirty="0">
                <a:solidFill>
                  <a:schemeClr val="tx1"/>
                </a:solidFill>
                <a:latin typeface="微軟正黑體" pitchFamily="34" charset="-120"/>
                <a:ea typeface="微軟正黑體" pitchFamily="34" charset="-120"/>
              </a:rPr>
              <a:t>技術手段無法再現結果</a:t>
            </a:r>
          </a:p>
        </p:txBody>
      </p:sp>
      <p:sp>
        <p:nvSpPr>
          <p:cNvPr id="18" name="圓角矩形 14">
            <a:extLst>
              <a:ext uri="{FF2B5EF4-FFF2-40B4-BE49-F238E27FC236}">
                <a16:creationId xmlns:a16="http://schemas.microsoft.com/office/drawing/2014/main" id="{6EEB1464-2127-481B-BA80-4AF50EA06B21}"/>
              </a:ext>
            </a:extLst>
          </p:cNvPr>
          <p:cNvSpPr/>
          <p:nvPr/>
        </p:nvSpPr>
        <p:spPr>
          <a:xfrm>
            <a:off x="369964" y="5517232"/>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dirty="0">
                <a:solidFill>
                  <a:schemeClr val="tx1">
                    <a:lumMod val="50000"/>
                    <a:lumOff val="50000"/>
                  </a:schemeClr>
                </a:solidFill>
                <a:latin typeface="微軟正黑體" pitchFamily="34" charset="-120"/>
                <a:ea typeface="微軟正黑體" pitchFamily="34" charset="-120"/>
              </a:rPr>
              <a:t>未提供實驗數據</a:t>
            </a:r>
            <a:endParaRPr lang="zh-TW" altLang="en-US" sz="1800" dirty="0">
              <a:solidFill>
                <a:schemeClr val="tx1">
                  <a:lumMod val="50000"/>
                  <a:lumOff val="50000"/>
                </a:schemeClr>
              </a:solidFill>
              <a:latin typeface="微軟正黑體" pitchFamily="34" charset="-120"/>
              <a:ea typeface="微軟正黑體" pitchFamily="34" charset="-120"/>
            </a:endParaRPr>
          </a:p>
        </p:txBody>
      </p:sp>
      <p:sp>
        <p:nvSpPr>
          <p:cNvPr id="19" name="內容版面配置區 2">
            <a:extLst>
              <a:ext uri="{FF2B5EF4-FFF2-40B4-BE49-F238E27FC236}">
                <a16:creationId xmlns:a16="http://schemas.microsoft.com/office/drawing/2014/main" id="{FCB33263-414C-43A9-89BD-694E0CF6D403}"/>
              </a:ext>
            </a:extLst>
          </p:cNvPr>
          <p:cNvSpPr>
            <a:spLocks noGrp="1"/>
          </p:cNvSpPr>
          <p:nvPr>
            <p:ph idx="1"/>
          </p:nvPr>
        </p:nvSpPr>
        <p:spPr>
          <a:xfrm>
            <a:off x="3379719" y="1412776"/>
            <a:ext cx="5595757" cy="5127704"/>
          </a:xfrm>
        </p:spPr>
        <p:txBody>
          <a:bodyPr>
            <a:normAutofit/>
          </a:bodyPr>
          <a:lstStyle/>
          <a:p>
            <a:r>
              <a:rPr lang="zh-TW" altLang="en-US" sz="2400" dirty="0"/>
              <a:t>說明書雖然載有解決問題之技術手段，但</a:t>
            </a:r>
            <a:r>
              <a:rPr lang="zh-TW" altLang="en-US" sz="2400" u="sng" dirty="0"/>
              <a:t>無法再現或僅能隨機再現</a:t>
            </a:r>
            <a:r>
              <a:rPr lang="zh-TW" altLang="en-US" sz="2400" dirty="0"/>
              <a:t>說明書所載之結果者。</a:t>
            </a:r>
            <a:endParaRPr lang="en-US" altLang="zh-TW" sz="2400" u="sng" dirty="0">
              <a:solidFill>
                <a:srgbClr val="FF0000"/>
              </a:solidFill>
            </a:endParaRPr>
          </a:p>
        </p:txBody>
      </p:sp>
      <p:sp>
        <p:nvSpPr>
          <p:cNvPr id="3" name="文字方塊 2">
            <a:extLst>
              <a:ext uri="{FF2B5EF4-FFF2-40B4-BE49-F238E27FC236}">
                <a16:creationId xmlns:a16="http://schemas.microsoft.com/office/drawing/2014/main" id="{0031728B-3C73-40C5-9C95-EF4A6268C7AA}"/>
              </a:ext>
            </a:extLst>
          </p:cNvPr>
          <p:cNvSpPr txBox="1"/>
          <p:nvPr/>
        </p:nvSpPr>
        <p:spPr>
          <a:xfrm>
            <a:off x="3635896" y="2942781"/>
            <a:ext cx="5240479" cy="923330"/>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請求項</a:t>
            </a:r>
            <a:r>
              <a:rPr lang="en-US" altLang="zh-TW"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一種新穎大腸桿菌</a:t>
            </a:r>
            <a:r>
              <a:rPr lang="en-US" altLang="zh-TW" dirty="0">
                <a:latin typeface="微軟正黑體" panose="020B0604030504040204" pitchFamily="34" charset="-120"/>
                <a:ea typeface="微軟正黑體" panose="020B0604030504040204" pitchFamily="34" charset="-120"/>
              </a:rPr>
              <a:t>Z</a:t>
            </a:r>
            <a:r>
              <a:rPr lang="zh-TW" altLang="en-US" dirty="0">
                <a:latin typeface="微軟正黑體" panose="020B0604030504040204" pitchFamily="34" charset="-120"/>
                <a:ea typeface="微軟正黑體" panose="020B0604030504040204" pitchFamily="34" charset="-120"/>
              </a:rPr>
              <a:t>之製造方法，其特徵在於將大腸桿菌暴露於 </a:t>
            </a:r>
            <a:r>
              <a:rPr lang="en-US" altLang="zh-TW" dirty="0">
                <a:latin typeface="微軟正黑體" panose="020B0604030504040204" pitchFamily="34" charset="-120"/>
                <a:ea typeface="微軟正黑體" panose="020B0604030504040204" pitchFamily="34" charset="-120"/>
              </a:rPr>
              <a:t>X </a:t>
            </a:r>
            <a:r>
              <a:rPr lang="zh-TW" altLang="en-US" dirty="0">
                <a:latin typeface="微軟正黑體" panose="020B0604030504040204" pitchFamily="34" charset="-120"/>
                <a:ea typeface="微軟正黑體" panose="020B0604030504040204" pitchFamily="34" charset="-120"/>
              </a:rPr>
              <a:t>射線。</a:t>
            </a:r>
          </a:p>
        </p:txBody>
      </p:sp>
      <p:sp>
        <p:nvSpPr>
          <p:cNvPr id="21" name="文字方塊 20">
            <a:extLst>
              <a:ext uri="{FF2B5EF4-FFF2-40B4-BE49-F238E27FC236}">
                <a16:creationId xmlns:a16="http://schemas.microsoft.com/office/drawing/2014/main" id="{0A50C860-CB1C-4B24-8E11-8F264D3BA566}"/>
              </a:ext>
            </a:extLst>
          </p:cNvPr>
          <p:cNvSpPr txBox="1"/>
          <p:nvPr/>
        </p:nvSpPr>
        <p:spPr>
          <a:xfrm>
            <a:off x="3545837" y="3956698"/>
            <a:ext cx="5240479" cy="1477328"/>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說明</a:t>
            </a:r>
            <a:r>
              <a:rPr lang="en-US" altLang="zh-TW"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由說明書中之實施例發現，暴露於 </a:t>
            </a:r>
            <a:r>
              <a:rPr lang="en-US" altLang="zh-TW" dirty="0">
                <a:latin typeface="微軟正黑體" panose="020B0604030504040204" pitchFamily="34" charset="-120"/>
                <a:ea typeface="微軟正黑體" panose="020B0604030504040204" pitchFamily="34" charset="-120"/>
              </a:rPr>
              <a:t>X </a:t>
            </a:r>
            <a:r>
              <a:rPr lang="zh-TW" altLang="en-US" dirty="0">
                <a:latin typeface="微軟正黑體" panose="020B0604030504040204" pitchFamily="34" charset="-120"/>
                <a:ea typeface="微軟正黑體" panose="020B0604030504040204" pitchFamily="34" charset="-120"/>
              </a:rPr>
              <a:t>射線而</a:t>
            </a:r>
            <a:r>
              <a:rPr lang="zh-TW" altLang="en-US" u="sng" dirty="0">
                <a:latin typeface="微軟正黑體" panose="020B0604030504040204" pitchFamily="34" charset="-120"/>
                <a:ea typeface="微軟正黑體" panose="020B0604030504040204" pitchFamily="34" charset="-120"/>
              </a:rPr>
              <a:t>突變</a:t>
            </a:r>
            <a:r>
              <a:rPr lang="zh-TW" altLang="en-US" dirty="0">
                <a:latin typeface="微軟正黑體" panose="020B0604030504040204" pitchFamily="34" charset="-120"/>
                <a:ea typeface="微軟正黑體" panose="020B0604030504040204" pitchFamily="34" charset="-120"/>
              </a:rPr>
              <a:t>為新穎大腸桿菌 </a:t>
            </a:r>
            <a:r>
              <a:rPr lang="en-US" altLang="zh-TW" dirty="0">
                <a:latin typeface="微軟正黑體" panose="020B0604030504040204" pitchFamily="34" charset="-120"/>
                <a:ea typeface="微軟正黑體" panose="020B0604030504040204" pitchFamily="34" charset="-120"/>
              </a:rPr>
              <a:t>Z </a:t>
            </a:r>
            <a:r>
              <a:rPr lang="zh-TW" altLang="en-US" dirty="0">
                <a:latin typeface="微軟正黑體" panose="020B0604030504040204" pitchFamily="34" charset="-120"/>
                <a:ea typeface="微軟正黑體" panose="020B0604030504040204" pitchFamily="34" charset="-120"/>
              </a:rPr>
              <a:t>係</a:t>
            </a:r>
            <a:r>
              <a:rPr lang="zh-TW" altLang="en-US" u="sng" dirty="0">
                <a:latin typeface="微軟正黑體" panose="020B0604030504040204" pitchFamily="34" charset="-120"/>
                <a:ea typeface="微軟正黑體" panose="020B0604030504040204" pitchFamily="34" charset="-120"/>
              </a:rPr>
              <a:t>隨機再現</a:t>
            </a:r>
            <a:r>
              <a:rPr lang="zh-TW" altLang="en-US" dirty="0">
                <a:latin typeface="微軟正黑體" panose="020B0604030504040204" pitchFamily="34" charset="-120"/>
                <a:ea typeface="微軟正黑體" panose="020B0604030504040204" pitchFamily="34" charset="-120"/>
              </a:rPr>
              <a:t>，且該發明所屬技術領域中具有通常知識者，仍無法理解如何以其他之技術手段，產生新穎大腸桿菌 </a:t>
            </a:r>
            <a:r>
              <a:rPr lang="en-US" altLang="zh-TW" dirty="0">
                <a:latin typeface="微軟正黑體" panose="020B0604030504040204" pitchFamily="34" charset="-120"/>
                <a:ea typeface="微軟正黑體" panose="020B0604030504040204" pitchFamily="34" charset="-120"/>
              </a:rPr>
              <a:t>Z</a:t>
            </a:r>
            <a:r>
              <a:rPr lang="zh-TW" altLang="en-US"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4296998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13FF7E-0971-466F-9D50-F0BDF8D553A2}"/>
              </a:ext>
            </a:extLst>
          </p:cNvPr>
          <p:cNvSpPr>
            <a:spLocks noGrp="1"/>
          </p:cNvSpPr>
          <p:nvPr>
            <p:ph type="title"/>
          </p:nvPr>
        </p:nvSpPr>
        <p:spPr/>
        <p:txBody>
          <a:bodyPr/>
          <a:lstStyle/>
          <a:p>
            <a:r>
              <a:rPr lang="zh-TW" altLang="en-US" dirty="0"/>
              <a:t>違反可據以實現要件</a:t>
            </a:r>
          </a:p>
        </p:txBody>
      </p:sp>
      <p:sp>
        <p:nvSpPr>
          <p:cNvPr id="4" name="投影片編號版面配置區 3">
            <a:extLst>
              <a:ext uri="{FF2B5EF4-FFF2-40B4-BE49-F238E27FC236}">
                <a16:creationId xmlns:a16="http://schemas.microsoft.com/office/drawing/2014/main" id="{F7AB2522-D801-46EA-8F8B-F123C8CB76E7}"/>
              </a:ext>
            </a:extLst>
          </p:cNvPr>
          <p:cNvSpPr>
            <a:spLocks noGrp="1"/>
          </p:cNvSpPr>
          <p:nvPr>
            <p:ph type="sldNum" sz="quarter" idx="12"/>
          </p:nvPr>
        </p:nvSpPr>
        <p:spPr>
          <a:xfrm>
            <a:off x="6633592" y="6463906"/>
            <a:ext cx="2133600" cy="365125"/>
          </a:xfrm>
        </p:spPr>
        <p:txBody>
          <a:bodyPr/>
          <a:lstStyle/>
          <a:p>
            <a:fld id="{51D2D507-09EA-4C6F-96ED-053C801F8797}" type="slidenum">
              <a:rPr lang="zh-TW" altLang="en-US" smtClean="0"/>
              <a:t>67</a:t>
            </a:fld>
            <a:endParaRPr lang="zh-TW" altLang="en-US" dirty="0"/>
          </a:p>
        </p:txBody>
      </p:sp>
      <p:sp>
        <p:nvSpPr>
          <p:cNvPr id="8" name="矩形 7">
            <a:extLst>
              <a:ext uri="{FF2B5EF4-FFF2-40B4-BE49-F238E27FC236}">
                <a16:creationId xmlns:a16="http://schemas.microsoft.com/office/drawing/2014/main" id="{AD788DC9-873F-4B06-90BE-F936EF232BB7}"/>
              </a:ext>
            </a:extLst>
          </p:cNvPr>
          <p:cNvSpPr/>
          <p:nvPr/>
        </p:nvSpPr>
        <p:spPr>
          <a:xfrm flipH="1">
            <a:off x="179511" y="1268760"/>
            <a:ext cx="3189219" cy="5271720"/>
          </a:xfrm>
          <a:prstGeom prst="rect">
            <a:avLst/>
          </a:prstGeom>
          <a:scene3d>
            <a:camera prst="orthographicFront"/>
            <a:lightRig rig="threePt" dir="t">
              <a:rot lat="0" lon="0" rev="7500000"/>
            </a:lightRig>
          </a:scene3d>
        </p:spPr>
        <p:style>
          <a:lnRef idx="2">
            <a:schemeClr val="dk1"/>
          </a:lnRef>
          <a:fillRef idx="1">
            <a:schemeClr val="lt1"/>
          </a:fillRef>
          <a:effectRef idx="0">
            <a:schemeClr val="dk1"/>
          </a:effectRef>
          <a:fontRef idx="minor">
            <a:schemeClr val="dk1"/>
          </a:fontRef>
        </p:style>
      </p:sp>
      <p:grpSp>
        <p:nvGrpSpPr>
          <p:cNvPr id="10" name="群組 9">
            <a:extLst>
              <a:ext uri="{FF2B5EF4-FFF2-40B4-BE49-F238E27FC236}">
                <a16:creationId xmlns:a16="http://schemas.microsoft.com/office/drawing/2014/main" id="{2E2E3DF5-4F1E-4A16-91C6-FEF2045A64D2}"/>
              </a:ext>
            </a:extLst>
          </p:cNvPr>
          <p:cNvGrpSpPr/>
          <p:nvPr/>
        </p:nvGrpSpPr>
        <p:grpSpPr>
          <a:xfrm>
            <a:off x="3379720" y="1268760"/>
            <a:ext cx="5595757" cy="5271720"/>
            <a:chOff x="3004839" y="794812"/>
            <a:chExt cx="6139160" cy="6007970"/>
          </a:xfrm>
          <a:scene3d>
            <a:camera prst="orthographicFront"/>
            <a:lightRig rig="threePt" dir="t">
              <a:rot lat="0" lon="0" rev="7500000"/>
            </a:lightRig>
          </a:scene3d>
        </p:grpSpPr>
        <p:sp>
          <p:nvSpPr>
            <p:cNvPr id="12" name="矩形 11">
              <a:extLst>
                <a:ext uri="{FF2B5EF4-FFF2-40B4-BE49-F238E27FC236}">
                  <a16:creationId xmlns:a16="http://schemas.microsoft.com/office/drawing/2014/main" id="{15AD7D75-5C49-4ACE-A933-0540F4B135FC}"/>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sp>
        <p:sp>
          <p:nvSpPr>
            <p:cNvPr id="13" name="矩形 12">
              <a:extLst>
                <a:ext uri="{FF2B5EF4-FFF2-40B4-BE49-F238E27FC236}">
                  <a16:creationId xmlns:a16="http://schemas.microsoft.com/office/drawing/2014/main" id="{DA7C05D4-15BD-44F0-87D0-BC58D768467A}"/>
                </a:ext>
              </a:extLst>
            </p:cNvPr>
            <p:cNvSpPr/>
            <p:nvPr/>
          </p:nvSpPr>
          <p:spPr>
            <a:xfrm>
              <a:off x="3004839" y="794812"/>
              <a:ext cx="6139160" cy="6007970"/>
            </a:xfrm>
            <a:prstGeom prst="rect">
              <a:avLst/>
            </a:prstGeom>
          </p:spPr>
          <p:style>
            <a:lnRef idx="2">
              <a:schemeClr val="dk1"/>
            </a:lnRef>
            <a:fillRef idx="1">
              <a:schemeClr val="lt1"/>
            </a:fillRef>
            <a:effectRef idx="0">
              <a:schemeClr val="dk1"/>
            </a:effectRef>
            <a:fontRef idx="minor">
              <a:schemeClr val="dk1"/>
            </a:fontRef>
          </p:style>
          <p:txBody>
            <a:bodyPr spcFirstLastPara="0" vert="horz" wrap="square" lIns="102870" tIns="102870" rIns="102870" bIns="102870" numCol="1" spcCol="1270" anchor="t" anchorCtr="0">
              <a:noAutofit/>
            </a:bodyPr>
            <a:lstStyle/>
            <a:p>
              <a:pPr lvl="0" algn="l" defTabSz="1200150">
                <a:spcBef>
                  <a:spcPct val="0"/>
                </a:spcBef>
                <a:spcAft>
                  <a:spcPct val="35000"/>
                </a:spcAft>
              </a:pPr>
              <a:endParaRPr lang="zh-TW" altLang="en-US" b="0" kern="1200" dirty="0">
                <a:solidFill>
                  <a:schemeClr val="tx1"/>
                </a:solidFill>
                <a:latin typeface="微軟正黑體" panose="020B0604030504040204" pitchFamily="34" charset="-120"/>
                <a:ea typeface="微軟正黑體" panose="020B0604030504040204" pitchFamily="34" charset="-120"/>
              </a:endParaRPr>
            </a:p>
          </p:txBody>
        </p:sp>
      </p:grpSp>
      <p:sp>
        <p:nvSpPr>
          <p:cNvPr id="14" name="圓角矩形 10">
            <a:extLst>
              <a:ext uri="{FF2B5EF4-FFF2-40B4-BE49-F238E27FC236}">
                <a16:creationId xmlns:a16="http://schemas.microsoft.com/office/drawing/2014/main" id="{401ABB17-D1FD-4E91-B85A-49CB22E333CA}"/>
              </a:ext>
            </a:extLst>
          </p:cNvPr>
          <p:cNvSpPr/>
          <p:nvPr/>
        </p:nvSpPr>
        <p:spPr>
          <a:xfrm>
            <a:off x="369964" y="1700808"/>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未記載技術手段</a:t>
            </a:r>
          </a:p>
        </p:txBody>
      </p:sp>
      <p:sp>
        <p:nvSpPr>
          <p:cNvPr id="15" name="圓角矩形 11">
            <a:extLst>
              <a:ext uri="{FF2B5EF4-FFF2-40B4-BE49-F238E27FC236}">
                <a16:creationId xmlns:a16="http://schemas.microsoft.com/office/drawing/2014/main" id="{F003548F-D85C-4A1F-95D0-6476CA36919A}"/>
              </a:ext>
            </a:extLst>
          </p:cNvPr>
          <p:cNvSpPr/>
          <p:nvPr/>
        </p:nvSpPr>
        <p:spPr>
          <a:xfrm>
            <a:off x="369964" y="2654914"/>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技術手段太抽象</a:t>
            </a:r>
          </a:p>
        </p:txBody>
      </p:sp>
      <p:sp>
        <p:nvSpPr>
          <p:cNvPr id="16" name="圓角矩形 12">
            <a:extLst>
              <a:ext uri="{FF2B5EF4-FFF2-40B4-BE49-F238E27FC236}">
                <a16:creationId xmlns:a16="http://schemas.microsoft.com/office/drawing/2014/main" id="{A03D8182-2B66-42A5-8D1B-F43E88CA08F3}"/>
              </a:ext>
            </a:extLst>
          </p:cNvPr>
          <p:cNvSpPr/>
          <p:nvPr/>
        </p:nvSpPr>
        <p:spPr>
          <a:xfrm>
            <a:off x="369964" y="3609020"/>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技術手段不能解決問題</a:t>
            </a:r>
          </a:p>
        </p:txBody>
      </p:sp>
      <p:sp>
        <p:nvSpPr>
          <p:cNvPr id="17" name="圓角矩形 13">
            <a:extLst>
              <a:ext uri="{FF2B5EF4-FFF2-40B4-BE49-F238E27FC236}">
                <a16:creationId xmlns:a16="http://schemas.microsoft.com/office/drawing/2014/main" id="{E73B3838-CC68-4EA0-963D-D25671DFA503}"/>
              </a:ext>
            </a:extLst>
          </p:cNvPr>
          <p:cNvSpPr/>
          <p:nvPr/>
        </p:nvSpPr>
        <p:spPr>
          <a:xfrm>
            <a:off x="369964" y="4563126"/>
            <a:ext cx="2808312" cy="6480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zh-TW" altLang="en-US" sz="1800" dirty="0">
                <a:solidFill>
                  <a:schemeClr val="bg1">
                    <a:lumMod val="50000"/>
                  </a:schemeClr>
                </a:solidFill>
                <a:latin typeface="微軟正黑體" pitchFamily="34" charset="-120"/>
                <a:ea typeface="微軟正黑體" pitchFamily="34" charset="-120"/>
              </a:rPr>
              <a:t>技術手段無法再現結果</a:t>
            </a:r>
          </a:p>
        </p:txBody>
      </p:sp>
      <p:sp>
        <p:nvSpPr>
          <p:cNvPr id="18" name="圓角矩形 14">
            <a:extLst>
              <a:ext uri="{FF2B5EF4-FFF2-40B4-BE49-F238E27FC236}">
                <a16:creationId xmlns:a16="http://schemas.microsoft.com/office/drawing/2014/main" id="{6EEB1464-2127-481B-BA80-4AF50EA06B21}"/>
              </a:ext>
            </a:extLst>
          </p:cNvPr>
          <p:cNvSpPr/>
          <p:nvPr/>
        </p:nvSpPr>
        <p:spPr>
          <a:xfrm>
            <a:off x="369964" y="5517232"/>
            <a:ext cx="2808312" cy="64807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zh-TW" altLang="en-US" dirty="0">
                <a:solidFill>
                  <a:schemeClr val="tx1"/>
                </a:solidFill>
                <a:latin typeface="微軟正黑體" pitchFamily="34" charset="-120"/>
                <a:ea typeface="微軟正黑體" pitchFamily="34" charset="-120"/>
              </a:rPr>
              <a:t>未提供實驗數據</a:t>
            </a:r>
            <a:endParaRPr lang="zh-TW" altLang="en-US" sz="1800" dirty="0">
              <a:solidFill>
                <a:schemeClr val="tx1"/>
              </a:solidFill>
              <a:latin typeface="微軟正黑體" pitchFamily="34" charset="-120"/>
              <a:ea typeface="微軟正黑體" pitchFamily="34" charset="-120"/>
            </a:endParaRPr>
          </a:p>
        </p:txBody>
      </p:sp>
      <p:sp>
        <p:nvSpPr>
          <p:cNvPr id="19" name="內容版面配置區 2">
            <a:extLst>
              <a:ext uri="{FF2B5EF4-FFF2-40B4-BE49-F238E27FC236}">
                <a16:creationId xmlns:a16="http://schemas.microsoft.com/office/drawing/2014/main" id="{FCB33263-414C-43A9-89BD-694E0CF6D403}"/>
              </a:ext>
            </a:extLst>
          </p:cNvPr>
          <p:cNvSpPr>
            <a:spLocks noGrp="1"/>
          </p:cNvSpPr>
          <p:nvPr>
            <p:ph idx="1"/>
          </p:nvPr>
        </p:nvSpPr>
        <p:spPr>
          <a:xfrm>
            <a:off x="3379719" y="1412776"/>
            <a:ext cx="5595757" cy="5127704"/>
          </a:xfrm>
        </p:spPr>
        <p:txBody>
          <a:bodyPr>
            <a:normAutofit/>
          </a:bodyPr>
          <a:lstStyle/>
          <a:p>
            <a:r>
              <a:rPr lang="zh-TW" altLang="en-US" sz="2400" dirty="0"/>
              <a:t>說明書雖然載有具體的技術手段，且該手段</a:t>
            </a:r>
            <a:r>
              <a:rPr lang="zh-TW" altLang="en-US" sz="2400" u="sng" dirty="0"/>
              <a:t>必須依賴實驗結果予以證明</a:t>
            </a:r>
            <a:r>
              <a:rPr lang="zh-TW" altLang="en-US" sz="2400" dirty="0"/>
              <a:t>，但</a:t>
            </a:r>
            <a:r>
              <a:rPr lang="zh-TW" altLang="en-US" sz="2400" u="sng" dirty="0"/>
              <a:t>未提供實驗數據</a:t>
            </a:r>
            <a:r>
              <a:rPr lang="zh-TW" altLang="en-US" sz="2400" dirty="0"/>
              <a:t>，致無法證實該技術手段可達成所欲解決之問題。</a:t>
            </a:r>
            <a:endParaRPr lang="en-US" altLang="zh-TW" sz="2400" u="sng" dirty="0">
              <a:solidFill>
                <a:srgbClr val="FF0000"/>
              </a:solidFill>
            </a:endParaRPr>
          </a:p>
        </p:txBody>
      </p:sp>
      <p:sp>
        <p:nvSpPr>
          <p:cNvPr id="21" name="文字方塊 20">
            <a:extLst>
              <a:ext uri="{FF2B5EF4-FFF2-40B4-BE49-F238E27FC236}">
                <a16:creationId xmlns:a16="http://schemas.microsoft.com/office/drawing/2014/main" id="{0A50C860-CB1C-4B24-8E11-8F264D3BA566}"/>
              </a:ext>
            </a:extLst>
          </p:cNvPr>
          <p:cNvSpPr txBox="1"/>
          <p:nvPr/>
        </p:nvSpPr>
        <p:spPr>
          <a:xfrm>
            <a:off x="3545837" y="4107530"/>
            <a:ext cx="5240479" cy="1200329"/>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說明</a:t>
            </a:r>
            <a:r>
              <a:rPr lang="en-US" altLang="zh-TW" dirty="0">
                <a:latin typeface="微軟正黑體" panose="020B0604030504040204" pitchFamily="34" charset="-120"/>
                <a:ea typeface="微軟正黑體" panose="020B0604030504040204" pitchFamily="34" charset="-120"/>
              </a:rPr>
              <a:t>】</a:t>
            </a:r>
          </a:p>
          <a:p>
            <a:r>
              <a:rPr lang="zh-TW" altLang="en-US" dirty="0">
                <a:latin typeface="微軟正黑體" panose="020B0604030504040204" pitchFamily="34" charset="-120"/>
                <a:ea typeface="微軟正黑體" panose="020B0604030504040204" pitchFamily="34" charset="-120"/>
              </a:rPr>
              <a:t>例如申請專利之發明為已知化合物的</a:t>
            </a:r>
            <a:r>
              <a:rPr lang="zh-TW" altLang="en-US" u="sng" dirty="0">
                <a:latin typeface="微軟正黑體" panose="020B0604030504040204" pitchFamily="34" charset="-120"/>
                <a:ea typeface="微軟正黑體" panose="020B0604030504040204" pitchFamily="34" charset="-120"/>
              </a:rPr>
              <a:t>新用途發明</a:t>
            </a:r>
            <a:r>
              <a:rPr lang="zh-TW" altLang="en-US" dirty="0">
                <a:latin typeface="微軟正黑體" panose="020B0604030504040204" pitchFamily="34" charset="-120"/>
                <a:ea typeface="微軟正黑體" panose="020B0604030504040204" pitchFamily="34" charset="-120"/>
              </a:rPr>
              <a:t>，其用於製備治療心臟病之藥物，但說明書</a:t>
            </a:r>
            <a:r>
              <a:rPr lang="zh-TW" altLang="en-US" u="sng" dirty="0">
                <a:latin typeface="微軟正黑體" panose="020B0604030504040204" pitchFamily="34" charset="-120"/>
                <a:ea typeface="微軟正黑體" panose="020B0604030504040204" pitchFamily="34" charset="-120"/>
              </a:rPr>
              <a:t>未提供</a:t>
            </a:r>
            <a:r>
              <a:rPr lang="zh-TW" altLang="en-US" dirty="0">
                <a:latin typeface="微軟正黑體" panose="020B0604030504040204" pitchFamily="34" charset="-120"/>
                <a:ea typeface="微軟正黑體" panose="020B0604030504040204" pitchFamily="34" charset="-120"/>
              </a:rPr>
              <a:t>任何實驗數據來</a:t>
            </a:r>
            <a:r>
              <a:rPr lang="zh-TW" altLang="en-US" u="sng" dirty="0">
                <a:latin typeface="微軟正黑體" panose="020B0604030504040204" pitchFamily="34" charset="-120"/>
                <a:ea typeface="微軟正黑體" panose="020B0604030504040204" pitchFamily="34" charset="-120"/>
              </a:rPr>
              <a:t>證實該化合物對心臟病具有療效</a:t>
            </a:r>
            <a:r>
              <a:rPr lang="zh-TW" altLang="en-US"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6450799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申請專利範圍 </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pPr/>
              <a:t>68</a:t>
            </a:fld>
            <a:endParaRPr lang="zh-TW" altLang="en-US" dirty="0"/>
          </a:p>
        </p:txBody>
      </p:sp>
      <p:pic>
        <p:nvPicPr>
          <p:cNvPr id="5122"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1025" y="833105"/>
            <a:ext cx="4165058" cy="59899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矩形 17"/>
          <p:cNvSpPr/>
          <p:nvPr/>
        </p:nvSpPr>
        <p:spPr>
          <a:xfrm>
            <a:off x="4216083" y="1577613"/>
            <a:ext cx="4750957"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TW" altLang="en-US" b="1" u="sng" dirty="0">
                <a:latin typeface="微軟正黑體" panose="020B0604030504040204" pitchFamily="34" charset="-120"/>
                <a:ea typeface="微軟正黑體" panose="020B0604030504040204" pitchFamily="34" charset="-120"/>
              </a:rPr>
              <a:t>發明專利權範圍</a:t>
            </a:r>
            <a:r>
              <a:rPr lang="zh-TW" altLang="en-US" dirty="0">
                <a:latin typeface="微軟正黑體" panose="020B0604030504040204" pitchFamily="34" charset="-120"/>
                <a:ea typeface="微軟正黑體" panose="020B0604030504040204" pitchFamily="34" charset="-120"/>
              </a:rPr>
              <a:t>，以申請專利範圍為準。申請人具體請求保護的發明必須記載於申請專利範圍，即申請專利範圍應界定申請專利之發明。</a:t>
            </a:r>
            <a:endParaRPr lang="zh-TW" altLang="en-US" b="1" u="sng" dirty="0">
              <a:latin typeface="微軟正黑體" panose="020B0604030504040204" pitchFamily="34" charset="-120"/>
              <a:ea typeface="微軟正黑體" panose="020B0604030504040204" pitchFamily="34" charset="-120"/>
            </a:endParaRPr>
          </a:p>
        </p:txBody>
      </p:sp>
      <p:sp>
        <p:nvSpPr>
          <p:cNvPr id="21" name="矩形 20"/>
          <p:cNvSpPr/>
          <p:nvPr/>
        </p:nvSpPr>
        <p:spPr>
          <a:xfrm>
            <a:off x="4216082" y="3118373"/>
            <a:ext cx="4750957" cy="175432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申請專利範圍得包括一項以上之請求項，各請求項應以</a:t>
            </a:r>
            <a:r>
              <a:rPr lang="zh-TW" altLang="en-US" b="1" u="sng" dirty="0">
                <a:latin typeface="微軟正黑體" panose="020B0604030504040204" pitchFamily="34" charset="-120"/>
                <a:ea typeface="微軟正黑體" panose="020B0604030504040204" pitchFamily="34" charset="-120"/>
              </a:rPr>
              <a:t>明確</a:t>
            </a:r>
            <a:r>
              <a:rPr lang="zh-TW" altLang="en-US" dirty="0">
                <a:latin typeface="微軟正黑體" panose="020B0604030504040204" pitchFamily="34" charset="-120"/>
                <a:ea typeface="微軟正黑體" panose="020B0604030504040204" pitchFamily="34" charset="-120"/>
              </a:rPr>
              <a:t>、</a:t>
            </a:r>
            <a:r>
              <a:rPr lang="zh-TW" altLang="en-US" b="1" u="sng" dirty="0">
                <a:latin typeface="微軟正黑體" panose="020B0604030504040204" pitchFamily="34" charset="-120"/>
                <a:ea typeface="微軟正黑體" panose="020B0604030504040204" pitchFamily="34" charset="-120"/>
              </a:rPr>
              <a:t>簡潔</a:t>
            </a:r>
            <a:r>
              <a:rPr lang="zh-TW" altLang="en-US" dirty="0">
                <a:latin typeface="微軟正黑體" panose="020B0604030504040204" pitchFamily="34" charset="-120"/>
                <a:ea typeface="微軟正黑體" panose="020B0604030504040204" pitchFamily="34" charset="-120"/>
              </a:rPr>
              <a:t>之方式記載，且必須</a:t>
            </a:r>
            <a:r>
              <a:rPr lang="zh-TW" altLang="en-US" b="1" u="sng" dirty="0">
                <a:latin typeface="微軟正黑體" panose="020B0604030504040204" pitchFamily="34" charset="-120"/>
                <a:ea typeface="微軟正黑體" panose="020B0604030504040204" pitchFamily="34" charset="-120"/>
              </a:rPr>
              <a:t>為說明書所支持</a:t>
            </a:r>
            <a:r>
              <a:rPr lang="zh-TW" altLang="en-US" dirty="0">
                <a:latin typeface="微軟正黑體" panose="020B0604030504040204" pitchFamily="34" charset="-120"/>
                <a:ea typeface="微軟正黑體" panose="020B0604030504040204" pitchFamily="34" charset="-120"/>
              </a:rPr>
              <a:t>。請求項係用於</a:t>
            </a:r>
            <a:r>
              <a:rPr lang="zh-TW" altLang="en-US" b="1" u="sng" dirty="0">
                <a:latin typeface="微軟正黑體" panose="020B0604030504040204" pitchFamily="34" charset="-120"/>
                <a:ea typeface="微軟正黑體" panose="020B0604030504040204" pitchFamily="34" charset="-120"/>
              </a:rPr>
              <a:t>記載申請人認為是界定申請專利之發明的必要技術特徵</a:t>
            </a:r>
            <a:r>
              <a:rPr lang="zh-TW" altLang="en-US" dirty="0">
                <a:latin typeface="微軟正黑體" panose="020B0604030504040204" pitchFamily="34" charset="-120"/>
                <a:ea typeface="微軟正黑體" panose="020B0604030504040204" pitchFamily="34" charset="-120"/>
              </a:rPr>
              <a:t>，且為決定是否符合專利要件、提起舉發或主張專利權等的基本單元（</a:t>
            </a:r>
            <a:r>
              <a:rPr lang="en-US" altLang="zh-TW" dirty="0">
                <a:latin typeface="微軟正黑體" panose="020B0604030504040204" pitchFamily="34" charset="-120"/>
                <a:ea typeface="微軟正黑體" panose="020B0604030504040204" pitchFamily="34" charset="-120"/>
              </a:rPr>
              <a:t>basic unit</a:t>
            </a:r>
            <a:r>
              <a:rPr lang="zh-TW" altLang="en-US" dirty="0">
                <a:latin typeface="微軟正黑體" panose="020B0604030504040204" pitchFamily="34" charset="-120"/>
                <a:ea typeface="微軟正黑體" panose="020B0604030504040204" pitchFamily="34" charset="-120"/>
              </a:rPr>
              <a:t>）。</a:t>
            </a:r>
            <a:endParaRPr lang="zh-TW" altLang="en-US" b="1" u="sng"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175969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申請專利範圍</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t>69</a:t>
            </a:fld>
            <a:endParaRPr lang="zh-TW" altLang="en-US"/>
          </a:p>
        </p:txBody>
      </p:sp>
      <p:sp>
        <p:nvSpPr>
          <p:cNvPr id="5" name="矩形: 圓角 4">
            <a:extLst>
              <a:ext uri="{FF2B5EF4-FFF2-40B4-BE49-F238E27FC236}">
                <a16:creationId xmlns:a16="http://schemas.microsoft.com/office/drawing/2014/main" id="{0CB02176-C9E1-4D9E-8AD6-F26D722EA825}"/>
              </a:ext>
            </a:extLst>
          </p:cNvPr>
          <p:cNvSpPr/>
          <p:nvPr/>
        </p:nvSpPr>
        <p:spPr>
          <a:xfrm>
            <a:off x="112836" y="812329"/>
            <a:ext cx="5323259" cy="5976664"/>
          </a:xfrm>
          <a:prstGeom prst="roundRect">
            <a:avLst>
              <a:gd name="adj" fmla="val 3071"/>
            </a:avLst>
          </a:prstGeom>
        </p:spPr>
        <p:style>
          <a:lnRef idx="2">
            <a:schemeClr val="dk1"/>
          </a:lnRef>
          <a:fillRef idx="1">
            <a:schemeClr val="lt1"/>
          </a:fillRef>
          <a:effectRef idx="0">
            <a:schemeClr val="dk1"/>
          </a:effectRef>
          <a:fontRef idx="minor">
            <a:schemeClr val="dk1"/>
          </a:fontRef>
        </p:style>
        <p:txBody>
          <a:bodyPr lIns="36000" tIns="0" rIns="36000" bIns="0" rtlCol="0" anchor="t" anchorCtr="0"/>
          <a:lstStyle/>
          <a:p>
            <a:r>
              <a:rPr lang="en-US" altLang="zh-TW" sz="1400" dirty="0">
                <a:latin typeface="微軟正黑體" panose="020B0604030504040204" pitchFamily="34" charset="-120"/>
                <a:ea typeface="微軟正黑體" panose="020B0604030504040204" pitchFamily="34" charset="-120"/>
              </a:rPr>
              <a:t>1.</a:t>
            </a:r>
            <a:r>
              <a:rPr lang="zh-TW" altLang="en-US" sz="1400" dirty="0">
                <a:latin typeface="微軟正黑體" panose="020B0604030504040204" pitchFamily="34" charset="-120"/>
                <a:ea typeface="微軟正黑體" panose="020B0604030504040204" pitchFamily="34" charset="-120"/>
              </a:rPr>
              <a:t>一種</a:t>
            </a:r>
            <a:r>
              <a:rPr lang="zh-TW" altLang="en-US" sz="1400" dirty="0">
                <a:solidFill>
                  <a:srgbClr val="FF0000"/>
                </a:solidFill>
                <a:latin typeface="微軟正黑體" panose="020B0604030504040204" pitchFamily="34" charset="-120"/>
                <a:ea typeface="微軟正黑體" panose="020B0604030504040204" pitchFamily="34" charset="-120"/>
              </a:rPr>
              <a:t>鍵盤裝置</a:t>
            </a:r>
            <a:r>
              <a:rPr lang="zh-TW" altLang="en-US" sz="1400" dirty="0">
                <a:latin typeface="微軟正黑體" panose="020B0604030504040204" pitchFamily="34" charset="-120"/>
                <a:ea typeface="微軟正黑體" panose="020B0604030504040204" pitchFamily="34" charset="-120"/>
              </a:rPr>
              <a:t>，具有背光控制功能，包含：</a:t>
            </a:r>
            <a:endParaRPr lang="en-US" altLang="zh-TW" sz="1400" dirty="0">
              <a:latin typeface="微軟正黑體" panose="020B0604030504040204" pitchFamily="34" charset="-120"/>
              <a:ea typeface="微軟正黑體" panose="020B0604030504040204" pitchFamily="34" charset="-120"/>
            </a:endParaRPr>
          </a:p>
          <a:p>
            <a:pPr indent="361950"/>
            <a:r>
              <a:rPr lang="zh-TW" altLang="en-US" sz="1400" dirty="0">
                <a:latin typeface="微軟正黑體" panose="020B0604030504040204" pitchFamily="34" charset="-120"/>
                <a:ea typeface="微軟正黑體" panose="020B0604030504040204" pitchFamily="34" charset="-120"/>
              </a:rPr>
              <a:t>一鍵盤，包含複數背光元件；以及</a:t>
            </a:r>
            <a:endParaRPr lang="en-US" altLang="zh-TW" sz="1400" dirty="0">
              <a:latin typeface="微軟正黑體" panose="020B0604030504040204" pitchFamily="34" charset="-120"/>
              <a:ea typeface="微軟正黑體" panose="020B0604030504040204" pitchFamily="34" charset="-120"/>
            </a:endParaRPr>
          </a:p>
          <a:p>
            <a:pPr indent="361950"/>
            <a:r>
              <a:rPr lang="zh-TW" altLang="en-US" sz="1400" dirty="0">
                <a:latin typeface="微軟正黑體" panose="020B0604030504040204" pitchFamily="34" charset="-120"/>
                <a:ea typeface="微軟正黑體" panose="020B0604030504040204" pitchFamily="34" charset="-120"/>
              </a:rPr>
              <a:t>一控制單元，與該等背光元件耦接，係設置用以：設定一顯示幕的複數顯示區與該等背光元件的映射關係，取得在該顯示幕上顯示的一游標的所在顯示區，並且根據該游標的該所在顯示區和該映射關係，控制該等背光元件之亮滅。</a:t>
            </a:r>
            <a:r>
              <a:rPr lang="en-US" altLang="zh-TW" sz="1400" dirty="0">
                <a:solidFill>
                  <a:srgbClr val="FF0000"/>
                </a:solidFill>
                <a:latin typeface="微軟正黑體" panose="020B0604030504040204" pitchFamily="34" charset="-120"/>
                <a:ea typeface="微軟正黑體" panose="020B0604030504040204" pitchFamily="34" charset="-120"/>
              </a:rPr>
              <a:t>【</a:t>
            </a:r>
            <a:r>
              <a:rPr lang="zh-TW" altLang="en-US" sz="1400" dirty="0">
                <a:solidFill>
                  <a:srgbClr val="FF0000"/>
                </a:solidFill>
                <a:latin typeface="微軟正黑體" panose="020B0604030504040204" pitchFamily="34" charset="-120"/>
                <a:ea typeface="微軟正黑體" panose="020B0604030504040204" pitchFamily="34" charset="-120"/>
                <a:sym typeface="Wingdings"/>
              </a:rPr>
              <a:t></a:t>
            </a:r>
            <a:r>
              <a:rPr lang="zh-TW" altLang="en-US" sz="1400" dirty="0">
                <a:solidFill>
                  <a:srgbClr val="FF0000"/>
                </a:solidFill>
                <a:latin typeface="微軟正黑體" panose="020B0604030504040204" pitchFamily="34" charset="-120"/>
                <a:ea typeface="微軟正黑體" panose="020B0604030504040204" pitchFamily="34" charset="-120"/>
              </a:rPr>
              <a:t>獨立項，物</a:t>
            </a:r>
            <a:r>
              <a:rPr lang="en-US" altLang="zh-TW" sz="1400" dirty="0">
                <a:solidFill>
                  <a:srgbClr val="FF0000"/>
                </a:solidFill>
                <a:latin typeface="微軟正黑體" panose="020B0604030504040204" pitchFamily="34" charset="-120"/>
                <a:ea typeface="微軟正黑體" panose="020B0604030504040204" pitchFamily="34" charset="-120"/>
              </a:rPr>
              <a:t>】</a:t>
            </a:r>
            <a:endParaRPr lang="zh-TW" altLang="en-US" sz="1400" dirty="0">
              <a:solidFill>
                <a:srgbClr val="FF0000"/>
              </a:solidFill>
              <a:latin typeface="微軟正黑體" panose="020B0604030504040204" pitchFamily="34" charset="-120"/>
              <a:ea typeface="微軟正黑體" panose="020B0604030504040204" pitchFamily="34" charset="-120"/>
            </a:endParaRPr>
          </a:p>
          <a:p>
            <a:pPr>
              <a:spcBef>
                <a:spcPts val="600"/>
              </a:spcBef>
            </a:pPr>
            <a:r>
              <a:rPr lang="en-US" altLang="zh-TW" sz="1400" dirty="0">
                <a:latin typeface="微軟正黑體" panose="020B0604030504040204" pitchFamily="34" charset="-120"/>
                <a:ea typeface="微軟正黑體" panose="020B0604030504040204" pitchFamily="34" charset="-120"/>
              </a:rPr>
              <a:t>2.</a:t>
            </a:r>
            <a:r>
              <a:rPr lang="zh-TW" altLang="en-US" sz="1400" dirty="0">
                <a:latin typeface="微軟正黑體" panose="020B0604030504040204" pitchFamily="34" charset="-120"/>
                <a:ea typeface="微軟正黑體" panose="020B0604030504040204" pitchFamily="34" charset="-120"/>
              </a:rPr>
              <a:t>如</a:t>
            </a:r>
            <a:r>
              <a:rPr lang="zh-TW" altLang="en-US" sz="1400" u="sng" dirty="0">
                <a:latin typeface="微軟正黑體" panose="020B0604030504040204" pitchFamily="34" charset="-120"/>
                <a:ea typeface="微軟正黑體" panose="020B0604030504040204" pitchFamily="34" charset="-120"/>
              </a:rPr>
              <a:t>請求項</a:t>
            </a:r>
            <a:r>
              <a:rPr lang="en-US" altLang="zh-TW" sz="1400" u="sng" dirty="0">
                <a:latin typeface="微軟正黑體" panose="020B0604030504040204" pitchFamily="34" charset="-120"/>
                <a:ea typeface="微軟正黑體" panose="020B0604030504040204" pitchFamily="34" charset="-120"/>
              </a:rPr>
              <a:t>1</a:t>
            </a:r>
            <a:r>
              <a:rPr lang="zh-TW" altLang="en-US" sz="1400" dirty="0">
                <a:latin typeface="微軟正黑體" panose="020B0604030504040204" pitchFamily="34" charset="-120"/>
                <a:ea typeface="微軟正黑體" panose="020B0604030504040204" pitchFamily="34" charset="-120"/>
              </a:rPr>
              <a:t>之鍵盤裝置，其中該控制單元設定該映射關係時，更可以從該顯示幕劃分出該等顯示區，將每一該等顯示區與該等背光元件的一至多個相關聯。</a:t>
            </a:r>
            <a:r>
              <a:rPr lang="en-US" altLang="zh-TW" sz="1400" dirty="0">
                <a:solidFill>
                  <a:srgbClr val="FF0000"/>
                </a:solidFill>
                <a:latin typeface="微軟正黑體" panose="020B0604030504040204" pitchFamily="34" charset="-120"/>
                <a:ea typeface="微軟正黑體" panose="020B0604030504040204" pitchFamily="34" charset="-120"/>
              </a:rPr>
              <a:t>【</a:t>
            </a:r>
            <a:r>
              <a:rPr lang="zh-TW" altLang="en-US" sz="1400" dirty="0">
                <a:solidFill>
                  <a:srgbClr val="FF0000"/>
                </a:solidFill>
                <a:latin typeface="微軟正黑體" panose="020B0604030504040204" pitchFamily="34" charset="-120"/>
                <a:ea typeface="微軟正黑體" panose="020B0604030504040204" pitchFamily="34" charset="-120"/>
                <a:sym typeface="Wingdings"/>
              </a:rPr>
              <a:t>附屬</a:t>
            </a:r>
            <a:r>
              <a:rPr lang="zh-TW" altLang="en-US" sz="1400" dirty="0">
                <a:solidFill>
                  <a:srgbClr val="FF0000"/>
                </a:solidFill>
                <a:latin typeface="微軟正黑體" panose="020B0604030504040204" pitchFamily="34" charset="-120"/>
                <a:ea typeface="微軟正黑體" panose="020B0604030504040204" pitchFamily="34" charset="-120"/>
              </a:rPr>
              <a:t>項</a:t>
            </a:r>
            <a:r>
              <a:rPr lang="en-US" altLang="zh-TW" sz="1400" dirty="0">
                <a:solidFill>
                  <a:srgbClr val="FF0000"/>
                </a:solidFill>
                <a:latin typeface="微軟正黑體" panose="020B0604030504040204" pitchFamily="34" charset="-120"/>
                <a:ea typeface="微軟正黑體" panose="020B0604030504040204" pitchFamily="34" charset="-120"/>
              </a:rPr>
              <a:t>】</a:t>
            </a:r>
            <a:endParaRPr lang="zh-TW" altLang="en-US" sz="1400" dirty="0">
              <a:latin typeface="微軟正黑體" panose="020B0604030504040204" pitchFamily="34" charset="-120"/>
              <a:ea typeface="微軟正黑體" panose="020B0604030504040204" pitchFamily="34" charset="-120"/>
            </a:endParaRPr>
          </a:p>
          <a:p>
            <a:pPr>
              <a:spcBef>
                <a:spcPts val="600"/>
              </a:spcBef>
            </a:pPr>
            <a:r>
              <a:rPr lang="en-US" altLang="zh-TW" sz="1400" dirty="0">
                <a:latin typeface="微軟正黑體" panose="020B0604030504040204" pitchFamily="34" charset="-120"/>
                <a:ea typeface="微軟正黑體" panose="020B0604030504040204" pitchFamily="34" charset="-120"/>
              </a:rPr>
              <a:t>3.</a:t>
            </a:r>
            <a:r>
              <a:rPr lang="zh-TW" altLang="en-US" sz="1400" dirty="0">
                <a:latin typeface="微軟正黑體" panose="020B0604030504040204" pitchFamily="34" charset="-120"/>
                <a:ea typeface="微軟正黑體" panose="020B0604030504040204" pitchFamily="34" charset="-120"/>
              </a:rPr>
              <a:t>如</a:t>
            </a:r>
            <a:r>
              <a:rPr lang="zh-TW" altLang="en-US" sz="1400" u="sng" dirty="0">
                <a:latin typeface="微軟正黑體" panose="020B0604030504040204" pitchFamily="34" charset="-120"/>
                <a:ea typeface="微軟正黑體" panose="020B0604030504040204" pitchFamily="34" charset="-120"/>
              </a:rPr>
              <a:t>請求項</a:t>
            </a:r>
            <a:r>
              <a:rPr lang="en-US" altLang="zh-TW" sz="1400" u="sng" dirty="0">
                <a:latin typeface="微軟正黑體" panose="020B0604030504040204" pitchFamily="34" charset="-120"/>
                <a:ea typeface="微軟正黑體" panose="020B0604030504040204" pitchFamily="34" charset="-120"/>
              </a:rPr>
              <a:t>1</a:t>
            </a:r>
            <a:r>
              <a:rPr lang="zh-TW" altLang="en-US" sz="1400" u="sng" dirty="0">
                <a:latin typeface="微軟正黑體" panose="020B0604030504040204" pitchFamily="34" charset="-120"/>
                <a:ea typeface="微軟正黑體" panose="020B0604030504040204" pitchFamily="34" charset="-120"/>
              </a:rPr>
              <a:t>或</a:t>
            </a:r>
            <a:r>
              <a:rPr lang="en-US" altLang="zh-TW" sz="1400" u="sng" dirty="0">
                <a:latin typeface="微軟正黑體" panose="020B0604030504040204" pitchFamily="34" charset="-120"/>
                <a:ea typeface="微軟正黑體" panose="020B0604030504040204" pitchFamily="34" charset="-120"/>
              </a:rPr>
              <a:t>2</a:t>
            </a:r>
            <a:r>
              <a:rPr lang="zh-TW" altLang="en-US" sz="1400" u="sng" dirty="0">
                <a:latin typeface="微軟正黑體" panose="020B0604030504040204" pitchFamily="34" charset="-120"/>
                <a:ea typeface="微軟正黑體" panose="020B0604030504040204" pitchFamily="34" charset="-120"/>
              </a:rPr>
              <a:t>之鍵盤裝置</a:t>
            </a:r>
            <a:r>
              <a:rPr lang="zh-TW" altLang="en-US" sz="1400" dirty="0">
                <a:latin typeface="微軟正黑體" panose="020B0604030504040204" pitchFamily="34" charset="-120"/>
                <a:ea typeface="微軟正黑體" panose="020B0604030504040204" pitchFamily="34" charset="-120"/>
              </a:rPr>
              <a:t>，其中該等背光元件設置成一背光陣列，該等顯示區之一所關聯的第一背光單元為複數，關聯的該等第一背光單元在該背光陣列上排列成特定樣式。</a:t>
            </a:r>
            <a:r>
              <a:rPr lang="en-US" altLang="zh-TW" sz="1400" dirty="0">
                <a:solidFill>
                  <a:srgbClr val="FF0000"/>
                </a:solidFill>
                <a:latin typeface="微軟正黑體" panose="020B0604030504040204" pitchFamily="34" charset="-120"/>
                <a:ea typeface="微軟正黑體" panose="020B0604030504040204" pitchFamily="34" charset="-120"/>
              </a:rPr>
              <a:t>【</a:t>
            </a:r>
            <a:r>
              <a:rPr lang="zh-TW" altLang="en-US" sz="1400" dirty="0">
                <a:solidFill>
                  <a:srgbClr val="FF0000"/>
                </a:solidFill>
                <a:latin typeface="微軟正黑體" panose="020B0604030504040204" pitchFamily="34" charset="-120"/>
                <a:ea typeface="微軟正黑體" panose="020B0604030504040204" pitchFamily="34" charset="-120"/>
                <a:sym typeface="Wingdings"/>
              </a:rPr>
              <a:t>多項附屬</a:t>
            </a:r>
            <a:r>
              <a:rPr lang="zh-TW" altLang="en-US" sz="1400" dirty="0">
                <a:solidFill>
                  <a:srgbClr val="FF0000"/>
                </a:solidFill>
                <a:latin typeface="微軟正黑體" panose="020B0604030504040204" pitchFamily="34" charset="-120"/>
                <a:ea typeface="微軟正黑體" panose="020B0604030504040204" pitchFamily="34" charset="-120"/>
              </a:rPr>
              <a:t>項</a:t>
            </a:r>
            <a:r>
              <a:rPr lang="en-US" altLang="zh-TW" sz="1400" dirty="0">
                <a:solidFill>
                  <a:srgbClr val="FF0000"/>
                </a:solidFill>
                <a:latin typeface="微軟正黑體" panose="020B0604030504040204" pitchFamily="34" charset="-120"/>
                <a:ea typeface="微軟正黑體" panose="020B0604030504040204" pitchFamily="34" charset="-120"/>
              </a:rPr>
              <a:t>】</a:t>
            </a:r>
            <a:endParaRPr lang="zh-TW" altLang="en-US" sz="1400" dirty="0">
              <a:latin typeface="微軟正黑體" panose="020B0604030504040204" pitchFamily="34" charset="-120"/>
              <a:ea typeface="微軟正黑體" panose="020B0604030504040204" pitchFamily="34" charset="-120"/>
            </a:endParaRPr>
          </a:p>
          <a:p>
            <a:pPr>
              <a:spcBef>
                <a:spcPts val="600"/>
              </a:spcBef>
            </a:pPr>
            <a:r>
              <a:rPr lang="en-US" altLang="zh-TW" sz="1400" dirty="0">
                <a:latin typeface="微軟正黑體" panose="020B0604030504040204" pitchFamily="34" charset="-120"/>
                <a:ea typeface="微軟正黑體" panose="020B0604030504040204" pitchFamily="34" charset="-120"/>
              </a:rPr>
              <a:t>5.</a:t>
            </a:r>
            <a:r>
              <a:rPr lang="zh-TW" altLang="en-US" sz="1400" dirty="0">
                <a:latin typeface="微軟正黑體" panose="020B0604030504040204" pitchFamily="34" charset="-120"/>
                <a:ea typeface="微軟正黑體" panose="020B0604030504040204" pitchFamily="34" charset="-120"/>
              </a:rPr>
              <a:t>一種電腦系統，包括：</a:t>
            </a:r>
            <a:r>
              <a:rPr lang="zh-TW" altLang="en-US" sz="1400" dirty="0">
                <a:solidFill>
                  <a:srgbClr val="FF0000"/>
                </a:solidFill>
                <a:latin typeface="微軟正黑體" panose="020B0604030504040204" pitchFamily="34" charset="-120"/>
                <a:ea typeface="微軟正黑體" panose="020B0604030504040204" pitchFamily="34" charset="-120"/>
              </a:rPr>
              <a:t>如請求項</a:t>
            </a:r>
            <a:r>
              <a:rPr lang="en-US" altLang="zh-TW" sz="1400" dirty="0">
                <a:solidFill>
                  <a:srgbClr val="FF0000"/>
                </a:solidFill>
                <a:latin typeface="微軟正黑體" panose="020B0604030504040204" pitchFamily="34" charset="-120"/>
                <a:ea typeface="微軟正黑體" panose="020B0604030504040204" pitchFamily="34" charset="-120"/>
              </a:rPr>
              <a:t>1</a:t>
            </a:r>
            <a:r>
              <a:rPr lang="zh-TW" altLang="en-US" sz="1400" dirty="0">
                <a:solidFill>
                  <a:srgbClr val="FF0000"/>
                </a:solidFill>
                <a:latin typeface="微軟正黑體" panose="020B0604030504040204" pitchFamily="34" charset="-120"/>
                <a:ea typeface="微軟正黑體" panose="020B0604030504040204" pitchFamily="34" charset="-120"/>
              </a:rPr>
              <a:t>之鍵盤裝置</a:t>
            </a:r>
            <a:r>
              <a:rPr lang="zh-TW" altLang="en-US" sz="1400" dirty="0">
                <a:latin typeface="微軟正黑體" panose="020B0604030504040204" pitchFamily="34" charset="-120"/>
                <a:ea typeface="微軟正黑體" panose="020B0604030504040204" pitchFamily="34" charset="-120"/>
              </a:rPr>
              <a:t>；該顯示幕；以及主機，耦接該鍵盤裝置與該顯示幕，包括處理器，將該顯示幕上顯示的該游標的所在顯示區資訊傳送給該控制單元。</a:t>
            </a:r>
            <a:r>
              <a:rPr lang="en-US" altLang="zh-TW" sz="1400" dirty="0">
                <a:solidFill>
                  <a:srgbClr val="FF0000"/>
                </a:solidFill>
                <a:latin typeface="微軟正黑體" panose="020B0604030504040204" pitchFamily="34" charset="-120"/>
                <a:ea typeface="微軟正黑體" panose="020B0604030504040204" pitchFamily="34" charset="-120"/>
              </a:rPr>
              <a:t>【</a:t>
            </a:r>
            <a:r>
              <a:rPr lang="zh-TW" altLang="en-US" sz="1400" dirty="0">
                <a:solidFill>
                  <a:srgbClr val="FF0000"/>
                </a:solidFill>
                <a:latin typeface="微軟正黑體" panose="020B0604030504040204" pitchFamily="34" charset="-120"/>
                <a:ea typeface="微軟正黑體" panose="020B0604030504040204" pitchFamily="34" charset="-120"/>
                <a:sym typeface="Wingdings"/>
              </a:rPr>
              <a:t>引用記載形式獨立項</a:t>
            </a:r>
            <a:r>
              <a:rPr lang="en-US" altLang="zh-TW" sz="1400" dirty="0">
                <a:solidFill>
                  <a:srgbClr val="FF0000"/>
                </a:solidFill>
                <a:latin typeface="微軟正黑體" panose="020B0604030504040204" pitchFamily="34" charset="-120"/>
                <a:ea typeface="微軟正黑體" panose="020B0604030504040204" pitchFamily="34" charset="-120"/>
              </a:rPr>
              <a:t>】</a:t>
            </a:r>
            <a:endParaRPr lang="zh-TW" altLang="en-US" sz="1400" dirty="0">
              <a:latin typeface="微軟正黑體" panose="020B0604030504040204" pitchFamily="34" charset="-120"/>
              <a:ea typeface="微軟正黑體" panose="020B0604030504040204" pitchFamily="34" charset="-120"/>
            </a:endParaRPr>
          </a:p>
          <a:p>
            <a:pPr>
              <a:spcBef>
                <a:spcPts val="600"/>
              </a:spcBef>
            </a:pPr>
            <a:r>
              <a:rPr lang="en-US" altLang="zh-TW" sz="1400" dirty="0">
                <a:latin typeface="微軟正黑體" panose="020B0604030504040204" pitchFamily="34" charset="-120"/>
                <a:ea typeface="微軟正黑體" panose="020B0604030504040204" pitchFamily="34" charset="-120"/>
              </a:rPr>
              <a:t>6.</a:t>
            </a:r>
            <a:r>
              <a:rPr lang="zh-TW" altLang="en-US" sz="1400" dirty="0">
                <a:latin typeface="微軟正黑體" panose="020B0604030504040204" pitchFamily="34" charset="-120"/>
                <a:ea typeface="微軟正黑體" panose="020B0604030504040204" pitchFamily="34" charset="-120"/>
              </a:rPr>
              <a:t>一種</a:t>
            </a:r>
            <a:r>
              <a:rPr lang="zh-TW" altLang="en-US" sz="1400" dirty="0">
                <a:solidFill>
                  <a:srgbClr val="FF0000"/>
                </a:solidFill>
                <a:latin typeface="微軟正黑體" panose="020B0604030504040204" pitchFamily="34" charset="-120"/>
                <a:ea typeface="微軟正黑體" panose="020B0604030504040204" pitchFamily="34" charset="-120"/>
              </a:rPr>
              <a:t>鍵盤之背光控制方法</a:t>
            </a:r>
            <a:r>
              <a:rPr lang="zh-TW" altLang="en-US" sz="1400" dirty="0">
                <a:latin typeface="微軟正黑體" panose="020B0604030504040204" pitchFamily="34" charset="-120"/>
                <a:ea typeface="微軟正黑體" panose="020B0604030504040204" pitchFamily="34" charset="-120"/>
              </a:rPr>
              <a:t>，該鍵盤具有複數背光元件，包含：</a:t>
            </a:r>
            <a:r>
              <a:rPr lang="zh-TW" altLang="en-US" sz="1400" u="sng" dirty="0">
                <a:latin typeface="微軟正黑體" panose="020B0604030504040204" pitchFamily="34" charset="-120"/>
                <a:ea typeface="微軟正黑體" panose="020B0604030504040204" pitchFamily="34" charset="-120"/>
              </a:rPr>
              <a:t>設定</a:t>
            </a:r>
            <a:r>
              <a:rPr lang="zh-TW" altLang="en-US" sz="1400" dirty="0">
                <a:latin typeface="微軟正黑體" panose="020B0604030504040204" pitchFamily="34" charset="-120"/>
                <a:ea typeface="微軟正黑體" panose="020B0604030504040204" pitchFamily="34" charset="-120"/>
              </a:rPr>
              <a:t>一顯示幕的複數顯示區與該等背光元件的映射關係；</a:t>
            </a:r>
            <a:r>
              <a:rPr lang="zh-TW" altLang="en-US" sz="1400" u="sng" dirty="0">
                <a:latin typeface="微軟正黑體" panose="020B0604030504040204" pitchFamily="34" charset="-120"/>
                <a:ea typeface="微軟正黑體" panose="020B0604030504040204" pitchFamily="34" charset="-120"/>
              </a:rPr>
              <a:t>取得</a:t>
            </a:r>
            <a:r>
              <a:rPr lang="zh-TW" altLang="en-US" sz="1400" dirty="0">
                <a:latin typeface="微軟正黑體" panose="020B0604030504040204" pitchFamily="34" charset="-120"/>
                <a:ea typeface="微軟正黑體" panose="020B0604030504040204" pitchFamily="34" charset="-120"/>
              </a:rPr>
              <a:t>在該顯示幕上顯示的一游標的所在顯示區；以及根據該游標的該所在顯示區和該映射關係，控制該等背光元件之亮滅。</a:t>
            </a:r>
            <a:r>
              <a:rPr lang="en-US" altLang="zh-TW" sz="1400" dirty="0">
                <a:solidFill>
                  <a:srgbClr val="FF0000"/>
                </a:solidFill>
                <a:latin typeface="微軟正黑體" panose="020B0604030504040204" pitchFamily="34" charset="-120"/>
                <a:ea typeface="微軟正黑體" panose="020B0604030504040204" pitchFamily="34" charset="-120"/>
              </a:rPr>
              <a:t>【</a:t>
            </a:r>
            <a:r>
              <a:rPr lang="zh-TW" altLang="en-US" sz="1400" dirty="0">
                <a:solidFill>
                  <a:srgbClr val="FF0000"/>
                </a:solidFill>
                <a:latin typeface="微軟正黑體" panose="020B0604030504040204" pitchFamily="34" charset="-120"/>
                <a:ea typeface="微軟正黑體" panose="020B0604030504040204" pitchFamily="34" charset="-120"/>
                <a:sym typeface="Wingdings"/>
              </a:rPr>
              <a:t></a:t>
            </a:r>
            <a:r>
              <a:rPr lang="zh-TW" altLang="en-US" sz="1400" dirty="0">
                <a:solidFill>
                  <a:srgbClr val="FF0000"/>
                </a:solidFill>
                <a:latin typeface="微軟正黑體" panose="020B0604030504040204" pitchFamily="34" charset="-120"/>
                <a:ea typeface="微軟正黑體" panose="020B0604030504040204" pitchFamily="34" charset="-120"/>
              </a:rPr>
              <a:t>獨立項，方法</a:t>
            </a:r>
            <a:r>
              <a:rPr lang="en-US" altLang="zh-TW" sz="1400" dirty="0">
                <a:solidFill>
                  <a:srgbClr val="FF0000"/>
                </a:solidFill>
                <a:latin typeface="微軟正黑體" panose="020B0604030504040204" pitchFamily="34" charset="-120"/>
                <a:ea typeface="微軟正黑體" panose="020B0604030504040204" pitchFamily="34" charset="-120"/>
              </a:rPr>
              <a:t>】</a:t>
            </a:r>
            <a:endParaRPr lang="zh-TW" altLang="en-US" sz="1400" dirty="0">
              <a:latin typeface="微軟正黑體" panose="020B0604030504040204" pitchFamily="34" charset="-120"/>
              <a:ea typeface="微軟正黑體" panose="020B0604030504040204" pitchFamily="34" charset="-120"/>
            </a:endParaRPr>
          </a:p>
          <a:p>
            <a:pPr>
              <a:spcBef>
                <a:spcPts val="600"/>
              </a:spcBef>
            </a:pPr>
            <a:r>
              <a:rPr lang="en-US" altLang="zh-TW" sz="1400" dirty="0">
                <a:latin typeface="微軟正黑體" panose="020B0604030504040204" pitchFamily="34" charset="-120"/>
                <a:ea typeface="微軟正黑體" panose="020B0604030504040204" pitchFamily="34" charset="-120"/>
              </a:rPr>
              <a:t>10.</a:t>
            </a:r>
            <a:r>
              <a:rPr lang="zh-TW" altLang="en-US" sz="1400" dirty="0">
                <a:latin typeface="微軟正黑體" panose="020B0604030504040204" pitchFamily="34" charset="-120"/>
                <a:ea typeface="微軟正黑體" panose="020B0604030504040204" pitchFamily="34" charset="-120"/>
              </a:rPr>
              <a:t>一種</a:t>
            </a:r>
            <a:r>
              <a:rPr lang="zh-TW" altLang="en-US" sz="1400" dirty="0">
                <a:solidFill>
                  <a:srgbClr val="FF0000"/>
                </a:solidFill>
                <a:latin typeface="微軟正黑體" panose="020B0604030504040204" pitchFamily="34" charset="-120"/>
                <a:ea typeface="微軟正黑體" panose="020B0604030504040204" pitchFamily="34" charset="-120"/>
              </a:rPr>
              <a:t>鍵盤之背光控制電腦程式產品</a:t>
            </a:r>
            <a:r>
              <a:rPr lang="zh-TW" altLang="en-US" sz="1400" dirty="0">
                <a:latin typeface="微軟正黑體" panose="020B0604030504040204" pitchFamily="34" charset="-120"/>
                <a:ea typeface="微軟正黑體" panose="020B0604030504040204" pitchFamily="34" charset="-120"/>
              </a:rPr>
              <a:t>，用於鍵盤之背光控制，經由電腦載入該程式以執行：第</a:t>
            </a:r>
            <a:r>
              <a:rPr lang="en-US" altLang="zh-TW" sz="1400" dirty="0">
                <a:latin typeface="微軟正黑體" panose="020B0604030504040204" pitchFamily="34" charset="-120"/>
                <a:ea typeface="微軟正黑體" panose="020B0604030504040204" pitchFamily="34" charset="-120"/>
              </a:rPr>
              <a:t>1</a:t>
            </a:r>
            <a:r>
              <a:rPr lang="zh-TW" altLang="en-US" sz="1400" dirty="0">
                <a:latin typeface="微軟正黑體" panose="020B0604030504040204" pitchFamily="34" charset="-120"/>
                <a:ea typeface="微軟正黑體" panose="020B0604030504040204" pitchFamily="34" charset="-120"/>
              </a:rPr>
              <a:t>程式指令，取得在顯示幕上顯示的一游標的所在顯示區；第</a:t>
            </a:r>
            <a:r>
              <a:rPr lang="en-US" altLang="zh-TW" sz="1400" dirty="0">
                <a:latin typeface="微軟正黑體" panose="020B0604030504040204" pitchFamily="34" charset="-120"/>
                <a:ea typeface="微軟正黑體" panose="020B0604030504040204" pitchFamily="34" charset="-120"/>
              </a:rPr>
              <a:t>2</a:t>
            </a:r>
            <a:r>
              <a:rPr lang="zh-TW" altLang="en-US" sz="1400" dirty="0">
                <a:latin typeface="微軟正黑體" panose="020B0604030504040204" pitchFamily="34" charset="-120"/>
                <a:ea typeface="微軟正黑體" panose="020B0604030504040204" pitchFamily="34" charset="-120"/>
              </a:rPr>
              <a:t>程式指令，取得該顯示幕的複數顯示區與鍵盤的複數背光元件的映射關係；以及第</a:t>
            </a:r>
            <a:r>
              <a:rPr lang="en-US" altLang="zh-TW" sz="1400" dirty="0">
                <a:latin typeface="微軟正黑體" panose="020B0604030504040204" pitchFamily="34" charset="-120"/>
                <a:ea typeface="微軟正黑體" panose="020B0604030504040204" pitchFamily="34" charset="-120"/>
              </a:rPr>
              <a:t>3</a:t>
            </a:r>
            <a:r>
              <a:rPr lang="zh-TW" altLang="en-US" sz="1400" dirty="0">
                <a:latin typeface="微軟正黑體" panose="020B0604030504040204" pitchFamily="34" charset="-120"/>
                <a:ea typeface="微軟正黑體" panose="020B0604030504040204" pitchFamily="34" charset="-120"/>
              </a:rPr>
              <a:t>程式指令，根據該游標的該所在顯示區和該映射關係，控制該等背光元件之亮滅。</a:t>
            </a:r>
            <a:endParaRPr lang="en-US" altLang="zh-TW" sz="1400" dirty="0">
              <a:latin typeface="微軟正黑體" panose="020B0604030504040204" pitchFamily="34" charset="-120"/>
              <a:ea typeface="微軟正黑體" panose="020B0604030504040204" pitchFamily="34" charset="-120"/>
            </a:endParaRPr>
          </a:p>
        </p:txBody>
      </p:sp>
      <p:sp>
        <p:nvSpPr>
          <p:cNvPr id="27" name="文字方塊 26">
            <a:extLst>
              <a:ext uri="{FF2B5EF4-FFF2-40B4-BE49-F238E27FC236}">
                <a16:creationId xmlns:a16="http://schemas.microsoft.com/office/drawing/2014/main" id="{3F8EDEDB-D83C-4CF6-9803-767EAC2C8EDE}"/>
              </a:ext>
            </a:extLst>
          </p:cNvPr>
          <p:cNvSpPr txBox="1"/>
          <p:nvPr/>
        </p:nvSpPr>
        <p:spPr>
          <a:xfrm>
            <a:off x="5466530" y="812329"/>
            <a:ext cx="3620320" cy="6001643"/>
          </a:xfrm>
          <a:prstGeom prst="rect">
            <a:avLst/>
          </a:prstGeom>
          <a:noFill/>
        </p:spPr>
        <p:txBody>
          <a:bodyPr wrap="square">
            <a:spAutoFit/>
          </a:bodyPr>
          <a:lstStyle/>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前言</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技術領域</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範疇</a:t>
            </a:r>
            <a:endParaRPr lang="en-US" altLang="zh-TW" sz="1600" dirty="0">
              <a:latin typeface="微軟正黑體" panose="020B0604030504040204" pitchFamily="34" charset="-120"/>
              <a:ea typeface="微軟正黑體" panose="020B0604030504040204" pitchFamily="34" charset="-120"/>
            </a:endParaRPr>
          </a:p>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連接詞</a:t>
            </a:r>
            <a:r>
              <a:rPr lang="en-US" altLang="zh-TW" sz="1600" dirty="0">
                <a:latin typeface="微軟正黑體" panose="020B0604030504040204" pitchFamily="34" charset="-120"/>
                <a:ea typeface="微軟正黑體" panose="020B0604030504040204" pitchFamily="34" charset="-120"/>
              </a:rPr>
              <a:t>】</a:t>
            </a:r>
          </a:p>
          <a:p>
            <a:r>
              <a:rPr lang="zh-TW" altLang="en-US" sz="1600" dirty="0">
                <a:latin typeface="微軟正黑體" panose="020B0604030504040204" pitchFamily="34" charset="-120"/>
                <a:ea typeface="微軟正黑體" panose="020B0604030504040204" pitchFamily="34" charset="-120"/>
              </a:rPr>
              <a:t>開放式：包含、具有</a:t>
            </a:r>
            <a:r>
              <a:rPr lang="en-US" altLang="zh-TW" sz="1600" dirty="0">
                <a:latin typeface="微軟正黑體" panose="020B0604030504040204" pitchFamily="34" charset="-120"/>
                <a:ea typeface="微軟正黑體" panose="020B0604030504040204" pitchFamily="34" charset="-120"/>
              </a:rPr>
              <a:t>…</a:t>
            </a:r>
          </a:p>
          <a:p>
            <a:r>
              <a:rPr lang="zh-TW" altLang="en-US" sz="1600" dirty="0">
                <a:latin typeface="微軟正黑體" panose="020B0604030504040204" pitchFamily="34" charset="-120"/>
                <a:ea typeface="微軟正黑體" panose="020B0604030504040204" pitchFamily="34" charset="-120"/>
              </a:rPr>
              <a:t>封閉式：由</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構成</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組成</a:t>
            </a:r>
            <a:endParaRPr lang="en-US" altLang="zh-TW" sz="1600" dirty="0">
              <a:latin typeface="微軟正黑體" panose="020B0604030504040204" pitchFamily="34" charset="-120"/>
              <a:ea typeface="微軟正黑體" panose="020B0604030504040204" pitchFamily="34" charset="-120"/>
            </a:endParaRPr>
          </a:p>
          <a:p>
            <a:r>
              <a:rPr lang="zh-TW" altLang="en-US" sz="1600" dirty="0">
                <a:latin typeface="微軟正黑體" panose="020B0604030504040204" pitchFamily="34" charset="-120"/>
                <a:ea typeface="微軟正黑體" panose="020B0604030504040204" pitchFamily="34" charset="-120"/>
              </a:rPr>
              <a:t>半開放式：實質上由</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組成</a:t>
            </a:r>
            <a:endParaRPr lang="en-US" altLang="zh-TW" sz="1600" dirty="0">
              <a:latin typeface="微軟正黑體" panose="020B0604030504040204" pitchFamily="34" charset="-120"/>
              <a:ea typeface="微軟正黑體" panose="020B0604030504040204" pitchFamily="34" charset="-120"/>
            </a:endParaRPr>
          </a:p>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主體</a:t>
            </a:r>
            <a:r>
              <a:rPr lang="en-US" altLang="zh-TW" sz="1600" dirty="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一般式</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組合式</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特徵式</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二段式：</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，其特徵在於</a:t>
            </a:r>
            <a:r>
              <a:rPr lang="en-US" altLang="zh-TW" sz="1600" dirty="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分段式</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依不同構件</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步驟分段</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大綱式</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手段</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步驟</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功能用語</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適當的先行詞：該、前述、所述</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必要技術特徵</a:t>
            </a:r>
            <a:endParaRPr lang="en-US" altLang="zh-TW" sz="1600" dirty="0">
              <a:latin typeface="微軟正黑體" panose="020B0604030504040204" pitchFamily="34" charset="-120"/>
              <a:ea typeface="微軟正黑體" panose="020B0604030504040204" pitchFamily="34" charset="-120"/>
            </a:endParaRPr>
          </a:p>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附屬項類型</a:t>
            </a:r>
            <a:r>
              <a:rPr lang="en-US" altLang="zh-TW" sz="1600" dirty="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詳述式</a:t>
            </a:r>
            <a:endParaRPr lang="en-US" altLang="zh-TW" sz="1600"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附加式</a:t>
            </a:r>
            <a:endParaRPr lang="en-US" altLang="zh-TW" sz="1600" dirty="0">
              <a:latin typeface="微軟正黑體" panose="020B0604030504040204" pitchFamily="34" charset="-120"/>
              <a:ea typeface="微軟正黑體" panose="020B0604030504040204" pitchFamily="34" charset="-120"/>
            </a:endParaRPr>
          </a:p>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標的名稱</a:t>
            </a:r>
            <a:r>
              <a:rPr lang="en-US" altLang="zh-TW" sz="1600" dirty="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裝置、系統、方法、程式產品</a:t>
            </a:r>
            <a:r>
              <a:rPr lang="en-US" altLang="zh-TW" sz="1600" dirty="0">
                <a:latin typeface="微軟正黑體" panose="020B0604030504040204" pitchFamily="34" charset="-120"/>
                <a:ea typeface="微軟正黑體" panose="020B0604030504040204" pitchFamily="34" charset="-120"/>
              </a:rPr>
              <a:t>…</a:t>
            </a:r>
          </a:p>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物的請求項</a:t>
            </a:r>
            <a:r>
              <a:rPr lang="en-US" altLang="zh-TW" sz="1600" dirty="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敘述各構件與連接關係</a:t>
            </a: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敘述整體性或連動關係</a:t>
            </a:r>
          </a:p>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方法請求項</a:t>
            </a:r>
            <a:r>
              <a:rPr lang="en-US" altLang="zh-TW" sz="1600" dirty="0">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敘述各步驟及其關係</a:t>
            </a:r>
          </a:p>
          <a:p>
            <a:pPr marL="285750" indent="-285750">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敘述整體性或連動關係</a:t>
            </a:r>
          </a:p>
        </p:txBody>
      </p:sp>
    </p:spTree>
    <p:extLst>
      <p:ext uri="{BB962C8B-B14F-4D97-AF65-F5344CB8AC3E}">
        <p14:creationId xmlns:p14="http://schemas.microsoft.com/office/powerpoint/2010/main" val="13852724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59632" y="2954"/>
            <a:ext cx="7509520" cy="761750"/>
          </a:xfrm>
        </p:spPr>
        <p:txBody>
          <a:bodyPr>
            <a:normAutofit/>
          </a:bodyPr>
          <a:lstStyle/>
          <a:p>
            <a:r>
              <a:rPr lang="zh-TW" altLang="en-US" dirty="0"/>
              <a:t>依附其他請求項的技術特徵之解釋</a:t>
            </a:r>
          </a:p>
        </p:txBody>
      </p:sp>
      <p:sp>
        <p:nvSpPr>
          <p:cNvPr id="3" name="內容版面配置區 2"/>
          <p:cNvSpPr>
            <a:spLocks noGrp="1"/>
          </p:cNvSpPr>
          <p:nvPr>
            <p:ph idx="1"/>
          </p:nvPr>
        </p:nvSpPr>
        <p:spPr>
          <a:xfrm>
            <a:off x="147853" y="764704"/>
            <a:ext cx="8928992" cy="2232248"/>
          </a:xfrm>
        </p:spPr>
        <p:txBody>
          <a:bodyPr>
            <a:normAutofit fontScale="62500" lnSpcReduction="20000"/>
          </a:bodyPr>
          <a:lstStyle/>
          <a:p>
            <a:pPr marL="0" indent="0">
              <a:lnSpc>
                <a:spcPct val="120000"/>
              </a:lnSpc>
              <a:buNone/>
            </a:pPr>
            <a:r>
              <a:rPr lang="zh-TW" altLang="en-US" dirty="0"/>
              <a:t>申請專利範圍</a:t>
            </a:r>
            <a:endParaRPr lang="en-US" altLang="zh-TW" dirty="0"/>
          </a:p>
          <a:p>
            <a:pPr marL="0" indent="0">
              <a:lnSpc>
                <a:spcPct val="120000"/>
              </a:lnSpc>
              <a:buNone/>
            </a:pPr>
            <a:r>
              <a:rPr lang="en-US" altLang="zh-TW" dirty="0"/>
              <a:t>[</a:t>
            </a:r>
            <a:r>
              <a:rPr lang="zh-TW" altLang="en-US" dirty="0"/>
              <a:t>請求項</a:t>
            </a:r>
            <a:r>
              <a:rPr lang="en-US" altLang="zh-TW" dirty="0"/>
              <a:t>1]</a:t>
            </a:r>
            <a:r>
              <a:rPr lang="zh-TW" altLang="en-US" dirty="0"/>
              <a:t>一種椅子，包括：一坐板</a:t>
            </a:r>
            <a:r>
              <a:rPr lang="en-US" altLang="zh-TW" dirty="0"/>
              <a:t>…；</a:t>
            </a:r>
            <a:r>
              <a:rPr lang="zh-TW" altLang="en-US" dirty="0"/>
              <a:t>至少一支撐腳</a:t>
            </a:r>
            <a:r>
              <a:rPr lang="en-US" altLang="zh-TW" dirty="0"/>
              <a:t>…。</a:t>
            </a:r>
          </a:p>
          <a:p>
            <a:pPr marL="0" indent="0">
              <a:lnSpc>
                <a:spcPct val="120000"/>
              </a:lnSpc>
              <a:buNone/>
            </a:pPr>
            <a:r>
              <a:rPr lang="en-US" altLang="zh-TW" dirty="0"/>
              <a:t>[</a:t>
            </a:r>
            <a:r>
              <a:rPr lang="zh-TW" altLang="en-US" dirty="0"/>
              <a:t>請求項</a:t>
            </a:r>
            <a:r>
              <a:rPr lang="en-US" altLang="zh-TW" dirty="0"/>
              <a:t>2]</a:t>
            </a:r>
            <a:r>
              <a:rPr lang="zh-TW" altLang="en-US" dirty="0"/>
              <a:t>如請求項</a:t>
            </a:r>
            <a:r>
              <a:rPr lang="en-US" altLang="zh-TW" dirty="0"/>
              <a:t>1</a:t>
            </a:r>
            <a:r>
              <a:rPr lang="zh-TW" altLang="en-US" dirty="0"/>
              <a:t>之椅子，其中該坐板一側包含一背板。</a:t>
            </a:r>
            <a:endParaRPr lang="en-US" altLang="zh-TW" dirty="0"/>
          </a:p>
          <a:p>
            <a:pPr marL="0" indent="0">
              <a:lnSpc>
                <a:spcPct val="120000"/>
              </a:lnSpc>
              <a:buNone/>
            </a:pPr>
            <a:r>
              <a:rPr lang="en-US" altLang="zh-TW" dirty="0"/>
              <a:t>[</a:t>
            </a:r>
            <a:r>
              <a:rPr lang="zh-TW" altLang="en-US" dirty="0"/>
              <a:t>請求項</a:t>
            </a:r>
            <a:r>
              <a:rPr lang="en-US" altLang="zh-TW" dirty="0"/>
              <a:t>3]</a:t>
            </a:r>
            <a:r>
              <a:rPr lang="zh-TW" altLang="en-US" dirty="0"/>
              <a:t>如請求項</a:t>
            </a:r>
            <a:r>
              <a:rPr lang="en-US" altLang="zh-TW" dirty="0"/>
              <a:t>2</a:t>
            </a:r>
            <a:r>
              <a:rPr lang="zh-TW" altLang="en-US" dirty="0"/>
              <a:t>之椅子，其中該坐板其中二側各包含一扶手。</a:t>
            </a:r>
            <a:endParaRPr lang="en-US" altLang="zh-TW" dirty="0"/>
          </a:p>
          <a:p>
            <a:pPr marL="0" indent="0">
              <a:lnSpc>
                <a:spcPct val="120000"/>
              </a:lnSpc>
              <a:buNone/>
            </a:pPr>
            <a:r>
              <a:rPr lang="en-US" altLang="zh-TW" dirty="0"/>
              <a:t>[</a:t>
            </a:r>
            <a:r>
              <a:rPr lang="zh-TW" altLang="en-US" dirty="0"/>
              <a:t>請求項</a:t>
            </a:r>
            <a:r>
              <a:rPr lang="en-US" altLang="zh-TW" dirty="0"/>
              <a:t>4]</a:t>
            </a:r>
            <a:r>
              <a:rPr lang="zh-TW" altLang="en-US" dirty="0"/>
              <a:t>如請求項</a:t>
            </a:r>
            <a:r>
              <a:rPr lang="en-US" altLang="zh-TW" dirty="0"/>
              <a:t>1</a:t>
            </a:r>
            <a:r>
              <a:rPr lang="zh-TW" altLang="en-US" dirty="0"/>
              <a:t>之椅子，其中該至少一支撐腳底部包含一輪子。</a:t>
            </a:r>
            <a:endParaRPr lang="en-US" altLang="zh-TW" dirty="0"/>
          </a:p>
          <a:p>
            <a:pPr marL="0" indent="0">
              <a:lnSpc>
                <a:spcPct val="120000"/>
              </a:lnSpc>
              <a:buNone/>
            </a:pPr>
            <a:r>
              <a:rPr lang="en-US" altLang="zh-TW" dirty="0"/>
              <a:t>[</a:t>
            </a:r>
            <a:r>
              <a:rPr lang="zh-TW" altLang="en-US" dirty="0"/>
              <a:t>請求項</a:t>
            </a:r>
            <a:r>
              <a:rPr lang="en-US" altLang="zh-TW" dirty="0"/>
              <a:t>5]</a:t>
            </a:r>
            <a:r>
              <a:rPr lang="zh-TW" altLang="en-US" dirty="0"/>
              <a:t>如請求項</a:t>
            </a:r>
            <a:r>
              <a:rPr lang="en-US" altLang="zh-TW" dirty="0"/>
              <a:t>3</a:t>
            </a:r>
            <a:r>
              <a:rPr lang="zh-TW" altLang="en-US" dirty="0"/>
              <a:t>之椅子，其中該至少一支撐腳底部包含一輪子。</a:t>
            </a:r>
          </a:p>
          <a:p>
            <a:pPr marL="0" indent="0">
              <a:lnSpc>
                <a:spcPct val="120000"/>
              </a:lnSpc>
              <a:buNone/>
            </a:pPr>
            <a:endParaRPr lang="zh-TW" altLang="en-US"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pPr/>
              <a:t>70</a:t>
            </a:fld>
            <a:endParaRPr lang="zh-TW" altLang="en-US" dirty="0"/>
          </a:p>
        </p:txBody>
      </p:sp>
      <p:pic>
        <p:nvPicPr>
          <p:cNvPr id="6146" name="Picture 2" descr="凳子石山喉- Pixabay上的免费照片- Pixabay"/>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1520" y="3645024"/>
            <a:ext cx="1279029" cy="127902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凳子晚餐餐厅- Pixabay上的免费照片- Pixabay"/>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812360" y="3085792"/>
            <a:ext cx="1051926" cy="140437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椅子园林椅白色的椅子上- Pixabay上的免费照片- Pixabay"/>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382065" y="3085792"/>
            <a:ext cx="1851340" cy="1231983"/>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椅子摇摇晃晃的古老的- Pixabay上的免费照片- Pixabay"/>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1835696" y="4509120"/>
            <a:ext cx="1092739" cy="1458863"/>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椅子扶手椅坐- Pixabay上的免费照片- Pixabay"/>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3169990" y="5461189"/>
            <a:ext cx="1800200" cy="1197952"/>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办公椅椅子轮子- Pixabay上的免费图片- Pixabay"/>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7049923" y="4718635"/>
            <a:ext cx="1711077" cy="1711077"/>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descr="椅子主席Png 透明图片- Pixabay上的免费图片- Pixabay"/>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4572000" y="2966349"/>
            <a:ext cx="1201841" cy="180604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长椅座位椅子- Pixabay上的免费图片- Pixabay"/>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6228184" y="3336849"/>
            <a:ext cx="1409701" cy="80962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無靠背耐重椅">
            <a:extLst>
              <a:ext uri="{FF2B5EF4-FFF2-40B4-BE49-F238E27FC236}">
                <a16:creationId xmlns:a16="http://schemas.microsoft.com/office/drawing/2014/main" id="{2F3FB8A2-5D1E-6309-0382-38AA7855A99E}"/>
              </a:ext>
            </a:extLst>
          </p:cNvPr>
          <p:cNvPicPr>
            <a:picLocks noChangeAspect="1" noChangeArrowheads="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5334237" y="4693827"/>
            <a:ext cx="1458863" cy="1458863"/>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D19C0E31-6209-3824-9FFD-49F89D1EB2E9}"/>
              </a:ext>
            </a:extLst>
          </p:cNvPr>
          <p:cNvSpPr txBox="1"/>
          <p:nvPr/>
        </p:nvSpPr>
        <p:spPr>
          <a:xfrm>
            <a:off x="5379285" y="6060165"/>
            <a:ext cx="1441215" cy="707886"/>
          </a:xfrm>
          <a:prstGeom prst="rect">
            <a:avLst/>
          </a:prstGeom>
          <a:noFill/>
        </p:spPr>
        <p:txBody>
          <a:bodyPr wrap="square">
            <a:spAutoFit/>
          </a:bodyPr>
          <a:lstStyle/>
          <a:p>
            <a:r>
              <a:rPr lang="zh-TW" altLang="en-US" sz="1000" dirty="0"/>
              <a:t>https://shop.shihkuo.com/index.php?module=product&amp;mn=1&amp;f=content&amp;tid=227920</a:t>
            </a:r>
          </a:p>
        </p:txBody>
      </p:sp>
    </p:spTree>
    <p:extLst>
      <p:ext uri="{BB962C8B-B14F-4D97-AF65-F5344CB8AC3E}">
        <p14:creationId xmlns:p14="http://schemas.microsoft.com/office/powerpoint/2010/main" val="22070464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1DD2D3-CBE0-4708-9D4C-770D8A7C3441}"/>
              </a:ext>
            </a:extLst>
          </p:cNvPr>
          <p:cNvSpPr>
            <a:spLocks noGrp="1"/>
          </p:cNvSpPr>
          <p:nvPr>
            <p:ph type="title"/>
          </p:nvPr>
        </p:nvSpPr>
        <p:spPr/>
        <p:txBody>
          <a:bodyPr/>
          <a:lstStyle/>
          <a:p>
            <a:r>
              <a:rPr lang="zh-TW" altLang="en-US" dirty="0"/>
              <a:t>請求項的界定</a:t>
            </a:r>
          </a:p>
        </p:txBody>
      </p:sp>
      <p:sp>
        <p:nvSpPr>
          <p:cNvPr id="4" name="投影片編號版面配置區 3">
            <a:extLst>
              <a:ext uri="{FF2B5EF4-FFF2-40B4-BE49-F238E27FC236}">
                <a16:creationId xmlns:a16="http://schemas.microsoft.com/office/drawing/2014/main" id="{7F201403-7035-4EFF-88A7-884F4804B848}"/>
              </a:ext>
            </a:extLst>
          </p:cNvPr>
          <p:cNvSpPr>
            <a:spLocks noGrp="1"/>
          </p:cNvSpPr>
          <p:nvPr>
            <p:ph type="sldNum" sz="quarter" idx="12"/>
          </p:nvPr>
        </p:nvSpPr>
        <p:spPr/>
        <p:txBody>
          <a:bodyPr/>
          <a:lstStyle/>
          <a:p>
            <a:fld id="{25768BAF-173A-4148-B120-6C42E92911E4}" type="slidenum">
              <a:rPr lang="zh-TW" altLang="en-US" smtClean="0"/>
              <a:pPr/>
              <a:t>71</a:t>
            </a:fld>
            <a:endParaRPr lang="zh-TW" altLang="en-US" dirty="0"/>
          </a:p>
        </p:txBody>
      </p:sp>
      <p:sp>
        <p:nvSpPr>
          <p:cNvPr id="6" name="矩形 5">
            <a:extLst>
              <a:ext uri="{FF2B5EF4-FFF2-40B4-BE49-F238E27FC236}">
                <a16:creationId xmlns:a16="http://schemas.microsoft.com/office/drawing/2014/main" id="{CC56D7AF-848A-4BE4-B886-6B42E6F18EE3}"/>
              </a:ext>
            </a:extLst>
          </p:cNvPr>
          <p:cNvSpPr/>
          <p:nvPr/>
        </p:nvSpPr>
        <p:spPr>
          <a:xfrm>
            <a:off x="2339752" y="886478"/>
            <a:ext cx="5109091" cy="461665"/>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r>
              <a:rPr lang="zh-TW" altLang="en-US" sz="2400" dirty="0">
                <a:solidFill>
                  <a:srgbClr val="000000"/>
                </a:solidFill>
                <a:latin typeface="微軟正黑體" panose="020B0604030504040204" pitchFamily="34" charset="-120"/>
                <a:ea typeface="微軟正黑體" panose="020B0604030504040204" pitchFamily="34" charset="-120"/>
              </a:rPr>
              <a:t>一種取得不動產地理範圍資料之系統</a:t>
            </a:r>
            <a:endParaRPr lang="zh-TW" altLang="en-US" sz="2400" dirty="0"/>
          </a:p>
        </p:txBody>
      </p:sp>
      <p:pic>
        <p:nvPicPr>
          <p:cNvPr id="3" name="圖片 2">
            <a:extLst>
              <a:ext uri="{FF2B5EF4-FFF2-40B4-BE49-F238E27FC236}">
                <a16:creationId xmlns:a16="http://schemas.microsoft.com/office/drawing/2014/main" id="{ED30E75A-C23B-4ACB-BFD3-C8C61D922809}"/>
              </a:ext>
            </a:extLst>
          </p:cNvPr>
          <p:cNvPicPr>
            <a:picLocks noChangeAspect="1"/>
          </p:cNvPicPr>
          <p:nvPr/>
        </p:nvPicPr>
        <p:blipFill>
          <a:blip r:embed="rId2"/>
          <a:stretch>
            <a:fillRect/>
          </a:stretch>
        </p:blipFill>
        <p:spPr>
          <a:xfrm>
            <a:off x="-19496" y="1780777"/>
            <a:ext cx="4294460" cy="3323961"/>
          </a:xfrm>
          <a:prstGeom prst="rect">
            <a:avLst/>
          </a:prstGeom>
        </p:spPr>
      </p:pic>
      <p:pic>
        <p:nvPicPr>
          <p:cNvPr id="7" name="圖片 6">
            <a:extLst>
              <a:ext uri="{FF2B5EF4-FFF2-40B4-BE49-F238E27FC236}">
                <a16:creationId xmlns:a16="http://schemas.microsoft.com/office/drawing/2014/main" id="{FDD59BAB-EF62-4404-80B7-D7829C9B16E4}"/>
              </a:ext>
            </a:extLst>
          </p:cNvPr>
          <p:cNvPicPr>
            <a:picLocks noChangeAspect="1"/>
          </p:cNvPicPr>
          <p:nvPr/>
        </p:nvPicPr>
        <p:blipFill>
          <a:blip r:embed="rId3"/>
          <a:stretch>
            <a:fillRect/>
          </a:stretch>
        </p:blipFill>
        <p:spPr>
          <a:xfrm>
            <a:off x="4062681" y="3332162"/>
            <a:ext cx="5143500" cy="3343275"/>
          </a:xfrm>
          <a:prstGeom prst="rect">
            <a:avLst/>
          </a:prstGeom>
        </p:spPr>
      </p:pic>
    </p:spTree>
    <p:extLst>
      <p:ext uri="{BB962C8B-B14F-4D97-AF65-F5344CB8AC3E}">
        <p14:creationId xmlns:p14="http://schemas.microsoft.com/office/powerpoint/2010/main" val="30956316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1DD2D3-CBE0-4708-9D4C-770D8A7C3441}"/>
              </a:ext>
            </a:extLst>
          </p:cNvPr>
          <p:cNvSpPr>
            <a:spLocks noGrp="1"/>
          </p:cNvSpPr>
          <p:nvPr>
            <p:ph type="title"/>
          </p:nvPr>
        </p:nvSpPr>
        <p:spPr/>
        <p:txBody>
          <a:bodyPr/>
          <a:lstStyle/>
          <a:p>
            <a:r>
              <a:rPr lang="zh-TW" altLang="en-US" dirty="0"/>
              <a:t>請求項的界定</a:t>
            </a:r>
          </a:p>
        </p:txBody>
      </p:sp>
      <p:sp>
        <p:nvSpPr>
          <p:cNvPr id="4" name="投影片編號版面配置區 3">
            <a:extLst>
              <a:ext uri="{FF2B5EF4-FFF2-40B4-BE49-F238E27FC236}">
                <a16:creationId xmlns:a16="http://schemas.microsoft.com/office/drawing/2014/main" id="{7F201403-7035-4EFF-88A7-884F4804B848}"/>
              </a:ext>
            </a:extLst>
          </p:cNvPr>
          <p:cNvSpPr>
            <a:spLocks noGrp="1"/>
          </p:cNvSpPr>
          <p:nvPr>
            <p:ph type="sldNum" sz="quarter" idx="12"/>
          </p:nvPr>
        </p:nvSpPr>
        <p:spPr/>
        <p:txBody>
          <a:bodyPr/>
          <a:lstStyle/>
          <a:p>
            <a:fld id="{25768BAF-173A-4148-B120-6C42E92911E4}" type="slidenum">
              <a:rPr lang="zh-TW" altLang="en-US" smtClean="0"/>
              <a:pPr/>
              <a:t>72</a:t>
            </a:fld>
            <a:endParaRPr lang="zh-TW" altLang="en-US" dirty="0"/>
          </a:p>
        </p:txBody>
      </p:sp>
      <p:sp>
        <p:nvSpPr>
          <p:cNvPr id="5" name="矩形 4">
            <a:extLst>
              <a:ext uri="{FF2B5EF4-FFF2-40B4-BE49-F238E27FC236}">
                <a16:creationId xmlns:a16="http://schemas.microsoft.com/office/drawing/2014/main" id="{A590D88C-49C5-4ECE-A858-0104C8DB1F54}"/>
              </a:ext>
            </a:extLst>
          </p:cNvPr>
          <p:cNvSpPr/>
          <p:nvPr/>
        </p:nvSpPr>
        <p:spPr>
          <a:xfrm>
            <a:off x="107504" y="1984738"/>
            <a:ext cx="8955012" cy="378565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altLang="zh-TW" sz="2400" dirty="0">
                <a:solidFill>
                  <a:srgbClr val="000000"/>
                </a:solidFill>
                <a:latin typeface="微軟正黑體" panose="020B0604030504040204" pitchFamily="34" charset="-120"/>
                <a:ea typeface="微軟正黑體" panose="020B0604030504040204" pitchFamily="34" charset="-120"/>
              </a:rPr>
              <a:t>1.</a:t>
            </a:r>
            <a:r>
              <a:rPr lang="zh-TW" altLang="en-US" sz="2400" dirty="0">
                <a:solidFill>
                  <a:srgbClr val="000000"/>
                </a:solidFill>
                <a:latin typeface="微軟正黑體" panose="020B0604030504040204" pitchFamily="34" charset="-120"/>
                <a:ea typeface="微軟正黑體" panose="020B0604030504040204" pitchFamily="34" charset="-120"/>
              </a:rPr>
              <a:t>一種取得不動產地理範圍資料之系統，包含</a:t>
            </a:r>
            <a:r>
              <a:rPr lang="zh-TW" altLang="en-US" sz="2400" dirty="0">
                <a:solidFill>
                  <a:srgbClr val="FF0000"/>
                </a:solidFill>
                <a:latin typeface="微軟正黑體" panose="020B0604030504040204" pitchFamily="34" charset="-120"/>
                <a:ea typeface="微軟正黑體" panose="020B0604030504040204" pitchFamily="34" charset="-120"/>
              </a:rPr>
              <a:t>一電子裝置</a:t>
            </a:r>
            <a:r>
              <a:rPr lang="zh-TW" altLang="en-US" sz="2400" dirty="0">
                <a:solidFill>
                  <a:srgbClr val="000000"/>
                </a:solidFill>
                <a:latin typeface="微軟正黑體" panose="020B0604030504040204" pitchFamily="34" charset="-120"/>
                <a:ea typeface="微軟正黑體" panose="020B0604030504040204" pitchFamily="34" charset="-120"/>
              </a:rPr>
              <a:t>及</a:t>
            </a:r>
            <a:r>
              <a:rPr lang="zh-TW" altLang="en-US" sz="2400" dirty="0">
                <a:solidFill>
                  <a:srgbClr val="FF0000"/>
                </a:solidFill>
                <a:latin typeface="微軟正黑體" panose="020B0604030504040204" pitchFamily="34" charset="-120"/>
                <a:ea typeface="微軟正黑體" panose="020B0604030504040204" pitchFamily="34" charset="-120"/>
              </a:rPr>
              <a:t>一不動產資料庫</a:t>
            </a:r>
            <a:r>
              <a:rPr lang="zh-TW" altLang="en-US" sz="2400" dirty="0">
                <a:solidFill>
                  <a:srgbClr val="000000"/>
                </a:solidFill>
                <a:latin typeface="微軟正黑體" panose="020B0604030504040204" pitchFamily="34" charset="-120"/>
                <a:ea typeface="微軟正黑體" panose="020B0604030504040204" pitchFamily="34" charset="-120"/>
              </a:rPr>
              <a:t>，其中，該電子裝置，包括</a:t>
            </a:r>
            <a:r>
              <a:rPr lang="zh-TW" altLang="en-US" sz="2400" dirty="0">
                <a:solidFill>
                  <a:srgbClr val="FF0000"/>
                </a:solidFill>
                <a:latin typeface="微軟正黑體" panose="020B0604030504040204" pitchFamily="34" charset="-120"/>
                <a:ea typeface="微軟正黑體" panose="020B0604030504040204" pitchFamily="34" charset="-120"/>
              </a:rPr>
              <a:t>一定位裝置</a:t>
            </a:r>
            <a:r>
              <a:rPr lang="zh-TW" altLang="en-US" sz="2400" dirty="0">
                <a:solidFill>
                  <a:srgbClr val="000000"/>
                </a:solidFill>
                <a:latin typeface="微軟正黑體" panose="020B0604030504040204" pitchFamily="34" charset="-120"/>
                <a:ea typeface="微軟正黑體" panose="020B0604030504040204" pitchFamily="34" charset="-120"/>
              </a:rPr>
              <a:t>及</a:t>
            </a:r>
            <a:r>
              <a:rPr lang="zh-TW" altLang="en-US" sz="2400" dirty="0">
                <a:solidFill>
                  <a:srgbClr val="FF0000"/>
                </a:solidFill>
                <a:latin typeface="微軟正黑體" panose="020B0604030504040204" pitchFamily="34" charset="-120"/>
                <a:ea typeface="微軟正黑體" panose="020B0604030504040204" pitchFamily="34" charset="-120"/>
              </a:rPr>
              <a:t>一通訊裝置</a:t>
            </a:r>
            <a:r>
              <a:rPr lang="zh-TW" altLang="en-US" sz="2400" dirty="0">
                <a:solidFill>
                  <a:srgbClr val="000000"/>
                </a:solidFill>
                <a:latin typeface="微軟正黑體" panose="020B0604030504040204" pitchFamily="34" charset="-120"/>
                <a:ea typeface="微軟正黑體" panose="020B0604030504040204" pitchFamily="34" charset="-120"/>
              </a:rPr>
              <a:t>，該定位裝置用以取得至少一座標，其中該座標係反應該電子裝置與至少一不動產之地理位置，該通訊裝置用來取得該不動產之相關基本資料；以及依據該座標與該相關資料，更新該不動產資料庫，以使得該不動產資料庫取得該不動產之地理範圍資料。</a:t>
            </a:r>
            <a:endParaRPr lang="en-US" altLang="zh-TW" sz="2400" dirty="0">
              <a:solidFill>
                <a:srgbClr val="000000"/>
              </a:solidFill>
              <a:latin typeface="微軟正黑體" panose="020B0604030504040204" pitchFamily="34" charset="-120"/>
              <a:ea typeface="微軟正黑體" panose="020B0604030504040204" pitchFamily="34" charset="-120"/>
            </a:endParaRPr>
          </a:p>
          <a:p>
            <a:r>
              <a:rPr lang="en-US" altLang="zh-TW" sz="2400" dirty="0">
                <a:solidFill>
                  <a:srgbClr val="000000"/>
                </a:solidFill>
                <a:latin typeface="微軟正黑體" panose="020B0604030504040204" pitchFamily="34" charset="-120"/>
                <a:ea typeface="微軟正黑體" panose="020B0604030504040204" pitchFamily="34" charset="-120"/>
              </a:rPr>
              <a:t>2.</a:t>
            </a:r>
            <a:r>
              <a:rPr lang="zh-TW" altLang="en-US" sz="2400" dirty="0">
                <a:solidFill>
                  <a:srgbClr val="000000"/>
                </a:solidFill>
                <a:latin typeface="微軟正黑體" panose="020B0604030504040204" pitchFamily="34" charset="-120"/>
                <a:ea typeface="微軟正黑體" panose="020B0604030504040204" pitchFamily="34" charset="-120"/>
              </a:rPr>
              <a:t>如請求項</a:t>
            </a:r>
            <a:r>
              <a:rPr lang="en-US" altLang="zh-TW" sz="2400" dirty="0">
                <a:solidFill>
                  <a:srgbClr val="000000"/>
                </a:solidFill>
                <a:latin typeface="微軟正黑體" panose="020B0604030504040204" pitchFamily="34" charset="-120"/>
                <a:ea typeface="微軟正黑體" panose="020B0604030504040204" pitchFamily="34" charset="-120"/>
              </a:rPr>
              <a:t>1</a:t>
            </a:r>
            <a:r>
              <a:rPr lang="zh-TW" altLang="en-US" sz="2400" dirty="0">
                <a:solidFill>
                  <a:srgbClr val="000000"/>
                </a:solidFill>
                <a:latin typeface="微軟正黑體" panose="020B0604030504040204" pitchFamily="34" charset="-120"/>
                <a:ea typeface="微軟正黑體" panose="020B0604030504040204" pitchFamily="34" charset="-120"/>
              </a:rPr>
              <a:t>之系統，更包括一電子地圖，用以顯示不動產標資訊。</a:t>
            </a:r>
            <a:endParaRPr lang="en-US" altLang="zh-TW" sz="2400" dirty="0">
              <a:solidFill>
                <a:srgbClr val="000000"/>
              </a:solidFill>
              <a:latin typeface="微軟正黑體" panose="020B0604030504040204" pitchFamily="34" charset="-120"/>
              <a:ea typeface="微軟正黑體" panose="020B0604030504040204" pitchFamily="34" charset="-120"/>
            </a:endParaRPr>
          </a:p>
          <a:p>
            <a:r>
              <a:rPr lang="en-US" altLang="zh-TW" sz="2400" dirty="0">
                <a:solidFill>
                  <a:srgbClr val="000000"/>
                </a:solidFill>
                <a:latin typeface="微軟正黑體" panose="020B0604030504040204" pitchFamily="34" charset="-120"/>
                <a:ea typeface="微軟正黑體" panose="020B0604030504040204" pitchFamily="34" charset="-120"/>
              </a:rPr>
              <a:t>3.</a:t>
            </a:r>
            <a:r>
              <a:rPr lang="zh-TW" altLang="en-US" sz="2400" dirty="0">
                <a:solidFill>
                  <a:srgbClr val="000000"/>
                </a:solidFill>
                <a:latin typeface="微軟正黑體" panose="020B0604030504040204" pitchFamily="34" charset="-120"/>
                <a:ea typeface="微軟正黑體" panose="020B0604030504040204" pitchFamily="34" charset="-120"/>
              </a:rPr>
              <a:t>如請求項</a:t>
            </a:r>
            <a:r>
              <a:rPr lang="en-US" altLang="zh-TW" sz="2400" dirty="0">
                <a:solidFill>
                  <a:srgbClr val="000000"/>
                </a:solidFill>
                <a:latin typeface="微軟正黑體" panose="020B0604030504040204" pitchFamily="34" charset="-120"/>
                <a:ea typeface="微軟正黑體" panose="020B0604030504040204" pitchFamily="34" charset="-120"/>
              </a:rPr>
              <a:t>1</a:t>
            </a:r>
            <a:r>
              <a:rPr lang="zh-TW" altLang="en-US" sz="2400" dirty="0">
                <a:solidFill>
                  <a:srgbClr val="000000"/>
                </a:solidFill>
                <a:latin typeface="微軟正黑體" panose="020B0604030504040204" pitchFamily="34" charset="-120"/>
                <a:ea typeface="微軟正黑體" panose="020B0604030504040204" pitchFamily="34" charset="-120"/>
              </a:rPr>
              <a:t>之系統，其中該定位裝置為一</a:t>
            </a:r>
            <a:r>
              <a:rPr lang="en-US" altLang="zh-TW" sz="2400" dirty="0">
                <a:solidFill>
                  <a:srgbClr val="000000"/>
                </a:solidFill>
                <a:latin typeface="微軟正黑體" panose="020B0604030504040204" pitchFamily="34" charset="-120"/>
                <a:ea typeface="微軟正黑體" panose="020B0604030504040204" pitchFamily="34" charset="-120"/>
              </a:rPr>
              <a:t>GPS</a:t>
            </a:r>
            <a:r>
              <a:rPr lang="zh-TW" altLang="en-US" sz="2400" dirty="0">
                <a:solidFill>
                  <a:srgbClr val="000000"/>
                </a:solidFill>
                <a:latin typeface="微軟正黑體" panose="020B0604030504040204" pitchFamily="34" charset="-120"/>
                <a:ea typeface="微軟正黑體" panose="020B0604030504040204" pitchFamily="34" charset="-120"/>
              </a:rPr>
              <a:t>。</a:t>
            </a:r>
            <a:endParaRPr lang="en-US" altLang="zh-TW" sz="2400" dirty="0">
              <a:solidFill>
                <a:srgbClr val="000000"/>
              </a:solidFill>
              <a:latin typeface="微軟正黑體" panose="020B0604030504040204" pitchFamily="34" charset="-120"/>
              <a:ea typeface="微軟正黑體" panose="020B0604030504040204" pitchFamily="34" charset="-120"/>
            </a:endParaRPr>
          </a:p>
          <a:p>
            <a:r>
              <a:rPr lang="en-US" altLang="zh-TW" sz="2400" dirty="0">
                <a:latin typeface="微軟正黑體" panose="020B0604030504040204" pitchFamily="34" charset="-120"/>
                <a:ea typeface="微軟正黑體" panose="020B0604030504040204" pitchFamily="34" charset="-120"/>
              </a:rPr>
              <a:t>4.</a:t>
            </a:r>
            <a:r>
              <a:rPr lang="zh-TW" altLang="en-US" sz="2400" dirty="0">
                <a:solidFill>
                  <a:srgbClr val="000000"/>
                </a:solidFill>
                <a:latin typeface="微軟正黑體" panose="020B0604030504040204" pitchFamily="34" charset="-120"/>
                <a:ea typeface="微軟正黑體" panose="020B0604030504040204" pitchFamily="34" charset="-120"/>
              </a:rPr>
              <a:t>如請求項</a:t>
            </a:r>
            <a:r>
              <a:rPr lang="en-US" altLang="zh-TW" sz="2400" dirty="0">
                <a:solidFill>
                  <a:srgbClr val="000000"/>
                </a:solidFill>
                <a:latin typeface="微軟正黑體" panose="020B0604030504040204" pitchFamily="34" charset="-120"/>
                <a:ea typeface="微軟正黑體" panose="020B0604030504040204" pitchFamily="34" charset="-120"/>
              </a:rPr>
              <a:t>1</a:t>
            </a:r>
            <a:r>
              <a:rPr lang="zh-TW" altLang="en-US" sz="2400" dirty="0">
                <a:solidFill>
                  <a:srgbClr val="000000"/>
                </a:solidFill>
                <a:latin typeface="微軟正黑體" panose="020B0604030504040204" pitchFamily="34" charset="-120"/>
                <a:ea typeface="微軟正黑體" panose="020B0604030504040204" pitchFamily="34" charset="-120"/>
              </a:rPr>
              <a:t>之系統，其中電子裝置為一手機。</a:t>
            </a:r>
            <a:endParaRPr lang="en-US" altLang="zh-TW" sz="2400" dirty="0">
              <a:solidFill>
                <a:srgbClr val="000000"/>
              </a:solidFill>
              <a:latin typeface="微軟正黑體" panose="020B0604030504040204" pitchFamily="34" charset="-120"/>
              <a:ea typeface="微軟正黑體" panose="020B0604030504040204" pitchFamily="34" charset="-120"/>
            </a:endParaRPr>
          </a:p>
          <a:p>
            <a:r>
              <a:rPr lang="en-US" altLang="zh-TW" sz="2400" dirty="0">
                <a:solidFill>
                  <a:srgbClr val="000000"/>
                </a:solidFill>
                <a:latin typeface="微軟正黑體" panose="020B0604030504040204" pitchFamily="34" charset="-120"/>
                <a:ea typeface="微軟正黑體" panose="020B0604030504040204" pitchFamily="34" charset="-120"/>
              </a:rPr>
              <a:t>5.</a:t>
            </a:r>
            <a:r>
              <a:rPr lang="zh-TW" altLang="en-US" sz="2400" dirty="0">
                <a:solidFill>
                  <a:srgbClr val="000000"/>
                </a:solidFill>
                <a:latin typeface="微軟正黑體" panose="020B0604030504040204" pitchFamily="34" charset="-120"/>
                <a:ea typeface="微軟正黑體" panose="020B0604030504040204" pitchFamily="34" charset="-120"/>
              </a:rPr>
              <a:t>如請求項</a:t>
            </a:r>
            <a:r>
              <a:rPr lang="en-US" altLang="zh-TW" sz="2400" dirty="0">
                <a:solidFill>
                  <a:srgbClr val="000000"/>
                </a:solidFill>
                <a:latin typeface="微軟正黑體" panose="020B0604030504040204" pitchFamily="34" charset="-120"/>
                <a:ea typeface="微軟正黑體" panose="020B0604030504040204" pitchFamily="34" charset="-120"/>
              </a:rPr>
              <a:t>1</a:t>
            </a:r>
            <a:r>
              <a:rPr lang="zh-TW" altLang="en-US" sz="2400" dirty="0">
                <a:solidFill>
                  <a:srgbClr val="000000"/>
                </a:solidFill>
                <a:latin typeface="微軟正黑體" panose="020B0604030504040204" pitchFamily="34" charset="-120"/>
                <a:ea typeface="微軟正黑體" panose="020B0604030504040204" pitchFamily="34" charset="-120"/>
              </a:rPr>
              <a:t>之系統，其中通訊裝置包含一無線通訊界面。</a:t>
            </a:r>
            <a:endParaRPr lang="en-US" altLang="zh-TW" sz="2400" dirty="0">
              <a:solidFill>
                <a:srgbClr val="000000"/>
              </a:solidFill>
              <a:latin typeface="微軟正黑體" panose="020B0604030504040204" pitchFamily="34" charset="-120"/>
              <a:ea typeface="微軟正黑體" panose="020B0604030504040204" pitchFamily="34" charset="-120"/>
            </a:endParaRPr>
          </a:p>
        </p:txBody>
      </p:sp>
      <p:sp>
        <p:nvSpPr>
          <p:cNvPr id="6" name="矩形 5">
            <a:extLst>
              <a:ext uri="{FF2B5EF4-FFF2-40B4-BE49-F238E27FC236}">
                <a16:creationId xmlns:a16="http://schemas.microsoft.com/office/drawing/2014/main" id="{CC56D7AF-848A-4BE4-B886-6B42E6F18EE3}"/>
              </a:ext>
            </a:extLst>
          </p:cNvPr>
          <p:cNvSpPr/>
          <p:nvPr/>
        </p:nvSpPr>
        <p:spPr>
          <a:xfrm>
            <a:off x="277540" y="1196752"/>
            <a:ext cx="5109091" cy="461665"/>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r>
              <a:rPr lang="zh-TW" altLang="en-US" sz="2400" dirty="0">
                <a:solidFill>
                  <a:srgbClr val="000000"/>
                </a:solidFill>
                <a:latin typeface="微軟正黑體" panose="020B0604030504040204" pitchFamily="34" charset="-120"/>
                <a:ea typeface="微軟正黑體" panose="020B0604030504040204" pitchFamily="34" charset="-120"/>
              </a:rPr>
              <a:t>一種取得不動產地理範圍資料之系統</a:t>
            </a:r>
            <a:endParaRPr lang="zh-TW" altLang="en-US" sz="2400" dirty="0"/>
          </a:p>
        </p:txBody>
      </p:sp>
    </p:spTree>
    <p:extLst>
      <p:ext uri="{BB962C8B-B14F-4D97-AF65-F5344CB8AC3E}">
        <p14:creationId xmlns:p14="http://schemas.microsoft.com/office/powerpoint/2010/main" val="20687567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請求項的界定</a:t>
            </a: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73</a:t>
            </a:fld>
            <a:endParaRPr lang="zh-TW" altLang="en-US">
              <a:solidFill>
                <a:prstClr val="black">
                  <a:tint val="75000"/>
                </a:prstClr>
              </a:solidFill>
            </a:endParaRPr>
          </a:p>
        </p:txBody>
      </p:sp>
      <p:sp>
        <p:nvSpPr>
          <p:cNvPr id="32" name="矩形 31"/>
          <p:cNvSpPr/>
          <p:nvPr/>
        </p:nvSpPr>
        <p:spPr>
          <a:xfrm>
            <a:off x="3635895" y="6092210"/>
            <a:ext cx="1872209" cy="79658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aphicFrame>
        <p:nvGraphicFramePr>
          <p:cNvPr id="39" name="內容版面配置區 4">
            <a:extLst>
              <a:ext uri="{FF2B5EF4-FFF2-40B4-BE49-F238E27FC236}">
                <a16:creationId xmlns:a16="http://schemas.microsoft.com/office/drawing/2014/main" id="{8ADA5937-86EC-4AF6-82F3-0AD914186DBD}"/>
              </a:ext>
            </a:extLst>
          </p:cNvPr>
          <p:cNvGraphicFramePr>
            <a:graphicFrameLocks noGrp="1"/>
          </p:cNvGraphicFramePr>
          <p:nvPr>
            <p:ph idx="1"/>
            <p:extLst>
              <p:ext uri="{D42A27DB-BD31-4B8C-83A1-F6EECF244321}">
                <p14:modId xmlns:p14="http://schemas.microsoft.com/office/powerpoint/2010/main" val="2304355904"/>
              </p:ext>
            </p:extLst>
          </p:nvPr>
        </p:nvGraphicFramePr>
        <p:xfrm>
          <a:off x="457200" y="1743704"/>
          <a:ext cx="8229600" cy="42484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0" name="群組 39">
            <a:extLst>
              <a:ext uri="{FF2B5EF4-FFF2-40B4-BE49-F238E27FC236}">
                <a16:creationId xmlns:a16="http://schemas.microsoft.com/office/drawing/2014/main" id="{E87240ED-8B07-463C-BA64-24EE5D25442B}"/>
              </a:ext>
            </a:extLst>
          </p:cNvPr>
          <p:cNvGrpSpPr/>
          <p:nvPr/>
        </p:nvGrpSpPr>
        <p:grpSpPr>
          <a:xfrm>
            <a:off x="3552104" y="1095633"/>
            <a:ext cx="1194883" cy="1194883"/>
            <a:chOff x="4008588" y="268715"/>
            <a:chExt cx="1194883" cy="1194883"/>
          </a:xfrm>
          <a:solidFill>
            <a:schemeClr val="accent5">
              <a:lumMod val="50000"/>
            </a:schemeClr>
          </a:solidFill>
          <a:scene3d>
            <a:camera prst="orthographicFront"/>
            <a:lightRig rig="flat" dir="t"/>
          </a:scene3d>
        </p:grpSpPr>
        <p:sp>
          <p:nvSpPr>
            <p:cNvPr id="41" name="橢圓 40">
              <a:extLst>
                <a:ext uri="{FF2B5EF4-FFF2-40B4-BE49-F238E27FC236}">
                  <a16:creationId xmlns:a16="http://schemas.microsoft.com/office/drawing/2014/main" id="{46B38ACF-14D5-48C2-8F02-B5E5515BD8D3}"/>
                </a:ext>
              </a:extLst>
            </p:cNvPr>
            <p:cNvSpPr/>
            <p:nvPr/>
          </p:nvSpPr>
          <p:spPr>
            <a:xfrm>
              <a:off x="4008588" y="268715"/>
              <a:ext cx="1194883" cy="1194883"/>
            </a:xfrm>
            <a:prstGeom prst="ellipse">
              <a:avLst/>
            </a:prstGeom>
            <a:grpFill/>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43" name="橢圓 4">
              <a:extLst>
                <a:ext uri="{FF2B5EF4-FFF2-40B4-BE49-F238E27FC236}">
                  <a16:creationId xmlns:a16="http://schemas.microsoft.com/office/drawing/2014/main" id="{AAA58B78-46C0-4926-9DF5-F8630D17F995}"/>
                </a:ext>
              </a:extLst>
            </p:cNvPr>
            <p:cNvSpPr/>
            <p:nvPr/>
          </p:nvSpPr>
          <p:spPr>
            <a:xfrm>
              <a:off x="4135450" y="443702"/>
              <a:ext cx="1019896" cy="844909"/>
            </a:xfrm>
            <a:prstGeom prst="rect">
              <a:avLst/>
            </a:prstGeom>
            <a:noFill/>
            <a:sp3d/>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algn="ctr" defTabSz="1333500">
                <a:lnSpc>
                  <a:spcPct val="90000"/>
                </a:lnSpc>
                <a:spcBef>
                  <a:spcPct val="0"/>
                </a:spcBef>
                <a:spcAft>
                  <a:spcPct val="35000"/>
                </a:spcAft>
              </a:pPr>
              <a:r>
                <a:rPr lang="zh-TW" altLang="en-US" sz="2000" dirty="0">
                  <a:solidFill>
                    <a:prstClr val="white"/>
                  </a:solidFill>
                  <a:latin typeface="微軟正黑體" panose="020B0604030504040204" pitchFamily="34" charset="-120"/>
                  <a:ea typeface="微軟正黑體" panose="020B0604030504040204" pitchFamily="34" charset="-120"/>
                </a:rPr>
                <a:t>通訊裝置</a:t>
              </a:r>
            </a:p>
          </p:txBody>
        </p:sp>
      </p:grpSp>
      <p:grpSp>
        <p:nvGrpSpPr>
          <p:cNvPr id="44" name="群組 43">
            <a:extLst>
              <a:ext uri="{FF2B5EF4-FFF2-40B4-BE49-F238E27FC236}">
                <a16:creationId xmlns:a16="http://schemas.microsoft.com/office/drawing/2014/main" id="{2F2437DA-E6C4-4682-951E-8171780E2FE1}"/>
              </a:ext>
            </a:extLst>
          </p:cNvPr>
          <p:cNvGrpSpPr/>
          <p:nvPr/>
        </p:nvGrpSpPr>
        <p:grpSpPr>
          <a:xfrm>
            <a:off x="7246365" y="1250029"/>
            <a:ext cx="1430091" cy="1540302"/>
            <a:chOff x="4008588" y="268715"/>
            <a:chExt cx="1194883" cy="1194883"/>
          </a:xfrm>
          <a:solidFill>
            <a:schemeClr val="bg2">
              <a:lumMod val="50000"/>
            </a:schemeClr>
          </a:solidFill>
          <a:scene3d>
            <a:camera prst="orthographicFront"/>
            <a:lightRig rig="flat" dir="t"/>
          </a:scene3d>
        </p:grpSpPr>
        <p:sp>
          <p:nvSpPr>
            <p:cNvPr id="45" name="橢圓 44">
              <a:extLst>
                <a:ext uri="{FF2B5EF4-FFF2-40B4-BE49-F238E27FC236}">
                  <a16:creationId xmlns:a16="http://schemas.microsoft.com/office/drawing/2014/main" id="{7497B60C-ACE0-40D6-AAF1-158D112430DB}"/>
                </a:ext>
              </a:extLst>
            </p:cNvPr>
            <p:cNvSpPr/>
            <p:nvPr/>
          </p:nvSpPr>
          <p:spPr>
            <a:xfrm>
              <a:off x="4008588" y="268715"/>
              <a:ext cx="1194883" cy="1194883"/>
            </a:xfrm>
            <a:prstGeom prst="ellipse">
              <a:avLst/>
            </a:prstGeom>
            <a:grpFill/>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46" name="橢圓 4">
              <a:extLst>
                <a:ext uri="{FF2B5EF4-FFF2-40B4-BE49-F238E27FC236}">
                  <a16:creationId xmlns:a16="http://schemas.microsoft.com/office/drawing/2014/main" id="{2F49B100-ADC7-4C54-BA47-41B831945CE9}"/>
                </a:ext>
              </a:extLst>
            </p:cNvPr>
            <p:cNvSpPr/>
            <p:nvPr/>
          </p:nvSpPr>
          <p:spPr>
            <a:xfrm>
              <a:off x="4183575" y="443702"/>
              <a:ext cx="844909" cy="844909"/>
            </a:xfrm>
            <a:prstGeom prst="rect">
              <a:avLst/>
            </a:prstGeom>
            <a:noFill/>
            <a:sp3d/>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algn="ctr" defTabSz="1333500">
                <a:lnSpc>
                  <a:spcPct val="90000"/>
                </a:lnSpc>
                <a:spcBef>
                  <a:spcPct val="0"/>
                </a:spcBef>
                <a:spcAft>
                  <a:spcPct val="35000"/>
                </a:spcAft>
              </a:pPr>
              <a:r>
                <a:rPr lang="zh-TW" altLang="en-US" sz="1900" dirty="0">
                  <a:solidFill>
                    <a:prstClr val="white"/>
                  </a:solidFill>
                  <a:latin typeface="微軟正黑體" panose="020B0604030504040204" pitchFamily="34" charset="-120"/>
                  <a:ea typeface="微軟正黑體" panose="020B0604030504040204" pitchFamily="34" charset="-120"/>
                </a:rPr>
                <a:t>無線通訊</a:t>
              </a:r>
            </a:p>
          </p:txBody>
        </p:sp>
      </p:grpSp>
      <p:grpSp>
        <p:nvGrpSpPr>
          <p:cNvPr id="47" name="群組 46">
            <a:extLst>
              <a:ext uri="{FF2B5EF4-FFF2-40B4-BE49-F238E27FC236}">
                <a16:creationId xmlns:a16="http://schemas.microsoft.com/office/drawing/2014/main" id="{BF81817D-7E48-41CA-83CB-66CBB94C4E1D}"/>
              </a:ext>
            </a:extLst>
          </p:cNvPr>
          <p:cNvGrpSpPr/>
          <p:nvPr/>
        </p:nvGrpSpPr>
        <p:grpSpPr>
          <a:xfrm>
            <a:off x="2041172" y="3664584"/>
            <a:ext cx="1194883" cy="1194883"/>
            <a:chOff x="4008588" y="268715"/>
            <a:chExt cx="1194883" cy="1194883"/>
          </a:xfrm>
          <a:solidFill>
            <a:schemeClr val="accent6"/>
          </a:solidFill>
          <a:scene3d>
            <a:camera prst="orthographicFront"/>
            <a:lightRig rig="flat" dir="t"/>
          </a:scene3d>
        </p:grpSpPr>
        <p:sp>
          <p:nvSpPr>
            <p:cNvPr id="48" name="橢圓 47">
              <a:extLst>
                <a:ext uri="{FF2B5EF4-FFF2-40B4-BE49-F238E27FC236}">
                  <a16:creationId xmlns:a16="http://schemas.microsoft.com/office/drawing/2014/main" id="{2C18FDC1-5C67-4416-84CA-FC5D427E490E}"/>
                </a:ext>
              </a:extLst>
            </p:cNvPr>
            <p:cNvSpPr/>
            <p:nvPr/>
          </p:nvSpPr>
          <p:spPr>
            <a:xfrm>
              <a:off x="4008588" y="268715"/>
              <a:ext cx="1194883" cy="1194883"/>
            </a:xfrm>
            <a:prstGeom prst="ellipse">
              <a:avLst/>
            </a:prstGeom>
            <a:grpFill/>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49" name="橢圓 4">
              <a:extLst>
                <a:ext uri="{FF2B5EF4-FFF2-40B4-BE49-F238E27FC236}">
                  <a16:creationId xmlns:a16="http://schemas.microsoft.com/office/drawing/2014/main" id="{F460865A-D812-4C27-BAF6-BD68683760AD}"/>
                </a:ext>
              </a:extLst>
            </p:cNvPr>
            <p:cNvSpPr/>
            <p:nvPr/>
          </p:nvSpPr>
          <p:spPr>
            <a:xfrm>
              <a:off x="4183575" y="443702"/>
              <a:ext cx="844909" cy="844909"/>
            </a:xfrm>
            <a:prstGeom prst="rect">
              <a:avLst/>
            </a:prstGeom>
            <a:noFill/>
            <a:sp3d/>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algn="ctr" defTabSz="1333500">
                <a:lnSpc>
                  <a:spcPct val="90000"/>
                </a:lnSpc>
                <a:spcBef>
                  <a:spcPct val="0"/>
                </a:spcBef>
                <a:spcAft>
                  <a:spcPct val="35000"/>
                </a:spcAft>
              </a:pPr>
              <a:r>
                <a:rPr lang="zh-TW" altLang="en-US" sz="1900" dirty="0">
                  <a:solidFill>
                    <a:prstClr val="white"/>
                  </a:solidFill>
                  <a:latin typeface="微軟正黑體" panose="020B0604030504040204" pitchFamily="34" charset="-120"/>
                  <a:ea typeface="微軟正黑體" panose="020B0604030504040204" pitchFamily="34" charset="-120"/>
                </a:rPr>
                <a:t>操作介面</a:t>
              </a:r>
            </a:p>
          </p:txBody>
        </p:sp>
      </p:grpSp>
      <p:grpSp>
        <p:nvGrpSpPr>
          <p:cNvPr id="50" name="群組 49">
            <a:extLst>
              <a:ext uri="{FF2B5EF4-FFF2-40B4-BE49-F238E27FC236}">
                <a16:creationId xmlns:a16="http://schemas.microsoft.com/office/drawing/2014/main" id="{3D91A59E-8821-40E1-91C8-2365C42BFC68}"/>
              </a:ext>
            </a:extLst>
          </p:cNvPr>
          <p:cNvGrpSpPr/>
          <p:nvPr/>
        </p:nvGrpSpPr>
        <p:grpSpPr>
          <a:xfrm>
            <a:off x="1600012" y="1070863"/>
            <a:ext cx="1194883" cy="1194883"/>
            <a:chOff x="4008588" y="268715"/>
            <a:chExt cx="1194883" cy="1194883"/>
          </a:xfrm>
          <a:solidFill>
            <a:schemeClr val="accent5">
              <a:lumMod val="75000"/>
            </a:schemeClr>
          </a:solidFill>
          <a:scene3d>
            <a:camera prst="orthographicFront"/>
            <a:lightRig rig="flat" dir="t"/>
          </a:scene3d>
        </p:grpSpPr>
        <p:sp>
          <p:nvSpPr>
            <p:cNvPr id="51" name="橢圓 50">
              <a:extLst>
                <a:ext uri="{FF2B5EF4-FFF2-40B4-BE49-F238E27FC236}">
                  <a16:creationId xmlns:a16="http://schemas.microsoft.com/office/drawing/2014/main" id="{5F758194-538D-44C7-A2FC-94AEDBDFB997}"/>
                </a:ext>
              </a:extLst>
            </p:cNvPr>
            <p:cNvSpPr/>
            <p:nvPr/>
          </p:nvSpPr>
          <p:spPr>
            <a:xfrm>
              <a:off x="4008588" y="268715"/>
              <a:ext cx="1194883" cy="1194883"/>
            </a:xfrm>
            <a:prstGeom prst="ellipse">
              <a:avLst/>
            </a:prstGeom>
            <a:grpFill/>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52" name="橢圓 4">
              <a:extLst>
                <a:ext uri="{FF2B5EF4-FFF2-40B4-BE49-F238E27FC236}">
                  <a16:creationId xmlns:a16="http://schemas.microsoft.com/office/drawing/2014/main" id="{CE86E389-6380-45BD-AE14-1188F598F544}"/>
                </a:ext>
              </a:extLst>
            </p:cNvPr>
            <p:cNvSpPr/>
            <p:nvPr/>
          </p:nvSpPr>
          <p:spPr>
            <a:xfrm>
              <a:off x="4183575" y="443702"/>
              <a:ext cx="844909" cy="844909"/>
            </a:xfrm>
            <a:prstGeom prst="rect">
              <a:avLst/>
            </a:prstGeom>
            <a:noFill/>
            <a:sp3d/>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algn="ctr" defTabSz="1333500">
                <a:lnSpc>
                  <a:spcPct val="90000"/>
                </a:lnSpc>
                <a:spcBef>
                  <a:spcPct val="0"/>
                </a:spcBef>
                <a:spcAft>
                  <a:spcPct val="35000"/>
                </a:spcAft>
              </a:pPr>
              <a:r>
                <a:rPr lang="zh-TW" altLang="en-US" sz="1900" dirty="0">
                  <a:solidFill>
                    <a:prstClr val="white"/>
                  </a:solidFill>
                  <a:latin typeface="微軟正黑體" panose="020B0604030504040204" pitchFamily="34" charset="-120"/>
                  <a:ea typeface="微軟正黑體" panose="020B0604030504040204" pitchFamily="34" charset="-120"/>
                </a:rPr>
                <a:t>電子地圖</a:t>
              </a:r>
            </a:p>
          </p:txBody>
        </p:sp>
      </p:grpSp>
      <p:grpSp>
        <p:nvGrpSpPr>
          <p:cNvPr id="53" name="群組 52">
            <a:extLst>
              <a:ext uri="{FF2B5EF4-FFF2-40B4-BE49-F238E27FC236}">
                <a16:creationId xmlns:a16="http://schemas.microsoft.com/office/drawing/2014/main" id="{FCBF9F27-13CB-471A-A399-0A75F3C816E9}"/>
              </a:ext>
            </a:extLst>
          </p:cNvPr>
          <p:cNvGrpSpPr/>
          <p:nvPr/>
        </p:nvGrpSpPr>
        <p:grpSpPr>
          <a:xfrm>
            <a:off x="6475998" y="2615344"/>
            <a:ext cx="1194883" cy="1194883"/>
            <a:chOff x="4008588" y="268715"/>
            <a:chExt cx="1194883" cy="1194883"/>
          </a:xfrm>
          <a:solidFill>
            <a:schemeClr val="tx1">
              <a:lumMod val="75000"/>
              <a:lumOff val="25000"/>
            </a:schemeClr>
          </a:solidFill>
          <a:scene3d>
            <a:camera prst="orthographicFront"/>
            <a:lightRig rig="flat" dir="t"/>
          </a:scene3d>
        </p:grpSpPr>
        <p:sp>
          <p:nvSpPr>
            <p:cNvPr id="54" name="橢圓 53">
              <a:extLst>
                <a:ext uri="{FF2B5EF4-FFF2-40B4-BE49-F238E27FC236}">
                  <a16:creationId xmlns:a16="http://schemas.microsoft.com/office/drawing/2014/main" id="{08CEE2F7-CDE5-4DE6-BC0A-1569F52FFD49}"/>
                </a:ext>
              </a:extLst>
            </p:cNvPr>
            <p:cNvSpPr/>
            <p:nvPr/>
          </p:nvSpPr>
          <p:spPr>
            <a:xfrm>
              <a:off x="4008588" y="268715"/>
              <a:ext cx="1194883" cy="1194883"/>
            </a:xfrm>
            <a:prstGeom prst="ellipse">
              <a:avLst/>
            </a:prstGeom>
            <a:grpFill/>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55" name="橢圓 4">
              <a:extLst>
                <a:ext uri="{FF2B5EF4-FFF2-40B4-BE49-F238E27FC236}">
                  <a16:creationId xmlns:a16="http://schemas.microsoft.com/office/drawing/2014/main" id="{4A128F83-6F6D-4F26-A330-C0C4F403B28E}"/>
                </a:ext>
              </a:extLst>
            </p:cNvPr>
            <p:cNvSpPr/>
            <p:nvPr/>
          </p:nvSpPr>
          <p:spPr>
            <a:xfrm>
              <a:off x="4183575" y="443702"/>
              <a:ext cx="844909" cy="844909"/>
            </a:xfrm>
            <a:prstGeom prst="rect">
              <a:avLst/>
            </a:prstGeom>
            <a:noFill/>
            <a:sp3d/>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algn="ctr" defTabSz="1333500">
                <a:lnSpc>
                  <a:spcPct val="90000"/>
                </a:lnSpc>
                <a:spcBef>
                  <a:spcPct val="0"/>
                </a:spcBef>
                <a:spcAft>
                  <a:spcPct val="35000"/>
                </a:spcAft>
              </a:pPr>
              <a:r>
                <a:rPr lang="zh-TW" altLang="en-US" sz="1900" dirty="0">
                  <a:solidFill>
                    <a:prstClr val="white"/>
                  </a:solidFill>
                  <a:latin typeface="微軟正黑體" panose="020B0604030504040204" pitchFamily="34" charset="-120"/>
                  <a:ea typeface="微軟正黑體" panose="020B0604030504040204" pitchFamily="34" charset="-120"/>
                </a:rPr>
                <a:t>顯示器</a:t>
              </a:r>
            </a:p>
          </p:txBody>
        </p:sp>
      </p:grpSp>
      <p:grpSp>
        <p:nvGrpSpPr>
          <p:cNvPr id="56" name="群組 55">
            <a:extLst>
              <a:ext uri="{FF2B5EF4-FFF2-40B4-BE49-F238E27FC236}">
                <a16:creationId xmlns:a16="http://schemas.microsoft.com/office/drawing/2014/main" id="{B4641C21-3EAF-4DAB-8B40-76B31D528D90}"/>
              </a:ext>
            </a:extLst>
          </p:cNvPr>
          <p:cNvGrpSpPr/>
          <p:nvPr/>
        </p:nvGrpSpPr>
        <p:grpSpPr>
          <a:xfrm>
            <a:off x="405129" y="3037799"/>
            <a:ext cx="1194883" cy="1194883"/>
            <a:chOff x="4008588" y="268715"/>
            <a:chExt cx="1194883" cy="1194883"/>
          </a:xfrm>
          <a:solidFill>
            <a:srgbClr val="336600"/>
          </a:solidFill>
          <a:scene3d>
            <a:camera prst="orthographicFront"/>
            <a:lightRig rig="flat" dir="t"/>
          </a:scene3d>
        </p:grpSpPr>
        <p:sp>
          <p:nvSpPr>
            <p:cNvPr id="57" name="橢圓 56">
              <a:extLst>
                <a:ext uri="{FF2B5EF4-FFF2-40B4-BE49-F238E27FC236}">
                  <a16:creationId xmlns:a16="http://schemas.microsoft.com/office/drawing/2014/main" id="{05DA4521-02C7-4325-A768-C4FA2E17B52E}"/>
                </a:ext>
              </a:extLst>
            </p:cNvPr>
            <p:cNvSpPr/>
            <p:nvPr/>
          </p:nvSpPr>
          <p:spPr>
            <a:xfrm>
              <a:off x="4008588" y="268715"/>
              <a:ext cx="1194883" cy="1194883"/>
            </a:xfrm>
            <a:prstGeom prst="ellipse">
              <a:avLst/>
            </a:prstGeom>
            <a:grpFill/>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58" name="橢圓 4">
              <a:extLst>
                <a:ext uri="{FF2B5EF4-FFF2-40B4-BE49-F238E27FC236}">
                  <a16:creationId xmlns:a16="http://schemas.microsoft.com/office/drawing/2014/main" id="{13E7A6F9-BA5F-4248-AD31-B9A9561CFFFD}"/>
                </a:ext>
              </a:extLst>
            </p:cNvPr>
            <p:cNvSpPr/>
            <p:nvPr/>
          </p:nvSpPr>
          <p:spPr>
            <a:xfrm>
              <a:off x="4183575" y="443702"/>
              <a:ext cx="844909" cy="844909"/>
            </a:xfrm>
            <a:prstGeom prst="rect">
              <a:avLst/>
            </a:prstGeom>
            <a:noFill/>
            <a:sp3d/>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algn="ctr" defTabSz="1333500">
                <a:lnSpc>
                  <a:spcPct val="90000"/>
                </a:lnSpc>
                <a:spcBef>
                  <a:spcPct val="0"/>
                </a:spcBef>
                <a:spcAft>
                  <a:spcPct val="35000"/>
                </a:spcAft>
              </a:pPr>
              <a:r>
                <a:rPr lang="zh-TW" altLang="en-US" sz="1900" dirty="0">
                  <a:solidFill>
                    <a:prstClr val="white"/>
                  </a:solidFill>
                  <a:latin typeface="微軟正黑體" panose="020B0604030504040204" pitchFamily="34" charset="-120"/>
                  <a:ea typeface="微軟正黑體" panose="020B0604030504040204" pitchFamily="34" charset="-120"/>
                </a:rPr>
                <a:t>手機</a:t>
              </a:r>
            </a:p>
          </p:txBody>
        </p:sp>
      </p:grpSp>
      <p:grpSp>
        <p:nvGrpSpPr>
          <p:cNvPr id="59" name="群組 58">
            <a:extLst>
              <a:ext uri="{FF2B5EF4-FFF2-40B4-BE49-F238E27FC236}">
                <a16:creationId xmlns:a16="http://schemas.microsoft.com/office/drawing/2014/main" id="{99C72790-B110-422E-971F-77AE763C8039}"/>
              </a:ext>
            </a:extLst>
          </p:cNvPr>
          <p:cNvGrpSpPr/>
          <p:nvPr/>
        </p:nvGrpSpPr>
        <p:grpSpPr>
          <a:xfrm>
            <a:off x="7845521" y="3503472"/>
            <a:ext cx="1194883" cy="1194883"/>
            <a:chOff x="4008588" y="268715"/>
            <a:chExt cx="1194883" cy="1194883"/>
          </a:xfrm>
          <a:solidFill>
            <a:srgbClr val="003399"/>
          </a:solidFill>
          <a:scene3d>
            <a:camera prst="orthographicFront"/>
            <a:lightRig rig="flat" dir="t"/>
          </a:scene3d>
        </p:grpSpPr>
        <p:sp>
          <p:nvSpPr>
            <p:cNvPr id="60" name="橢圓 59">
              <a:extLst>
                <a:ext uri="{FF2B5EF4-FFF2-40B4-BE49-F238E27FC236}">
                  <a16:creationId xmlns:a16="http://schemas.microsoft.com/office/drawing/2014/main" id="{FB2236DF-043B-48E2-905F-6CE79904F468}"/>
                </a:ext>
              </a:extLst>
            </p:cNvPr>
            <p:cNvSpPr/>
            <p:nvPr/>
          </p:nvSpPr>
          <p:spPr>
            <a:xfrm>
              <a:off x="4008588" y="268715"/>
              <a:ext cx="1194883" cy="1194883"/>
            </a:xfrm>
            <a:prstGeom prst="ellipse">
              <a:avLst/>
            </a:prstGeom>
            <a:grpFill/>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61" name="橢圓 4">
              <a:extLst>
                <a:ext uri="{FF2B5EF4-FFF2-40B4-BE49-F238E27FC236}">
                  <a16:creationId xmlns:a16="http://schemas.microsoft.com/office/drawing/2014/main" id="{F567EDA0-33DB-45A0-99CA-E12FFFE7DA23}"/>
                </a:ext>
              </a:extLst>
            </p:cNvPr>
            <p:cNvSpPr/>
            <p:nvPr/>
          </p:nvSpPr>
          <p:spPr>
            <a:xfrm>
              <a:off x="4183575" y="443702"/>
              <a:ext cx="844909" cy="844909"/>
            </a:xfrm>
            <a:prstGeom prst="rect">
              <a:avLst/>
            </a:prstGeom>
            <a:noFill/>
            <a:sp3d/>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algn="ctr" defTabSz="1333500">
                <a:lnSpc>
                  <a:spcPct val="90000"/>
                </a:lnSpc>
                <a:spcBef>
                  <a:spcPct val="0"/>
                </a:spcBef>
                <a:spcAft>
                  <a:spcPct val="35000"/>
                </a:spcAft>
              </a:pPr>
              <a:r>
                <a:rPr lang="en-US" altLang="zh-TW" sz="1900" dirty="0">
                  <a:solidFill>
                    <a:prstClr val="white"/>
                  </a:solidFill>
                  <a:latin typeface="微軟正黑體" panose="020B0604030504040204" pitchFamily="34" charset="-120"/>
                  <a:ea typeface="微軟正黑體" panose="020B0604030504040204" pitchFamily="34" charset="-120"/>
                </a:rPr>
                <a:t>GPS</a:t>
              </a:r>
              <a:endParaRPr lang="zh-TW" altLang="en-US" sz="1900" dirty="0">
                <a:solidFill>
                  <a:prstClr val="white"/>
                </a:solidFill>
                <a:latin typeface="微軟正黑體" panose="020B0604030504040204" pitchFamily="34" charset="-120"/>
                <a:ea typeface="微軟正黑體" panose="020B0604030504040204" pitchFamily="34" charset="-120"/>
              </a:endParaRPr>
            </a:p>
          </p:txBody>
        </p:sp>
      </p:grpSp>
      <p:sp>
        <p:nvSpPr>
          <p:cNvPr id="62" name="向下箭號 29">
            <a:extLst>
              <a:ext uri="{FF2B5EF4-FFF2-40B4-BE49-F238E27FC236}">
                <a16:creationId xmlns:a16="http://schemas.microsoft.com/office/drawing/2014/main" id="{2D5B6F74-D6F4-459F-8A86-EFD509081D8D}"/>
              </a:ext>
            </a:extLst>
          </p:cNvPr>
          <p:cNvSpPr/>
          <p:nvPr/>
        </p:nvSpPr>
        <p:spPr>
          <a:xfrm>
            <a:off x="4240089" y="5752332"/>
            <a:ext cx="663823" cy="424847"/>
          </a:xfrm>
          <a:prstGeom prst="downArrow">
            <a:avLst/>
          </a:prstGeom>
          <a:solidFill>
            <a:schemeClr val="accent2">
              <a:lumMod val="60000"/>
              <a:lumOff val="40000"/>
            </a:schemeClr>
          </a:solidFill>
          <a:scene3d>
            <a:camera prst="orthographicFront"/>
            <a:lightRig rig="flat" dir="t"/>
          </a:scene3d>
          <a:sp3d z="190500" prstMaterial="plastic">
            <a:bevelT w="120900" h="88900"/>
            <a:bevelB w="88900" h="31750" prst="angle"/>
          </a:sp3d>
        </p:spPr>
        <p:style>
          <a:lnRef idx="0">
            <a:schemeClr val="lt1">
              <a:hueOff val="0"/>
              <a:satOff val="0"/>
              <a:lumOff val="0"/>
              <a:alphaOff val="0"/>
            </a:schemeClr>
          </a:lnRef>
          <a:fillRef idx="1">
            <a:schemeClr val="accent2">
              <a:tint val="40000"/>
              <a:hueOff val="0"/>
              <a:satOff val="0"/>
              <a:lumOff val="0"/>
              <a:alphaOff val="0"/>
            </a:schemeClr>
          </a:fillRef>
          <a:effectRef idx="3">
            <a:schemeClr val="accent2">
              <a:tint val="40000"/>
              <a:hueOff val="0"/>
              <a:satOff val="0"/>
              <a:lumOff val="0"/>
              <a:alphaOff val="0"/>
            </a:schemeClr>
          </a:effectRef>
          <a:fontRef idx="minor">
            <a:schemeClr val="dk1">
              <a:hueOff val="0"/>
              <a:satOff val="0"/>
              <a:lumOff val="0"/>
              <a:alphaOff val="0"/>
            </a:schemeClr>
          </a:fontRef>
        </p:style>
      </p:sp>
      <p:grpSp>
        <p:nvGrpSpPr>
          <p:cNvPr id="63" name="群組 62">
            <a:extLst>
              <a:ext uri="{FF2B5EF4-FFF2-40B4-BE49-F238E27FC236}">
                <a16:creationId xmlns:a16="http://schemas.microsoft.com/office/drawing/2014/main" id="{7AF8EAE1-E1B8-456E-BFB1-B326096627C8}"/>
              </a:ext>
            </a:extLst>
          </p:cNvPr>
          <p:cNvGrpSpPr/>
          <p:nvPr/>
        </p:nvGrpSpPr>
        <p:grpSpPr>
          <a:xfrm>
            <a:off x="3635895" y="6092210"/>
            <a:ext cx="1872209" cy="796588"/>
            <a:chOff x="2521622" y="3425331"/>
            <a:chExt cx="3186354" cy="796588"/>
          </a:xfrm>
        </p:grpSpPr>
        <p:sp>
          <p:nvSpPr>
            <p:cNvPr id="64" name="矩形 63">
              <a:extLst>
                <a:ext uri="{FF2B5EF4-FFF2-40B4-BE49-F238E27FC236}">
                  <a16:creationId xmlns:a16="http://schemas.microsoft.com/office/drawing/2014/main" id="{008FAEB9-786A-43AD-95BD-0B4DC3BAA646}"/>
                </a:ext>
              </a:extLst>
            </p:cNvPr>
            <p:cNvSpPr/>
            <p:nvPr/>
          </p:nvSpPr>
          <p:spPr>
            <a:xfrm>
              <a:off x="2521622" y="3425331"/>
              <a:ext cx="3186354" cy="79658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65" name="矩形 64">
              <a:extLst>
                <a:ext uri="{FF2B5EF4-FFF2-40B4-BE49-F238E27FC236}">
                  <a16:creationId xmlns:a16="http://schemas.microsoft.com/office/drawing/2014/main" id="{58D31E7C-4254-4466-AA4C-FB9D1CE56CF1}"/>
                </a:ext>
              </a:extLst>
            </p:cNvPr>
            <p:cNvSpPr/>
            <p:nvPr/>
          </p:nvSpPr>
          <p:spPr>
            <a:xfrm>
              <a:off x="2521622" y="3425331"/>
              <a:ext cx="3186354" cy="79658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27584" tIns="227584" rIns="227584" bIns="227584" numCol="1" spcCol="1270" anchor="ctr" anchorCtr="0">
              <a:noAutofit/>
            </a:bodyPr>
            <a:lstStyle/>
            <a:p>
              <a:pPr algn="ctr" defTabSz="1422400">
                <a:lnSpc>
                  <a:spcPct val="90000"/>
                </a:lnSpc>
                <a:spcBef>
                  <a:spcPct val="0"/>
                </a:spcBef>
                <a:spcAft>
                  <a:spcPct val="35000"/>
                </a:spcAft>
              </a:pPr>
              <a:r>
                <a:rPr lang="zh-TW" altLang="en-US" sz="3200" b="1" dirty="0">
                  <a:solidFill>
                    <a:srgbClr val="C00000"/>
                  </a:solidFill>
                  <a:latin typeface="微軟正黑體" pitchFamily="34" charset="-120"/>
                  <a:ea typeface="微軟正黑體" pitchFamily="34" charset="-120"/>
                </a:rPr>
                <a:t>獨立項</a:t>
              </a:r>
            </a:p>
          </p:txBody>
        </p:sp>
      </p:grpSp>
      <p:sp>
        <p:nvSpPr>
          <p:cNvPr id="66" name="向下箭號 37">
            <a:extLst>
              <a:ext uri="{FF2B5EF4-FFF2-40B4-BE49-F238E27FC236}">
                <a16:creationId xmlns:a16="http://schemas.microsoft.com/office/drawing/2014/main" id="{96AAF271-186E-43B8-8CE1-514C7D5BC734}"/>
              </a:ext>
            </a:extLst>
          </p:cNvPr>
          <p:cNvSpPr/>
          <p:nvPr/>
        </p:nvSpPr>
        <p:spPr>
          <a:xfrm>
            <a:off x="1032487" y="5085184"/>
            <a:ext cx="411451" cy="493367"/>
          </a:xfrm>
          <a:prstGeom prst="downArrow">
            <a:avLst/>
          </a:prstGeom>
          <a:solidFill>
            <a:schemeClr val="accent4">
              <a:lumMod val="60000"/>
              <a:lumOff val="40000"/>
            </a:schemeClr>
          </a:solidFill>
          <a:scene3d>
            <a:camera prst="orthographicFront"/>
            <a:lightRig rig="flat" dir="t"/>
          </a:scene3d>
          <a:sp3d z="190500" prstMaterial="plastic">
            <a:bevelT w="120900" h="88900"/>
            <a:bevelB w="88900" h="31750" prst="angle"/>
          </a:sp3d>
        </p:spPr>
        <p:style>
          <a:lnRef idx="0">
            <a:schemeClr val="lt1">
              <a:hueOff val="0"/>
              <a:satOff val="0"/>
              <a:lumOff val="0"/>
              <a:alphaOff val="0"/>
            </a:schemeClr>
          </a:lnRef>
          <a:fillRef idx="1">
            <a:schemeClr val="accent2">
              <a:tint val="40000"/>
              <a:hueOff val="0"/>
              <a:satOff val="0"/>
              <a:lumOff val="0"/>
              <a:alphaOff val="0"/>
            </a:schemeClr>
          </a:fillRef>
          <a:effectRef idx="3">
            <a:schemeClr val="accent2">
              <a:tint val="40000"/>
              <a:hueOff val="0"/>
              <a:satOff val="0"/>
              <a:lumOff val="0"/>
              <a:alphaOff val="0"/>
            </a:schemeClr>
          </a:effectRef>
          <a:fontRef idx="minor">
            <a:schemeClr val="dk1">
              <a:hueOff val="0"/>
              <a:satOff val="0"/>
              <a:lumOff val="0"/>
              <a:alphaOff val="0"/>
            </a:schemeClr>
          </a:fontRef>
        </p:style>
      </p:sp>
      <p:sp>
        <p:nvSpPr>
          <p:cNvPr id="67" name="文字方塊 66">
            <a:extLst>
              <a:ext uri="{FF2B5EF4-FFF2-40B4-BE49-F238E27FC236}">
                <a16:creationId xmlns:a16="http://schemas.microsoft.com/office/drawing/2014/main" id="{79B1EFF5-A634-41C6-BD92-DC52CB8EC8DD}"/>
              </a:ext>
            </a:extLst>
          </p:cNvPr>
          <p:cNvSpPr txBox="1"/>
          <p:nvPr/>
        </p:nvSpPr>
        <p:spPr>
          <a:xfrm>
            <a:off x="761160" y="4619693"/>
            <a:ext cx="954107" cy="400110"/>
          </a:xfrm>
          <a:prstGeom prst="rect">
            <a:avLst/>
          </a:prstGeom>
          <a:noFill/>
        </p:spPr>
        <p:txBody>
          <a:bodyPr wrap="none" rtlCol="0">
            <a:spAutoFit/>
          </a:bodyPr>
          <a:lstStyle/>
          <a:p>
            <a:r>
              <a:rPr lang="zh-TW" altLang="en-US" sz="2000" b="1" dirty="0">
                <a:solidFill>
                  <a:srgbClr val="8064A2">
                    <a:lumMod val="75000"/>
                  </a:srgbClr>
                </a:solidFill>
                <a:latin typeface="微軟正黑體" pitchFamily="34" charset="-120"/>
                <a:ea typeface="微軟正黑體" pitchFamily="34" charset="-120"/>
              </a:rPr>
              <a:t>非必要</a:t>
            </a:r>
          </a:p>
        </p:txBody>
      </p:sp>
      <p:sp>
        <p:nvSpPr>
          <p:cNvPr id="68" name="文字方塊 67">
            <a:extLst>
              <a:ext uri="{FF2B5EF4-FFF2-40B4-BE49-F238E27FC236}">
                <a16:creationId xmlns:a16="http://schemas.microsoft.com/office/drawing/2014/main" id="{C15AE66F-FE81-409E-A8BE-BA9261C6D7CE}"/>
              </a:ext>
            </a:extLst>
          </p:cNvPr>
          <p:cNvSpPr txBox="1"/>
          <p:nvPr/>
        </p:nvSpPr>
        <p:spPr>
          <a:xfrm>
            <a:off x="179269" y="5661248"/>
            <a:ext cx="2117887" cy="400110"/>
          </a:xfrm>
          <a:prstGeom prst="rect">
            <a:avLst/>
          </a:prstGeom>
          <a:noFill/>
        </p:spPr>
        <p:txBody>
          <a:bodyPr wrap="none" rtlCol="0">
            <a:spAutoFit/>
          </a:bodyPr>
          <a:lstStyle/>
          <a:p>
            <a:r>
              <a:rPr lang="zh-TW" altLang="en-US" sz="2000" b="1" dirty="0">
                <a:solidFill>
                  <a:srgbClr val="8064A2">
                    <a:lumMod val="75000"/>
                  </a:srgbClr>
                </a:solidFill>
                <a:latin typeface="微軟正黑體" pitchFamily="34" charset="-120"/>
                <a:ea typeface="微軟正黑體" pitchFamily="34" charset="-120"/>
              </a:rPr>
              <a:t>附屬項 </a:t>
            </a:r>
            <a:r>
              <a:rPr lang="en-US" altLang="zh-TW" sz="2000" b="1" dirty="0">
                <a:solidFill>
                  <a:srgbClr val="8064A2">
                    <a:lumMod val="75000"/>
                  </a:srgbClr>
                </a:solidFill>
                <a:latin typeface="微軟正黑體" pitchFamily="34" charset="-120"/>
                <a:ea typeface="微軟正黑體" pitchFamily="34" charset="-120"/>
              </a:rPr>
              <a:t>or </a:t>
            </a:r>
            <a:r>
              <a:rPr lang="zh-TW" altLang="en-US" sz="2000" b="1" dirty="0">
                <a:solidFill>
                  <a:srgbClr val="8064A2">
                    <a:lumMod val="75000"/>
                  </a:srgbClr>
                </a:solidFill>
                <a:latin typeface="微軟正黑體" pitchFamily="34" charset="-120"/>
                <a:ea typeface="微軟正黑體" pitchFamily="34" charset="-120"/>
              </a:rPr>
              <a:t>獨立項</a:t>
            </a:r>
          </a:p>
        </p:txBody>
      </p:sp>
      <p:sp>
        <p:nvSpPr>
          <p:cNvPr id="69" name="文字方塊 68">
            <a:extLst>
              <a:ext uri="{FF2B5EF4-FFF2-40B4-BE49-F238E27FC236}">
                <a16:creationId xmlns:a16="http://schemas.microsoft.com/office/drawing/2014/main" id="{BE439DA4-3F0E-4782-BD32-39170DA1F6A0}"/>
              </a:ext>
            </a:extLst>
          </p:cNvPr>
          <p:cNvSpPr txBox="1"/>
          <p:nvPr/>
        </p:nvSpPr>
        <p:spPr>
          <a:xfrm>
            <a:off x="6070400" y="5320605"/>
            <a:ext cx="2705333"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TW" altLang="en-US" dirty="0">
                <a:solidFill>
                  <a:prstClr val="black"/>
                </a:solidFill>
                <a:latin typeface="微軟正黑體" panose="020B0604030504040204" pitchFamily="34" charset="-120"/>
                <a:ea typeface="微軟正黑體" panose="020B0604030504040204" pitchFamily="34" charset="-120"/>
              </a:rPr>
              <a:t>必要技術特徵，指申請專利之發明為解決問題所不可或缺的技術特徵。</a:t>
            </a:r>
          </a:p>
        </p:txBody>
      </p:sp>
    </p:spTree>
    <p:extLst>
      <p:ext uri="{BB962C8B-B14F-4D97-AF65-F5344CB8AC3E}">
        <p14:creationId xmlns:p14="http://schemas.microsoft.com/office/powerpoint/2010/main" val="33871981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a:extLst>
              <a:ext uri="{FF2B5EF4-FFF2-40B4-BE49-F238E27FC236}">
                <a16:creationId xmlns:a16="http://schemas.microsoft.com/office/drawing/2014/main" id="{8589440C-8979-AC7A-F748-5A40F8E65938}"/>
              </a:ext>
            </a:extLst>
          </p:cNvPr>
          <p:cNvGrpSpPr/>
          <p:nvPr/>
        </p:nvGrpSpPr>
        <p:grpSpPr>
          <a:xfrm>
            <a:off x="79307" y="776514"/>
            <a:ext cx="4296346" cy="6081486"/>
            <a:chOff x="79307" y="776514"/>
            <a:chExt cx="4296346" cy="6081486"/>
          </a:xfrm>
        </p:grpSpPr>
        <p:pic>
          <p:nvPicPr>
            <p:cNvPr id="10242"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9307" y="776514"/>
              <a:ext cx="4296346" cy="6081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圖片 5">
              <a:extLst>
                <a:ext uri="{FF2B5EF4-FFF2-40B4-BE49-F238E27FC236}">
                  <a16:creationId xmlns:a16="http://schemas.microsoft.com/office/drawing/2014/main" id="{B3A48F93-9AEF-680A-496D-AF5B64D76EC6}"/>
                </a:ext>
              </a:extLst>
            </p:cNvPr>
            <p:cNvPicPr>
              <a:picLocks noChangeAspect="1"/>
            </p:cNvPicPr>
            <p:nvPr/>
          </p:nvPicPr>
          <p:blipFill>
            <a:blip r:embed="rId4"/>
            <a:stretch>
              <a:fillRect/>
            </a:stretch>
          </p:blipFill>
          <p:spPr>
            <a:xfrm>
              <a:off x="349164" y="1988840"/>
              <a:ext cx="3864379" cy="3056897"/>
            </a:xfrm>
            <a:prstGeom prst="rect">
              <a:avLst/>
            </a:prstGeom>
          </p:spPr>
        </p:pic>
      </p:grpSp>
      <p:sp>
        <p:nvSpPr>
          <p:cNvPr id="2" name="標題 1"/>
          <p:cNvSpPr>
            <a:spLocks noGrp="1"/>
          </p:cNvSpPr>
          <p:nvPr>
            <p:ph type="title"/>
          </p:nvPr>
        </p:nvSpPr>
        <p:spPr/>
        <p:txBody>
          <a:bodyPr/>
          <a:lstStyle/>
          <a:p>
            <a:r>
              <a:rPr lang="zh-TW" altLang="en-US" dirty="0"/>
              <a:t>圖式</a:t>
            </a:r>
          </a:p>
        </p:txBody>
      </p:sp>
      <p:sp>
        <p:nvSpPr>
          <p:cNvPr id="4" name="投影片編號版面配置區 3"/>
          <p:cNvSpPr>
            <a:spLocks noGrp="1"/>
          </p:cNvSpPr>
          <p:nvPr>
            <p:ph type="sldNum" sz="quarter" idx="12"/>
          </p:nvPr>
        </p:nvSpPr>
        <p:spPr/>
        <p:txBody>
          <a:bodyPr/>
          <a:lstStyle/>
          <a:p>
            <a:fld id="{51D2D507-09EA-4C6F-96ED-053C801F8797}" type="slidenum">
              <a:rPr lang="zh-TW" altLang="en-US" smtClean="0">
                <a:solidFill>
                  <a:prstClr val="black">
                    <a:tint val="75000"/>
                  </a:prstClr>
                </a:solidFill>
              </a:rPr>
              <a:pPr/>
              <a:t>74</a:t>
            </a:fld>
            <a:endParaRPr lang="zh-TW" altLang="en-US">
              <a:solidFill>
                <a:prstClr val="black">
                  <a:tint val="75000"/>
                </a:prstClr>
              </a:solidFill>
            </a:endParaRPr>
          </a:p>
        </p:txBody>
      </p:sp>
      <p:sp>
        <p:nvSpPr>
          <p:cNvPr id="12" name="矩形 11"/>
          <p:cNvSpPr/>
          <p:nvPr/>
        </p:nvSpPr>
        <p:spPr>
          <a:xfrm>
            <a:off x="4213543" y="1124744"/>
            <a:ext cx="4750957" cy="147732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發明之圖式，應</a:t>
            </a:r>
            <a:r>
              <a:rPr lang="zh-TW" altLang="en-US" b="1" u="sng" dirty="0">
                <a:latin typeface="微軟正黑體" panose="020B0604030504040204" pitchFamily="34" charset="-120"/>
                <a:ea typeface="微軟正黑體" panose="020B0604030504040204" pitchFamily="34" charset="-120"/>
              </a:rPr>
              <a:t>參照工程製圖</a:t>
            </a:r>
            <a:r>
              <a:rPr lang="zh-TW" altLang="en-US" dirty="0">
                <a:latin typeface="微軟正黑體" panose="020B0604030504040204" pitchFamily="34" charset="-120"/>
                <a:ea typeface="微軟正黑體" panose="020B0604030504040204" pitchFamily="34" charset="-120"/>
              </a:rPr>
              <a:t>方法以</a:t>
            </a:r>
            <a:r>
              <a:rPr lang="zh-TW" altLang="en-US" b="1" u="sng" dirty="0">
                <a:latin typeface="微軟正黑體" panose="020B0604030504040204" pitchFamily="34" charset="-120"/>
                <a:ea typeface="微軟正黑體" panose="020B0604030504040204" pitchFamily="34" charset="-120"/>
              </a:rPr>
              <a:t>墨線繪製清晰</a:t>
            </a:r>
            <a:r>
              <a:rPr lang="zh-TW" altLang="en-US" dirty="0">
                <a:latin typeface="微軟正黑體" panose="020B0604030504040204" pitchFamily="34" charset="-120"/>
                <a:ea typeface="微軟正黑體" panose="020B0604030504040204" pitchFamily="34" charset="-120"/>
              </a:rPr>
              <a:t>，於各圖縮小至三分之二時，仍得</a:t>
            </a:r>
            <a:r>
              <a:rPr lang="zh-TW" altLang="en-US" u="sng" dirty="0">
                <a:latin typeface="微軟正黑體" panose="020B0604030504040204" pitchFamily="34" charset="-120"/>
                <a:ea typeface="微軟正黑體" panose="020B0604030504040204" pitchFamily="34" charset="-120"/>
              </a:rPr>
              <a:t>清晰分辨圖式中各項細節</a:t>
            </a:r>
            <a:r>
              <a:rPr lang="zh-TW" altLang="en-US" dirty="0">
                <a:latin typeface="微軟正黑體" panose="020B0604030504040204" pitchFamily="34" charset="-120"/>
                <a:ea typeface="微軟正黑體" panose="020B0604030504040204" pitchFamily="34" charset="-120"/>
              </a:rPr>
              <a:t>；圖式應註明圖號及符號，並依圖號順序排列，除必要註記外，不得記載其他說明文字。</a:t>
            </a:r>
            <a:endParaRPr lang="zh-TW" altLang="en-US" b="1" u="sng" dirty="0">
              <a:latin typeface="微軟正黑體" panose="020B0604030504040204" pitchFamily="34" charset="-120"/>
              <a:ea typeface="微軟正黑體" panose="020B0604030504040204" pitchFamily="34" charset="-120"/>
            </a:endParaRPr>
          </a:p>
        </p:txBody>
      </p:sp>
      <p:sp>
        <p:nvSpPr>
          <p:cNvPr id="5" name="矩形 4"/>
          <p:cNvSpPr/>
          <p:nvPr/>
        </p:nvSpPr>
        <p:spPr>
          <a:xfrm>
            <a:off x="4222836" y="2708920"/>
            <a:ext cx="4572000" cy="3139321"/>
          </a:xfrm>
          <a:prstGeom prst="rect">
            <a:avLst/>
          </a:prstGeom>
        </p:spPr>
        <p:txBody>
          <a:bodyPr>
            <a:spAutoFit/>
          </a:bodyPr>
          <a:lstStyle/>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在無法參照工程製圖方法以墨線繪製圖式的情況下，若</a:t>
            </a:r>
            <a:r>
              <a:rPr lang="zh-TW" altLang="en-US" u="sng" dirty="0">
                <a:latin typeface="微軟正黑體" panose="020B0604030504040204" pitchFamily="34" charset="-120"/>
                <a:ea typeface="微軟正黑體" panose="020B0604030504040204" pitchFamily="34" charset="-120"/>
              </a:rPr>
              <a:t>能直接再現並符合圖式所適用之其他規定者，得以照片取代</a:t>
            </a:r>
            <a:r>
              <a:rPr lang="zh-TW" altLang="en-US" dirty="0">
                <a:latin typeface="微軟正黑體" panose="020B0604030504040204" pitchFamily="34" charset="-120"/>
                <a:ea typeface="微軟正黑體" panose="020B0604030504040204" pitchFamily="34" charset="-120"/>
              </a:rPr>
              <a:t>，例如金相圖、電泳圖、細胞組織染色圖、電腦造影影像圖或動物實驗效果比較圖。</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圖式應以表達發明技術內容之圖形及符號為主。</a:t>
            </a:r>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於特定情況下容許必 要的註記，例如</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座標圖、</a:t>
            </a:r>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流程圖、</a:t>
            </a:r>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回路圖、 </a:t>
            </a:r>
            <a:r>
              <a:rPr lang="en-US" altLang="zh-TW" dirty="0">
                <a:latin typeface="微軟正黑體" panose="020B0604030504040204" pitchFamily="34" charset="-120"/>
                <a:ea typeface="微軟正黑體" panose="020B0604030504040204" pitchFamily="34" charset="-120"/>
              </a:rPr>
              <a:t>(4)</a:t>
            </a:r>
            <a:r>
              <a:rPr lang="zh-TW" altLang="en-US" dirty="0">
                <a:latin typeface="微軟正黑體" panose="020B0604030504040204" pitchFamily="34" charset="-120"/>
                <a:ea typeface="微軟正黑體" panose="020B0604030504040204" pitchFamily="34" charset="-120"/>
              </a:rPr>
              <a:t>波形圖、</a:t>
            </a:r>
            <a:r>
              <a:rPr lang="en-US" altLang="zh-TW" dirty="0">
                <a:latin typeface="微軟正黑體" panose="020B0604030504040204" pitchFamily="34" charset="-120"/>
                <a:ea typeface="微軟正黑體" panose="020B0604030504040204" pitchFamily="34" charset="-120"/>
              </a:rPr>
              <a:t>(5)</a:t>
            </a:r>
            <a:r>
              <a:rPr lang="zh-TW" altLang="en-US" dirty="0">
                <a:latin typeface="微軟正黑體" panose="020B0604030504040204" pitchFamily="34" charset="-120"/>
                <a:ea typeface="微軟正黑體" panose="020B0604030504040204" pitchFamily="34" charset="-120"/>
              </a:rPr>
              <a:t>工程圖、</a:t>
            </a:r>
            <a:r>
              <a:rPr lang="en-US" altLang="zh-TW" dirty="0">
                <a:latin typeface="微軟正黑體" panose="020B0604030504040204" pitchFamily="34" charset="-120"/>
                <a:ea typeface="微軟正黑體" panose="020B0604030504040204" pitchFamily="34" charset="-120"/>
              </a:rPr>
              <a:t>(6)</a:t>
            </a:r>
            <a:r>
              <a:rPr lang="zh-TW" altLang="en-US" dirty="0">
                <a:latin typeface="微軟正黑體" panose="020B0604030504040204" pitchFamily="34" charset="-120"/>
                <a:ea typeface="微軟正黑體" panose="020B0604030504040204" pitchFamily="34" charset="-120"/>
              </a:rPr>
              <a:t>狀態圖、</a:t>
            </a:r>
            <a:r>
              <a:rPr lang="en-US" altLang="zh-TW" dirty="0">
                <a:latin typeface="微軟正黑體" panose="020B0604030504040204" pitchFamily="34" charset="-120"/>
                <a:ea typeface="微軟正黑體" panose="020B0604030504040204" pitchFamily="34" charset="-120"/>
              </a:rPr>
              <a:t>(7)</a:t>
            </a:r>
            <a:r>
              <a:rPr lang="zh-TW" altLang="en-US" dirty="0">
                <a:latin typeface="微軟正黑體" panose="020B0604030504040204" pitchFamily="34" charset="-120"/>
                <a:ea typeface="微軟正黑體" panose="020B0604030504040204" pitchFamily="34" charset="-120"/>
              </a:rPr>
              <a:t>向量圖、</a:t>
            </a:r>
            <a:r>
              <a:rPr lang="en-US" altLang="zh-TW" dirty="0">
                <a:latin typeface="微軟正黑體" panose="020B0604030504040204" pitchFamily="34" charset="-120"/>
                <a:ea typeface="微軟正黑體" panose="020B0604030504040204" pitchFamily="34" charset="-120"/>
              </a:rPr>
              <a:t>(8)</a:t>
            </a:r>
            <a:r>
              <a:rPr lang="zh-TW" altLang="en-US" dirty="0">
                <a:latin typeface="微軟正黑體" panose="020B0604030504040204" pitchFamily="34" charset="-120"/>
                <a:ea typeface="微軟正黑體" panose="020B0604030504040204" pitchFamily="34" charset="-120"/>
              </a:rPr>
              <a:t>光路圖</a:t>
            </a:r>
          </a:p>
        </p:txBody>
      </p:sp>
    </p:spTree>
    <p:extLst>
      <p:ext uri="{BB962C8B-B14F-4D97-AF65-F5344CB8AC3E}">
        <p14:creationId xmlns:p14="http://schemas.microsoft.com/office/powerpoint/2010/main" val="5650401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思考</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75</a:t>
            </a:fld>
            <a:endParaRPr lang="zh-TW" altLang="en-US" dirty="0">
              <a:solidFill>
                <a:prstClr val="black">
                  <a:tint val="75000"/>
                </a:prstClr>
              </a:solidFill>
            </a:endParaRPr>
          </a:p>
        </p:txBody>
      </p:sp>
      <p:sp>
        <p:nvSpPr>
          <p:cNvPr id="5" name="矩形 4"/>
          <p:cNvSpPr/>
          <p:nvPr/>
        </p:nvSpPr>
        <p:spPr>
          <a:xfrm>
            <a:off x="323528" y="853272"/>
            <a:ext cx="8568952" cy="923330"/>
          </a:xfrm>
          <a:prstGeom prst="rect">
            <a:avLst/>
          </a:prstGeom>
          <a:ln>
            <a:solidFill>
              <a:schemeClr val="accent1"/>
            </a:solidFill>
          </a:ln>
        </p:spPr>
        <p:txBody>
          <a:bodyPr wrap="square">
            <a:spAutoFit/>
          </a:bodyPr>
          <a:lstStyle/>
          <a:p>
            <a:r>
              <a:rPr lang="zh-TW" altLang="en-US" dirty="0">
                <a:latin typeface="微軟正黑體" panose="020B0604030504040204" pitchFamily="34" charset="-120"/>
                <a:ea typeface="微軟正黑體" panose="020B0604030504040204" pitchFamily="34" charset="-120"/>
              </a:rPr>
              <a:t>小明是一家科技公司的執行長，他們的團隊研發出一種可以用單一機器學習的訓練模型演算法，針對任何類型的資料訓練集作有效的訓練，並可以使用層數最少的類神經網路達成最佳的訓練效果，小明應該把這個研發成果拿去申請專利嗎</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pic>
        <p:nvPicPr>
          <p:cNvPr id="2050" name="Picture 2" descr="Artificial Neural Network, Ann, Neural Network, Neural"/>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123728" y="2756951"/>
            <a:ext cx="4776056" cy="2686532"/>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6506289" y="2222340"/>
            <a:ext cx="1782860"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TW"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專利權</a:t>
            </a:r>
            <a:r>
              <a:rPr lang="en-US" altLang="zh-TW"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t>
            </a:r>
            <a:endParaRPr lang="zh-TW"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8" name="矩形 7"/>
          <p:cNvSpPr/>
          <p:nvPr/>
        </p:nvSpPr>
        <p:spPr>
          <a:xfrm>
            <a:off x="6506289" y="3501008"/>
            <a:ext cx="1782860"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TW"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著作權</a:t>
            </a:r>
            <a:r>
              <a:rPr lang="en-US" altLang="zh-TW"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t>
            </a:r>
            <a:endParaRPr lang="zh-TW"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9" name="矩形 8"/>
          <p:cNvSpPr/>
          <p:nvPr/>
        </p:nvSpPr>
        <p:spPr>
          <a:xfrm>
            <a:off x="6372200" y="4797151"/>
            <a:ext cx="2244525"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TW"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營業秘密</a:t>
            </a:r>
            <a:r>
              <a:rPr lang="en-US" altLang="zh-TW"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t>
            </a:r>
            <a:endParaRPr lang="zh-TW"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矩形 9"/>
          <p:cNvSpPr/>
          <p:nvPr/>
        </p:nvSpPr>
        <p:spPr>
          <a:xfrm>
            <a:off x="971598" y="2357264"/>
            <a:ext cx="1321196"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TW" altLang="en-US" sz="3600" b="1" cap="none" spc="0" dirty="0">
                <a:ln w="11430"/>
                <a:solidFill>
                  <a:srgbClr val="00B050"/>
                </a:solidFill>
                <a:effectLst>
                  <a:outerShdw blurRad="50800" dist="39000" dir="5460000" algn="tl">
                    <a:srgbClr val="000000">
                      <a:alpha val="38000"/>
                    </a:srgbClr>
                  </a:outerShdw>
                </a:effectLst>
              </a:rPr>
              <a:t>公開</a:t>
            </a:r>
            <a:r>
              <a:rPr lang="en-US" altLang="zh-TW" sz="3600" b="1" cap="none" spc="0" dirty="0">
                <a:ln w="11430"/>
                <a:solidFill>
                  <a:srgbClr val="00B050"/>
                </a:solidFill>
                <a:effectLst>
                  <a:outerShdw blurRad="50800" dist="39000" dir="5460000" algn="tl">
                    <a:srgbClr val="000000">
                      <a:alpha val="38000"/>
                    </a:srgbClr>
                  </a:outerShdw>
                </a:effectLst>
              </a:rPr>
              <a:t>?</a:t>
            </a:r>
            <a:endParaRPr lang="zh-TW" altLang="en-US" sz="3600" b="1" cap="none" spc="0" dirty="0">
              <a:ln w="11430"/>
              <a:solidFill>
                <a:srgbClr val="00B050"/>
              </a:solidFill>
              <a:effectLst>
                <a:outerShdw blurRad="50800" dist="39000" dir="5460000" algn="tl">
                  <a:srgbClr val="000000">
                    <a:alpha val="38000"/>
                  </a:srgbClr>
                </a:outerShdw>
              </a:effectLst>
            </a:endParaRPr>
          </a:p>
        </p:txBody>
      </p:sp>
      <p:sp>
        <p:nvSpPr>
          <p:cNvPr id="11" name="矩形 10"/>
          <p:cNvSpPr/>
          <p:nvPr/>
        </p:nvSpPr>
        <p:spPr>
          <a:xfrm>
            <a:off x="893165" y="4797152"/>
            <a:ext cx="1782860"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TW" altLang="en-US" sz="3600" b="1" cap="none" spc="0" dirty="0">
                <a:ln w="11430"/>
                <a:solidFill>
                  <a:srgbClr val="002060"/>
                </a:solidFill>
                <a:effectLst>
                  <a:outerShdw blurRad="50800" dist="39000" dir="5460000" algn="tl">
                    <a:srgbClr val="000000">
                      <a:alpha val="38000"/>
                    </a:srgbClr>
                  </a:outerShdw>
                </a:effectLst>
              </a:rPr>
              <a:t>不公開</a:t>
            </a:r>
            <a:r>
              <a:rPr lang="en-US" altLang="zh-TW" sz="3600" b="1" cap="none" spc="0" dirty="0">
                <a:ln w="11430"/>
                <a:solidFill>
                  <a:srgbClr val="002060"/>
                </a:solidFill>
                <a:effectLst>
                  <a:outerShdw blurRad="50800" dist="39000" dir="5460000" algn="tl">
                    <a:srgbClr val="000000">
                      <a:alpha val="38000"/>
                    </a:srgbClr>
                  </a:outerShdw>
                </a:effectLst>
              </a:rPr>
              <a:t>?</a:t>
            </a:r>
            <a:endParaRPr lang="zh-TW" altLang="en-US" sz="3600" b="1" cap="none" spc="0" dirty="0">
              <a:ln w="11430"/>
              <a:solidFill>
                <a:srgbClr val="002060"/>
              </a:solidFill>
              <a:effectLst>
                <a:outerShdw blurRad="50800" dist="39000" dir="5460000" algn="tl">
                  <a:srgbClr val="000000">
                    <a:alpha val="38000"/>
                  </a:srgbClr>
                </a:outerShdw>
              </a:effectLst>
            </a:endParaRPr>
          </a:p>
        </p:txBody>
      </p:sp>
      <p:sp>
        <p:nvSpPr>
          <p:cNvPr id="12" name="矩形 11"/>
          <p:cNvSpPr/>
          <p:nvPr/>
        </p:nvSpPr>
        <p:spPr>
          <a:xfrm>
            <a:off x="107504" y="6511860"/>
            <a:ext cx="1935145" cy="246221"/>
          </a:xfrm>
          <a:prstGeom prst="rect">
            <a:avLst/>
          </a:prstGeom>
        </p:spPr>
        <p:txBody>
          <a:bodyPr wrap="none">
            <a:spAutoFit/>
          </a:bodyPr>
          <a:lstStyle/>
          <a:p>
            <a:r>
              <a:rPr lang="zh-TW" altLang="en-US" sz="1000" dirty="0"/>
              <a:t>圖片來源：</a:t>
            </a:r>
            <a:r>
              <a:rPr lang="en-US" altLang="zh-TW" sz="1000" dirty="0"/>
              <a:t>https://pixabay.com/</a:t>
            </a:r>
            <a:endParaRPr lang="zh-TW" altLang="en-US" sz="1000" dirty="0"/>
          </a:p>
        </p:txBody>
      </p:sp>
    </p:spTree>
    <p:extLst>
      <p:ext uri="{BB962C8B-B14F-4D97-AF65-F5344CB8AC3E}">
        <p14:creationId xmlns:p14="http://schemas.microsoft.com/office/powerpoint/2010/main" val="15591325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76</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專利要件</a:t>
            </a:r>
          </a:p>
        </p:txBody>
      </p:sp>
    </p:spTree>
    <p:extLst>
      <p:ext uri="{BB962C8B-B14F-4D97-AF65-F5344CB8AC3E}">
        <p14:creationId xmlns:p14="http://schemas.microsoft.com/office/powerpoint/2010/main" val="42370344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專利要件</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77</a:t>
            </a:fld>
            <a:endParaRPr lang="zh-TW" altLang="en-US" dirty="0">
              <a:solidFill>
                <a:prstClr val="black">
                  <a:tint val="75000"/>
                </a:prstClr>
              </a:solidFill>
            </a:endParaRPr>
          </a:p>
        </p:txBody>
      </p:sp>
      <p:grpSp>
        <p:nvGrpSpPr>
          <p:cNvPr id="5" name="群組 4"/>
          <p:cNvGrpSpPr/>
          <p:nvPr/>
        </p:nvGrpSpPr>
        <p:grpSpPr>
          <a:xfrm>
            <a:off x="656840" y="1072106"/>
            <a:ext cx="7722562" cy="5184361"/>
            <a:chOff x="1022372" y="1355170"/>
            <a:chExt cx="7099255" cy="4980136"/>
          </a:xfrm>
        </p:grpSpPr>
        <p:grpSp>
          <p:nvGrpSpPr>
            <p:cNvPr id="6" name="群組 5"/>
            <p:cNvGrpSpPr/>
            <p:nvPr/>
          </p:nvGrpSpPr>
          <p:grpSpPr>
            <a:xfrm>
              <a:off x="1043608" y="4725144"/>
              <a:ext cx="1733560" cy="921702"/>
              <a:chOff x="0" y="701295"/>
              <a:chExt cx="1215447" cy="921702"/>
            </a:xfrm>
          </p:grpSpPr>
          <p:sp>
            <p:nvSpPr>
              <p:cNvPr id="28" name="圓角矩形 27"/>
              <p:cNvSpPr/>
              <p:nvPr/>
            </p:nvSpPr>
            <p:spPr>
              <a:xfrm>
                <a:off x="0" y="701295"/>
                <a:ext cx="1215447" cy="921702"/>
              </a:xfrm>
              <a:prstGeom prst="roundRect">
                <a:avLst/>
              </a:prstGeom>
            </p:spPr>
            <p:style>
              <a:lnRef idx="0">
                <a:schemeClr val="accent5"/>
              </a:lnRef>
              <a:fillRef idx="3">
                <a:schemeClr val="accent5"/>
              </a:fillRef>
              <a:effectRef idx="3">
                <a:schemeClr val="accent5"/>
              </a:effectRef>
              <a:fontRef idx="minor">
                <a:schemeClr val="lt1"/>
              </a:fontRef>
            </p:style>
          </p:sp>
          <p:sp>
            <p:nvSpPr>
              <p:cNvPr id="29" name="圓角矩形 4"/>
              <p:cNvSpPr/>
              <p:nvPr/>
            </p:nvSpPr>
            <p:spPr>
              <a:xfrm>
                <a:off x="44994" y="746289"/>
                <a:ext cx="1125459" cy="831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dirty="0">
                    <a:latin typeface="微軟正黑體" panose="020B0604030504040204" pitchFamily="34" charset="-120"/>
                    <a:ea typeface="微軟正黑體" panose="020B0604030504040204" pitchFamily="34" charset="-120"/>
                  </a:rPr>
                  <a:t>記載</a:t>
                </a:r>
                <a:r>
                  <a:rPr lang="zh-TW" altLang="en-US" sz="2000" b="1" kern="1200" dirty="0">
                    <a:latin typeface="微軟正黑體" panose="020B0604030504040204" pitchFamily="34" charset="-120"/>
                    <a:ea typeface="微軟正黑體" panose="020B0604030504040204" pitchFamily="34" charset="-120"/>
                  </a:rPr>
                  <a:t>要件</a:t>
                </a:r>
              </a:p>
            </p:txBody>
          </p:sp>
        </p:grpSp>
        <p:sp>
          <p:nvSpPr>
            <p:cNvPr id="7" name="十字形 6"/>
            <p:cNvSpPr/>
            <p:nvPr/>
          </p:nvSpPr>
          <p:spPr>
            <a:xfrm>
              <a:off x="2839172" y="4983557"/>
              <a:ext cx="360040" cy="404875"/>
            </a:xfrm>
            <a:prstGeom prst="plu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TW" altLang="en-US" sz="2000" b="1">
                <a:latin typeface="微軟正黑體" panose="020B0604030504040204" pitchFamily="34" charset="-120"/>
                <a:ea typeface="微軟正黑體" panose="020B0604030504040204" pitchFamily="34" charset="-120"/>
              </a:endParaRPr>
            </a:p>
          </p:txBody>
        </p:sp>
        <p:sp>
          <p:nvSpPr>
            <p:cNvPr id="8" name="向右箭號 7"/>
            <p:cNvSpPr/>
            <p:nvPr/>
          </p:nvSpPr>
          <p:spPr>
            <a:xfrm>
              <a:off x="3629847" y="4031050"/>
              <a:ext cx="4039648" cy="2304256"/>
            </a:xfrm>
            <a:prstGeom prst="rightArrow">
              <a:avLst/>
            </a:prstGeom>
          </p:spPr>
          <p:style>
            <a:lnRef idx="0">
              <a:schemeClr val="accent1">
                <a:hueOff val="0"/>
                <a:satOff val="0"/>
                <a:lumOff val="0"/>
                <a:alphaOff val="0"/>
              </a:schemeClr>
            </a:lnRef>
            <a:fillRef idx="1">
              <a:schemeClr val="accent1">
                <a:tint val="40000"/>
                <a:hueOff val="0"/>
                <a:satOff val="0"/>
                <a:lumOff val="0"/>
                <a:alphaOff val="0"/>
              </a:schemeClr>
            </a:fillRef>
            <a:effectRef idx="2">
              <a:schemeClr val="accent1">
                <a:tint val="40000"/>
                <a:hueOff val="0"/>
                <a:satOff val="0"/>
                <a:lumOff val="0"/>
                <a:alphaOff val="0"/>
              </a:schemeClr>
            </a:effectRef>
            <a:fontRef idx="minor">
              <a:schemeClr val="dk1">
                <a:hueOff val="0"/>
                <a:satOff val="0"/>
                <a:lumOff val="0"/>
                <a:alphaOff val="0"/>
              </a:schemeClr>
            </a:fontRef>
          </p:style>
        </p:sp>
        <p:grpSp>
          <p:nvGrpSpPr>
            <p:cNvPr id="9" name="群組 8"/>
            <p:cNvGrpSpPr/>
            <p:nvPr/>
          </p:nvGrpSpPr>
          <p:grpSpPr>
            <a:xfrm>
              <a:off x="3273408" y="4722326"/>
              <a:ext cx="1434112" cy="921702"/>
              <a:chOff x="0" y="701295"/>
              <a:chExt cx="1434112" cy="921702"/>
            </a:xfrm>
          </p:grpSpPr>
          <p:sp>
            <p:nvSpPr>
              <p:cNvPr id="26" name="圓角矩形 25"/>
              <p:cNvSpPr/>
              <p:nvPr/>
            </p:nvSpPr>
            <p:spPr>
              <a:xfrm>
                <a:off x="0" y="701295"/>
                <a:ext cx="1434112" cy="921702"/>
              </a:xfrm>
              <a:prstGeom prst="roundRect">
                <a:avLst/>
              </a:prstGeom>
              <a:gradFill rotWithShape="0">
                <a:gsLst>
                  <a:gs pos="0">
                    <a:srgbClr val="DB7D7B"/>
                  </a:gs>
                  <a:gs pos="80000">
                    <a:schemeClr val="accent2">
                      <a:shade val="93000"/>
                      <a:satMod val="130000"/>
                    </a:schemeClr>
                  </a:gs>
                  <a:gs pos="100000">
                    <a:schemeClr val="accent2">
                      <a:shade val="94000"/>
                      <a:satMod val="135000"/>
                    </a:schemeClr>
                  </a:gs>
                </a:gsLst>
              </a:gradFill>
            </p:spPr>
            <p:style>
              <a:lnRef idx="0">
                <a:schemeClr val="accent2"/>
              </a:lnRef>
              <a:fillRef idx="3">
                <a:schemeClr val="accent2"/>
              </a:fillRef>
              <a:effectRef idx="3">
                <a:schemeClr val="accent2"/>
              </a:effectRef>
              <a:fontRef idx="minor">
                <a:schemeClr val="lt1"/>
              </a:fontRef>
            </p:style>
          </p:sp>
          <p:sp>
            <p:nvSpPr>
              <p:cNvPr id="27" name="圓角矩形 5"/>
              <p:cNvSpPr/>
              <p:nvPr/>
            </p:nvSpPr>
            <p:spPr>
              <a:xfrm>
                <a:off x="44994" y="746289"/>
                <a:ext cx="1344124" cy="831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kern="1200" dirty="0">
                    <a:latin typeface="微軟正黑體" panose="020B0604030504040204" pitchFamily="34" charset="-120"/>
                    <a:ea typeface="微軟正黑體" panose="020B0604030504040204" pitchFamily="34" charset="-120"/>
                  </a:rPr>
                  <a:t>產業利用性</a:t>
                </a:r>
              </a:p>
            </p:txBody>
          </p:sp>
        </p:grpSp>
        <p:grpSp>
          <p:nvGrpSpPr>
            <p:cNvPr id="10" name="群組 9"/>
            <p:cNvGrpSpPr/>
            <p:nvPr/>
          </p:nvGrpSpPr>
          <p:grpSpPr>
            <a:xfrm>
              <a:off x="4932616" y="4722326"/>
              <a:ext cx="1434112" cy="921702"/>
              <a:chOff x="1659207" y="691276"/>
              <a:chExt cx="1434112" cy="921702"/>
            </a:xfrm>
          </p:grpSpPr>
          <p:sp>
            <p:nvSpPr>
              <p:cNvPr id="24" name="圓角矩形 23"/>
              <p:cNvSpPr/>
              <p:nvPr/>
            </p:nvSpPr>
            <p:spPr>
              <a:xfrm>
                <a:off x="1659207" y="691276"/>
                <a:ext cx="1434112" cy="921702"/>
              </a:xfrm>
              <a:prstGeom prst="roundRect">
                <a:avLst/>
              </a:prstGeom>
              <a:gradFill rotWithShape="0">
                <a:gsLst>
                  <a:gs pos="0">
                    <a:srgbClr val="E1918F"/>
                  </a:gs>
                  <a:gs pos="80000">
                    <a:schemeClr val="accent2">
                      <a:shade val="93000"/>
                      <a:satMod val="130000"/>
                    </a:schemeClr>
                  </a:gs>
                  <a:gs pos="100000">
                    <a:schemeClr val="accent2">
                      <a:shade val="94000"/>
                      <a:satMod val="135000"/>
                    </a:schemeClr>
                  </a:gs>
                </a:gsLst>
              </a:gradFill>
            </p:spPr>
            <p:style>
              <a:lnRef idx="0">
                <a:schemeClr val="accent2"/>
              </a:lnRef>
              <a:fillRef idx="3">
                <a:schemeClr val="accent2"/>
              </a:fillRef>
              <a:effectRef idx="3">
                <a:schemeClr val="accent2"/>
              </a:effectRef>
              <a:fontRef idx="minor">
                <a:schemeClr val="lt1"/>
              </a:fontRef>
            </p:style>
          </p:sp>
          <p:sp>
            <p:nvSpPr>
              <p:cNvPr id="25" name="圓角矩形 7"/>
              <p:cNvSpPr/>
              <p:nvPr/>
            </p:nvSpPr>
            <p:spPr>
              <a:xfrm>
                <a:off x="1704201" y="736270"/>
                <a:ext cx="1344124" cy="831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kern="1200" dirty="0">
                    <a:latin typeface="微軟正黑體" panose="020B0604030504040204" pitchFamily="34" charset="-120"/>
                    <a:ea typeface="微軟正黑體" panose="020B0604030504040204" pitchFamily="34" charset="-120"/>
                  </a:rPr>
                  <a:t>新穎性</a:t>
                </a:r>
              </a:p>
            </p:txBody>
          </p:sp>
        </p:grpSp>
        <p:grpSp>
          <p:nvGrpSpPr>
            <p:cNvPr id="11" name="群組 10"/>
            <p:cNvGrpSpPr/>
            <p:nvPr/>
          </p:nvGrpSpPr>
          <p:grpSpPr>
            <a:xfrm>
              <a:off x="6591823" y="4722326"/>
              <a:ext cx="1434112" cy="921702"/>
              <a:chOff x="3318415" y="701295"/>
              <a:chExt cx="1434112" cy="921702"/>
            </a:xfrm>
          </p:grpSpPr>
          <p:sp>
            <p:nvSpPr>
              <p:cNvPr id="22" name="圓角矩形 21"/>
              <p:cNvSpPr/>
              <p:nvPr/>
            </p:nvSpPr>
            <p:spPr>
              <a:xfrm>
                <a:off x="3318415" y="701295"/>
                <a:ext cx="1434112" cy="921702"/>
              </a:xfrm>
              <a:prstGeom prst="roundRect">
                <a:avLst/>
              </a:prstGeom>
            </p:spPr>
            <p:style>
              <a:lnRef idx="0">
                <a:schemeClr val="accent2"/>
              </a:lnRef>
              <a:fillRef idx="3">
                <a:schemeClr val="accent2"/>
              </a:fillRef>
              <a:effectRef idx="3">
                <a:schemeClr val="accent2"/>
              </a:effectRef>
              <a:fontRef idx="minor">
                <a:schemeClr val="lt1"/>
              </a:fontRef>
            </p:style>
          </p:sp>
          <p:sp>
            <p:nvSpPr>
              <p:cNvPr id="23" name="圓角矩形 9"/>
              <p:cNvSpPr/>
              <p:nvPr/>
            </p:nvSpPr>
            <p:spPr>
              <a:xfrm>
                <a:off x="3363409" y="746289"/>
                <a:ext cx="1344124" cy="831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kern="1200" dirty="0">
                    <a:latin typeface="微軟正黑體" panose="020B0604030504040204" pitchFamily="34" charset="-120"/>
                    <a:ea typeface="微軟正黑體" panose="020B0604030504040204" pitchFamily="34" charset="-120"/>
                  </a:rPr>
                  <a:t>進步性</a:t>
                </a:r>
              </a:p>
            </p:txBody>
          </p:sp>
        </p:grpSp>
        <p:sp>
          <p:nvSpPr>
            <p:cNvPr id="12" name="向右箭號 11"/>
            <p:cNvSpPr/>
            <p:nvPr/>
          </p:nvSpPr>
          <p:spPr>
            <a:xfrm>
              <a:off x="1556776" y="1355170"/>
              <a:ext cx="6059473" cy="2304256"/>
            </a:xfrm>
            <a:prstGeom prst="rightArrow">
              <a:avLst/>
            </a:prstGeom>
          </p:spPr>
          <p:style>
            <a:lnRef idx="0">
              <a:schemeClr val="accent1">
                <a:hueOff val="0"/>
                <a:satOff val="0"/>
                <a:lumOff val="0"/>
                <a:alphaOff val="0"/>
              </a:schemeClr>
            </a:lnRef>
            <a:fillRef idx="1">
              <a:schemeClr val="accent1">
                <a:tint val="40000"/>
                <a:hueOff val="0"/>
                <a:satOff val="0"/>
                <a:lumOff val="0"/>
                <a:alphaOff val="0"/>
              </a:schemeClr>
            </a:fillRef>
            <a:effectRef idx="2">
              <a:schemeClr val="accent1">
                <a:tint val="40000"/>
                <a:hueOff val="0"/>
                <a:satOff val="0"/>
                <a:lumOff val="0"/>
                <a:alphaOff val="0"/>
              </a:schemeClr>
            </a:effectRef>
            <a:fontRef idx="minor">
              <a:schemeClr val="dk1">
                <a:hueOff val="0"/>
                <a:satOff val="0"/>
                <a:lumOff val="0"/>
                <a:alphaOff val="0"/>
              </a:schemeClr>
            </a:fontRef>
          </p:style>
        </p:sp>
        <p:grpSp>
          <p:nvGrpSpPr>
            <p:cNvPr id="13" name="群組 12"/>
            <p:cNvGrpSpPr/>
            <p:nvPr/>
          </p:nvGrpSpPr>
          <p:grpSpPr>
            <a:xfrm>
              <a:off x="5945331" y="2056465"/>
              <a:ext cx="2176296" cy="921702"/>
              <a:chOff x="4923214" y="701295"/>
              <a:chExt cx="2176296" cy="921702"/>
            </a:xfrm>
          </p:grpSpPr>
          <p:sp>
            <p:nvSpPr>
              <p:cNvPr id="20" name="圓角矩形 19"/>
              <p:cNvSpPr/>
              <p:nvPr/>
            </p:nvSpPr>
            <p:spPr>
              <a:xfrm>
                <a:off x="4923214" y="701295"/>
                <a:ext cx="2176296" cy="921702"/>
              </a:xfrm>
              <a:prstGeom prst="roundRect">
                <a:avLst/>
              </a:prstGeom>
              <a:solidFill>
                <a:schemeClr val="accent6">
                  <a:lumMod val="50000"/>
                </a:schemeClr>
              </a:soli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21" name="圓角矩形 7"/>
              <p:cNvSpPr/>
              <p:nvPr/>
            </p:nvSpPr>
            <p:spPr>
              <a:xfrm>
                <a:off x="4968208" y="746289"/>
                <a:ext cx="2086308" cy="831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kern="1200" dirty="0">
                    <a:latin typeface="微軟正黑體" panose="020B0604030504040204" pitchFamily="34" charset="-120"/>
                    <a:ea typeface="微軟正黑體" panose="020B0604030504040204" pitchFamily="34" charset="-120"/>
                  </a:rPr>
                  <a:t>專利要件</a:t>
                </a:r>
              </a:p>
            </p:txBody>
          </p:sp>
        </p:grpSp>
        <p:grpSp>
          <p:nvGrpSpPr>
            <p:cNvPr id="14" name="群組 13"/>
            <p:cNvGrpSpPr/>
            <p:nvPr/>
          </p:nvGrpSpPr>
          <p:grpSpPr>
            <a:xfrm>
              <a:off x="1022372" y="2056465"/>
              <a:ext cx="2176296" cy="921702"/>
              <a:chOff x="255" y="701295"/>
              <a:chExt cx="2176296" cy="921702"/>
            </a:xfrm>
          </p:grpSpPr>
          <p:sp>
            <p:nvSpPr>
              <p:cNvPr id="18" name="圓角矩形 17"/>
              <p:cNvSpPr/>
              <p:nvPr/>
            </p:nvSpPr>
            <p:spPr>
              <a:xfrm>
                <a:off x="255" y="701295"/>
                <a:ext cx="2176296" cy="921702"/>
              </a:xfrm>
              <a:prstGeom prst="roundRect">
                <a:avLst/>
              </a:prstGeom>
              <a:solidFill>
                <a:schemeClr val="accent3">
                  <a:lumMod val="75000"/>
                </a:schemeClr>
              </a:soli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sp>
          <p:sp>
            <p:nvSpPr>
              <p:cNvPr id="19" name="圓角矩形 9"/>
              <p:cNvSpPr/>
              <p:nvPr/>
            </p:nvSpPr>
            <p:spPr>
              <a:xfrm>
                <a:off x="45249" y="746289"/>
                <a:ext cx="2086308" cy="831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kern="1200" dirty="0">
                    <a:latin typeface="微軟正黑體" panose="020B0604030504040204" pitchFamily="34" charset="-120"/>
                    <a:ea typeface="微軟正黑體" panose="020B0604030504040204" pitchFamily="34" charset="-120"/>
                  </a:rPr>
                  <a:t>非法定不予專利項目</a:t>
                </a:r>
              </a:p>
            </p:txBody>
          </p:sp>
        </p:grpSp>
        <p:grpSp>
          <p:nvGrpSpPr>
            <p:cNvPr id="15" name="群組 14"/>
            <p:cNvGrpSpPr/>
            <p:nvPr/>
          </p:nvGrpSpPr>
          <p:grpSpPr>
            <a:xfrm>
              <a:off x="3489485" y="2056465"/>
              <a:ext cx="2176296" cy="921702"/>
              <a:chOff x="2467368" y="701295"/>
              <a:chExt cx="2176296" cy="921702"/>
            </a:xfrm>
          </p:grpSpPr>
          <p:sp>
            <p:nvSpPr>
              <p:cNvPr id="16" name="圓角矩形 15"/>
              <p:cNvSpPr/>
              <p:nvPr/>
            </p:nvSpPr>
            <p:spPr>
              <a:xfrm>
                <a:off x="2467368" y="701295"/>
                <a:ext cx="2176296" cy="921702"/>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17" name="圓角矩形 5"/>
              <p:cNvSpPr/>
              <p:nvPr/>
            </p:nvSpPr>
            <p:spPr>
              <a:xfrm>
                <a:off x="2512362" y="746289"/>
                <a:ext cx="2086308" cy="831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kern="1200" dirty="0">
                    <a:latin typeface="微軟正黑體" panose="020B0604030504040204" pitchFamily="34" charset="-120"/>
                    <a:ea typeface="微軟正黑體" panose="020B0604030504040204" pitchFamily="34" charset="-120"/>
                  </a:rPr>
                  <a:t>發明定義</a:t>
                </a:r>
              </a:p>
            </p:txBody>
          </p:sp>
        </p:grpSp>
      </p:grpSp>
    </p:spTree>
    <p:extLst>
      <p:ext uri="{BB962C8B-B14F-4D97-AF65-F5344CB8AC3E}">
        <p14:creationId xmlns:p14="http://schemas.microsoft.com/office/powerpoint/2010/main" val="2861410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 實體審查應審酌之事項</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78</a:t>
            </a:fld>
            <a:endParaRPr lang="zh-TW" altLang="en-US" dirty="0">
              <a:solidFill>
                <a:prstClr val="black">
                  <a:tint val="75000"/>
                </a:prstClr>
              </a:solidFill>
            </a:endParaRPr>
          </a:p>
        </p:txBody>
      </p:sp>
      <p:sp>
        <p:nvSpPr>
          <p:cNvPr id="7" name="矩形 6"/>
          <p:cNvSpPr/>
          <p:nvPr/>
        </p:nvSpPr>
        <p:spPr>
          <a:xfrm>
            <a:off x="395536" y="876070"/>
            <a:ext cx="3456384" cy="492443"/>
          </a:xfrm>
          <a:prstGeom prst="rect">
            <a:avLst/>
          </a:prstGeom>
        </p:spPr>
        <p:txBody>
          <a:bodyPr wrap="square">
            <a:spAutoFit/>
          </a:bodyPr>
          <a:lstStyle/>
          <a:p>
            <a:r>
              <a:rPr lang="zh-TW" altLang="en-US"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rPr>
              <a:t>專利法第</a:t>
            </a:r>
            <a:r>
              <a:rPr lang="en-US" altLang="zh-TW"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rPr>
              <a:t>46</a:t>
            </a:r>
            <a:r>
              <a:rPr lang="zh-TW" altLang="en-US" sz="26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微軟正黑體" pitchFamily="34" charset="-120"/>
                <a:ea typeface="微軟正黑體" pitchFamily="34" charset="-120"/>
              </a:rPr>
              <a:t>條</a:t>
            </a:r>
          </a:p>
        </p:txBody>
      </p:sp>
      <p:grpSp>
        <p:nvGrpSpPr>
          <p:cNvPr id="8" name="群組 7"/>
          <p:cNvGrpSpPr/>
          <p:nvPr/>
        </p:nvGrpSpPr>
        <p:grpSpPr>
          <a:xfrm>
            <a:off x="179512" y="1368513"/>
            <a:ext cx="8646730" cy="5182573"/>
            <a:chOff x="323528" y="1438519"/>
            <a:chExt cx="8512225" cy="5112568"/>
          </a:xfrm>
        </p:grpSpPr>
        <p:sp>
          <p:nvSpPr>
            <p:cNvPr id="10" name="矩形 9"/>
            <p:cNvSpPr/>
            <p:nvPr/>
          </p:nvSpPr>
          <p:spPr bwMode="auto">
            <a:xfrm>
              <a:off x="323528" y="1438519"/>
              <a:ext cx="5040560" cy="5112568"/>
            </a:xfrm>
            <a:prstGeom prst="rect">
              <a:avLst/>
            </a:prstGeom>
            <a:gradFill rotWithShape="0">
              <a:gsLst>
                <a:gs pos="0">
                  <a:srgbClr val="99CCFF"/>
                </a:gs>
                <a:gs pos="50000">
                  <a:srgbClr val="99CCFF">
                    <a:gamma/>
                    <a:tint val="38039"/>
                    <a:invGamma/>
                  </a:srgbClr>
                </a:gs>
                <a:gs pos="100000">
                  <a:srgbClr val="99CCFF"/>
                </a:gs>
              </a:gsLst>
              <a:lin ang="540000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發明定義</a:t>
              </a:r>
              <a:r>
                <a:rPr lang="en-US" altLang="zh-TW" sz="2200" dirty="0">
                  <a:latin typeface="微軟正黑體" panose="020B0604030504040204" pitchFamily="34" charset="-120"/>
                  <a:ea typeface="微軟正黑體" panose="020B0604030504040204" pitchFamily="34" charset="-120"/>
                </a:rPr>
                <a:t>(§21)</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產業利用性</a:t>
              </a:r>
              <a:r>
                <a:rPr lang="en-US" altLang="zh-TW" sz="2200" dirty="0">
                  <a:latin typeface="微軟正黑體" panose="020B0604030504040204" pitchFamily="34" charset="-120"/>
                  <a:ea typeface="微軟正黑體" panose="020B0604030504040204" pitchFamily="34" charset="-120"/>
                </a:rPr>
                <a:t>(§22-1</a:t>
              </a:r>
              <a:r>
                <a:rPr lang="zh-TW" altLang="en-US" sz="2200" dirty="0">
                  <a:latin typeface="微軟正黑體" panose="020B0604030504040204" pitchFamily="34" charset="-120"/>
                  <a:ea typeface="微軟正黑體" panose="020B0604030504040204" pitchFamily="34" charset="-120"/>
                </a:rPr>
                <a:t>前段</a:t>
              </a:r>
              <a:r>
                <a:rPr lang="en-US" altLang="zh-TW" sz="2200" dirty="0">
                  <a:latin typeface="微軟正黑體" panose="020B0604030504040204" pitchFamily="34" charset="-120"/>
                  <a:ea typeface="微軟正黑體" panose="020B0604030504040204" pitchFamily="34" charset="-120"/>
                </a:rPr>
                <a:t>)</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新穎性</a:t>
              </a:r>
              <a:r>
                <a:rPr lang="en-US" altLang="zh-TW" sz="2200" dirty="0">
                  <a:latin typeface="微軟正黑體" panose="020B0604030504040204" pitchFamily="34" charset="-120"/>
                  <a:ea typeface="微軟正黑體" panose="020B0604030504040204" pitchFamily="34" charset="-120"/>
                </a:rPr>
                <a:t>(§22-1-1)</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進步性</a:t>
              </a:r>
              <a:r>
                <a:rPr lang="en-US" altLang="zh-TW" sz="2200" dirty="0">
                  <a:latin typeface="微軟正黑體" panose="020B0604030504040204" pitchFamily="34" charset="-120"/>
                  <a:ea typeface="微軟正黑體" panose="020B0604030504040204" pitchFamily="34" charset="-120"/>
                </a:rPr>
                <a:t>(§22-2)</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擬制喪失新穎性</a:t>
              </a:r>
              <a:r>
                <a:rPr lang="en-US" altLang="zh-TW" sz="2200" dirty="0">
                  <a:latin typeface="微軟正黑體" panose="020B0604030504040204" pitchFamily="34" charset="-120"/>
                  <a:ea typeface="微軟正黑體" panose="020B0604030504040204" pitchFamily="34" charset="-120"/>
                </a:rPr>
                <a:t>(§23)</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法定不予專利</a:t>
              </a:r>
              <a:r>
                <a:rPr lang="en-US" altLang="zh-TW" sz="2200" dirty="0">
                  <a:latin typeface="微軟正黑體" panose="020B0604030504040204" pitchFamily="34" charset="-120"/>
                  <a:ea typeface="微軟正黑體" panose="020B0604030504040204" pitchFamily="34" charset="-120"/>
                </a:rPr>
                <a:t>(§24)</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揭露要件</a:t>
              </a:r>
              <a:r>
                <a:rPr lang="en-US" altLang="zh-TW" sz="2200" dirty="0">
                  <a:latin typeface="微軟正黑體" panose="020B0604030504040204" pitchFamily="34" charset="-120"/>
                  <a:ea typeface="微軟正黑體" panose="020B0604030504040204" pitchFamily="34" charset="-120"/>
                </a:rPr>
                <a:t>(§26)</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先申請原則</a:t>
              </a:r>
              <a:r>
                <a:rPr lang="en-US" altLang="zh-TW" sz="2200" dirty="0">
                  <a:latin typeface="微軟正黑體" panose="020B0604030504040204" pitchFamily="34" charset="-120"/>
                  <a:ea typeface="微軟正黑體" panose="020B0604030504040204" pitchFamily="34" charset="-120"/>
                </a:rPr>
                <a:t>(§31)</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一案兩請</a:t>
              </a:r>
              <a:r>
                <a:rPr lang="en-US" altLang="zh-TW" sz="2200" dirty="0">
                  <a:latin typeface="微軟正黑體" panose="020B0604030504040204" pitchFamily="34" charset="-120"/>
                  <a:ea typeface="微軟正黑體" panose="020B0604030504040204" pitchFamily="34" charset="-120"/>
                </a:rPr>
                <a:t>(§32-1</a:t>
              </a:r>
              <a:r>
                <a:rPr lang="zh-TW" altLang="en-US" sz="2200" dirty="0">
                  <a:latin typeface="微軟正黑體" panose="020B0604030504040204" pitchFamily="34" charset="-120"/>
                  <a:ea typeface="微軟正黑體" panose="020B0604030504040204" pitchFamily="34" charset="-120"/>
                </a:rPr>
                <a:t>、</a:t>
              </a:r>
              <a:r>
                <a:rPr lang="en-US" altLang="zh-TW" sz="2200" dirty="0">
                  <a:latin typeface="微軟正黑體" panose="020B0604030504040204" pitchFamily="34" charset="-120"/>
                  <a:ea typeface="微軟正黑體" panose="020B0604030504040204" pitchFamily="34" charset="-120"/>
                </a:rPr>
                <a:t>32-3)</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單一性</a:t>
              </a:r>
              <a:r>
                <a:rPr lang="en-US" altLang="zh-TW" sz="2200" dirty="0">
                  <a:latin typeface="微軟正黑體" panose="020B0604030504040204" pitchFamily="34" charset="-120"/>
                  <a:ea typeface="微軟正黑體" panose="020B0604030504040204" pitchFamily="34" charset="-120"/>
                </a:rPr>
                <a:t>(§33)</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分割後超出、相同發明</a:t>
              </a:r>
              <a:r>
                <a:rPr lang="en-US" altLang="zh-TW" sz="2200" dirty="0">
                  <a:latin typeface="微軟正黑體" panose="020B0604030504040204" pitchFamily="34" charset="-120"/>
                  <a:ea typeface="微軟正黑體" panose="020B0604030504040204" pitchFamily="34" charset="-120"/>
                </a:rPr>
                <a:t>(§34-4</a:t>
              </a:r>
              <a:r>
                <a:rPr lang="zh-TW" altLang="en-US" sz="2200" dirty="0">
                  <a:latin typeface="微軟正黑體" panose="020B0604030504040204" pitchFamily="34" charset="-120"/>
                  <a:ea typeface="微軟正黑體" panose="020B0604030504040204" pitchFamily="34" charset="-120"/>
                </a:rPr>
                <a:t>、</a:t>
              </a:r>
              <a:r>
                <a:rPr lang="en-US" altLang="zh-TW" sz="2200" dirty="0">
                  <a:latin typeface="微軟正黑體" panose="020B0604030504040204" pitchFamily="34" charset="-120"/>
                  <a:ea typeface="微軟正黑體" panose="020B0604030504040204" pitchFamily="34" charset="-120"/>
                </a:rPr>
                <a:t>6</a:t>
              </a:r>
              <a:r>
                <a:rPr lang="zh-TW" altLang="en-US" sz="2200" dirty="0">
                  <a:latin typeface="微軟正黑體" panose="020B0604030504040204" pitchFamily="34" charset="-120"/>
                  <a:ea typeface="微軟正黑體" panose="020B0604030504040204" pitchFamily="34" charset="-120"/>
                </a:rPr>
                <a:t>前段</a:t>
              </a:r>
              <a:r>
                <a:rPr lang="en-US" altLang="zh-TW" sz="2200" dirty="0">
                  <a:latin typeface="微軟正黑體" panose="020B0604030504040204" pitchFamily="34" charset="-120"/>
                  <a:ea typeface="微軟正黑體" panose="020B0604030504040204" pitchFamily="34" charset="-120"/>
                </a:rPr>
                <a:t>)</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修正後超出</a:t>
              </a:r>
              <a:r>
                <a:rPr lang="en-US" altLang="zh-TW" sz="2200" dirty="0">
                  <a:latin typeface="微軟正黑體" panose="020B0604030504040204" pitchFamily="34" charset="-120"/>
                  <a:ea typeface="微軟正黑體" panose="020B0604030504040204" pitchFamily="34" charset="-120"/>
                </a:rPr>
                <a:t>(§43-2)</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補正中文本或誤譯訂正超出外文本</a:t>
              </a:r>
              <a:r>
                <a:rPr lang="en-US" altLang="zh-TW" sz="2200" dirty="0">
                  <a:latin typeface="微軟正黑體" panose="020B0604030504040204" pitchFamily="34" charset="-120"/>
                  <a:ea typeface="微軟正黑體" panose="020B0604030504040204" pitchFamily="34" charset="-120"/>
                </a:rPr>
                <a:t>(§44-2</a:t>
              </a:r>
              <a:r>
                <a:rPr lang="zh-TW" altLang="en-US" sz="2200" dirty="0">
                  <a:latin typeface="微軟正黑體" panose="020B0604030504040204" pitchFamily="34" charset="-120"/>
                  <a:ea typeface="微軟正黑體" panose="020B0604030504040204" pitchFamily="34" charset="-120"/>
                </a:rPr>
                <a:t>、</a:t>
              </a:r>
              <a:r>
                <a:rPr lang="en-US" altLang="zh-TW" sz="2200" dirty="0">
                  <a:latin typeface="微軟正黑體" panose="020B0604030504040204" pitchFamily="34" charset="-120"/>
                  <a:ea typeface="微軟正黑體" panose="020B0604030504040204" pitchFamily="34" charset="-120"/>
                </a:rPr>
                <a:t>44-3)</a:t>
              </a:r>
            </a:p>
            <a:p>
              <a:pPr fontAlgn="base">
                <a:spcBef>
                  <a:spcPct val="0"/>
                </a:spcBef>
                <a:spcAft>
                  <a:spcPct val="0"/>
                </a:spcAft>
                <a:buFont typeface="Wingdings" pitchFamily="2" charset="2"/>
                <a:buChar char="ü"/>
              </a:pPr>
              <a:r>
                <a:rPr lang="zh-TW" altLang="en-US" sz="2200" dirty="0">
                  <a:latin typeface="微軟正黑體" panose="020B0604030504040204" pitchFamily="34" charset="-120"/>
                  <a:ea typeface="微軟正黑體" panose="020B0604030504040204" pitchFamily="34" charset="-120"/>
                </a:rPr>
                <a:t>改請超出</a:t>
              </a:r>
              <a:r>
                <a:rPr lang="en-US" altLang="zh-TW" sz="2200" dirty="0">
                  <a:latin typeface="微軟正黑體" panose="020B0604030504040204" pitchFamily="34" charset="-120"/>
                  <a:ea typeface="微軟正黑體" panose="020B0604030504040204" pitchFamily="34" charset="-120"/>
                </a:rPr>
                <a:t>(§108-3)</a:t>
              </a:r>
            </a:p>
          </p:txBody>
        </p:sp>
        <p:sp>
          <p:nvSpPr>
            <p:cNvPr id="11" name="向右箭號 10"/>
            <p:cNvSpPr/>
            <p:nvPr/>
          </p:nvSpPr>
          <p:spPr bwMode="auto">
            <a:xfrm>
              <a:off x="5724128" y="2457036"/>
              <a:ext cx="1592684" cy="2952328"/>
            </a:xfrm>
            <a:prstGeom prst="rightArrow">
              <a:avLst/>
            </a:prstGeom>
            <a:gradFill rotWithShape="0">
              <a:gsLst>
                <a:gs pos="0">
                  <a:srgbClr val="7030A0"/>
                </a:gs>
                <a:gs pos="64999">
                  <a:srgbClr val="F0EBD5"/>
                </a:gs>
                <a:gs pos="100000">
                  <a:srgbClr val="D1C39F"/>
                </a:gs>
              </a:gsLst>
              <a:lin ang="5400000" scaled="0"/>
            </a:gradFill>
            <a:ln>
              <a:noFill/>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TW" altLang="en-US" b="0" i="0" u="none" strike="noStrike" cap="none" normalizeH="0" baseline="0" dirty="0">
                  <a:ln>
                    <a:noFill/>
                  </a:ln>
                  <a:solidFill>
                    <a:schemeClr val="tx1"/>
                  </a:solidFill>
                  <a:effectLst/>
                  <a:latin typeface="+mn-ea"/>
                </a:rPr>
                <a:t>違反</a:t>
              </a:r>
            </a:p>
          </p:txBody>
        </p:sp>
        <p:sp>
          <p:nvSpPr>
            <p:cNvPr id="12" name="Document"/>
            <p:cNvSpPr>
              <a:spLocks noEditPoints="1" noChangeArrowheads="1"/>
            </p:cNvSpPr>
            <p:nvPr/>
          </p:nvSpPr>
          <p:spPr bwMode="auto">
            <a:xfrm>
              <a:off x="7483203" y="3028324"/>
              <a:ext cx="1352550" cy="1809750"/>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ln>
              <a:headEnd/>
              <a:tailEnd/>
            </a:ln>
            <a:effectLst>
              <a:outerShdw blurRad="40000" dir="54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pPr algn="ctr"/>
              <a:r>
                <a:rPr lang="zh-TW" altLang="en-US" sz="2000" dirty="0">
                  <a:latin typeface="微軟正黑體" panose="020B0604030504040204" pitchFamily="34" charset="-120"/>
                  <a:ea typeface="微軟正黑體" panose="020B0604030504040204" pitchFamily="34" charset="-120"/>
                </a:rPr>
                <a:t>核</a:t>
              </a:r>
              <a:endParaRPr lang="en-US" altLang="zh-TW" sz="2000" dirty="0">
                <a:latin typeface="微軟正黑體" panose="020B0604030504040204" pitchFamily="34" charset="-120"/>
                <a:ea typeface="微軟正黑體" panose="020B0604030504040204" pitchFamily="34" charset="-120"/>
              </a:endParaRPr>
            </a:p>
            <a:p>
              <a:pPr algn="ctr"/>
              <a:r>
                <a:rPr lang="zh-TW" altLang="en-US" sz="2000" dirty="0">
                  <a:latin typeface="微軟正黑體" panose="020B0604030504040204" pitchFamily="34" charset="-120"/>
                  <a:ea typeface="微軟正黑體" panose="020B0604030504040204" pitchFamily="34" charset="-120"/>
                </a:rPr>
                <a:t>駁</a:t>
              </a:r>
              <a:endParaRPr lang="en-US" altLang="zh-TW" sz="2000" dirty="0">
                <a:latin typeface="微軟正黑體" panose="020B0604030504040204" pitchFamily="34" charset="-120"/>
                <a:ea typeface="微軟正黑體" panose="020B0604030504040204" pitchFamily="34" charset="-120"/>
              </a:endParaRPr>
            </a:p>
            <a:p>
              <a:pPr algn="ctr"/>
              <a:r>
                <a:rPr lang="zh-TW" altLang="en-US" sz="2000" dirty="0">
                  <a:latin typeface="微軟正黑體" panose="020B0604030504040204" pitchFamily="34" charset="-120"/>
                  <a:ea typeface="微軟正黑體" panose="020B0604030504040204" pitchFamily="34" charset="-120"/>
                </a:rPr>
                <a:t>審</a:t>
              </a:r>
              <a:endParaRPr lang="en-US" altLang="zh-TW" sz="2000" dirty="0">
                <a:latin typeface="微軟正黑體" panose="020B0604030504040204" pitchFamily="34" charset="-120"/>
                <a:ea typeface="微軟正黑體" panose="020B0604030504040204" pitchFamily="34" charset="-120"/>
              </a:endParaRPr>
            </a:p>
            <a:p>
              <a:pPr algn="ctr"/>
              <a:r>
                <a:rPr lang="zh-TW" altLang="en-US" sz="2000" dirty="0">
                  <a:latin typeface="微軟正黑體" panose="020B0604030504040204" pitchFamily="34" charset="-120"/>
                  <a:ea typeface="微軟正黑體" panose="020B0604030504040204" pitchFamily="34" charset="-120"/>
                </a:rPr>
                <a:t>定</a:t>
              </a:r>
              <a:endParaRPr lang="en-US" altLang="zh-TW" sz="2000" dirty="0">
                <a:latin typeface="微軟正黑體" panose="020B0604030504040204" pitchFamily="34" charset="-120"/>
                <a:ea typeface="微軟正黑體" panose="020B0604030504040204" pitchFamily="34" charset="-120"/>
              </a:endParaRPr>
            </a:p>
            <a:p>
              <a:pPr algn="ctr"/>
              <a:r>
                <a:rPr lang="zh-TW" altLang="en-US" sz="2000" dirty="0">
                  <a:latin typeface="微軟正黑體" panose="020B0604030504040204" pitchFamily="34" charset="-120"/>
                  <a:ea typeface="微軟正黑體" panose="020B0604030504040204" pitchFamily="34" charset="-120"/>
                </a:rPr>
                <a:t>書</a:t>
              </a:r>
            </a:p>
          </p:txBody>
        </p:sp>
      </p:grpSp>
    </p:spTree>
    <p:extLst>
      <p:ext uri="{BB962C8B-B14F-4D97-AF65-F5344CB8AC3E}">
        <p14:creationId xmlns:p14="http://schemas.microsoft.com/office/powerpoint/2010/main" val="16218738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F53052-7CB3-4E4C-9C46-82A8049C761B}"/>
              </a:ext>
            </a:extLst>
          </p:cNvPr>
          <p:cNvSpPr>
            <a:spLocks noGrp="1"/>
          </p:cNvSpPr>
          <p:nvPr>
            <p:ph type="title"/>
          </p:nvPr>
        </p:nvSpPr>
        <p:spPr/>
        <p:txBody>
          <a:bodyPr/>
          <a:lstStyle/>
          <a:p>
            <a:r>
              <a:rPr lang="zh-TW" altLang="en-US" dirty="0"/>
              <a:t>法定不予專利</a:t>
            </a:r>
          </a:p>
        </p:txBody>
      </p:sp>
      <p:sp>
        <p:nvSpPr>
          <p:cNvPr id="4" name="投影片編號版面配置區 3">
            <a:extLst>
              <a:ext uri="{FF2B5EF4-FFF2-40B4-BE49-F238E27FC236}">
                <a16:creationId xmlns:a16="http://schemas.microsoft.com/office/drawing/2014/main" id="{C0F4867B-BB36-41A5-A183-7705209E2EF0}"/>
              </a:ext>
            </a:extLst>
          </p:cNvPr>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79</a:t>
            </a:fld>
            <a:endParaRPr lang="zh-TW" altLang="en-US" dirty="0">
              <a:solidFill>
                <a:prstClr val="black">
                  <a:tint val="75000"/>
                </a:prstClr>
              </a:solidFill>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775" y="1276350"/>
            <a:ext cx="6648450" cy="430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9793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不符發明定義</a:t>
            </a: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pPr>
                <a:defRPr/>
              </a:pPr>
              <a:t>80</a:t>
            </a:fld>
            <a:endParaRPr lang="zh-TW" altLang="en-US"/>
          </a:p>
        </p:txBody>
      </p:sp>
      <p:sp>
        <p:nvSpPr>
          <p:cNvPr id="5" name="文字方塊 4"/>
          <p:cNvSpPr txBox="1"/>
          <p:nvPr/>
        </p:nvSpPr>
        <p:spPr>
          <a:xfrm>
            <a:off x="4572000" y="1553741"/>
            <a:ext cx="4104456"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indent="981075" algn="r"/>
            <a:r>
              <a:rPr lang="zh-TW" altLang="en-US" sz="2000" b="1" dirty="0">
                <a:solidFill>
                  <a:schemeClr val="tx1"/>
                </a:solidFill>
                <a:latin typeface="微軟正黑體" panose="020B0604030504040204" pitchFamily="34" charset="-120"/>
                <a:ea typeface="微軟正黑體" panose="020B0604030504040204" pitchFamily="34" charset="-120"/>
              </a:rPr>
              <a:t>技術思想</a:t>
            </a:r>
          </a:p>
        </p:txBody>
      </p:sp>
      <p:sp>
        <p:nvSpPr>
          <p:cNvPr id="6" name="文字方塊 5"/>
          <p:cNvSpPr txBox="1"/>
          <p:nvPr/>
        </p:nvSpPr>
        <p:spPr>
          <a:xfrm>
            <a:off x="395536" y="1553741"/>
            <a:ext cx="4176464"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zh-TW" altLang="en-US" sz="2000" b="1" dirty="0">
                <a:solidFill>
                  <a:schemeClr val="tx1"/>
                </a:solidFill>
                <a:latin typeface="微軟正黑體" panose="020B0604030504040204" pitchFamily="34" charset="-120"/>
                <a:ea typeface="微軟正黑體" panose="020B0604030504040204" pitchFamily="34" charset="-120"/>
              </a:rPr>
              <a:t>利用自然法則</a:t>
            </a:r>
          </a:p>
        </p:txBody>
      </p:sp>
      <p:sp>
        <p:nvSpPr>
          <p:cNvPr id="7" name="文字方塊 6"/>
          <p:cNvSpPr txBox="1"/>
          <p:nvPr/>
        </p:nvSpPr>
        <p:spPr>
          <a:xfrm>
            <a:off x="395536" y="2057797"/>
            <a:ext cx="4032448" cy="3960440"/>
          </a:xfrm>
          <a:prstGeom prst="rect">
            <a:avLst/>
          </a:prstGeom>
        </p:spPr>
        <p:style>
          <a:lnRef idx="2">
            <a:schemeClr val="dk1"/>
          </a:lnRef>
          <a:fillRef idx="1">
            <a:schemeClr val="lt1"/>
          </a:fillRef>
          <a:effectRef idx="0">
            <a:schemeClr val="dk1"/>
          </a:effectRef>
          <a:fontRef idx="minor">
            <a:schemeClr val="dk1"/>
          </a:fontRef>
        </p:style>
        <p:txBody>
          <a:bodyPr wrap="square" rtlCol="0">
            <a:noAutofit/>
          </a:bodyPr>
          <a:lstStyle/>
          <a:p>
            <a:pPr marL="285750" indent="-285750">
              <a:lnSpc>
                <a:spcPts val="2500"/>
              </a:lnSpc>
              <a:spcBef>
                <a:spcPts val="600"/>
              </a:spcBef>
              <a:buFont typeface="Arial" panose="020B0604020202020204" pitchFamily="34" charset="0"/>
              <a:buChar char="•"/>
            </a:pPr>
            <a:r>
              <a:rPr lang="zh-TW" altLang="en-US" sz="2000" dirty="0">
                <a:solidFill>
                  <a:srgbClr val="002060"/>
                </a:solidFill>
                <a:latin typeface="微軟正黑體" pitchFamily="34" charset="-120"/>
                <a:ea typeface="微軟正黑體" pitchFamily="34" charset="-120"/>
              </a:rPr>
              <a:t>自然法則本身</a:t>
            </a:r>
            <a:endParaRPr lang="en-US" altLang="zh-TW" sz="2000" dirty="0">
              <a:solidFill>
                <a:srgbClr val="002060"/>
              </a:solidFill>
              <a:latin typeface="微軟正黑體" pitchFamily="34" charset="-120"/>
              <a:ea typeface="微軟正黑體" pitchFamily="34" charset="-120"/>
            </a:endParaRPr>
          </a:p>
          <a:p>
            <a:pPr marL="285750" indent="-285750">
              <a:lnSpc>
                <a:spcPts val="2500"/>
              </a:lnSpc>
              <a:spcBef>
                <a:spcPts val="600"/>
              </a:spcBef>
              <a:buFont typeface="Arial" panose="020B0604020202020204" pitchFamily="34" charset="0"/>
              <a:buChar char="•"/>
            </a:pPr>
            <a:r>
              <a:rPr lang="zh-TW" altLang="en-US" sz="2000" dirty="0">
                <a:solidFill>
                  <a:srgbClr val="000066"/>
                </a:solidFill>
                <a:latin typeface="微軟正黑體" pitchFamily="34" charset="-120"/>
                <a:ea typeface="微軟正黑體" pitchFamily="34" charset="-120"/>
              </a:rPr>
              <a:t>單純發現</a:t>
            </a:r>
            <a:endParaRPr lang="en-US" altLang="zh-TW" sz="2000" dirty="0">
              <a:solidFill>
                <a:srgbClr val="000066"/>
              </a:solidFill>
              <a:latin typeface="微軟正黑體" pitchFamily="34" charset="-120"/>
              <a:ea typeface="微軟正黑體" pitchFamily="34" charset="-120"/>
            </a:endParaRPr>
          </a:p>
          <a:p>
            <a:pPr marL="742950" lvl="1" indent="-285750">
              <a:lnSpc>
                <a:spcPts val="2500"/>
              </a:lnSpc>
              <a:spcBef>
                <a:spcPts val="600"/>
              </a:spcBef>
              <a:buFont typeface="Arial" panose="020B0604020202020204" pitchFamily="34" charset="0"/>
              <a:buChar char="•"/>
            </a:pPr>
            <a:r>
              <a:rPr lang="zh-TW" altLang="zh-TW" sz="2000" b="0" dirty="0">
                <a:solidFill>
                  <a:srgbClr val="000066"/>
                </a:solidFill>
                <a:latin typeface="微軟正黑體" panose="020B0604030504040204" pitchFamily="34" charset="-120"/>
                <a:ea typeface="微軟正黑體" panose="020B0604030504040204" pitchFamily="34" charset="-120"/>
              </a:rPr>
              <a:t>發現自然界中已知物之特性的行為本身並無技術性</a:t>
            </a:r>
            <a:endParaRPr lang="en-US" altLang="zh-TW" sz="2000" b="0" dirty="0">
              <a:solidFill>
                <a:srgbClr val="000066"/>
              </a:solidFill>
              <a:latin typeface="微軟正黑體" pitchFamily="34" charset="-120"/>
              <a:ea typeface="微軟正黑體" pitchFamily="34" charset="-120"/>
            </a:endParaRPr>
          </a:p>
          <a:p>
            <a:pPr marL="285750" indent="-285750">
              <a:lnSpc>
                <a:spcPts val="2500"/>
              </a:lnSpc>
              <a:spcBef>
                <a:spcPts val="600"/>
              </a:spcBef>
              <a:buFont typeface="Arial" panose="020B0604020202020204" pitchFamily="34" charset="0"/>
              <a:buChar char="•"/>
            </a:pPr>
            <a:r>
              <a:rPr lang="zh-TW" altLang="en-US" sz="2000" dirty="0">
                <a:solidFill>
                  <a:srgbClr val="002060"/>
                </a:solidFill>
                <a:latin typeface="微軟正黑體" pitchFamily="34" charset="-120"/>
                <a:ea typeface="微軟正黑體" pitchFamily="34" charset="-120"/>
              </a:rPr>
              <a:t>違反自然法則者</a:t>
            </a:r>
            <a:endParaRPr lang="en-US" altLang="zh-TW" sz="2000" dirty="0">
              <a:solidFill>
                <a:srgbClr val="002060"/>
              </a:solidFill>
              <a:latin typeface="微軟正黑體" pitchFamily="34" charset="-120"/>
              <a:ea typeface="微軟正黑體" pitchFamily="34" charset="-120"/>
            </a:endParaRPr>
          </a:p>
          <a:p>
            <a:pPr marL="742950" lvl="1" indent="-285750">
              <a:lnSpc>
                <a:spcPts val="2500"/>
              </a:lnSpc>
              <a:spcBef>
                <a:spcPts val="600"/>
              </a:spcBef>
              <a:buFont typeface="Arial" panose="020B0604020202020204" pitchFamily="34" charset="0"/>
              <a:buChar char="•"/>
            </a:pPr>
            <a:r>
              <a:rPr lang="zh-TW" altLang="en-US" sz="2000" b="0" dirty="0">
                <a:solidFill>
                  <a:srgbClr val="002060"/>
                </a:solidFill>
                <a:latin typeface="微軟正黑體" pitchFamily="34" charset="-120"/>
                <a:ea typeface="微軟正黑體" pitchFamily="34" charset="-120"/>
              </a:rPr>
              <a:t>違反能量守恆定律的永動機</a:t>
            </a:r>
            <a:endParaRPr lang="en-US" altLang="zh-TW" sz="2000" b="0" dirty="0">
              <a:solidFill>
                <a:srgbClr val="002060"/>
              </a:solidFill>
              <a:latin typeface="微軟正黑體" pitchFamily="34" charset="-120"/>
              <a:ea typeface="微軟正黑體" pitchFamily="34" charset="-120"/>
            </a:endParaRPr>
          </a:p>
          <a:p>
            <a:pPr>
              <a:lnSpc>
                <a:spcPts val="2500"/>
              </a:lnSpc>
              <a:spcBef>
                <a:spcPts val="600"/>
              </a:spcBef>
              <a:buFont typeface="Arial" panose="020B0604020202020204" pitchFamily="34" charset="0"/>
              <a:buChar char="•"/>
            </a:pPr>
            <a:r>
              <a:rPr lang="zh-TW" altLang="en-US" sz="2000" dirty="0">
                <a:solidFill>
                  <a:srgbClr val="C00000"/>
                </a:solidFill>
                <a:latin typeface="微軟正黑體" pitchFamily="34" charset="-120"/>
                <a:ea typeface="微軟正黑體" pitchFamily="34" charset="-120"/>
              </a:rPr>
              <a:t>   非利用自然法則</a:t>
            </a:r>
            <a:endParaRPr lang="en-US" altLang="zh-TW" sz="2000" dirty="0">
              <a:solidFill>
                <a:srgbClr val="C00000"/>
              </a:solidFill>
              <a:latin typeface="微軟正黑體" pitchFamily="34" charset="-120"/>
              <a:ea typeface="微軟正黑體" pitchFamily="34" charset="-120"/>
            </a:endParaRPr>
          </a:p>
          <a:p>
            <a:pPr marL="714375" lvl="1" indent="-268288">
              <a:lnSpc>
                <a:spcPts val="2500"/>
              </a:lnSpc>
              <a:spcBef>
                <a:spcPts val="600"/>
              </a:spcBef>
              <a:buFont typeface="Arial" panose="020B0604020202020204" pitchFamily="34" charset="0"/>
              <a:buChar char="•"/>
            </a:pPr>
            <a:r>
              <a:rPr lang="zh-TW" altLang="en-US" sz="2000" b="0" dirty="0">
                <a:solidFill>
                  <a:srgbClr val="C00000"/>
                </a:solidFill>
                <a:latin typeface="微軟正黑體" pitchFamily="34" charset="-120"/>
                <a:ea typeface="微軟正黑體" pitchFamily="34" charset="-120"/>
              </a:rPr>
              <a:t>人為安排、數學公式、人為規則、程式語言、商業方法</a:t>
            </a:r>
            <a:endParaRPr lang="en-US" altLang="zh-TW" sz="2000" b="0" dirty="0">
              <a:solidFill>
                <a:srgbClr val="C00000"/>
              </a:solidFill>
              <a:latin typeface="微軟正黑體" pitchFamily="34" charset="-120"/>
              <a:ea typeface="微軟正黑體" pitchFamily="34" charset="-120"/>
            </a:endParaRPr>
          </a:p>
          <a:p>
            <a:pPr marL="714375" lvl="1" indent="-268288">
              <a:lnSpc>
                <a:spcPts val="2500"/>
              </a:lnSpc>
              <a:spcBef>
                <a:spcPts val="600"/>
              </a:spcBef>
              <a:buFont typeface="Arial" panose="020B0604020202020204" pitchFamily="34" charset="0"/>
              <a:buChar char="•"/>
            </a:pPr>
            <a:r>
              <a:rPr lang="zh-TW" altLang="en-US" sz="2000" u="sng" dirty="0">
                <a:solidFill>
                  <a:srgbClr val="C00000"/>
                </a:solidFill>
                <a:latin typeface="微軟正黑體" pitchFamily="34" charset="-120"/>
                <a:ea typeface="微軟正黑體" pitchFamily="34" charset="-120"/>
              </a:rPr>
              <a:t>人為安排的工具使用</a:t>
            </a:r>
            <a:endParaRPr lang="en-US" altLang="zh-TW" sz="2000" b="0" u="sng" dirty="0">
              <a:solidFill>
                <a:srgbClr val="C00000"/>
              </a:solidFill>
              <a:latin typeface="微軟正黑體" pitchFamily="34" charset="-120"/>
              <a:ea typeface="微軟正黑體" pitchFamily="34" charset="-120"/>
            </a:endParaRPr>
          </a:p>
        </p:txBody>
      </p:sp>
      <p:sp>
        <p:nvSpPr>
          <p:cNvPr id="8" name="文字方塊 7"/>
          <p:cNvSpPr txBox="1"/>
          <p:nvPr/>
        </p:nvSpPr>
        <p:spPr>
          <a:xfrm>
            <a:off x="4644939" y="2057797"/>
            <a:ext cx="4032448" cy="3960440"/>
          </a:xfrm>
          <a:prstGeom prst="rect">
            <a:avLst/>
          </a:prstGeom>
        </p:spPr>
        <p:style>
          <a:lnRef idx="2">
            <a:schemeClr val="dk1"/>
          </a:lnRef>
          <a:fillRef idx="1">
            <a:schemeClr val="lt1"/>
          </a:fillRef>
          <a:effectRef idx="0">
            <a:schemeClr val="dk1"/>
          </a:effectRef>
          <a:fontRef idx="minor">
            <a:schemeClr val="dk1"/>
          </a:fontRef>
        </p:style>
        <p:txBody>
          <a:bodyPr wrap="square" rtlCol="0">
            <a:noAutofit/>
          </a:bodyPr>
          <a:lstStyle/>
          <a:p>
            <a:pPr marL="266700" indent="-266700">
              <a:lnSpc>
                <a:spcPts val="2500"/>
              </a:lnSpc>
              <a:spcBef>
                <a:spcPts val="600"/>
              </a:spcBef>
              <a:buFont typeface="Arial" panose="020B0604020202020204" pitchFamily="34" charset="0"/>
              <a:buChar char="•"/>
            </a:pPr>
            <a:r>
              <a:rPr lang="zh-TW" altLang="en-US" sz="2000" dirty="0">
                <a:solidFill>
                  <a:srgbClr val="C00000"/>
                </a:solidFill>
                <a:latin typeface="微軟正黑體" pitchFamily="34" charset="-120"/>
                <a:ea typeface="微軟正黑體" pitchFamily="34" charset="-120"/>
              </a:rPr>
              <a:t>非</a:t>
            </a:r>
            <a:r>
              <a:rPr lang="zh-TW" altLang="en-US" sz="2000">
                <a:solidFill>
                  <a:srgbClr val="C00000"/>
                </a:solidFill>
                <a:latin typeface="微軟正黑體" pitchFamily="34" charset="-120"/>
                <a:ea typeface="微軟正黑體" pitchFamily="34" charset="-120"/>
              </a:rPr>
              <a:t>技術思想</a:t>
            </a:r>
            <a:endParaRPr lang="en-US" altLang="zh-TW" sz="2000" dirty="0">
              <a:solidFill>
                <a:srgbClr val="C00000"/>
              </a:solidFill>
              <a:latin typeface="微軟正黑體" pitchFamily="34" charset="-120"/>
              <a:ea typeface="微軟正黑體" pitchFamily="34" charset="-120"/>
            </a:endParaRPr>
          </a:p>
          <a:p>
            <a:pPr marL="542925" lvl="1" indent="-180975">
              <a:lnSpc>
                <a:spcPts val="2500"/>
              </a:lnSpc>
              <a:spcBef>
                <a:spcPts val="600"/>
              </a:spcBef>
              <a:buFont typeface="Arial" panose="020B0604020202020204" pitchFamily="34" charset="0"/>
              <a:buChar char="•"/>
            </a:pPr>
            <a:r>
              <a:rPr lang="zh-TW" altLang="en-US" sz="2000" b="0" dirty="0">
                <a:solidFill>
                  <a:srgbClr val="C00000"/>
                </a:solidFill>
                <a:latin typeface="微軟正黑體" pitchFamily="34" charset="-120"/>
                <a:ea typeface="微軟正黑體" pitchFamily="34" charset="-120"/>
              </a:rPr>
              <a:t>單純資訊揭示</a:t>
            </a:r>
            <a:endParaRPr lang="en-US" altLang="zh-TW" sz="2000" b="0" dirty="0">
              <a:solidFill>
                <a:srgbClr val="C00000"/>
              </a:solidFill>
              <a:latin typeface="微軟正黑體" pitchFamily="34" charset="-120"/>
              <a:ea typeface="微軟正黑體" pitchFamily="34" charset="-120"/>
            </a:endParaRPr>
          </a:p>
          <a:p>
            <a:pPr marL="276225" indent="-276225">
              <a:lnSpc>
                <a:spcPts val="2500"/>
              </a:lnSpc>
              <a:spcBef>
                <a:spcPts val="600"/>
              </a:spcBef>
              <a:buFont typeface="Arial" panose="020B0604020202020204" pitchFamily="34" charset="0"/>
              <a:buChar char="•"/>
            </a:pPr>
            <a:r>
              <a:rPr lang="zh-TW" altLang="en-US" sz="2000" dirty="0">
                <a:solidFill>
                  <a:srgbClr val="C00000"/>
                </a:solidFill>
                <a:latin typeface="微軟正黑體" pitchFamily="34" charset="-120"/>
                <a:ea typeface="微軟正黑體" pitchFamily="34" charset="-120"/>
              </a:rPr>
              <a:t>軟體觀點</a:t>
            </a:r>
            <a:r>
              <a:rPr lang="en-US" altLang="zh-TW" sz="2000" dirty="0">
                <a:solidFill>
                  <a:srgbClr val="C00000"/>
                </a:solidFill>
                <a:latin typeface="微軟正黑體" pitchFamily="34" charset="-120"/>
                <a:ea typeface="微軟正黑體" pitchFamily="34" charset="-120"/>
              </a:rPr>
              <a:t>(</a:t>
            </a:r>
            <a:r>
              <a:rPr lang="zh-TW" altLang="en-US" sz="2000" dirty="0">
                <a:solidFill>
                  <a:srgbClr val="C00000"/>
                </a:solidFill>
                <a:latin typeface="微軟正黑體" pitchFamily="34" charset="-120"/>
                <a:ea typeface="微軟正黑體" pitchFamily="34" charset="-120"/>
              </a:rPr>
              <a:t>藉助電腦軟體之資訊處理係利用硬體資源具體實現</a:t>
            </a:r>
            <a:r>
              <a:rPr lang="en-US" altLang="zh-TW" sz="2000" dirty="0">
                <a:solidFill>
                  <a:srgbClr val="C00000"/>
                </a:solidFill>
                <a:latin typeface="微軟正黑體" pitchFamily="34" charset="-120"/>
                <a:ea typeface="微軟正黑體" pitchFamily="34" charset="-120"/>
              </a:rPr>
              <a:t>)</a:t>
            </a:r>
          </a:p>
          <a:p>
            <a:pPr marL="733425" lvl="1" indent="-276225">
              <a:lnSpc>
                <a:spcPts val="2500"/>
              </a:lnSpc>
              <a:spcBef>
                <a:spcPts val="600"/>
              </a:spcBef>
              <a:buFont typeface="Arial" panose="020B0604020202020204" pitchFamily="34" charset="0"/>
              <a:buChar char="•"/>
            </a:pPr>
            <a:r>
              <a:rPr lang="zh-TW" altLang="en-US" sz="2000" b="0" dirty="0">
                <a:solidFill>
                  <a:srgbClr val="C00000"/>
                </a:solidFill>
                <a:latin typeface="微軟正黑體" pitchFamily="34" charset="-120"/>
                <a:ea typeface="微軟正黑體" pitchFamily="34" charset="-120"/>
              </a:rPr>
              <a:t>藉由電腦軟、硬體資源協同運作</a:t>
            </a:r>
            <a:endParaRPr lang="en-US" altLang="zh-TW" sz="2000" b="0" dirty="0">
              <a:solidFill>
                <a:srgbClr val="C00000"/>
              </a:solidFill>
              <a:latin typeface="微軟正黑體" pitchFamily="34" charset="-120"/>
              <a:ea typeface="微軟正黑體" pitchFamily="34" charset="-120"/>
            </a:endParaRPr>
          </a:p>
          <a:p>
            <a:pPr marL="733425" lvl="1" indent="-276225">
              <a:lnSpc>
                <a:spcPts val="2500"/>
              </a:lnSpc>
              <a:spcBef>
                <a:spcPts val="600"/>
              </a:spcBef>
              <a:buFont typeface="Arial" panose="020B0604020202020204" pitchFamily="34" charset="0"/>
              <a:buChar char="•"/>
            </a:pPr>
            <a:r>
              <a:rPr lang="zh-TW" altLang="en-US" sz="2000" dirty="0">
                <a:solidFill>
                  <a:srgbClr val="C00000"/>
                </a:solidFill>
                <a:latin typeface="微軟正黑體" pitchFamily="34" charset="-120"/>
                <a:ea typeface="微軟正黑體" pitchFamily="34" charset="-120"/>
              </a:rPr>
              <a:t>依據資訊處理目的建構出</a:t>
            </a:r>
            <a:r>
              <a:rPr lang="zh-TW" altLang="en-US" sz="2000" u="sng" dirty="0">
                <a:solidFill>
                  <a:srgbClr val="C00000"/>
                </a:solidFill>
                <a:latin typeface="微軟正黑體" pitchFamily="34" charset="-120"/>
                <a:ea typeface="微軟正黑體" pitchFamily="34" charset="-120"/>
              </a:rPr>
              <a:t>特定資訊處理</a:t>
            </a:r>
            <a:endParaRPr lang="en-US" altLang="zh-TW" sz="2000" b="0" u="sng" dirty="0">
              <a:solidFill>
                <a:srgbClr val="C00000"/>
              </a:solidFill>
              <a:latin typeface="微軟正黑體" pitchFamily="34" charset="-120"/>
              <a:ea typeface="微軟正黑體" pitchFamily="34" charset="-120"/>
            </a:endParaRPr>
          </a:p>
          <a:p>
            <a:pPr marL="733425" lvl="1" indent="-276225">
              <a:lnSpc>
                <a:spcPts val="2500"/>
              </a:lnSpc>
              <a:spcBef>
                <a:spcPts val="600"/>
              </a:spcBef>
              <a:buFont typeface="Arial" panose="020B0604020202020204" pitchFamily="34" charset="0"/>
              <a:buChar char="•"/>
            </a:pPr>
            <a:endParaRPr lang="en-US" altLang="zh-TW" sz="2000" b="0" dirty="0">
              <a:solidFill>
                <a:srgbClr val="FF0000"/>
              </a:solidFill>
              <a:latin typeface="微軟正黑體" pitchFamily="34" charset="-120"/>
              <a:ea typeface="微軟正黑體" pitchFamily="34" charset="-120"/>
            </a:endParaRPr>
          </a:p>
        </p:txBody>
      </p:sp>
      <p:sp>
        <p:nvSpPr>
          <p:cNvPr id="9" name="圓角矩形 8"/>
          <p:cNvSpPr/>
          <p:nvPr/>
        </p:nvSpPr>
        <p:spPr>
          <a:xfrm>
            <a:off x="3131840" y="1585522"/>
            <a:ext cx="2880319" cy="28803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2000" dirty="0">
                <a:solidFill>
                  <a:prstClr val="black"/>
                </a:solidFill>
                <a:latin typeface="微軟正黑體" pitchFamily="34" charset="-120"/>
                <a:ea typeface="微軟正黑體" pitchFamily="34" charset="-120"/>
              </a:rPr>
              <a:t>違反專利法第</a:t>
            </a:r>
            <a:r>
              <a:rPr lang="en-US" altLang="zh-TW" sz="2000" dirty="0">
                <a:solidFill>
                  <a:prstClr val="black"/>
                </a:solidFill>
                <a:latin typeface="微軟正黑體" pitchFamily="34" charset="-120"/>
                <a:ea typeface="微軟正黑體" pitchFamily="34" charset="-120"/>
              </a:rPr>
              <a:t>21</a:t>
            </a:r>
            <a:r>
              <a:rPr lang="zh-TW" altLang="en-US" sz="2000" dirty="0">
                <a:solidFill>
                  <a:prstClr val="black"/>
                </a:solidFill>
                <a:latin typeface="微軟正黑體" pitchFamily="34" charset="-120"/>
                <a:ea typeface="微軟正黑體" pitchFamily="34" charset="-120"/>
              </a:rPr>
              <a:t>條類型</a:t>
            </a:r>
          </a:p>
        </p:txBody>
      </p:sp>
      <p:sp>
        <p:nvSpPr>
          <p:cNvPr id="10" name="文字方塊 9"/>
          <p:cNvSpPr txBox="1"/>
          <p:nvPr/>
        </p:nvSpPr>
        <p:spPr>
          <a:xfrm>
            <a:off x="395536" y="1121693"/>
            <a:ext cx="8280920" cy="40011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TW" altLang="en-US" sz="2000" b="0" dirty="0">
                <a:solidFill>
                  <a:prstClr val="black">
                    <a:lumMod val="95000"/>
                    <a:lumOff val="5000"/>
                  </a:prstClr>
                </a:solidFill>
                <a:latin typeface="微軟正黑體" panose="020B0604030504040204" pitchFamily="34" charset="-120"/>
                <a:ea typeface="微軟正黑體" panose="020B0604030504040204" pitchFamily="34" charset="-120"/>
              </a:rPr>
              <a:t>  發明定義 </a:t>
            </a:r>
            <a:r>
              <a:rPr lang="en-US" altLang="zh-TW" sz="2000" b="0" dirty="0">
                <a:solidFill>
                  <a:prstClr val="black">
                    <a:lumMod val="95000"/>
                    <a:lumOff val="5000"/>
                  </a:prstClr>
                </a:solidFill>
                <a:latin typeface="微軟正黑體" panose="020B0604030504040204" pitchFamily="34" charset="-120"/>
                <a:ea typeface="微軟正黑體" panose="020B0604030504040204" pitchFamily="34" charset="-120"/>
              </a:rPr>
              <a:t>/</a:t>
            </a:r>
            <a:r>
              <a:rPr lang="zh-TW" altLang="en-US" sz="2000" b="0" dirty="0">
                <a:solidFill>
                  <a:prstClr val="black">
                    <a:lumMod val="95000"/>
                    <a:lumOff val="5000"/>
                  </a:prstClr>
                </a:solidFill>
                <a:latin typeface="微軟正黑體" panose="020B0604030504040204" pitchFamily="34" charset="-120"/>
                <a:ea typeface="微軟正黑體" panose="020B0604030504040204" pitchFamily="34" charset="-120"/>
              </a:rPr>
              <a:t> 專利標的適格性 </a:t>
            </a:r>
            <a:r>
              <a:rPr lang="en-US" altLang="zh-TW" sz="2000" b="0" dirty="0">
                <a:solidFill>
                  <a:prstClr val="black">
                    <a:lumMod val="95000"/>
                    <a:lumOff val="5000"/>
                  </a:prstClr>
                </a:solidFill>
                <a:latin typeface="微軟正黑體" panose="020B0604030504040204" pitchFamily="34" charset="-120"/>
                <a:ea typeface="微軟正黑體" panose="020B0604030504040204" pitchFamily="34" charset="-120"/>
              </a:rPr>
              <a:t>/</a:t>
            </a:r>
            <a:r>
              <a:rPr lang="zh-TW" altLang="en-US" sz="2000" b="0" dirty="0">
                <a:solidFill>
                  <a:prstClr val="black">
                    <a:lumMod val="95000"/>
                    <a:lumOff val="5000"/>
                  </a:prstClr>
                </a:solidFill>
                <a:latin typeface="微軟正黑體" panose="020B0604030504040204" pitchFamily="34" charset="-120"/>
                <a:ea typeface="微軟正黑體" panose="020B0604030504040204" pitchFamily="34" charset="-120"/>
              </a:rPr>
              <a:t> 發明整體具</a:t>
            </a:r>
            <a:r>
              <a:rPr lang="zh-TW" altLang="en-US" sz="2000" dirty="0">
                <a:solidFill>
                  <a:schemeClr val="tx1"/>
                </a:solidFill>
                <a:latin typeface="微軟正黑體" panose="020B0604030504040204" pitchFamily="34" charset="-120"/>
                <a:ea typeface="微軟正黑體" panose="020B0604030504040204" pitchFamily="34" charset="-120"/>
              </a:rPr>
              <a:t>技術性</a:t>
            </a:r>
          </a:p>
        </p:txBody>
      </p:sp>
    </p:spTree>
    <p:extLst>
      <p:ext uri="{BB962C8B-B14F-4D97-AF65-F5344CB8AC3E}">
        <p14:creationId xmlns:p14="http://schemas.microsoft.com/office/powerpoint/2010/main" val="34944661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自然启发风景艺术水彩绘画- Pixabay上的免费图片- Pixabay">
            <a:extLst>
              <a:ext uri="{FF2B5EF4-FFF2-40B4-BE49-F238E27FC236}">
                <a16:creationId xmlns:a16="http://schemas.microsoft.com/office/drawing/2014/main" id="{AFD0549E-1C32-DE1E-74B3-05C691A07F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rot="1784337">
            <a:off x="7326846" y="5496826"/>
            <a:ext cx="1008112" cy="1138015"/>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p:txBody>
          <a:bodyPr/>
          <a:lstStyle/>
          <a:p>
            <a:r>
              <a:rPr lang="zh-TW" altLang="en-US" dirty="0"/>
              <a:t> 非屬發明的類型</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81</a:t>
            </a:fld>
            <a:endParaRPr lang="zh-TW" altLang="en-US" dirty="0">
              <a:solidFill>
                <a:prstClr val="black">
                  <a:tint val="75000"/>
                </a:prstClr>
              </a:solidFill>
            </a:endParaRPr>
          </a:p>
        </p:txBody>
      </p:sp>
      <p:sp>
        <p:nvSpPr>
          <p:cNvPr id="3" name="矩形 2"/>
          <p:cNvSpPr/>
          <p:nvPr/>
        </p:nvSpPr>
        <p:spPr>
          <a:xfrm>
            <a:off x="179512" y="836712"/>
            <a:ext cx="1569660" cy="385747"/>
          </a:xfrm>
          <a:prstGeom prst="rect">
            <a:avLst/>
          </a:prstGeom>
        </p:spPr>
        <p:txBody>
          <a:bodyPr wrap="none">
            <a:spAutoFit/>
          </a:bodyPr>
          <a:lstStyle/>
          <a:p>
            <a:pPr>
              <a:lnSpc>
                <a:spcPts val="2500"/>
              </a:lnSpc>
              <a:spcBef>
                <a:spcPts val="600"/>
              </a:spcBef>
            </a:pPr>
            <a:r>
              <a:rPr lang="zh-TW" altLang="en-US" b="1" dirty="0">
                <a:solidFill>
                  <a:srgbClr val="002060"/>
                </a:solidFill>
                <a:latin typeface="微軟正黑體" pitchFamily="34" charset="-120"/>
                <a:ea typeface="微軟正黑體" pitchFamily="34" charset="-120"/>
              </a:rPr>
              <a:t>自然法則本身</a:t>
            </a:r>
            <a:endParaRPr lang="en-US" altLang="zh-TW" b="1" dirty="0">
              <a:solidFill>
                <a:srgbClr val="002060"/>
              </a:solidFill>
              <a:latin typeface="微軟正黑體" pitchFamily="34" charset="-120"/>
              <a:ea typeface="微軟正黑體" pitchFamily="34" charset="-120"/>
            </a:endParaRPr>
          </a:p>
        </p:txBody>
      </p:sp>
      <p:pic>
        <p:nvPicPr>
          <p:cNvPr id="12290" name="Picture 2" descr="艾萨克·牛顿牛顿- Pixabay上的免费照片- Pixabay"/>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49173" y="860293"/>
            <a:ext cx="1670700" cy="1314109"/>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1800424" y="836712"/>
            <a:ext cx="323304" cy="1374735"/>
          </a:xfrm>
          <a:prstGeom prst="rect">
            <a:avLst/>
          </a:prstGeom>
        </p:spPr>
        <p:txBody>
          <a:bodyPr wrap="square">
            <a:spAutoFit/>
          </a:bodyPr>
          <a:lstStyle/>
          <a:p>
            <a:pPr>
              <a:lnSpc>
                <a:spcPts val="2500"/>
              </a:lnSpc>
              <a:spcBef>
                <a:spcPts val="600"/>
              </a:spcBef>
            </a:pPr>
            <a:r>
              <a:rPr lang="zh-TW" altLang="en-US" b="1" dirty="0">
                <a:solidFill>
                  <a:srgbClr val="FFFF00"/>
                </a:solidFill>
                <a:latin typeface="微軟正黑體" pitchFamily="34" charset="-120"/>
                <a:ea typeface="微軟正黑體" pitchFamily="34" charset="-120"/>
              </a:rPr>
              <a:t>萬有引力</a:t>
            </a:r>
            <a:endParaRPr lang="en-US" altLang="zh-TW" b="1" dirty="0">
              <a:solidFill>
                <a:srgbClr val="FFFF00"/>
              </a:solidFill>
              <a:latin typeface="微軟正黑體" pitchFamily="34" charset="-120"/>
              <a:ea typeface="微軟正黑體" pitchFamily="34" charset="-120"/>
            </a:endParaRPr>
          </a:p>
        </p:txBody>
      </p:sp>
      <p:sp>
        <p:nvSpPr>
          <p:cNvPr id="6" name="矩形 5"/>
          <p:cNvSpPr/>
          <p:nvPr/>
        </p:nvSpPr>
        <p:spPr>
          <a:xfrm>
            <a:off x="175485" y="2420888"/>
            <a:ext cx="1338828" cy="369332"/>
          </a:xfrm>
          <a:prstGeom prst="rect">
            <a:avLst/>
          </a:prstGeom>
        </p:spPr>
        <p:txBody>
          <a:bodyPr wrap="none">
            <a:spAutoFit/>
          </a:bodyPr>
          <a:lstStyle/>
          <a:p>
            <a:r>
              <a:rPr lang="zh-TW" altLang="en-US" b="1" dirty="0">
                <a:latin typeface="微軟正黑體" panose="020B0604030504040204" pitchFamily="34" charset="-120"/>
                <a:ea typeface="微軟正黑體" panose="020B0604030504040204" pitchFamily="34" charset="-120"/>
              </a:rPr>
              <a:t>單純之發現</a:t>
            </a:r>
          </a:p>
        </p:txBody>
      </p:sp>
      <p:sp>
        <p:nvSpPr>
          <p:cNvPr id="12" name="矩形 11"/>
          <p:cNvSpPr/>
          <p:nvPr/>
        </p:nvSpPr>
        <p:spPr>
          <a:xfrm>
            <a:off x="298522" y="2790220"/>
            <a:ext cx="4993557" cy="369332"/>
          </a:xfrm>
          <a:prstGeom prst="rect">
            <a:avLst/>
          </a:prstGeom>
        </p:spPr>
        <p:txBody>
          <a:bodyPr wrap="square">
            <a:spAutoFit/>
          </a:bodyPr>
          <a:lstStyle/>
          <a:p>
            <a:r>
              <a:rPr lang="zh-TW" altLang="en-US" dirty="0">
                <a:latin typeface="微軟正黑體" panose="020B0604030504040204" pitchFamily="34" charset="-120"/>
                <a:ea typeface="微軟正黑體" panose="020B0604030504040204" pitchFamily="34" charset="-120"/>
              </a:rPr>
              <a:t>以自然形態存在之物，例如野生植物或天然礦物</a:t>
            </a:r>
          </a:p>
        </p:txBody>
      </p:sp>
      <p:pic>
        <p:nvPicPr>
          <p:cNvPr id="12292" name="Picture 4" descr="甘薯挖掘挖- Pixabay上的免费图片- Pixabay"/>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698173" y="2420888"/>
            <a:ext cx="1867127" cy="1237987"/>
          </a:xfrm>
          <a:prstGeom prst="rect">
            <a:avLst/>
          </a:prstGeom>
          <a:noFill/>
          <a:extLst>
            <a:ext uri="{909E8E84-426E-40DD-AFC4-6F175D3DCCD1}">
              <a14:hiddenFill xmlns:a14="http://schemas.microsoft.com/office/drawing/2010/main">
                <a:solidFill>
                  <a:srgbClr val="FFFFFF"/>
                </a:solidFill>
              </a14:hiddenFill>
            </a:ext>
          </a:extLst>
        </p:spPr>
      </p:pic>
      <p:sp>
        <p:nvSpPr>
          <p:cNvPr id="22" name="矩形 21"/>
          <p:cNvSpPr/>
          <p:nvPr/>
        </p:nvSpPr>
        <p:spPr>
          <a:xfrm>
            <a:off x="4716016" y="908720"/>
            <a:ext cx="1853392" cy="369332"/>
          </a:xfrm>
          <a:prstGeom prst="rect">
            <a:avLst/>
          </a:prstGeom>
        </p:spPr>
        <p:txBody>
          <a:bodyPr wrap="none">
            <a:spAutoFit/>
          </a:bodyPr>
          <a:lstStyle/>
          <a:p>
            <a:r>
              <a:rPr lang="zh-TW" altLang="en-US" b="1" dirty="0">
                <a:latin typeface="微軟正黑體" panose="020B0604030504040204" pitchFamily="34" charset="-120"/>
                <a:ea typeface="微軟正黑體" panose="020B0604030504040204" pitchFamily="34" charset="-120"/>
              </a:rPr>
              <a:t>違反自然法則者 </a:t>
            </a:r>
          </a:p>
        </p:txBody>
      </p:sp>
      <p:pic>
        <p:nvPicPr>
          <p:cNvPr id="12294" name="Picture 6" descr="绘画创造力想象力- Pixabay上的免费图片- Pixaba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2280" y="878467"/>
            <a:ext cx="1800225" cy="2543175"/>
          </a:xfrm>
          <a:prstGeom prst="rect">
            <a:avLst/>
          </a:prstGeom>
          <a:noFill/>
          <a:extLst>
            <a:ext uri="{909E8E84-426E-40DD-AFC4-6F175D3DCCD1}">
              <a14:hiddenFill xmlns:a14="http://schemas.microsoft.com/office/drawing/2010/main">
                <a:solidFill>
                  <a:srgbClr val="FFFFFF"/>
                </a:solidFill>
              </a14:hiddenFill>
            </a:ext>
          </a:extLst>
        </p:spPr>
      </p:pic>
      <p:sp>
        <p:nvSpPr>
          <p:cNvPr id="23" name="矩形 22"/>
          <p:cNvSpPr/>
          <p:nvPr/>
        </p:nvSpPr>
        <p:spPr>
          <a:xfrm>
            <a:off x="175485" y="3682349"/>
            <a:ext cx="2031325" cy="369332"/>
          </a:xfrm>
          <a:prstGeom prst="rect">
            <a:avLst/>
          </a:prstGeom>
        </p:spPr>
        <p:txBody>
          <a:bodyPr wrap="none">
            <a:spAutoFit/>
          </a:bodyPr>
          <a:lstStyle/>
          <a:p>
            <a:r>
              <a:rPr lang="zh-TW" altLang="en-US" b="1" dirty="0">
                <a:latin typeface="微軟正黑體" panose="020B0604030504040204" pitchFamily="34" charset="-120"/>
                <a:ea typeface="微軟正黑體" panose="020B0604030504040204" pitchFamily="34" charset="-120"/>
              </a:rPr>
              <a:t>非利用自然法則者</a:t>
            </a:r>
          </a:p>
        </p:txBody>
      </p:sp>
      <p:sp>
        <p:nvSpPr>
          <p:cNvPr id="24" name="矩形 23"/>
          <p:cNvSpPr/>
          <p:nvPr/>
        </p:nvSpPr>
        <p:spPr>
          <a:xfrm>
            <a:off x="484748" y="4061423"/>
            <a:ext cx="2723823" cy="369332"/>
          </a:xfrm>
          <a:prstGeom prst="rect">
            <a:avLst/>
          </a:prstGeom>
        </p:spPr>
        <p:txBody>
          <a:bodyPr wrap="none">
            <a:spAutoFit/>
          </a:bodyPr>
          <a:lstStyle/>
          <a:p>
            <a:r>
              <a:rPr lang="zh-TW" altLang="en-US" dirty="0"/>
              <a:t>人為之規則、方法或計畫</a:t>
            </a:r>
          </a:p>
        </p:txBody>
      </p:sp>
      <p:pic>
        <p:nvPicPr>
          <p:cNvPr id="12296" name="Picture 8" descr="法律正义合法文件- Pixabay上的免费图片- Pixabay"/>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208571" y="3421558"/>
            <a:ext cx="1742523" cy="1159570"/>
          </a:xfrm>
          <a:prstGeom prst="rect">
            <a:avLst/>
          </a:prstGeom>
          <a:noFill/>
          <a:extLst>
            <a:ext uri="{909E8E84-426E-40DD-AFC4-6F175D3DCCD1}">
              <a14:hiddenFill xmlns:a14="http://schemas.microsoft.com/office/drawing/2010/main">
                <a:solidFill>
                  <a:srgbClr val="FFFFFF"/>
                </a:solidFill>
              </a14:hiddenFill>
            </a:ext>
          </a:extLst>
        </p:spPr>
      </p:pic>
      <p:sp>
        <p:nvSpPr>
          <p:cNvPr id="25" name="矩形 24"/>
          <p:cNvSpPr/>
          <p:nvPr/>
        </p:nvSpPr>
        <p:spPr>
          <a:xfrm>
            <a:off x="172545" y="4654871"/>
            <a:ext cx="1569660" cy="369332"/>
          </a:xfrm>
          <a:prstGeom prst="rect">
            <a:avLst/>
          </a:prstGeom>
        </p:spPr>
        <p:txBody>
          <a:bodyPr wrap="none">
            <a:spAutoFit/>
          </a:bodyPr>
          <a:lstStyle/>
          <a:p>
            <a:r>
              <a:rPr lang="zh-TW" altLang="en-US" b="1" dirty="0">
                <a:latin typeface="微軟正黑體" panose="020B0604030504040204" pitchFamily="34" charset="-120"/>
                <a:ea typeface="微軟正黑體" panose="020B0604030504040204" pitchFamily="34" charset="-120"/>
              </a:rPr>
              <a:t>非技術思想者</a:t>
            </a:r>
          </a:p>
        </p:txBody>
      </p:sp>
      <p:pic>
        <p:nvPicPr>
          <p:cNvPr id="12298" name="Picture 10" descr="棒球投手运动- Pixabay上的免费图片- Pixabay"/>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2339752" y="4822439"/>
            <a:ext cx="1185572" cy="1951113"/>
          </a:xfrm>
          <a:prstGeom prst="rect">
            <a:avLst/>
          </a:prstGeom>
          <a:noFill/>
          <a:extLst>
            <a:ext uri="{909E8E84-426E-40DD-AFC4-6F175D3DCCD1}">
              <a14:hiddenFill xmlns:a14="http://schemas.microsoft.com/office/drawing/2010/main">
                <a:solidFill>
                  <a:srgbClr val="FFFFFF"/>
                </a:solidFill>
              </a14:hiddenFill>
            </a:ext>
          </a:extLst>
        </p:spPr>
      </p:pic>
      <p:sp>
        <p:nvSpPr>
          <p:cNvPr id="26" name="矩形 25"/>
          <p:cNvSpPr/>
          <p:nvPr/>
        </p:nvSpPr>
        <p:spPr>
          <a:xfrm>
            <a:off x="544816" y="5015602"/>
            <a:ext cx="2379177" cy="369332"/>
          </a:xfrm>
          <a:prstGeom prst="rect">
            <a:avLst/>
          </a:prstGeom>
        </p:spPr>
        <p:txBody>
          <a:bodyPr wrap="none">
            <a:spAutoFit/>
          </a:bodyPr>
          <a:lstStyle/>
          <a:p>
            <a:r>
              <a:rPr lang="en-US" altLang="zh-TW" dirty="0"/>
              <a:t>1</a:t>
            </a:r>
            <a:r>
              <a:rPr lang="zh-TW" altLang="en-US" dirty="0"/>
              <a:t>、技能：指叉球投法</a:t>
            </a:r>
          </a:p>
        </p:txBody>
      </p:sp>
      <p:sp>
        <p:nvSpPr>
          <p:cNvPr id="27" name="矩形 26"/>
          <p:cNvSpPr/>
          <p:nvPr/>
        </p:nvSpPr>
        <p:spPr>
          <a:xfrm>
            <a:off x="3788370" y="5005535"/>
            <a:ext cx="2148345" cy="369332"/>
          </a:xfrm>
          <a:prstGeom prst="rect">
            <a:avLst/>
          </a:prstGeom>
        </p:spPr>
        <p:txBody>
          <a:bodyPr wrap="none">
            <a:spAutoFit/>
          </a:bodyPr>
          <a:lstStyle/>
          <a:p>
            <a:r>
              <a:rPr lang="en-US" altLang="zh-TW" dirty="0"/>
              <a:t>2</a:t>
            </a:r>
            <a:r>
              <a:rPr lang="zh-TW" altLang="en-US" dirty="0"/>
              <a:t>、單純之資訊揭示</a:t>
            </a:r>
          </a:p>
        </p:txBody>
      </p:sp>
      <p:sp>
        <p:nvSpPr>
          <p:cNvPr id="33" name="矩形 32"/>
          <p:cNvSpPr/>
          <p:nvPr/>
        </p:nvSpPr>
        <p:spPr>
          <a:xfrm>
            <a:off x="6655742" y="5024203"/>
            <a:ext cx="2148345" cy="369332"/>
          </a:xfrm>
          <a:prstGeom prst="rect">
            <a:avLst/>
          </a:prstGeom>
        </p:spPr>
        <p:txBody>
          <a:bodyPr wrap="none">
            <a:spAutoFit/>
          </a:bodyPr>
          <a:lstStyle/>
          <a:p>
            <a:r>
              <a:rPr lang="en-US" altLang="zh-TW" dirty="0"/>
              <a:t>3</a:t>
            </a:r>
            <a:r>
              <a:rPr lang="zh-TW" altLang="en-US" dirty="0"/>
              <a:t>、單純之美術創作</a:t>
            </a:r>
          </a:p>
        </p:txBody>
      </p:sp>
      <p:pic>
        <p:nvPicPr>
          <p:cNvPr id="1026" name="Picture 2" descr="全球资讯网万维网刻字- Pixabay上的免费图片- Pixabay">
            <a:extLst>
              <a:ext uri="{FF2B5EF4-FFF2-40B4-BE49-F238E27FC236}">
                <a16:creationId xmlns:a16="http://schemas.microsoft.com/office/drawing/2014/main" id="{BCF20347-A06A-7BAF-5DC2-E9A72DDA8311}"/>
              </a:ext>
            </a:extLst>
          </p:cNvPr>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4539916" y="5428721"/>
            <a:ext cx="1470784" cy="104111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油漆刷美术材料技术供应- Pixabay上的免费图片- Pixabay">
            <a:extLst>
              <a:ext uri="{FF2B5EF4-FFF2-40B4-BE49-F238E27FC236}">
                <a16:creationId xmlns:a16="http://schemas.microsoft.com/office/drawing/2014/main" id="{54F1A5EA-2373-BB27-A5B7-D0597C8B6277}"/>
              </a:ext>
            </a:extLst>
          </p:cNvPr>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rot="3627885">
            <a:off x="7225952" y="5675722"/>
            <a:ext cx="584954" cy="827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60615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3078892749"/>
              </p:ext>
            </p:extLst>
          </p:nvPr>
        </p:nvGraphicFramePr>
        <p:xfrm>
          <a:off x="179512" y="890502"/>
          <a:ext cx="8856984" cy="5778858"/>
        </p:xfrm>
        <a:graphic>
          <a:graphicData uri="http://schemas.openxmlformats.org/drawingml/2006/table">
            <a:tbl>
              <a:tblPr firstRow="1" bandRow="1">
                <a:tableStyleId>{F5AB1C69-6EDB-4FF4-983F-18BD219EF322}</a:tableStyleId>
              </a:tblPr>
              <a:tblGrid>
                <a:gridCol w="1152129">
                  <a:extLst>
                    <a:ext uri="{9D8B030D-6E8A-4147-A177-3AD203B41FA5}">
                      <a16:colId xmlns:a16="http://schemas.microsoft.com/office/drawing/2014/main" val="20000"/>
                    </a:ext>
                  </a:extLst>
                </a:gridCol>
                <a:gridCol w="4104455">
                  <a:extLst>
                    <a:ext uri="{9D8B030D-6E8A-4147-A177-3AD203B41FA5}">
                      <a16:colId xmlns:a16="http://schemas.microsoft.com/office/drawing/2014/main" val="20001"/>
                    </a:ext>
                  </a:extLst>
                </a:gridCol>
                <a:gridCol w="3600400">
                  <a:extLst>
                    <a:ext uri="{9D8B030D-6E8A-4147-A177-3AD203B41FA5}">
                      <a16:colId xmlns:a16="http://schemas.microsoft.com/office/drawing/2014/main" val="20002"/>
                    </a:ext>
                  </a:extLst>
                </a:gridCol>
              </a:tblGrid>
              <a:tr h="1890426">
                <a:tc>
                  <a:txBody>
                    <a:bodyPr/>
                    <a:lstStyle/>
                    <a:p>
                      <a:pPr algn="ctr"/>
                      <a:r>
                        <a:rPr lang="zh-TW" altLang="en-US" sz="2400" b="1" dirty="0">
                          <a:solidFill>
                            <a:srgbClr val="002060"/>
                          </a:solidFill>
                          <a:latin typeface="微軟正黑體" panose="020B0604030504040204" pitchFamily="34" charset="-120"/>
                          <a:ea typeface="微軟正黑體" panose="020B0604030504040204" pitchFamily="34" charset="-120"/>
                        </a:rPr>
                        <a:t>產業利用性</a:t>
                      </a:r>
                    </a:p>
                  </a:txBody>
                  <a:tcPr anchor="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ctr"/>
                      <a:endParaRPr lang="zh-TW" altLang="en-US" sz="1800" b="0" dirty="0">
                        <a:solidFill>
                          <a:srgbClr val="002060"/>
                        </a:solidFill>
                        <a:latin typeface="微軟正黑體" panose="020B0604030504040204" pitchFamily="34" charset="-120"/>
                        <a:ea typeface="微軟正黑體" panose="020B0604030504040204" pitchFamily="34" charset="-120"/>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85750" indent="-285750" algn="l">
                        <a:buFont typeface="Arial" panose="020B0604020202020204" pitchFamily="34" charset="0"/>
                        <a:buChar char="•"/>
                      </a:pPr>
                      <a:r>
                        <a:rPr lang="zh-TW" altLang="en-US" sz="1600" b="0" i="0" u="none" strike="noStrike" kern="1200" baseline="0" dirty="0">
                          <a:solidFill>
                            <a:srgbClr val="002060"/>
                          </a:solidFill>
                          <a:latin typeface="微軟正黑體" panose="020B0604030504040204" pitchFamily="34" charset="-120"/>
                          <a:ea typeface="微軟正黑體" panose="020B0604030504040204" pitchFamily="34" charset="-120"/>
                          <a:cs typeface="+mn-cs"/>
                        </a:rPr>
                        <a:t>產業為廣義產業，包含任何領域中利用自然法則之技術思想而有技術性的活動</a:t>
                      </a:r>
                      <a:endParaRPr lang="en-US" altLang="zh-TW" sz="1600" b="0" i="0" u="none" strike="noStrike" kern="1200" baseline="0" dirty="0">
                        <a:solidFill>
                          <a:srgbClr val="002060"/>
                        </a:solidFill>
                        <a:latin typeface="微軟正黑體" panose="020B0604030504040204" pitchFamily="34" charset="-120"/>
                        <a:ea typeface="微軟正黑體" panose="020B0604030504040204" pitchFamily="34" charset="-120"/>
                        <a:cs typeface="+mn-cs"/>
                      </a:endParaRPr>
                    </a:p>
                    <a:p>
                      <a:pPr marL="285750" indent="-285750" algn="l">
                        <a:buFont typeface="Arial" panose="020B0604020202020204" pitchFamily="34" charset="0"/>
                        <a:buChar char="•"/>
                      </a:pPr>
                      <a:r>
                        <a:rPr lang="zh-TW" altLang="en-US" sz="1600" b="0" i="0" u="none" strike="noStrike" kern="1200" baseline="0" dirty="0">
                          <a:solidFill>
                            <a:srgbClr val="002060"/>
                          </a:solidFill>
                          <a:latin typeface="微軟正黑體" panose="020B0604030504040204" pitchFamily="34" charset="-120"/>
                          <a:ea typeface="微軟正黑體" panose="020B0604030504040204" pitchFamily="34" charset="-120"/>
                          <a:cs typeface="+mn-cs"/>
                        </a:rPr>
                        <a:t>發明在產業上能夠被製造或使用</a:t>
                      </a:r>
                      <a:endParaRPr lang="en-US" altLang="zh-TW" sz="1600" b="0" i="0" u="none" strike="noStrike" kern="1200" baseline="0" dirty="0">
                        <a:solidFill>
                          <a:srgbClr val="002060"/>
                        </a:solidFill>
                        <a:latin typeface="微軟正黑體" panose="020B0604030504040204" pitchFamily="34" charset="-120"/>
                        <a:ea typeface="微軟正黑體" panose="020B0604030504040204" pitchFamily="34" charset="-120"/>
                        <a:cs typeface="+mn-cs"/>
                      </a:endParaRPr>
                    </a:p>
                    <a:p>
                      <a:pPr marL="285750" indent="-285750" algn="l">
                        <a:buFont typeface="Arial" panose="020B0604020202020204" pitchFamily="34" charset="0"/>
                        <a:buChar char="•"/>
                      </a:pPr>
                      <a:r>
                        <a:rPr lang="zh-TW" altLang="en-US" sz="1600" b="0" i="0" u="none" strike="noStrike" kern="1200" baseline="0" dirty="0">
                          <a:solidFill>
                            <a:srgbClr val="002060"/>
                          </a:solidFill>
                          <a:latin typeface="微軟正黑體" panose="020B0604030504040204" pitchFamily="34" charset="-120"/>
                          <a:ea typeface="微軟正黑體" panose="020B0604030504040204" pitchFamily="34" charset="-120"/>
                          <a:cs typeface="+mn-cs"/>
                        </a:rPr>
                        <a:t>理論上可行但實際上顯然不能被製造或使用之發明，仍不具產業利用性</a:t>
                      </a:r>
                      <a:endParaRPr lang="zh-TW" altLang="en-US" sz="1600" b="0" dirty="0">
                        <a:solidFill>
                          <a:srgbClr val="002060"/>
                        </a:solidFill>
                        <a:latin typeface="微軟正黑體" panose="020B0604030504040204" pitchFamily="34" charset="-120"/>
                        <a:ea typeface="微軟正黑體" panose="020B0604030504040204" pitchFamily="34" charset="-120"/>
                      </a:endParaRPr>
                    </a:p>
                  </a:txBody>
                  <a:tcPr anchor="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194421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2400" b="1" dirty="0">
                          <a:solidFill>
                            <a:srgbClr val="002060"/>
                          </a:solidFill>
                          <a:latin typeface="微軟正黑體" panose="020B0604030504040204" pitchFamily="34" charset="-120"/>
                          <a:ea typeface="微軟正黑體" panose="020B0604030504040204" pitchFamily="34" charset="-120"/>
                        </a:rPr>
                        <a:t>新穎性</a:t>
                      </a:r>
                    </a:p>
                  </a:txBody>
                  <a:tcPr anchor="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ctr"/>
                      <a:endParaRPr lang="zh-TW" altLang="en-US" sz="1800" b="0" dirty="0">
                        <a:solidFill>
                          <a:srgbClr val="002060"/>
                        </a:solidFill>
                        <a:latin typeface="微軟正黑體" panose="020B0604030504040204" pitchFamily="34" charset="-120"/>
                        <a:ea typeface="微軟正黑體" panose="020B0604030504040204" pitchFamily="34" charset="-120"/>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85750" indent="-285750" algn="l">
                        <a:buFont typeface="Arial" panose="020B0604020202020204" pitchFamily="34" charset="0"/>
                        <a:buChar char="•"/>
                      </a:pPr>
                      <a:r>
                        <a:rPr lang="zh-TW" altLang="en-US" sz="1600" b="0" i="0" u="none" strike="noStrike" kern="1200" baseline="0" dirty="0">
                          <a:solidFill>
                            <a:schemeClr val="dk1"/>
                          </a:solidFill>
                          <a:latin typeface="微軟正黑體" panose="020B0604030504040204" pitchFamily="34" charset="-120"/>
                          <a:ea typeface="微軟正黑體" panose="020B0604030504040204" pitchFamily="34" charset="-120"/>
                          <a:cs typeface="+mn-cs"/>
                        </a:rPr>
                        <a:t>申請專利之發明未構成先前技術的一部分時，稱該發明具有新穎性</a:t>
                      </a:r>
                      <a:endParaRPr lang="en-US" altLang="zh-TW" sz="1600" b="0" i="0" u="none" strike="noStrike" kern="1200" baseline="0" dirty="0">
                        <a:solidFill>
                          <a:schemeClr val="dk1"/>
                        </a:solidFill>
                        <a:latin typeface="微軟正黑體" panose="020B0604030504040204" pitchFamily="34" charset="-120"/>
                        <a:ea typeface="微軟正黑體" panose="020B0604030504040204" pitchFamily="34" charset="-120"/>
                        <a:cs typeface="+mn-cs"/>
                      </a:endParaRPr>
                    </a:p>
                    <a:p>
                      <a:pPr marL="285750" indent="-285750" algn="l">
                        <a:buFont typeface="Arial" panose="020B0604020202020204" pitchFamily="34" charset="0"/>
                        <a:buChar char="•"/>
                      </a:pPr>
                      <a:r>
                        <a:rPr lang="zh-TW" altLang="en-US" sz="1600" b="0" dirty="0">
                          <a:solidFill>
                            <a:srgbClr val="002060"/>
                          </a:solidFill>
                          <a:latin typeface="微軟正黑體" panose="020B0604030504040204" pitchFamily="34" charset="-120"/>
                          <a:ea typeface="微軟正黑體" panose="020B0604030504040204" pitchFamily="34" charset="-120"/>
                        </a:rPr>
                        <a:t>先前技術</a:t>
                      </a:r>
                      <a:endParaRPr lang="en-US" altLang="zh-TW" sz="1600" b="0" dirty="0">
                        <a:solidFill>
                          <a:srgbClr val="002060"/>
                        </a:solidFill>
                        <a:latin typeface="微軟正黑體" panose="020B0604030504040204" pitchFamily="34" charset="-120"/>
                        <a:ea typeface="微軟正黑體" panose="020B0604030504040204" pitchFamily="34" charset="-120"/>
                      </a:endParaRPr>
                    </a:p>
                    <a:p>
                      <a:pPr marL="742950" lvl="1" indent="-285750" algn="l">
                        <a:buFont typeface="Wingdings" panose="05000000000000000000" pitchFamily="2" charset="2"/>
                        <a:buChar char="ü"/>
                      </a:pPr>
                      <a:r>
                        <a:rPr lang="zh-TW" altLang="en-US" sz="1600" b="0" dirty="0">
                          <a:solidFill>
                            <a:srgbClr val="002060"/>
                          </a:solidFill>
                          <a:latin typeface="微軟正黑體" panose="020B0604030504040204" pitchFamily="34" charset="-120"/>
                          <a:ea typeface="微軟正黑體" panose="020B0604030504040204" pitchFamily="34" charset="-120"/>
                        </a:rPr>
                        <a:t>已見於刊物</a:t>
                      </a:r>
                      <a:endParaRPr lang="en-US" altLang="zh-TW" sz="1600" b="0" dirty="0">
                        <a:solidFill>
                          <a:srgbClr val="002060"/>
                        </a:solidFill>
                        <a:latin typeface="微軟正黑體" panose="020B0604030504040204" pitchFamily="34" charset="-120"/>
                        <a:ea typeface="微軟正黑體" panose="020B0604030504040204" pitchFamily="34" charset="-120"/>
                      </a:endParaRPr>
                    </a:p>
                    <a:p>
                      <a:pPr marL="742950" lvl="1" indent="-285750" algn="l">
                        <a:buFont typeface="Wingdings" panose="05000000000000000000" pitchFamily="2" charset="2"/>
                        <a:buChar char="ü"/>
                      </a:pPr>
                      <a:r>
                        <a:rPr lang="zh-TW" altLang="en-US" sz="1600" b="0" dirty="0">
                          <a:solidFill>
                            <a:srgbClr val="002060"/>
                          </a:solidFill>
                          <a:latin typeface="微軟正黑體" panose="020B0604030504040204" pitchFamily="34" charset="-120"/>
                          <a:ea typeface="微軟正黑體" panose="020B0604030504040204" pitchFamily="34" charset="-120"/>
                        </a:rPr>
                        <a:t>已公開實施</a:t>
                      </a:r>
                      <a:endParaRPr lang="en-US" altLang="zh-TW" sz="1600" b="0" dirty="0">
                        <a:solidFill>
                          <a:srgbClr val="002060"/>
                        </a:solidFill>
                        <a:latin typeface="微軟正黑體" panose="020B0604030504040204" pitchFamily="34" charset="-120"/>
                        <a:ea typeface="微軟正黑體" panose="020B0604030504040204" pitchFamily="34" charset="-120"/>
                      </a:endParaRPr>
                    </a:p>
                    <a:p>
                      <a:pPr marL="742950" lvl="1" indent="-285750" algn="l">
                        <a:buFont typeface="Wingdings" panose="05000000000000000000" pitchFamily="2" charset="2"/>
                        <a:buChar char="ü"/>
                      </a:pPr>
                      <a:r>
                        <a:rPr lang="zh-TW" altLang="en-US" sz="1600" b="0" dirty="0">
                          <a:solidFill>
                            <a:srgbClr val="002060"/>
                          </a:solidFill>
                          <a:latin typeface="微軟正黑體" panose="020B0604030504040204" pitchFamily="34" charset="-120"/>
                          <a:ea typeface="微軟正黑體" panose="020B0604030504040204" pitchFamily="34" charset="-120"/>
                        </a:rPr>
                        <a:t>已為公眾所知悉</a:t>
                      </a:r>
                    </a:p>
                  </a:txBody>
                  <a:tcPr anchor="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1944216">
                <a:tc>
                  <a:txBody>
                    <a:bodyPr/>
                    <a:lstStyle/>
                    <a:p>
                      <a: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2400" b="1" dirty="0">
                          <a:solidFill>
                            <a:srgbClr val="002060"/>
                          </a:solidFill>
                          <a:latin typeface="微軟正黑體" panose="020B0604030504040204" pitchFamily="34" charset="-120"/>
                          <a:ea typeface="微軟正黑體" panose="020B0604030504040204" pitchFamily="34" charset="-120"/>
                        </a:rPr>
                        <a:t>進步性</a:t>
                      </a:r>
                    </a:p>
                  </a:txBody>
                  <a:tcPr anchor="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l"/>
                      <a:endParaRPr lang="zh-TW" altLang="en-US" sz="1800" b="0" dirty="0">
                        <a:solidFill>
                          <a:srgbClr val="002060"/>
                        </a:solidFill>
                        <a:latin typeface="微軟正黑體" panose="020B0604030504040204" pitchFamily="34" charset="-120"/>
                        <a:ea typeface="微軟正黑體" panose="020B0604030504040204" pitchFamily="34" charset="-120"/>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85750" indent="-285750" algn="l">
                        <a:buFont typeface="Arial" panose="020B0604020202020204" pitchFamily="34" charset="0"/>
                        <a:buChar char="•"/>
                      </a:pPr>
                      <a:r>
                        <a:rPr lang="zh-TW" altLang="en-US" sz="1600" b="0" dirty="0">
                          <a:solidFill>
                            <a:srgbClr val="002060"/>
                          </a:solidFill>
                          <a:latin typeface="微軟正黑體" panose="020B0604030504040204" pitchFamily="34" charset="-120"/>
                          <a:ea typeface="微軟正黑體" panose="020B0604030504040204" pitchFamily="34" charset="-120"/>
                        </a:rPr>
                        <a:t>經一分或多份引證文件、其他公開形式之先前技術、通常知識，經結合、比對，判斷申請專利之發明的整體是否能被輕易完成</a:t>
                      </a:r>
                    </a:p>
                  </a:txBody>
                  <a:tcPr anchor="c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bl>
          </a:graphicData>
        </a:graphic>
      </p:graphicFrame>
      <p:sp>
        <p:nvSpPr>
          <p:cNvPr id="2" name="標題 1"/>
          <p:cNvSpPr>
            <a:spLocks noGrp="1"/>
          </p:cNvSpPr>
          <p:nvPr>
            <p:ph type="title"/>
          </p:nvPr>
        </p:nvSpPr>
        <p:spPr/>
        <p:txBody>
          <a:bodyPr/>
          <a:lstStyle/>
          <a:p>
            <a:r>
              <a:rPr lang="zh-TW" altLang="en-US" dirty="0"/>
              <a:t>專利三要件</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82</a:t>
            </a:fld>
            <a:endParaRPr lang="zh-TW" altLang="en-US" dirty="0">
              <a:solidFill>
                <a:prstClr val="black">
                  <a:tint val="75000"/>
                </a:prstClr>
              </a:solidFill>
            </a:endParaRP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051720" y="1124744"/>
            <a:ext cx="2542347"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475657" y="3006205"/>
            <a:ext cx="3888432" cy="158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379340" y="4869160"/>
            <a:ext cx="3984749" cy="1728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44505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新穎性</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83</a:t>
            </a:fld>
            <a:endParaRPr lang="zh-TW" altLang="en-US" dirty="0">
              <a:solidFill>
                <a:prstClr val="black">
                  <a:tint val="75000"/>
                </a:prstClr>
              </a:solidFill>
            </a:endParaRPr>
          </a:p>
        </p:txBody>
      </p:sp>
      <p:sp>
        <p:nvSpPr>
          <p:cNvPr id="3" name="圓角矩形 2"/>
          <p:cNvSpPr/>
          <p:nvPr/>
        </p:nvSpPr>
        <p:spPr>
          <a:xfrm>
            <a:off x="323528" y="1052736"/>
            <a:ext cx="4176464" cy="5472608"/>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nchorCtr="0"/>
          <a:lstStyle/>
          <a:p>
            <a:r>
              <a:rPr lang="zh-TW" altLang="en-US" dirty="0">
                <a:latin typeface="微軟正黑體" panose="020B0604030504040204" pitchFamily="34" charset="-120"/>
                <a:ea typeface="微軟正黑體" panose="020B0604030504040204" pitchFamily="34" charset="-120"/>
              </a:rPr>
              <a:t>先前技術</a:t>
            </a:r>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Ø"/>
            </a:pPr>
            <a:r>
              <a:rPr lang="zh-TW" altLang="en-US" b="1" dirty="0">
                <a:latin typeface="微軟正黑體" panose="020B0604030504040204" pitchFamily="34" charset="-120"/>
                <a:ea typeface="微軟正黑體" panose="020B0604030504040204" pitchFamily="34" charset="-120"/>
              </a:rPr>
              <a:t>已見於刊物</a:t>
            </a:r>
            <a:endParaRPr lang="en-US" altLang="zh-TW" b="1"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solidFill>
                  <a:prstClr val="black"/>
                </a:solidFill>
                <a:latin typeface="微軟正黑體" panose="020B0604030504040204" pitchFamily="34" charset="-120"/>
                <a:ea typeface="微軟正黑體" panose="020B0604030504040204" pitchFamily="34" charset="-120"/>
              </a:rPr>
              <a:t>國內外期刊雜誌、研究報告、專利公報</a:t>
            </a:r>
            <a:r>
              <a:rPr lang="en-US" altLang="en-US" dirty="0">
                <a:solidFill>
                  <a:prstClr val="black"/>
                </a:solidFill>
                <a:latin typeface="微軟正黑體" panose="020B0604030504040204" pitchFamily="34" charset="-120"/>
                <a:ea typeface="微軟正黑體" panose="020B0604030504040204" pitchFamily="34" charset="-120"/>
              </a:rPr>
              <a:t>…</a:t>
            </a:r>
            <a:r>
              <a:rPr lang="zh-TW" altLang="en-US" dirty="0">
                <a:solidFill>
                  <a:prstClr val="black"/>
                </a:solidFill>
                <a:latin typeface="微軟正黑體" panose="020B0604030504040204" pitchFamily="34" charset="-120"/>
                <a:ea typeface="微軟正黑體" panose="020B0604030504040204" pitchFamily="34" charset="-120"/>
              </a:rPr>
              <a:t>等</a:t>
            </a:r>
          </a:p>
          <a:p>
            <a:pPr marL="742950" lvl="1" indent="-285750">
              <a:buFont typeface="Wingdings" panose="05000000000000000000" pitchFamily="2" charset="2"/>
              <a:buChar char="ü"/>
            </a:pPr>
            <a:r>
              <a:rPr lang="zh-TW" altLang="en-US" dirty="0">
                <a:solidFill>
                  <a:prstClr val="black"/>
                </a:solidFill>
                <a:latin typeface="微軟正黑體" panose="020B0604030504040204" pitchFamily="34" charset="-120"/>
                <a:ea typeface="微軟正黑體" panose="020B0604030504040204" pitchFamily="34" charset="-120"/>
              </a:rPr>
              <a:t>網際網路或線上資料庫等</a:t>
            </a:r>
            <a:endParaRPr lang="en-US" altLang="zh-TW" dirty="0">
              <a:solidFill>
                <a:prstClr val="black"/>
              </a:solidFill>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solidFill>
                  <a:prstClr val="black"/>
                </a:solidFill>
                <a:latin typeface="微軟正黑體" panose="020B0604030504040204" pitchFamily="34" charset="-120"/>
                <a:ea typeface="微軟正黑體" panose="020B0604030504040204" pitchFamily="34" charset="-120"/>
              </a:rPr>
              <a:t>不以書面之文書為限，亦包含電子媒體</a:t>
            </a:r>
            <a:endParaRPr lang="en-US" altLang="zh-TW" dirty="0">
              <a:solidFill>
                <a:prstClr val="black"/>
              </a:solidFill>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Ø"/>
            </a:pPr>
            <a:r>
              <a:rPr lang="zh-TW" altLang="en-US" b="1" dirty="0">
                <a:solidFill>
                  <a:prstClr val="black"/>
                </a:solidFill>
                <a:latin typeface="微軟正黑體" panose="020B0604030504040204" pitchFamily="34" charset="-120"/>
                <a:ea typeface="微軟正黑體" panose="020B0604030504040204" pitchFamily="34" charset="-120"/>
              </a:rPr>
              <a:t>已公開實施</a:t>
            </a:r>
            <a:endParaRPr lang="en-US" altLang="zh-TW" b="1" dirty="0">
              <a:solidFill>
                <a:prstClr val="black"/>
              </a:solidFill>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solidFill>
                  <a:prstClr val="black"/>
                </a:solidFill>
                <a:latin typeface="微軟正黑體" panose="020B0604030504040204" pitchFamily="34" charset="-120"/>
                <a:ea typeface="微軟正黑體" panose="020B0604030504040204" pitchFamily="34" charset="-120"/>
              </a:rPr>
              <a:t>在網路或實體店面公開販售</a:t>
            </a:r>
          </a:p>
          <a:p>
            <a:pPr marL="742950" lvl="1" indent="-285750">
              <a:buFont typeface="Wingdings" panose="05000000000000000000" pitchFamily="2" charset="2"/>
              <a:buChar char="ü"/>
            </a:pPr>
            <a:r>
              <a:rPr lang="zh-TW" altLang="en-US" dirty="0">
                <a:solidFill>
                  <a:prstClr val="black"/>
                </a:solidFill>
                <a:latin typeface="微軟正黑體" panose="020B0604030504040204" pitchFamily="34" charset="-120"/>
                <a:ea typeface="微軟正黑體" panose="020B0604030504040204" pitchFamily="34" charset="-120"/>
              </a:rPr>
              <a:t>開放不特定人士，參觀製造過程</a:t>
            </a:r>
            <a:endParaRPr lang="en-US" altLang="zh-TW" dirty="0">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Ø"/>
            </a:pPr>
            <a:r>
              <a:rPr lang="zh-TW" altLang="en-US" b="1" dirty="0">
                <a:solidFill>
                  <a:prstClr val="black"/>
                </a:solidFill>
                <a:latin typeface="微軟正黑體" panose="020B0604030504040204" pitchFamily="34" charset="-120"/>
                <a:ea typeface="微軟正黑體" panose="020B0604030504040204" pitchFamily="34" charset="-120"/>
              </a:rPr>
              <a:t>已為公眾所知悉</a:t>
            </a:r>
            <a:endParaRPr lang="en-US" altLang="zh-TW" b="1" dirty="0">
              <a:solidFill>
                <a:prstClr val="black"/>
              </a:solidFill>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solidFill>
                  <a:prstClr val="black"/>
                </a:solidFill>
                <a:latin typeface="微軟正黑體" panose="020B0604030504040204" pitchFamily="34" charset="-120"/>
                <a:ea typeface="微軟正黑體" panose="020B0604030504040204" pitchFamily="34" charset="-120"/>
              </a:rPr>
              <a:t>口語交談、演講、會議、廣播或電視報導</a:t>
            </a:r>
          </a:p>
          <a:p>
            <a:pPr marL="742950" lvl="1" indent="-285750">
              <a:buFont typeface="Wingdings" panose="05000000000000000000" pitchFamily="2" charset="2"/>
              <a:buChar char="ü"/>
            </a:pPr>
            <a:r>
              <a:rPr lang="zh-TW" altLang="en-US" dirty="0">
                <a:solidFill>
                  <a:prstClr val="black"/>
                </a:solidFill>
                <a:latin typeface="微軟正黑體" panose="020B0604030504040204" pitchFamily="34" charset="-120"/>
                <a:ea typeface="微軟正黑體" panose="020B0604030504040204" pitchFamily="34" charset="-120"/>
              </a:rPr>
              <a:t>公開展示圖面、照片、模型、樣品等方式</a:t>
            </a:r>
          </a:p>
        </p:txBody>
      </p:sp>
      <p:sp>
        <p:nvSpPr>
          <p:cNvPr id="10" name="圓角矩形 9"/>
          <p:cNvSpPr/>
          <p:nvPr/>
        </p:nvSpPr>
        <p:spPr>
          <a:xfrm>
            <a:off x="4788024" y="1052736"/>
            <a:ext cx="4176464" cy="5472608"/>
          </a:xfrm>
          <a:prstGeom prst="roundRect">
            <a:avLst/>
          </a:prstGeom>
        </p:spPr>
        <p:style>
          <a:lnRef idx="1">
            <a:schemeClr val="accent3"/>
          </a:lnRef>
          <a:fillRef idx="2">
            <a:schemeClr val="accent3"/>
          </a:fillRef>
          <a:effectRef idx="1">
            <a:schemeClr val="accent3"/>
          </a:effectRef>
          <a:fontRef idx="minor">
            <a:schemeClr val="dk1"/>
          </a:fontRef>
        </p:style>
        <p:txBody>
          <a:bodyPr rtlCol="0" anchor="t" anchorCtr="0"/>
          <a:lstStyle/>
          <a:p>
            <a:r>
              <a:rPr lang="zh-TW" altLang="en-US" dirty="0">
                <a:latin typeface="微軟正黑體" panose="020B0604030504040204" pitchFamily="34" charset="-120"/>
                <a:ea typeface="微軟正黑體" panose="020B0604030504040204" pitchFamily="34" charset="-120"/>
              </a:rPr>
              <a:t>如何判斷</a:t>
            </a:r>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Ø"/>
            </a:pPr>
            <a:r>
              <a:rPr lang="zh-TW" altLang="en-US" dirty="0">
                <a:latin typeface="微軟正黑體" panose="020B0604030504040204" pitchFamily="34" charset="-120"/>
                <a:ea typeface="微軟正黑體" panose="020B0604030504040204" pitchFamily="34" charset="-120"/>
              </a:rPr>
              <a:t>完全相同</a:t>
            </a:r>
            <a:endParaRPr lang="en-US" altLang="zh-TW" dirty="0">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Ø"/>
            </a:pPr>
            <a:endParaRPr lang="en-US" altLang="zh-TW" dirty="0">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Ø"/>
            </a:pPr>
            <a:endParaRPr lang="en-US" altLang="zh-TW" dirty="0">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Ø"/>
            </a:pPr>
            <a:r>
              <a:rPr lang="zh-TW" altLang="en-US" dirty="0">
                <a:latin typeface="微軟正黑體" panose="020B0604030504040204" pitchFamily="34" charset="-120"/>
                <a:ea typeface="微軟正黑體" panose="020B0604030504040204" pitchFamily="34" charset="-120"/>
              </a:rPr>
              <a:t>差異僅在於文字之記載形式或能直接無歧異得知之技術特徵</a:t>
            </a:r>
            <a:endParaRPr lang="en-US" altLang="zh-TW"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一種檯燈，其包括，一燈泡、一燈罩及一燈座。</a:t>
            </a:r>
            <a:endParaRPr lang="en-US" altLang="zh-TW" dirty="0">
              <a:latin typeface="微軟正黑體" panose="020B0604030504040204" pitchFamily="34" charset="-120"/>
              <a:ea typeface="微軟正黑體" panose="020B0604030504040204" pitchFamily="34" charset="-120"/>
            </a:endParaRPr>
          </a:p>
          <a:p>
            <a:pPr marL="742950" lvl="1" indent="-285750">
              <a:buFont typeface="Wingdings" panose="05000000000000000000" pitchFamily="2" charset="2"/>
              <a:buChar char="ü"/>
            </a:pPr>
            <a:r>
              <a:rPr lang="zh-TW" altLang="en-US" dirty="0">
                <a:latin typeface="微軟正黑體" panose="020B0604030504040204" pitchFamily="34" charset="-120"/>
                <a:ea typeface="微軟正黑體" panose="020B0604030504040204" pitchFamily="34" charset="-120"/>
              </a:rPr>
              <a:t>一種檯燈，其包括，一燈泡、一燈泡罩體及一立式座體。</a:t>
            </a:r>
            <a:endParaRPr lang="en-US" altLang="zh-TW" dirty="0">
              <a:latin typeface="微軟正黑體" panose="020B0604030504040204" pitchFamily="34" charset="-120"/>
              <a:ea typeface="微軟正黑體" panose="020B0604030504040204" pitchFamily="34" charset="-120"/>
            </a:endParaRPr>
          </a:p>
          <a:p>
            <a:pPr marL="285750" indent="-285750">
              <a:buFont typeface="Wingdings" panose="05000000000000000000" pitchFamily="2" charset="2"/>
              <a:buChar char="Ø"/>
            </a:pPr>
            <a:r>
              <a:rPr lang="zh-TW" altLang="en-US" dirty="0">
                <a:latin typeface="微軟正黑體" panose="020B0604030504040204" pitchFamily="34" charset="-120"/>
                <a:ea typeface="微軟正黑體" panose="020B0604030504040204" pitchFamily="34" charset="-120"/>
              </a:rPr>
              <a:t>差異僅在於相對應之技術特徵的上、下位概念</a:t>
            </a:r>
          </a:p>
        </p:txBody>
      </p:sp>
      <p:pic>
        <p:nvPicPr>
          <p:cNvPr id="11" name="Picture 3" descr="C:\Users\20451\AppData\Local\Microsoft\Windows\Temporary Internet Files\Content.IE5\V8IXP0II\MC900318366[1].wmf"/>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3528" y="3789040"/>
            <a:ext cx="725724" cy="61486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C:\Users\20451\AppData\Local\Microsoft\Windows\Temporary Internet Files\Content.IE5\OC9HHQ7E\MC900338102[1].wm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93168" y="2348880"/>
            <a:ext cx="756084" cy="73651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C:\Users\20451\AppData\Local\Microsoft\Windows\Temporary Internet Files\Content.IE5\CI2BS3E6\MC900289958[1].wmf"/>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92665" y="5099518"/>
            <a:ext cx="656587" cy="489721"/>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Lamp, Idea, Pear, Inspiration, Current, Energy"/>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372200" y="1723437"/>
            <a:ext cx="644080" cy="644080"/>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pic>
      <p:pic>
        <p:nvPicPr>
          <p:cNvPr id="15" name="Picture 2" descr="Lamp, Idea, Pear, Inspiration, Current, Energy"/>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596336" y="1704800"/>
            <a:ext cx="644080" cy="644080"/>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pic>
      <p:cxnSp>
        <p:nvCxnSpPr>
          <p:cNvPr id="7" name="直線單箭頭接點 6"/>
          <p:cNvCxnSpPr/>
          <p:nvPr/>
        </p:nvCxnSpPr>
        <p:spPr>
          <a:xfrm>
            <a:off x="6228184" y="2492896"/>
            <a:ext cx="2160240"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8" name="文字方塊 7"/>
          <p:cNvSpPr txBox="1"/>
          <p:nvPr/>
        </p:nvSpPr>
        <p:spPr>
          <a:xfrm>
            <a:off x="8312136" y="2348879"/>
            <a:ext cx="646331" cy="276999"/>
          </a:xfrm>
          <a:prstGeom prst="rect">
            <a:avLst/>
          </a:prstGeom>
          <a:noFill/>
        </p:spPr>
        <p:txBody>
          <a:bodyPr wrap="none" rtlCol="0">
            <a:spAutoFit/>
          </a:bodyPr>
          <a:lstStyle/>
          <a:p>
            <a:r>
              <a:rPr lang="zh-TW" altLang="en-US" sz="1200" dirty="0"/>
              <a:t>時間軸</a:t>
            </a:r>
          </a:p>
        </p:txBody>
      </p:sp>
      <p:cxnSp>
        <p:nvCxnSpPr>
          <p:cNvPr id="22" name="直線單箭頭接點 21"/>
          <p:cNvCxnSpPr/>
          <p:nvPr/>
        </p:nvCxnSpPr>
        <p:spPr>
          <a:xfrm>
            <a:off x="6214356" y="5733255"/>
            <a:ext cx="2160240"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8298308" y="5589238"/>
            <a:ext cx="646331" cy="276999"/>
          </a:xfrm>
          <a:prstGeom prst="rect">
            <a:avLst/>
          </a:prstGeom>
          <a:noFill/>
        </p:spPr>
        <p:txBody>
          <a:bodyPr wrap="none" rtlCol="0">
            <a:spAutoFit/>
          </a:bodyPr>
          <a:lstStyle/>
          <a:p>
            <a:r>
              <a:rPr lang="zh-TW" altLang="en-US" sz="1200" dirty="0"/>
              <a:t>時間軸</a:t>
            </a:r>
          </a:p>
        </p:txBody>
      </p:sp>
      <p:sp>
        <p:nvSpPr>
          <p:cNvPr id="32" name="矩形 31"/>
          <p:cNvSpPr/>
          <p:nvPr/>
        </p:nvSpPr>
        <p:spPr>
          <a:xfrm>
            <a:off x="5246783" y="6165304"/>
            <a:ext cx="1935145" cy="246221"/>
          </a:xfrm>
          <a:prstGeom prst="rect">
            <a:avLst/>
          </a:prstGeom>
        </p:spPr>
        <p:txBody>
          <a:bodyPr wrap="none">
            <a:spAutoFit/>
          </a:bodyPr>
          <a:lstStyle/>
          <a:p>
            <a:r>
              <a:rPr lang="zh-TW" altLang="en-US" sz="1000" dirty="0"/>
              <a:t>圖片來源：</a:t>
            </a:r>
            <a:r>
              <a:rPr lang="en-US" altLang="zh-TW" sz="1000" dirty="0"/>
              <a:t>https://pixabay.com/</a:t>
            </a:r>
            <a:endParaRPr lang="zh-TW" altLang="en-US" sz="1000" dirty="0"/>
          </a:p>
        </p:txBody>
      </p:sp>
      <p:pic>
        <p:nvPicPr>
          <p:cNvPr id="5124" name="Picture 4" descr="Lamp, Desk Lamp, Bulb, Lighting, Drawing, Graphics"/>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4939849" y="3356992"/>
            <a:ext cx="613868" cy="64807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Lamp, Idea, Pear, Inspiration, Current, Energy"/>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372200" y="4992158"/>
            <a:ext cx="644080" cy="644080"/>
          </a:xfrm>
          <a:prstGeom prst="rect">
            <a:avLst/>
          </a:prstGeom>
          <a:solidFill>
            <a:srgbClr val="92D050"/>
          </a:solidFill>
        </p:spPr>
        <p:style>
          <a:lnRef idx="1">
            <a:schemeClr val="accent3"/>
          </a:lnRef>
          <a:fillRef idx="2">
            <a:schemeClr val="accent3"/>
          </a:fillRef>
          <a:effectRef idx="1">
            <a:schemeClr val="accent3"/>
          </a:effectRef>
          <a:fontRef idx="minor">
            <a:schemeClr val="dk1"/>
          </a:fontRef>
        </p:style>
      </p:pic>
      <p:sp>
        <p:nvSpPr>
          <p:cNvPr id="33" name="矩形圖說文字 32"/>
          <p:cNvSpPr/>
          <p:nvPr/>
        </p:nvSpPr>
        <p:spPr>
          <a:xfrm>
            <a:off x="5004048" y="5253589"/>
            <a:ext cx="1123706" cy="612648"/>
          </a:xfrm>
          <a:prstGeom prst="wedgeRectCallout">
            <a:avLst>
              <a:gd name="adj1" fmla="val 74266"/>
              <a:gd name="adj2" fmla="val -29687"/>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1600" dirty="0">
                <a:solidFill>
                  <a:schemeClr val="tx1"/>
                </a:solidFill>
                <a:latin typeface="微軟正黑體" panose="020B0604030504040204" pitchFamily="34" charset="-120"/>
                <a:ea typeface="微軟正黑體" panose="020B0604030504040204" pitchFamily="34" charset="-120"/>
              </a:rPr>
              <a:t>燈芯呈螺旋狀</a:t>
            </a:r>
          </a:p>
        </p:txBody>
      </p:sp>
      <p:sp>
        <p:nvSpPr>
          <p:cNvPr id="5" name="矩形圖說文字 32">
            <a:extLst>
              <a:ext uri="{FF2B5EF4-FFF2-40B4-BE49-F238E27FC236}">
                <a16:creationId xmlns:a16="http://schemas.microsoft.com/office/drawing/2014/main" id="{ED6C5BCA-B5F1-4782-FD30-61C35D2B0845}"/>
              </a:ext>
            </a:extLst>
          </p:cNvPr>
          <p:cNvSpPr/>
          <p:nvPr/>
        </p:nvSpPr>
        <p:spPr>
          <a:xfrm>
            <a:off x="8263587" y="4603264"/>
            <a:ext cx="755471" cy="506896"/>
          </a:xfrm>
          <a:prstGeom prst="wedgeRectCallout">
            <a:avLst>
              <a:gd name="adj1" fmla="val -56747"/>
              <a:gd name="adj2" fmla="val 69902"/>
            </a:avLst>
          </a:prstGeom>
        </p:spPr>
        <p:style>
          <a:lnRef idx="1">
            <a:schemeClr val="dk1"/>
          </a:lnRef>
          <a:fillRef idx="2">
            <a:schemeClr val="dk1"/>
          </a:fillRef>
          <a:effectRef idx="1">
            <a:schemeClr val="dk1"/>
          </a:effectRef>
          <a:fontRef idx="minor">
            <a:schemeClr val="dk1"/>
          </a:fontRef>
        </p:style>
        <p:txBody>
          <a:bodyPr lIns="36000" tIns="36000" rIns="36000" bIns="36000" rtlCol="0" anchor="ctr"/>
          <a:lstStyle/>
          <a:p>
            <a:pPr algn="ctr"/>
            <a:r>
              <a:rPr lang="zh-TW" altLang="en-US" sz="1200" dirty="0">
                <a:solidFill>
                  <a:schemeClr val="tx1"/>
                </a:solidFill>
                <a:latin typeface="微軟正黑體" panose="020B0604030504040204" pitchFamily="34" charset="-120"/>
                <a:ea typeface="微軟正黑體" panose="020B0604030504040204" pitchFamily="34" charset="-120"/>
              </a:rPr>
              <a:t>燈</a:t>
            </a:r>
            <a:r>
              <a:rPr lang="zh-TW" altLang="en-US" sz="1200">
                <a:solidFill>
                  <a:schemeClr val="tx1"/>
                </a:solidFill>
                <a:latin typeface="微軟正黑體" panose="020B0604030504040204" pitchFamily="34" charset="-120"/>
                <a:ea typeface="微軟正黑體" panose="020B0604030504040204" pitchFamily="34" charset="-120"/>
              </a:rPr>
              <a:t>芯</a:t>
            </a:r>
            <a:r>
              <a:rPr lang="en-US" altLang="zh-TW" sz="1200" dirty="0">
                <a:solidFill>
                  <a:schemeClr val="tx1"/>
                </a:solidFill>
                <a:latin typeface="微軟正黑體" panose="020B0604030504040204" pitchFamily="34" charset="-120"/>
                <a:ea typeface="微軟正黑體" panose="020B0604030504040204" pitchFamily="34" charset="-120"/>
              </a:rPr>
              <a:t>(</a:t>
            </a:r>
            <a:r>
              <a:rPr lang="zh-TW" altLang="en-US" sz="1200" dirty="0">
                <a:solidFill>
                  <a:schemeClr val="tx1"/>
                </a:solidFill>
                <a:latin typeface="微軟正黑體" panose="020B0604030504040204" pitchFamily="34" charset="-120"/>
                <a:ea typeface="微軟正黑體" panose="020B0604030504040204" pitchFamily="34" charset="-120"/>
              </a:rPr>
              <a:t>未限定形狀</a:t>
            </a:r>
            <a:r>
              <a:rPr lang="en-US" altLang="zh-TW" sz="1200" dirty="0">
                <a:solidFill>
                  <a:schemeClr val="tx1"/>
                </a:solidFill>
                <a:latin typeface="微軟正黑體" panose="020B0604030504040204" pitchFamily="34" charset="-120"/>
                <a:ea typeface="微軟正黑體" panose="020B0604030504040204" pitchFamily="34" charset="-120"/>
              </a:rPr>
              <a:t>)</a:t>
            </a:r>
            <a:endParaRPr lang="zh-TW" altLang="en-US" sz="1200" dirty="0">
              <a:solidFill>
                <a:schemeClr val="tx1"/>
              </a:solidFill>
              <a:latin typeface="微軟正黑體" panose="020B0604030504040204" pitchFamily="34" charset="-120"/>
              <a:ea typeface="微軟正黑體" panose="020B0604030504040204" pitchFamily="34" charset="-120"/>
            </a:endParaRPr>
          </a:p>
        </p:txBody>
      </p:sp>
      <p:pic>
        <p:nvPicPr>
          <p:cNvPr id="9" name="圖片 8">
            <a:extLst>
              <a:ext uri="{FF2B5EF4-FFF2-40B4-BE49-F238E27FC236}">
                <a16:creationId xmlns:a16="http://schemas.microsoft.com/office/drawing/2014/main" id="{888CA397-04F2-F68F-560B-CCD7E60F7A34}"/>
              </a:ext>
            </a:extLst>
          </p:cNvPr>
          <p:cNvPicPr>
            <a:picLocks noChangeAspect="1"/>
          </p:cNvPicPr>
          <p:nvPr/>
        </p:nvPicPr>
        <p:blipFill>
          <a:blip r:embed="rId7"/>
          <a:stretch>
            <a:fillRect/>
          </a:stretch>
        </p:blipFill>
        <p:spPr>
          <a:xfrm>
            <a:off x="7659930" y="4953703"/>
            <a:ext cx="414395" cy="733527"/>
          </a:xfrm>
          <a:prstGeom prst="rect">
            <a:avLst/>
          </a:prstGeom>
        </p:spPr>
      </p:pic>
    </p:spTree>
    <p:extLst>
      <p:ext uri="{BB962C8B-B14F-4D97-AF65-F5344CB8AC3E}">
        <p14:creationId xmlns:p14="http://schemas.microsoft.com/office/powerpoint/2010/main" val="12170581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 進步性</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84</a:t>
            </a:fld>
            <a:endParaRPr lang="zh-TW" altLang="en-US" dirty="0">
              <a:solidFill>
                <a:prstClr val="black">
                  <a:tint val="75000"/>
                </a:prstClr>
              </a:solidFill>
            </a:endParaRPr>
          </a:p>
        </p:txBody>
      </p:sp>
      <p:sp>
        <p:nvSpPr>
          <p:cNvPr id="6" name="矩形 5">
            <a:extLst>
              <a:ext uri="{FF2B5EF4-FFF2-40B4-BE49-F238E27FC236}">
                <a16:creationId xmlns:a16="http://schemas.microsoft.com/office/drawing/2014/main" id="{BA7C0A71-D822-4CCA-91CA-A78E75938D3F}"/>
              </a:ext>
            </a:extLst>
          </p:cNvPr>
          <p:cNvSpPr/>
          <p:nvPr/>
        </p:nvSpPr>
        <p:spPr>
          <a:xfrm>
            <a:off x="289704" y="1556792"/>
            <a:ext cx="8784976" cy="2554545"/>
          </a:xfrm>
          <a:prstGeom prst="rect">
            <a:avLst/>
          </a:prstGeom>
        </p:spPr>
        <p:txBody>
          <a:bodyPr wrap="square">
            <a:spAutoFit/>
          </a:bodyPr>
          <a:lstStyle/>
          <a:p>
            <a:pPr fontAlgn="auto">
              <a:spcBef>
                <a:spcPts val="0"/>
              </a:spcBef>
              <a:spcAft>
                <a:spcPts val="0"/>
              </a:spcAft>
            </a:pPr>
            <a:r>
              <a:rPr kumimoji="0" lang="zh-TW" altLang="en-US" sz="2000" dirty="0">
                <a:solidFill>
                  <a:prstClr val="black"/>
                </a:solidFill>
                <a:latin typeface="微軟正黑體" panose="020B0604030504040204" pitchFamily="34" charset="-120"/>
                <a:ea typeface="微軟正黑體" panose="020B0604030504040204" pitchFamily="34" charset="-120"/>
              </a:rPr>
              <a:t>步驟 </a:t>
            </a:r>
            <a:r>
              <a:rPr kumimoji="0" lang="en-US" altLang="zh-TW" sz="2000" dirty="0">
                <a:solidFill>
                  <a:prstClr val="black"/>
                </a:solidFill>
                <a:latin typeface="微軟正黑體" panose="020B0604030504040204" pitchFamily="34" charset="-120"/>
                <a:ea typeface="微軟正黑體" panose="020B0604030504040204" pitchFamily="34" charset="-120"/>
              </a:rPr>
              <a:t>1</a:t>
            </a:r>
            <a:r>
              <a:rPr kumimoji="0" lang="zh-TW" altLang="en-US" sz="2000" b="0" dirty="0">
                <a:solidFill>
                  <a:prstClr val="black"/>
                </a:solidFill>
                <a:latin typeface="微軟正黑體" panose="020B0604030504040204" pitchFamily="34" charset="-120"/>
                <a:ea typeface="微軟正黑體" panose="020B0604030504040204" pitchFamily="34" charset="-120"/>
              </a:rPr>
              <a:t>：確定申請專利之發明的範圍</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fontAlgn="auto">
              <a:spcBef>
                <a:spcPts val="0"/>
              </a:spcBef>
              <a:spcAft>
                <a:spcPts val="0"/>
              </a:spcAft>
            </a:pPr>
            <a:endParaRPr kumimoji="0" lang="en-US" altLang="zh-TW" sz="1000" b="0" dirty="0">
              <a:solidFill>
                <a:prstClr val="black"/>
              </a:solidFill>
              <a:latin typeface="微軟正黑體" panose="020B0604030504040204" pitchFamily="34" charset="-120"/>
              <a:ea typeface="微軟正黑體" panose="020B0604030504040204" pitchFamily="34" charset="-120"/>
            </a:endParaRPr>
          </a:p>
          <a:p>
            <a:pPr fontAlgn="auto">
              <a:spcBef>
                <a:spcPts val="0"/>
              </a:spcBef>
              <a:spcAft>
                <a:spcPts val="0"/>
              </a:spcAft>
            </a:pPr>
            <a:r>
              <a:rPr kumimoji="0" lang="zh-TW" altLang="en-US" sz="2000" dirty="0">
                <a:solidFill>
                  <a:prstClr val="black"/>
                </a:solidFill>
                <a:latin typeface="微軟正黑體" panose="020B0604030504040204" pitchFamily="34" charset="-120"/>
                <a:ea typeface="微軟正黑體" panose="020B0604030504040204" pitchFamily="34" charset="-120"/>
              </a:rPr>
              <a:t>步驟 </a:t>
            </a:r>
            <a:r>
              <a:rPr kumimoji="0" lang="en-US" altLang="zh-TW" sz="2000" dirty="0">
                <a:solidFill>
                  <a:prstClr val="black"/>
                </a:solidFill>
                <a:latin typeface="微軟正黑體" panose="020B0604030504040204" pitchFamily="34" charset="-120"/>
                <a:ea typeface="微軟正黑體" panose="020B0604030504040204" pitchFamily="34" charset="-120"/>
              </a:rPr>
              <a:t>2</a:t>
            </a:r>
            <a:r>
              <a:rPr kumimoji="0" lang="zh-TW" altLang="en-US" sz="2000" b="0" dirty="0">
                <a:solidFill>
                  <a:prstClr val="black"/>
                </a:solidFill>
                <a:latin typeface="微軟正黑體" panose="020B0604030504040204" pitchFamily="34" charset="-120"/>
                <a:ea typeface="微軟正黑體" panose="020B0604030504040204" pitchFamily="34" charset="-120"/>
              </a:rPr>
              <a:t>：確定相關先前技術所揭露之內容</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fontAlgn="auto">
              <a:spcBef>
                <a:spcPts val="0"/>
              </a:spcBef>
              <a:spcAft>
                <a:spcPts val="0"/>
              </a:spcAft>
            </a:pPr>
            <a:endParaRPr kumimoji="0" lang="en-US" altLang="zh-TW" sz="1000" b="0" dirty="0">
              <a:solidFill>
                <a:prstClr val="black"/>
              </a:solidFill>
              <a:latin typeface="微軟正黑體" panose="020B0604030504040204" pitchFamily="34" charset="-120"/>
              <a:ea typeface="微軟正黑體" panose="020B0604030504040204" pitchFamily="34" charset="-120"/>
            </a:endParaRPr>
          </a:p>
          <a:p>
            <a:pPr marL="1169988" indent="-1169988" fontAlgn="auto">
              <a:spcBef>
                <a:spcPts val="0"/>
              </a:spcBef>
              <a:spcAft>
                <a:spcPts val="0"/>
              </a:spcAft>
            </a:pPr>
            <a:r>
              <a:rPr kumimoji="0" lang="zh-TW" altLang="en-US" sz="2000" dirty="0">
                <a:solidFill>
                  <a:prstClr val="black"/>
                </a:solidFill>
                <a:latin typeface="微軟正黑體" panose="020B0604030504040204" pitchFamily="34" charset="-120"/>
                <a:ea typeface="微軟正黑體" panose="020B0604030504040204" pitchFamily="34" charset="-120"/>
              </a:rPr>
              <a:t>步驟 </a:t>
            </a:r>
            <a:r>
              <a:rPr kumimoji="0" lang="en-US" altLang="zh-TW" sz="2000" dirty="0">
                <a:solidFill>
                  <a:prstClr val="black"/>
                </a:solidFill>
                <a:latin typeface="微軟正黑體" panose="020B0604030504040204" pitchFamily="34" charset="-120"/>
                <a:ea typeface="微軟正黑體" panose="020B0604030504040204" pitchFamily="34" charset="-120"/>
              </a:rPr>
              <a:t>3</a:t>
            </a:r>
            <a:r>
              <a:rPr kumimoji="0" lang="zh-TW" altLang="en-US" sz="2000" b="0" dirty="0">
                <a:solidFill>
                  <a:prstClr val="black"/>
                </a:solidFill>
                <a:latin typeface="微軟正黑體" panose="020B0604030504040204" pitchFamily="34" charset="-120"/>
                <a:ea typeface="微軟正黑體" panose="020B0604030504040204" pitchFamily="34" charset="-120"/>
              </a:rPr>
              <a:t>：確定該發明所屬技術領域中具有通常知識者之技術水準</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fontAlgn="auto">
              <a:spcBef>
                <a:spcPts val="0"/>
              </a:spcBef>
              <a:spcAft>
                <a:spcPts val="0"/>
              </a:spcAft>
            </a:pPr>
            <a:endParaRPr kumimoji="0" lang="en-US" altLang="zh-TW" sz="1000" b="0" dirty="0">
              <a:solidFill>
                <a:prstClr val="black"/>
              </a:solidFill>
              <a:latin typeface="微軟正黑體" panose="020B0604030504040204" pitchFamily="34" charset="-120"/>
              <a:ea typeface="微軟正黑體" panose="020B0604030504040204" pitchFamily="34" charset="-120"/>
            </a:endParaRPr>
          </a:p>
          <a:p>
            <a:pPr fontAlgn="auto">
              <a:spcBef>
                <a:spcPts val="0"/>
              </a:spcBef>
              <a:spcAft>
                <a:spcPts val="0"/>
              </a:spcAft>
            </a:pPr>
            <a:r>
              <a:rPr kumimoji="0" lang="zh-TW" altLang="en-US" sz="2000" dirty="0">
                <a:solidFill>
                  <a:prstClr val="black"/>
                </a:solidFill>
                <a:latin typeface="微軟正黑體" panose="020B0604030504040204" pitchFamily="34" charset="-120"/>
                <a:ea typeface="微軟正黑體" panose="020B0604030504040204" pitchFamily="34" charset="-120"/>
              </a:rPr>
              <a:t>步驟 </a:t>
            </a:r>
            <a:r>
              <a:rPr kumimoji="0" lang="en-US" altLang="zh-TW" sz="2000" dirty="0">
                <a:solidFill>
                  <a:prstClr val="black"/>
                </a:solidFill>
                <a:latin typeface="微軟正黑體" panose="020B0604030504040204" pitchFamily="34" charset="-120"/>
                <a:ea typeface="微軟正黑體" panose="020B0604030504040204" pitchFamily="34" charset="-120"/>
              </a:rPr>
              <a:t>4</a:t>
            </a:r>
            <a:r>
              <a:rPr kumimoji="0" lang="zh-TW" altLang="en-US" sz="2000" b="0" dirty="0">
                <a:solidFill>
                  <a:prstClr val="black"/>
                </a:solidFill>
                <a:latin typeface="微軟正黑體" panose="020B0604030504040204" pitchFamily="34" charset="-120"/>
                <a:ea typeface="微軟正黑體" panose="020B0604030504040204" pitchFamily="34" charset="-120"/>
              </a:rPr>
              <a:t>：確認該發明與相關先前技術所揭露之內容間的差異</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fontAlgn="auto">
              <a:spcBef>
                <a:spcPts val="0"/>
              </a:spcBef>
              <a:spcAft>
                <a:spcPts val="0"/>
              </a:spcAft>
            </a:pPr>
            <a:endParaRPr kumimoji="0" lang="en-US" altLang="zh-TW" sz="1000" b="0" dirty="0">
              <a:solidFill>
                <a:prstClr val="black"/>
              </a:solidFill>
              <a:latin typeface="微軟正黑體" panose="020B0604030504040204" pitchFamily="34" charset="-120"/>
              <a:ea typeface="微軟正黑體" panose="020B0604030504040204" pitchFamily="34" charset="-120"/>
            </a:endParaRPr>
          </a:p>
          <a:p>
            <a:pPr marL="984250" indent="-984250" fontAlgn="auto">
              <a:spcBef>
                <a:spcPts val="0"/>
              </a:spcBef>
              <a:spcAft>
                <a:spcPts val="0"/>
              </a:spcAft>
            </a:pPr>
            <a:r>
              <a:rPr kumimoji="0" lang="zh-TW" altLang="en-US" sz="2000" dirty="0">
                <a:solidFill>
                  <a:prstClr val="black"/>
                </a:solidFill>
                <a:latin typeface="微軟正黑體" panose="020B0604030504040204" pitchFamily="34" charset="-120"/>
                <a:ea typeface="微軟正黑體" panose="020B0604030504040204" pitchFamily="34" charset="-120"/>
              </a:rPr>
              <a:t>步驟 </a:t>
            </a:r>
            <a:r>
              <a:rPr kumimoji="0" lang="en-US" altLang="zh-TW" sz="2000" dirty="0">
                <a:solidFill>
                  <a:prstClr val="black"/>
                </a:solidFill>
                <a:latin typeface="微軟正黑體" panose="020B0604030504040204" pitchFamily="34" charset="-120"/>
                <a:ea typeface="微軟正黑體" panose="020B0604030504040204" pitchFamily="34" charset="-120"/>
              </a:rPr>
              <a:t>5</a:t>
            </a:r>
            <a:r>
              <a:rPr kumimoji="0" lang="zh-TW" altLang="en-US" sz="2000" b="0" dirty="0">
                <a:solidFill>
                  <a:prstClr val="black"/>
                </a:solidFill>
                <a:latin typeface="微軟正黑體" panose="020B0604030504040204" pitchFamily="34" charset="-120"/>
                <a:ea typeface="微軟正黑體" panose="020B0604030504040204" pitchFamily="34" charset="-120"/>
              </a:rPr>
              <a:t>：該發明所屬技術領域中具有通常知識者參酌相關先前技術所揭露之內容及申請時之通常知識，是否能輕易完成申請專利之發明。 </a:t>
            </a:r>
          </a:p>
        </p:txBody>
      </p:sp>
      <p:sp>
        <p:nvSpPr>
          <p:cNvPr id="7" name="矩形 6">
            <a:extLst>
              <a:ext uri="{FF2B5EF4-FFF2-40B4-BE49-F238E27FC236}">
                <a16:creationId xmlns:a16="http://schemas.microsoft.com/office/drawing/2014/main" id="{02ADE10F-46F9-444B-9CEA-286D22467275}"/>
              </a:ext>
            </a:extLst>
          </p:cNvPr>
          <p:cNvSpPr/>
          <p:nvPr/>
        </p:nvSpPr>
        <p:spPr>
          <a:xfrm>
            <a:off x="1043608" y="4653136"/>
            <a:ext cx="1368152" cy="13258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kumimoji="0" lang="zh-TW" altLang="en-US" sz="1800" b="0">
              <a:solidFill>
                <a:prstClr val="white"/>
              </a:solidFill>
            </a:endParaRPr>
          </a:p>
        </p:txBody>
      </p:sp>
      <p:sp>
        <p:nvSpPr>
          <p:cNvPr id="8" name="矩形 7">
            <a:extLst>
              <a:ext uri="{FF2B5EF4-FFF2-40B4-BE49-F238E27FC236}">
                <a16:creationId xmlns:a16="http://schemas.microsoft.com/office/drawing/2014/main" id="{44810E66-1A33-4FC5-960F-1C03A2832A23}"/>
              </a:ext>
            </a:extLst>
          </p:cNvPr>
          <p:cNvSpPr/>
          <p:nvPr/>
        </p:nvSpPr>
        <p:spPr>
          <a:xfrm>
            <a:off x="3961218" y="4630772"/>
            <a:ext cx="1368152" cy="13258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kumimoji="0" lang="zh-TW" altLang="en-US" sz="1800" b="0">
              <a:solidFill>
                <a:prstClr val="white"/>
              </a:solidFill>
            </a:endParaRPr>
          </a:p>
        </p:txBody>
      </p:sp>
      <p:sp>
        <p:nvSpPr>
          <p:cNvPr id="9" name="矩形 8">
            <a:extLst>
              <a:ext uri="{FF2B5EF4-FFF2-40B4-BE49-F238E27FC236}">
                <a16:creationId xmlns:a16="http://schemas.microsoft.com/office/drawing/2014/main" id="{2EA3B42B-3FD9-4A3A-AA3A-71AEF44EB6AA}"/>
              </a:ext>
            </a:extLst>
          </p:cNvPr>
          <p:cNvSpPr/>
          <p:nvPr/>
        </p:nvSpPr>
        <p:spPr>
          <a:xfrm>
            <a:off x="4897322" y="5362829"/>
            <a:ext cx="432048" cy="57606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fontAlgn="auto">
              <a:spcBef>
                <a:spcPts val="0"/>
              </a:spcBef>
              <a:spcAft>
                <a:spcPts val="0"/>
              </a:spcAft>
            </a:pPr>
            <a:endParaRPr kumimoji="0" lang="zh-TW" altLang="en-US" sz="1800" b="0">
              <a:solidFill>
                <a:prstClr val="black"/>
              </a:solidFill>
            </a:endParaRPr>
          </a:p>
        </p:txBody>
      </p:sp>
      <p:sp>
        <p:nvSpPr>
          <p:cNvPr id="10" name="文字方塊 9">
            <a:extLst>
              <a:ext uri="{FF2B5EF4-FFF2-40B4-BE49-F238E27FC236}">
                <a16:creationId xmlns:a16="http://schemas.microsoft.com/office/drawing/2014/main" id="{7DB2C12F-3B09-485C-BB03-28D2389475F4}"/>
              </a:ext>
            </a:extLst>
          </p:cNvPr>
          <p:cNvSpPr txBox="1"/>
          <p:nvPr/>
        </p:nvSpPr>
        <p:spPr>
          <a:xfrm>
            <a:off x="1404518" y="6090529"/>
            <a:ext cx="646331" cy="369332"/>
          </a:xfrm>
          <a:prstGeom prst="rect">
            <a:avLst/>
          </a:prstGeom>
          <a:noFill/>
        </p:spPr>
        <p:txBody>
          <a:bodyPr wrap="none" rtlCol="0">
            <a:spAutoFit/>
          </a:bodyPr>
          <a:lstStyle/>
          <a:p>
            <a:pPr fontAlgn="auto">
              <a:spcBef>
                <a:spcPts val="0"/>
              </a:spcBef>
              <a:spcAft>
                <a:spcPts val="0"/>
              </a:spcAft>
            </a:pPr>
            <a:r>
              <a:rPr kumimoji="0" lang="zh-TW" altLang="en-US" sz="1800" b="0" dirty="0">
                <a:solidFill>
                  <a:prstClr val="black"/>
                </a:solidFill>
                <a:latin typeface="Calibri"/>
                <a:ea typeface="新細明體"/>
              </a:rPr>
              <a:t>本案</a:t>
            </a:r>
          </a:p>
        </p:txBody>
      </p:sp>
      <p:sp>
        <p:nvSpPr>
          <p:cNvPr id="11" name="文字方塊 10">
            <a:extLst>
              <a:ext uri="{FF2B5EF4-FFF2-40B4-BE49-F238E27FC236}">
                <a16:creationId xmlns:a16="http://schemas.microsoft.com/office/drawing/2014/main" id="{2A9A9455-E040-4095-82CA-B9482D05B57F}"/>
              </a:ext>
            </a:extLst>
          </p:cNvPr>
          <p:cNvSpPr txBox="1"/>
          <p:nvPr/>
        </p:nvSpPr>
        <p:spPr>
          <a:xfrm>
            <a:off x="4247178" y="6065445"/>
            <a:ext cx="877163" cy="369332"/>
          </a:xfrm>
          <a:prstGeom prst="rect">
            <a:avLst/>
          </a:prstGeom>
          <a:noFill/>
        </p:spPr>
        <p:txBody>
          <a:bodyPr wrap="none" rtlCol="0">
            <a:spAutoFit/>
          </a:bodyPr>
          <a:lstStyle/>
          <a:p>
            <a:pPr fontAlgn="auto">
              <a:spcBef>
                <a:spcPts val="0"/>
              </a:spcBef>
              <a:spcAft>
                <a:spcPts val="0"/>
              </a:spcAft>
            </a:pPr>
            <a:r>
              <a:rPr kumimoji="0" lang="zh-TW" altLang="en-US" sz="1800" b="0" dirty="0">
                <a:solidFill>
                  <a:prstClr val="black"/>
                </a:solidFill>
                <a:latin typeface="Calibri"/>
                <a:ea typeface="新細明體"/>
              </a:rPr>
              <a:t>引證案</a:t>
            </a:r>
          </a:p>
        </p:txBody>
      </p:sp>
      <p:sp>
        <p:nvSpPr>
          <p:cNvPr id="12" name="文字方塊 11">
            <a:extLst>
              <a:ext uri="{FF2B5EF4-FFF2-40B4-BE49-F238E27FC236}">
                <a16:creationId xmlns:a16="http://schemas.microsoft.com/office/drawing/2014/main" id="{FF9CC044-48AB-4566-8949-2B090B6A8CA6}"/>
              </a:ext>
            </a:extLst>
          </p:cNvPr>
          <p:cNvSpPr txBox="1"/>
          <p:nvPr/>
        </p:nvSpPr>
        <p:spPr>
          <a:xfrm>
            <a:off x="4897323" y="5308400"/>
            <a:ext cx="432047" cy="646331"/>
          </a:xfrm>
          <a:prstGeom prst="rect">
            <a:avLst/>
          </a:prstGeom>
          <a:noFill/>
        </p:spPr>
        <p:txBody>
          <a:bodyPr wrap="square" rtlCol="0">
            <a:spAutoFit/>
          </a:bodyPr>
          <a:lstStyle/>
          <a:p>
            <a:pPr fontAlgn="auto">
              <a:spcBef>
                <a:spcPts val="0"/>
              </a:spcBef>
              <a:spcAft>
                <a:spcPts val="0"/>
              </a:spcAft>
            </a:pPr>
            <a:r>
              <a:rPr kumimoji="0" lang="zh-TW" altLang="en-US" sz="1800" b="0" dirty="0">
                <a:solidFill>
                  <a:prstClr val="black"/>
                </a:solidFill>
                <a:latin typeface="Calibri"/>
                <a:ea typeface="新細明體"/>
              </a:rPr>
              <a:t>差異</a:t>
            </a:r>
          </a:p>
        </p:txBody>
      </p:sp>
      <p:sp>
        <p:nvSpPr>
          <p:cNvPr id="13" name="箭號: 左-右雙向 22">
            <a:extLst>
              <a:ext uri="{FF2B5EF4-FFF2-40B4-BE49-F238E27FC236}">
                <a16:creationId xmlns:a16="http://schemas.microsoft.com/office/drawing/2014/main" id="{E6A9526B-A100-4F48-B298-ECB7F671F912}"/>
              </a:ext>
            </a:extLst>
          </p:cNvPr>
          <p:cNvSpPr/>
          <p:nvPr/>
        </p:nvSpPr>
        <p:spPr>
          <a:xfrm>
            <a:off x="2874172" y="5037113"/>
            <a:ext cx="761724" cy="484632"/>
          </a:xfrm>
          <a:prstGeom prst="lef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endParaRPr kumimoji="0" lang="zh-TW" altLang="en-US" sz="1800" b="0">
              <a:solidFill>
                <a:prstClr val="black"/>
              </a:solidFill>
            </a:endParaRPr>
          </a:p>
        </p:txBody>
      </p:sp>
      <p:sp>
        <p:nvSpPr>
          <p:cNvPr id="14" name="箭號: 向右 23">
            <a:extLst>
              <a:ext uri="{FF2B5EF4-FFF2-40B4-BE49-F238E27FC236}">
                <a16:creationId xmlns:a16="http://schemas.microsoft.com/office/drawing/2014/main" id="{3BF449FB-2860-4EA5-A178-9314EC7C0B5B}"/>
              </a:ext>
            </a:extLst>
          </p:cNvPr>
          <p:cNvSpPr/>
          <p:nvPr/>
        </p:nvSpPr>
        <p:spPr>
          <a:xfrm>
            <a:off x="5702680" y="5079186"/>
            <a:ext cx="403533" cy="484632"/>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endParaRPr kumimoji="0" lang="zh-TW" altLang="en-US" sz="1800" b="0">
              <a:solidFill>
                <a:prstClr val="black"/>
              </a:solidFill>
            </a:endParaRPr>
          </a:p>
        </p:txBody>
      </p:sp>
      <p:sp>
        <p:nvSpPr>
          <p:cNvPr id="18" name="文字方塊 17">
            <a:extLst>
              <a:ext uri="{FF2B5EF4-FFF2-40B4-BE49-F238E27FC236}">
                <a16:creationId xmlns:a16="http://schemas.microsoft.com/office/drawing/2014/main" id="{D583C884-C9CA-4156-BEEF-0E7AD416102D}"/>
              </a:ext>
            </a:extLst>
          </p:cNvPr>
          <p:cNvSpPr txBox="1"/>
          <p:nvPr/>
        </p:nvSpPr>
        <p:spPr>
          <a:xfrm>
            <a:off x="6852332" y="5587271"/>
            <a:ext cx="1907895" cy="369332"/>
          </a:xfrm>
          <a:prstGeom prst="rect">
            <a:avLst/>
          </a:prstGeom>
          <a:noFill/>
        </p:spPr>
        <p:txBody>
          <a:bodyPr wrap="none" rtlCol="0">
            <a:spAutoFit/>
          </a:bodyPr>
          <a:lstStyle/>
          <a:p>
            <a:pPr fontAlgn="auto">
              <a:spcBef>
                <a:spcPts val="0"/>
              </a:spcBef>
              <a:spcAft>
                <a:spcPts val="0"/>
              </a:spcAft>
            </a:pPr>
            <a:r>
              <a:rPr kumimoji="0" lang="zh-TW" altLang="en-US" sz="1800" b="0" dirty="0">
                <a:solidFill>
                  <a:prstClr val="black"/>
                </a:solidFill>
                <a:latin typeface="Calibri"/>
                <a:ea typeface="新細明體"/>
              </a:rPr>
              <a:t>是否能輕易完成</a:t>
            </a:r>
            <a:r>
              <a:rPr kumimoji="0" lang="en-US" altLang="zh-TW" sz="1800" b="0" dirty="0">
                <a:solidFill>
                  <a:prstClr val="black"/>
                </a:solidFill>
                <a:latin typeface="Calibri"/>
                <a:ea typeface="新細明體"/>
              </a:rPr>
              <a:t>?</a:t>
            </a:r>
            <a:endParaRPr kumimoji="0" lang="zh-TW" altLang="en-US" sz="1800" b="0" dirty="0">
              <a:solidFill>
                <a:prstClr val="black"/>
              </a:solidFill>
              <a:latin typeface="Calibri"/>
              <a:ea typeface="新細明體"/>
            </a:endParaRPr>
          </a:p>
        </p:txBody>
      </p:sp>
      <p:sp>
        <p:nvSpPr>
          <p:cNvPr id="3" name="矩形 2"/>
          <p:cNvSpPr/>
          <p:nvPr/>
        </p:nvSpPr>
        <p:spPr>
          <a:xfrm>
            <a:off x="289704" y="1052736"/>
            <a:ext cx="1800493" cy="369332"/>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zh-TW" altLang="en-US" dirty="0">
                <a:latin typeface="微軟正黑體" panose="020B0604030504040204" pitchFamily="34" charset="-120"/>
                <a:ea typeface="微軟正黑體" panose="020B0604030504040204" pitchFamily="34" charset="-120"/>
              </a:rPr>
              <a:t>進步性如何判斷</a:t>
            </a:r>
          </a:p>
        </p:txBody>
      </p:sp>
      <p:pic>
        <p:nvPicPr>
          <p:cNvPr id="19" name="Picture 12" descr="科学家医生读- Pixabay上的免费图片- Pixabay">
            <a:extLst>
              <a:ext uri="{FF2B5EF4-FFF2-40B4-BE49-F238E27FC236}">
                <a16:creationId xmlns:a16="http://schemas.microsoft.com/office/drawing/2014/main" id="{CE8401AA-C196-3463-B888-F7E0DCA4123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101442" y="4237309"/>
            <a:ext cx="1402971" cy="1402971"/>
          </a:xfrm>
          <a:prstGeom prst="rect">
            <a:avLst/>
          </a:prstGeom>
          <a:noFill/>
          <a:extLst>
            <a:ext uri="{909E8E84-426E-40DD-AFC4-6F175D3DCCD1}">
              <a14:hiddenFill xmlns:a14="http://schemas.microsoft.com/office/drawing/2010/main">
                <a:solidFill>
                  <a:srgbClr val="FFFFFF"/>
                </a:solidFill>
              </a14:hiddenFill>
            </a:ext>
          </a:extLst>
        </p:spPr>
      </p:pic>
      <p:sp>
        <p:nvSpPr>
          <p:cNvPr id="17" name="文字方塊 16">
            <a:extLst>
              <a:ext uri="{FF2B5EF4-FFF2-40B4-BE49-F238E27FC236}">
                <a16:creationId xmlns:a16="http://schemas.microsoft.com/office/drawing/2014/main" id="{F3CA24BB-EAED-403F-9D14-8A87741E2397}"/>
              </a:ext>
            </a:extLst>
          </p:cNvPr>
          <p:cNvSpPr txBox="1"/>
          <p:nvPr/>
        </p:nvSpPr>
        <p:spPr>
          <a:xfrm>
            <a:off x="6860133" y="5152413"/>
            <a:ext cx="1338828" cy="369332"/>
          </a:xfrm>
          <a:prstGeom prst="rect">
            <a:avLst/>
          </a:prstGeom>
          <a:noFill/>
        </p:spPr>
        <p:txBody>
          <a:bodyPr wrap="none" rtlCol="0">
            <a:spAutoFit/>
          </a:bodyPr>
          <a:lstStyle/>
          <a:p>
            <a:pPr fontAlgn="auto">
              <a:spcBef>
                <a:spcPts val="0"/>
              </a:spcBef>
              <a:spcAft>
                <a:spcPts val="0"/>
              </a:spcAft>
            </a:pPr>
            <a:r>
              <a:rPr kumimoji="0" lang="zh-TW" altLang="en-US" sz="1800" b="0" dirty="0">
                <a:solidFill>
                  <a:prstClr val="black"/>
                </a:solidFill>
                <a:latin typeface="Calibri"/>
                <a:ea typeface="新細明體"/>
              </a:rPr>
              <a:t>通常知識者</a:t>
            </a:r>
          </a:p>
        </p:txBody>
      </p:sp>
    </p:spTree>
    <p:extLst>
      <p:ext uri="{BB962C8B-B14F-4D97-AF65-F5344CB8AC3E}">
        <p14:creationId xmlns:p14="http://schemas.microsoft.com/office/powerpoint/2010/main" val="36486227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進步性的考量因素</a:t>
            </a:r>
          </a:p>
        </p:txBody>
      </p:sp>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pPr>
                <a:defRPr/>
              </a:pPr>
              <a:t>85</a:t>
            </a:fld>
            <a:endParaRPr lang="zh-TW" altLang="en-US"/>
          </a:p>
        </p:txBody>
      </p:sp>
      <p:grpSp>
        <p:nvGrpSpPr>
          <p:cNvPr id="3" name="群組 2">
            <a:extLst>
              <a:ext uri="{FF2B5EF4-FFF2-40B4-BE49-F238E27FC236}">
                <a16:creationId xmlns:a16="http://schemas.microsoft.com/office/drawing/2014/main" id="{60873AF1-2D03-FAA3-A99F-695174E60A85}"/>
              </a:ext>
            </a:extLst>
          </p:cNvPr>
          <p:cNvGrpSpPr/>
          <p:nvPr/>
        </p:nvGrpSpPr>
        <p:grpSpPr>
          <a:xfrm>
            <a:off x="323528" y="1478296"/>
            <a:ext cx="8712968" cy="3318856"/>
            <a:chOff x="323528" y="1478296"/>
            <a:chExt cx="8712968" cy="3318856"/>
          </a:xfrm>
        </p:grpSpPr>
        <p:sp>
          <p:nvSpPr>
            <p:cNvPr id="6" name="矩形 5"/>
            <p:cNvSpPr/>
            <p:nvPr/>
          </p:nvSpPr>
          <p:spPr>
            <a:xfrm>
              <a:off x="323528" y="1484784"/>
              <a:ext cx="3816424" cy="33123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fontAlgn="auto">
                <a:spcBef>
                  <a:spcPts val="0"/>
                </a:spcBef>
                <a:spcAft>
                  <a:spcPts val="0"/>
                </a:spcAft>
              </a:pPr>
              <a:endParaRPr kumimoji="0" lang="zh-TW" altLang="en-US" sz="1800" b="0" dirty="0">
                <a:solidFill>
                  <a:prstClr val="black"/>
                </a:solidFill>
              </a:endParaRPr>
            </a:p>
          </p:txBody>
        </p:sp>
        <p:sp>
          <p:nvSpPr>
            <p:cNvPr id="7" name="圓角矩形 6"/>
            <p:cNvSpPr/>
            <p:nvPr/>
          </p:nvSpPr>
          <p:spPr>
            <a:xfrm>
              <a:off x="467544" y="1556792"/>
              <a:ext cx="3312368" cy="3600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fontAlgn="auto">
                <a:spcBef>
                  <a:spcPts val="0"/>
                </a:spcBef>
                <a:spcAft>
                  <a:spcPts val="0"/>
                </a:spcAft>
              </a:pPr>
              <a:r>
                <a:rPr kumimoji="0" lang="zh-TW" altLang="en-US" sz="1800" b="0" dirty="0">
                  <a:solidFill>
                    <a:prstClr val="black"/>
                  </a:solidFill>
                </a:rPr>
                <a:t>否定進步性因素</a:t>
              </a:r>
            </a:p>
          </p:txBody>
        </p:sp>
        <p:sp>
          <p:nvSpPr>
            <p:cNvPr id="8" name="圓角矩形 7"/>
            <p:cNvSpPr/>
            <p:nvPr/>
          </p:nvSpPr>
          <p:spPr>
            <a:xfrm>
              <a:off x="323528" y="1994859"/>
              <a:ext cx="3816424" cy="259228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auto">
                <a:spcBef>
                  <a:spcPts val="0"/>
                </a:spcBef>
                <a:spcAft>
                  <a:spcPts val="0"/>
                </a:spcAft>
                <a:buFont typeface="Wingdings" panose="05000000000000000000" pitchFamily="2" charset="2"/>
                <a:buChar char="u"/>
              </a:pPr>
              <a:r>
                <a:rPr kumimoji="0" lang="zh-TW" altLang="en-US" sz="2000" b="0" dirty="0">
                  <a:solidFill>
                    <a:prstClr val="black"/>
                  </a:solidFill>
                  <a:latin typeface="微軟正黑體" panose="020B0604030504040204" pitchFamily="34" charset="-120"/>
                  <a:ea typeface="微軟正黑體" panose="020B0604030504040204" pitchFamily="34" charset="-120"/>
                </a:rPr>
                <a:t>有動機結合複數引證</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742950" lvl="1" indent="-285750" fontAlgn="auto">
                <a:spcBef>
                  <a:spcPts val="0"/>
                </a:spcBef>
                <a:spcAft>
                  <a:spcPts val="0"/>
                </a:spcAft>
                <a:buFont typeface="Wingdings" panose="05000000000000000000" pitchFamily="2" charset="2"/>
                <a:buChar char="Ø"/>
              </a:pPr>
              <a:r>
                <a:rPr kumimoji="0" lang="zh-TW" altLang="en-US" sz="2000" b="0" dirty="0">
                  <a:solidFill>
                    <a:prstClr val="black"/>
                  </a:solidFill>
                  <a:latin typeface="微軟正黑體" panose="020B0604030504040204" pitchFamily="34" charset="-120"/>
                  <a:ea typeface="微軟正黑體" panose="020B0604030504040204" pitchFamily="34" charset="-120"/>
                </a:rPr>
                <a:t>技術領域之關連性</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742950" lvl="1" indent="-285750" fontAlgn="auto">
                <a:spcBef>
                  <a:spcPts val="0"/>
                </a:spcBef>
                <a:spcAft>
                  <a:spcPts val="0"/>
                </a:spcAft>
                <a:buFont typeface="Wingdings" panose="05000000000000000000" pitchFamily="2" charset="2"/>
                <a:buChar char="Ø"/>
              </a:pPr>
              <a:r>
                <a:rPr kumimoji="0" lang="zh-TW" altLang="en-US" sz="2000" b="0" dirty="0">
                  <a:solidFill>
                    <a:prstClr val="black"/>
                  </a:solidFill>
                  <a:latin typeface="微軟正黑體" panose="020B0604030504040204" pitchFamily="34" charset="-120"/>
                  <a:ea typeface="微軟正黑體" panose="020B0604030504040204" pitchFamily="34" charset="-120"/>
                </a:rPr>
                <a:t>所欲解決問題之共通性</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742950" lvl="1" indent="-285750" fontAlgn="auto">
                <a:spcBef>
                  <a:spcPts val="0"/>
                </a:spcBef>
                <a:spcAft>
                  <a:spcPts val="0"/>
                </a:spcAft>
                <a:buFont typeface="Wingdings" panose="05000000000000000000" pitchFamily="2" charset="2"/>
                <a:buChar char="Ø"/>
              </a:pPr>
              <a:r>
                <a:rPr kumimoji="0" lang="zh-TW" altLang="en-US" sz="2000" b="0" dirty="0">
                  <a:solidFill>
                    <a:prstClr val="black"/>
                  </a:solidFill>
                  <a:latin typeface="微軟正黑體" panose="020B0604030504040204" pitchFamily="34" charset="-120"/>
                  <a:ea typeface="微軟正黑體" panose="020B0604030504040204" pitchFamily="34" charset="-120"/>
                </a:rPr>
                <a:t>功能或作用支共通性</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742950" lvl="1" indent="-285750" fontAlgn="auto">
                <a:spcBef>
                  <a:spcPts val="0"/>
                </a:spcBef>
                <a:spcAft>
                  <a:spcPts val="0"/>
                </a:spcAft>
                <a:buFont typeface="Wingdings" panose="05000000000000000000" pitchFamily="2" charset="2"/>
                <a:buChar char="Ø"/>
              </a:pPr>
              <a:r>
                <a:rPr kumimoji="0" lang="zh-TW" altLang="en-US" sz="2000" b="0" dirty="0">
                  <a:solidFill>
                    <a:prstClr val="black"/>
                  </a:solidFill>
                  <a:latin typeface="微軟正黑體" panose="020B0604030504040204" pitchFamily="34" charset="-120"/>
                  <a:ea typeface="微軟正黑體" panose="020B0604030504040204" pitchFamily="34" charset="-120"/>
                </a:rPr>
                <a:t>教示或建議</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285750" indent="-285750" fontAlgn="auto">
                <a:spcBef>
                  <a:spcPts val="0"/>
                </a:spcBef>
                <a:spcAft>
                  <a:spcPts val="0"/>
                </a:spcAft>
                <a:buFont typeface="Wingdings" panose="05000000000000000000" pitchFamily="2" charset="2"/>
                <a:buChar char="u"/>
              </a:pPr>
              <a:r>
                <a:rPr kumimoji="0" lang="zh-TW" altLang="en-US" sz="2000" b="0" dirty="0">
                  <a:solidFill>
                    <a:prstClr val="black"/>
                  </a:solidFill>
                  <a:latin typeface="微軟正黑體" panose="020B0604030504040204" pitchFamily="34" charset="-120"/>
                  <a:ea typeface="微軟正黑體" panose="020B0604030504040204" pitchFamily="34" charset="-120"/>
                </a:rPr>
                <a:t>簡單變更</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285750" indent="-285750" fontAlgn="auto">
                <a:spcBef>
                  <a:spcPts val="0"/>
                </a:spcBef>
                <a:spcAft>
                  <a:spcPts val="0"/>
                </a:spcAft>
                <a:buFont typeface="Wingdings" panose="05000000000000000000" pitchFamily="2" charset="2"/>
                <a:buChar char="u"/>
              </a:pPr>
              <a:r>
                <a:rPr kumimoji="0" lang="zh-TW" altLang="en-US" sz="2000" b="0" dirty="0">
                  <a:solidFill>
                    <a:prstClr val="black"/>
                  </a:solidFill>
                  <a:latin typeface="微軟正黑體" panose="020B0604030504040204" pitchFamily="34" charset="-120"/>
                  <a:ea typeface="微軟正黑體" panose="020B0604030504040204" pitchFamily="34" charset="-120"/>
                </a:rPr>
                <a:t>單純拼湊</a:t>
              </a:r>
            </a:p>
          </p:txBody>
        </p:sp>
        <p:sp>
          <p:nvSpPr>
            <p:cNvPr id="9" name="矩形 8"/>
            <p:cNvSpPr/>
            <p:nvPr/>
          </p:nvSpPr>
          <p:spPr>
            <a:xfrm>
              <a:off x="5076056" y="1478296"/>
              <a:ext cx="3816424" cy="331236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fontAlgn="auto">
                <a:spcBef>
                  <a:spcPts val="0"/>
                </a:spcBef>
                <a:spcAft>
                  <a:spcPts val="0"/>
                </a:spcAft>
              </a:pPr>
              <a:endParaRPr kumimoji="0" lang="zh-TW" altLang="en-US" sz="1800" b="0" dirty="0">
                <a:solidFill>
                  <a:prstClr val="black"/>
                </a:solidFill>
              </a:endParaRPr>
            </a:p>
          </p:txBody>
        </p:sp>
        <p:sp>
          <p:nvSpPr>
            <p:cNvPr id="10" name="圓角矩形 9"/>
            <p:cNvSpPr/>
            <p:nvPr/>
          </p:nvSpPr>
          <p:spPr>
            <a:xfrm>
              <a:off x="5220072" y="1550304"/>
              <a:ext cx="3312368" cy="36004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fontAlgn="auto">
                <a:spcBef>
                  <a:spcPts val="0"/>
                </a:spcBef>
                <a:spcAft>
                  <a:spcPts val="0"/>
                </a:spcAft>
              </a:pPr>
              <a:r>
                <a:rPr kumimoji="0" lang="zh-TW" altLang="en-US" sz="1800" b="0" dirty="0">
                  <a:solidFill>
                    <a:prstClr val="black"/>
                  </a:solidFill>
                </a:rPr>
                <a:t>肯定進步性因素</a:t>
              </a:r>
            </a:p>
          </p:txBody>
        </p:sp>
        <p:sp>
          <p:nvSpPr>
            <p:cNvPr id="11" name="圓角矩形 10"/>
            <p:cNvSpPr/>
            <p:nvPr/>
          </p:nvSpPr>
          <p:spPr>
            <a:xfrm>
              <a:off x="4932040" y="1988371"/>
              <a:ext cx="4104456" cy="259228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auto">
                <a:spcBef>
                  <a:spcPts val="0"/>
                </a:spcBef>
                <a:spcAft>
                  <a:spcPts val="0"/>
                </a:spcAft>
                <a:buFont typeface="Wingdings" panose="05000000000000000000" pitchFamily="2" charset="2"/>
                <a:buChar char="u"/>
              </a:pPr>
              <a:r>
                <a:rPr kumimoji="0" lang="zh-TW" altLang="en-US" sz="2000" b="0" dirty="0">
                  <a:solidFill>
                    <a:prstClr val="black"/>
                  </a:solidFill>
                  <a:latin typeface="微軟正黑體" panose="020B0604030504040204" pitchFamily="34" charset="-120"/>
                  <a:ea typeface="微軟正黑體" panose="020B0604030504040204" pitchFamily="34" charset="-120"/>
                </a:rPr>
                <a:t>反向教示</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285750" indent="-285750" fontAlgn="auto">
                <a:spcBef>
                  <a:spcPts val="0"/>
                </a:spcBef>
                <a:spcAft>
                  <a:spcPts val="0"/>
                </a:spcAft>
                <a:buFont typeface="Wingdings" panose="05000000000000000000" pitchFamily="2" charset="2"/>
                <a:buChar char="u"/>
              </a:pPr>
              <a:r>
                <a:rPr kumimoji="0" lang="zh-TW" altLang="en-US" sz="2000" b="0" dirty="0">
                  <a:solidFill>
                    <a:prstClr val="black"/>
                  </a:solidFill>
                  <a:latin typeface="微軟正黑體" panose="020B0604030504040204" pitchFamily="34" charset="-120"/>
                  <a:ea typeface="微軟正黑體" panose="020B0604030504040204" pitchFamily="34" charset="-120"/>
                </a:rPr>
                <a:t>有利功效</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285750" indent="-285750" fontAlgn="auto">
                <a:spcBef>
                  <a:spcPts val="0"/>
                </a:spcBef>
                <a:spcAft>
                  <a:spcPts val="0"/>
                </a:spcAft>
                <a:buFont typeface="Wingdings" panose="05000000000000000000" pitchFamily="2" charset="2"/>
                <a:buChar char="u"/>
              </a:pPr>
              <a:r>
                <a:rPr kumimoji="0" lang="zh-TW" altLang="en-US" sz="2000" b="0" dirty="0">
                  <a:solidFill>
                    <a:prstClr val="black"/>
                  </a:solidFill>
                  <a:latin typeface="微軟正黑體" panose="020B0604030504040204" pitchFamily="34" charset="-120"/>
                  <a:ea typeface="微軟正黑體" panose="020B0604030504040204" pitchFamily="34" charset="-120"/>
                </a:rPr>
                <a:t>輔助性判斷因素</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742950" lvl="1" indent="-285750" fontAlgn="auto">
                <a:spcBef>
                  <a:spcPts val="0"/>
                </a:spcBef>
                <a:spcAft>
                  <a:spcPts val="0"/>
                </a:spcAft>
                <a:buFont typeface="Wingdings" panose="05000000000000000000" pitchFamily="2" charset="2"/>
                <a:buChar char="Ø"/>
              </a:pPr>
              <a:r>
                <a:rPr kumimoji="0" lang="zh-TW" altLang="en-US" sz="2000" b="0" dirty="0">
                  <a:solidFill>
                    <a:prstClr val="black"/>
                  </a:solidFill>
                  <a:latin typeface="微軟正黑體" panose="020B0604030504040204" pitchFamily="34" charset="-120"/>
                  <a:ea typeface="微軟正黑體" panose="020B0604030504040204" pitchFamily="34" charset="-120"/>
                </a:rPr>
                <a:t>發明具有無法預期之功效</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742950" lvl="1" indent="-285750" fontAlgn="auto">
                <a:spcBef>
                  <a:spcPts val="0"/>
                </a:spcBef>
                <a:spcAft>
                  <a:spcPts val="0"/>
                </a:spcAft>
                <a:buFont typeface="Wingdings" panose="05000000000000000000" pitchFamily="2" charset="2"/>
                <a:buChar char="Ø"/>
              </a:pPr>
              <a:r>
                <a:rPr kumimoji="0" lang="zh-TW" altLang="en-US" sz="2000" b="0" dirty="0">
                  <a:solidFill>
                    <a:prstClr val="black"/>
                  </a:solidFill>
                  <a:latin typeface="微軟正黑體" panose="020B0604030504040204" pitchFamily="34" charset="-120"/>
                  <a:ea typeface="微軟正黑體" panose="020B0604030504040204" pitchFamily="34" charset="-120"/>
                </a:rPr>
                <a:t>發明解決長期存在的問題</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742950" lvl="1" indent="-285750" fontAlgn="auto">
                <a:spcBef>
                  <a:spcPts val="0"/>
                </a:spcBef>
                <a:spcAft>
                  <a:spcPts val="0"/>
                </a:spcAft>
                <a:buFont typeface="Wingdings" panose="05000000000000000000" pitchFamily="2" charset="2"/>
                <a:buChar char="Ø"/>
              </a:pPr>
              <a:r>
                <a:rPr kumimoji="0" lang="zh-TW" altLang="en-US" sz="2000" b="0" dirty="0">
                  <a:solidFill>
                    <a:prstClr val="black"/>
                  </a:solidFill>
                  <a:latin typeface="微軟正黑體" panose="020B0604030504040204" pitchFamily="34" charset="-120"/>
                  <a:ea typeface="微軟正黑體" panose="020B0604030504040204" pitchFamily="34" charset="-120"/>
                </a:rPr>
                <a:t>發明克服技術偏見</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a:p>
              <a:pPr marL="742950" lvl="1" indent="-285750" fontAlgn="auto">
                <a:spcBef>
                  <a:spcPts val="0"/>
                </a:spcBef>
                <a:spcAft>
                  <a:spcPts val="0"/>
                </a:spcAft>
                <a:buFont typeface="Wingdings" panose="05000000000000000000" pitchFamily="2" charset="2"/>
                <a:buChar char="Ø"/>
              </a:pPr>
              <a:r>
                <a:rPr kumimoji="0" lang="zh-TW" altLang="en-US" sz="2000" b="0" dirty="0">
                  <a:solidFill>
                    <a:prstClr val="black"/>
                  </a:solidFill>
                  <a:latin typeface="微軟正黑體" panose="020B0604030504040204" pitchFamily="34" charset="-120"/>
                  <a:ea typeface="微軟正黑體" panose="020B0604030504040204" pitchFamily="34" charset="-120"/>
                </a:rPr>
                <a:t>發明獲得商業上的成功</a:t>
              </a:r>
              <a:endParaRPr kumimoji="0" lang="en-US" altLang="zh-TW" sz="2000" b="0" dirty="0">
                <a:solidFill>
                  <a:prstClr val="black"/>
                </a:solidFill>
                <a:latin typeface="微軟正黑體" panose="020B0604030504040204" pitchFamily="34" charset="-120"/>
                <a:ea typeface="微軟正黑體" panose="020B0604030504040204" pitchFamily="34" charset="-120"/>
              </a:endParaRPr>
            </a:p>
          </p:txBody>
        </p:sp>
        <p:sp>
          <p:nvSpPr>
            <p:cNvPr id="12" name="左-右雙向箭號 11"/>
            <p:cNvSpPr/>
            <p:nvPr/>
          </p:nvSpPr>
          <p:spPr>
            <a:xfrm>
              <a:off x="4229743" y="2806371"/>
              <a:ext cx="780840" cy="4846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kumimoji="0" lang="zh-TW" altLang="en-US" sz="1800" b="0">
                <a:solidFill>
                  <a:prstClr val="white"/>
                </a:solidFill>
              </a:endParaRPr>
            </a:p>
          </p:txBody>
        </p:sp>
      </p:grpSp>
    </p:spTree>
    <p:extLst>
      <p:ext uri="{BB962C8B-B14F-4D97-AF65-F5344CB8AC3E}">
        <p14:creationId xmlns:p14="http://schemas.microsoft.com/office/powerpoint/2010/main" val="11159303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進步性</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pPr/>
              <a:t>86</a:t>
            </a:fld>
            <a:endParaRPr lang="zh-TW" altLang="en-US" dirty="0"/>
          </a:p>
        </p:txBody>
      </p:sp>
      <p:sp>
        <p:nvSpPr>
          <p:cNvPr id="24" name="文字方塊 23"/>
          <p:cNvSpPr txBox="1"/>
          <p:nvPr/>
        </p:nvSpPr>
        <p:spPr>
          <a:xfrm>
            <a:off x="535426" y="764704"/>
            <a:ext cx="8050575" cy="954107"/>
          </a:xfrm>
          <a:prstGeom prst="rect">
            <a:avLst/>
          </a:prstGeom>
          <a:noFill/>
        </p:spPr>
        <p:txBody>
          <a:bodyPr wrap="square" rtlCol="0">
            <a:spAutoFit/>
          </a:bodyPr>
          <a:lstStyle/>
          <a:p>
            <a:r>
              <a:rPr lang="zh-TW" altLang="en-US" sz="2800" b="1" dirty="0">
                <a:latin typeface="微軟正黑體" panose="020B0604030504040204" pitchFamily="34" charset="-120"/>
                <a:ea typeface="微軟正黑體" panose="020B0604030504040204" pitchFamily="34" charset="-120"/>
              </a:rPr>
              <a:t>該發明所屬技術領域中具有通常知識者，依申請前之先前技術所能</a:t>
            </a:r>
            <a:r>
              <a:rPr lang="zh-TW" altLang="en-US" sz="2800" b="1" u="sng" dirty="0">
                <a:solidFill>
                  <a:srgbClr val="FF0000"/>
                </a:solidFill>
                <a:latin typeface="微軟正黑體" panose="020B0604030504040204" pitchFamily="34" charset="-120"/>
                <a:ea typeface="微軟正黑體" panose="020B0604030504040204" pitchFamily="34" charset="-120"/>
              </a:rPr>
              <a:t>輕易完成</a:t>
            </a:r>
            <a:r>
              <a:rPr lang="zh-TW" altLang="en-US" sz="2800" b="1" dirty="0">
                <a:latin typeface="微軟正黑體" panose="020B0604030504040204" pitchFamily="34" charset="-120"/>
                <a:ea typeface="微軟正黑體" panose="020B0604030504040204" pitchFamily="34" charset="-120"/>
              </a:rPr>
              <a:t>時，稱該發明不具進步性</a:t>
            </a:r>
          </a:p>
        </p:txBody>
      </p:sp>
      <p:pic>
        <p:nvPicPr>
          <p:cNvPr id="13314" name="Picture 2" descr="钢笔蓝笔伸缩笔- Pixabay上的免费图片- Pixabay"/>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3568" y="1988840"/>
            <a:ext cx="1440159" cy="1433759"/>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计时码表计时器钟- 免费矢量图形Pixabay - Pixabay"/>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77536" y="1954891"/>
            <a:ext cx="1184820" cy="127807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钢笔蓝笔伸缩笔- Pixabay上的免费图片- Pixabay"/>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846872" y="2040300"/>
            <a:ext cx="1728192" cy="1433759"/>
          </a:xfrm>
          <a:prstGeom prst="rect">
            <a:avLst/>
          </a:prstGeom>
          <a:noFill/>
          <a:extLst>
            <a:ext uri="{909E8E84-426E-40DD-AFC4-6F175D3DCCD1}">
              <a14:hiddenFill xmlns:a14="http://schemas.microsoft.com/office/drawing/2010/main">
                <a:solidFill>
                  <a:srgbClr val="FFFFFF"/>
                </a:solidFill>
              </a14:hiddenFill>
            </a:ext>
          </a:extLst>
        </p:spPr>
      </p:pic>
      <p:pic>
        <p:nvPicPr>
          <p:cNvPr id="13317" name="Picture 5"/>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rot="19101750">
            <a:off x="6419318" y="2742709"/>
            <a:ext cx="505547" cy="9825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0" name="加號 9"/>
          <p:cNvSpPr/>
          <p:nvPr/>
        </p:nvSpPr>
        <p:spPr>
          <a:xfrm>
            <a:off x="2195736" y="2348879"/>
            <a:ext cx="720080" cy="695493"/>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向右箭號 18"/>
          <p:cNvSpPr/>
          <p:nvPr/>
        </p:nvSpPr>
        <p:spPr>
          <a:xfrm>
            <a:off x="5148064" y="2463403"/>
            <a:ext cx="489204" cy="484632"/>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319" name="Picture 7" descr="鼠指点设备- 免费矢量图形Pixabay - Pixabay"/>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82181" y="4581128"/>
            <a:ext cx="1842931" cy="161818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计时码表计时器钟- 免费矢量图形Pixabay - Pixabay"/>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635896" y="4581128"/>
            <a:ext cx="1184820" cy="1278070"/>
          </a:xfrm>
          <a:prstGeom prst="rect">
            <a:avLst/>
          </a:prstGeom>
          <a:noFill/>
          <a:extLst>
            <a:ext uri="{909E8E84-426E-40DD-AFC4-6F175D3DCCD1}">
              <a14:hiddenFill xmlns:a14="http://schemas.microsoft.com/office/drawing/2010/main">
                <a:solidFill>
                  <a:srgbClr val="FFFFFF"/>
                </a:solidFill>
              </a14:hiddenFill>
            </a:ext>
          </a:extLst>
        </p:spPr>
      </p:pic>
      <p:sp>
        <p:nvSpPr>
          <p:cNvPr id="34" name="加號 33"/>
          <p:cNvSpPr/>
          <p:nvPr/>
        </p:nvSpPr>
        <p:spPr>
          <a:xfrm>
            <a:off x="2600887" y="4975116"/>
            <a:ext cx="720080" cy="695493"/>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向右箭號 34"/>
          <p:cNvSpPr/>
          <p:nvPr/>
        </p:nvSpPr>
        <p:spPr>
          <a:xfrm>
            <a:off x="5148064" y="5080546"/>
            <a:ext cx="489204" cy="484632"/>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6" name="Picture 7" descr="鼠指点设备- 免费矢量图形Pixabay - Pixabay"/>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6012160" y="4377195"/>
            <a:ext cx="2052861" cy="180251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计时码表计时器钟- 免费矢量图形Pixabay - Pixabay"/>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610221" y="4799692"/>
            <a:ext cx="260363" cy="280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8274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進步性案例</a:t>
            </a:r>
          </a:p>
        </p:txBody>
      </p:sp>
      <p:sp>
        <p:nvSpPr>
          <p:cNvPr id="3" name="內容版面配置區 2"/>
          <p:cNvSpPr>
            <a:spLocks noGrp="1"/>
          </p:cNvSpPr>
          <p:nvPr>
            <p:ph idx="1"/>
          </p:nvPr>
        </p:nvSpPr>
        <p:spPr>
          <a:xfrm>
            <a:off x="107504" y="828035"/>
            <a:ext cx="8856984" cy="504056"/>
          </a:xfrm>
        </p:spPr>
        <p:txBody>
          <a:bodyPr>
            <a:noAutofit/>
          </a:bodyPr>
          <a:lstStyle/>
          <a:p>
            <a:r>
              <a:rPr lang="zh-TW" altLang="en-US" sz="2800" b="0" dirty="0"/>
              <a:t>一種健康管理方法</a:t>
            </a:r>
            <a:endParaRPr lang="zh-TW" altLang="en-US" sz="2800"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87</a:t>
            </a:fld>
            <a:endParaRPr lang="zh-TW" altLang="en-US" dirty="0">
              <a:solidFill>
                <a:prstClr val="black">
                  <a:tint val="75000"/>
                </a:prstClr>
              </a:solidFill>
            </a:endParaRPr>
          </a:p>
        </p:txBody>
      </p:sp>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220072" y="908720"/>
            <a:ext cx="3528392" cy="2673061"/>
          </a:xfrm>
          <a:prstGeom prst="rect">
            <a:avLst/>
          </a:prstGeom>
          <a:noFill/>
          <a:ln w="9525">
            <a:solidFill>
              <a:schemeClr val="tx1"/>
            </a:solidFill>
            <a:miter lim="800000"/>
            <a:headEnd/>
            <a:tailEnd/>
          </a:ln>
        </p:spPr>
      </p:pic>
      <p:sp>
        <p:nvSpPr>
          <p:cNvPr id="6" name="矩形 5"/>
          <p:cNvSpPr/>
          <p:nvPr/>
        </p:nvSpPr>
        <p:spPr>
          <a:xfrm>
            <a:off x="179512" y="1719555"/>
            <a:ext cx="4968552" cy="5078313"/>
          </a:xfrm>
          <a:prstGeom prst="rect">
            <a:avLst/>
          </a:prstGeom>
        </p:spPr>
        <p:txBody>
          <a:bodyPr wrap="square">
            <a:sp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一種健康管理方法，包括：</a:t>
            </a:r>
            <a:endParaRPr lang="en-US" altLang="zh-TW" dirty="0">
              <a:latin typeface="微軟正黑體" panose="020B0604030504040204" pitchFamily="34" charset="-120"/>
              <a:ea typeface="微軟正黑體" panose="020B0604030504040204" pitchFamily="34" charset="-120"/>
            </a:endParaRPr>
          </a:p>
          <a:p>
            <a:pPr indent="447675"/>
            <a:r>
              <a:rPr lang="zh-TW" altLang="en-US" dirty="0">
                <a:latin typeface="微軟正黑體" panose="020B0604030504040204" pitchFamily="34" charset="-120"/>
                <a:ea typeface="微軟正黑體" panose="020B0604030504040204" pitchFamily="34" charset="-120"/>
              </a:rPr>
              <a:t>儲存一使用者之一</a:t>
            </a:r>
            <a:r>
              <a:rPr lang="zh-TW" altLang="en-US" u="sng" dirty="0">
                <a:latin typeface="微軟正黑體" panose="020B0604030504040204" pitchFamily="34" charset="-120"/>
                <a:ea typeface="微軟正黑體" panose="020B0604030504040204" pitchFamily="34" charset="-120"/>
              </a:rPr>
              <a:t>基本資訊</a:t>
            </a:r>
            <a:r>
              <a:rPr lang="zh-TW" altLang="en-US" dirty="0">
                <a:latin typeface="微軟正黑體" panose="020B0604030504040204" pitchFamily="34" charset="-120"/>
                <a:ea typeface="微軟正黑體" panose="020B0604030504040204" pitchFamily="34" charset="-120"/>
              </a:rPr>
              <a:t>於一資料庫系統；</a:t>
            </a:r>
            <a:endParaRPr lang="en-US" altLang="zh-TW" dirty="0">
              <a:latin typeface="微軟正黑體" panose="020B0604030504040204" pitchFamily="34" charset="-120"/>
              <a:ea typeface="微軟正黑體" panose="020B0604030504040204" pitchFamily="34" charset="-120"/>
            </a:endParaRPr>
          </a:p>
          <a:p>
            <a:pPr indent="447675"/>
            <a:r>
              <a:rPr lang="zh-TW" altLang="en-US" dirty="0">
                <a:latin typeface="微軟正黑體" panose="020B0604030504040204" pitchFamily="34" charset="-120"/>
                <a:ea typeface="微軟正黑體" panose="020B0604030504040204" pitchFamily="34" charset="-120"/>
              </a:rPr>
              <a:t>依據該基本資訊得出一</a:t>
            </a:r>
            <a:r>
              <a:rPr lang="zh-TW" altLang="en-US" u="sng" dirty="0">
                <a:latin typeface="微軟正黑體" panose="020B0604030504040204" pitchFamily="34" charset="-120"/>
                <a:ea typeface="微軟正黑體" panose="020B0604030504040204" pitchFamily="34" charset="-120"/>
              </a:rPr>
              <a:t>運動資訊</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indent="447675"/>
            <a:r>
              <a:rPr lang="zh-TW" altLang="en-US" dirty="0">
                <a:latin typeface="微軟正黑體" panose="020B0604030504040204" pitchFamily="34" charset="-120"/>
                <a:ea typeface="微軟正黑體" panose="020B0604030504040204" pitchFamily="34" charset="-120"/>
              </a:rPr>
              <a:t>傳送該運動資訊至該使用者之一可攜式通訊裝置；以及</a:t>
            </a:r>
            <a:endParaRPr lang="en-US" altLang="zh-TW" dirty="0">
              <a:latin typeface="微軟正黑體" panose="020B0604030504040204" pitchFamily="34" charset="-120"/>
              <a:ea typeface="微軟正黑體" panose="020B0604030504040204" pitchFamily="34" charset="-120"/>
            </a:endParaRPr>
          </a:p>
          <a:p>
            <a:pPr indent="447675"/>
            <a:r>
              <a:rPr lang="zh-TW" altLang="en-US" dirty="0">
                <a:latin typeface="微軟正黑體" panose="020B0604030504040204" pitchFamily="34" charset="-120"/>
                <a:ea typeface="微軟正黑體" panose="020B0604030504040204" pitchFamily="34" charset="-120"/>
              </a:rPr>
              <a:t>傳送一</a:t>
            </a:r>
            <a:r>
              <a:rPr lang="zh-TW" altLang="en-US" u="sng" dirty="0">
                <a:latin typeface="微軟正黑體" panose="020B0604030504040204" pitchFamily="34" charset="-120"/>
                <a:ea typeface="微軟正黑體" panose="020B0604030504040204" pitchFamily="34" charset="-120"/>
              </a:rPr>
              <a:t>消耗資訊</a:t>
            </a:r>
            <a:r>
              <a:rPr lang="zh-TW" altLang="en-US" dirty="0">
                <a:latin typeface="微軟正黑體" panose="020B0604030504040204" pitchFamily="34" charset="-120"/>
                <a:ea typeface="微軟正黑體" panose="020B0604030504040204" pitchFamily="34" charset="-120"/>
              </a:rPr>
              <a:t>至該資料庫系統，以更新該基本資訊。</a:t>
            </a:r>
            <a:br>
              <a:rPr lang="zh-TW" altLang="en-US" dirty="0">
                <a:latin typeface="微軟正黑體" panose="020B0604030504040204" pitchFamily="34" charset="-120"/>
                <a:ea typeface="微軟正黑體" panose="020B0604030504040204" pitchFamily="34" charset="-120"/>
              </a:rPr>
            </a:br>
            <a:br>
              <a:rPr lang="zh-TW" altLang="en-US" dirty="0">
                <a:latin typeface="微軟正黑體" panose="020B0604030504040204" pitchFamily="34" charset="-120"/>
                <a:ea typeface="微軟正黑體" panose="020B0604030504040204" pitchFamily="34" charset="-120"/>
              </a:rPr>
            </a:br>
            <a:r>
              <a:rPr lang="en-US" altLang="zh-TW" dirty="0">
                <a:latin typeface="微軟正黑體" panose="020B0604030504040204" pitchFamily="34" charset="-120"/>
                <a:ea typeface="微軟正黑體" panose="020B0604030504040204" pitchFamily="34" charset="-120"/>
              </a:rPr>
              <a:t>14.</a:t>
            </a:r>
            <a:r>
              <a:rPr lang="zh-TW" altLang="en-US" dirty="0">
                <a:latin typeface="微軟正黑體" panose="020B0604030504040204" pitchFamily="34" charset="-120"/>
                <a:ea typeface="微軟正黑體" panose="020B0604030504040204" pitchFamily="34" charset="-120"/>
              </a:rPr>
              <a:t>一種健康管理方法，包括：</a:t>
            </a:r>
            <a:endParaRPr lang="en-US" altLang="zh-TW" dirty="0">
              <a:latin typeface="微軟正黑體" panose="020B0604030504040204" pitchFamily="34" charset="-120"/>
              <a:ea typeface="微軟正黑體" panose="020B0604030504040204" pitchFamily="34" charset="-120"/>
            </a:endParaRPr>
          </a:p>
          <a:p>
            <a:pPr indent="447675"/>
            <a:r>
              <a:rPr lang="zh-TW" altLang="en-US" dirty="0">
                <a:latin typeface="微軟正黑體" panose="020B0604030504040204" pitchFamily="34" charset="-120"/>
                <a:ea typeface="微軟正黑體" panose="020B0604030504040204" pitchFamily="34" charset="-120"/>
              </a:rPr>
              <a:t>儲存一使用者之一</a:t>
            </a:r>
            <a:r>
              <a:rPr lang="zh-TW" altLang="en-US" u="sng" dirty="0">
                <a:latin typeface="微軟正黑體" panose="020B0604030504040204" pitchFamily="34" charset="-120"/>
                <a:ea typeface="微軟正黑體" panose="020B0604030504040204" pitchFamily="34" charset="-120"/>
              </a:rPr>
              <a:t>基本資訊</a:t>
            </a:r>
            <a:r>
              <a:rPr lang="zh-TW" altLang="en-US" dirty="0">
                <a:latin typeface="微軟正黑體" panose="020B0604030504040204" pitchFamily="34" charset="-120"/>
                <a:ea typeface="微軟正黑體" panose="020B0604030504040204" pitchFamily="34" charset="-120"/>
              </a:rPr>
              <a:t>以及多個餐廳之</a:t>
            </a:r>
            <a:r>
              <a:rPr lang="zh-TW" altLang="en-US" u="sng" dirty="0">
                <a:latin typeface="微軟正黑體" panose="020B0604030504040204" pitchFamily="34" charset="-120"/>
                <a:ea typeface="微軟正黑體" panose="020B0604030504040204" pitchFamily="34" charset="-120"/>
              </a:rPr>
              <a:t>多個餐點資訊</a:t>
            </a:r>
            <a:r>
              <a:rPr lang="zh-TW" altLang="en-US" dirty="0">
                <a:latin typeface="微軟正黑體" panose="020B0604030504040204" pitchFamily="34" charset="-120"/>
                <a:ea typeface="微軟正黑體" panose="020B0604030504040204" pitchFamily="34" charset="-120"/>
              </a:rPr>
              <a:t>於一資料庫系統；</a:t>
            </a:r>
            <a:endParaRPr lang="en-US" altLang="zh-TW" dirty="0">
              <a:latin typeface="微軟正黑體" panose="020B0604030504040204" pitchFamily="34" charset="-120"/>
              <a:ea typeface="微軟正黑體" panose="020B0604030504040204" pitchFamily="34" charset="-120"/>
            </a:endParaRPr>
          </a:p>
          <a:p>
            <a:pPr indent="447675"/>
            <a:r>
              <a:rPr lang="zh-TW" altLang="en-US" dirty="0">
                <a:latin typeface="微軟正黑體" panose="020B0604030504040204" pitchFamily="34" charset="-120"/>
                <a:ea typeface="微軟正黑體" panose="020B0604030504040204" pitchFamily="34" charset="-120"/>
              </a:rPr>
              <a:t>依據該基本資訊以及該些餐點資訊得出一</a:t>
            </a:r>
            <a:r>
              <a:rPr lang="zh-TW" altLang="en-US" u="sng" dirty="0">
                <a:latin typeface="微軟正黑體" panose="020B0604030504040204" pitchFamily="34" charset="-120"/>
                <a:ea typeface="微軟正黑體" panose="020B0604030504040204" pitchFamily="34" charset="-120"/>
              </a:rPr>
              <a:t>營養資訊</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indent="447675"/>
            <a:r>
              <a:rPr lang="zh-TW" altLang="en-US" dirty="0">
                <a:latin typeface="微軟正黑體" panose="020B0604030504040204" pitchFamily="34" charset="-120"/>
                <a:ea typeface="微軟正黑體" panose="020B0604030504040204" pitchFamily="34" charset="-120"/>
              </a:rPr>
              <a:t>傳送該營養資訊至該使用者之一可攜式通訊裝置；以及</a:t>
            </a:r>
            <a:endParaRPr lang="en-US" altLang="zh-TW" dirty="0">
              <a:latin typeface="微軟正黑體" panose="020B0604030504040204" pitchFamily="34" charset="-120"/>
              <a:ea typeface="微軟正黑體" panose="020B0604030504040204" pitchFamily="34" charset="-120"/>
            </a:endParaRPr>
          </a:p>
          <a:p>
            <a:pPr indent="447675"/>
            <a:r>
              <a:rPr lang="zh-TW" altLang="en-US" dirty="0">
                <a:latin typeface="微軟正黑體" panose="020B0604030504040204" pitchFamily="34" charset="-120"/>
                <a:ea typeface="微軟正黑體" panose="020B0604030504040204" pitchFamily="34" charset="-120"/>
              </a:rPr>
              <a:t>傳送一</a:t>
            </a:r>
            <a:r>
              <a:rPr lang="zh-TW" altLang="en-US" u="sng" dirty="0">
                <a:latin typeface="微軟正黑體" panose="020B0604030504040204" pitchFamily="34" charset="-120"/>
                <a:ea typeface="微軟正黑體" panose="020B0604030504040204" pitchFamily="34" charset="-120"/>
              </a:rPr>
              <a:t>補充資訊</a:t>
            </a:r>
            <a:r>
              <a:rPr lang="zh-TW" altLang="en-US" dirty="0">
                <a:latin typeface="微軟正黑體" panose="020B0604030504040204" pitchFamily="34" charset="-120"/>
                <a:ea typeface="微軟正黑體" panose="020B0604030504040204" pitchFamily="34" charset="-120"/>
              </a:rPr>
              <a:t>至該資料庫系統，以更新該基本資訊。</a:t>
            </a:r>
          </a:p>
        </p:txBody>
      </p:sp>
      <p:sp>
        <p:nvSpPr>
          <p:cNvPr id="7" name="文字方塊 6"/>
          <p:cNvSpPr txBox="1"/>
          <p:nvPr/>
        </p:nvSpPr>
        <p:spPr>
          <a:xfrm>
            <a:off x="296885" y="1268760"/>
            <a:ext cx="2339102" cy="461665"/>
          </a:xfrm>
          <a:prstGeom prst="rect">
            <a:avLst/>
          </a:prstGeom>
          <a:noFill/>
        </p:spPr>
        <p:txBody>
          <a:bodyPr wrap="none" rtlCol="0">
            <a:spAutoFit/>
          </a:bodyPr>
          <a:lstStyle/>
          <a:p>
            <a:r>
              <a:rPr lang="zh-TW" altLang="en-US" sz="2400" dirty="0"/>
              <a:t>申請專利範圍：</a:t>
            </a:r>
          </a:p>
        </p:txBody>
      </p:sp>
      <p:pic>
        <p:nvPicPr>
          <p:cNvPr id="1027"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20072" y="3658736"/>
            <a:ext cx="3528392" cy="3161164"/>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41018794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進步性案例</a:t>
            </a:r>
          </a:p>
        </p:txBody>
      </p:sp>
      <p:sp>
        <p:nvSpPr>
          <p:cNvPr id="3" name="內容版面配置區 2"/>
          <p:cNvSpPr>
            <a:spLocks noGrp="1"/>
          </p:cNvSpPr>
          <p:nvPr>
            <p:ph idx="1"/>
          </p:nvPr>
        </p:nvSpPr>
        <p:spPr>
          <a:xfrm>
            <a:off x="107504" y="908720"/>
            <a:ext cx="8928992" cy="576064"/>
          </a:xfrm>
        </p:spPr>
        <p:txBody>
          <a:bodyPr>
            <a:normAutofit lnSpcReduction="10000"/>
          </a:bodyPr>
          <a:lstStyle/>
          <a:p>
            <a:r>
              <a:rPr lang="zh-TW" altLang="en-US" dirty="0"/>
              <a:t>引證案</a:t>
            </a:r>
            <a:r>
              <a:rPr lang="en-US" altLang="zh-TW" dirty="0"/>
              <a:t>-</a:t>
            </a:r>
            <a:r>
              <a:rPr lang="zh-TW" altLang="en-US" b="0" dirty="0"/>
              <a:t>可攜式健康養生管理系統</a:t>
            </a:r>
            <a:endParaRPr lang="zh-TW" altLang="en-US"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88</a:t>
            </a:fld>
            <a:endParaRPr lang="zh-TW" altLang="en-US" dirty="0">
              <a:solidFill>
                <a:prstClr val="black">
                  <a:tint val="75000"/>
                </a:prstClr>
              </a:solidFill>
            </a:endParaRP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403648" y="1628800"/>
            <a:ext cx="6296025" cy="468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648450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進步性案例</a:t>
            </a:r>
          </a:p>
        </p:txBody>
      </p:sp>
      <p:sp>
        <p:nvSpPr>
          <p:cNvPr id="3" name="內容版面配置區 2"/>
          <p:cNvSpPr>
            <a:spLocks noGrp="1"/>
          </p:cNvSpPr>
          <p:nvPr>
            <p:ph idx="1"/>
          </p:nvPr>
        </p:nvSpPr>
        <p:spPr>
          <a:xfrm>
            <a:off x="107504" y="908720"/>
            <a:ext cx="8928992" cy="576064"/>
          </a:xfrm>
        </p:spPr>
        <p:txBody>
          <a:bodyPr>
            <a:normAutofit lnSpcReduction="10000"/>
          </a:bodyPr>
          <a:lstStyle/>
          <a:p>
            <a:r>
              <a:rPr lang="zh-TW" altLang="en-US" dirty="0"/>
              <a:t>引證案</a:t>
            </a:r>
            <a:r>
              <a:rPr lang="en-US" altLang="zh-TW" dirty="0"/>
              <a:t>-</a:t>
            </a:r>
            <a:r>
              <a:rPr lang="zh-TW" altLang="en-US" b="0" dirty="0"/>
              <a:t>可攜式健康養生管理系統</a:t>
            </a:r>
            <a:endParaRPr lang="zh-TW" altLang="en-US"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89</a:t>
            </a:fld>
            <a:endParaRPr lang="zh-TW" altLang="en-US" dirty="0">
              <a:solidFill>
                <a:prstClr val="black">
                  <a:tint val="75000"/>
                </a:prstClr>
              </a:solidFill>
            </a:endParaRPr>
          </a:p>
        </p:txBody>
      </p:sp>
      <p:pic>
        <p:nvPicPr>
          <p:cNvPr id="2050"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115616" y="1484784"/>
            <a:ext cx="6973158" cy="5373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653065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進步性案例</a:t>
            </a:r>
          </a:p>
        </p:txBody>
      </p:sp>
      <p:sp>
        <p:nvSpPr>
          <p:cNvPr id="3" name="內容版面配置區 2"/>
          <p:cNvSpPr>
            <a:spLocks noGrp="1"/>
          </p:cNvSpPr>
          <p:nvPr>
            <p:ph idx="1"/>
          </p:nvPr>
        </p:nvSpPr>
        <p:spPr>
          <a:xfrm>
            <a:off x="107504" y="980728"/>
            <a:ext cx="8928992" cy="576064"/>
          </a:xfrm>
        </p:spPr>
        <p:txBody>
          <a:bodyPr>
            <a:normAutofit lnSpcReduction="10000"/>
          </a:bodyPr>
          <a:lstStyle/>
          <a:p>
            <a:r>
              <a:rPr lang="zh-TW" altLang="en-US" dirty="0"/>
              <a:t>引證案</a:t>
            </a:r>
            <a:r>
              <a:rPr lang="en-US" altLang="zh-TW" dirty="0"/>
              <a:t>-</a:t>
            </a:r>
            <a:r>
              <a:rPr lang="zh-TW" altLang="en-US" b="0" dirty="0"/>
              <a:t>可攜式健康養生管理系統</a:t>
            </a:r>
            <a:endParaRPr lang="zh-TW" altLang="en-US"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90</a:t>
            </a:fld>
            <a:endParaRPr lang="zh-TW" altLang="en-US" dirty="0">
              <a:solidFill>
                <a:prstClr val="black">
                  <a:tint val="75000"/>
                </a:prstClr>
              </a:solidFill>
            </a:endParaRPr>
          </a:p>
        </p:txBody>
      </p:sp>
      <p:pic>
        <p:nvPicPr>
          <p:cNvPr id="3074"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547664" y="1404155"/>
            <a:ext cx="6624736" cy="5453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63008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進步性案例</a:t>
            </a:r>
          </a:p>
        </p:txBody>
      </p:sp>
      <p:sp>
        <p:nvSpPr>
          <p:cNvPr id="3" name="內容版面配置區 2"/>
          <p:cNvSpPr>
            <a:spLocks noGrp="1"/>
          </p:cNvSpPr>
          <p:nvPr>
            <p:ph idx="1"/>
          </p:nvPr>
        </p:nvSpPr>
        <p:spPr>
          <a:xfrm>
            <a:off x="107504" y="908720"/>
            <a:ext cx="8928992" cy="576064"/>
          </a:xfrm>
        </p:spPr>
        <p:txBody>
          <a:bodyPr>
            <a:normAutofit lnSpcReduction="10000"/>
          </a:bodyPr>
          <a:lstStyle/>
          <a:p>
            <a:r>
              <a:rPr lang="zh-TW" altLang="en-US" dirty="0"/>
              <a:t>引證案</a:t>
            </a:r>
            <a:r>
              <a:rPr lang="en-US" altLang="zh-TW" dirty="0"/>
              <a:t>-</a:t>
            </a:r>
            <a:r>
              <a:rPr lang="zh-TW" altLang="en-US" b="0" dirty="0"/>
              <a:t>可攜式健康養生管理系統</a:t>
            </a:r>
            <a:endParaRPr lang="zh-TW" altLang="en-US"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91</a:t>
            </a:fld>
            <a:endParaRPr lang="zh-TW" altLang="en-US" dirty="0">
              <a:solidFill>
                <a:prstClr val="black">
                  <a:tint val="75000"/>
                </a:prstClr>
              </a:solidFill>
            </a:endParaRPr>
          </a:p>
        </p:txBody>
      </p:sp>
      <p:pic>
        <p:nvPicPr>
          <p:cNvPr id="4098"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98560" y="1428838"/>
            <a:ext cx="6779468" cy="5429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4600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進步性案例</a:t>
            </a:r>
          </a:p>
        </p:txBody>
      </p:sp>
      <p:sp>
        <p:nvSpPr>
          <p:cNvPr id="3" name="內容版面配置區 2"/>
          <p:cNvSpPr>
            <a:spLocks noGrp="1"/>
          </p:cNvSpPr>
          <p:nvPr>
            <p:ph idx="1"/>
          </p:nvPr>
        </p:nvSpPr>
        <p:spPr>
          <a:xfrm>
            <a:off x="107504" y="908720"/>
            <a:ext cx="8928992" cy="576064"/>
          </a:xfrm>
        </p:spPr>
        <p:txBody>
          <a:bodyPr>
            <a:normAutofit lnSpcReduction="10000"/>
          </a:bodyPr>
          <a:lstStyle/>
          <a:p>
            <a:r>
              <a:rPr lang="zh-TW" altLang="en-US" dirty="0"/>
              <a:t>技術比對</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92</a:t>
            </a:fld>
            <a:endParaRPr lang="zh-TW" altLang="en-US" dirty="0">
              <a:solidFill>
                <a:prstClr val="black">
                  <a:tint val="75000"/>
                </a:prstClr>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165580255"/>
              </p:ext>
            </p:extLst>
          </p:nvPr>
        </p:nvGraphicFramePr>
        <p:xfrm>
          <a:off x="701073" y="2869444"/>
          <a:ext cx="8136904" cy="3606050"/>
        </p:xfrm>
        <a:graphic>
          <a:graphicData uri="http://schemas.openxmlformats.org/drawingml/2006/table">
            <a:tbl>
              <a:tblPr firstRow="1" bandRow="1">
                <a:tableStyleId>{5C22544A-7EE6-4342-B048-85BDC9FD1C3A}</a:tableStyleId>
              </a:tblPr>
              <a:tblGrid>
                <a:gridCol w="2592288">
                  <a:extLst>
                    <a:ext uri="{9D8B030D-6E8A-4147-A177-3AD203B41FA5}">
                      <a16:colId xmlns:a16="http://schemas.microsoft.com/office/drawing/2014/main" val="20000"/>
                    </a:ext>
                  </a:extLst>
                </a:gridCol>
                <a:gridCol w="3552557">
                  <a:extLst>
                    <a:ext uri="{9D8B030D-6E8A-4147-A177-3AD203B41FA5}">
                      <a16:colId xmlns:a16="http://schemas.microsoft.com/office/drawing/2014/main" val="20001"/>
                    </a:ext>
                  </a:extLst>
                </a:gridCol>
                <a:gridCol w="1992059">
                  <a:extLst>
                    <a:ext uri="{9D8B030D-6E8A-4147-A177-3AD203B41FA5}">
                      <a16:colId xmlns:a16="http://schemas.microsoft.com/office/drawing/2014/main" val="20002"/>
                    </a:ext>
                  </a:extLst>
                </a:gridCol>
              </a:tblGrid>
              <a:tr h="487145">
                <a:tc>
                  <a:txBody>
                    <a:bodyPr/>
                    <a:lstStyle/>
                    <a:p>
                      <a:pPr algn="ctr"/>
                      <a:r>
                        <a:rPr lang="zh-TW" altLang="en-US" sz="1600" dirty="0">
                          <a:latin typeface="微軟正黑體" panose="020B0604030504040204" pitchFamily="34" charset="-120"/>
                          <a:ea typeface="微軟正黑體" panose="020B0604030504040204" pitchFamily="34" charset="-120"/>
                        </a:rPr>
                        <a:t>本案</a:t>
                      </a:r>
                    </a:p>
                  </a:txBody>
                  <a:tcPr anchor="ctr"/>
                </a:tc>
                <a:tc>
                  <a:txBody>
                    <a:bodyPr/>
                    <a:lstStyle/>
                    <a:p>
                      <a:pPr algn="ctr"/>
                      <a:r>
                        <a:rPr lang="zh-TW" altLang="en-US" sz="1600" dirty="0">
                          <a:latin typeface="微軟正黑體" panose="020B0604030504040204" pitchFamily="34" charset="-120"/>
                          <a:ea typeface="微軟正黑體" panose="020B0604030504040204" pitchFamily="34" charset="-120"/>
                        </a:rPr>
                        <a:t>引證案</a:t>
                      </a:r>
                    </a:p>
                  </a:txBody>
                  <a:tcPr anchor="ctr">
                    <a:lnR w="12700" cap="flat" cmpd="sng" algn="ctr">
                      <a:solidFill>
                        <a:schemeClr val="tx1"/>
                      </a:solidFill>
                      <a:prstDash val="solid"/>
                      <a:round/>
                      <a:headEnd type="none" w="med" len="med"/>
                      <a:tailEnd type="none" w="med" len="med"/>
                    </a:lnR>
                  </a:tcPr>
                </a:tc>
                <a:tc>
                  <a:txBody>
                    <a:bodyPr/>
                    <a:lstStyle/>
                    <a:p>
                      <a:pPr algn="ctr"/>
                      <a:r>
                        <a:rPr lang="zh-TW" altLang="en-US" sz="1600" dirty="0">
                          <a:latin typeface="微軟正黑體" panose="020B0604030504040204" pitchFamily="34" charset="-120"/>
                          <a:ea typeface="微軟正黑體" panose="020B0604030504040204" pitchFamily="34" charset="-120"/>
                        </a:rPr>
                        <a:t>通常知識</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1025975">
                <a:tc>
                  <a:txBody>
                    <a:bodyPr/>
                    <a:lstStyle/>
                    <a:p>
                      <a:pPr algn="l"/>
                      <a:r>
                        <a:rPr lang="zh-TW" altLang="zh-TW" sz="1600" kern="1200" dirty="0">
                          <a:solidFill>
                            <a:schemeClr val="dk1"/>
                          </a:solidFill>
                          <a:latin typeface="微軟正黑體" panose="020B0604030504040204" pitchFamily="34" charset="-120"/>
                          <a:ea typeface="微軟正黑體" panose="020B0604030504040204" pitchFamily="34" charset="-120"/>
                          <a:cs typeface="+mn-cs"/>
                        </a:rPr>
                        <a:t>儲存一使用者之一基本資訊於一資料庫系統</a:t>
                      </a: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marL="285750" indent="-285750" algn="l">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圖</a:t>
                      </a:r>
                      <a:r>
                        <a:rPr lang="en-US" altLang="zh-TW" sz="1600" dirty="0">
                          <a:latin typeface="微軟正黑體" panose="020B0604030504040204" pitchFamily="34" charset="-120"/>
                          <a:ea typeface="微軟正黑體" panose="020B0604030504040204" pitchFamily="34" charset="-120"/>
                        </a:rPr>
                        <a:t>3</a:t>
                      </a:r>
                      <a:r>
                        <a:rPr lang="zh-TW" altLang="en-US" sz="1600" dirty="0">
                          <a:latin typeface="微軟正黑體" panose="020B0604030504040204" pitchFamily="34" charset="-120"/>
                          <a:ea typeface="微軟正黑體" panose="020B0604030504040204" pitchFamily="34" charset="-120"/>
                        </a:rPr>
                        <a:t>，</a:t>
                      </a:r>
                      <a:r>
                        <a:rPr lang="en-US" altLang="zh-TW" sz="1600" dirty="0">
                          <a:latin typeface="微軟正黑體" panose="020B0604030504040204" pitchFamily="34" charset="-120"/>
                          <a:ea typeface="微軟正黑體" panose="020B0604030504040204" pitchFamily="34" charset="-120"/>
                        </a:rPr>
                        <a:t>28</a:t>
                      </a:r>
                      <a:r>
                        <a:rPr lang="zh-TW" altLang="en-US" sz="1600" baseline="0" dirty="0">
                          <a:latin typeface="微軟正黑體" panose="020B0604030504040204" pitchFamily="34" charset="-120"/>
                          <a:ea typeface="微軟正黑體" panose="020B0604030504040204" pitchFamily="34" charset="-120"/>
                        </a:rPr>
                        <a:t> 使用者基本資料模組</a:t>
                      </a:r>
                      <a:endParaRPr lang="en-US" altLang="zh-TW" sz="1600" baseline="0" dirty="0">
                        <a:latin typeface="微軟正黑體" panose="020B0604030504040204" pitchFamily="34" charset="-120"/>
                        <a:ea typeface="微軟正黑體" panose="020B0604030504040204" pitchFamily="34" charset="-120"/>
                      </a:endParaRPr>
                    </a:p>
                    <a:p>
                      <a:pPr marL="285750" indent="-285750" algn="l">
                        <a:buFont typeface="Arial" panose="020B0604020202020204" pitchFamily="34" charset="0"/>
                        <a:buChar char="•"/>
                      </a:pPr>
                      <a:r>
                        <a:rPr lang="zh-TW" altLang="en-US" sz="1600" baseline="0" dirty="0">
                          <a:latin typeface="微軟正黑體" panose="020B0604030504040204" pitchFamily="34" charset="-120"/>
                          <a:ea typeface="微軟正黑體" panose="020B0604030504040204" pitchFamily="34" charset="-120"/>
                        </a:rPr>
                        <a:t>圖</a:t>
                      </a:r>
                      <a:r>
                        <a:rPr lang="en-US" altLang="zh-TW" sz="1600" baseline="0" dirty="0">
                          <a:latin typeface="微軟正黑體" panose="020B0604030504040204" pitchFamily="34" charset="-120"/>
                          <a:ea typeface="微軟正黑體" panose="020B0604030504040204" pitchFamily="34" charset="-120"/>
                        </a:rPr>
                        <a:t>1</a:t>
                      </a:r>
                      <a:r>
                        <a:rPr lang="zh-TW" altLang="en-US" sz="1600" baseline="0" dirty="0">
                          <a:latin typeface="微軟正黑體" panose="020B0604030504040204" pitchFamily="34" charset="-120"/>
                          <a:ea typeface="微軟正黑體" panose="020B0604030504040204" pitchFamily="34" charset="-120"/>
                        </a:rPr>
                        <a:t>，</a:t>
                      </a:r>
                      <a:r>
                        <a:rPr lang="en-US" altLang="zh-TW" sz="1600" baseline="0" dirty="0">
                          <a:latin typeface="微軟正黑體" panose="020B0604030504040204" pitchFamily="34" charset="-120"/>
                          <a:ea typeface="微軟正黑體" panose="020B0604030504040204" pitchFamily="34" charset="-120"/>
                        </a:rPr>
                        <a:t>3</a:t>
                      </a:r>
                      <a:r>
                        <a:rPr lang="zh-TW" altLang="en-US" sz="1600" baseline="0" dirty="0">
                          <a:latin typeface="微軟正黑體" panose="020B0604030504040204" pitchFamily="34" charset="-120"/>
                          <a:ea typeface="微軟正黑體" panose="020B0604030504040204" pitchFamily="34" charset="-120"/>
                        </a:rPr>
                        <a:t> 資料庫新增管理伺服器子系統</a:t>
                      </a:r>
                      <a:endParaRPr lang="en-US" altLang="zh-TW" sz="1600" baseline="0" dirty="0">
                        <a:latin typeface="微軟正黑體" panose="020B0604030504040204" pitchFamily="34" charset="-120"/>
                        <a:ea typeface="微軟正黑體" panose="020B0604030504040204" pitchFamily="34" charset="-120"/>
                      </a:endParaRPr>
                    </a:p>
                    <a:p>
                      <a:pPr marL="285750" indent="-285750" algn="l">
                        <a:buFont typeface="Arial" panose="020B0604020202020204" pitchFamily="34" charset="0"/>
                        <a:buChar char="•"/>
                      </a:pPr>
                      <a:endParaRPr lang="zh-TW" altLang="en-US" sz="1600" dirty="0">
                        <a:latin typeface="微軟正黑體" panose="020B0604030504040204" pitchFamily="34" charset="-120"/>
                        <a:ea typeface="微軟正黑體" panose="020B0604030504040204" pitchFamily="34" charset="-120"/>
                      </a:endParaRPr>
                    </a:p>
                  </a:txBody>
                  <a:tcPr anchor="ctr">
                    <a:lnR w="12700" cap="flat" cmpd="sng" algn="ctr">
                      <a:solidFill>
                        <a:schemeClr val="tx1"/>
                      </a:solidFill>
                      <a:prstDash val="solid"/>
                      <a:round/>
                      <a:headEnd type="none" w="med" len="med"/>
                      <a:tailEnd type="none" w="med" len="med"/>
                    </a:lnR>
                  </a:tcPr>
                </a:tc>
                <a:tc>
                  <a:txBody>
                    <a:bodyPr/>
                    <a:lstStyle/>
                    <a:p>
                      <a:pPr algn="l"/>
                      <a:r>
                        <a:rPr lang="zh-TW" altLang="en-US" sz="1600" dirty="0">
                          <a:solidFill>
                            <a:schemeClr val="bg2">
                              <a:lumMod val="50000"/>
                            </a:schemeClr>
                          </a:solidFill>
                          <a:latin typeface="微軟正黑體" panose="020B0604030504040204" pitchFamily="34" charset="-120"/>
                          <a:ea typeface="微軟正黑體" panose="020B0604030504040204" pitchFamily="34" charset="-120"/>
                        </a:rPr>
                        <a:t>基本資料</a:t>
                      </a:r>
                      <a:r>
                        <a:rPr lang="zh-TW" altLang="en-US" sz="1600" dirty="0">
                          <a:latin typeface="微軟正黑體" panose="020B0604030504040204" pitchFamily="34" charset="-120"/>
                          <a:ea typeface="微軟正黑體" panose="020B0604030504040204" pitchFamily="34" charset="-120"/>
                        </a:rPr>
                        <a:t>儲存於</a:t>
                      </a:r>
                      <a:r>
                        <a:rPr lang="zh-TW" altLang="en-US" sz="1600" dirty="0">
                          <a:solidFill>
                            <a:schemeClr val="bg2">
                              <a:lumMod val="50000"/>
                            </a:schemeClr>
                          </a:solidFill>
                          <a:latin typeface="微軟正黑體" panose="020B0604030504040204" pitchFamily="34" charset="-120"/>
                          <a:ea typeface="微軟正黑體" panose="020B0604030504040204" pitchFamily="34" charset="-120"/>
                        </a:rPr>
                        <a:t>資料庫</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564451">
                <a:tc>
                  <a:txBody>
                    <a:bodyPr/>
                    <a:lstStyle/>
                    <a:p>
                      <a:pPr algn="l"/>
                      <a:r>
                        <a:rPr lang="zh-TW" altLang="zh-TW" sz="1600" kern="1200" dirty="0">
                          <a:solidFill>
                            <a:schemeClr val="dk1"/>
                          </a:solidFill>
                          <a:effectLst/>
                          <a:latin typeface="微軟正黑體" panose="020B0604030504040204" pitchFamily="34" charset="-120"/>
                          <a:ea typeface="微軟正黑體" panose="020B0604030504040204" pitchFamily="34" charset="-120"/>
                          <a:cs typeface="+mn-cs"/>
                        </a:rPr>
                        <a:t>依據該基本資訊得出一運動資訊</a:t>
                      </a: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l"/>
                      <a:r>
                        <a:rPr lang="zh-TW" altLang="en-US" sz="1600" dirty="0">
                          <a:latin typeface="微軟正黑體" panose="020B0604030504040204" pitchFamily="34" charset="-120"/>
                          <a:ea typeface="微軟正黑體" panose="020B0604030504040204" pitchFamily="34" charset="-120"/>
                        </a:rPr>
                        <a:t>圖</a:t>
                      </a:r>
                      <a:r>
                        <a:rPr lang="en-US" altLang="zh-TW" sz="1600" dirty="0">
                          <a:latin typeface="微軟正黑體" panose="020B0604030504040204" pitchFamily="34" charset="-120"/>
                          <a:ea typeface="微軟正黑體" panose="020B0604030504040204" pitchFamily="34" charset="-120"/>
                        </a:rPr>
                        <a:t>2</a:t>
                      </a:r>
                      <a:r>
                        <a:rPr lang="zh-TW" altLang="en-US" sz="1600" dirty="0">
                          <a:latin typeface="微軟正黑體" panose="020B0604030504040204" pitchFamily="34" charset="-120"/>
                          <a:ea typeface="微軟正黑體" panose="020B0604030504040204" pitchFamily="34" charset="-120"/>
                        </a:rPr>
                        <a:t>，</a:t>
                      </a:r>
                      <a:r>
                        <a:rPr lang="en-US" altLang="zh-TW" sz="1600" dirty="0">
                          <a:latin typeface="微軟正黑體" panose="020B0604030504040204" pitchFamily="34" charset="-120"/>
                          <a:ea typeface="微軟正黑體" panose="020B0604030504040204" pitchFamily="34" charset="-120"/>
                        </a:rPr>
                        <a:t>12 </a:t>
                      </a:r>
                      <a:r>
                        <a:rPr lang="zh-TW" altLang="en-US" sz="1600" dirty="0">
                          <a:latin typeface="微軟正黑體" panose="020B0604030504040204" pitchFamily="34" charset="-120"/>
                          <a:ea typeface="微軟正黑體" panose="020B0604030504040204" pitchFamily="34" charset="-120"/>
                        </a:rPr>
                        <a:t>表單選擇模組</a:t>
                      </a:r>
                      <a:endParaRPr lang="en-US" altLang="zh-TW" sz="1600" dirty="0">
                        <a:latin typeface="微軟正黑體" panose="020B0604030504040204" pitchFamily="34" charset="-120"/>
                        <a:ea typeface="微軟正黑體" panose="020B0604030504040204" pitchFamily="34" charset="-120"/>
                      </a:endParaRPr>
                    </a:p>
                    <a:p>
                      <a:pPr algn="l"/>
                      <a:r>
                        <a:rPr lang="zh-TW" altLang="en-US" sz="1600" dirty="0">
                          <a:latin typeface="微軟正黑體" panose="020B0604030504040204" pitchFamily="34" charset="-120"/>
                          <a:ea typeface="微軟正黑體" panose="020B0604030504040204" pitchFamily="34" charset="-120"/>
                        </a:rPr>
                        <a:t>圖</a:t>
                      </a:r>
                      <a:r>
                        <a:rPr lang="en-US" altLang="zh-TW" sz="1600" dirty="0">
                          <a:latin typeface="微軟正黑體" panose="020B0604030504040204" pitchFamily="34" charset="-120"/>
                          <a:ea typeface="微軟正黑體" panose="020B0604030504040204" pitchFamily="34" charset="-120"/>
                        </a:rPr>
                        <a:t>11</a:t>
                      </a:r>
                      <a:r>
                        <a:rPr lang="zh-TW" altLang="en-US" sz="1600" dirty="0">
                          <a:latin typeface="微軟正黑體" panose="020B0604030504040204" pitchFamily="34" charset="-120"/>
                          <a:ea typeface="微軟正黑體" panose="020B0604030504040204" pitchFamily="34" charset="-120"/>
                        </a:rPr>
                        <a:t>、</a:t>
                      </a:r>
                      <a:r>
                        <a:rPr lang="en-US" altLang="zh-TW" sz="1600" dirty="0">
                          <a:latin typeface="微軟正黑體" panose="020B0604030504040204" pitchFamily="34" charset="-120"/>
                          <a:ea typeface="微軟正黑體" panose="020B0604030504040204" pitchFamily="34" charset="-120"/>
                        </a:rPr>
                        <a:t>16</a:t>
                      </a:r>
                      <a:r>
                        <a:rPr lang="zh-TW" altLang="zh-TW" sz="1600" kern="1200" dirty="0">
                          <a:solidFill>
                            <a:schemeClr val="dk1"/>
                          </a:solidFill>
                          <a:effectLst/>
                          <a:latin typeface="微軟正黑體" panose="020B0604030504040204" pitchFamily="34" charset="-120"/>
                          <a:ea typeface="微軟正黑體" panose="020B0604030504040204" pitchFamily="34" charset="-120"/>
                          <a:cs typeface="+mn-cs"/>
                        </a:rPr>
                        <a:t>運動管理表單</a:t>
                      </a:r>
                      <a:endParaRPr lang="zh-TW" altLang="en-US" sz="1600" dirty="0">
                        <a:latin typeface="微軟正黑體" panose="020B0604030504040204" pitchFamily="34" charset="-120"/>
                        <a:ea typeface="微軟正黑體" panose="020B0604030504040204" pitchFamily="34" charset="-120"/>
                      </a:endParaRPr>
                    </a:p>
                  </a:txBody>
                  <a:tcPr anchor="ctr">
                    <a:lnR w="12700" cap="flat" cmpd="sng" algn="ctr">
                      <a:solidFill>
                        <a:schemeClr val="tx1"/>
                      </a:solidFill>
                      <a:prstDash val="solid"/>
                      <a:round/>
                      <a:headEnd type="none" w="med" len="med"/>
                      <a:tailEnd type="none" w="med" len="med"/>
                    </a:lnR>
                  </a:tcPr>
                </a:tc>
                <a:tc>
                  <a:txBody>
                    <a:bodyPr/>
                    <a:lstStyle/>
                    <a:p>
                      <a:pPr algn="l"/>
                      <a:endParaRPr lang="zh-TW" altLang="en-US" sz="160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556958">
                <a:tc>
                  <a:txBody>
                    <a:bodyPr/>
                    <a:lstStyle/>
                    <a:p>
                      <a:pPr algn="l"/>
                      <a:r>
                        <a:rPr lang="zh-TW" altLang="zh-TW" sz="1600" kern="1200" dirty="0">
                          <a:solidFill>
                            <a:schemeClr val="dk1"/>
                          </a:solidFill>
                          <a:effectLst/>
                          <a:latin typeface="微軟正黑體" panose="020B0604030504040204" pitchFamily="34" charset="-120"/>
                          <a:ea typeface="微軟正黑體" panose="020B0604030504040204" pitchFamily="34" charset="-120"/>
                          <a:cs typeface="+mn-cs"/>
                        </a:rPr>
                        <a:t>傳送該運動資訊至該使用者之一可攜式通訊裝置</a:t>
                      </a: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l"/>
                      <a:r>
                        <a:rPr lang="zh-TW" altLang="zh-TW" sz="1600" kern="1200" dirty="0">
                          <a:solidFill>
                            <a:schemeClr val="dk1"/>
                          </a:solidFill>
                          <a:effectLst/>
                          <a:latin typeface="微軟正黑體" panose="020B0604030504040204" pitchFamily="34" charset="-120"/>
                          <a:ea typeface="微軟正黑體" panose="020B0604030504040204" pitchFamily="34" charset="-120"/>
                          <a:cs typeface="+mn-cs"/>
                        </a:rPr>
                        <a:t>圖</a:t>
                      </a:r>
                      <a:r>
                        <a:rPr lang="en-US" altLang="zh-TW" sz="1600" kern="1200" dirty="0">
                          <a:solidFill>
                            <a:schemeClr val="dk1"/>
                          </a:solidFill>
                          <a:effectLst/>
                          <a:latin typeface="微軟正黑體" panose="020B0604030504040204" pitchFamily="34" charset="-120"/>
                          <a:ea typeface="微軟正黑體" panose="020B0604030504040204" pitchFamily="34" charset="-120"/>
                          <a:cs typeface="+mn-cs"/>
                        </a:rPr>
                        <a:t>35</a:t>
                      </a:r>
                      <a:r>
                        <a:rPr lang="zh-TW" altLang="zh-TW" sz="1600" kern="1200" dirty="0">
                          <a:solidFill>
                            <a:schemeClr val="dk1"/>
                          </a:solidFill>
                          <a:effectLst/>
                          <a:latin typeface="微軟正黑體" panose="020B0604030504040204" pitchFamily="34" charset="-120"/>
                          <a:ea typeface="微軟正黑體" panose="020B0604030504040204" pitchFamily="34" charset="-120"/>
                          <a:cs typeface="+mn-cs"/>
                        </a:rPr>
                        <a:t>，新進</a:t>
                      </a:r>
                      <a:r>
                        <a:rPr lang="en-US" altLang="zh-TW" sz="1600" kern="1200" dirty="0">
                          <a:solidFill>
                            <a:schemeClr val="dk1"/>
                          </a:solidFill>
                          <a:effectLst/>
                          <a:latin typeface="微軟正黑體" panose="020B0604030504040204" pitchFamily="34" charset="-120"/>
                          <a:ea typeface="微軟正黑體" panose="020B0604030504040204" pitchFamily="34" charset="-120"/>
                          <a:cs typeface="+mn-cs"/>
                        </a:rPr>
                        <a:t>PDA</a:t>
                      </a:r>
                      <a:r>
                        <a:rPr lang="zh-TW" altLang="zh-TW" sz="1600" kern="1200" dirty="0">
                          <a:solidFill>
                            <a:schemeClr val="dk1"/>
                          </a:solidFill>
                          <a:effectLst/>
                          <a:latin typeface="微軟正黑體" panose="020B0604030504040204" pitchFamily="34" charset="-120"/>
                          <a:ea typeface="微軟正黑體" panose="020B0604030504040204" pitchFamily="34" charset="-120"/>
                          <a:cs typeface="+mn-cs"/>
                        </a:rPr>
                        <a:t>端資料</a:t>
                      </a:r>
                      <a:r>
                        <a:rPr lang="zh-TW" altLang="en-US" sz="1600" kern="1200" dirty="0">
                          <a:solidFill>
                            <a:schemeClr val="dk1"/>
                          </a:solidFill>
                          <a:effectLst/>
                          <a:latin typeface="微軟正黑體" panose="020B0604030504040204" pitchFamily="34" charset="-120"/>
                          <a:ea typeface="微軟正黑體" panose="020B0604030504040204" pitchFamily="34" charset="-120"/>
                          <a:cs typeface="+mn-cs"/>
                        </a:rPr>
                        <a:t>， 新增運動項目</a:t>
                      </a:r>
                      <a:endParaRPr lang="zh-TW" altLang="en-US" sz="1600" dirty="0">
                        <a:latin typeface="微軟正黑體" panose="020B0604030504040204" pitchFamily="34" charset="-120"/>
                        <a:ea typeface="微軟正黑體" panose="020B0604030504040204" pitchFamily="34" charset="-120"/>
                      </a:endParaRPr>
                    </a:p>
                  </a:txBody>
                  <a:tcPr anchor="ctr">
                    <a:lnR w="12700" cap="flat" cmpd="sng" algn="ctr">
                      <a:solidFill>
                        <a:schemeClr val="tx1"/>
                      </a:solidFill>
                      <a:prstDash val="solid"/>
                      <a:round/>
                      <a:headEnd type="none" w="med" len="med"/>
                      <a:tailEnd type="none" w="med" len="med"/>
                    </a:lnR>
                  </a:tcPr>
                </a:tc>
                <a:tc>
                  <a:txBody>
                    <a:bodyPr/>
                    <a:lstStyle/>
                    <a:p>
                      <a:pPr algn="l"/>
                      <a:endParaRPr lang="zh-TW" altLang="en-US" sz="160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893865">
                <a:tc>
                  <a:txBody>
                    <a:bodyPr/>
                    <a:lstStyle/>
                    <a:p>
                      <a:pPr algn="l"/>
                      <a:r>
                        <a:rPr lang="zh-TW" altLang="zh-TW" sz="1600" kern="1200" dirty="0">
                          <a:solidFill>
                            <a:schemeClr val="dk1"/>
                          </a:solidFill>
                          <a:effectLst/>
                          <a:latin typeface="微軟正黑體" panose="020B0604030504040204" pitchFamily="34" charset="-120"/>
                          <a:ea typeface="微軟正黑體" panose="020B0604030504040204" pitchFamily="34" charset="-120"/>
                          <a:cs typeface="+mn-cs"/>
                        </a:rPr>
                        <a:t>傳送一消耗資訊至該資料庫系統，以更新該基本資訊</a:t>
                      </a: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l"/>
                      <a:r>
                        <a:rPr lang="zh-TW" altLang="zh-TW" sz="1600" kern="1200" dirty="0">
                          <a:solidFill>
                            <a:schemeClr val="dk1"/>
                          </a:solidFill>
                          <a:effectLst/>
                          <a:latin typeface="微軟正黑體" panose="020B0604030504040204" pitchFamily="34" charset="-120"/>
                          <a:ea typeface="微軟正黑體" panose="020B0604030504040204" pitchFamily="34" charset="-120"/>
                          <a:cs typeface="+mn-cs"/>
                        </a:rPr>
                        <a:t>圖</a:t>
                      </a:r>
                      <a:r>
                        <a:rPr lang="en-US" altLang="zh-TW" sz="1600" kern="1200" dirty="0">
                          <a:solidFill>
                            <a:schemeClr val="dk1"/>
                          </a:solidFill>
                          <a:effectLst/>
                          <a:latin typeface="微軟正黑體" panose="020B0604030504040204" pitchFamily="34" charset="-120"/>
                          <a:ea typeface="微軟正黑體" panose="020B0604030504040204" pitchFamily="34" charset="-120"/>
                          <a:cs typeface="+mn-cs"/>
                        </a:rPr>
                        <a:t>35</a:t>
                      </a:r>
                      <a:r>
                        <a:rPr lang="zh-TW" altLang="zh-TW" sz="1600" kern="1200" dirty="0">
                          <a:solidFill>
                            <a:schemeClr val="dk1"/>
                          </a:solidFill>
                          <a:effectLst/>
                          <a:latin typeface="微軟正黑體" panose="020B0604030504040204" pitchFamily="34" charset="-120"/>
                          <a:ea typeface="微軟正黑體" panose="020B0604030504040204" pitchFamily="34" charset="-120"/>
                          <a:cs typeface="+mn-cs"/>
                        </a:rPr>
                        <a:t>，確定新增</a:t>
                      </a:r>
                      <a:r>
                        <a:rPr lang="zh-TW" altLang="en-US" sz="1600" kern="1200" dirty="0">
                          <a:solidFill>
                            <a:schemeClr val="dk1"/>
                          </a:solidFill>
                          <a:effectLst/>
                          <a:latin typeface="微軟正黑體" panose="020B0604030504040204" pitchFamily="34" charset="-120"/>
                          <a:ea typeface="微軟正黑體" panose="020B0604030504040204" pitchFamily="34" charset="-120"/>
                          <a:cs typeface="+mn-cs"/>
                        </a:rPr>
                        <a:t>熱量消耗資料至資料庫管理伺服器子系統</a:t>
                      </a:r>
                      <a:endParaRPr lang="zh-TW" altLang="en-US" sz="1600" dirty="0">
                        <a:latin typeface="微軟正黑體" panose="020B0604030504040204" pitchFamily="34" charset="-120"/>
                        <a:ea typeface="微軟正黑體" panose="020B0604030504040204" pitchFamily="34" charset="-120"/>
                      </a:endParaRPr>
                    </a:p>
                  </a:txBody>
                  <a:tcPr anchor="ctr">
                    <a:lnR w="12700" cap="flat" cmpd="sng" algn="ctr">
                      <a:solidFill>
                        <a:schemeClr val="tx1"/>
                      </a:solidFill>
                      <a:prstDash val="solid"/>
                      <a:round/>
                      <a:headEnd type="none" w="med" len="med"/>
                      <a:tailEnd type="none" w="med" len="med"/>
                    </a:lnR>
                  </a:tcPr>
                </a:tc>
                <a:tc>
                  <a:txBody>
                    <a:bodyPr/>
                    <a:lstStyle/>
                    <a:p>
                      <a:pPr algn="l"/>
                      <a:endParaRPr lang="zh-TW" altLang="en-US" sz="160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sp>
        <p:nvSpPr>
          <p:cNvPr id="6" name="文字方塊 5">
            <a:extLst>
              <a:ext uri="{FF2B5EF4-FFF2-40B4-BE49-F238E27FC236}">
                <a16:creationId xmlns:a16="http://schemas.microsoft.com/office/drawing/2014/main" id="{7C008BDA-33F0-A8A3-BB64-DBEF5D417662}"/>
              </a:ext>
            </a:extLst>
          </p:cNvPr>
          <p:cNvSpPr txBox="1"/>
          <p:nvPr/>
        </p:nvSpPr>
        <p:spPr>
          <a:xfrm>
            <a:off x="683568" y="1484784"/>
            <a:ext cx="8352928" cy="1264788"/>
          </a:xfrm>
          <a:prstGeom prst="rect">
            <a:avLst/>
          </a:prstGeom>
          <a:noFill/>
        </p:spPr>
        <p:txBody>
          <a:bodyPr wrap="square">
            <a:noAutofit/>
          </a:bodyPr>
          <a:lstStyle/>
          <a:p>
            <a:pPr marL="285750" indent="-285750" algn="l">
              <a:buFont typeface="Arial" panose="020B0604020202020204" pitchFamily="34" charset="0"/>
              <a:buChar char="•"/>
            </a:pPr>
            <a:r>
              <a:rPr lang="zh-TW" altLang="en-US" sz="1800" dirty="0">
                <a:latin typeface="微軟正黑體" panose="020B0604030504040204" pitchFamily="34" charset="-120"/>
                <a:ea typeface="微軟正黑體" panose="020B0604030504040204" pitchFamily="34" charset="-120"/>
              </a:rPr>
              <a:t>引證案是否與與申請專利之發明屬相同或相關之技術領域</a:t>
            </a:r>
            <a:r>
              <a:rPr lang="en-US" altLang="zh-TW" sz="1800" dirty="0">
                <a:latin typeface="微軟正黑體" panose="020B0604030504040204" pitchFamily="34" charset="-120"/>
                <a:ea typeface="微軟正黑體" panose="020B0604030504040204" pitchFamily="34" charset="-120"/>
              </a:rPr>
              <a:t>?</a:t>
            </a:r>
          </a:p>
          <a:p>
            <a:pPr marL="285750" indent="-28575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是否可比對</a:t>
            </a:r>
            <a:r>
              <a:rPr lang="zh-TW" altLang="en-US" sz="1800" dirty="0">
                <a:latin typeface="微軟正黑體" panose="020B0604030504040204" pitchFamily="34" charset="-120"/>
                <a:ea typeface="微軟正黑體" panose="020B0604030504040204" pitchFamily="34" charset="-120"/>
              </a:rPr>
              <a:t>申請專利之發明的技術特徵</a:t>
            </a:r>
            <a:r>
              <a:rPr lang="en-US" altLang="zh-TW" sz="1800"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285750" indent="-285750" algn="l">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是否可輕易完成</a:t>
            </a:r>
            <a:r>
              <a:rPr lang="en-US" altLang="zh-TW" dirty="0">
                <a:latin typeface="微軟正黑體" panose="020B0604030504040204" pitchFamily="34" charset="-120"/>
                <a:ea typeface="微軟正黑體" panose="020B0604030504040204" pitchFamily="34" charset="-120"/>
              </a:rPr>
              <a:t>?</a:t>
            </a:r>
            <a:endParaRPr lang="zh-TW" altLang="en-US" sz="1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445261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思考</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93</a:t>
            </a:fld>
            <a:endParaRPr lang="zh-TW" altLang="en-US" dirty="0">
              <a:solidFill>
                <a:prstClr val="black">
                  <a:tint val="75000"/>
                </a:prstClr>
              </a:solidFill>
            </a:endParaRPr>
          </a:p>
        </p:txBody>
      </p:sp>
      <p:sp>
        <p:nvSpPr>
          <p:cNvPr id="6" name="矩形 5"/>
          <p:cNvSpPr/>
          <p:nvPr/>
        </p:nvSpPr>
        <p:spPr>
          <a:xfrm>
            <a:off x="164196" y="6381328"/>
            <a:ext cx="8568952" cy="369332"/>
          </a:xfrm>
          <a:prstGeom prst="rect">
            <a:avLst/>
          </a:prstGeom>
        </p:spPr>
        <p:txBody>
          <a:bodyPr wrap="square">
            <a:spAutoFit/>
          </a:bodyPr>
          <a:lstStyle/>
          <a:p>
            <a:r>
              <a:rPr lang="en-US" altLang="zh-TW" sz="900" dirty="0"/>
              <a:t>http://twoplay.pixnet.net/blog/post/43650670-%5B%E5%B0%88%E5%88%A9%5D-%E6%AD%90%E6%B4%B2%E9%80%B2%E6%AD%A5%E6%80%A7%E5%AF%A9%E6%9F%A5%E8%88%87%E6%92%B0%E5%AF%AB%E5%88%86%E6%9E%90</a:t>
            </a:r>
            <a:endParaRPr lang="zh-TW" altLang="en-US" sz="9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836712"/>
            <a:ext cx="4714875"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8430" y="4652560"/>
            <a:ext cx="4981575" cy="131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a:xfrm>
            <a:off x="5454309" y="5309785"/>
            <a:ext cx="3384376" cy="646331"/>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你覺得小明的發明符合進步性的要求嗎</a:t>
            </a:r>
            <a:r>
              <a:rPr lang="en-US" altLang="zh-TW" dirty="0">
                <a:latin typeface="微軟正黑體" panose="020B0604030504040204" pitchFamily="34" charset="-120"/>
                <a:ea typeface="微軟正黑體" panose="020B0604030504040204" pitchFamily="34" charset="-120"/>
              </a:rPr>
              <a:t>?</a:t>
            </a:r>
          </a:p>
        </p:txBody>
      </p:sp>
      <p:sp>
        <p:nvSpPr>
          <p:cNvPr id="8" name="矩形 7"/>
          <p:cNvSpPr/>
          <p:nvPr/>
        </p:nvSpPr>
        <p:spPr>
          <a:xfrm>
            <a:off x="5454309" y="3573227"/>
            <a:ext cx="3384376" cy="1200329"/>
          </a:xfrm>
          <a:prstGeom prst="rect">
            <a:avLst/>
          </a:prstGeom>
          <a:ln>
            <a:solidFill>
              <a:schemeClr val="accent1"/>
            </a:solidFill>
          </a:ln>
        </p:spPr>
        <p:txBody>
          <a:bodyPr wrap="square">
            <a:spAutoFit/>
          </a:bodyPr>
          <a:lstStyle/>
          <a:p>
            <a:r>
              <a:rPr lang="zh-TW" altLang="en-US" dirty="0">
                <a:latin typeface="微軟正黑體" panose="020B0604030504040204" pitchFamily="34" charset="-120"/>
                <a:ea typeface="微軟正黑體" panose="020B0604030504040204" pitchFamily="34" charset="-120"/>
              </a:rPr>
              <a:t>小明發明了一種簡便的塗奶油工具，如圖，並申請專利，然而，被以一種塗抹奶油在玉米的工具組合一般習知的口紅膠核駁。</a:t>
            </a:r>
            <a:endParaRPr lang="en-US" altLang="zh-TW" dirty="0">
              <a:latin typeface="微軟正黑體" panose="020B0604030504040204" pitchFamily="34" charset="-120"/>
              <a:ea typeface="微軟正黑體" panose="020B0604030504040204" pitchFamily="34" charset="-120"/>
            </a:endParaRPr>
          </a:p>
        </p:txBody>
      </p:sp>
      <p:sp>
        <p:nvSpPr>
          <p:cNvPr id="9" name="矩形 8"/>
          <p:cNvSpPr/>
          <p:nvPr/>
        </p:nvSpPr>
        <p:spPr>
          <a:xfrm>
            <a:off x="5454309" y="1005672"/>
            <a:ext cx="3384376" cy="2031325"/>
          </a:xfrm>
          <a:prstGeom prst="rect">
            <a:avLst/>
          </a:prstGeom>
          <a:ln>
            <a:solidFill>
              <a:schemeClr val="accent1"/>
            </a:solidFill>
          </a:ln>
        </p:spPr>
        <p:txBody>
          <a:bodyPr wrap="square">
            <a:spAutoFit/>
          </a:bodyPr>
          <a:lstStyle/>
          <a:p>
            <a:r>
              <a:rPr lang="zh-TW" altLang="en-US" dirty="0">
                <a:latin typeface="微軟正黑體" panose="020B0604030504040204" pitchFamily="34" charset="-120"/>
                <a:ea typeface="微軟正黑體" panose="020B0604030504040204" pitchFamily="34" charset="-120"/>
              </a:rPr>
              <a:t>小明喜歡吃塗上奶油的土司，但每次拿起奶油刀刮下奶油再塗在吐司，總是費了好大一段功夫，於是小明想，如果有一種方便的塗奶油工具，既能均勻塗抹又不沾手，也無須洗奶油刀，該有多好。</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6929657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94</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核駁及再審查</a:t>
            </a:r>
          </a:p>
        </p:txBody>
      </p:sp>
    </p:spTree>
    <p:extLst>
      <p:ext uri="{BB962C8B-B14F-4D97-AF65-F5344CB8AC3E}">
        <p14:creationId xmlns:p14="http://schemas.microsoft.com/office/powerpoint/2010/main" val="11655597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收到審查意見</a:t>
            </a:r>
            <a:r>
              <a:rPr lang="en-US" altLang="zh-TW" dirty="0"/>
              <a:t>…</a:t>
            </a:r>
            <a:endParaRPr lang="zh-TW" altLang="en-US" dirty="0"/>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95</a:t>
            </a:fld>
            <a:endParaRPr lang="zh-TW" altLang="en-US" dirty="0">
              <a:solidFill>
                <a:prstClr val="black">
                  <a:tint val="75000"/>
                </a:prstClr>
              </a:solidFill>
            </a:endParaRPr>
          </a:p>
        </p:txBody>
      </p:sp>
      <p:grpSp>
        <p:nvGrpSpPr>
          <p:cNvPr id="5" name="群組 4"/>
          <p:cNvGrpSpPr/>
          <p:nvPr/>
        </p:nvGrpSpPr>
        <p:grpSpPr>
          <a:xfrm>
            <a:off x="395536" y="1045136"/>
            <a:ext cx="8566348" cy="5472484"/>
            <a:chOff x="539552" y="1221000"/>
            <a:chExt cx="8566348" cy="5472484"/>
          </a:xfrm>
        </p:grpSpPr>
        <p:sp>
          <p:nvSpPr>
            <p:cNvPr id="6" name="矩形 5"/>
            <p:cNvSpPr/>
            <p:nvPr/>
          </p:nvSpPr>
          <p:spPr bwMode="auto">
            <a:xfrm>
              <a:off x="827584" y="1411624"/>
              <a:ext cx="2448272" cy="360040"/>
            </a:xfrm>
            <a:prstGeom prst="rect">
              <a:avLst/>
            </a:prstGeom>
            <a:solidFill>
              <a:srgbClr val="FFFF00"/>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TW" altLang="en-US" sz="1600" b="0" i="0" u="none" strike="noStrike" cap="none" normalizeH="0" baseline="0" dirty="0">
                  <a:ln>
                    <a:noFill/>
                  </a:ln>
                  <a:solidFill>
                    <a:schemeClr val="tx1"/>
                  </a:solidFill>
                  <a:effectLst/>
                  <a:latin typeface="+mn-ea"/>
                </a:rPr>
                <a:t>審查意見通知</a:t>
              </a:r>
            </a:p>
          </p:txBody>
        </p:sp>
        <p:sp>
          <p:nvSpPr>
            <p:cNvPr id="7" name="流程圖: 決策 6"/>
            <p:cNvSpPr/>
            <p:nvPr/>
          </p:nvSpPr>
          <p:spPr bwMode="auto">
            <a:xfrm>
              <a:off x="3758704" y="2373004"/>
              <a:ext cx="3658336" cy="1165966"/>
            </a:xfrm>
            <a:prstGeom prst="flowChartDecision">
              <a:avLst/>
            </a:prstGeom>
            <a:gradFill rotWithShape="0">
              <a:gsLst>
                <a:gs pos="0">
                  <a:srgbClr val="99CCFF"/>
                </a:gs>
                <a:gs pos="50000">
                  <a:srgbClr val="99CCFF">
                    <a:gamma/>
                    <a:tint val="38039"/>
                    <a:invGamma/>
                  </a:srgbClr>
                </a:gs>
                <a:gs pos="100000">
                  <a:srgbClr val="99CCFF"/>
                </a:gs>
              </a:gsLst>
              <a:lin ang="5400000" scaled="1"/>
            </a:gra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46800" rIns="36000" bIns="46800" numCol="1" rtlCol="0" anchor="ctr" anchorCtr="0" compatLnSpc="1">
              <a:prstTxWarp prst="textNoShape">
                <a:avLst/>
              </a:prstTxWarp>
              <a:spAutoFit/>
            </a:bodyPr>
            <a:lstStyle/>
            <a:p>
              <a:pPr algn="ctr" fontAlgn="base">
                <a:spcBef>
                  <a:spcPct val="0"/>
                </a:spcBef>
                <a:spcAft>
                  <a:spcPct val="0"/>
                </a:spcAft>
              </a:pPr>
              <a:r>
                <a:rPr kumimoji="1" lang="zh-TW" altLang="en-US" sz="1600" dirty="0">
                  <a:latin typeface="+mn-ea"/>
                </a:rPr>
                <a:t>是否仍無法排除</a:t>
              </a:r>
              <a:endParaRPr kumimoji="1" lang="en-US" altLang="zh-TW" sz="1600" dirty="0">
                <a:latin typeface="+mn-ea"/>
              </a:endParaRPr>
            </a:p>
            <a:p>
              <a:pPr algn="ctr" fontAlgn="base">
                <a:spcBef>
                  <a:spcPct val="0"/>
                </a:spcBef>
                <a:spcAft>
                  <a:spcPct val="0"/>
                </a:spcAft>
              </a:pPr>
              <a:r>
                <a:rPr kumimoji="1" lang="zh-TW" altLang="en-US" sz="1600" dirty="0">
                  <a:latin typeface="+mn-ea"/>
                </a:rPr>
                <a:t>先前不予專利事由</a:t>
              </a:r>
              <a:endParaRPr kumimoji="1" lang="zh-TW" altLang="en-US" sz="1600" b="0" i="0" u="none" strike="noStrike" cap="none" normalizeH="0" baseline="0" dirty="0">
                <a:ln>
                  <a:noFill/>
                </a:ln>
                <a:solidFill>
                  <a:schemeClr val="tx1"/>
                </a:solidFill>
                <a:effectLst/>
                <a:latin typeface="+mn-ea"/>
              </a:endParaRPr>
            </a:p>
          </p:txBody>
        </p:sp>
        <p:sp>
          <p:nvSpPr>
            <p:cNvPr id="8" name="矩形 7"/>
            <p:cNvSpPr/>
            <p:nvPr/>
          </p:nvSpPr>
          <p:spPr bwMode="auto">
            <a:xfrm>
              <a:off x="6838156" y="3571864"/>
              <a:ext cx="2267744" cy="1008112"/>
            </a:xfrm>
            <a:prstGeom prst="rect">
              <a:avLst/>
            </a:prstGeom>
            <a:solidFill>
              <a:srgbClr val="FF7171"/>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TW" altLang="en-US" sz="1600" b="0" i="0" u="none" strike="noStrike" cap="none" normalizeH="0" baseline="0" dirty="0">
                  <a:ln>
                    <a:noFill/>
                  </a:ln>
                  <a:solidFill>
                    <a:schemeClr val="tx1"/>
                  </a:solidFill>
                  <a:effectLst/>
                  <a:latin typeface="+mn-ea"/>
                </a:rPr>
                <a:t>核駁審定</a:t>
              </a:r>
              <a:endParaRPr kumimoji="1" lang="en-US" altLang="zh-TW" sz="1600" b="0" i="0" u="none" strike="noStrike" cap="none" normalizeH="0" baseline="0" dirty="0">
                <a:ln>
                  <a:noFill/>
                </a:ln>
                <a:solidFill>
                  <a:schemeClr val="tx1"/>
                </a:solidFill>
                <a:effectLst/>
                <a:latin typeface="+mn-ea"/>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600" dirty="0">
                  <a:latin typeface="+mn-ea"/>
                </a:rPr>
                <a:t>[</a:t>
              </a:r>
              <a:r>
                <a:rPr kumimoji="1" lang="zh-TW" altLang="en-US" sz="1600" dirty="0">
                  <a:latin typeface="+mn-ea"/>
                </a:rPr>
                <a:t>新增其他不予專利事由</a:t>
              </a:r>
              <a:endParaRPr kumimoji="1" lang="en-US" altLang="zh-TW" sz="1600" dirty="0">
                <a:latin typeface="+mn-ea"/>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zh-TW" altLang="en-US" sz="1600" dirty="0">
                  <a:latin typeface="+mn-ea"/>
                </a:rPr>
                <a:t>併予說明</a:t>
              </a:r>
              <a:r>
                <a:rPr kumimoji="1" lang="en-US" altLang="zh-TW" sz="1600" dirty="0">
                  <a:latin typeface="+mn-ea"/>
                </a:rPr>
                <a:t>]</a:t>
              </a:r>
              <a:endParaRPr kumimoji="1" lang="en-US" altLang="zh-TW" sz="1600" b="0" i="0" u="none" strike="noStrike" cap="none" normalizeH="0" baseline="0" dirty="0">
                <a:ln>
                  <a:noFill/>
                </a:ln>
                <a:solidFill>
                  <a:schemeClr val="tx1"/>
                </a:solidFill>
                <a:effectLst/>
                <a:latin typeface="+mn-ea"/>
              </a:endParaRPr>
            </a:p>
          </p:txBody>
        </p:sp>
        <p:sp>
          <p:nvSpPr>
            <p:cNvPr id="9" name="矩形 8"/>
            <p:cNvSpPr/>
            <p:nvPr/>
          </p:nvSpPr>
          <p:spPr bwMode="auto">
            <a:xfrm>
              <a:off x="4067944" y="5253324"/>
              <a:ext cx="2448272" cy="360040"/>
            </a:xfrm>
            <a:prstGeom prst="rect">
              <a:avLst/>
            </a:prstGeom>
            <a:ln/>
          </p:spPr>
          <p:style>
            <a:lnRef idx="1">
              <a:schemeClr val="accent3"/>
            </a:lnRef>
            <a:fillRef idx="2">
              <a:schemeClr val="accent3"/>
            </a:fillRef>
            <a:effectRef idx="1">
              <a:schemeClr val="accent3"/>
            </a:effectRef>
            <a:fontRef idx="minor">
              <a:schemeClr val="dk1"/>
            </a:fontRef>
          </p:style>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TW" altLang="en-US" sz="1600" b="0" i="0" u="none" strike="noStrike" cap="none" normalizeH="0" baseline="0" dirty="0">
                  <a:ln>
                    <a:noFill/>
                  </a:ln>
                  <a:solidFill>
                    <a:schemeClr val="tx1"/>
                  </a:solidFill>
                  <a:effectLst/>
                  <a:latin typeface="+mn-ea"/>
                </a:rPr>
                <a:t>核准審定</a:t>
              </a:r>
            </a:p>
          </p:txBody>
        </p:sp>
        <p:sp>
          <p:nvSpPr>
            <p:cNvPr id="10" name="流程圖: 決策 9"/>
            <p:cNvSpPr/>
            <p:nvPr/>
          </p:nvSpPr>
          <p:spPr bwMode="auto">
            <a:xfrm>
              <a:off x="1267892" y="3309108"/>
              <a:ext cx="2016224" cy="1165966"/>
            </a:xfrm>
            <a:prstGeom prst="flowChartDecision">
              <a:avLst/>
            </a:prstGeom>
            <a:gradFill rotWithShape="0">
              <a:gsLst>
                <a:gs pos="0">
                  <a:srgbClr val="99CCFF"/>
                </a:gs>
                <a:gs pos="50000">
                  <a:srgbClr val="99CCFF">
                    <a:gamma/>
                    <a:tint val="38039"/>
                    <a:invGamma/>
                  </a:srgbClr>
                </a:gs>
                <a:gs pos="100000">
                  <a:srgbClr val="99CCFF"/>
                </a:gs>
              </a:gsLst>
              <a:lin ang="5400000" scaled="1"/>
            </a:gra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46800" rIns="36000" bIns="46800" numCol="1" rtlCol="0" anchor="ctr" anchorCtr="0" compatLnSpc="1">
              <a:prstTxWarp prst="textNoShape">
                <a:avLst/>
              </a:prstTxWarp>
              <a:spAutoFit/>
            </a:bodyPr>
            <a:lstStyle/>
            <a:p>
              <a:pPr algn="ctr" fontAlgn="base">
                <a:spcBef>
                  <a:spcPct val="0"/>
                </a:spcBef>
                <a:spcAft>
                  <a:spcPct val="0"/>
                </a:spcAft>
              </a:pPr>
              <a:r>
                <a:rPr kumimoji="1" lang="zh-TW" altLang="en-US" sz="1600" dirty="0">
                  <a:latin typeface="+mn-ea"/>
                </a:rPr>
                <a:t>仍有不予專利事由</a:t>
              </a:r>
              <a:endParaRPr kumimoji="1" lang="zh-TW" altLang="en-US" sz="1600" b="0" i="0" u="none" strike="noStrike" cap="none" normalizeH="0" baseline="0" dirty="0">
                <a:ln>
                  <a:noFill/>
                </a:ln>
                <a:solidFill>
                  <a:schemeClr val="tx1"/>
                </a:solidFill>
                <a:effectLst/>
                <a:latin typeface="+mn-ea"/>
              </a:endParaRPr>
            </a:p>
          </p:txBody>
        </p:sp>
        <p:sp>
          <p:nvSpPr>
            <p:cNvPr id="11" name="流程圖: 決策 10"/>
            <p:cNvSpPr/>
            <p:nvPr/>
          </p:nvSpPr>
          <p:spPr bwMode="auto">
            <a:xfrm>
              <a:off x="903784" y="4821275"/>
              <a:ext cx="2732112" cy="1165966"/>
            </a:xfrm>
            <a:prstGeom prst="flowChartDecision">
              <a:avLst/>
            </a:prstGeom>
            <a:gradFill rotWithShape="0">
              <a:gsLst>
                <a:gs pos="0">
                  <a:srgbClr val="99CCFF"/>
                </a:gs>
                <a:gs pos="50000">
                  <a:srgbClr val="99CCFF">
                    <a:gamma/>
                    <a:tint val="38039"/>
                    <a:invGamma/>
                  </a:srgbClr>
                </a:gs>
                <a:gs pos="100000">
                  <a:srgbClr val="99CCFF"/>
                </a:gs>
              </a:gsLst>
              <a:lin ang="5400000" scaled="1"/>
            </a:gra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46800" rIns="36000" bIns="46800" numCol="1" rtlCol="0" anchor="ctr" anchorCtr="0" compatLnSpc="1">
              <a:prstTxWarp prst="textNoShape">
                <a:avLst/>
              </a:prstTxWarp>
              <a:spAutoFit/>
            </a:bodyPr>
            <a:lstStyle/>
            <a:p>
              <a:pPr algn="ctr" fontAlgn="base">
                <a:spcBef>
                  <a:spcPct val="0"/>
                </a:spcBef>
                <a:spcAft>
                  <a:spcPct val="0"/>
                </a:spcAft>
              </a:pPr>
              <a:r>
                <a:rPr kumimoji="1" lang="zh-TW" altLang="en-US" sz="1600" b="0" i="0" u="none" strike="noStrike" cap="none" normalizeH="0" baseline="0" dirty="0">
                  <a:ln>
                    <a:noFill/>
                  </a:ln>
                  <a:solidFill>
                    <a:schemeClr val="tx1"/>
                  </a:solidFill>
                  <a:effectLst/>
                  <a:latin typeface="+mn-ea"/>
                </a:rPr>
                <a:t>因修正產生新不予專利事由</a:t>
              </a:r>
            </a:p>
          </p:txBody>
        </p:sp>
        <p:sp>
          <p:nvSpPr>
            <p:cNvPr id="12" name="矩形 11"/>
            <p:cNvSpPr/>
            <p:nvPr/>
          </p:nvSpPr>
          <p:spPr bwMode="auto">
            <a:xfrm>
              <a:off x="1039168" y="6333444"/>
              <a:ext cx="2448272" cy="360040"/>
            </a:xfrm>
            <a:prstGeom prst="rect">
              <a:avLst/>
            </a:prstGeom>
            <a:solidFill>
              <a:srgbClr val="9090E4"/>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TW" altLang="en-US" sz="1600" b="0" i="0" u="none" strike="noStrike" cap="none" normalizeH="0" baseline="0" dirty="0">
                  <a:ln>
                    <a:noFill/>
                  </a:ln>
                  <a:solidFill>
                    <a:schemeClr val="tx1"/>
                  </a:solidFill>
                  <a:effectLst/>
                  <a:latin typeface="+mn-ea"/>
                </a:rPr>
                <a:t>最後通知</a:t>
              </a:r>
            </a:p>
          </p:txBody>
        </p:sp>
        <p:cxnSp>
          <p:nvCxnSpPr>
            <p:cNvPr id="13" name="直線單箭頭接點 12"/>
            <p:cNvCxnSpPr>
              <a:stCxn id="6" idx="3"/>
              <a:endCxn id="28" idx="1"/>
            </p:cNvCxnSpPr>
            <p:nvPr/>
          </p:nvCxnSpPr>
          <p:spPr bwMode="auto">
            <a:xfrm flipV="1">
              <a:off x="3275856" y="1587959"/>
              <a:ext cx="754112" cy="3685"/>
            </a:xfrm>
            <a:prstGeom prst="straightConnector1">
              <a:avLst/>
            </a:prstGeom>
            <a:gradFill rotWithShape="0">
              <a:gsLst>
                <a:gs pos="0">
                  <a:srgbClr val="99CCFF"/>
                </a:gs>
                <a:gs pos="50000">
                  <a:srgbClr val="99CCFF">
                    <a:gamma/>
                    <a:tint val="38039"/>
                    <a:invGamma/>
                  </a:srgbClr>
                </a:gs>
                <a:gs pos="100000">
                  <a:srgbClr val="99CCFF"/>
                </a:gs>
              </a:gsLst>
              <a:lin ang="5400000" scaled="1"/>
            </a:gradFill>
            <a:ln w="19050">
              <a:solidFill>
                <a:schemeClr val="tx1"/>
              </a:solidFill>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線單箭頭接點 13"/>
            <p:cNvCxnSpPr>
              <a:stCxn id="28" idx="2"/>
              <a:endCxn id="7" idx="0"/>
            </p:cNvCxnSpPr>
            <p:nvPr/>
          </p:nvCxnSpPr>
          <p:spPr bwMode="auto">
            <a:xfrm>
              <a:off x="5578140" y="1926387"/>
              <a:ext cx="9732" cy="446617"/>
            </a:xfrm>
            <a:prstGeom prst="straightConnector1">
              <a:avLst/>
            </a:prstGeom>
            <a:gradFill rotWithShape="0">
              <a:gsLst>
                <a:gs pos="0">
                  <a:srgbClr val="99CCFF"/>
                </a:gs>
                <a:gs pos="50000">
                  <a:srgbClr val="99CCFF">
                    <a:gamma/>
                    <a:tint val="38039"/>
                    <a:invGamma/>
                  </a:srgbClr>
                </a:gs>
                <a:gs pos="100000">
                  <a:srgbClr val="99CCFF"/>
                </a:gs>
              </a:gsLst>
              <a:lin ang="5400000" scaled="1"/>
            </a:gradFill>
            <a:ln w="19050">
              <a:solidFill>
                <a:schemeClr val="tx1"/>
              </a:solidFill>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圖案 28"/>
            <p:cNvCxnSpPr>
              <a:stCxn id="7" idx="1"/>
              <a:endCxn id="10" idx="0"/>
            </p:cNvCxnSpPr>
            <p:nvPr/>
          </p:nvCxnSpPr>
          <p:spPr bwMode="auto">
            <a:xfrm rot="10800000" flipV="1">
              <a:off x="2276004" y="2955986"/>
              <a:ext cx="1482700" cy="353121"/>
            </a:xfrm>
            <a:prstGeom prst="bentConnector2">
              <a:avLst/>
            </a:prstGeom>
            <a:gradFill rotWithShape="0">
              <a:gsLst>
                <a:gs pos="0">
                  <a:srgbClr val="99CCFF"/>
                </a:gs>
                <a:gs pos="50000">
                  <a:srgbClr val="99CCFF">
                    <a:gamma/>
                    <a:tint val="38039"/>
                    <a:invGamma/>
                  </a:srgbClr>
                </a:gs>
                <a:gs pos="100000">
                  <a:srgbClr val="99CCFF"/>
                </a:gs>
              </a:gsLst>
              <a:lin ang="5400000" scaled="1"/>
            </a:gradFill>
            <a:ln w="19050">
              <a:solidFill>
                <a:schemeClr val="tx1"/>
              </a:solidFill>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線單箭頭接點 15"/>
            <p:cNvCxnSpPr>
              <a:stCxn id="10" idx="2"/>
              <a:endCxn id="11" idx="0"/>
            </p:cNvCxnSpPr>
            <p:nvPr/>
          </p:nvCxnSpPr>
          <p:spPr bwMode="auto">
            <a:xfrm flipH="1">
              <a:off x="2269840" y="4475074"/>
              <a:ext cx="6164" cy="346201"/>
            </a:xfrm>
            <a:prstGeom prst="straightConnector1">
              <a:avLst/>
            </a:prstGeom>
            <a:gradFill rotWithShape="0">
              <a:gsLst>
                <a:gs pos="0">
                  <a:srgbClr val="99CCFF"/>
                </a:gs>
                <a:gs pos="50000">
                  <a:srgbClr val="99CCFF">
                    <a:gamma/>
                    <a:tint val="38039"/>
                    <a:invGamma/>
                  </a:srgbClr>
                </a:gs>
                <a:gs pos="100000">
                  <a:srgbClr val="99CCFF"/>
                </a:gs>
              </a:gsLst>
              <a:lin ang="5400000" scaled="1"/>
            </a:gradFill>
            <a:ln w="19050">
              <a:solidFill>
                <a:schemeClr val="tx1"/>
              </a:solidFill>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圖案 33"/>
            <p:cNvCxnSpPr>
              <a:stCxn id="10" idx="3"/>
              <a:endCxn id="9" idx="0"/>
            </p:cNvCxnSpPr>
            <p:nvPr/>
          </p:nvCxnSpPr>
          <p:spPr bwMode="auto">
            <a:xfrm>
              <a:off x="3284116" y="3892091"/>
              <a:ext cx="2007964" cy="1361233"/>
            </a:xfrm>
            <a:prstGeom prst="bentConnector2">
              <a:avLst/>
            </a:prstGeom>
            <a:gradFill rotWithShape="0">
              <a:gsLst>
                <a:gs pos="0">
                  <a:srgbClr val="99CCFF"/>
                </a:gs>
                <a:gs pos="50000">
                  <a:srgbClr val="99CCFF">
                    <a:gamma/>
                    <a:tint val="38039"/>
                    <a:invGamma/>
                  </a:srgbClr>
                </a:gs>
                <a:gs pos="100000">
                  <a:srgbClr val="99CCFF"/>
                </a:gs>
              </a:gsLst>
              <a:lin ang="5400000" scaled="1"/>
            </a:gradFill>
            <a:ln w="19050">
              <a:solidFill>
                <a:schemeClr val="tx1"/>
              </a:solidFill>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線單箭頭接點 17"/>
            <p:cNvCxnSpPr>
              <a:stCxn id="11" idx="2"/>
              <a:endCxn id="12" idx="0"/>
            </p:cNvCxnSpPr>
            <p:nvPr/>
          </p:nvCxnSpPr>
          <p:spPr bwMode="auto">
            <a:xfrm flipH="1">
              <a:off x="2263304" y="5987241"/>
              <a:ext cx="6536" cy="346203"/>
            </a:xfrm>
            <a:prstGeom prst="straightConnector1">
              <a:avLst/>
            </a:prstGeom>
            <a:gradFill rotWithShape="0">
              <a:gsLst>
                <a:gs pos="0">
                  <a:srgbClr val="99CCFF"/>
                </a:gs>
                <a:gs pos="50000">
                  <a:srgbClr val="99CCFF">
                    <a:gamma/>
                    <a:tint val="38039"/>
                    <a:invGamma/>
                  </a:srgbClr>
                </a:gs>
                <a:gs pos="100000">
                  <a:srgbClr val="99CCFF"/>
                </a:gs>
              </a:gsLst>
              <a:lin ang="5400000" scaled="1"/>
            </a:gradFill>
            <a:ln w="19050">
              <a:solidFill>
                <a:schemeClr val="tx1"/>
              </a:solidFill>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肘形接點 18"/>
            <p:cNvCxnSpPr>
              <a:stCxn id="11" idx="1"/>
              <a:endCxn id="6" idx="1"/>
            </p:cNvCxnSpPr>
            <p:nvPr/>
          </p:nvCxnSpPr>
          <p:spPr bwMode="auto">
            <a:xfrm rot="10800000">
              <a:off x="827584" y="1591644"/>
              <a:ext cx="76200" cy="3812614"/>
            </a:xfrm>
            <a:prstGeom prst="bentConnector3">
              <a:avLst>
                <a:gd name="adj1" fmla="val 900000"/>
              </a:avLst>
            </a:prstGeom>
            <a:gradFill rotWithShape="0">
              <a:gsLst>
                <a:gs pos="0">
                  <a:srgbClr val="99CCFF"/>
                </a:gs>
                <a:gs pos="50000">
                  <a:srgbClr val="99CCFF">
                    <a:gamma/>
                    <a:tint val="38039"/>
                    <a:invGamma/>
                  </a:srgbClr>
                </a:gs>
                <a:gs pos="100000">
                  <a:srgbClr val="99CCFF"/>
                </a:gs>
              </a:gsLst>
              <a:lin ang="5400000" scaled="1"/>
            </a:gradFill>
            <a:ln w="19050">
              <a:solidFill>
                <a:schemeClr val="tx1"/>
              </a:solidFill>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文字方塊 19"/>
            <p:cNvSpPr txBox="1"/>
            <p:nvPr/>
          </p:nvSpPr>
          <p:spPr>
            <a:xfrm>
              <a:off x="3265369" y="2547541"/>
              <a:ext cx="415498" cy="369332"/>
            </a:xfrm>
            <a:prstGeom prst="rect">
              <a:avLst/>
            </a:prstGeom>
            <a:noFill/>
            <a:ln>
              <a:noFill/>
            </a:ln>
          </p:spPr>
          <p:txBody>
            <a:bodyPr wrap="none" rtlCol="0">
              <a:spAutoFit/>
            </a:bodyPr>
            <a:lstStyle/>
            <a:p>
              <a:r>
                <a:rPr lang="zh-TW" altLang="en-US" dirty="0"/>
                <a:t>否</a:t>
              </a:r>
            </a:p>
          </p:txBody>
        </p:sp>
        <p:sp>
          <p:nvSpPr>
            <p:cNvPr id="21" name="文字方塊 20"/>
            <p:cNvSpPr txBox="1"/>
            <p:nvPr/>
          </p:nvSpPr>
          <p:spPr>
            <a:xfrm>
              <a:off x="7133672" y="2547541"/>
              <a:ext cx="415498" cy="369332"/>
            </a:xfrm>
            <a:prstGeom prst="rect">
              <a:avLst/>
            </a:prstGeom>
            <a:noFill/>
            <a:ln>
              <a:noFill/>
            </a:ln>
          </p:spPr>
          <p:txBody>
            <a:bodyPr wrap="none" rtlCol="0">
              <a:spAutoFit/>
            </a:bodyPr>
            <a:lstStyle/>
            <a:p>
              <a:r>
                <a:rPr lang="zh-TW" altLang="en-US" dirty="0"/>
                <a:t>是</a:t>
              </a:r>
            </a:p>
          </p:txBody>
        </p:sp>
        <p:sp>
          <p:nvSpPr>
            <p:cNvPr id="22" name="文字方塊 21"/>
            <p:cNvSpPr txBox="1"/>
            <p:nvPr/>
          </p:nvSpPr>
          <p:spPr>
            <a:xfrm>
              <a:off x="3275856" y="3525132"/>
              <a:ext cx="415498" cy="369332"/>
            </a:xfrm>
            <a:prstGeom prst="rect">
              <a:avLst/>
            </a:prstGeom>
            <a:noFill/>
            <a:ln>
              <a:noFill/>
            </a:ln>
          </p:spPr>
          <p:txBody>
            <a:bodyPr wrap="none" rtlCol="0">
              <a:spAutoFit/>
            </a:bodyPr>
            <a:lstStyle/>
            <a:p>
              <a:r>
                <a:rPr lang="zh-TW" altLang="en-US" dirty="0"/>
                <a:t>否</a:t>
              </a:r>
            </a:p>
          </p:txBody>
        </p:sp>
        <p:sp>
          <p:nvSpPr>
            <p:cNvPr id="23" name="文字方塊 22"/>
            <p:cNvSpPr txBox="1"/>
            <p:nvPr/>
          </p:nvSpPr>
          <p:spPr>
            <a:xfrm>
              <a:off x="2242344" y="4410436"/>
              <a:ext cx="415498" cy="369332"/>
            </a:xfrm>
            <a:prstGeom prst="rect">
              <a:avLst/>
            </a:prstGeom>
            <a:noFill/>
            <a:ln>
              <a:noFill/>
            </a:ln>
          </p:spPr>
          <p:txBody>
            <a:bodyPr wrap="none" rtlCol="0">
              <a:spAutoFit/>
            </a:bodyPr>
            <a:lstStyle/>
            <a:p>
              <a:r>
                <a:rPr lang="zh-TW" altLang="en-US" dirty="0"/>
                <a:t>是</a:t>
              </a:r>
            </a:p>
          </p:txBody>
        </p:sp>
        <p:sp>
          <p:nvSpPr>
            <p:cNvPr id="24" name="文字方塊 23"/>
            <p:cNvSpPr txBox="1"/>
            <p:nvPr/>
          </p:nvSpPr>
          <p:spPr>
            <a:xfrm>
              <a:off x="2204244" y="5926796"/>
              <a:ext cx="415498" cy="369332"/>
            </a:xfrm>
            <a:prstGeom prst="rect">
              <a:avLst/>
            </a:prstGeom>
            <a:noFill/>
            <a:ln>
              <a:noFill/>
            </a:ln>
          </p:spPr>
          <p:txBody>
            <a:bodyPr wrap="none" rtlCol="0">
              <a:spAutoFit/>
            </a:bodyPr>
            <a:lstStyle/>
            <a:p>
              <a:r>
                <a:rPr lang="zh-TW" altLang="en-US" dirty="0"/>
                <a:t>是</a:t>
              </a:r>
            </a:p>
          </p:txBody>
        </p:sp>
        <p:sp>
          <p:nvSpPr>
            <p:cNvPr id="25" name="文字方塊 24"/>
            <p:cNvSpPr txBox="1"/>
            <p:nvPr/>
          </p:nvSpPr>
          <p:spPr>
            <a:xfrm>
              <a:off x="539552" y="5012024"/>
              <a:ext cx="432048" cy="369332"/>
            </a:xfrm>
            <a:prstGeom prst="rect">
              <a:avLst/>
            </a:prstGeom>
            <a:noFill/>
            <a:ln>
              <a:noFill/>
            </a:ln>
          </p:spPr>
          <p:txBody>
            <a:bodyPr wrap="square" rtlCol="0">
              <a:spAutoFit/>
            </a:bodyPr>
            <a:lstStyle/>
            <a:p>
              <a:r>
                <a:rPr lang="zh-TW" altLang="en-US" dirty="0"/>
                <a:t>否</a:t>
              </a:r>
            </a:p>
          </p:txBody>
        </p:sp>
        <p:sp>
          <p:nvSpPr>
            <p:cNvPr id="26" name="文字方塊 25"/>
            <p:cNvSpPr txBox="1"/>
            <p:nvPr/>
          </p:nvSpPr>
          <p:spPr>
            <a:xfrm>
              <a:off x="7066756" y="1221000"/>
              <a:ext cx="1018227" cy="369332"/>
            </a:xfrm>
            <a:prstGeom prst="rect">
              <a:avLst/>
            </a:prstGeom>
            <a:noFill/>
            <a:ln>
              <a:noFill/>
            </a:ln>
          </p:spPr>
          <p:txBody>
            <a:bodyPr wrap="none" rtlCol="0">
              <a:spAutoFit/>
            </a:bodyPr>
            <a:lstStyle/>
            <a:p>
              <a:r>
                <a:rPr lang="zh-TW" altLang="en-US" dirty="0"/>
                <a:t>否</a:t>
              </a:r>
              <a:r>
                <a:rPr lang="en-US" altLang="zh-TW" dirty="0"/>
                <a:t>(</a:t>
              </a:r>
              <a:r>
                <a:rPr lang="zh-TW" altLang="en-US" dirty="0"/>
                <a:t>逾限</a:t>
              </a:r>
              <a:r>
                <a:rPr lang="en-US" altLang="zh-TW" dirty="0"/>
                <a:t>)</a:t>
              </a:r>
              <a:endParaRPr lang="zh-TW" altLang="en-US" dirty="0"/>
            </a:p>
          </p:txBody>
        </p:sp>
        <p:sp>
          <p:nvSpPr>
            <p:cNvPr id="27" name="文字方塊 26"/>
            <p:cNvSpPr txBox="1"/>
            <p:nvPr/>
          </p:nvSpPr>
          <p:spPr>
            <a:xfrm>
              <a:off x="5516612" y="1847864"/>
              <a:ext cx="415498" cy="369332"/>
            </a:xfrm>
            <a:prstGeom prst="rect">
              <a:avLst/>
            </a:prstGeom>
            <a:noFill/>
            <a:ln>
              <a:noFill/>
            </a:ln>
          </p:spPr>
          <p:txBody>
            <a:bodyPr wrap="none" rtlCol="0">
              <a:spAutoFit/>
            </a:bodyPr>
            <a:lstStyle/>
            <a:p>
              <a:r>
                <a:rPr lang="zh-TW" altLang="en-US" dirty="0"/>
                <a:t>是</a:t>
              </a:r>
            </a:p>
          </p:txBody>
        </p:sp>
        <p:sp>
          <p:nvSpPr>
            <p:cNvPr id="28" name="流程圖: 決策 27"/>
            <p:cNvSpPr/>
            <p:nvPr/>
          </p:nvSpPr>
          <p:spPr bwMode="auto">
            <a:xfrm>
              <a:off x="4029968" y="1249530"/>
              <a:ext cx="3096344" cy="676857"/>
            </a:xfrm>
            <a:prstGeom prst="flowChartDecision">
              <a:avLst/>
            </a:prstGeom>
            <a:gradFill rotWithShape="0">
              <a:gsLst>
                <a:gs pos="0">
                  <a:srgbClr val="99CCFF"/>
                </a:gs>
                <a:gs pos="50000">
                  <a:srgbClr val="99CCFF">
                    <a:gamma/>
                    <a:tint val="38039"/>
                    <a:invGamma/>
                  </a:srgbClr>
                </a:gs>
                <a:gs pos="100000">
                  <a:srgbClr val="99CCFF"/>
                </a:gs>
              </a:gsLst>
              <a:lin ang="5400000" scaled="1"/>
            </a:gra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46800" rIns="36000" bIns="46800" numCol="1" rtlCol="0" anchor="ctr" anchorCtr="0" compatLnSpc="1">
              <a:prstTxWarp prst="textNoShape">
                <a:avLst/>
              </a:prstTxWarp>
              <a:spAutoFit/>
            </a:bodyPr>
            <a:lstStyle/>
            <a:p>
              <a:pPr algn="ctr" fontAlgn="base">
                <a:spcBef>
                  <a:spcPct val="0"/>
                </a:spcBef>
                <a:spcAft>
                  <a:spcPct val="0"/>
                </a:spcAft>
              </a:pPr>
              <a:r>
                <a:rPr kumimoji="1" lang="zh-TW" altLang="en-US" sz="1600" b="0" i="0" u="none" strike="noStrike" cap="none" normalizeH="0" baseline="0" dirty="0">
                  <a:ln>
                    <a:noFill/>
                  </a:ln>
                  <a:solidFill>
                    <a:schemeClr val="tx1"/>
                  </a:solidFill>
                  <a:effectLst/>
                  <a:latin typeface="+mn-ea"/>
                </a:rPr>
                <a:t>是否申復、修正</a:t>
              </a:r>
            </a:p>
          </p:txBody>
        </p:sp>
        <p:cxnSp>
          <p:nvCxnSpPr>
            <p:cNvPr id="29" name="圖案 70"/>
            <p:cNvCxnSpPr>
              <a:stCxn id="28" idx="3"/>
              <a:endCxn id="8" idx="0"/>
            </p:cNvCxnSpPr>
            <p:nvPr/>
          </p:nvCxnSpPr>
          <p:spPr bwMode="auto">
            <a:xfrm>
              <a:off x="7126312" y="1587959"/>
              <a:ext cx="845716" cy="1983905"/>
            </a:xfrm>
            <a:prstGeom prst="bentConnector2">
              <a:avLst/>
            </a:prstGeom>
            <a:gradFill rotWithShape="0">
              <a:gsLst>
                <a:gs pos="0">
                  <a:srgbClr val="99CCFF"/>
                </a:gs>
                <a:gs pos="50000">
                  <a:srgbClr val="99CCFF">
                    <a:gamma/>
                    <a:tint val="38039"/>
                    <a:invGamma/>
                  </a:srgbClr>
                </a:gs>
                <a:gs pos="100000">
                  <a:srgbClr val="99CCFF"/>
                </a:gs>
              </a:gsLst>
              <a:lin ang="5400000" scaled="1"/>
            </a:gradFill>
            <a:ln w="19050">
              <a:solidFill>
                <a:schemeClr val="tx1"/>
              </a:solidFill>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接點 29"/>
            <p:cNvCxnSpPr/>
            <p:nvPr/>
          </p:nvCxnSpPr>
          <p:spPr bwMode="auto">
            <a:xfrm>
              <a:off x="7380312" y="2957700"/>
              <a:ext cx="576064" cy="0"/>
            </a:xfrm>
            <a:prstGeom prst="line">
              <a:avLst/>
            </a:prstGeom>
            <a:gradFill rotWithShape="0">
              <a:gsLst>
                <a:gs pos="0">
                  <a:srgbClr val="99CCFF"/>
                </a:gs>
                <a:gs pos="50000">
                  <a:srgbClr val="99CCFF">
                    <a:gamma/>
                    <a:tint val="38039"/>
                    <a:invGamma/>
                  </a:srgbClr>
                </a:gs>
                <a:gs pos="100000">
                  <a:srgbClr val="99CCFF"/>
                </a:gs>
              </a:gsLst>
              <a:lin ang="5400000" scaled="1"/>
            </a:gradFill>
            <a:ln w="19050">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p:cNvSpPr/>
            <p:nvPr/>
          </p:nvSpPr>
          <p:spPr>
            <a:xfrm>
              <a:off x="6666878" y="3368871"/>
              <a:ext cx="466794" cy="523220"/>
            </a:xfrm>
            <a:prstGeom prst="rect">
              <a:avLst/>
            </a:prstGeom>
            <a:noFill/>
          </p:spPr>
          <p:txBody>
            <a:bodyPr wrap="none" lIns="91440" tIns="45720" rIns="91440" bIns="45720">
              <a:spAutoFit/>
            </a:bodyPr>
            <a:lstStyle/>
            <a:p>
              <a:pPr algn="ctr"/>
              <a:r>
                <a:rPr lang="zh-TW" altLang="en-US" sz="2800" b="1" cap="none" spc="0" dirty="0">
                  <a:ln w="17780" cmpd="sng">
                    <a:solidFill>
                      <a:srgbClr val="FFFFFF"/>
                    </a:solidFill>
                    <a:prstDash val="solid"/>
                    <a:miter lim="800000"/>
                  </a:ln>
                  <a:solidFill>
                    <a:srgbClr val="7030A0"/>
                  </a:solidFill>
                  <a:effectLst>
                    <a:outerShdw blurRad="50800" algn="tl" rotWithShape="0">
                      <a:srgbClr val="000000"/>
                    </a:outerShdw>
                  </a:effectLst>
                  <a:sym typeface="Wingdings"/>
                </a:rPr>
                <a:t></a:t>
              </a:r>
              <a:endParaRPr lang="zh-TW" altLang="en-US" sz="2800" b="1" cap="none" spc="0" dirty="0">
                <a:ln w="17780" cmpd="sng">
                  <a:solidFill>
                    <a:srgbClr val="FFFFFF"/>
                  </a:solidFill>
                  <a:prstDash val="solid"/>
                  <a:miter lim="800000"/>
                </a:ln>
                <a:solidFill>
                  <a:srgbClr val="7030A0"/>
                </a:solidFill>
                <a:effectLst>
                  <a:outerShdw blurRad="50800" algn="tl" rotWithShape="0">
                    <a:srgbClr val="000000"/>
                  </a:outerShdw>
                </a:effectLst>
              </a:endParaRPr>
            </a:p>
          </p:txBody>
        </p:sp>
        <p:sp>
          <p:nvSpPr>
            <p:cNvPr id="32" name="矩形 31"/>
            <p:cNvSpPr/>
            <p:nvPr/>
          </p:nvSpPr>
          <p:spPr>
            <a:xfrm>
              <a:off x="3834547" y="4991714"/>
              <a:ext cx="466794" cy="523220"/>
            </a:xfrm>
            <a:prstGeom prst="rect">
              <a:avLst/>
            </a:prstGeom>
            <a:noFill/>
          </p:spPr>
          <p:txBody>
            <a:bodyPr wrap="none" lIns="91440" tIns="45720" rIns="91440" bIns="45720">
              <a:spAutoFit/>
            </a:bodyPr>
            <a:lstStyle/>
            <a:p>
              <a:pPr algn="ctr"/>
              <a:r>
                <a:rPr lang="zh-TW" altLang="en-US" sz="2800" b="1" cap="none" spc="0" dirty="0">
                  <a:ln w="17780" cmpd="sng">
                    <a:solidFill>
                      <a:srgbClr val="FFFFFF"/>
                    </a:solidFill>
                    <a:prstDash val="solid"/>
                    <a:miter lim="800000"/>
                  </a:ln>
                  <a:solidFill>
                    <a:srgbClr val="7030A0"/>
                  </a:solidFill>
                  <a:effectLst>
                    <a:outerShdw blurRad="50800" algn="tl" rotWithShape="0">
                      <a:srgbClr val="000000"/>
                    </a:outerShdw>
                  </a:effectLst>
                  <a:sym typeface="Wingdings"/>
                </a:rPr>
                <a:t></a:t>
              </a:r>
              <a:endParaRPr lang="zh-TW" altLang="en-US" sz="2800" b="1" cap="none" spc="0" dirty="0">
                <a:ln w="17780" cmpd="sng">
                  <a:solidFill>
                    <a:srgbClr val="FFFFFF"/>
                  </a:solidFill>
                  <a:prstDash val="solid"/>
                  <a:miter lim="800000"/>
                </a:ln>
                <a:solidFill>
                  <a:srgbClr val="7030A0"/>
                </a:solidFill>
                <a:effectLst>
                  <a:outerShdw blurRad="50800" algn="tl" rotWithShape="0">
                    <a:srgbClr val="000000"/>
                  </a:outerShdw>
                </a:effectLst>
              </a:endParaRPr>
            </a:p>
          </p:txBody>
        </p:sp>
      </p:grpSp>
    </p:spTree>
    <p:extLst>
      <p:ext uri="{BB962C8B-B14F-4D97-AF65-F5344CB8AC3E}">
        <p14:creationId xmlns:p14="http://schemas.microsoft.com/office/powerpoint/2010/main" val="31230633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eeting, Conference, Sales, Business, Material"/>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8325" y="3933055"/>
            <a:ext cx="3005331" cy="2336759"/>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p:txBody>
          <a:bodyPr/>
          <a:lstStyle/>
          <a:p>
            <a:r>
              <a:rPr lang="zh-TW" altLang="en-US" dirty="0"/>
              <a:t>面詢</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96</a:t>
            </a:fld>
            <a:endParaRPr lang="zh-TW" altLang="en-US" dirty="0">
              <a:solidFill>
                <a:prstClr val="black">
                  <a:tint val="75000"/>
                </a:prstClr>
              </a:solidFill>
            </a:endParaRPr>
          </a:p>
        </p:txBody>
      </p:sp>
      <p:grpSp>
        <p:nvGrpSpPr>
          <p:cNvPr id="5" name="群組 4"/>
          <p:cNvGrpSpPr/>
          <p:nvPr/>
        </p:nvGrpSpPr>
        <p:grpSpPr>
          <a:xfrm>
            <a:off x="611560" y="979029"/>
            <a:ext cx="8309873" cy="5621745"/>
            <a:chOff x="1506587" y="1010442"/>
            <a:chExt cx="8309873" cy="5621745"/>
          </a:xfrm>
        </p:grpSpPr>
        <p:pic>
          <p:nvPicPr>
            <p:cNvPr id="7"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078684" y="1015215"/>
              <a:ext cx="5737776" cy="5616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文字方塊 7"/>
            <p:cNvSpPr txBox="1"/>
            <p:nvPr/>
          </p:nvSpPr>
          <p:spPr>
            <a:xfrm>
              <a:off x="1506587" y="1010442"/>
              <a:ext cx="4201791" cy="1077218"/>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可不予辦理面詢之理由：</a:t>
              </a:r>
              <a:endParaRPr lang="en-US" altLang="zh-TW" sz="1600" dirty="0">
                <a:latin typeface="微軟正黑體" panose="020B0604030504040204" pitchFamily="34" charset="-120"/>
                <a:ea typeface="微軟正黑體" panose="020B0604030504040204" pitchFamily="34" charset="-120"/>
              </a:endParaRPr>
            </a:p>
            <a:p>
              <a:r>
                <a:rPr lang="en-US" altLang="zh-TW" sz="1600" dirty="0">
                  <a:latin typeface="微軟正黑體" panose="020B0604030504040204" pitchFamily="34" charset="-120"/>
                  <a:ea typeface="微軟正黑體" panose="020B0604030504040204" pitchFamily="34" charset="-120"/>
                </a:rPr>
                <a:t>1</a:t>
              </a:r>
              <a:r>
                <a:rPr lang="zh-TW" altLang="en-US" sz="1600" dirty="0">
                  <a:latin typeface="微軟正黑體" panose="020B0604030504040204" pitchFamily="34" charset="-120"/>
                  <a:ea typeface="微軟正黑體" panose="020B0604030504040204" pitchFamily="34" charset="-120"/>
                </a:rPr>
                <a:t>、</a:t>
              </a:r>
              <a:r>
                <a:rPr lang="zh-TW" altLang="en-US" sz="1600" u="sng" dirty="0">
                  <a:latin typeface="微軟正黑體" panose="020B0604030504040204" pitchFamily="34" charset="-120"/>
                  <a:ea typeface="微軟正黑體" panose="020B0604030504040204" pitchFamily="34" charset="-120"/>
                </a:rPr>
                <a:t>單純詢問</a:t>
              </a:r>
              <a:r>
                <a:rPr lang="zh-TW" altLang="en-US" sz="1600" dirty="0">
                  <a:latin typeface="微軟正黑體" panose="020B0604030504040204" pitchFamily="34" charset="-120"/>
                  <a:ea typeface="微軟正黑體" panose="020B0604030504040204" pitchFamily="34" charset="-120"/>
                </a:rPr>
                <a:t>可否准予專利</a:t>
              </a:r>
              <a:endParaRPr lang="en-US" altLang="zh-TW" sz="1600" dirty="0">
                <a:latin typeface="微軟正黑體" panose="020B0604030504040204" pitchFamily="34" charset="-120"/>
                <a:ea typeface="微軟正黑體" panose="020B0604030504040204" pitchFamily="34" charset="-120"/>
              </a:endParaRPr>
            </a:p>
            <a:p>
              <a:r>
                <a:rPr lang="en-US" altLang="zh-TW" sz="1600" dirty="0">
                  <a:latin typeface="微軟正黑體" panose="020B0604030504040204" pitchFamily="34" charset="-120"/>
                  <a:ea typeface="微軟正黑體" panose="020B0604030504040204" pitchFamily="34" charset="-120"/>
                </a:rPr>
                <a:t>2</a:t>
              </a:r>
              <a:r>
                <a:rPr lang="zh-TW" altLang="en-US" sz="1600" dirty="0">
                  <a:latin typeface="微軟正黑體" panose="020B0604030504040204" pitchFamily="34" charset="-120"/>
                  <a:ea typeface="微軟正黑體" panose="020B0604030504040204" pitchFamily="34" charset="-120"/>
                </a:rPr>
                <a:t>、明顯與技術內容、</a:t>
              </a:r>
              <a:r>
                <a:rPr lang="zh-TW" altLang="en-US" sz="1600" u="sng" dirty="0">
                  <a:latin typeface="微軟正黑體" panose="020B0604030504040204" pitchFamily="34" charset="-120"/>
                  <a:ea typeface="微軟正黑體" panose="020B0604030504040204" pitchFamily="34" charset="-120"/>
                </a:rPr>
                <a:t>案情無關</a:t>
              </a:r>
              <a:r>
                <a:rPr lang="zh-TW" altLang="en-US" sz="1600" dirty="0">
                  <a:latin typeface="微軟正黑體" panose="020B0604030504040204" pitchFamily="34" charset="-120"/>
                  <a:ea typeface="微軟正黑體" panose="020B0604030504040204" pitchFamily="34" charset="-120"/>
                </a:rPr>
                <a:t>之理由</a:t>
              </a:r>
              <a:endParaRPr lang="en-US" altLang="zh-TW" sz="1600" dirty="0">
                <a:latin typeface="微軟正黑體" panose="020B0604030504040204" pitchFamily="34" charset="-120"/>
                <a:ea typeface="微軟正黑體" panose="020B0604030504040204" pitchFamily="34" charset="-120"/>
              </a:endParaRPr>
            </a:p>
            <a:p>
              <a:r>
                <a:rPr lang="en-US" altLang="zh-TW" sz="1600" dirty="0">
                  <a:latin typeface="微軟正黑體" panose="020B0604030504040204" pitchFamily="34" charset="-120"/>
                  <a:ea typeface="微軟正黑體" panose="020B0604030504040204" pitchFamily="34" charset="-120"/>
                </a:rPr>
                <a:t>3</a:t>
              </a:r>
              <a:r>
                <a:rPr lang="zh-TW" altLang="en-US" sz="1600" dirty="0">
                  <a:latin typeface="微軟正黑體" panose="020B0604030504040204" pitchFamily="34" charset="-120"/>
                  <a:ea typeface="微軟正黑體" panose="020B0604030504040204" pitchFamily="34" charset="-120"/>
                </a:rPr>
                <a:t>、申請再面詢，</a:t>
              </a:r>
              <a:r>
                <a:rPr lang="zh-TW" altLang="en-US" sz="1600" u="sng" dirty="0">
                  <a:latin typeface="微軟正黑體" panose="020B0604030504040204" pitchFamily="34" charset="-120"/>
                  <a:ea typeface="微軟正黑體" panose="020B0604030504040204" pitchFamily="34" charset="-120"/>
                </a:rPr>
                <a:t>案情已臻明確</a:t>
              </a:r>
              <a:r>
                <a:rPr lang="zh-TW" altLang="en-US" sz="1600" dirty="0">
                  <a:latin typeface="微軟正黑體" panose="020B0604030504040204" pitchFamily="34" charset="-120"/>
                  <a:ea typeface="微軟正黑體" panose="020B0604030504040204" pitchFamily="34" charset="-120"/>
                </a:rPr>
                <a:t>，無面詢必要</a:t>
              </a:r>
            </a:p>
          </p:txBody>
        </p:sp>
        <p:sp>
          <p:nvSpPr>
            <p:cNvPr id="9" name="文字方塊 8"/>
            <p:cNvSpPr txBox="1"/>
            <p:nvPr/>
          </p:nvSpPr>
          <p:spPr>
            <a:xfrm>
              <a:off x="1630412" y="2106647"/>
              <a:ext cx="3467616" cy="33855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TW" altLang="en-US" sz="1600" dirty="0">
                  <a:latin typeface="微軟正黑體" panose="020B0604030504040204" pitchFamily="34" charset="-120"/>
                  <a:ea typeface="微軟正黑體" panose="020B0604030504040204" pitchFamily="34" charset="-120"/>
                </a:rPr>
                <a:t>若確認無辦理面詢之必要，退還規費</a:t>
              </a:r>
              <a:endParaRPr lang="en-US" altLang="zh-TW" sz="16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4861563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核駁審定</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97</a:t>
            </a:fld>
            <a:endParaRPr lang="zh-TW" altLang="en-US" dirty="0">
              <a:solidFill>
                <a:prstClr val="black">
                  <a:tint val="75000"/>
                </a:prstClr>
              </a:solidFill>
            </a:endParaRPr>
          </a:p>
        </p:txBody>
      </p:sp>
      <p:graphicFrame>
        <p:nvGraphicFramePr>
          <p:cNvPr id="6" name="图示 4"/>
          <p:cNvGraphicFramePr/>
          <p:nvPr>
            <p:extLst>
              <p:ext uri="{D42A27DB-BD31-4B8C-83A1-F6EECF244321}">
                <p14:modId xmlns:p14="http://schemas.microsoft.com/office/powerpoint/2010/main" val="378899534"/>
              </p:ext>
            </p:extLst>
          </p:nvPr>
        </p:nvGraphicFramePr>
        <p:xfrm>
          <a:off x="323528" y="1196752"/>
          <a:ext cx="8352928" cy="3528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向右箭號 6"/>
          <p:cNvSpPr/>
          <p:nvPr/>
        </p:nvSpPr>
        <p:spPr>
          <a:xfrm>
            <a:off x="1547664" y="2708920"/>
            <a:ext cx="165618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2</a:t>
            </a:r>
            <a:r>
              <a:rPr lang="zh-TW" altLang="en-US" dirty="0"/>
              <a:t>個月</a:t>
            </a:r>
          </a:p>
        </p:txBody>
      </p:sp>
      <p:sp>
        <p:nvSpPr>
          <p:cNvPr id="8" name="向右箭號 7"/>
          <p:cNvSpPr/>
          <p:nvPr/>
        </p:nvSpPr>
        <p:spPr>
          <a:xfrm>
            <a:off x="5076056" y="2708920"/>
            <a:ext cx="165618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2</a:t>
            </a:r>
            <a:r>
              <a:rPr lang="zh-TW" altLang="en-US" dirty="0"/>
              <a:t>個月</a:t>
            </a:r>
          </a:p>
        </p:txBody>
      </p:sp>
      <p:sp>
        <p:nvSpPr>
          <p:cNvPr id="9" name="向右箭號 8"/>
          <p:cNvSpPr/>
          <p:nvPr/>
        </p:nvSpPr>
        <p:spPr>
          <a:xfrm>
            <a:off x="3707904" y="2728697"/>
            <a:ext cx="864096"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30</a:t>
            </a:r>
            <a:r>
              <a:rPr lang="zh-TW" altLang="en-US" dirty="0"/>
              <a:t>日</a:t>
            </a:r>
          </a:p>
        </p:txBody>
      </p:sp>
    </p:spTree>
    <p:extLst>
      <p:ext uri="{BB962C8B-B14F-4D97-AF65-F5344CB8AC3E}">
        <p14:creationId xmlns:p14="http://schemas.microsoft.com/office/powerpoint/2010/main" val="131656745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fld id="{B83ACBEE-1837-4398-8376-AF0F7C4E2424}" type="slidenum">
              <a:rPr lang="zh-TW" altLang="en-US" smtClean="0">
                <a:solidFill>
                  <a:prstClr val="black">
                    <a:tint val="75000"/>
                  </a:prstClr>
                </a:solidFill>
              </a:rPr>
              <a:pPr>
                <a:defRPr/>
              </a:pPr>
              <a:t>98</a:t>
            </a:fld>
            <a:endParaRPr lang="zh-TW" altLang="en-US">
              <a:solidFill>
                <a:prstClr val="black">
                  <a:tint val="75000"/>
                </a:prstClr>
              </a:solidFill>
            </a:endParaRPr>
          </a:p>
        </p:txBody>
      </p:sp>
      <p:sp>
        <p:nvSpPr>
          <p:cNvPr id="6" name="標題 4"/>
          <p:cNvSpPr txBox="1">
            <a:spLocks/>
          </p:cNvSpPr>
          <p:nvPr/>
        </p:nvSpPr>
        <p:spPr>
          <a:xfrm>
            <a:off x="722313" y="4406900"/>
            <a:ext cx="7772400" cy="13620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800" b="1" kern="1200">
                <a:solidFill>
                  <a:schemeClr val="tx1"/>
                </a:solidFill>
                <a:latin typeface="微軟正黑體" pitchFamily="34" charset="-120"/>
                <a:ea typeface="微軟正黑體" pitchFamily="34" charset="-120"/>
                <a:cs typeface="+mj-cs"/>
              </a:defRPr>
            </a:lvl1pPr>
          </a:lstStyle>
          <a:p>
            <a:pPr algn="l"/>
            <a:r>
              <a:rPr lang="zh-TW" altLang="en-US" sz="5400" dirty="0"/>
              <a:t>專利權</a:t>
            </a:r>
          </a:p>
        </p:txBody>
      </p:sp>
    </p:spTree>
    <p:extLst>
      <p:ext uri="{BB962C8B-B14F-4D97-AF65-F5344CB8AC3E}">
        <p14:creationId xmlns:p14="http://schemas.microsoft.com/office/powerpoint/2010/main" val="25168965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核准審定</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99</a:t>
            </a:fld>
            <a:endParaRPr lang="zh-TW" altLang="en-US" dirty="0">
              <a:solidFill>
                <a:prstClr val="black">
                  <a:tint val="75000"/>
                </a:prstClr>
              </a:solidFill>
            </a:endParaRPr>
          </a:p>
        </p:txBody>
      </p:sp>
      <p:graphicFrame>
        <p:nvGraphicFramePr>
          <p:cNvPr id="5" name="图示 4"/>
          <p:cNvGraphicFramePr/>
          <p:nvPr>
            <p:extLst>
              <p:ext uri="{D42A27DB-BD31-4B8C-83A1-F6EECF244321}">
                <p14:modId xmlns:p14="http://schemas.microsoft.com/office/powerpoint/2010/main" val="1763617494"/>
              </p:ext>
            </p:extLst>
          </p:nvPr>
        </p:nvGraphicFramePr>
        <p:xfrm>
          <a:off x="323528" y="1196752"/>
          <a:ext cx="8352928" cy="3528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3563888" y="1340768"/>
            <a:ext cx="4572000" cy="461665"/>
          </a:xfrm>
          <a:prstGeom prst="rect">
            <a:avLst/>
          </a:prstGeom>
          <a:noFill/>
          <a:ln>
            <a:solidFill>
              <a:schemeClr val="accent1"/>
            </a:solidFill>
          </a:ln>
        </p:spPr>
        <p:txBody>
          <a:bodyPr anchor="ctr" anchorCtr="0">
            <a:spAutoFit/>
          </a:bodyPr>
          <a:lstStyle/>
          <a:p>
            <a:r>
              <a:rPr lang="en-US" altLang="zh-TW" sz="2400" dirty="0">
                <a:latin typeface="微軟正黑體" panose="020B0604030504040204" pitchFamily="34" charset="-120"/>
                <a:ea typeface="微軟正黑體" panose="020B0604030504040204" pitchFamily="34" charset="-120"/>
              </a:rPr>
              <a:t>3</a:t>
            </a:r>
            <a:r>
              <a:rPr lang="zh-TW" altLang="en-US" sz="2400" dirty="0">
                <a:latin typeface="微軟正黑體" panose="020B0604030504040204" pitchFamily="34" charset="-120"/>
                <a:ea typeface="微軟正黑體" panose="020B0604030504040204" pitchFamily="34" charset="-120"/>
              </a:rPr>
              <a:t>個月內繳納第</a:t>
            </a:r>
            <a:r>
              <a:rPr lang="en-US" altLang="zh-TW" sz="2400" dirty="0">
                <a:latin typeface="微軟正黑體" panose="020B0604030504040204" pitchFamily="34" charset="-120"/>
                <a:ea typeface="微軟正黑體" panose="020B0604030504040204" pitchFamily="34" charset="-120"/>
              </a:rPr>
              <a:t>1</a:t>
            </a:r>
            <a:r>
              <a:rPr lang="zh-TW" altLang="en-US" sz="2400" dirty="0">
                <a:latin typeface="微軟正黑體" panose="020B0604030504040204" pitchFamily="34" charset="-120"/>
                <a:ea typeface="微軟正黑體" panose="020B0604030504040204" pitchFamily="34" charset="-120"/>
              </a:rPr>
              <a:t>年年費及證書費 </a:t>
            </a:r>
          </a:p>
        </p:txBody>
      </p:sp>
      <p:cxnSp>
        <p:nvCxnSpPr>
          <p:cNvPr id="7" name="肘形接點 6"/>
          <p:cNvCxnSpPr/>
          <p:nvPr/>
        </p:nvCxnSpPr>
        <p:spPr>
          <a:xfrm>
            <a:off x="1187624" y="3769695"/>
            <a:ext cx="7632848" cy="1675528"/>
          </a:xfrm>
          <a:prstGeom prst="bentConnector3">
            <a:avLst>
              <a:gd name="adj1" fmla="val -33"/>
            </a:avLst>
          </a:prstGeom>
          <a:ln w="63500">
            <a:tailEnd type="stealth"/>
          </a:ln>
        </p:spPr>
        <p:style>
          <a:lnRef idx="3">
            <a:schemeClr val="accent6"/>
          </a:lnRef>
          <a:fillRef idx="0">
            <a:schemeClr val="accent6"/>
          </a:fillRef>
          <a:effectRef idx="2">
            <a:schemeClr val="accent6"/>
          </a:effectRef>
          <a:fontRef idx="minor">
            <a:schemeClr val="tx1"/>
          </a:fontRef>
        </p:style>
      </p:cxnSp>
      <p:sp>
        <p:nvSpPr>
          <p:cNvPr id="13" name="矩形 12"/>
          <p:cNvSpPr/>
          <p:nvPr/>
        </p:nvSpPr>
        <p:spPr>
          <a:xfrm>
            <a:off x="6863226" y="5676055"/>
            <a:ext cx="1944216" cy="461665"/>
          </a:xfrm>
          <a:prstGeom prst="rect">
            <a:avLst/>
          </a:prstGeom>
        </p:spPr>
        <p:txBody>
          <a:bodyPr wrap="square">
            <a:spAutoFit/>
          </a:bodyPr>
          <a:lstStyle/>
          <a:p>
            <a:r>
              <a:rPr lang="zh-TW" altLang="en-US" sz="2400" dirty="0">
                <a:latin typeface="微軟正黑體" panose="020B0604030504040204" pitchFamily="34" charset="-120"/>
                <a:ea typeface="微軟正黑體" panose="020B0604030504040204" pitchFamily="34" charset="-120"/>
              </a:rPr>
              <a:t>專利權期限</a:t>
            </a:r>
          </a:p>
        </p:txBody>
      </p:sp>
      <p:sp>
        <p:nvSpPr>
          <p:cNvPr id="15" name="上彎箭號 14"/>
          <p:cNvSpPr/>
          <p:nvPr/>
        </p:nvSpPr>
        <p:spPr>
          <a:xfrm rot="5400000">
            <a:off x="7519492" y="3474676"/>
            <a:ext cx="585736" cy="1872208"/>
          </a:xfrm>
          <a:prstGeom prst="bentUpArrow">
            <a:avLst>
              <a:gd name="adj1" fmla="val 25000"/>
              <a:gd name="adj2" fmla="val 18775"/>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p:cNvSpPr/>
          <p:nvPr/>
        </p:nvSpPr>
        <p:spPr>
          <a:xfrm>
            <a:off x="6743234" y="4703648"/>
            <a:ext cx="2031325" cy="461665"/>
          </a:xfrm>
          <a:prstGeom prst="rect">
            <a:avLst/>
          </a:prstGeom>
        </p:spPr>
        <p:txBody>
          <a:bodyPr wrap="none">
            <a:spAutoFit/>
          </a:bodyPr>
          <a:lstStyle/>
          <a:p>
            <a:r>
              <a:rPr lang="zh-TW" altLang="en-US" sz="2400" dirty="0">
                <a:latin typeface="微軟正黑體" panose="020B0604030504040204" pitchFamily="34" charset="-120"/>
                <a:ea typeface="微軟正黑體" panose="020B0604030504040204" pitchFamily="34" charset="-120"/>
              </a:rPr>
              <a:t>專利權起始日</a:t>
            </a:r>
          </a:p>
        </p:txBody>
      </p:sp>
    </p:spTree>
    <p:extLst>
      <p:ext uri="{BB962C8B-B14F-4D97-AF65-F5344CB8AC3E}">
        <p14:creationId xmlns:p14="http://schemas.microsoft.com/office/powerpoint/2010/main" val="195893231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專利權效力</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100</a:t>
            </a:fld>
            <a:endParaRPr lang="zh-TW" altLang="en-US" dirty="0">
              <a:solidFill>
                <a:prstClr val="black">
                  <a:tint val="75000"/>
                </a:prstClr>
              </a:solidFill>
            </a:endParaRPr>
          </a:p>
        </p:txBody>
      </p:sp>
      <p:sp>
        <p:nvSpPr>
          <p:cNvPr id="3" name="圓角矩形 2"/>
          <p:cNvSpPr/>
          <p:nvPr/>
        </p:nvSpPr>
        <p:spPr>
          <a:xfrm>
            <a:off x="107504" y="908720"/>
            <a:ext cx="1872208" cy="432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TW" altLang="en-US" sz="2000" dirty="0">
                <a:latin typeface="微軟正黑體" panose="020B0604030504040204" pitchFamily="34" charset="-120"/>
                <a:ea typeface="微軟正黑體" panose="020B0604030504040204" pitchFamily="34" charset="-120"/>
              </a:rPr>
              <a:t>專利法第</a:t>
            </a:r>
            <a:r>
              <a:rPr lang="en-US" altLang="zh-TW" sz="2000" dirty="0">
                <a:latin typeface="微軟正黑體" panose="020B0604030504040204" pitchFamily="34" charset="-120"/>
                <a:ea typeface="微軟正黑體" panose="020B0604030504040204" pitchFamily="34" charset="-120"/>
              </a:rPr>
              <a:t>58</a:t>
            </a:r>
            <a:r>
              <a:rPr lang="zh-TW" altLang="en-US" sz="2000" dirty="0">
                <a:latin typeface="微軟正黑體" panose="020B0604030504040204" pitchFamily="34" charset="-120"/>
                <a:ea typeface="微軟正黑體" panose="020B0604030504040204" pitchFamily="34" charset="-120"/>
              </a:rPr>
              <a:t>條</a:t>
            </a:r>
          </a:p>
        </p:txBody>
      </p:sp>
      <p:sp>
        <p:nvSpPr>
          <p:cNvPr id="5" name="圓角矩形 4"/>
          <p:cNvSpPr/>
          <p:nvPr/>
        </p:nvSpPr>
        <p:spPr>
          <a:xfrm>
            <a:off x="107504" y="1447280"/>
            <a:ext cx="8928992" cy="50405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TW" altLang="en-US" dirty="0">
                <a:latin typeface="微軟正黑體" panose="020B0604030504040204" pitchFamily="34" charset="-120"/>
                <a:ea typeface="微軟正黑體" panose="020B0604030504040204" pitchFamily="34" charset="-120"/>
              </a:rPr>
              <a:t>發明專利權人，除本法另有規定外，</a:t>
            </a:r>
            <a:r>
              <a:rPr lang="zh-TW" altLang="en-US" u="sng" dirty="0">
                <a:latin typeface="微軟正黑體" panose="020B0604030504040204" pitchFamily="34" charset="-120"/>
                <a:ea typeface="微軟正黑體" panose="020B0604030504040204" pitchFamily="34" charset="-120"/>
              </a:rPr>
              <a:t>專有排除他人</a:t>
            </a:r>
            <a:r>
              <a:rPr lang="zh-TW" altLang="en-US" dirty="0">
                <a:latin typeface="微軟正黑體" panose="020B0604030504040204" pitchFamily="34" charset="-120"/>
                <a:ea typeface="微軟正黑體" panose="020B0604030504040204" pitchFamily="34" charset="-120"/>
              </a:rPr>
              <a:t>未經其同意而實施該發明之權。</a:t>
            </a:r>
          </a:p>
        </p:txBody>
      </p:sp>
      <p:sp>
        <p:nvSpPr>
          <p:cNvPr id="7" name="矩形 6"/>
          <p:cNvSpPr/>
          <p:nvPr/>
        </p:nvSpPr>
        <p:spPr>
          <a:xfrm>
            <a:off x="107504" y="2420888"/>
            <a:ext cx="4320480" cy="4248472"/>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zh-TW" altLang="en-US" dirty="0"/>
          </a:p>
          <a:p>
            <a:pPr marL="285750" indent="-285750">
              <a:buFont typeface="Wingdings" panose="05000000000000000000" pitchFamily="2" charset="2"/>
              <a:buChar char="ü"/>
            </a:pPr>
            <a:r>
              <a:rPr lang="zh-TW" altLang="en-US" sz="2000" b="1" dirty="0">
                <a:latin typeface="微軟正黑體" panose="020B0604030504040204" pitchFamily="34" charset="-120"/>
                <a:ea typeface="微軟正黑體" panose="020B0604030504040204" pitchFamily="34" charset="-120"/>
              </a:rPr>
              <a:t>實施 </a:t>
            </a:r>
            <a:endParaRPr lang="en-US" altLang="zh-TW" sz="2000" b="1"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製造、為販賣之要約、販賣、使用或為上述目的而進口該物之行為 </a:t>
            </a:r>
          </a:p>
          <a:p>
            <a:pPr marL="285750" indent="-285750">
              <a:buFont typeface="Wingdings" panose="05000000000000000000" pitchFamily="2" charset="2"/>
              <a:buChar char="ü"/>
            </a:pPr>
            <a:r>
              <a:rPr lang="zh-TW" altLang="en-US" sz="2000" b="1" dirty="0">
                <a:latin typeface="微軟正黑體" panose="020B0604030504040204" pitchFamily="34" charset="-120"/>
                <a:ea typeface="微軟正黑體" panose="020B0604030504040204" pitchFamily="34" charset="-120"/>
              </a:rPr>
              <a:t>專有排除他人</a:t>
            </a:r>
            <a:endParaRPr lang="en-US" altLang="zh-TW" sz="2000" b="1"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未經其同意而製造、販賣、為販賣之要約、使用或為上述目的而進口該物之權 </a:t>
            </a:r>
          </a:p>
          <a:p>
            <a:endParaRPr lang="zh-TW" altLang="en-US" sz="2000" dirty="0">
              <a:latin typeface="微軟正黑體" panose="020B0604030504040204" pitchFamily="34" charset="-120"/>
              <a:ea typeface="微軟正黑體" panose="020B0604030504040204" pitchFamily="34" charset="-120"/>
            </a:endParaRPr>
          </a:p>
          <a:p>
            <a:endParaRPr lang="zh-TW" altLang="en-US" sz="2000" dirty="0">
              <a:latin typeface="微軟正黑體" panose="020B0604030504040204" pitchFamily="34" charset="-120"/>
              <a:ea typeface="微軟正黑體" panose="020B0604030504040204" pitchFamily="34" charset="-120"/>
            </a:endParaRPr>
          </a:p>
          <a:p>
            <a:pPr algn="ctr"/>
            <a:endParaRPr lang="zh-TW" altLang="en-US" dirty="0"/>
          </a:p>
        </p:txBody>
      </p:sp>
      <p:sp>
        <p:nvSpPr>
          <p:cNvPr id="9" name="矩形 8"/>
          <p:cNvSpPr/>
          <p:nvPr/>
        </p:nvSpPr>
        <p:spPr>
          <a:xfrm>
            <a:off x="4614768" y="2425929"/>
            <a:ext cx="4320480" cy="4248472"/>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zh-TW" altLang="en-US" dirty="0"/>
          </a:p>
          <a:p>
            <a:pPr marL="342900" indent="-342900">
              <a:buFont typeface="Wingdings" panose="05000000000000000000" pitchFamily="2" charset="2"/>
              <a:buChar char="ü"/>
            </a:pPr>
            <a:r>
              <a:rPr lang="zh-TW" altLang="en-US" sz="2000" b="1" dirty="0">
                <a:latin typeface="微軟正黑體" panose="020B0604030504040204" pitchFamily="34" charset="-120"/>
                <a:ea typeface="微軟正黑體" panose="020B0604030504040204" pitchFamily="34" charset="-120"/>
              </a:rPr>
              <a:t>實施 </a:t>
            </a:r>
            <a:endParaRPr lang="en-US" altLang="zh-TW" sz="2000" b="1"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使用該方法</a:t>
            </a:r>
            <a:endParaRPr lang="en-US" altLang="zh-TW" sz="2000"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使用、為販賣之要約、販賣或為上述目的而進口該方法直接製成之物 </a:t>
            </a:r>
          </a:p>
          <a:p>
            <a:pPr marL="342900" indent="-342900">
              <a:buFont typeface="Wingdings" panose="05000000000000000000" pitchFamily="2" charset="2"/>
              <a:buChar char="ü"/>
            </a:pPr>
            <a:r>
              <a:rPr lang="zh-TW" altLang="en-US" sz="2000" b="1" dirty="0">
                <a:latin typeface="微軟正黑體" panose="020B0604030504040204" pitchFamily="34" charset="-120"/>
                <a:ea typeface="微軟正黑體" panose="020B0604030504040204" pitchFamily="34" charset="-120"/>
              </a:rPr>
              <a:t>專有排除他人</a:t>
            </a:r>
            <a:endParaRPr lang="en-US" altLang="zh-TW" sz="2000" b="1"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未經其同意而使用該方法</a:t>
            </a:r>
            <a:endParaRPr lang="en-US" altLang="zh-TW" sz="2000" dirty="0">
              <a:latin typeface="微軟正黑體" panose="020B0604030504040204" pitchFamily="34" charset="-120"/>
              <a:ea typeface="微軟正黑體" panose="020B0604030504040204" pitchFamily="34" charset="-120"/>
            </a:endParaRPr>
          </a:p>
          <a:p>
            <a:pPr marL="800100" lvl="1" indent="-342900">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使用、販賣、為販賣之要約或為上述目的而進口該方法直接製成物品之權 </a:t>
            </a:r>
          </a:p>
          <a:p>
            <a:endParaRPr lang="zh-TW" altLang="en-US" sz="2000" dirty="0">
              <a:latin typeface="微軟正黑體" panose="020B0604030504040204" pitchFamily="34" charset="-120"/>
              <a:ea typeface="微軟正黑體" panose="020B0604030504040204" pitchFamily="34" charset="-120"/>
            </a:endParaRPr>
          </a:p>
          <a:p>
            <a:endParaRPr lang="zh-TW" altLang="en-US" dirty="0"/>
          </a:p>
        </p:txBody>
      </p:sp>
      <p:sp>
        <p:nvSpPr>
          <p:cNvPr id="6" name="圓角矩形 5"/>
          <p:cNvSpPr/>
          <p:nvPr/>
        </p:nvSpPr>
        <p:spPr>
          <a:xfrm>
            <a:off x="107504" y="2204864"/>
            <a:ext cx="1872208" cy="43204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TW" altLang="en-US" sz="2000" b="1" dirty="0">
                <a:latin typeface="微軟正黑體" panose="020B0604030504040204" pitchFamily="34" charset="-120"/>
                <a:ea typeface="微軟正黑體" panose="020B0604030504040204" pitchFamily="34" charset="-120"/>
              </a:rPr>
              <a:t>物之發明</a:t>
            </a:r>
          </a:p>
        </p:txBody>
      </p:sp>
      <p:sp>
        <p:nvSpPr>
          <p:cNvPr id="8" name="圓角矩形 7"/>
          <p:cNvSpPr/>
          <p:nvPr/>
        </p:nvSpPr>
        <p:spPr>
          <a:xfrm>
            <a:off x="4614768" y="2209905"/>
            <a:ext cx="1872208" cy="43204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TW" altLang="en-US" sz="2000" b="1" dirty="0">
                <a:latin typeface="微軟正黑體" panose="020B0604030504040204" pitchFamily="34" charset="-120"/>
                <a:ea typeface="微軟正黑體" panose="020B0604030504040204" pitchFamily="34" charset="-120"/>
              </a:rPr>
              <a:t>方法發明</a:t>
            </a:r>
          </a:p>
        </p:txBody>
      </p:sp>
    </p:spTree>
    <p:extLst>
      <p:ext uri="{BB962C8B-B14F-4D97-AF65-F5344CB8AC3E}">
        <p14:creationId xmlns:p14="http://schemas.microsoft.com/office/powerpoint/2010/main" val="4730319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專利權舉發</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101</a:t>
            </a:fld>
            <a:endParaRPr lang="zh-TW" altLang="en-US" dirty="0">
              <a:solidFill>
                <a:prstClr val="black">
                  <a:tint val="75000"/>
                </a:prstClr>
              </a:solidFill>
            </a:endParaRPr>
          </a:p>
        </p:txBody>
      </p:sp>
      <p:sp>
        <p:nvSpPr>
          <p:cNvPr id="5" name="矩形 4"/>
          <p:cNvSpPr/>
          <p:nvPr/>
        </p:nvSpPr>
        <p:spPr>
          <a:xfrm>
            <a:off x="117672" y="1052736"/>
            <a:ext cx="8846815" cy="2088232"/>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zh-TW" altLang="en-US" dirty="0"/>
          </a:p>
          <a:p>
            <a:pPr marL="285750" indent="-285750">
              <a:buFont typeface="Wingdings" panose="05000000000000000000" pitchFamily="2" charset="2"/>
              <a:buChar char="ü"/>
            </a:pPr>
            <a:r>
              <a:rPr lang="zh-TW" altLang="en-US" sz="2000" dirty="0">
                <a:latin typeface="微軟正黑體" panose="020B0604030504040204" pitchFamily="34" charset="-120"/>
                <a:ea typeface="微軟正黑體" panose="020B0604030504040204" pitchFamily="34" charset="-120"/>
              </a:rPr>
              <a:t>任何人對於已取得專利權之專利，認為有不應准予專利者，得對之提起舉發；惟專利權人不得自為舉發者</a:t>
            </a:r>
            <a:endParaRPr lang="en-US" altLang="zh-TW" sz="2000" dirty="0">
              <a:latin typeface="微軟正黑體" panose="020B0604030504040204" pitchFamily="34" charset="-120"/>
              <a:ea typeface="微軟正黑體" panose="020B0604030504040204" pitchFamily="34" charset="-120"/>
            </a:endParaRPr>
          </a:p>
          <a:p>
            <a:pPr marL="285750" indent="-285750">
              <a:spcBef>
                <a:spcPts val="2400"/>
              </a:spcBef>
              <a:buFont typeface="Wingdings" panose="05000000000000000000" pitchFamily="2" charset="2"/>
              <a:buChar char="ü"/>
            </a:pPr>
            <a:r>
              <a:rPr lang="zh-TW" altLang="en-US" sz="2000" dirty="0">
                <a:latin typeface="微軟正黑體" panose="020B0604030504040204" pitchFamily="34" charset="-120"/>
                <a:ea typeface="微軟正黑體" panose="020B0604030504040204" pitchFamily="34" charset="-120"/>
              </a:rPr>
              <a:t>例外：申請權之歸屬、共有專利申請權爭議，或於專利權當然消滅後始提起舉發者，僅利害關係人得提起舉發</a:t>
            </a:r>
          </a:p>
          <a:p>
            <a:endParaRPr lang="zh-TW" altLang="en-US" sz="2000" dirty="0">
              <a:latin typeface="微軟正黑體" panose="020B0604030504040204" pitchFamily="34" charset="-120"/>
              <a:ea typeface="微軟正黑體" panose="020B0604030504040204" pitchFamily="34" charset="-120"/>
            </a:endParaRPr>
          </a:p>
          <a:p>
            <a:endParaRPr lang="zh-TW" altLang="en-US" sz="2000" dirty="0">
              <a:latin typeface="微軟正黑體" panose="020B0604030504040204" pitchFamily="34" charset="-120"/>
              <a:ea typeface="微軟正黑體" panose="020B0604030504040204" pitchFamily="34" charset="-120"/>
            </a:endParaRPr>
          </a:p>
          <a:p>
            <a:pPr algn="ctr"/>
            <a:endParaRPr lang="zh-TW" altLang="en-US" dirty="0"/>
          </a:p>
        </p:txBody>
      </p:sp>
      <p:sp>
        <p:nvSpPr>
          <p:cNvPr id="6" name="圓角矩形 5"/>
          <p:cNvSpPr/>
          <p:nvPr/>
        </p:nvSpPr>
        <p:spPr>
          <a:xfrm>
            <a:off x="117673" y="836712"/>
            <a:ext cx="1872208" cy="43204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TW" altLang="en-US" sz="2000" b="1" dirty="0">
                <a:latin typeface="微軟正黑體" panose="020B0604030504040204" pitchFamily="34" charset="-120"/>
                <a:ea typeface="微軟正黑體" panose="020B0604030504040204" pitchFamily="34" charset="-120"/>
              </a:rPr>
              <a:t>公眾審查</a:t>
            </a:r>
          </a:p>
        </p:txBody>
      </p:sp>
      <p:sp>
        <p:nvSpPr>
          <p:cNvPr id="7" name="矩形 6"/>
          <p:cNvSpPr/>
          <p:nvPr/>
        </p:nvSpPr>
        <p:spPr>
          <a:xfrm>
            <a:off x="117671" y="3717032"/>
            <a:ext cx="8846815" cy="2808312"/>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zh-TW" altLang="en-US" dirty="0"/>
          </a:p>
          <a:p>
            <a:pPr marL="285750" indent="-285750">
              <a:buFont typeface="Wingdings" panose="05000000000000000000" pitchFamily="2" charset="2"/>
              <a:buChar char="ü"/>
            </a:pPr>
            <a:r>
              <a:rPr lang="zh-TW" altLang="en-US" sz="2000" dirty="0">
                <a:latin typeface="微軟正黑體" panose="020B0604030504040204" pitchFamily="34" charset="-120"/>
                <a:ea typeface="微軟正黑體" panose="020B0604030504040204" pitchFamily="34" charset="-120"/>
              </a:rPr>
              <a:t>發明專利權經舉發審查成立者，應撤銷其專利權；發明專利權經撤銷後，有下列情況者，即為撤銷確定：</a:t>
            </a:r>
            <a:endParaRPr lang="en-US" altLang="zh-TW" sz="2000" dirty="0">
              <a:latin typeface="微軟正黑體" panose="020B0604030504040204" pitchFamily="34" charset="-120"/>
              <a:ea typeface="微軟正黑體" panose="020B0604030504040204" pitchFamily="34" charset="-120"/>
            </a:endParaRPr>
          </a:p>
          <a:p>
            <a:pPr marL="800100" lvl="1" indent="-342900">
              <a:spcBef>
                <a:spcPts val="1800"/>
              </a:spcBef>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未依法提起行政救濟者</a:t>
            </a:r>
            <a:endParaRPr lang="en-US" altLang="zh-TW" sz="2000" dirty="0">
              <a:latin typeface="微軟正黑體" panose="020B0604030504040204" pitchFamily="34" charset="-120"/>
              <a:ea typeface="微軟正黑體" panose="020B0604030504040204" pitchFamily="34" charset="-120"/>
            </a:endParaRPr>
          </a:p>
          <a:p>
            <a:pPr marL="800100" lvl="1" indent="-342900">
              <a:spcBef>
                <a:spcPts val="1800"/>
              </a:spcBef>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提起行政救濟經駁回確定者</a:t>
            </a:r>
            <a:endParaRPr lang="en-US" altLang="zh-TW" sz="2000" dirty="0">
              <a:latin typeface="微軟正黑體" panose="020B0604030504040204" pitchFamily="34" charset="-120"/>
              <a:ea typeface="微軟正黑體" panose="020B0604030504040204" pitchFamily="34" charset="-120"/>
            </a:endParaRPr>
          </a:p>
          <a:p>
            <a:pPr marL="342900" indent="-342900">
              <a:spcBef>
                <a:spcPts val="2400"/>
              </a:spcBef>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發明專利權經撤銷確定者，專利權之效力，視為自始不存在</a:t>
            </a:r>
          </a:p>
          <a:p>
            <a:endParaRPr lang="zh-TW" altLang="en-US" sz="2000" dirty="0">
              <a:latin typeface="微軟正黑體" panose="020B0604030504040204" pitchFamily="34" charset="-120"/>
              <a:ea typeface="微軟正黑體" panose="020B0604030504040204" pitchFamily="34" charset="-120"/>
            </a:endParaRPr>
          </a:p>
          <a:p>
            <a:endParaRPr lang="zh-TW" altLang="en-US" sz="2000" dirty="0">
              <a:latin typeface="微軟正黑體" panose="020B0604030504040204" pitchFamily="34" charset="-120"/>
              <a:ea typeface="微軟正黑體" panose="020B0604030504040204" pitchFamily="34" charset="-120"/>
            </a:endParaRPr>
          </a:p>
          <a:p>
            <a:pPr algn="ctr"/>
            <a:endParaRPr lang="zh-TW" altLang="en-US" dirty="0"/>
          </a:p>
        </p:txBody>
      </p:sp>
      <p:sp>
        <p:nvSpPr>
          <p:cNvPr id="8" name="圓角矩形 7"/>
          <p:cNvSpPr/>
          <p:nvPr/>
        </p:nvSpPr>
        <p:spPr>
          <a:xfrm>
            <a:off x="117672" y="3501008"/>
            <a:ext cx="4886376" cy="43204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TW" altLang="en-US" sz="2000" b="1" dirty="0">
                <a:latin typeface="微軟正黑體" panose="020B0604030504040204" pitchFamily="34" charset="-120"/>
                <a:ea typeface="微軟正黑體" panose="020B0604030504040204" pitchFamily="34" charset="-120"/>
              </a:rPr>
              <a:t>目的：撤銷專利權，使專利自始不存在</a:t>
            </a:r>
          </a:p>
        </p:txBody>
      </p:sp>
    </p:spTree>
    <p:extLst>
      <p:ext uri="{BB962C8B-B14F-4D97-AF65-F5344CB8AC3E}">
        <p14:creationId xmlns:p14="http://schemas.microsoft.com/office/powerpoint/2010/main" val="475416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舉發事由</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102</a:t>
            </a:fld>
            <a:endParaRPr lang="zh-TW" altLang="en-US" dirty="0">
              <a:solidFill>
                <a:prstClr val="black">
                  <a:tint val="75000"/>
                </a:prstClr>
              </a:solidFill>
            </a:endParaRPr>
          </a:p>
        </p:txBody>
      </p:sp>
      <p:graphicFrame>
        <p:nvGraphicFramePr>
          <p:cNvPr id="5" name="資料庫圖表 4"/>
          <p:cNvGraphicFramePr/>
          <p:nvPr>
            <p:extLst>
              <p:ext uri="{D42A27DB-BD31-4B8C-83A1-F6EECF244321}">
                <p14:modId xmlns:p14="http://schemas.microsoft.com/office/powerpoint/2010/main" val="144486293"/>
              </p:ext>
            </p:extLst>
          </p:nvPr>
        </p:nvGraphicFramePr>
        <p:xfrm>
          <a:off x="107504" y="908720"/>
          <a:ext cx="8856984" cy="5832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14666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思考</a:t>
            </a:r>
          </a:p>
        </p:txBody>
      </p:sp>
      <p:sp>
        <p:nvSpPr>
          <p:cNvPr id="4" name="投影片編號版面配置區 3"/>
          <p:cNvSpPr>
            <a:spLocks noGrp="1"/>
          </p:cNvSpPr>
          <p:nvPr>
            <p:ph type="sldNum" sz="quarter" idx="12"/>
          </p:nvPr>
        </p:nvSpPr>
        <p:spPr/>
        <p:txBody>
          <a:bodyPr/>
          <a:lstStyle/>
          <a:p>
            <a:fld id="{25768BAF-173A-4148-B120-6C42E92911E4}" type="slidenum">
              <a:rPr lang="zh-TW" altLang="en-US" smtClean="0">
                <a:solidFill>
                  <a:prstClr val="black">
                    <a:tint val="75000"/>
                  </a:prstClr>
                </a:solidFill>
              </a:rPr>
              <a:pPr/>
              <a:t>103</a:t>
            </a:fld>
            <a:endParaRPr lang="zh-TW" altLang="en-US" dirty="0">
              <a:solidFill>
                <a:prstClr val="black">
                  <a:tint val="75000"/>
                </a:prstClr>
              </a:solidFill>
            </a:endParaRPr>
          </a:p>
        </p:txBody>
      </p:sp>
      <p:sp>
        <p:nvSpPr>
          <p:cNvPr id="6" name="矩形 5"/>
          <p:cNvSpPr/>
          <p:nvPr/>
        </p:nvSpPr>
        <p:spPr>
          <a:xfrm>
            <a:off x="107504" y="6511860"/>
            <a:ext cx="1935145" cy="246221"/>
          </a:xfrm>
          <a:prstGeom prst="rect">
            <a:avLst/>
          </a:prstGeom>
        </p:spPr>
        <p:txBody>
          <a:bodyPr wrap="none">
            <a:spAutoFit/>
          </a:bodyPr>
          <a:lstStyle/>
          <a:p>
            <a:r>
              <a:rPr lang="zh-TW" altLang="en-US" sz="1000" dirty="0"/>
              <a:t>圖片來源：</a:t>
            </a:r>
            <a:r>
              <a:rPr lang="en-US" altLang="zh-TW" sz="1000" dirty="0"/>
              <a:t>https://pixabay.com/</a:t>
            </a:r>
            <a:endParaRPr lang="zh-TW" altLang="en-US" sz="1000" dirty="0"/>
          </a:p>
        </p:txBody>
      </p:sp>
      <p:grpSp>
        <p:nvGrpSpPr>
          <p:cNvPr id="5" name="群組 4"/>
          <p:cNvGrpSpPr/>
          <p:nvPr/>
        </p:nvGrpSpPr>
        <p:grpSpPr>
          <a:xfrm>
            <a:off x="2256466" y="3715221"/>
            <a:ext cx="1897582" cy="1745433"/>
            <a:chOff x="119536" y="3715596"/>
            <a:chExt cx="1897582" cy="1745433"/>
          </a:xfrm>
        </p:grpSpPr>
        <p:pic>
          <p:nvPicPr>
            <p:cNvPr id="1026" name="Picture 2" descr="Kid, School Boy, Toddler, Kids, School, Education"/>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19536" y="3715596"/>
              <a:ext cx="1745433" cy="17454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use, Computer, Control, Peripheral, Computer Mous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525284" y="4588312"/>
              <a:ext cx="320096" cy="640192"/>
            </a:xfrm>
            <a:prstGeom prst="rect">
              <a:avLst/>
            </a:prstGeom>
            <a:noFill/>
            <a:extLst>
              <a:ext uri="{909E8E84-426E-40DD-AFC4-6F175D3DCCD1}">
                <a14:hiddenFill xmlns:a14="http://schemas.microsoft.com/office/drawing/2010/main">
                  <a:solidFill>
                    <a:srgbClr val="FFFFFF"/>
                  </a:solidFill>
                </a14:hiddenFill>
              </a:ext>
            </a:extLst>
          </p:spPr>
        </p:pic>
        <p:grpSp>
          <p:nvGrpSpPr>
            <p:cNvPr id="8" name="群組 7"/>
            <p:cNvGrpSpPr/>
            <p:nvPr/>
          </p:nvGrpSpPr>
          <p:grpSpPr>
            <a:xfrm>
              <a:off x="1339296" y="3881994"/>
              <a:ext cx="677822" cy="652528"/>
              <a:chOff x="2051720" y="2871095"/>
              <a:chExt cx="864096" cy="807518"/>
            </a:xfrm>
          </p:grpSpPr>
          <p:sp>
            <p:nvSpPr>
              <p:cNvPr id="9" name="書卷 (垂直) 8"/>
              <p:cNvSpPr/>
              <p:nvPr/>
            </p:nvSpPr>
            <p:spPr>
              <a:xfrm>
                <a:off x="2051720" y="2871095"/>
                <a:ext cx="864096" cy="807518"/>
              </a:xfrm>
              <a:prstGeom prst="verticalScroll">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pic>
            <p:nvPicPr>
              <p:cNvPr id="10" name="Picture 6"/>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232248" y="3026085"/>
                <a:ext cx="497294" cy="428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pic>
        <p:nvPicPr>
          <p:cNvPr id="12" name="Picture 4" descr="Borders, Country, Flag, Geography, Map, Nation, Asia"/>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491045" y="3582613"/>
            <a:ext cx="1332148" cy="190306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America, United States, Map, Flag, Us, Usa"/>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373007" y="2772807"/>
            <a:ext cx="1418381" cy="89683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Mouse, Computer, Control, Peripheral, Computer Mous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59309" y="2628791"/>
            <a:ext cx="320096" cy="64019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Borders, Country, Flag, Geography, Map, Nation, Asia"/>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256076" y="4509120"/>
            <a:ext cx="1332148" cy="19030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Mouse, Computer, Control, Peripheral, Computer Mous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922150" y="4412371"/>
            <a:ext cx="320096" cy="640192"/>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p:cNvSpPr/>
          <p:nvPr/>
        </p:nvSpPr>
        <p:spPr>
          <a:xfrm>
            <a:off x="323528" y="853272"/>
            <a:ext cx="8568952" cy="1477328"/>
          </a:xfrm>
          <a:prstGeom prst="rect">
            <a:avLst/>
          </a:prstGeom>
          <a:ln>
            <a:solidFill>
              <a:schemeClr val="accent1"/>
            </a:solidFill>
          </a:ln>
        </p:spPr>
        <p:txBody>
          <a:bodyPr wrap="square">
            <a:spAutoFit/>
          </a:bodyPr>
          <a:lstStyle/>
          <a:p>
            <a:r>
              <a:rPr lang="zh-TW" altLang="en-US" dirty="0">
                <a:latin typeface="微軟正黑體" panose="020B0604030504040204" pitchFamily="34" charset="-120"/>
                <a:ea typeface="微軟正黑體" panose="020B0604030504040204" pitchFamily="34" charset="-120"/>
              </a:rPr>
              <a:t>小明發明了一種新穎的電腦滑鼠，並獲得我國的發明專利權，有一天他看到了有人在販售與他發明一樣的滑鼠，以下哪一情況小明可以主張其專利權被侵害：</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、小明在美國看到滑鼠</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、小明在我國看到滑鼠</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、小明將滑鼠賣給了小華，看到小華在販售滑鼠</a:t>
            </a:r>
          </a:p>
        </p:txBody>
      </p:sp>
    </p:spTree>
    <p:extLst>
      <p:ext uri="{BB962C8B-B14F-4D97-AF65-F5344CB8AC3E}">
        <p14:creationId xmlns:p14="http://schemas.microsoft.com/office/powerpoint/2010/main" val="28968664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329796-72F2-B30D-7B56-3A12C379D633}"/>
              </a:ext>
            </a:extLst>
          </p:cNvPr>
          <p:cNvSpPr>
            <a:spLocks noGrp="1"/>
          </p:cNvSpPr>
          <p:nvPr>
            <p:ph type="title"/>
          </p:nvPr>
        </p:nvSpPr>
        <p:spPr/>
        <p:txBody>
          <a:bodyPr/>
          <a:lstStyle/>
          <a:p>
            <a:r>
              <a:rPr lang="zh-TW" altLang="en-US" dirty="0"/>
              <a:t>思考</a:t>
            </a:r>
          </a:p>
        </p:txBody>
      </p:sp>
      <p:sp>
        <p:nvSpPr>
          <p:cNvPr id="4" name="投影片編號版面配置區 3">
            <a:extLst>
              <a:ext uri="{FF2B5EF4-FFF2-40B4-BE49-F238E27FC236}">
                <a16:creationId xmlns:a16="http://schemas.microsoft.com/office/drawing/2014/main" id="{EB8942CC-6788-81A2-BE68-58F1D3902BB9}"/>
              </a:ext>
            </a:extLst>
          </p:cNvPr>
          <p:cNvSpPr>
            <a:spLocks noGrp="1"/>
          </p:cNvSpPr>
          <p:nvPr>
            <p:ph type="sldNum" sz="quarter" idx="12"/>
          </p:nvPr>
        </p:nvSpPr>
        <p:spPr/>
        <p:txBody>
          <a:bodyPr/>
          <a:lstStyle/>
          <a:p>
            <a:fld id="{254D4C32-7A1A-45A5-84ED-81747F1ABFAE}" type="slidenum">
              <a:rPr lang="zh-TW" altLang="en-US" smtClean="0"/>
              <a:t>104</a:t>
            </a:fld>
            <a:endParaRPr lang="zh-TW" altLang="en-US" dirty="0"/>
          </a:p>
        </p:txBody>
      </p:sp>
      <p:sp>
        <p:nvSpPr>
          <p:cNvPr id="6" name="文字方塊 5">
            <a:extLst>
              <a:ext uri="{FF2B5EF4-FFF2-40B4-BE49-F238E27FC236}">
                <a16:creationId xmlns:a16="http://schemas.microsoft.com/office/drawing/2014/main" id="{6254DDCE-89B4-A463-F5C3-4E1B9E1220B0}"/>
              </a:ext>
            </a:extLst>
          </p:cNvPr>
          <p:cNvSpPr txBox="1"/>
          <p:nvPr/>
        </p:nvSpPr>
        <p:spPr>
          <a:xfrm>
            <a:off x="136104" y="908720"/>
            <a:ext cx="8756376" cy="4093428"/>
          </a:xfrm>
          <a:prstGeom prst="rect">
            <a:avLst/>
          </a:prstGeom>
          <a:noFill/>
        </p:spPr>
        <p:txBody>
          <a:bodyPr wrap="square">
            <a:spAutoFit/>
          </a:bodyPr>
          <a:lstStyle/>
          <a:p>
            <a:r>
              <a:rPr lang="zh-TW" altLang="en-US" sz="2000" dirty="0">
                <a:latin typeface="微軟正黑體" panose="020B0604030504040204" pitchFamily="34" charset="-120"/>
                <a:ea typeface="微軟正黑體" panose="020B0604030504040204" pitchFamily="34" charset="-120"/>
              </a:rPr>
              <a:t>甲研發完成「皮箱角輪」發明，於 </a:t>
            </a:r>
            <a:r>
              <a:rPr lang="en-US" altLang="zh-TW" sz="2000" dirty="0">
                <a:latin typeface="微軟正黑體" panose="020B0604030504040204" pitchFamily="34" charset="-120"/>
                <a:ea typeface="微軟正黑體" panose="020B0604030504040204" pitchFamily="34" charset="-120"/>
              </a:rPr>
              <a:t>2015 </a:t>
            </a:r>
            <a:r>
              <a:rPr lang="zh-TW" altLang="en-US" sz="2000" dirty="0">
                <a:latin typeface="微軟正黑體" panose="020B0604030504040204" pitchFamily="34" charset="-120"/>
                <a:ea typeface="微軟正黑體" panose="020B0604030504040204" pitchFamily="34" charset="-120"/>
              </a:rPr>
              <a:t>年 </a:t>
            </a:r>
            <a:r>
              <a:rPr lang="en-US" altLang="zh-TW" sz="2000" dirty="0">
                <a:latin typeface="微軟正黑體" panose="020B0604030504040204" pitchFamily="34" charset="-120"/>
                <a:ea typeface="微軟正黑體" panose="020B0604030504040204" pitchFamily="34" charset="-120"/>
              </a:rPr>
              <a:t>5 </a:t>
            </a:r>
            <a:r>
              <a:rPr lang="zh-TW" altLang="en-US" sz="2000" dirty="0">
                <a:latin typeface="微軟正黑體" panose="020B0604030504040204" pitchFamily="34" charset="-120"/>
                <a:ea typeface="微軟正黑體" panose="020B0604030504040204" pitchFamily="34" charset="-120"/>
              </a:rPr>
              <a:t>月 </a:t>
            </a:r>
            <a:r>
              <a:rPr lang="en-US" altLang="zh-TW" sz="2000" dirty="0">
                <a:latin typeface="微軟正黑體" panose="020B0604030504040204" pitchFamily="34" charset="-120"/>
                <a:ea typeface="微軟正黑體" panose="020B0604030504040204" pitchFamily="34" charset="-120"/>
              </a:rPr>
              <a:t>20 </a:t>
            </a:r>
            <a:r>
              <a:rPr lang="zh-TW" altLang="en-US" sz="2000" dirty="0">
                <a:latin typeface="微軟正黑體" panose="020B0604030504040204" pitchFamily="34" charset="-120"/>
                <a:ea typeface="微軟正黑體" panose="020B0604030504040204" pitchFamily="34" charset="-120"/>
              </a:rPr>
              <a:t>日向經濟部智慧財產局（下稱智慧財產局）提出發明專利申請，</a:t>
            </a:r>
            <a:r>
              <a:rPr lang="en-US" altLang="zh-TW" sz="2000" dirty="0">
                <a:latin typeface="微軟正黑體" panose="020B0604030504040204" pitchFamily="34" charset="-120"/>
                <a:ea typeface="微軟正黑體" panose="020B0604030504040204" pitchFamily="34" charset="-120"/>
              </a:rPr>
              <a:t>2016 </a:t>
            </a:r>
            <a:r>
              <a:rPr lang="zh-TW" altLang="en-US" sz="2000" dirty="0">
                <a:latin typeface="微軟正黑體" panose="020B0604030504040204" pitchFamily="34" charset="-120"/>
                <a:ea typeface="微軟正黑體" panose="020B0604030504040204" pitchFamily="34" charset="-120"/>
              </a:rPr>
              <a:t>年 </a:t>
            </a:r>
            <a:r>
              <a:rPr lang="en-US" altLang="zh-TW" sz="2000" dirty="0">
                <a:latin typeface="微軟正黑體" panose="020B0604030504040204" pitchFamily="34" charset="-120"/>
                <a:ea typeface="微軟正黑體" panose="020B0604030504040204" pitchFamily="34" charset="-120"/>
              </a:rPr>
              <a:t>5 </a:t>
            </a:r>
            <a:r>
              <a:rPr lang="zh-TW" altLang="en-US" sz="2000" dirty="0">
                <a:latin typeface="微軟正黑體" panose="020B0604030504040204" pitchFamily="34" charset="-120"/>
                <a:ea typeface="微軟正黑體" panose="020B0604030504040204" pitchFamily="34" charset="-120"/>
              </a:rPr>
              <a:t>月間甲於市面上看到乙所產銷之旅行箱，其角輪應會落入甲擬取得專利權之請求項所界定範圍。經甲之申請，智慧財產局於 </a:t>
            </a:r>
            <a:r>
              <a:rPr lang="en-US" altLang="zh-TW" sz="2000" dirty="0">
                <a:latin typeface="微軟正黑體" panose="020B0604030504040204" pitchFamily="34" charset="-120"/>
                <a:ea typeface="微軟正黑體" panose="020B0604030504040204" pitchFamily="34" charset="-120"/>
              </a:rPr>
              <a:t>2016 </a:t>
            </a:r>
            <a:r>
              <a:rPr lang="zh-TW" altLang="en-US" sz="2000" dirty="0">
                <a:latin typeface="微軟正黑體" panose="020B0604030504040204" pitchFamily="34" charset="-120"/>
                <a:ea typeface="微軟正黑體" panose="020B0604030504040204" pitchFamily="34" charset="-120"/>
              </a:rPr>
              <a:t>年 </a:t>
            </a:r>
            <a:r>
              <a:rPr lang="en-US" altLang="zh-TW" sz="2000" dirty="0">
                <a:latin typeface="微軟正黑體" panose="020B0604030504040204" pitchFamily="34" charset="-120"/>
                <a:ea typeface="微軟正黑體" panose="020B0604030504040204" pitchFamily="34" charset="-120"/>
              </a:rPr>
              <a:t>7 </a:t>
            </a:r>
            <a:r>
              <a:rPr lang="zh-TW" altLang="en-US" sz="2000" dirty="0">
                <a:latin typeface="微軟正黑體" panose="020B0604030504040204" pitchFamily="34" charset="-120"/>
                <a:ea typeface="微軟正黑體" panose="020B0604030504040204" pitchFamily="34" charset="-120"/>
              </a:rPr>
              <a:t>月提早公開「皮箱角輪」之發明專利請案；其後，智慧財產局於 </a:t>
            </a:r>
            <a:r>
              <a:rPr lang="en-US" altLang="zh-TW" sz="2000" dirty="0">
                <a:latin typeface="微軟正黑體" panose="020B0604030504040204" pitchFamily="34" charset="-120"/>
                <a:ea typeface="微軟正黑體" panose="020B0604030504040204" pitchFamily="34" charset="-120"/>
              </a:rPr>
              <a:t>2017 </a:t>
            </a:r>
            <a:r>
              <a:rPr lang="zh-TW" altLang="en-US" sz="2000" dirty="0">
                <a:latin typeface="微軟正黑體" panose="020B0604030504040204" pitchFamily="34" charset="-120"/>
                <a:ea typeface="微軟正黑體" panose="020B0604030504040204" pitchFamily="34" charset="-120"/>
              </a:rPr>
              <a:t>年 </a:t>
            </a:r>
            <a:r>
              <a:rPr lang="en-US" altLang="zh-TW" sz="2000" dirty="0">
                <a:latin typeface="微軟正黑體" panose="020B0604030504040204" pitchFamily="34" charset="-120"/>
                <a:ea typeface="微軟正黑體" panose="020B0604030504040204" pitchFamily="34" charset="-120"/>
              </a:rPr>
              <a:t>3 </a:t>
            </a:r>
            <a:r>
              <a:rPr lang="zh-TW" altLang="en-US" sz="2000" dirty="0">
                <a:latin typeface="微軟正黑體" panose="020B0604030504040204" pitchFamily="34" charset="-120"/>
                <a:ea typeface="微軟正黑體" panose="020B0604030504040204" pitchFamily="34" charset="-120"/>
              </a:rPr>
              <a:t>月 </a:t>
            </a:r>
            <a:r>
              <a:rPr lang="en-US" altLang="zh-TW" sz="2000" dirty="0">
                <a:latin typeface="微軟正黑體" panose="020B0604030504040204" pitchFamily="34" charset="-120"/>
                <a:ea typeface="微軟正黑體" panose="020B0604030504040204" pitchFamily="34" charset="-120"/>
              </a:rPr>
              <a:t>1 </a:t>
            </a:r>
            <a:r>
              <a:rPr lang="zh-TW" altLang="en-US" sz="2000" dirty="0">
                <a:latin typeface="微軟正黑體" panose="020B0604030504040204" pitchFamily="34" charset="-120"/>
                <a:ea typeface="微軟正黑體" panose="020B0604030504040204" pitchFamily="34" charset="-120"/>
              </a:rPr>
              <a:t>日公告核准專利權（下稱 </a:t>
            </a:r>
            <a:r>
              <a:rPr lang="en-US" altLang="zh-TW" sz="2000" dirty="0">
                <a:latin typeface="微軟正黑體" panose="020B0604030504040204" pitchFamily="34" charset="-120"/>
                <a:ea typeface="微軟正黑體" panose="020B0604030504040204" pitchFamily="34" charset="-120"/>
              </a:rPr>
              <a:t>X </a:t>
            </a:r>
            <a:r>
              <a:rPr lang="zh-TW" altLang="en-US" sz="2000" dirty="0">
                <a:latin typeface="微軟正黑體" panose="020B0604030504040204" pitchFamily="34" charset="-120"/>
                <a:ea typeface="微軟正黑體" panose="020B0604030504040204" pitchFamily="34" charset="-120"/>
              </a:rPr>
              <a:t>專利權）。甲為了慶祝 </a:t>
            </a:r>
            <a:r>
              <a:rPr lang="en-US" altLang="zh-TW" sz="2000" dirty="0">
                <a:latin typeface="微軟正黑體" panose="020B0604030504040204" pitchFamily="34" charset="-120"/>
                <a:ea typeface="微軟正黑體" panose="020B0604030504040204" pitchFamily="34" charset="-120"/>
              </a:rPr>
              <a:t>X </a:t>
            </a:r>
            <a:r>
              <a:rPr lang="zh-TW" altLang="en-US" sz="2000" dirty="0">
                <a:latin typeface="微軟正黑體" panose="020B0604030504040204" pitchFamily="34" charset="-120"/>
                <a:ea typeface="微軟正黑體" panose="020B0604030504040204" pitchFamily="34" charset="-120"/>
              </a:rPr>
              <a:t>專利權獲准及行銷宣傳，免費提供一百個旅行箱給某偏鄉小學少棒隊，作為選手出國比賽之用。次年，該小學將剩餘而未使用之六十個旅行箱出售給丙運動用品社，丙以限時出清特賣方式銷售該旅行箱。</a:t>
            </a:r>
            <a:endParaRPr lang="en-US" altLang="zh-TW" sz="2000" dirty="0">
              <a:latin typeface="微軟正黑體" panose="020B0604030504040204" pitchFamily="34" charset="-120"/>
              <a:ea typeface="微軟正黑體" panose="020B0604030504040204" pitchFamily="34" charset="-120"/>
            </a:endParaRPr>
          </a:p>
          <a:p>
            <a:r>
              <a:rPr lang="zh-TW" altLang="en-US" sz="2000" dirty="0">
                <a:latin typeface="微軟正黑體" panose="020B0604030504040204" pitchFamily="34" charset="-120"/>
                <a:ea typeface="微軟正黑體" panose="020B0604030504040204" pitchFamily="34" charset="-120"/>
              </a:rPr>
              <a:t>請問：</a:t>
            </a:r>
          </a:p>
          <a:p>
            <a:pPr marL="342900" indent="-342900">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甲向智慧財產局申請提早公開「皮箱角輪」之發明專利申請案，其目</a:t>
            </a:r>
          </a:p>
          <a:p>
            <a:r>
              <a:rPr lang="zh-TW" altLang="en-US" sz="2000" dirty="0">
                <a:latin typeface="微軟正黑體" panose="020B0604030504040204" pitchFamily="34" charset="-120"/>
                <a:ea typeface="微軟正黑體" panose="020B0604030504040204" pitchFamily="34" charset="-120"/>
              </a:rPr>
              <a:t>的與重要性為何？</a:t>
            </a:r>
          </a:p>
          <a:p>
            <a:pPr marL="342900" indent="-342900">
              <a:buFont typeface="Wingdings" panose="05000000000000000000" pitchFamily="2" charset="2"/>
              <a:buChar char="Ø"/>
            </a:pPr>
            <a:r>
              <a:rPr lang="zh-TW" altLang="en-US" sz="2000" dirty="0">
                <a:latin typeface="微軟正黑體" panose="020B0604030504040204" pitchFamily="34" charset="-120"/>
                <a:ea typeface="微軟正黑體" panose="020B0604030504040204" pitchFamily="34" charset="-120"/>
              </a:rPr>
              <a:t>甲主張，丙所銷售旅行箱有使用 </a:t>
            </a:r>
            <a:r>
              <a:rPr lang="en-US" altLang="zh-TW" sz="2000" dirty="0">
                <a:latin typeface="微軟正黑體" panose="020B0604030504040204" pitchFamily="34" charset="-120"/>
                <a:ea typeface="微軟正黑體" panose="020B0604030504040204" pitchFamily="34" charset="-120"/>
              </a:rPr>
              <a:t>X </a:t>
            </a:r>
            <a:r>
              <a:rPr lang="zh-TW" altLang="en-US" sz="2000" dirty="0">
                <a:latin typeface="微軟正黑體" panose="020B0604030504040204" pitchFamily="34" charset="-120"/>
                <a:ea typeface="微軟正黑體" panose="020B0604030504040204" pitchFamily="34" charset="-120"/>
              </a:rPr>
              <a:t>專利權所保護之角輪，構成專利權</a:t>
            </a:r>
          </a:p>
          <a:p>
            <a:r>
              <a:rPr lang="zh-TW" altLang="en-US" sz="2000" dirty="0">
                <a:latin typeface="微軟正黑體" panose="020B0604030504040204" pitchFamily="34" charset="-120"/>
                <a:ea typeface="微軟正黑體" panose="020B0604030504040204" pitchFamily="34" charset="-120"/>
              </a:rPr>
              <a:t>侵害，是否有理？</a:t>
            </a:r>
          </a:p>
        </p:txBody>
      </p:sp>
      <p:cxnSp>
        <p:nvCxnSpPr>
          <p:cNvPr id="8" name="直線單箭頭接點 7">
            <a:extLst>
              <a:ext uri="{FF2B5EF4-FFF2-40B4-BE49-F238E27FC236}">
                <a16:creationId xmlns:a16="http://schemas.microsoft.com/office/drawing/2014/main" id="{93A804D6-B353-89D8-7D3B-E056E872DD85}"/>
              </a:ext>
            </a:extLst>
          </p:cNvPr>
          <p:cNvCxnSpPr/>
          <p:nvPr/>
        </p:nvCxnSpPr>
        <p:spPr>
          <a:xfrm flipV="1">
            <a:off x="251520" y="5661248"/>
            <a:ext cx="8517632" cy="72008"/>
          </a:xfrm>
          <a:prstGeom prst="straightConnector1">
            <a:avLst/>
          </a:prstGeom>
          <a:ln w="130175">
            <a:gradFill flip="none" rotWithShape="1">
              <a:gsLst>
                <a:gs pos="14000">
                  <a:srgbClr val="B86371"/>
                </a:gs>
                <a:gs pos="0">
                  <a:srgbClr val="C00000"/>
                </a:gs>
                <a:gs pos="48000">
                  <a:schemeClr val="accent1">
                    <a:lumMod val="45000"/>
                    <a:lumOff val="55000"/>
                  </a:schemeClr>
                </a:gs>
                <a:gs pos="71000">
                  <a:schemeClr val="accent1">
                    <a:lumMod val="45000"/>
                    <a:lumOff val="55000"/>
                  </a:schemeClr>
                </a:gs>
                <a:gs pos="93000">
                  <a:schemeClr val="accent1">
                    <a:lumMod val="30000"/>
                    <a:lumOff val="70000"/>
                  </a:schemeClr>
                </a:gs>
              </a:gsLst>
              <a:lin ang="1080000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9" name="橢圓 8">
            <a:extLst>
              <a:ext uri="{FF2B5EF4-FFF2-40B4-BE49-F238E27FC236}">
                <a16:creationId xmlns:a16="http://schemas.microsoft.com/office/drawing/2014/main" id="{56318AAE-74B2-42CE-0CC0-0080CDA66A95}"/>
              </a:ext>
            </a:extLst>
          </p:cNvPr>
          <p:cNvSpPr/>
          <p:nvPr/>
        </p:nvSpPr>
        <p:spPr>
          <a:xfrm>
            <a:off x="971600" y="5625244"/>
            <a:ext cx="216024" cy="21602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022A6F55-FAA4-1887-668B-85ED735C1C73}"/>
              </a:ext>
            </a:extLst>
          </p:cNvPr>
          <p:cNvSpPr txBox="1"/>
          <p:nvPr/>
        </p:nvSpPr>
        <p:spPr>
          <a:xfrm>
            <a:off x="487943" y="5273914"/>
            <a:ext cx="1183337" cy="369332"/>
          </a:xfrm>
          <a:prstGeom prst="rect">
            <a:avLst/>
          </a:prstGeom>
          <a:noFill/>
        </p:spPr>
        <p:txBody>
          <a:bodyPr wrap="none" rtlCol="0">
            <a:spAutoFit/>
          </a:bodyPr>
          <a:lstStyle/>
          <a:p>
            <a:r>
              <a:rPr lang="en-US" altLang="zh-TW" dirty="0"/>
              <a:t>2015/5/20</a:t>
            </a:r>
            <a:endParaRPr lang="zh-TW" altLang="en-US" dirty="0"/>
          </a:p>
        </p:txBody>
      </p:sp>
      <p:sp>
        <p:nvSpPr>
          <p:cNvPr id="11" name="文字方塊 10">
            <a:extLst>
              <a:ext uri="{FF2B5EF4-FFF2-40B4-BE49-F238E27FC236}">
                <a16:creationId xmlns:a16="http://schemas.microsoft.com/office/drawing/2014/main" id="{772A2BEB-5460-31AF-0391-9E362F6F1806}"/>
              </a:ext>
            </a:extLst>
          </p:cNvPr>
          <p:cNvSpPr txBox="1"/>
          <p:nvPr/>
        </p:nvSpPr>
        <p:spPr>
          <a:xfrm>
            <a:off x="371725" y="5859270"/>
            <a:ext cx="1415772" cy="584775"/>
          </a:xfrm>
          <a:prstGeom prst="rect">
            <a:avLst/>
          </a:prstGeom>
          <a:noFill/>
        </p:spPr>
        <p:txBody>
          <a:bodyPr wrap="none" rtlCol="0">
            <a:spAutoFit/>
          </a:bodyPr>
          <a:lstStyle/>
          <a:p>
            <a:pPr algn="ctr"/>
            <a:r>
              <a:rPr lang="zh-TW" altLang="en-US" sz="1600" dirty="0">
                <a:latin typeface="微軟正黑體" panose="020B0604030504040204" pitchFamily="34" charset="-120"/>
                <a:ea typeface="微軟正黑體" panose="020B0604030504040204" pitchFamily="34" charset="-120"/>
              </a:rPr>
              <a:t>甲申請</a:t>
            </a:r>
            <a:endParaRPr lang="en-US" altLang="zh-TW" sz="1600" dirty="0">
              <a:latin typeface="微軟正黑體" panose="020B0604030504040204" pitchFamily="34" charset="-120"/>
              <a:ea typeface="微軟正黑體" panose="020B0604030504040204" pitchFamily="34" charset="-120"/>
            </a:endParaRPr>
          </a:p>
          <a:p>
            <a:pPr algn="ctr"/>
            <a:r>
              <a:rPr lang="zh-TW" altLang="en-US" sz="1600" dirty="0">
                <a:latin typeface="微軟正黑體" panose="020B0604030504040204" pitchFamily="34" charset="-120"/>
                <a:ea typeface="微軟正黑體" panose="020B0604030504040204" pitchFamily="34" charset="-120"/>
              </a:rPr>
              <a:t>皮箱角輪發明</a:t>
            </a:r>
          </a:p>
        </p:txBody>
      </p:sp>
      <p:grpSp>
        <p:nvGrpSpPr>
          <p:cNvPr id="15" name="群組 14">
            <a:extLst>
              <a:ext uri="{FF2B5EF4-FFF2-40B4-BE49-F238E27FC236}">
                <a16:creationId xmlns:a16="http://schemas.microsoft.com/office/drawing/2014/main" id="{1FD0B4D6-38B4-0D1F-1AC3-AE58FDBC8F5A}"/>
              </a:ext>
            </a:extLst>
          </p:cNvPr>
          <p:cNvGrpSpPr/>
          <p:nvPr/>
        </p:nvGrpSpPr>
        <p:grpSpPr>
          <a:xfrm>
            <a:off x="2557253" y="5253622"/>
            <a:ext cx="1620957" cy="1421264"/>
            <a:chOff x="421533" y="5421403"/>
            <a:chExt cx="1620957" cy="1421264"/>
          </a:xfrm>
        </p:grpSpPr>
        <p:sp>
          <p:nvSpPr>
            <p:cNvPr id="12" name="橢圓 11">
              <a:extLst>
                <a:ext uri="{FF2B5EF4-FFF2-40B4-BE49-F238E27FC236}">
                  <a16:creationId xmlns:a16="http://schemas.microsoft.com/office/drawing/2014/main" id="{47CECED7-8DF8-A217-EDF9-951790FA87E9}"/>
                </a:ext>
              </a:extLst>
            </p:cNvPr>
            <p:cNvSpPr/>
            <p:nvPr/>
          </p:nvSpPr>
          <p:spPr>
            <a:xfrm>
              <a:off x="1124000" y="5777644"/>
              <a:ext cx="216024" cy="21602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C41C7466-9651-490A-2437-A737127CA3E6}"/>
                </a:ext>
              </a:extLst>
            </p:cNvPr>
            <p:cNvSpPr txBox="1"/>
            <p:nvPr/>
          </p:nvSpPr>
          <p:spPr>
            <a:xfrm>
              <a:off x="737677" y="5421403"/>
              <a:ext cx="859531" cy="369332"/>
            </a:xfrm>
            <a:prstGeom prst="rect">
              <a:avLst/>
            </a:prstGeom>
            <a:noFill/>
          </p:spPr>
          <p:txBody>
            <a:bodyPr wrap="none" rtlCol="0">
              <a:spAutoFit/>
            </a:bodyPr>
            <a:lstStyle/>
            <a:p>
              <a:r>
                <a:rPr lang="en-US" altLang="zh-TW" dirty="0"/>
                <a:t>2016/5</a:t>
              </a:r>
              <a:endParaRPr lang="zh-TW" altLang="en-US" dirty="0"/>
            </a:p>
          </p:txBody>
        </p:sp>
        <p:sp>
          <p:nvSpPr>
            <p:cNvPr id="14" name="文字方塊 13">
              <a:extLst>
                <a:ext uri="{FF2B5EF4-FFF2-40B4-BE49-F238E27FC236}">
                  <a16:creationId xmlns:a16="http://schemas.microsoft.com/office/drawing/2014/main" id="{9E284734-3A15-0AF5-B601-49F473AD0FFF}"/>
                </a:ext>
              </a:extLst>
            </p:cNvPr>
            <p:cNvSpPr txBox="1"/>
            <p:nvPr/>
          </p:nvSpPr>
          <p:spPr>
            <a:xfrm>
              <a:off x="421533" y="6011670"/>
              <a:ext cx="1620957" cy="830997"/>
            </a:xfrm>
            <a:prstGeom prst="rect">
              <a:avLst/>
            </a:prstGeom>
            <a:noFill/>
          </p:spPr>
          <p:txBody>
            <a:bodyPr wrap="none" rtlCol="0">
              <a:spAutoFit/>
            </a:bodyPr>
            <a:lstStyle/>
            <a:p>
              <a:pPr algn="ctr"/>
              <a:r>
                <a:rPr lang="zh-TW" altLang="en-US" sz="1600" dirty="0">
                  <a:latin typeface="微軟正黑體" panose="020B0604030504040204" pitchFamily="34" charset="-120"/>
                  <a:ea typeface="微軟正黑體" panose="020B0604030504040204" pitchFamily="34" charset="-120"/>
                </a:rPr>
                <a:t>甲發現乙</a:t>
              </a:r>
              <a:endParaRPr lang="en-US" altLang="zh-TW" sz="1600" dirty="0">
                <a:latin typeface="微軟正黑體" panose="020B0604030504040204" pitchFamily="34" charset="-120"/>
                <a:ea typeface="微軟正黑體" panose="020B0604030504040204" pitchFamily="34" charset="-120"/>
              </a:endParaRPr>
            </a:p>
            <a:p>
              <a:pPr algn="ctr"/>
              <a:r>
                <a:rPr lang="zh-TW" altLang="en-US" sz="1600" dirty="0">
                  <a:latin typeface="微軟正黑體" panose="020B0604030504040204" pitchFamily="34" charset="-120"/>
                  <a:ea typeface="微軟正黑體" panose="020B0604030504040204" pitchFamily="34" charset="-120"/>
                </a:rPr>
                <a:t>產銷的旅行箱，</a:t>
              </a:r>
              <a:endParaRPr lang="en-US" altLang="zh-TW" sz="1600" dirty="0">
                <a:latin typeface="微軟正黑體" panose="020B0604030504040204" pitchFamily="34" charset="-120"/>
                <a:ea typeface="微軟正黑體" panose="020B0604030504040204" pitchFamily="34" charset="-120"/>
              </a:endParaRPr>
            </a:p>
            <a:p>
              <a:pPr algn="ctr"/>
              <a:r>
                <a:rPr lang="zh-TW" altLang="en-US" sz="1600" dirty="0">
                  <a:latin typeface="微軟正黑體" panose="020B0604030504040204" pitchFamily="34" charset="-120"/>
                  <a:ea typeface="微軟正黑體" panose="020B0604030504040204" pitchFamily="34" charset="-120"/>
                </a:rPr>
                <a:t>其角輪可能侵權</a:t>
              </a:r>
            </a:p>
          </p:txBody>
        </p:sp>
      </p:grpSp>
      <p:grpSp>
        <p:nvGrpSpPr>
          <p:cNvPr id="16" name="群組 15">
            <a:extLst>
              <a:ext uri="{FF2B5EF4-FFF2-40B4-BE49-F238E27FC236}">
                <a16:creationId xmlns:a16="http://schemas.microsoft.com/office/drawing/2014/main" id="{8653D0CC-7731-6249-4F9A-3B0E3F753B98}"/>
              </a:ext>
            </a:extLst>
          </p:cNvPr>
          <p:cNvGrpSpPr/>
          <p:nvPr/>
        </p:nvGrpSpPr>
        <p:grpSpPr>
          <a:xfrm>
            <a:off x="4162487" y="5253747"/>
            <a:ext cx="1005403" cy="1175042"/>
            <a:chOff x="729312" y="5421403"/>
            <a:chExt cx="1005403" cy="1175042"/>
          </a:xfrm>
        </p:grpSpPr>
        <p:sp>
          <p:nvSpPr>
            <p:cNvPr id="17" name="橢圓 16">
              <a:extLst>
                <a:ext uri="{FF2B5EF4-FFF2-40B4-BE49-F238E27FC236}">
                  <a16:creationId xmlns:a16="http://schemas.microsoft.com/office/drawing/2014/main" id="{595A0DE9-1942-A4AA-CD08-40277241C10E}"/>
                </a:ext>
              </a:extLst>
            </p:cNvPr>
            <p:cNvSpPr/>
            <p:nvPr/>
          </p:nvSpPr>
          <p:spPr>
            <a:xfrm>
              <a:off x="1124000" y="5777644"/>
              <a:ext cx="216024" cy="21602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A5CA68B9-AE24-BCCC-6E29-D817668B9FA7}"/>
                </a:ext>
              </a:extLst>
            </p:cNvPr>
            <p:cNvSpPr txBox="1"/>
            <p:nvPr/>
          </p:nvSpPr>
          <p:spPr>
            <a:xfrm>
              <a:off x="737677" y="5421403"/>
              <a:ext cx="859531" cy="369332"/>
            </a:xfrm>
            <a:prstGeom prst="rect">
              <a:avLst/>
            </a:prstGeom>
            <a:noFill/>
          </p:spPr>
          <p:txBody>
            <a:bodyPr wrap="none" rtlCol="0">
              <a:spAutoFit/>
            </a:bodyPr>
            <a:lstStyle/>
            <a:p>
              <a:r>
                <a:rPr lang="en-US" altLang="zh-TW" dirty="0"/>
                <a:t>2016/7</a:t>
              </a:r>
              <a:endParaRPr lang="zh-TW" altLang="en-US" dirty="0"/>
            </a:p>
          </p:txBody>
        </p:sp>
        <p:sp>
          <p:nvSpPr>
            <p:cNvPr id="19" name="文字方塊 18">
              <a:extLst>
                <a:ext uri="{FF2B5EF4-FFF2-40B4-BE49-F238E27FC236}">
                  <a16:creationId xmlns:a16="http://schemas.microsoft.com/office/drawing/2014/main" id="{3263A161-B419-8CDE-5197-3B9F336F6BE1}"/>
                </a:ext>
              </a:extLst>
            </p:cNvPr>
            <p:cNvSpPr txBox="1"/>
            <p:nvPr/>
          </p:nvSpPr>
          <p:spPr>
            <a:xfrm>
              <a:off x="729312" y="6011670"/>
              <a:ext cx="1005403" cy="584775"/>
            </a:xfrm>
            <a:prstGeom prst="rect">
              <a:avLst/>
            </a:prstGeom>
            <a:noFill/>
          </p:spPr>
          <p:txBody>
            <a:bodyPr wrap="none" rtlCol="0">
              <a:spAutoFit/>
            </a:bodyPr>
            <a:lstStyle/>
            <a:p>
              <a:pPr algn="ctr"/>
              <a:r>
                <a:rPr lang="zh-TW" altLang="en-US" sz="1600" dirty="0">
                  <a:latin typeface="微軟正黑體" panose="020B0604030504040204" pitchFamily="34" charset="-120"/>
                  <a:ea typeface="微軟正黑體" panose="020B0604030504040204" pitchFamily="34" charset="-120"/>
                </a:rPr>
                <a:t>甲提早</a:t>
              </a:r>
              <a:endParaRPr lang="en-US" altLang="zh-TW" sz="1600" dirty="0">
                <a:latin typeface="微軟正黑體" panose="020B0604030504040204" pitchFamily="34" charset="-120"/>
                <a:ea typeface="微軟正黑體" panose="020B0604030504040204" pitchFamily="34" charset="-120"/>
              </a:endParaRPr>
            </a:p>
            <a:p>
              <a:pPr algn="ctr"/>
              <a:r>
                <a:rPr lang="zh-TW" altLang="en-US" sz="1600" dirty="0">
                  <a:latin typeface="微軟正黑體" panose="020B0604030504040204" pitchFamily="34" charset="-120"/>
                  <a:ea typeface="微軟正黑體" panose="020B0604030504040204" pitchFamily="34" charset="-120"/>
                </a:rPr>
                <a:t>公開發明</a:t>
              </a:r>
            </a:p>
          </p:txBody>
        </p:sp>
      </p:grpSp>
      <p:grpSp>
        <p:nvGrpSpPr>
          <p:cNvPr id="20" name="群組 19">
            <a:extLst>
              <a:ext uri="{FF2B5EF4-FFF2-40B4-BE49-F238E27FC236}">
                <a16:creationId xmlns:a16="http://schemas.microsoft.com/office/drawing/2014/main" id="{55843220-71FA-31B7-8610-FF0F268382CF}"/>
              </a:ext>
            </a:extLst>
          </p:cNvPr>
          <p:cNvGrpSpPr/>
          <p:nvPr/>
        </p:nvGrpSpPr>
        <p:grpSpPr>
          <a:xfrm>
            <a:off x="5488363" y="5238366"/>
            <a:ext cx="1066318" cy="1175042"/>
            <a:chOff x="737677" y="5421403"/>
            <a:chExt cx="1066318" cy="1175042"/>
          </a:xfrm>
        </p:grpSpPr>
        <p:sp>
          <p:nvSpPr>
            <p:cNvPr id="21" name="橢圓 20">
              <a:extLst>
                <a:ext uri="{FF2B5EF4-FFF2-40B4-BE49-F238E27FC236}">
                  <a16:creationId xmlns:a16="http://schemas.microsoft.com/office/drawing/2014/main" id="{3063C2F4-8016-BA08-EFF0-496922C7E8ED}"/>
                </a:ext>
              </a:extLst>
            </p:cNvPr>
            <p:cNvSpPr/>
            <p:nvPr/>
          </p:nvSpPr>
          <p:spPr>
            <a:xfrm>
              <a:off x="1124000" y="5777644"/>
              <a:ext cx="216024" cy="21602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618EF8EA-442F-CA26-A0F7-3E04FAA2136F}"/>
                </a:ext>
              </a:extLst>
            </p:cNvPr>
            <p:cNvSpPr txBox="1"/>
            <p:nvPr/>
          </p:nvSpPr>
          <p:spPr>
            <a:xfrm>
              <a:off x="737677" y="5421403"/>
              <a:ext cx="1066318" cy="369332"/>
            </a:xfrm>
            <a:prstGeom prst="rect">
              <a:avLst/>
            </a:prstGeom>
            <a:noFill/>
          </p:spPr>
          <p:txBody>
            <a:bodyPr wrap="none" rtlCol="0">
              <a:spAutoFit/>
            </a:bodyPr>
            <a:lstStyle/>
            <a:p>
              <a:r>
                <a:rPr lang="en-US" altLang="zh-TW" dirty="0"/>
                <a:t>2017/3/1</a:t>
              </a:r>
              <a:endParaRPr lang="zh-TW" altLang="en-US" dirty="0"/>
            </a:p>
          </p:txBody>
        </p:sp>
        <p:sp>
          <p:nvSpPr>
            <p:cNvPr id="23" name="文字方塊 22">
              <a:extLst>
                <a:ext uri="{FF2B5EF4-FFF2-40B4-BE49-F238E27FC236}">
                  <a16:creationId xmlns:a16="http://schemas.microsoft.com/office/drawing/2014/main" id="{A688C01F-3802-0535-30BC-3F020A1F83D8}"/>
                </a:ext>
              </a:extLst>
            </p:cNvPr>
            <p:cNvSpPr txBox="1"/>
            <p:nvPr/>
          </p:nvSpPr>
          <p:spPr>
            <a:xfrm>
              <a:off x="831904" y="6011670"/>
              <a:ext cx="800219" cy="584775"/>
            </a:xfrm>
            <a:prstGeom prst="rect">
              <a:avLst/>
            </a:prstGeom>
            <a:noFill/>
          </p:spPr>
          <p:txBody>
            <a:bodyPr wrap="none" rtlCol="0">
              <a:spAutoFit/>
            </a:bodyPr>
            <a:lstStyle/>
            <a:p>
              <a:pPr algn="ctr"/>
              <a:r>
                <a:rPr lang="zh-TW" altLang="en-US" sz="1600" dirty="0">
                  <a:latin typeface="微軟正黑體" panose="020B0604030504040204" pitchFamily="34" charset="-120"/>
                  <a:ea typeface="微軟正黑體" panose="020B0604030504040204" pitchFamily="34" charset="-120"/>
                </a:rPr>
                <a:t>甲獲得</a:t>
              </a:r>
              <a:endParaRPr lang="en-US" altLang="zh-TW" sz="1600" dirty="0">
                <a:latin typeface="微軟正黑體" panose="020B0604030504040204" pitchFamily="34" charset="-120"/>
                <a:ea typeface="微軟正黑體" panose="020B0604030504040204" pitchFamily="34" charset="-120"/>
              </a:endParaRPr>
            </a:p>
            <a:p>
              <a:pPr algn="ctr"/>
              <a:r>
                <a:rPr lang="zh-TW" altLang="en-US" sz="1600" dirty="0">
                  <a:latin typeface="微軟正黑體" panose="020B0604030504040204" pitchFamily="34" charset="-120"/>
                  <a:ea typeface="微軟正黑體" panose="020B0604030504040204" pitchFamily="34" charset="-120"/>
                </a:rPr>
                <a:t>專利權</a:t>
              </a:r>
            </a:p>
          </p:txBody>
        </p:sp>
      </p:grpSp>
      <p:pic>
        <p:nvPicPr>
          <p:cNvPr id="3" name="ttsmaker-file-2024-9-10-21-53-21">
            <a:hlinkClick r:id="" action="ppaction://media"/>
            <a:extLst>
              <a:ext uri="{FF2B5EF4-FFF2-40B4-BE49-F238E27FC236}">
                <a16:creationId xmlns:a16="http://schemas.microsoft.com/office/drawing/2014/main" id="{7986E80D-A73D-7394-EA82-C5E98668B09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572270" y="6259387"/>
            <a:ext cx="487363" cy="487363"/>
          </a:xfrm>
          <a:prstGeom prst="rect">
            <a:avLst/>
          </a:prstGeom>
        </p:spPr>
      </p:pic>
    </p:spTree>
    <p:extLst>
      <p:ext uri="{BB962C8B-B14F-4D97-AF65-F5344CB8AC3E}">
        <p14:creationId xmlns:p14="http://schemas.microsoft.com/office/powerpoint/2010/main" val="160233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777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投影片編號版面配置區 2"/>
          <p:cNvSpPr>
            <a:spLocks noGrp="1"/>
          </p:cNvSpPr>
          <p:nvPr>
            <p:ph type="sldNum" sz="quarter" idx="12"/>
          </p:nvPr>
        </p:nvSpPr>
        <p:spPr>
          <a:noFill/>
        </p:spPr>
        <p:txBody>
          <a:bodyPr/>
          <a:lstStyle>
            <a:lvl1pPr algn="ctr" eaLnBrk="0" hangingPunct="0">
              <a:defRPr>
                <a:solidFill>
                  <a:schemeClr val="tx1"/>
                </a:solidFill>
                <a:latin typeface="Arial" charset="0"/>
                <a:ea typeface="標楷體" pitchFamily="65" charset="-120"/>
              </a:defRPr>
            </a:lvl1pPr>
            <a:lvl2pPr marL="742950" indent="-285750" algn="ctr" eaLnBrk="0" hangingPunct="0">
              <a:defRPr>
                <a:solidFill>
                  <a:schemeClr val="tx1"/>
                </a:solidFill>
                <a:latin typeface="Arial" charset="0"/>
                <a:ea typeface="標楷體" pitchFamily="65" charset="-120"/>
              </a:defRPr>
            </a:lvl2pPr>
            <a:lvl3pPr marL="1143000" indent="-228600" algn="ctr" eaLnBrk="0" hangingPunct="0">
              <a:defRPr>
                <a:solidFill>
                  <a:schemeClr val="tx1"/>
                </a:solidFill>
                <a:latin typeface="Arial" charset="0"/>
                <a:ea typeface="標楷體" pitchFamily="65" charset="-120"/>
              </a:defRPr>
            </a:lvl3pPr>
            <a:lvl4pPr marL="1600200" indent="-228600" algn="ctr" eaLnBrk="0" hangingPunct="0">
              <a:defRPr>
                <a:solidFill>
                  <a:schemeClr val="tx1"/>
                </a:solidFill>
                <a:latin typeface="Arial" charset="0"/>
                <a:ea typeface="標楷體" pitchFamily="65" charset="-120"/>
              </a:defRPr>
            </a:lvl4pPr>
            <a:lvl5pPr marL="2057400" indent="-228600" algn="ctr" eaLnBrk="0" hangingPunct="0">
              <a:defRPr>
                <a:solidFill>
                  <a:schemeClr val="tx1"/>
                </a:solidFill>
                <a:latin typeface="Arial" charset="0"/>
                <a:ea typeface="標楷體" pitchFamily="65" charset="-120"/>
              </a:defRPr>
            </a:lvl5pPr>
            <a:lvl6pPr marL="2514600" indent="-228600" algn="ctr" eaLnBrk="0" fontAlgn="base" hangingPunct="0">
              <a:spcBef>
                <a:spcPct val="0"/>
              </a:spcBef>
              <a:spcAft>
                <a:spcPct val="0"/>
              </a:spcAft>
              <a:defRPr>
                <a:solidFill>
                  <a:schemeClr val="tx1"/>
                </a:solidFill>
                <a:latin typeface="Arial" charset="0"/>
                <a:ea typeface="標楷體" pitchFamily="65" charset="-120"/>
              </a:defRPr>
            </a:lvl6pPr>
            <a:lvl7pPr marL="2971800" indent="-228600" algn="ctr" eaLnBrk="0" fontAlgn="base" hangingPunct="0">
              <a:spcBef>
                <a:spcPct val="0"/>
              </a:spcBef>
              <a:spcAft>
                <a:spcPct val="0"/>
              </a:spcAft>
              <a:defRPr>
                <a:solidFill>
                  <a:schemeClr val="tx1"/>
                </a:solidFill>
                <a:latin typeface="Arial" charset="0"/>
                <a:ea typeface="標楷體" pitchFamily="65" charset="-120"/>
              </a:defRPr>
            </a:lvl7pPr>
            <a:lvl8pPr marL="3429000" indent="-228600" algn="ctr" eaLnBrk="0" fontAlgn="base" hangingPunct="0">
              <a:spcBef>
                <a:spcPct val="0"/>
              </a:spcBef>
              <a:spcAft>
                <a:spcPct val="0"/>
              </a:spcAft>
              <a:defRPr>
                <a:solidFill>
                  <a:schemeClr val="tx1"/>
                </a:solidFill>
                <a:latin typeface="Arial" charset="0"/>
                <a:ea typeface="標楷體" pitchFamily="65" charset="-120"/>
              </a:defRPr>
            </a:lvl8pPr>
            <a:lvl9pPr marL="3886200" indent="-228600" algn="ctr" eaLnBrk="0" fontAlgn="base" hangingPunct="0">
              <a:spcBef>
                <a:spcPct val="0"/>
              </a:spcBef>
              <a:spcAft>
                <a:spcPct val="0"/>
              </a:spcAft>
              <a:defRPr>
                <a:solidFill>
                  <a:schemeClr val="tx1"/>
                </a:solidFill>
                <a:latin typeface="Arial" charset="0"/>
                <a:ea typeface="標楷體" pitchFamily="65" charset="-120"/>
              </a:defRPr>
            </a:lvl9pPr>
          </a:lstStyle>
          <a:p>
            <a:pPr eaLnBrk="1" hangingPunct="1"/>
            <a:fld id="{6FBDD5A6-6FCB-4479-9D39-C011806F380C}" type="slidenum">
              <a:rPr lang="zh-TW" altLang="en-US" smtClean="0">
                <a:solidFill>
                  <a:prstClr val="white"/>
                </a:solidFill>
                <a:latin typeface="Verdana" pitchFamily="34" charset="0"/>
                <a:ea typeface="新細明體" charset="-120"/>
              </a:rPr>
              <a:pPr eaLnBrk="1" hangingPunct="1"/>
              <a:t>105</a:t>
            </a:fld>
            <a:endParaRPr lang="en-US" altLang="zh-TW">
              <a:solidFill>
                <a:prstClr val="white"/>
              </a:solidFill>
              <a:latin typeface="Verdana" pitchFamily="34" charset="0"/>
              <a:ea typeface="新細明體" charset="-120"/>
            </a:endParaRPr>
          </a:p>
        </p:txBody>
      </p:sp>
      <p:sp>
        <p:nvSpPr>
          <p:cNvPr id="11" name="投影片編號版面配置區 3"/>
          <p:cNvSpPr>
            <a:spLocks noGrp="1"/>
          </p:cNvSpPr>
          <p:nvPr>
            <p:ph type="sldNum" sz="quarter" idx="4294967295"/>
          </p:nvPr>
        </p:nvSpPr>
        <p:spPr>
          <a:xfrm>
            <a:off x="7010400" y="6356350"/>
            <a:ext cx="2133600" cy="365125"/>
          </a:xfrm>
        </p:spPr>
        <p:txBody>
          <a:bodyPr/>
          <a:lstStyle/>
          <a:p>
            <a:fld id="{73DA0BB7-265A-403C-9275-D587AB510EDC}" type="slidenum">
              <a:rPr lang="zh-TW" altLang="en-US" smtClean="0">
                <a:solidFill>
                  <a:prstClr val="black">
                    <a:tint val="75000"/>
                  </a:prstClr>
                </a:solidFill>
              </a:rPr>
              <a:pPr/>
              <a:t>105</a:t>
            </a:fld>
            <a:endParaRPr lang="zh-TW" altLang="en-US">
              <a:solidFill>
                <a:prstClr val="black">
                  <a:tint val="75000"/>
                </a:prstClr>
              </a:solidFill>
            </a:endParaRPr>
          </a:p>
        </p:txBody>
      </p:sp>
      <p:sp>
        <p:nvSpPr>
          <p:cNvPr id="6" name="Text Box 2"/>
          <p:cNvSpPr txBox="1">
            <a:spLocks noChangeArrowheads="1"/>
          </p:cNvSpPr>
          <p:nvPr/>
        </p:nvSpPr>
        <p:spPr bwMode="auto">
          <a:xfrm>
            <a:off x="2480107" y="1772816"/>
            <a:ext cx="58324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eaLnBrk="0" hangingPunct="0">
              <a:defRPr>
                <a:solidFill>
                  <a:schemeClr val="tx1"/>
                </a:solidFill>
                <a:latin typeface="Arial" charset="0"/>
                <a:ea typeface="標楷體" pitchFamily="65" charset="-120"/>
              </a:defRPr>
            </a:lvl1pPr>
            <a:lvl2pPr marL="742950" indent="-285750" algn="ctr" eaLnBrk="0" hangingPunct="0">
              <a:defRPr>
                <a:solidFill>
                  <a:schemeClr val="tx1"/>
                </a:solidFill>
                <a:latin typeface="Arial" charset="0"/>
                <a:ea typeface="標楷體" pitchFamily="65" charset="-120"/>
              </a:defRPr>
            </a:lvl2pPr>
            <a:lvl3pPr marL="1143000" indent="-228600" algn="ctr" eaLnBrk="0" hangingPunct="0">
              <a:defRPr>
                <a:solidFill>
                  <a:schemeClr val="tx1"/>
                </a:solidFill>
                <a:latin typeface="Arial" charset="0"/>
                <a:ea typeface="標楷體" pitchFamily="65" charset="-120"/>
              </a:defRPr>
            </a:lvl3pPr>
            <a:lvl4pPr marL="1600200" indent="-228600" algn="ctr" eaLnBrk="0" hangingPunct="0">
              <a:defRPr>
                <a:solidFill>
                  <a:schemeClr val="tx1"/>
                </a:solidFill>
                <a:latin typeface="Arial" charset="0"/>
                <a:ea typeface="標楷體" pitchFamily="65" charset="-120"/>
              </a:defRPr>
            </a:lvl4pPr>
            <a:lvl5pPr marL="2057400" indent="-228600" algn="ctr" eaLnBrk="0" hangingPunct="0">
              <a:defRPr>
                <a:solidFill>
                  <a:schemeClr val="tx1"/>
                </a:solidFill>
                <a:latin typeface="Arial" charset="0"/>
                <a:ea typeface="標楷體" pitchFamily="65" charset="-120"/>
              </a:defRPr>
            </a:lvl5pPr>
            <a:lvl6pPr marL="2514600" indent="-228600" algn="ctr" eaLnBrk="0" fontAlgn="base" hangingPunct="0">
              <a:spcBef>
                <a:spcPct val="0"/>
              </a:spcBef>
              <a:spcAft>
                <a:spcPct val="0"/>
              </a:spcAft>
              <a:defRPr>
                <a:solidFill>
                  <a:schemeClr val="tx1"/>
                </a:solidFill>
                <a:latin typeface="Arial" charset="0"/>
                <a:ea typeface="標楷體" pitchFamily="65" charset="-120"/>
              </a:defRPr>
            </a:lvl6pPr>
            <a:lvl7pPr marL="2971800" indent="-228600" algn="ctr" eaLnBrk="0" fontAlgn="base" hangingPunct="0">
              <a:spcBef>
                <a:spcPct val="0"/>
              </a:spcBef>
              <a:spcAft>
                <a:spcPct val="0"/>
              </a:spcAft>
              <a:defRPr>
                <a:solidFill>
                  <a:schemeClr val="tx1"/>
                </a:solidFill>
                <a:latin typeface="Arial" charset="0"/>
                <a:ea typeface="標楷體" pitchFamily="65" charset="-120"/>
              </a:defRPr>
            </a:lvl7pPr>
            <a:lvl8pPr marL="3429000" indent="-228600" algn="ctr" eaLnBrk="0" fontAlgn="base" hangingPunct="0">
              <a:spcBef>
                <a:spcPct val="0"/>
              </a:spcBef>
              <a:spcAft>
                <a:spcPct val="0"/>
              </a:spcAft>
              <a:defRPr>
                <a:solidFill>
                  <a:schemeClr val="tx1"/>
                </a:solidFill>
                <a:latin typeface="Arial" charset="0"/>
                <a:ea typeface="標楷體" pitchFamily="65" charset="-120"/>
              </a:defRPr>
            </a:lvl8pPr>
            <a:lvl9pPr marL="3886200" indent="-228600" algn="ctr" eaLnBrk="0" fontAlgn="base" hangingPunct="0">
              <a:spcBef>
                <a:spcPct val="0"/>
              </a:spcBef>
              <a:spcAft>
                <a:spcPct val="0"/>
              </a:spcAft>
              <a:defRPr>
                <a:solidFill>
                  <a:schemeClr val="tx1"/>
                </a:solidFill>
                <a:latin typeface="Arial" charset="0"/>
                <a:ea typeface="標楷體" pitchFamily="65" charset="-120"/>
              </a:defRPr>
            </a:lvl9pPr>
          </a:lstStyle>
          <a:p>
            <a:pPr algn="l" eaLnBrk="1" hangingPunct="1"/>
            <a:r>
              <a:rPr lang="zh-TW" altLang="en-US" sz="6000" b="1" dirty="0">
                <a:solidFill>
                  <a:srgbClr val="1F497D"/>
                </a:solidFill>
                <a:latin typeface="微軟正黑體"/>
                <a:ea typeface="微軟正黑體"/>
              </a:rPr>
              <a:t>感謝大家</a:t>
            </a:r>
          </a:p>
          <a:p>
            <a:pPr algn="l" eaLnBrk="1" hangingPunct="1"/>
            <a:r>
              <a:rPr lang="zh-TW" altLang="en-US" sz="6000" b="1" dirty="0">
                <a:solidFill>
                  <a:srgbClr val="1F497D"/>
                </a:solidFill>
                <a:latin typeface="微軟正黑體"/>
                <a:ea typeface="微軟正黑體"/>
              </a:rPr>
              <a:t>   敬請指教！</a:t>
            </a:r>
          </a:p>
        </p:txBody>
      </p:sp>
      <p:pic>
        <p:nvPicPr>
          <p:cNvPr id="8" name="Picture 2" descr="D:\旺矽IPR簡報\擷取46.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64908" y="4005064"/>
            <a:ext cx="1130300" cy="1244600"/>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2480108" y="4463535"/>
            <a:ext cx="4257704" cy="892552"/>
          </a:xfrm>
          <a:prstGeom prst="rect">
            <a:avLst/>
          </a:prstGeom>
          <a:noFill/>
        </p:spPr>
        <p:txBody>
          <a:bodyPr wrap="none" rtlCol="0">
            <a:spAutoFit/>
          </a:bodyPr>
          <a:lstStyle/>
          <a:p>
            <a:r>
              <a:rPr lang="en-US" altLang="zh-TW" sz="2800" dirty="0">
                <a:solidFill>
                  <a:prstClr val="black"/>
                </a:solidFill>
                <a:hlinkClick r:id="rId4"/>
              </a:rPr>
              <a:t>ycjen20453@judicial.gov.tw</a:t>
            </a:r>
            <a:endParaRPr lang="en-US" altLang="zh-TW" sz="2800" dirty="0">
              <a:solidFill>
                <a:prstClr val="black"/>
              </a:solidFill>
            </a:endParaRPr>
          </a:p>
          <a:p>
            <a:r>
              <a:rPr lang="en-US" altLang="zh-TW" sz="2400" dirty="0">
                <a:latin typeface="微軟正黑體" panose="020B0604030504040204" pitchFamily="34" charset="-120"/>
                <a:ea typeface="微軟正黑體" panose="020B0604030504040204" pitchFamily="34" charset="-120"/>
                <a:cs typeface="Adobe 繁黑體 Std B"/>
              </a:rPr>
              <a:t>TEL</a:t>
            </a:r>
            <a:r>
              <a:rPr lang="zh-TW" altLang="en-US" sz="24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400" dirty="0">
                <a:latin typeface="微軟正黑體" panose="020B0604030504040204" pitchFamily="34" charset="-120"/>
                <a:ea typeface="微軟正黑體" panose="020B0604030504040204" pitchFamily="34" charset="-120"/>
                <a:cs typeface="Adobe 繁黑體 Std B"/>
                <a:sym typeface="Wingdings" panose="05000000000000000000" pitchFamily="2" charset="2"/>
              </a:rPr>
              <a:t>(</a:t>
            </a:r>
            <a:r>
              <a:rPr lang="en-US" altLang="zh-TW" sz="2400" dirty="0">
                <a:latin typeface="微軟正黑體" panose="020B0604030504040204" pitchFamily="34" charset="-120"/>
                <a:ea typeface="微軟正黑體" panose="020B0604030504040204" pitchFamily="34" charset="-120"/>
                <a:cs typeface="Adobe 繁黑體 Std B"/>
              </a:rPr>
              <a:t>02) 22726696 ext.383</a:t>
            </a:r>
            <a:endParaRPr lang="zh-TW" altLang="en-US" sz="2400" dirty="0">
              <a:latin typeface="微軟正黑體" panose="020B0604030504040204" pitchFamily="34" charset="-120"/>
              <a:ea typeface="微軟正黑體" panose="020B0604030504040204" pitchFamily="34" charset="-120"/>
              <a:cs typeface="Adobe 繁黑體 Std B"/>
            </a:endParaRPr>
          </a:p>
        </p:txBody>
      </p:sp>
    </p:spTree>
    <p:extLst>
      <p:ext uri="{BB962C8B-B14F-4D97-AF65-F5344CB8AC3E}">
        <p14:creationId xmlns:p14="http://schemas.microsoft.com/office/powerpoint/2010/main" val="1515012762"/>
      </p:ext>
    </p:extLst>
  </p:cSld>
  <p:clrMapOvr>
    <a:masterClrMapping/>
  </p:clrMapOvr>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14562</TotalTime>
  <Words>9120</Words>
  <Application>Microsoft Office PowerPoint</Application>
  <PresentationFormat>如螢幕大小 (4:3)</PresentationFormat>
  <Paragraphs>1116</Paragraphs>
  <Slides>106</Slides>
  <Notes>30</Notes>
  <HiddenSlides>0</HiddenSlides>
  <MMClips>3</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106</vt:i4>
      </vt:variant>
    </vt:vector>
  </HeadingPairs>
  <TitlesOfParts>
    <vt:vector size="115" baseType="lpstr">
      <vt:lpstr>Adobe 繁黑體 Std B</vt:lpstr>
      <vt:lpstr>微軟正黑體</vt:lpstr>
      <vt:lpstr>新細明體</vt:lpstr>
      <vt:lpstr>標楷體</vt:lpstr>
      <vt:lpstr>Arial</vt:lpstr>
      <vt:lpstr>Calibri</vt:lpstr>
      <vt:lpstr>Verdana</vt:lpstr>
      <vt:lpstr>Wingdings</vt:lpstr>
      <vt:lpstr>佈景主題1</vt:lpstr>
      <vt:lpstr>PowerPoint 簡報</vt:lpstr>
      <vt:lpstr>大綱 </vt:lpstr>
      <vt:lpstr>自行閱讀資料</vt:lpstr>
      <vt:lpstr>必去網站</vt:lpstr>
      <vt:lpstr>PowerPoint 簡報</vt:lpstr>
      <vt:lpstr>專利價值</vt:lpstr>
      <vt:lpstr>PowerPoint 簡報</vt:lpstr>
      <vt:lpstr>免削鉛筆</vt:lpstr>
      <vt:lpstr>小綠人-行人通行號誌</vt:lpstr>
      <vt:lpstr>PowerPoint 簡報</vt:lpstr>
      <vt:lpstr>智慧財產權</vt:lpstr>
      <vt:lpstr>專利與壟斷</vt:lpstr>
      <vt:lpstr>專利無所不在</vt:lpstr>
      <vt:lpstr>專利無所不在</vt:lpstr>
      <vt:lpstr>PowerPoint 簡報</vt:lpstr>
      <vt:lpstr>專利制度的多面向</vt:lpstr>
      <vt:lpstr>專利制度的多面向</vt:lpstr>
      <vt:lpstr>想一想</vt:lpstr>
      <vt:lpstr>PowerPoint 簡報</vt:lpstr>
      <vt:lpstr>智慧財產權</vt:lpstr>
      <vt:lpstr>智慧財產權應用</vt:lpstr>
      <vt:lpstr>專利制度的目的</vt:lpstr>
      <vt:lpstr>專利制度</vt:lpstr>
      <vt:lpstr>專利權類別</vt:lpstr>
      <vt:lpstr>專利種類</vt:lpstr>
      <vt:lpstr>發明</vt:lpstr>
      <vt:lpstr>新型</vt:lpstr>
      <vt:lpstr>設計</vt:lpstr>
      <vt:lpstr>專利種類</vt:lpstr>
      <vt:lpstr>小結</vt:lpstr>
      <vt:lpstr>思考-你會申請什麼類型專利</vt:lpstr>
      <vt:lpstr>PowerPoint 簡報</vt:lpstr>
      <vt:lpstr>案例</vt:lpstr>
      <vt:lpstr> 屬地原則</vt:lpstr>
      <vt:lpstr>先申請原則 </vt:lpstr>
      <vt:lpstr>發明公開</vt:lpstr>
      <vt:lpstr>PowerPoint 簡報</vt:lpstr>
      <vt:lpstr>專利申請權</vt:lpstr>
      <vt:lpstr>專利申請權</vt:lpstr>
      <vt:lpstr>案例</vt:lpstr>
      <vt:lpstr>專利代理人</vt:lpstr>
      <vt:lpstr>專利流程</vt:lpstr>
      <vt:lpstr>發明專利審查及行政救濟流程圖</vt:lpstr>
      <vt:lpstr>新型專利審查及行政救濟流程圖</vt:lpstr>
      <vt:lpstr>申請專利花費(規費)</vt:lpstr>
      <vt:lpstr>專利年費</vt:lpstr>
      <vt:lpstr>專利審查</vt:lpstr>
      <vt:lpstr> 專利申請文件</vt:lpstr>
      <vt:lpstr>申請書</vt:lpstr>
      <vt:lpstr>專利文件架構</vt:lpstr>
      <vt:lpstr>揭露發明的內容</vt:lpstr>
      <vt:lpstr>權利與義務</vt:lpstr>
      <vt:lpstr>摘要</vt:lpstr>
      <vt:lpstr>摘要</vt:lpstr>
      <vt:lpstr>說明書(發明名稱)</vt:lpstr>
      <vt:lpstr>說明書(技術領域)</vt:lpstr>
      <vt:lpstr>說明書(先前技術)</vt:lpstr>
      <vt:lpstr>說明書(發明內容)</vt:lpstr>
      <vt:lpstr>             說明書(圖式簡單說明)</vt:lpstr>
      <vt:lpstr>說明書(實施方式)</vt:lpstr>
      <vt:lpstr>說明書(符號說明)</vt:lpstr>
      <vt:lpstr>說明書的記載原則</vt:lpstr>
      <vt:lpstr>可據以實現</vt:lpstr>
      <vt:lpstr>違反可據以實現要件</vt:lpstr>
      <vt:lpstr>違反可據以實現要件</vt:lpstr>
      <vt:lpstr>違反可據以實現要件</vt:lpstr>
      <vt:lpstr>違反可據以實現要件</vt:lpstr>
      <vt:lpstr>違反可據以實現要件</vt:lpstr>
      <vt:lpstr>申請專利範圍 </vt:lpstr>
      <vt:lpstr>申請專利範圍</vt:lpstr>
      <vt:lpstr>依附其他請求項的技術特徵之解釋</vt:lpstr>
      <vt:lpstr>請求項的界定</vt:lpstr>
      <vt:lpstr>請求項的界定</vt:lpstr>
      <vt:lpstr>請求項的界定</vt:lpstr>
      <vt:lpstr>圖式</vt:lpstr>
      <vt:lpstr>思考</vt:lpstr>
      <vt:lpstr>PowerPoint 簡報</vt:lpstr>
      <vt:lpstr>專利要件</vt:lpstr>
      <vt:lpstr> 實體審查應審酌之事項</vt:lpstr>
      <vt:lpstr>法定不予專利</vt:lpstr>
      <vt:lpstr>不符發明定義</vt:lpstr>
      <vt:lpstr> 非屬發明的類型</vt:lpstr>
      <vt:lpstr>專利三要件</vt:lpstr>
      <vt:lpstr>新穎性</vt:lpstr>
      <vt:lpstr> 進步性</vt:lpstr>
      <vt:lpstr>進步性的考量因素</vt:lpstr>
      <vt:lpstr>進步性</vt:lpstr>
      <vt:lpstr>進步性案例</vt:lpstr>
      <vt:lpstr>進步性案例</vt:lpstr>
      <vt:lpstr>進步性案例</vt:lpstr>
      <vt:lpstr>進步性案例</vt:lpstr>
      <vt:lpstr>進步性案例</vt:lpstr>
      <vt:lpstr>進步性案例</vt:lpstr>
      <vt:lpstr>思考</vt:lpstr>
      <vt:lpstr>PowerPoint 簡報</vt:lpstr>
      <vt:lpstr>收到審查意見…</vt:lpstr>
      <vt:lpstr>面詢</vt:lpstr>
      <vt:lpstr>核駁審定</vt:lpstr>
      <vt:lpstr>PowerPoint 簡報</vt:lpstr>
      <vt:lpstr>核准審定</vt:lpstr>
      <vt:lpstr>專利權效力</vt:lpstr>
      <vt:lpstr>專利權舉發</vt:lpstr>
      <vt:lpstr>舉發事由</vt:lpstr>
      <vt:lpstr>思考</vt:lpstr>
      <vt:lpstr>思考</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100年度智慧財產局業務座談會 新專利法相關法制修正重點</dc:title>
  <dc:creator>20457</dc:creator>
  <cp:lastModifiedBy>顏俊仁</cp:lastModifiedBy>
  <cp:revision>1323</cp:revision>
  <cp:lastPrinted>2014-04-14T04:01:04Z</cp:lastPrinted>
  <dcterms:created xsi:type="dcterms:W3CDTF">2012-04-26T02:48:05Z</dcterms:created>
  <dcterms:modified xsi:type="dcterms:W3CDTF">2026-08-23T03:15:49Z</dcterms:modified>
</cp:coreProperties>
</file>